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43"/>
  </p:notesMasterIdLst>
  <p:sldIdLst>
    <p:sldId id="256" r:id="rId2"/>
    <p:sldId id="431" r:id="rId3"/>
    <p:sldId id="437" r:id="rId4"/>
    <p:sldId id="443" r:id="rId5"/>
    <p:sldId id="435" r:id="rId6"/>
    <p:sldId id="420" r:id="rId7"/>
    <p:sldId id="430" r:id="rId8"/>
    <p:sldId id="278" r:id="rId9"/>
    <p:sldId id="390" r:id="rId10"/>
    <p:sldId id="389" r:id="rId11"/>
    <p:sldId id="436" r:id="rId12"/>
    <p:sldId id="259" r:id="rId13"/>
    <p:sldId id="421" r:id="rId14"/>
    <p:sldId id="422" r:id="rId15"/>
    <p:sldId id="283" r:id="rId16"/>
    <p:sldId id="440" r:id="rId17"/>
    <p:sldId id="441" r:id="rId18"/>
    <p:sldId id="284" r:id="rId19"/>
    <p:sldId id="285" r:id="rId20"/>
    <p:sldId id="433" r:id="rId21"/>
    <p:sldId id="442" r:id="rId22"/>
    <p:sldId id="258" r:id="rId23"/>
    <p:sldId id="423" r:id="rId24"/>
    <p:sldId id="404" r:id="rId25"/>
    <p:sldId id="424" r:id="rId26"/>
    <p:sldId id="425" r:id="rId27"/>
    <p:sldId id="260" r:id="rId28"/>
    <p:sldId id="428" r:id="rId29"/>
    <p:sldId id="429" r:id="rId30"/>
    <p:sldId id="427" r:id="rId31"/>
    <p:sldId id="416" r:id="rId32"/>
    <p:sldId id="261" r:id="rId33"/>
    <p:sldId id="402" r:id="rId34"/>
    <p:sldId id="406" r:id="rId35"/>
    <p:sldId id="401" r:id="rId36"/>
    <p:sldId id="410" r:id="rId37"/>
    <p:sldId id="407" r:id="rId38"/>
    <p:sldId id="411" r:id="rId39"/>
    <p:sldId id="408" r:id="rId40"/>
    <p:sldId id="413" r:id="rId41"/>
    <p:sldId id="405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njamin Beeler" initials="BB" lastIdx="1" clrIdx="0">
    <p:extLst>
      <p:ext uri="{19B8F6BF-5375-455C-9EA6-DF929625EA0E}">
        <p15:presenceInfo xmlns:p15="http://schemas.microsoft.com/office/powerpoint/2012/main" userId="S::bwbeeler@ncsu.edu::c2a01b69-e635-4027-85d9-50edbc8f64a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76"/>
    <p:restoredTop sz="94606"/>
  </p:normalViewPr>
  <p:slideViewPr>
    <p:cSldViewPr snapToGrid="0" snapToObjects="1">
      <p:cViewPr varScale="1">
        <p:scale>
          <a:sx n="119" d="100"/>
          <a:sy n="119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92BC7B-A640-D44D-8512-5606945D4768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0CF5E6-0202-C844-BCA0-C8871E59F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883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CF5E6-0202-C844-BCA0-C8871E59FAE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52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CF5E6-0202-C844-BCA0-C8871E59FAE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813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CF5E6-0202-C844-BCA0-C8871E59FAE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58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CF5E6-0202-C844-BCA0-C8871E59FAE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854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0729E5-127A-9B4B-9B8B-01FAB9AE3950}" type="datetime1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40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42206"/>
            <a:ext cx="10972800" cy="106838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63969"/>
            <a:ext cx="10972800" cy="42621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76F4E1-4B40-5E46-9CCB-58617B337D6D}" type="datetime1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311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8FD965-E843-A047-8FB7-68B5FBDF3276}" type="datetime1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806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68501"/>
            <a:ext cx="5384800" cy="4157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8501"/>
            <a:ext cx="5384800" cy="4157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BB5A78-5A81-8647-9BB1-B29DE7EC1FD4}" type="datetime1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406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F17934-D55D-4345-A249-B33195917A0F}" type="datetime1">
              <a:rPr lang="en-US" smtClean="0"/>
              <a:t>10/14/26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066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DF239-6A93-4640-BB14-FA80B084BB5F}" type="datetime1">
              <a:rPr lang="en-US" smtClean="0"/>
              <a:t>10/14/26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35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8AB40-0BF3-D348-9803-AF387ECF1192}" type="datetime1">
              <a:rPr lang="en-US" smtClean="0"/>
              <a:t>10/14/26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242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83EAF7-2E22-E340-9F3C-12D33B2E71A8}" type="datetime1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578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95951E-E014-7047-924A-56CA455EC26C}" type="datetime1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28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5375C-B693-6F48-B68A-25B968B9E5D2}" type="datetime1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321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3AE285-8990-814C-BBDC-C96BB16F6B06}" type="datetime1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83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4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3022601"/>
            <a:ext cx="10972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0A11B2D1-734E-D645-A03F-161321DF746C}" type="datetime1">
              <a:rPr lang="en-US" smtClean="0"/>
              <a:t>10/14/26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929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000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tiff"/><Relationship Id="rId5" Type="http://schemas.openxmlformats.org/officeDocument/2006/relationships/image" Target="../media/image14.tiff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tiff"/><Relationship Id="rId5" Type="http://schemas.openxmlformats.org/officeDocument/2006/relationships/image" Target="../media/image18.tiff"/><Relationship Id="rId4" Type="http://schemas.openxmlformats.org/officeDocument/2006/relationships/image" Target="../media/image17.tif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f"/><Relationship Id="rId2" Type="http://schemas.openxmlformats.org/officeDocument/2006/relationships/image" Target="../media/image20.tif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iff"/><Relationship Id="rId2" Type="http://schemas.openxmlformats.org/officeDocument/2006/relationships/image" Target="../media/image22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if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tif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if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tiff"/><Relationship Id="rId4" Type="http://schemas.openxmlformats.org/officeDocument/2006/relationships/image" Target="../media/image32.tif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tif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tiff"/><Relationship Id="rId2" Type="http://schemas.openxmlformats.org/officeDocument/2006/relationships/image" Target="../media/image38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tif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tif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tiff"/><Relationship Id="rId2" Type="http://schemas.openxmlformats.org/officeDocument/2006/relationships/image" Target="../media/image49.tif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tiff"/><Relationship Id="rId2" Type="http://schemas.openxmlformats.org/officeDocument/2006/relationships/image" Target="../media/image51.tif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tiff"/><Relationship Id="rId2" Type="http://schemas.openxmlformats.org/officeDocument/2006/relationships/image" Target="../media/image53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tif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tiff"/><Relationship Id="rId2" Type="http://schemas.openxmlformats.org/officeDocument/2006/relationships/image" Target="../media/image56.tif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tiff"/><Relationship Id="rId4" Type="http://schemas.openxmlformats.org/officeDocument/2006/relationships/image" Target="../media/image58.tif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tiff"/><Relationship Id="rId2" Type="http://schemas.openxmlformats.org/officeDocument/2006/relationships/image" Target="../media/image60.tif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tiff"/><Relationship Id="rId4" Type="http://schemas.openxmlformats.org/officeDocument/2006/relationships/image" Target="../media/image62.tif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tiff"/><Relationship Id="rId3" Type="http://schemas.openxmlformats.org/officeDocument/2006/relationships/image" Target="../media/image65.tiff"/><Relationship Id="rId7" Type="http://schemas.openxmlformats.org/officeDocument/2006/relationships/image" Target="../media/image69.tiff"/><Relationship Id="rId2" Type="http://schemas.openxmlformats.org/officeDocument/2006/relationships/image" Target="../media/image64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tiff"/><Relationship Id="rId5" Type="http://schemas.openxmlformats.org/officeDocument/2006/relationships/image" Target="../media/image67.tiff"/><Relationship Id="rId4" Type="http://schemas.openxmlformats.org/officeDocument/2006/relationships/image" Target="../media/image66.tiff"/><Relationship Id="rId9" Type="http://schemas.openxmlformats.org/officeDocument/2006/relationships/image" Target="../media/image71.tif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gif"/><Relationship Id="rId2" Type="http://schemas.openxmlformats.org/officeDocument/2006/relationships/image" Target="../media/image72.gi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tiff"/><Relationship Id="rId2" Type="http://schemas.openxmlformats.org/officeDocument/2006/relationships/image" Target="../media/image74.tif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tiff"/><Relationship Id="rId2" Type="http://schemas.openxmlformats.org/officeDocument/2006/relationships/image" Target="../media/image76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98C24-8575-8644-833E-593D27AC50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/>
              <a:t>Nuclear Fuels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87F49-5DA5-4E46-B793-DAB018625C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Benjamin Beeler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Department of Nuclear Engineering</a:t>
            </a:r>
          </a:p>
          <a:p>
            <a:r>
              <a:rPr lang="en-US" dirty="0"/>
              <a:t>North Carolina State University</a:t>
            </a:r>
          </a:p>
          <a:p>
            <a:r>
              <a:rPr lang="en-US" dirty="0" err="1"/>
              <a:t>bwbeeler@ncsu.edu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064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F2106-F896-96D5-0102-61424DB8C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am 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62D5E-9830-FB32-45A4-A74F83FC2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rural western Kentucky</a:t>
            </a:r>
          </a:p>
          <a:p>
            <a:r>
              <a:rPr lang="en-US" dirty="0"/>
              <a:t>PhD in Nuclear Engineering from Georgia Tech</a:t>
            </a:r>
          </a:p>
          <a:p>
            <a:r>
              <a:rPr lang="en-US" dirty="0"/>
              <a:t>Worked at Idaho National Laboratory before joining NCSU in 2019</a:t>
            </a:r>
          </a:p>
          <a:p>
            <a:endParaRPr lang="en-US" dirty="0"/>
          </a:p>
          <a:p>
            <a:r>
              <a:rPr lang="en-US" dirty="0"/>
              <a:t>I am a computational nuclear materials scientist</a:t>
            </a:r>
          </a:p>
          <a:p>
            <a:pPr lvl="1"/>
            <a:r>
              <a:rPr lang="en-US" dirty="0"/>
              <a:t>Computational tools</a:t>
            </a:r>
          </a:p>
          <a:p>
            <a:pPr lvl="1"/>
            <a:r>
              <a:rPr lang="en-US" dirty="0"/>
              <a:t>Geared for material science research</a:t>
            </a:r>
          </a:p>
          <a:p>
            <a:pPr lvl="1"/>
            <a:r>
              <a:rPr lang="en-US" dirty="0"/>
              <a:t>Applied to nuclear materials (especially advanced fuels)</a:t>
            </a:r>
          </a:p>
          <a:p>
            <a:pPr lvl="1"/>
            <a:r>
              <a:rPr lang="en-US" dirty="0"/>
              <a:t>Spans physics, chemistry, and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54F89-493A-B57C-3D6E-FCF2C6D9C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499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E9C93-E93C-FA2F-8BC5-8BADE1A43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Ask Questions!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22147-C973-022F-5C81-7E33E15BE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don’t want to stand up here and talk for an hour…</a:t>
            </a:r>
          </a:p>
          <a:p>
            <a:r>
              <a:rPr lang="en-US" dirty="0"/>
              <a:t>I will talk about things you won’t understand</a:t>
            </a:r>
          </a:p>
          <a:p>
            <a:r>
              <a:rPr lang="en-US" dirty="0"/>
              <a:t>Stop me and ask me about whatever</a:t>
            </a:r>
          </a:p>
          <a:p>
            <a:r>
              <a:rPr lang="en-US" dirty="0"/>
              <a:t>The purpose of this is for you to be exposed to new information and to learn</a:t>
            </a:r>
          </a:p>
          <a:p>
            <a:endParaRPr lang="en-US" dirty="0"/>
          </a:p>
          <a:p>
            <a:r>
              <a:rPr lang="en-US" dirty="0"/>
              <a:t>Other notes:</a:t>
            </a:r>
          </a:p>
          <a:p>
            <a:pPr lvl="1"/>
            <a:r>
              <a:rPr lang="en-US" dirty="0"/>
              <a:t>I’ve got two speech impediments, so if anything I say is unclear, ask me to repeat it or restate it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F9172-A0DD-CB89-66A0-013FB2ACF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218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F2106-F896-96D5-0102-61424DB8C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Background: Key Terms for Today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54F89-493A-B57C-3D6E-FCF2C6D9C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Nuclear terms"/>
          <p:cNvSpPr txBox="1"/>
          <p:nvPr/>
        </p:nvSpPr>
        <p:spPr>
          <a:xfrm>
            <a:off x="609600" y="1780000"/>
            <a:ext cx="5300000" cy="45000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54"/>
              </a:spcAft>
              <a:buNone/>
            </a:pPr>
            <a:r>
              <a:rPr lang="en-US" sz="1400" b="1" dirty="0">
                <a:latin typeface="Arial"/>
                <a:cs typeface="Arial"/>
              </a:rPr>
              <a:t>Fast vs. thermal neutrons</a:t>
            </a:r>
            <a:r>
              <a:rPr lang="en-US" sz="1400" dirty="0">
                <a:latin typeface="Arial"/>
                <a:cs typeface="Arial"/>
              </a:rPr>
              <a:t>: born fast (~2 MeV); slowed by collisions to thermal (~0.025 eV)</a:t>
            </a:r>
          </a:p>
          <a:p>
            <a:pPr marL="0" indent="0">
              <a:spcBef>
                <a:spcPts val="0"/>
              </a:spcBef>
              <a:spcAft>
                <a:spcPts val="454"/>
              </a:spcAft>
              <a:buNone/>
            </a:pPr>
            <a:r>
              <a:rPr lang="en-US" sz="1400" b="1" dirty="0">
                <a:latin typeface="Arial"/>
                <a:cs typeface="Arial"/>
              </a:rPr>
              <a:t>Moderator</a:t>
            </a:r>
            <a:r>
              <a:rPr lang="en-US" sz="1400" dirty="0">
                <a:latin typeface="Arial"/>
                <a:cs typeface="Arial"/>
              </a:rPr>
              <a:t>: light nuclei (H in water, C in graphite) that slow neutrons down</a:t>
            </a:r>
          </a:p>
          <a:p>
            <a:pPr marL="0" indent="0">
              <a:spcBef>
                <a:spcPts val="0"/>
              </a:spcBef>
              <a:spcAft>
                <a:spcPts val="454"/>
              </a:spcAft>
              <a:buNone/>
            </a:pPr>
            <a:r>
              <a:rPr lang="en-US" sz="1400" b="1" dirty="0">
                <a:latin typeface="Arial"/>
                <a:cs typeface="Arial"/>
              </a:rPr>
              <a:t>Enrichment</a:t>
            </a:r>
            <a:r>
              <a:rPr lang="en-US" sz="1400" dirty="0">
                <a:latin typeface="Arial"/>
                <a:cs typeface="Arial"/>
              </a:rPr>
              <a:t>: raising U-235 above its natural 0.7% (LWR fuel: ~3–5%)</a:t>
            </a:r>
          </a:p>
          <a:p>
            <a:pPr marL="0" indent="0">
              <a:spcBef>
                <a:spcPts val="0"/>
              </a:spcBef>
              <a:spcAft>
                <a:spcPts val="454"/>
              </a:spcAft>
              <a:buNone/>
            </a:pPr>
            <a:r>
              <a:rPr lang="en-US" sz="1400" b="1" dirty="0">
                <a:latin typeface="Arial"/>
                <a:cs typeface="Arial"/>
              </a:rPr>
              <a:t>Burnup</a:t>
            </a:r>
            <a:r>
              <a:rPr lang="en-US" sz="1400" dirty="0">
                <a:latin typeface="Arial"/>
                <a:cs typeface="Arial"/>
              </a:rPr>
              <a:t>: how much of the fuel has fissioned (% of heavy atoms, or energy per mass)</a:t>
            </a:r>
          </a:p>
          <a:p>
            <a:pPr marL="0" indent="0">
              <a:spcBef>
                <a:spcPts val="0"/>
              </a:spcBef>
              <a:spcAft>
                <a:spcPts val="454"/>
              </a:spcAft>
              <a:buNone/>
            </a:pPr>
            <a:r>
              <a:rPr lang="en-US" sz="1400" b="1" dirty="0">
                <a:latin typeface="Arial"/>
                <a:cs typeface="Arial"/>
              </a:rPr>
              <a:t>Breeder / burner</a:t>
            </a:r>
            <a:r>
              <a:rPr lang="en-US" sz="1400" dirty="0">
                <a:latin typeface="Arial"/>
                <a:cs typeface="Arial"/>
              </a:rPr>
              <a:t>: makes more fissile material than it uses / destroys Pu and actinides</a:t>
            </a:r>
          </a:p>
          <a:p>
            <a:pPr marL="0" indent="0">
              <a:spcBef>
                <a:spcPts val="0"/>
              </a:spcBef>
              <a:spcAft>
                <a:spcPts val="454"/>
              </a:spcAft>
              <a:buNone/>
            </a:pPr>
            <a:r>
              <a:rPr lang="en-US" sz="1400" b="1" dirty="0">
                <a:latin typeface="Arial"/>
                <a:cs typeface="Arial"/>
              </a:rPr>
              <a:t>Minor actinides</a:t>
            </a:r>
            <a:r>
              <a:rPr lang="en-US" sz="1400" dirty="0">
                <a:latin typeface="Arial"/>
                <a:cs typeface="Arial"/>
              </a:rPr>
              <a:t>: Np, Am, Cm: long-lived waste made by neutron capture</a:t>
            </a:r>
          </a:p>
          <a:p>
            <a:pPr marL="0" indent="0">
              <a:spcBef>
                <a:spcPts val="0"/>
              </a:spcBef>
              <a:spcAft>
                <a:spcPts val="454"/>
              </a:spcAft>
              <a:buNone/>
            </a:pPr>
            <a:r>
              <a:rPr lang="en-US" sz="1400" b="1" dirty="0">
                <a:latin typeface="Arial"/>
                <a:cs typeface="Arial"/>
              </a:rPr>
              <a:t>Negative reactivity feedback</a:t>
            </a:r>
            <a:r>
              <a:rPr lang="en-US" sz="1400" dirty="0">
                <a:latin typeface="Arial"/>
                <a:cs typeface="Arial"/>
              </a:rPr>
              <a:t>: reactor heats up → fission rate drops on its own</a:t>
            </a:r>
          </a:p>
          <a:p>
            <a:pPr marL="0" indent="0">
              <a:spcBef>
                <a:spcPts val="0"/>
              </a:spcBef>
              <a:spcAft>
                <a:spcPts val="454"/>
              </a:spcAft>
              <a:buNone/>
            </a:pPr>
            <a:r>
              <a:rPr lang="en-US" sz="1400" b="1" dirty="0">
                <a:latin typeface="Arial"/>
                <a:cs typeface="Arial"/>
              </a:rPr>
              <a:t>Source term</a:t>
            </a:r>
            <a:r>
              <a:rPr lang="en-US" sz="1400" dirty="0">
                <a:latin typeface="Arial"/>
                <a:cs typeface="Arial"/>
              </a:rPr>
              <a:t>: radioactive material that could escape in an accident</a:t>
            </a:r>
          </a:p>
        </p:txBody>
      </p:sp>
      <p:sp>
        <p:nvSpPr>
          <p:cNvPr id="6" name="Materials terms"/>
          <p:cNvSpPr txBox="1"/>
          <p:nvPr/>
        </p:nvSpPr>
        <p:spPr>
          <a:xfrm>
            <a:off x="6282400" y="1780000"/>
            <a:ext cx="5300000" cy="45000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454"/>
              </a:spcAft>
              <a:buNone/>
            </a:pPr>
            <a:r>
              <a:rPr lang="en-US" sz="1400" b="1" dirty="0">
                <a:latin typeface="Arial"/>
                <a:cs typeface="Arial"/>
              </a:rPr>
              <a:t>Phase / crystal structure</a:t>
            </a:r>
            <a:r>
              <a:rPr lang="en-US" sz="1400" dirty="0">
                <a:latin typeface="Arial"/>
                <a:cs typeface="Arial"/>
              </a:rPr>
              <a:t>: how atoms are arranged (e.g., BCC, fluorite); one material can have several phases</a:t>
            </a:r>
          </a:p>
          <a:p>
            <a:pPr marL="0" indent="0">
              <a:spcBef>
                <a:spcPts val="0"/>
              </a:spcBef>
              <a:spcAft>
                <a:spcPts val="454"/>
              </a:spcAft>
              <a:buNone/>
            </a:pPr>
            <a:r>
              <a:rPr lang="en-US" sz="1400" b="1" dirty="0">
                <a:latin typeface="Arial"/>
                <a:cs typeface="Arial"/>
              </a:rPr>
              <a:t>Phase diagram</a:t>
            </a:r>
            <a:r>
              <a:rPr lang="en-US" sz="1400" dirty="0">
                <a:latin typeface="Arial"/>
                <a:cs typeface="Arial"/>
              </a:rPr>
              <a:t>: map of which phase is stable vs. temperature and composition</a:t>
            </a:r>
          </a:p>
          <a:p>
            <a:pPr marL="0" indent="0">
              <a:spcBef>
                <a:spcPts val="0"/>
              </a:spcBef>
              <a:spcAft>
                <a:spcPts val="454"/>
              </a:spcAft>
              <a:buNone/>
            </a:pPr>
            <a:r>
              <a:rPr lang="en-US" sz="1400" b="1" dirty="0">
                <a:latin typeface="Arial"/>
                <a:cs typeface="Arial"/>
              </a:rPr>
              <a:t>Anisotropic</a:t>
            </a:r>
            <a:r>
              <a:rPr lang="en-US" sz="1400" dirty="0">
                <a:latin typeface="Arial"/>
                <a:cs typeface="Arial"/>
              </a:rPr>
              <a:t>: properties differ by direction</a:t>
            </a:r>
          </a:p>
          <a:p>
            <a:pPr marL="0" indent="0">
              <a:spcBef>
                <a:spcPts val="0"/>
              </a:spcBef>
              <a:spcAft>
                <a:spcPts val="454"/>
              </a:spcAft>
              <a:buNone/>
            </a:pPr>
            <a:r>
              <a:rPr lang="en-US" sz="1400" b="1" dirty="0">
                <a:latin typeface="Arial"/>
                <a:cs typeface="Arial"/>
              </a:rPr>
              <a:t>Grain / grain boundary</a:t>
            </a:r>
            <a:r>
              <a:rPr lang="en-US" sz="1400" dirty="0">
                <a:latin typeface="Arial"/>
                <a:cs typeface="Arial"/>
              </a:rPr>
              <a:t>: a solid is many tiny crystals (grains); their interfaces are fast paths for atoms and gas</a:t>
            </a:r>
          </a:p>
          <a:p>
            <a:pPr marL="0" indent="0">
              <a:spcBef>
                <a:spcPts val="0"/>
              </a:spcBef>
              <a:spcAft>
                <a:spcPts val="454"/>
              </a:spcAft>
              <a:buNone/>
            </a:pPr>
            <a:r>
              <a:rPr lang="en-US" sz="1400" b="1" dirty="0">
                <a:latin typeface="Arial"/>
                <a:cs typeface="Arial"/>
              </a:rPr>
              <a:t>Diffusion</a:t>
            </a:r>
            <a:r>
              <a:rPr lang="en-US" sz="1400" dirty="0">
                <a:latin typeface="Arial"/>
                <a:cs typeface="Arial"/>
              </a:rPr>
              <a:t>: atoms migrating through a solid; much faster when hot</a:t>
            </a:r>
          </a:p>
          <a:p>
            <a:pPr marL="0" indent="0">
              <a:spcBef>
                <a:spcPts val="0"/>
              </a:spcBef>
              <a:spcAft>
                <a:spcPts val="454"/>
              </a:spcAft>
              <a:buNone/>
            </a:pPr>
            <a:r>
              <a:rPr lang="en-US" sz="1400" b="1" dirty="0">
                <a:latin typeface="Arial"/>
                <a:cs typeface="Arial"/>
              </a:rPr>
              <a:t>Stoichiometry</a:t>
            </a:r>
            <a:r>
              <a:rPr lang="en-US" sz="1400" dirty="0">
                <a:latin typeface="Arial"/>
                <a:cs typeface="Arial"/>
              </a:rPr>
              <a:t>: atom ratio, e.g., O/U = 2 in UO₂; small deviations (UO₂±ₓ) change properties</a:t>
            </a:r>
          </a:p>
          <a:p>
            <a:pPr marL="0" indent="0">
              <a:spcBef>
                <a:spcPts val="0"/>
              </a:spcBef>
              <a:spcAft>
                <a:spcPts val="454"/>
              </a:spcAft>
              <a:buNone/>
            </a:pPr>
            <a:r>
              <a:rPr lang="en-US" sz="1400" b="1" dirty="0">
                <a:latin typeface="Arial"/>
                <a:cs typeface="Arial"/>
              </a:rPr>
              <a:t>Sintering</a:t>
            </a:r>
            <a:r>
              <a:rPr lang="en-US" sz="1400" dirty="0">
                <a:latin typeface="Arial"/>
                <a:cs typeface="Arial"/>
              </a:rPr>
              <a:t>: pressing powder, then heating below melting to form a dense solid</a:t>
            </a:r>
          </a:p>
          <a:p>
            <a:pPr marL="0" indent="0">
              <a:spcBef>
                <a:spcPts val="0"/>
              </a:spcBef>
              <a:spcAft>
                <a:spcPts val="454"/>
              </a:spcAft>
              <a:buNone/>
            </a:pPr>
            <a:r>
              <a:rPr lang="en-US" sz="1400" b="1" dirty="0">
                <a:latin typeface="Arial"/>
                <a:cs typeface="Arial"/>
              </a:rPr>
              <a:t>Thermal conductivity (k)</a:t>
            </a:r>
            <a:r>
              <a:rPr lang="en-US" sz="1400" dirty="0">
                <a:latin typeface="Arial"/>
                <a:cs typeface="Arial"/>
              </a:rPr>
              <a:t>: how easily heat flows; low k → very hot pellet center</a:t>
            </a:r>
          </a:p>
          <a:p>
            <a:pPr marL="0" indent="0">
              <a:spcBef>
                <a:spcPts val="0"/>
              </a:spcBef>
              <a:spcAft>
                <a:spcPts val="454"/>
              </a:spcAft>
              <a:buNone/>
            </a:pPr>
            <a:r>
              <a:rPr lang="en-US" sz="1400" b="1" dirty="0">
                <a:latin typeface="Arial"/>
                <a:cs typeface="Arial"/>
              </a:rPr>
              <a:t>Linear heat rate</a:t>
            </a:r>
            <a:r>
              <a:rPr lang="en-US" sz="1400" dirty="0">
                <a:latin typeface="Arial"/>
                <a:cs typeface="Arial"/>
              </a:rPr>
              <a:t>: power per length of fuel rod (kW/m)</a:t>
            </a:r>
          </a:p>
          <a:p>
            <a:pPr marL="0" indent="0">
              <a:spcBef>
                <a:spcPts val="0"/>
              </a:spcBef>
              <a:spcAft>
                <a:spcPts val="454"/>
              </a:spcAft>
              <a:buNone/>
            </a:pPr>
            <a:r>
              <a:rPr lang="en-US" sz="1400" b="1" dirty="0">
                <a:latin typeface="Arial"/>
                <a:cs typeface="Arial"/>
              </a:rPr>
              <a:t>Transient</a:t>
            </a:r>
            <a:r>
              <a:rPr lang="en-US" sz="1400" dirty="0">
                <a:latin typeface="Arial"/>
                <a:cs typeface="Arial"/>
              </a:rPr>
              <a:t>: rapid, off-normal change in power or temperature</a:t>
            </a:r>
          </a:p>
          <a:p>
            <a:pPr marL="0" indent="0">
              <a:spcBef>
                <a:spcPts val="0"/>
              </a:spcBef>
              <a:spcAft>
                <a:spcPts val="454"/>
              </a:spcAft>
              <a:buNone/>
            </a:pPr>
            <a:r>
              <a:rPr lang="en-US" sz="1400" b="1" dirty="0">
                <a:latin typeface="Arial"/>
                <a:cs typeface="Arial"/>
              </a:rPr>
              <a:t>FCCI</a:t>
            </a:r>
            <a:r>
              <a:rPr lang="en-US" sz="1400" dirty="0">
                <a:latin typeface="Arial"/>
                <a:cs typeface="Arial"/>
              </a:rPr>
              <a:t>: fuel–cladding chemical interaction; reactions that thin the cladding</a:t>
            </a:r>
          </a:p>
        </p:txBody>
      </p:sp>
    </p:spTree>
    <p:extLst>
      <p:ext uri="{BB962C8B-B14F-4D97-AF65-F5344CB8AC3E}">
        <p14:creationId xmlns:p14="http://schemas.microsoft.com/office/powerpoint/2010/main" val="809901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11848-0FB0-1B14-4D9E-4C7A15D041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is the purpose of fuel?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65101F-CC5F-A6BC-32F1-26C98E3B92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527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68646-A5A9-BE43-9D07-AB6EC2E36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Fuel is the Heat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FCDA7-F45C-8047-8793-458A2A3D0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710593"/>
            <a:ext cx="5791200" cy="4415572"/>
          </a:xfrm>
        </p:spPr>
        <p:txBody>
          <a:bodyPr/>
          <a:lstStyle/>
          <a:p>
            <a:r>
              <a:rPr lang="en-US" sz="2200" dirty="0"/>
              <a:t>Fuel functions as a heat source, generating heat that is transferred to a coolant, which transfers heat through external loops, heat exchangers, etc., to run a generator</a:t>
            </a:r>
          </a:p>
          <a:p>
            <a:r>
              <a:rPr lang="en-US" sz="2200" dirty="0"/>
              <a:t>While the fuel must meet neutronic requirements, limiting possible options of materials choice, the lifetime of the fuel is governed by material constraints</a:t>
            </a:r>
          </a:p>
          <a:p>
            <a:r>
              <a:rPr lang="en-US" sz="2200" dirty="0"/>
              <a:t>What I care about is how the fuel material evolves/behaves as a function of time</a:t>
            </a: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6D4DC-1097-4943-9595-CA80169A3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CBB262-7BED-BD46-80FC-E20199E4CB7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788" y="1710593"/>
            <a:ext cx="4705611" cy="4259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200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C4EFB-EE0A-0D4B-E658-7D3FE702A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Fuel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EA401-2128-C474-5853-B4F1D5005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34818"/>
            <a:ext cx="6554682" cy="3965670"/>
          </a:xfrm>
        </p:spPr>
        <p:txBody>
          <a:bodyPr/>
          <a:lstStyle/>
          <a:p>
            <a:r>
              <a:rPr lang="en-US" sz="2200" dirty="0"/>
              <a:t>Fissile material compound (fuel), surrounded by a cladding, surrounded by coolant</a:t>
            </a:r>
          </a:p>
          <a:p>
            <a:r>
              <a:rPr lang="en-US" sz="2200" dirty="0"/>
              <a:t>Fuel generates your neutrons and heat, while cladding keeps the nasty stuff in the fuel from getting to the coolant</a:t>
            </a:r>
          </a:p>
          <a:p>
            <a:r>
              <a:rPr lang="en-US" sz="2200" dirty="0"/>
              <a:t>Coolant transports the heat away to secondary systems</a:t>
            </a:r>
          </a:p>
          <a:p>
            <a:r>
              <a:rPr lang="en-US" sz="2200" dirty="0"/>
              <a:t>Coolant can also reduce energy of (moderate) neutrons</a:t>
            </a:r>
          </a:p>
          <a:p>
            <a:r>
              <a:rPr lang="en-US" sz="2200" dirty="0"/>
              <a:t>I focus on the fuel here, but this concept of a fuel system is more complete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7E6D8-8CDD-C6F0-D6CC-6344137CF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3074" name="Picture 2" descr="The schematic diagram of a typical pressurized water reactor (PWR) fuel...  | Download Scientific Diagram">
            <a:extLst>
              <a:ext uri="{FF2B5EF4-FFF2-40B4-BE49-F238E27FC236}">
                <a16:creationId xmlns:a16="http://schemas.microsoft.com/office/drawing/2014/main" id="{ED8D3D62-C854-E72E-E8E2-6CFD84E929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89809" y="1439917"/>
            <a:ext cx="3456987" cy="307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7D22B83B-7CC9-C18C-F79B-77BBC089B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5400000">
            <a:off x="8314839" y="3799740"/>
            <a:ext cx="1841658" cy="3271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6304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4B4D6-D9AB-2A49-B584-9CBBDB315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Fuel is limited to select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ECE69-4649-6F4A-8A19-4AFFF9797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63969"/>
            <a:ext cx="7169063" cy="4262196"/>
          </a:xfrm>
        </p:spPr>
        <p:txBody>
          <a:bodyPr>
            <a:noAutofit/>
          </a:bodyPr>
          <a:lstStyle/>
          <a:p>
            <a:r>
              <a:rPr lang="en-US" sz="2200" dirty="0"/>
              <a:t>A </a:t>
            </a:r>
            <a:r>
              <a:rPr lang="en-US" sz="2200" b="1" dirty="0"/>
              <a:t>fissionable nuclide </a:t>
            </a:r>
            <a:r>
              <a:rPr lang="en-US" sz="2200" dirty="0"/>
              <a:t>is capable of undergoing fission (even with a low probability) after capturing a high energy neutron</a:t>
            </a:r>
          </a:p>
          <a:p>
            <a:r>
              <a:rPr lang="en-US" sz="2200" dirty="0"/>
              <a:t>A </a:t>
            </a:r>
            <a:r>
              <a:rPr lang="en-US" sz="2200" b="1" dirty="0"/>
              <a:t>fissile nuclide </a:t>
            </a:r>
            <a:r>
              <a:rPr lang="en-US" sz="2200" dirty="0"/>
              <a:t>is capable of sustaining a nuclear fission chain reaction with neutrons of any energy</a:t>
            </a:r>
          </a:p>
          <a:p>
            <a:r>
              <a:rPr lang="en-US" sz="2200" dirty="0"/>
              <a:t>A f</a:t>
            </a:r>
            <a:r>
              <a:rPr lang="en-US" sz="2200" b="1" dirty="0"/>
              <a:t>ertile material</a:t>
            </a:r>
            <a:r>
              <a:rPr lang="en-US" sz="2200" dirty="0"/>
              <a:t> is a material that, although not itself fissile, can be converted into a fissile nuclide by neutron absorption and subsequent nuclei conversions.</a:t>
            </a:r>
          </a:p>
          <a:p>
            <a:r>
              <a:rPr lang="en-US" sz="2200" dirty="0"/>
              <a:t>U-235 is a fissile isotope that naturally occurs in uranium in small amounts (0.7%). Can be enriched.</a:t>
            </a: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AE8B5-1113-E64D-AC17-7860A64DC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5CB6A9-F606-02B6-DECF-314C386AD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1800" y="2176005"/>
            <a:ext cx="3530600" cy="221643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AB42A9-27B1-404E-E7F7-0C055FC61674}"/>
              </a:ext>
            </a:extLst>
          </p:cNvPr>
          <p:cNvSpPr txBox="1">
            <a:spLocks/>
          </p:cNvSpPr>
          <p:nvPr/>
        </p:nvSpPr>
        <p:spPr bwMode="auto">
          <a:xfrm>
            <a:off x="7621011" y="4584431"/>
            <a:ext cx="4392179" cy="972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4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0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/>
              <a:t>Neutron + Target Nucleus -&gt; Two fission products, 2-3 neutrons; Fission releases around 210 MeV of energy</a:t>
            </a:r>
          </a:p>
        </p:txBody>
      </p:sp>
    </p:spTree>
    <p:extLst>
      <p:ext uri="{BB962C8B-B14F-4D97-AF65-F5344CB8AC3E}">
        <p14:creationId xmlns:p14="http://schemas.microsoft.com/office/powerpoint/2010/main" val="1259852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F6BCD-4C48-634B-A3CC-DCF053FE6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Fuel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A1EEF-B4FF-3444-8B4E-4658FE737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71180"/>
            <a:ext cx="5638800" cy="396567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Safety:</a:t>
            </a:r>
          </a:p>
          <a:p>
            <a:pPr lvl="1"/>
            <a:r>
              <a:rPr lang="en-US" dirty="0"/>
              <a:t>Stable and predictable behavior</a:t>
            </a:r>
          </a:p>
          <a:p>
            <a:pPr lvl="1"/>
            <a:r>
              <a:rPr lang="en-US" dirty="0"/>
              <a:t>No melting, no phase changes under transients that lead to deleterious behavior</a:t>
            </a:r>
          </a:p>
          <a:p>
            <a:r>
              <a:rPr lang="en-US" dirty="0"/>
              <a:t>Uranium density</a:t>
            </a:r>
          </a:p>
          <a:p>
            <a:r>
              <a:rPr lang="en-US" dirty="0"/>
              <a:t>Mechanical integrity</a:t>
            </a:r>
          </a:p>
          <a:p>
            <a:r>
              <a:rPr lang="en-US" dirty="0"/>
              <a:t>Cladding interactions</a:t>
            </a:r>
          </a:p>
          <a:p>
            <a:r>
              <a:rPr lang="en-US" dirty="0"/>
              <a:t>Swelling and fission gas release</a:t>
            </a:r>
          </a:p>
          <a:p>
            <a:r>
              <a:rPr lang="en-US" dirty="0"/>
              <a:t>Operating temperatures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2B2E24-055C-9646-A7D8-897D6F170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1026" name="Picture 2" descr="1: Illustration of fuel swelling and clad deformation due to PCI. a)... |  Download Scientific Diagram">
            <a:extLst>
              <a:ext uri="{FF2B5EF4-FFF2-40B4-BE49-F238E27FC236}">
                <a16:creationId xmlns:a16="http://schemas.microsoft.com/office/drawing/2014/main" id="{846962DF-C313-A936-82D3-BBF72B318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4947" y="898755"/>
            <a:ext cx="2152653" cy="1467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evelopment of fission gas swelling and release models for metallic nuclear  fuels | Semantic Scholar">
            <a:extLst>
              <a:ext uri="{FF2B5EF4-FFF2-40B4-BE49-F238E27FC236}">
                <a16:creationId xmlns:a16="http://schemas.microsoft.com/office/drawing/2014/main" id="{7DB8F219-79C2-FD03-2924-9D8B54B53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6501" y="1415809"/>
            <a:ext cx="2263519" cy="2160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ast Reactor Working Group - Nuclear Metal Fuel: Characteristics, Design,  Manufacturing, Testing, and Operating History.">
            <a:extLst>
              <a:ext uri="{FF2B5EF4-FFF2-40B4-BE49-F238E27FC236}">
                <a16:creationId xmlns:a16="http://schemas.microsoft.com/office/drawing/2014/main" id="{FC15A096-3E95-F2A8-3F10-5C9ED9782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4947" y="2623286"/>
            <a:ext cx="1972780" cy="1946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ypical crack pattern in low burnup (2.5 MWd/kgU) UO2 fuel, caused by... |  Download Scientific Diagram">
            <a:extLst>
              <a:ext uri="{FF2B5EF4-FFF2-40B4-BE49-F238E27FC236}">
                <a16:creationId xmlns:a16="http://schemas.microsoft.com/office/drawing/2014/main" id="{43F98E3C-2431-4003-8083-49F3EDA03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7600" y="4181086"/>
            <a:ext cx="3068758" cy="1570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uel-cladding chemical interaction of a prototype annular U-10Zr fuel with  Fe-12Cr ferritic/martensitic HT-9 cladding - ScienceDirect">
            <a:extLst>
              <a:ext uri="{FF2B5EF4-FFF2-40B4-BE49-F238E27FC236}">
                <a16:creationId xmlns:a16="http://schemas.microsoft.com/office/drawing/2014/main" id="{8DCE17EC-76C0-64F0-460B-F629834DF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3305" y="4667090"/>
            <a:ext cx="1972781" cy="1926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3179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use pure uranium metal?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0251"/>
            <a:ext cx="6212402" cy="3190828"/>
          </a:xfrm>
        </p:spPr>
        <p:txBody>
          <a:bodyPr>
            <a:noAutofit/>
          </a:bodyPr>
          <a:lstStyle/>
          <a:p>
            <a:r>
              <a:rPr lang="en-US" sz="2200" dirty="0"/>
              <a:t>Pure uranium has three solid phases</a:t>
            </a:r>
          </a:p>
          <a:p>
            <a:pPr lvl="1"/>
            <a:r>
              <a:rPr lang="en-US" sz="2200" dirty="0"/>
              <a:t>α-phase is orthorhombic</a:t>
            </a:r>
          </a:p>
          <a:p>
            <a:pPr lvl="1"/>
            <a:r>
              <a:rPr lang="en-US" sz="2200" dirty="0"/>
              <a:t>β-phase is tetragonal</a:t>
            </a:r>
          </a:p>
          <a:p>
            <a:pPr lvl="1"/>
            <a:r>
              <a:rPr lang="en-US" sz="2200" dirty="0">
                <a:latin typeface="Symbol" pitchFamily="2" charset="2"/>
              </a:rPr>
              <a:t>g</a:t>
            </a:r>
            <a:r>
              <a:rPr lang="en-US" sz="2200" dirty="0"/>
              <a:t>-phase is body-centered cubic</a:t>
            </a:r>
          </a:p>
          <a:p>
            <a:pPr lvl="1"/>
            <a:r>
              <a:rPr lang="en-US" sz="2200" dirty="0"/>
              <a:t>During thermal cycling, pure uranium</a:t>
            </a:r>
            <a:br>
              <a:rPr lang="en-US" sz="2200" dirty="0"/>
            </a:br>
            <a:r>
              <a:rPr lang="en-US" sz="2200" dirty="0"/>
              <a:t>dramatically swells</a:t>
            </a:r>
          </a:p>
          <a:p>
            <a:pPr lvl="1"/>
            <a:r>
              <a:rPr lang="el-GR" sz="2200" dirty="0"/>
              <a:t>α</a:t>
            </a:r>
            <a:r>
              <a:rPr lang="en-US" sz="2200" dirty="0"/>
              <a:t>-U has both anisotropic thermal expansion and anisotropic irradiation growth</a:t>
            </a:r>
          </a:p>
          <a:p>
            <a:r>
              <a:rPr lang="en-US" sz="2200" dirty="0"/>
              <a:t>Alloy U with transition metals or form U compounds with O, C, N, etc.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687" y="4630108"/>
            <a:ext cx="2923532" cy="126714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5214" y="973326"/>
            <a:ext cx="1586296" cy="143362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5035" y="2532207"/>
            <a:ext cx="2117720" cy="14764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9F4AB2-CDCB-BC45-AFE3-BE52D99D844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1549" y="1750251"/>
            <a:ext cx="2844801" cy="2184189"/>
          </a:xfrm>
          <a:prstGeom prst="rect">
            <a:avLst/>
          </a:prstGeom>
        </p:spPr>
      </p:pic>
      <p:pic>
        <p:nvPicPr>
          <p:cNvPr id="14" name="Picture 13" descr="C:\Users\beeler\Desktop\work\e_d_pic.tif">
            <a:extLst>
              <a:ext uri="{FF2B5EF4-FFF2-40B4-BE49-F238E27FC236}">
                <a16:creationId xmlns:a16="http://schemas.microsoft.com/office/drawing/2014/main" id="{232D1464-92D3-644E-AD03-9506C438973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7729"/>
          <a:stretch/>
        </p:blipFill>
        <p:spPr bwMode="auto">
          <a:xfrm>
            <a:off x="10210914" y="4142018"/>
            <a:ext cx="1360730" cy="137368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783100-C28A-D440-BDFF-BD70AE255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425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B8527-67E4-3724-39BF-AAD888D47D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is the reference fuel for commercial reactors?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1093D5-28E5-3488-C4F4-71F65F1356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940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0E0377F-9E0F-FB49-900E-4582FE1FF01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9708" y="4531677"/>
            <a:ext cx="2143406" cy="20072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8246F6-8382-5E47-9114-1EA688DAD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Uranium Dioxide (UO2)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CEE70-46D5-2D4D-8418-94577380F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82826"/>
            <a:ext cx="6223269" cy="467037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Reference fuel for nuclear power industry</a:t>
            </a:r>
          </a:p>
          <a:p>
            <a:r>
              <a:rPr lang="en-US" dirty="0"/>
              <a:t>Single phase, fluorite structure</a:t>
            </a:r>
          </a:p>
          <a:p>
            <a:r>
              <a:rPr lang="en-US" dirty="0"/>
              <a:t>Fabrication via sintering UO2 powder into pellets</a:t>
            </a:r>
          </a:p>
          <a:p>
            <a:r>
              <a:rPr lang="en-US" dirty="0"/>
              <a:t>Water coolant</a:t>
            </a:r>
          </a:p>
          <a:p>
            <a:r>
              <a:rPr lang="en-US" dirty="0"/>
              <a:t>Pellets are stacked inside Zircaloy cladding tubes (zirconium alloy)</a:t>
            </a:r>
          </a:p>
          <a:p>
            <a:r>
              <a:rPr lang="en-US" dirty="0"/>
              <a:t>Good behaviors</a:t>
            </a:r>
          </a:p>
          <a:p>
            <a:pPr lvl="1"/>
            <a:r>
              <a:rPr lang="en-US" dirty="0"/>
              <a:t>Very high melting point, about 2800 C</a:t>
            </a:r>
          </a:p>
          <a:p>
            <a:pPr lvl="1"/>
            <a:r>
              <a:rPr lang="en-US" dirty="0"/>
              <a:t>Maintains a stable fluorite phase up to melting</a:t>
            </a:r>
          </a:p>
          <a:p>
            <a:pPr lvl="1"/>
            <a:r>
              <a:rPr lang="en-US" dirty="0"/>
              <a:t>Very compatible with Zircaloy clad</a:t>
            </a:r>
          </a:p>
          <a:p>
            <a:pPr lvl="1"/>
            <a:r>
              <a:rPr lang="en-US" dirty="0"/>
              <a:t>Relative stability in water</a:t>
            </a:r>
          </a:p>
          <a:p>
            <a:pPr lvl="1"/>
            <a:r>
              <a:rPr lang="en-US" dirty="0"/>
              <a:t>Reasonably radiation resistant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DB8D0A-B1D0-4147-A314-55627D323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6695318" y="2434597"/>
            <a:ext cx="2089280" cy="13281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1FA8D8-9AA2-E243-BA0B-33B5E4A773C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20456" y="4386851"/>
            <a:ext cx="1819967" cy="1969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8507C7-20AA-0542-BFC5-2919B231CC7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04050" y="1882826"/>
            <a:ext cx="3665937" cy="2497419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A6CB7B-D2F5-7743-AF96-B9673BD7C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130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246F6-8382-5E47-9114-1EA688DAD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Uranium Dioxide (UO2)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CEE70-46D5-2D4D-8418-94577380F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882826"/>
            <a:ext cx="6253778" cy="4670374"/>
          </a:xfrm>
        </p:spPr>
        <p:txBody>
          <a:bodyPr>
            <a:normAutofit/>
          </a:bodyPr>
          <a:lstStyle/>
          <a:p>
            <a:r>
              <a:rPr lang="en-US" sz="2200" dirty="0"/>
              <a:t>Bad behaviors</a:t>
            </a:r>
          </a:p>
          <a:p>
            <a:pPr lvl="1"/>
            <a:r>
              <a:rPr lang="en-US" sz="2200" dirty="0"/>
              <a:t>Brittle (thermal stress fractures, fragmentation)</a:t>
            </a:r>
          </a:p>
          <a:p>
            <a:pPr lvl="1"/>
            <a:r>
              <a:rPr lang="en-US" sz="2200" dirty="0"/>
              <a:t>Poor thermal conductivity</a:t>
            </a:r>
          </a:p>
          <a:p>
            <a:pPr lvl="1"/>
            <a:r>
              <a:rPr lang="en-US" sz="2200" dirty="0"/>
              <a:t>Properties very sensitive to stoichiometry</a:t>
            </a:r>
          </a:p>
          <a:p>
            <a:pPr lvl="1"/>
            <a:r>
              <a:rPr lang="en-US" sz="2200" dirty="0"/>
              <a:t>Limited linear heating rates</a:t>
            </a:r>
          </a:p>
          <a:p>
            <a:pPr lvl="1"/>
            <a:r>
              <a:rPr lang="en-US" sz="2200" dirty="0"/>
              <a:t>Non-negligible thermal expansion/swelling</a:t>
            </a:r>
          </a:p>
          <a:p>
            <a:pPr lvl="1"/>
            <a:r>
              <a:rPr lang="en-US" sz="2200" dirty="0"/>
              <a:t>Higher stored thermal energy than other fuel material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A6CB7B-D2F5-7743-AF96-B9673BD7C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C717D6-4BB2-0240-B051-2B13E1005A8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57782" y="3916898"/>
            <a:ext cx="3613463" cy="26363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7519F9-1873-574C-9ECB-7F81C82D4F1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3091" y="944182"/>
            <a:ext cx="3032339" cy="287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583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200CC-F154-ED4B-BBB0-52238C7EB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Uranium Dioxide (UO2)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87495-F9F3-EA4E-A7CF-EA05A7C0B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60078"/>
            <a:ext cx="6264536" cy="3965670"/>
          </a:xfrm>
        </p:spPr>
        <p:txBody>
          <a:bodyPr/>
          <a:lstStyle/>
          <a:p>
            <a:r>
              <a:rPr lang="en-US" sz="2200" dirty="0"/>
              <a:t>Critical Phenomena</a:t>
            </a:r>
          </a:p>
          <a:p>
            <a:pPr lvl="1"/>
            <a:r>
              <a:rPr lang="en-US" sz="2200" dirty="0"/>
              <a:t>Thermal conductivity (and degradation)</a:t>
            </a:r>
          </a:p>
          <a:p>
            <a:pPr lvl="1"/>
            <a:r>
              <a:rPr lang="en-US" sz="2200" dirty="0"/>
              <a:t>Fission gas release, leading to pressure increase inside the cladding</a:t>
            </a:r>
          </a:p>
          <a:p>
            <a:pPr lvl="1"/>
            <a:r>
              <a:rPr lang="en-US" sz="2200" dirty="0"/>
              <a:t>Fuel fragmentation and relocation under transients</a:t>
            </a:r>
          </a:p>
          <a:p>
            <a:pPr lvl="1"/>
            <a:r>
              <a:rPr lang="en-US" sz="2200" dirty="0"/>
              <a:t>Bambooing creating stress concentrations</a:t>
            </a:r>
          </a:p>
          <a:p>
            <a:r>
              <a:rPr lang="en-US" sz="2200" dirty="0"/>
              <a:t>All 94 operational reactors in US utilize UO2</a:t>
            </a:r>
          </a:p>
          <a:p>
            <a:pPr lvl="1"/>
            <a:r>
              <a:rPr lang="en-US" sz="2200" dirty="0"/>
              <a:t>we sufficiently understand its limitations, and don’t push it beyond</a:t>
            </a: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E2081-A5A0-DE43-8CFF-DDC496CA7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888D30-8CC3-E146-8868-B29EFADC51E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12086" y="4573519"/>
            <a:ext cx="3867307" cy="19746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08AC90-2AA9-2748-BEF3-AADCBEC9698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89441" y="1776731"/>
            <a:ext cx="4089952" cy="259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500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F3E4E-F695-7E42-BDF9-91C6ADF6F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Fission Product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AFAD4-123E-7E46-8981-E976FE262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6329082" cy="396567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Fission releases around 200 MeV</a:t>
            </a:r>
          </a:p>
          <a:p>
            <a:pPr lvl="1"/>
            <a:r>
              <a:rPr lang="en-US" dirty="0"/>
              <a:t>The fission fragments have 169 MeV of kinetic energy</a:t>
            </a:r>
          </a:p>
          <a:p>
            <a:pPr lvl="1"/>
            <a:r>
              <a:rPr lang="en-US" dirty="0"/>
              <a:t>2 to 3 neutrons with an average energy of 2 MeV</a:t>
            </a:r>
          </a:p>
          <a:p>
            <a:pPr lvl="1"/>
            <a:r>
              <a:rPr lang="en-US" dirty="0"/>
              <a:t>7 MeV of prompt gamma ray photons</a:t>
            </a:r>
          </a:p>
          <a:p>
            <a:pPr lvl="1"/>
            <a:r>
              <a:rPr lang="en-US" dirty="0"/>
              <a:t>The remaining energy is released by beta decay</a:t>
            </a:r>
          </a:p>
          <a:p>
            <a:r>
              <a:rPr lang="en-US" dirty="0"/>
              <a:t>Every fission product that is produced is now in the crystal lattice of the fuel, changing the microstructure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23E69-16C5-9341-9688-F0D86DBEE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6AB0F4-19ED-9B42-A625-7C6C9A8BC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568" y="1590128"/>
            <a:ext cx="3089836" cy="19397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B828C5-F72E-2D4D-924D-60F59918E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270" y="3878132"/>
            <a:ext cx="2662432" cy="212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248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46869-9FA0-9816-DA85-3AC4411C6E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are some common fission products?</a:t>
            </a:r>
          </a:p>
        </p:txBody>
      </p:sp>
    </p:spTree>
    <p:extLst>
      <p:ext uri="{BB962C8B-B14F-4D97-AF65-F5344CB8AC3E}">
        <p14:creationId xmlns:p14="http://schemas.microsoft.com/office/powerpoint/2010/main" val="6381775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itle 1">
            <a:extLst>
              <a:ext uri="{FF2B5EF4-FFF2-40B4-BE49-F238E27FC236}">
                <a16:creationId xmlns:a16="http://schemas.microsoft.com/office/drawing/2014/main" id="{2C7A1C2A-52B0-C683-9722-87E3C13BA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42206"/>
            <a:ext cx="10972800" cy="1068387"/>
          </a:xfrm>
        </p:spPr>
        <p:txBody>
          <a:bodyPr/>
          <a:lstStyle/>
          <a:p>
            <a:r>
              <a:rPr lang="en-US" dirty="0"/>
              <a:t>A big chunk of the periodic table</a:t>
            </a:r>
          </a:p>
        </p:txBody>
      </p:sp>
      <p:pic>
        <p:nvPicPr>
          <p:cNvPr id="1026" name="Picture 2" descr="A periodic table of the elements highlighting the ones that can emerge as fission&#10;products.">
            <a:extLst>
              <a:ext uri="{FF2B5EF4-FFF2-40B4-BE49-F238E27FC236}">
                <a16:creationId xmlns:a16="http://schemas.microsoft.com/office/drawing/2014/main" id="{A6E997C0-E480-6376-9C1A-E9838249D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09477" y="1863969"/>
            <a:ext cx="8973045" cy="426219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E26B99-2C35-C488-27CC-48D88D5C0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C2AB7D4D-4E81-5B40-91F6-CF14C25F8623}" type="slidenum">
              <a:rPr lang="en-US" smtClean="0"/>
              <a:pPr>
                <a:spcAft>
                  <a:spcPts val="600"/>
                </a:spcAft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146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BA781-7ECE-6641-88BB-68160FD76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types of fission products in the fuel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3BFFA-532D-A248-A8F3-258A22346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BB16C56-AB5E-3345-B5D1-C17ED6ED40EF}"/>
              </a:ext>
            </a:extLst>
          </p:cNvPr>
          <p:cNvGrpSpPr/>
          <p:nvPr/>
        </p:nvGrpSpPr>
        <p:grpSpPr>
          <a:xfrm>
            <a:off x="2307822" y="2151063"/>
            <a:ext cx="7576356" cy="4387850"/>
            <a:chOff x="1782797" y="1146678"/>
            <a:chExt cx="8720221" cy="520967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6CA30CB-24D3-9D42-9B49-6FF3DE94B7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82797" y="2202246"/>
              <a:ext cx="3550899" cy="3017788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0E71837-A94D-674A-B3E4-EBEE788289C3}"/>
                </a:ext>
              </a:extLst>
            </p:cNvPr>
            <p:cNvGrpSpPr/>
            <p:nvPr/>
          </p:nvGrpSpPr>
          <p:grpSpPr>
            <a:xfrm>
              <a:off x="3344229" y="4631825"/>
              <a:ext cx="7158789" cy="1724526"/>
              <a:chOff x="1838158" y="5013158"/>
              <a:chExt cx="7158789" cy="1724526"/>
            </a:xfrm>
          </p:grpSpPr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279510D7-9F25-DE47-BCC2-A743D4394290}"/>
                  </a:ext>
                </a:extLst>
              </p:cNvPr>
              <p:cNvSpPr/>
              <p:nvPr/>
            </p:nvSpPr>
            <p:spPr>
              <a:xfrm>
                <a:off x="3903579" y="5434263"/>
                <a:ext cx="5093368" cy="1303421"/>
              </a:xfrm>
              <a:prstGeom prst="roundRect">
                <a:avLst>
                  <a:gd name="adj" fmla="val 10000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400" b="1" dirty="0"/>
                  <a:t>Noble gases (</a:t>
                </a:r>
                <a:r>
                  <a:rPr lang="en-US" sz="1400" b="1" dirty="0" err="1"/>
                  <a:t>Xe</a:t>
                </a:r>
                <a:r>
                  <a:rPr lang="en-US" sz="1400" b="1" dirty="0"/>
                  <a:t>, Kr)</a:t>
                </a:r>
              </a:p>
              <a:p>
                <a:pPr marL="173038" indent="-173038">
                  <a:buFont typeface="Arial"/>
                  <a:buChar char="•"/>
                </a:pPr>
                <a:r>
                  <a:rPr lang="en-US" sz="1400" dirty="0"/>
                  <a:t>Essentially insoluble in the fuel matrix </a:t>
                </a:r>
              </a:p>
              <a:p>
                <a:pPr marL="173038" indent="-173038">
                  <a:buFont typeface="Arial"/>
                  <a:buChar char="•"/>
                </a:pPr>
                <a:r>
                  <a:rPr lang="en-US" sz="1400" dirty="0"/>
                  <a:t>Form either </a:t>
                </a:r>
                <a:r>
                  <a:rPr lang="en-US" sz="1400" dirty="0" err="1"/>
                  <a:t>intragranular</a:t>
                </a:r>
                <a:r>
                  <a:rPr lang="en-US" sz="1400" dirty="0"/>
                  <a:t> (within grain) voids or bubbles or </a:t>
                </a:r>
                <a:r>
                  <a:rPr lang="en-US" sz="1400" dirty="0" err="1"/>
                  <a:t>intergranular</a:t>
                </a:r>
                <a:r>
                  <a:rPr lang="en-US" sz="1400" dirty="0"/>
                  <a:t> (grain boundary) bubbles </a:t>
                </a:r>
              </a:p>
              <a:p>
                <a:pPr marL="173038" indent="-173038">
                  <a:buFont typeface="Arial"/>
                  <a:buChar char="•"/>
                </a:pPr>
                <a:endParaRPr lang="en-US" sz="1400" dirty="0"/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ACEE9338-FC9E-844D-B777-ACB4548A3797}"/>
                  </a:ext>
                </a:extLst>
              </p:cNvPr>
              <p:cNvCxnSpPr>
                <a:stCxn id="7" idx="1"/>
              </p:cNvCxnSpPr>
              <p:nvPr/>
            </p:nvCxnSpPr>
            <p:spPr>
              <a:xfrm flipH="1" flipV="1">
                <a:off x="1838158" y="5013158"/>
                <a:ext cx="2065421" cy="107281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524C206-EA46-0741-9CB4-505637424DA3}"/>
                </a:ext>
              </a:extLst>
            </p:cNvPr>
            <p:cNvGrpSpPr/>
            <p:nvPr/>
          </p:nvGrpSpPr>
          <p:grpSpPr>
            <a:xfrm>
              <a:off x="3344229" y="3667961"/>
              <a:ext cx="7158789" cy="1303421"/>
              <a:chOff x="1838158" y="4049294"/>
              <a:chExt cx="7158789" cy="1303421"/>
            </a:xfrm>
          </p:grpSpPr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00776D69-9FD5-1547-B265-F1E13ED02C3E}"/>
                  </a:ext>
                </a:extLst>
              </p:cNvPr>
              <p:cNvSpPr/>
              <p:nvPr/>
            </p:nvSpPr>
            <p:spPr>
              <a:xfrm>
                <a:off x="3903579" y="4049294"/>
                <a:ext cx="5093368" cy="1303421"/>
              </a:xfrm>
              <a:prstGeom prst="roundRect">
                <a:avLst>
                  <a:gd name="adj" fmla="val 10000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400" b="1" dirty="0"/>
                  <a:t>Volatiles (Br, </a:t>
                </a:r>
                <a:r>
                  <a:rPr lang="en-US" sz="1400" b="1" dirty="0" err="1"/>
                  <a:t>Rb</a:t>
                </a:r>
                <a:r>
                  <a:rPr lang="en-US" sz="1400" b="1" dirty="0"/>
                  <a:t>, </a:t>
                </a:r>
                <a:r>
                  <a:rPr lang="en-US" sz="1400" b="1" dirty="0" err="1"/>
                  <a:t>Te</a:t>
                </a:r>
                <a:r>
                  <a:rPr lang="en-US" sz="1400" b="1" dirty="0"/>
                  <a:t>, I and Cs) </a:t>
                </a:r>
              </a:p>
              <a:p>
                <a:pPr marL="173038" indent="-173038">
                  <a:buFont typeface="Arial"/>
                  <a:buChar char="•"/>
                </a:pPr>
                <a:r>
                  <a:rPr lang="en-US" sz="1400" dirty="0"/>
                  <a:t>Exist as gases at high temperatures of the pellet interior </a:t>
                </a:r>
              </a:p>
              <a:p>
                <a:pPr marL="173038" indent="-173038">
                  <a:buFont typeface="Arial"/>
                  <a:buChar char="•"/>
                </a:pPr>
                <a:r>
                  <a:rPr lang="en-US" sz="1400" dirty="0"/>
                  <a:t>Also exist as solids at the cooler pellet exterior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C0BB876E-2031-AE4C-8420-2C7E0A495BC0}"/>
                  </a:ext>
                </a:extLst>
              </p:cNvPr>
              <p:cNvCxnSpPr>
                <a:stCxn id="10" idx="1"/>
              </p:cNvCxnSpPr>
              <p:nvPr/>
            </p:nvCxnSpPr>
            <p:spPr>
              <a:xfrm flipH="1">
                <a:off x="1838158" y="4701005"/>
                <a:ext cx="2065421" cy="31215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5BDDD7F-BCCE-FD46-9E84-0A204250B574}"/>
                </a:ext>
              </a:extLst>
            </p:cNvPr>
            <p:cNvGrpSpPr/>
            <p:nvPr/>
          </p:nvGrpSpPr>
          <p:grpSpPr>
            <a:xfrm>
              <a:off x="3885650" y="2827088"/>
              <a:ext cx="6617368" cy="755316"/>
              <a:chOff x="2379579" y="3208421"/>
              <a:chExt cx="6617368" cy="755316"/>
            </a:xfrm>
          </p:grpSpPr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353FD2B6-2B0A-1246-9EC9-3EB0EDFD65A4}"/>
                  </a:ext>
                </a:extLst>
              </p:cNvPr>
              <p:cNvSpPr/>
              <p:nvPr/>
            </p:nvSpPr>
            <p:spPr>
              <a:xfrm>
                <a:off x="3903579" y="3208421"/>
                <a:ext cx="5093368" cy="75531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400" b="1" dirty="0"/>
                  <a:t>Metals (Mo, </a:t>
                </a:r>
                <a:r>
                  <a:rPr lang="en-US" sz="1400" b="1" dirty="0" err="1"/>
                  <a:t>Ru</a:t>
                </a:r>
                <a:r>
                  <a:rPr lang="en-US" sz="1400" b="1" dirty="0"/>
                  <a:t>, </a:t>
                </a:r>
                <a:r>
                  <a:rPr lang="en-US" sz="1400" b="1" dirty="0" err="1"/>
                  <a:t>Pd</a:t>
                </a:r>
                <a:r>
                  <a:rPr lang="en-US" sz="1400" b="1" dirty="0"/>
                  <a:t>, and </a:t>
                </a:r>
                <a:r>
                  <a:rPr lang="en-US" sz="1400" b="1" dirty="0" err="1"/>
                  <a:t>Tc</a:t>
                </a:r>
                <a:r>
                  <a:rPr lang="en-US" sz="1400" b="1" dirty="0"/>
                  <a:t>) </a:t>
                </a:r>
              </a:p>
              <a:p>
                <a:pPr marL="173038" indent="-173038">
                  <a:buFont typeface="Arial"/>
                  <a:buChar char="•"/>
                </a:pPr>
                <a:r>
                  <a:rPr lang="en-US" sz="1400" dirty="0"/>
                  <a:t>Form metallic precipitates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A9EE72CD-82B6-284E-909E-18E4D3BB98EF}"/>
                  </a:ext>
                </a:extLst>
              </p:cNvPr>
              <p:cNvCxnSpPr>
                <a:stCxn id="13" idx="1"/>
              </p:cNvCxnSpPr>
              <p:nvPr/>
            </p:nvCxnSpPr>
            <p:spPr>
              <a:xfrm flipH="1" flipV="1">
                <a:off x="2379579" y="3208421"/>
                <a:ext cx="1524000" cy="377658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566A03F-3F0F-9C4C-824F-17969C31C307}"/>
                </a:ext>
              </a:extLst>
            </p:cNvPr>
            <p:cNvGrpSpPr/>
            <p:nvPr/>
          </p:nvGrpSpPr>
          <p:grpSpPr>
            <a:xfrm>
              <a:off x="4340176" y="1996909"/>
              <a:ext cx="6162842" cy="755316"/>
              <a:chOff x="2834105" y="2378242"/>
              <a:chExt cx="6162842" cy="755316"/>
            </a:xfrm>
          </p:grpSpPr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CB9CC1C6-BE85-CD49-A288-086BFB5FE403}"/>
                  </a:ext>
                </a:extLst>
              </p:cNvPr>
              <p:cNvSpPr/>
              <p:nvPr/>
            </p:nvSpPr>
            <p:spPr>
              <a:xfrm>
                <a:off x="3903579" y="2378242"/>
                <a:ext cx="5093368" cy="755316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400" b="1" dirty="0"/>
                  <a:t>Insoluble oxides (</a:t>
                </a:r>
                <a:r>
                  <a:rPr lang="en-US" sz="1400" b="1" dirty="0" err="1"/>
                  <a:t>Zr</a:t>
                </a:r>
                <a:r>
                  <a:rPr lang="en-US" sz="1400" b="1" dirty="0"/>
                  <a:t>, Ba and </a:t>
                </a:r>
                <a:r>
                  <a:rPr lang="en-US" sz="1400" b="1" dirty="0" err="1"/>
                  <a:t>Sr</a:t>
                </a:r>
                <a:r>
                  <a:rPr lang="en-US" sz="1400" b="1" dirty="0"/>
                  <a:t>) </a:t>
                </a:r>
              </a:p>
              <a:p>
                <a:pPr marL="173038" indent="-173038">
                  <a:buFont typeface="Arial"/>
                  <a:buChar char="•"/>
                </a:pPr>
                <a:r>
                  <a:rPr lang="en-US" sz="1400" dirty="0"/>
                  <a:t>Form insoluble oxides in the fluorite lattice</a:t>
                </a: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8DA1B70E-5C6D-DE45-A2B5-BE638A5A33D6}"/>
                  </a:ext>
                </a:extLst>
              </p:cNvPr>
              <p:cNvCxnSpPr>
                <a:stCxn id="16" idx="1"/>
              </p:cNvCxnSpPr>
              <p:nvPr/>
            </p:nvCxnSpPr>
            <p:spPr>
              <a:xfrm flipH="1">
                <a:off x="2834105" y="2755900"/>
                <a:ext cx="1069474" cy="104942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27D186B-09FE-5445-812E-A8F63FB322B3}"/>
                </a:ext>
              </a:extLst>
            </p:cNvPr>
            <p:cNvGrpSpPr/>
            <p:nvPr/>
          </p:nvGrpSpPr>
          <p:grpSpPr>
            <a:xfrm>
              <a:off x="3411071" y="1146678"/>
              <a:ext cx="7091947" cy="1332831"/>
              <a:chOff x="1905000" y="1528011"/>
              <a:chExt cx="7091947" cy="1332831"/>
            </a:xfrm>
          </p:grpSpPr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DF5E3AD6-3FB0-8546-833C-D67488532FF1}"/>
                  </a:ext>
                </a:extLst>
              </p:cNvPr>
              <p:cNvSpPr/>
              <p:nvPr/>
            </p:nvSpPr>
            <p:spPr>
              <a:xfrm>
                <a:off x="3903579" y="1528011"/>
                <a:ext cx="5093368" cy="755316"/>
              </a:xfrm>
              <a:prstGeom prst="round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400" b="1" dirty="0"/>
                  <a:t>Soluble oxides (Y, La and the rare earths) </a:t>
                </a:r>
              </a:p>
              <a:p>
                <a:pPr marL="173038" indent="-173038">
                  <a:buFont typeface="Arial"/>
                  <a:buChar char="•"/>
                </a:pPr>
                <a:r>
                  <a:rPr lang="en-US" sz="1400" dirty="0"/>
                  <a:t>Dissolved in the </a:t>
                </a:r>
                <a:r>
                  <a:rPr lang="en-US" sz="1400" dirty="0" err="1"/>
                  <a:t>cation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sublattice</a:t>
                </a:r>
                <a:endParaRPr lang="en-US" sz="1400" dirty="0"/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8176EAFF-45AE-3447-82D4-2D53B9799433}"/>
                  </a:ext>
                </a:extLst>
              </p:cNvPr>
              <p:cNvCxnSpPr>
                <a:stCxn id="19" idx="1"/>
              </p:cNvCxnSpPr>
              <p:nvPr/>
            </p:nvCxnSpPr>
            <p:spPr>
              <a:xfrm flipH="1">
                <a:off x="1905000" y="1905669"/>
                <a:ext cx="1998579" cy="95517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801976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829A2-EAD2-8C44-994E-CAB0E9BF4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Fission products impact the behavior of the fuel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55737-F925-9D41-944D-E3BFC88E3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DF4896-DF3F-754B-8F1E-F4527D595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4" y="1993256"/>
            <a:ext cx="7540572" cy="463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043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C0FAE-A0A0-6F97-9062-4698AA7B1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Fission Gas Release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E2DE5-9F5A-8465-EB70-5C5BEFCEC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63969"/>
            <a:ext cx="10972800" cy="4262196"/>
          </a:xfrm>
        </p:spPr>
        <p:txBody>
          <a:bodyPr/>
          <a:lstStyle/>
          <a:p>
            <a:r>
              <a:rPr lang="en-US" sz="2200" dirty="0"/>
              <a:t>Fission gases (Xe, Kr) are released in a process composed of three stages in UO2</a:t>
            </a:r>
          </a:p>
          <a:p>
            <a:r>
              <a:rPr lang="en-US" sz="2200" dirty="0"/>
              <a:t>Stage 1: Gas atoms are produced throughout the fuel due to fission and diffuse towards grain boundaries</a:t>
            </a:r>
          </a:p>
          <a:p>
            <a:r>
              <a:rPr lang="en-US" sz="2200" dirty="0"/>
              <a:t>Stage 2: Gas bubbles nucleate on grain boundaries, growing and interconnecting</a:t>
            </a:r>
          </a:p>
          <a:p>
            <a:r>
              <a:rPr lang="en-US" sz="2200" dirty="0"/>
              <a:t>Stage 3: Gas travels through interconnected bubbles to a free surface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B9D5A-D764-1A53-3371-ED86E9700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066020-BBBC-0474-4902-1A1CE5FFB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160176"/>
            <a:ext cx="6696636" cy="17930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CEB067-EADB-67B5-7E28-7DF793EAA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376" y="4013655"/>
            <a:ext cx="2880694" cy="21125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3628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02D39-A05E-73AA-5916-D72899620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UO2 Wrap-up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14149-ABF2-1402-29F9-170DD5E60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/>
              <a:t>Reference fuel</a:t>
            </a:r>
          </a:p>
          <a:p>
            <a:r>
              <a:rPr lang="en-US" sz="2200" dirty="0"/>
              <a:t>Good behaviors</a:t>
            </a:r>
          </a:p>
          <a:p>
            <a:pPr lvl="1"/>
            <a:r>
              <a:rPr lang="en-US" sz="2200" dirty="0"/>
              <a:t>Very high melting point, about 2800 C, Maintains a stable fluorite phase up to melting, Very compatible with Zircaloy clad, Relative stability in water, Reasonably radiation resistant</a:t>
            </a:r>
          </a:p>
          <a:p>
            <a:r>
              <a:rPr lang="en-US" sz="2200" dirty="0"/>
              <a:t>Bad behaviors</a:t>
            </a:r>
          </a:p>
          <a:p>
            <a:pPr lvl="1"/>
            <a:r>
              <a:rPr lang="en-US" sz="2200" dirty="0"/>
              <a:t>Brittle, Poor thermal conductivity, Properties very sensitive to stoichiometry, Limited linear heating rates, Non-negligible thermal expansion/swelling</a:t>
            </a:r>
          </a:p>
          <a:p>
            <a:r>
              <a:rPr lang="en-US" sz="2200" dirty="0"/>
              <a:t>Fuel evolution is governed by fission products and their impacts</a:t>
            </a:r>
          </a:p>
          <a:p>
            <a:pPr lvl="1"/>
            <a:r>
              <a:rPr lang="en-US" sz="2200" dirty="0"/>
              <a:t>change thermal conductivity, change chemistry, cause swelling, etc.</a:t>
            </a: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C7E77-D14A-CC36-50C2-FCB17F495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7443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E0BB5-5691-CF40-BD95-A569CE25B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Fuel Types and Associated Reactor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8FEC6-7C37-DF41-A129-E173911DF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Mixed Oxide (MOX) and U-Zr – Sodium Cooled Fast Reactors</a:t>
            </a:r>
          </a:p>
          <a:p>
            <a:endParaRPr lang="en-US" sz="2800" dirty="0"/>
          </a:p>
          <a:p>
            <a:r>
              <a:rPr lang="en-US" sz="2800" dirty="0"/>
              <a:t>UC/UCO – High Temperature Gas Reactors</a:t>
            </a:r>
          </a:p>
          <a:p>
            <a:endParaRPr lang="en-US" sz="2800" dirty="0"/>
          </a:p>
          <a:p>
            <a:r>
              <a:rPr lang="en-US" sz="2800" dirty="0"/>
              <a:t>UF4/UCl3 – Molten Salt Reactors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A0CBB-21D2-4D4A-B0DE-65EBA9176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8569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08B5B-C3C6-0046-A7FC-AC7B4BC52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Mixed Oxides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0CE87-399D-1641-BB35-A0279B0AE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25781"/>
            <a:ext cx="7824395" cy="3965670"/>
          </a:xfrm>
        </p:spPr>
        <p:txBody>
          <a:bodyPr/>
          <a:lstStyle/>
          <a:p>
            <a:r>
              <a:rPr lang="en-US" sz="2200" dirty="0"/>
              <a:t>UO2 can be combined with PuO2 for a mixed oxide (MOX) fuel for use in fast reactors</a:t>
            </a:r>
          </a:p>
          <a:p>
            <a:pPr lvl="1"/>
            <a:r>
              <a:rPr lang="en-US" sz="2200" dirty="0"/>
              <a:t>fast reactor uses higher energy neutrons</a:t>
            </a:r>
          </a:p>
          <a:p>
            <a:pPr lvl="1"/>
            <a:r>
              <a:rPr lang="en-US" sz="2200" dirty="0"/>
              <a:t>MOX also used in (thermal) light water reactors</a:t>
            </a:r>
          </a:p>
          <a:p>
            <a:r>
              <a:rPr lang="en-US" sz="2200" dirty="0"/>
              <a:t>Allows to burn excess weapons grade plutonium, or breed additional fuel isotopes</a:t>
            </a:r>
          </a:p>
          <a:p>
            <a:r>
              <a:rPr lang="en-US" sz="2200" dirty="0"/>
              <a:t>Less common is inclusion of minor actinides in MOX to burn waste</a:t>
            </a:r>
          </a:p>
          <a:p>
            <a:r>
              <a:rPr lang="en-US" sz="2200" dirty="0"/>
              <a:t>~30 reactors in Europe currently utilize a partial MOX core</a:t>
            </a:r>
          </a:p>
          <a:p>
            <a:r>
              <a:rPr lang="en-US" sz="2200" dirty="0"/>
              <a:t>Similar behavior to UO2, but different neutronics, fission gas release, thermal conductivity, etc.</a:t>
            </a: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645FF-8447-7742-9B0B-E489B4B6C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0146FD-06A8-F749-BB40-B0400BE9AF4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9910" y="2085309"/>
            <a:ext cx="3452904" cy="344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4880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B2514B4-1FBF-8743-A23B-8CF0D4BB989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8144" y="4143330"/>
            <a:ext cx="2174317" cy="23130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48D509-03D6-0846-A336-5E0070D1F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Uranium-Zirconium (UZr)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046E4-CC4C-4342-B640-6324DE8AA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64538"/>
            <a:ext cx="6217920" cy="4261627"/>
          </a:xfrm>
        </p:spPr>
        <p:txBody>
          <a:bodyPr/>
          <a:lstStyle/>
          <a:p>
            <a:r>
              <a:rPr lang="en-US" sz="2000" dirty="0"/>
              <a:t>Utilized in sodium cooled fast reactors (SFRs) - EBR I, EBR II</a:t>
            </a:r>
          </a:p>
          <a:p>
            <a:r>
              <a:rPr lang="en-US" sz="2000" dirty="0"/>
              <a:t>Varied crystal structure and compositional environment</a:t>
            </a:r>
          </a:p>
          <a:p>
            <a:r>
              <a:rPr lang="en-US" sz="2000" dirty="0"/>
              <a:t>Easily alloyed with Pu, minor actinides (MA)</a:t>
            </a:r>
          </a:p>
          <a:p>
            <a:r>
              <a:rPr lang="en-US" sz="2000" dirty="0"/>
              <a:t>Can function as a breeder/burner fuel</a:t>
            </a:r>
          </a:p>
          <a:p>
            <a:r>
              <a:rPr lang="en-US" sz="2000" dirty="0"/>
              <a:t>Sodium coolant</a:t>
            </a:r>
          </a:p>
          <a:p>
            <a:r>
              <a:rPr lang="en-US" sz="2000" dirty="0"/>
              <a:t>Fe-based cladding</a:t>
            </a:r>
          </a:p>
          <a:p>
            <a:r>
              <a:rPr lang="en-US" sz="2000" dirty="0"/>
              <a:t>Alloy with Zr to increase the melting point and to stabilize the high temperature body-centered cubic phase</a:t>
            </a:r>
          </a:p>
          <a:p>
            <a:r>
              <a:rPr lang="en-US" sz="2000" dirty="0" err="1"/>
              <a:t>Terrapower</a:t>
            </a:r>
            <a:r>
              <a:rPr lang="en-US" sz="2000" dirty="0"/>
              <a:t> building Natrium reactor with UZr fuel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8B2B0A-BDAE-BD42-AD4E-AF72EAF23F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2777" y="1104312"/>
            <a:ext cx="4042777" cy="288507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5BD52D-BF81-B74B-8709-0019DD3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D77C6B-7576-8141-8527-C9F83238367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7323" y="4210678"/>
            <a:ext cx="2854052" cy="214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0105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8D509-03D6-0846-A336-5E0070D1F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Uranium-Zirconium (UZr)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046E4-CC4C-4342-B640-6324DE8AA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40490"/>
            <a:ext cx="6217920" cy="4385675"/>
          </a:xfrm>
        </p:spPr>
        <p:txBody>
          <a:bodyPr/>
          <a:lstStyle/>
          <a:p>
            <a:r>
              <a:rPr lang="en-US" sz="2000" dirty="0"/>
              <a:t>Phenomena of interest</a:t>
            </a:r>
          </a:p>
          <a:p>
            <a:pPr lvl="1"/>
            <a:r>
              <a:rPr lang="en-US" sz="2000" dirty="0"/>
              <a:t>30-50% swelling</a:t>
            </a:r>
          </a:p>
          <a:p>
            <a:pPr lvl="1"/>
            <a:r>
              <a:rPr lang="en-US" sz="2000" dirty="0"/>
              <a:t>Constituent redistribution</a:t>
            </a:r>
          </a:p>
          <a:p>
            <a:pPr lvl="1"/>
            <a:r>
              <a:rPr lang="en-US" sz="2000" dirty="0"/>
              <a:t>Alpha tearing</a:t>
            </a:r>
          </a:p>
          <a:p>
            <a:pPr lvl="1"/>
            <a:r>
              <a:rPr lang="en-US" sz="2000" dirty="0"/>
              <a:t>Fuel-cladding chemical interaction (FCCI)</a:t>
            </a:r>
          </a:p>
          <a:p>
            <a:r>
              <a:rPr lang="en-US" sz="2000" dirty="0"/>
              <a:t>Good: High thermal conductivity; Stability to high burnups (&gt; 20%); Flexible composition; Inherent safety- negative reactivity feedback, etc.</a:t>
            </a:r>
          </a:p>
          <a:p>
            <a:r>
              <a:rPr lang="en-US" sz="2000" dirty="0"/>
              <a:t>Bad: Low melting point; Dramatic fuel swelling that must be accounted for; Incredibly complex microstructures; FCCI, Easily oxidized, etc.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5BD52D-BF81-B74B-8709-0019DD3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67EBF1A-E495-C345-933E-FC0BA481BE3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42580" y="3715176"/>
            <a:ext cx="2800495" cy="282373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529F95C-ED2A-3E10-D528-CEE2542F2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107" y="826796"/>
            <a:ext cx="4843443" cy="288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2963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3D9FA-2A73-A348-AADF-DAA4DA9C2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TRISO Particle Reactors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FC75E-6B7B-AA45-A036-ED0560405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876097"/>
            <a:ext cx="6201102" cy="4250068"/>
          </a:xfrm>
        </p:spPr>
        <p:txBody>
          <a:bodyPr/>
          <a:lstStyle/>
          <a:p>
            <a:r>
              <a:rPr lang="en-US" sz="2200" dirty="0"/>
              <a:t>High temperature gas reactors (HTGRs) or molten salt reactors (MSRs) can utilize TRISO particles as the fuel source</a:t>
            </a:r>
          </a:p>
          <a:p>
            <a:r>
              <a:rPr lang="en-US" sz="2200" dirty="0"/>
              <a:t>Pebble bed and prismatic types of HTGRs</a:t>
            </a:r>
          </a:p>
          <a:p>
            <a:r>
              <a:rPr lang="en-US" sz="2200" dirty="0"/>
              <a:t>Particles are agglomerated with graphite into a larger pebble, or into a cylindrical block</a:t>
            </a:r>
          </a:p>
          <a:p>
            <a:r>
              <a:rPr lang="en-US" sz="2200" dirty="0"/>
              <a:t>Current designs utilize UCO (in the US), which is a heterogeneous mixture of UO2 and UC fuel</a:t>
            </a:r>
          </a:p>
          <a:p>
            <a:r>
              <a:rPr lang="en-US" sz="2200" dirty="0"/>
              <a:t>Helium cooled gas or molten salt cooled</a:t>
            </a:r>
          </a:p>
          <a:p>
            <a:r>
              <a:rPr lang="en-US" sz="2200" dirty="0"/>
              <a:t>X-energy and Kairos pursuing TRISO-fueled reactors</a:t>
            </a: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4DEFD-4DD3-114E-AEF7-83117969C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AF3C4E-AAF9-F241-BEE7-1D88AC153F8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09677" y="410248"/>
            <a:ext cx="3399107" cy="26361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D5AAA1-31EA-10C7-0C74-F975BAFA7C4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14297" y="3160807"/>
            <a:ext cx="4341328" cy="367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7533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2F2C7-59DC-634E-B55F-9EF7B364C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UC/UCO TRISO Fuels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38D99-BAF9-F543-9EC9-EB546BF1D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88160"/>
            <a:ext cx="5779477" cy="468376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TRISO: </a:t>
            </a:r>
            <a:r>
              <a:rPr lang="en-US" dirty="0" err="1"/>
              <a:t>TRistructural</a:t>
            </a:r>
            <a:r>
              <a:rPr lang="en-US" dirty="0"/>
              <a:t> </a:t>
            </a:r>
            <a:r>
              <a:rPr lang="en-US" dirty="0" err="1"/>
              <a:t>ISOtropic</a:t>
            </a:r>
            <a:r>
              <a:rPr lang="en-US" dirty="0"/>
              <a:t> particle fuel</a:t>
            </a:r>
          </a:p>
          <a:p>
            <a:r>
              <a:rPr lang="en-US" dirty="0"/>
              <a:t>Layered fuel in mm-sized particles</a:t>
            </a:r>
          </a:p>
          <a:p>
            <a:r>
              <a:rPr lang="en-US" dirty="0"/>
              <a:t>Layers:</a:t>
            </a:r>
          </a:p>
          <a:p>
            <a:pPr lvl="1"/>
            <a:r>
              <a:rPr lang="en-US" dirty="0"/>
              <a:t>Fuel Kernel</a:t>
            </a:r>
          </a:p>
          <a:p>
            <a:pPr lvl="1"/>
            <a:r>
              <a:rPr lang="en-US" dirty="0"/>
              <a:t>Buffer</a:t>
            </a:r>
          </a:p>
          <a:p>
            <a:pPr lvl="1"/>
            <a:r>
              <a:rPr lang="en-US" dirty="0"/>
              <a:t>Inner Pyrolytic Carbon (</a:t>
            </a:r>
            <a:r>
              <a:rPr lang="en-US" dirty="0" err="1"/>
              <a:t>IPyC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SiC</a:t>
            </a:r>
            <a:endParaRPr lang="en-US" dirty="0"/>
          </a:p>
          <a:p>
            <a:pPr lvl="1"/>
            <a:r>
              <a:rPr lang="en-US" dirty="0"/>
              <a:t>Outer Pyrolytic Carbon (</a:t>
            </a:r>
            <a:r>
              <a:rPr lang="en-US" dirty="0" err="1"/>
              <a:t>OPyC</a:t>
            </a:r>
            <a:r>
              <a:rPr lang="en-US" dirty="0"/>
              <a:t>)</a:t>
            </a:r>
          </a:p>
          <a:p>
            <a:r>
              <a:rPr lang="en-US" dirty="0"/>
              <a:t>Advantages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excellent safety: breach leads to minimal source term, low rates of failure, stable to very high temperatures</a:t>
            </a:r>
          </a:p>
          <a:p>
            <a:r>
              <a:rPr lang="en-US" dirty="0"/>
              <a:t>Disadvantages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very sensitive to manufacturing processes, somewhat limited fuel loading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7BC071-3862-224D-8637-D2127F71609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01798" y="2130284"/>
            <a:ext cx="2045632" cy="204563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4DF3217-E11F-384F-9F68-AECA7757652B}"/>
              </a:ext>
            </a:extLst>
          </p:cNvPr>
          <p:cNvCxnSpPr>
            <a:cxnSpLocks/>
          </p:cNvCxnSpPr>
          <p:nvPr/>
        </p:nvCxnSpPr>
        <p:spPr>
          <a:xfrm>
            <a:off x="3003494" y="2787387"/>
            <a:ext cx="3516014" cy="2259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E250748-AAD2-5248-8201-A778213D44A2}"/>
              </a:ext>
            </a:extLst>
          </p:cNvPr>
          <p:cNvCxnSpPr>
            <a:cxnSpLocks/>
          </p:cNvCxnSpPr>
          <p:nvPr/>
        </p:nvCxnSpPr>
        <p:spPr>
          <a:xfrm>
            <a:off x="2671886" y="3072177"/>
            <a:ext cx="3661521" cy="1357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582F66C-7292-5A45-88A2-975B337A587C}"/>
              </a:ext>
            </a:extLst>
          </p:cNvPr>
          <p:cNvCxnSpPr>
            <a:cxnSpLocks/>
          </p:cNvCxnSpPr>
          <p:nvPr/>
        </p:nvCxnSpPr>
        <p:spPr>
          <a:xfrm>
            <a:off x="4806323" y="3404927"/>
            <a:ext cx="1647970" cy="716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3C48AF4-17D8-3E45-ABD3-0DA0AA4A453D}"/>
              </a:ext>
            </a:extLst>
          </p:cNvPr>
          <p:cNvCxnSpPr>
            <a:cxnSpLocks/>
          </p:cNvCxnSpPr>
          <p:nvPr/>
        </p:nvCxnSpPr>
        <p:spPr>
          <a:xfrm flipV="1">
            <a:off x="3357431" y="3679701"/>
            <a:ext cx="3162077" cy="387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FC25B69-E10A-6E4E-9A01-EFDA053ABABD}"/>
              </a:ext>
            </a:extLst>
          </p:cNvPr>
          <p:cNvCxnSpPr>
            <a:cxnSpLocks/>
          </p:cNvCxnSpPr>
          <p:nvPr/>
        </p:nvCxnSpPr>
        <p:spPr>
          <a:xfrm flipV="1">
            <a:off x="5005065" y="3896894"/>
            <a:ext cx="1805638" cy="1648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38716-87D8-8748-AC97-61E6EEA3D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23A927A-36D9-AA46-98B0-3D01AF45E0E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69530" y="1523449"/>
            <a:ext cx="2552700" cy="26162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9EFA227-B690-9945-A520-36B36F2B9DE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69530" y="4245793"/>
            <a:ext cx="25527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6864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C43EE-E4FF-DD0F-BB24-30BB201E0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Molten Salt Reactors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5BFC1-81C2-81D9-CE42-1C7A805CA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0593"/>
            <a:ext cx="6989379" cy="4415572"/>
          </a:xfrm>
        </p:spPr>
        <p:txBody>
          <a:bodyPr/>
          <a:lstStyle/>
          <a:p>
            <a:r>
              <a:rPr lang="en-US" sz="2200" dirty="0"/>
              <a:t>Utilize molten salt (alkali/alkaline-halides), e.g., NaCl, as a heat transfer medium, functioning as coolant, fuel, or both</a:t>
            </a:r>
          </a:p>
          <a:p>
            <a:r>
              <a:rPr lang="en-US" sz="2200" dirty="0"/>
              <a:t>The molten salt reactor experiment (MSRE) operated at Oak Ridge in the 1960s and utilized flowing fuel molten salt: LiF-BeF2-ZrF4-UF4</a:t>
            </a:r>
          </a:p>
          <a:p>
            <a:r>
              <a:rPr lang="en-US" sz="2200" dirty="0"/>
              <a:t>MSRs can operate at ambient pressures and high temperatures</a:t>
            </a:r>
          </a:p>
          <a:p>
            <a:r>
              <a:rPr lang="en-US" sz="2200" dirty="0"/>
              <a:t>MSRs have a very large margin to boiling, and combined with a negative reactivity feedback coefficient, have inherent safety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DBEB07-9FBA-1ECE-E646-0B882B25A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F4143FF-8710-AD69-8273-823DC4484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01224" y="853734"/>
            <a:ext cx="2773479" cy="2183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8EB6CBB-AD9F-24BD-26EA-6455C4F82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39180" y="3441668"/>
            <a:ext cx="3297566" cy="2562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11056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230C1-CB4A-E961-A9DE-6133F066C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Molten Salt Reactors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52688-7F53-C422-7890-1BCFAFFA0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0593"/>
            <a:ext cx="6978869" cy="4415572"/>
          </a:xfrm>
        </p:spPr>
        <p:txBody>
          <a:bodyPr/>
          <a:lstStyle/>
          <a:p>
            <a:r>
              <a:rPr lang="en-US" sz="2200" dirty="0"/>
              <a:t>Molten salts have high heat capacity, high boiling point, and high thermal conductivity, and can easily absorb fission products </a:t>
            </a:r>
          </a:p>
          <a:p>
            <a:r>
              <a:rPr lang="en-US" sz="2200" dirty="0"/>
              <a:t>The changing chemical composition of the salt as it is transmuted by reactor radiation leads to changing properties</a:t>
            </a:r>
          </a:p>
          <a:p>
            <a:r>
              <a:rPr lang="en-US" sz="2200" dirty="0"/>
              <a:t>The corrosivity of hot salts can break down cladding components and leech alloying elements</a:t>
            </a:r>
          </a:p>
          <a:p>
            <a:r>
              <a:rPr lang="en-US" sz="2200" dirty="0"/>
              <a:t>LWR-type reactor structural materials cannot be used, but some Ni alloys and graphite are sufficiently compatible with molten salts</a:t>
            </a:r>
          </a:p>
          <a:p>
            <a:r>
              <a:rPr lang="en-US" sz="2200" dirty="0"/>
              <a:t>MCRE, Kairos (salt coolant), </a:t>
            </a:r>
            <a:r>
              <a:rPr lang="en-US" sz="2200" dirty="0" err="1"/>
              <a:t>ThorCon</a:t>
            </a:r>
            <a:r>
              <a:rPr lang="en-US" sz="2200" dirty="0"/>
              <a:t>, Copenhagen atomics, and others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20C73-6BA5-9148-F8D2-F61850F0D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pic>
        <p:nvPicPr>
          <p:cNvPr id="2050" name="Picture 2" descr="Molten salt - Wikipedia">
            <a:extLst>
              <a:ext uri="{FF2B5EF4-FFF2-40B4-BE49-F238E27FC236}">
                <a16:creationId xmlns:a16="http://schemas.microsoft.com/office/drawing/2014/main" id="{3F24CE3C-E7A4-6420-4C4F-4302B5371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51560" y="1556907"/>
            <a:ext cx="3220634" cy="2651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lick on the figure for the Equilibrium Point Calculation">
            <a:extLst>
              <a:ext uri="{FF2B5EF4-FFF2-40B4-BE49-F238E27FC236}">
                <a16:creationId xmlns:a16="http://schemas.microsoft.com/office/drawing/2014/main" id="{0DBAFF56-109D-3BD5-8436-F5B0D2F56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51560" y="4208544"/>
            <a:ext cx="3037490" cy="2392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19876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FAFD0-68A6-CF44-B47E-267C2610F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0C42D-BC40-684F-BE97-8DD2C9E3C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0593"/>
            <a:ext cx="6953026" cy="4415572"/>
          </a:xfrm>
        </p:spPr>
        <p:txBody>
          <a:bodyPr/>
          <a:lstStyle/>
          <a:p>
            <a:r>
              <a:rPr lang="en-US" sz="2200" dirty="0"/>
              <a:t>There exist a number of nuclear fuels in different stages of utilization and development</a:t>
            </a:r>
          </a:p>
          <a:p>
            <a:r>
              <a:rPr lang="en-US" sz="2200" dirty="0"/>
              <a:t>The more established ones are the less interesting ones… but still have a lot to understand</a:t>
            </a:r>
          </a:p>
          <a:p>
            <a:r>
              <a:rPr lang="en-US" sz="2200" dirty="0"/>
              <a:t>Active research on existing, underutilized, and developmental fuel designs</a:t>
            </a:r>
          </a:p>
          <a:p>
            <a:r>
              <a:rPr lang="en-US" sz="2200" dirty="0"/>
              <a:t>Each reactor design or application has individual needs, and no one fuel is one size fits all</a:t>
            </a:r>
          </a:p>
          <a:p>
            <a:r>
              <a:rPr lang="en-US" sz="2200" dirty="0"/>
              <a:t>Need to balance safety, performance (normal, off-normal, extended), manufacture, processing, waste, etc. </a:t>
            </a: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49A73-07FF-914A-8CB5-D86971DC9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pic>
        <p:nvPicPr>
          <p:cNvPr id="5" name="Picture 4" descr="UO2 Irradiated up to 80 GWd/MtU Pellet Average after 7 Cycles in the... |  Download Scientific Diagram">
            <a:extLst>
              <a:ext uri="{FF2B5EF4-FFF2-40B4-BE49-F238E27FC236}">
                <a16:creationId xmlns:a16="http://schemas.microsoft.com/office/drawing/2014/main" id="{A64BD3A1-BE65-F857-E9FB-C04817AF1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200" y="642206"/>
            <a:ext cx="1934993" cy="19436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6B8AE6-F4C0-E75C-EDD4-E101A38CDA3E}"/>
              </a:ext>
            </a:extLst>
          </p:cNvPr>
          <p:cNvSpPr txBox="1"/>
          <p:nvPr/>
        </p:nvSpPr>
        <p:spPr>
          <a:xfrm>
            <a:off x="10389748" y="1635950"/>
            <a:ext cx="839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UO2</a:t>
            </a:r>
          </a:p>
        </p:txBody>
      </p:sp>
      <p:pic>
        <p:nvPicPr>
          <p:cNvPr id="7" name="Picture 6" descr="The high burn-up structure in nuclear fuel - ScienceDirect">
            <a:extLst>
              <a:ext uri="{FF2B5EF4-FFF2-40B4-BE49-F238E27FC236}">
                <a16:creationId xmlns:a16="http://schemas.microsoft.com/office/drawing/2014/main" id="{CD0B8B17-F156-5EE2-7AD7-C75D67CDC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307" y="2613929"/>
            <a:ext cx="3941772" cy="1510851"/>
          </a:xfrm>
          <a:prstGeom prst="rect">
            <a:avLst/>
          </a:prstGeom>
        </p:spPr>
      </p:pic>
      <p:pic>
        <p:nvPicPr>
          <p:cNvPr id="8" name="Picture 7" descr="TRISO Particles: The Most Robust Nuclear Fuel on Earth | Department of  Energy">
            <a:extLst>
              <a:ext uri="{FF2B5EF4-FFF2-40B4-BE49-F238E27FC236}">
                <a16:creationId xmlns:a16="http://schemas.microsoft.com/office/drawing/2014/main" id="{1C5DC000-5416-B56C-3F54-98BDE0DACA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5600" y="4670102"/>
            <a:ext cx="2466191" cy="18085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FD3AA3-B23D-EAF7-7787-F7E20FF9F793}"/>
              </a:ext>
            </a:extLst>
          </p:cNvPr>
          <p:cNvSpPr txBox="1"/>
          <p:nvPr/>
        </p:nvSpPr>
        <p:spPr>
          <a:xfrm>
            <a:off x="10389748" y="5322806"/>
            <a:ext cx="839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TRISO</a:t>
            </a:r>
          </a:p>
        </p:txBody>
      </p:sp>
    </p:spTree>
    <p:extLst>
      <p:ext uri="{BB962C8B-B14F-4D97-AF65-F5344CB8AC3E}">
        <p14:creationId xmlns:p14="http://schemas.microsoft.com/office/powerpoint/2010/main" val="10891531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BE09C-2E19-AD4C-AA1D-CF789061C6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How do we model advanced fuels?</a:t>
            </a:r>
          </a:p>
        </p:txBody>
      </p:sp>
    </p:spTree>
    <p:extLst>
      <p:ext uri="{BB962C8B-B14F-4D97-AF65-F5344CB8AC3E}">
        <p14:creationId xmlns:p14="http://schemas.microsoft.com/office/powerpoint/2010/main" val="22462277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061A6-08EB-1544-ABD8-F73CF925C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viewpoint/approach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95BED-E45D-8A4E-81E1-7596F6224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968501"/>
            <a:ext cx="5227906" cy="4421789"/>
          </a:xfrm>
        </p:spPr>
        <p:txBody>
          <a:bodyPr>
            <a:normAutofit/>
          </a:bodyPr>
          <a:lstStyle/>
          <a:p>
            <a:r>
              <a:rPr lang="en-US" sz="2400" dirty="0"/>
              <a:t>Scientifically informed engineering is a multiscale problem</a:t>
            </a:r>
          </a:p>
          <a:p>
            <a:r>
              <a:rPr lang="en-US" sz="2400" dirty="0"/>
              <a:t>Critical phenomena need to be identified from the macroscale, and informed from the lower length scales</a:t>
            </a:r>
          </a:p>
          <a:p>
            <a:r>
              <a:rPr lang="en-US" sz="2400" dirty="0"/>
              <a:t>Perform good science, sometimes for science’s sake, but often to address a key engineering problem or need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CE98D6-E5CA-244B-BEAB-EA89004830C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37506" y="1968501"/>
            <a:ext cx="6214794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1639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F2F01-3AF5-D34A-A05A-230288199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Atomistic Modeler’s Toolkit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B9477-0D8D-7649-80BF-20A07BCCB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31341"/>
            <a:ext cx="6685280" cy="429482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Density Functional Theory (DFT)</a:t>
            </a:r>
          </a:p>
          <a:p>
            <a:pPr lvl="1"/>
            <a:r>
              <a:rPr lang="en-US" dirty="0"/>
              <a:t>is a computational quantum mechanical modelling method used to investigate the electronic structure of many-body systems, in particular atoms, molecules, and the condensed phases</a:t>
            </a:r>
          </a:p>
          <a:p>
            <a:r>
              <a:rPr lang="en-US" dirty="0"/>
              <a:t>Molecular Dynamics (MD)</a:t>
            </a:r>
          </a:p>
          <a:p>
            <a:pPr lvl="1"/>
            <a:r>
              <a:rPr lang="en-US" dirty="0"/>
              <a:t>is a computer simulation method for analyzing the physical movements of atoms and molecules, determined by numerically solving Newton's equations of motion for a system of interacting particles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3B5D7-BE5A-174A-B662-9CA45EE2F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17E6C9-8150-2D4E-B2CC-ABA36EE0F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3669" y="1601155"/>
            <a:ext cx="4008210" cy="176021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CFAA431-8A85-964F-B23D-2D86ACFDB7EF}"/>
              </a:ext>
            </a:extLst>
          </p:cNvPr>
          <p:cNvSpPr/>
          <p:nvPr/>
        </p:nvSpPr>
        <p:spPr>
          <a:xfrm>
            <a:off x="8021539" y="3433776"/>
            <a:ext cx="28985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 dirty="0" err="1"/>
              <a:t>Yashima</a:t>
            </a:r>
            <a:r>
              <a:rPr lang="en-US" sz="1100" dirty="0"/>
              <a:t>, https://</a:t>
            </a:r>
            <a:r>
              <a:rPr lang="en-US" sz="1100" dirty="0" err="1"/>
              <a:t>doi.org</a:t>
            </a:r>
            <a:r>
              <a:rPr lang="en-US" sz="1100" dirty="0"/>
              <a:t>/10.1039/C0CC00573H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2B71BC-FA2B-4747-A865-7086317A7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8955" y="3997974"/>
            <a:ext cx="2862580" cy="225993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2789342-7F0E-8242-84BD-689FCE1E580A}"/>
              </a:ext>
            </a:extLst>
          </p:cNvPr>
          <p:cNvSpPr/>
          <p:nvPr/>
        </p:nvSpPr>
        <p:spPr>
          <a:xfrm>
            <a:off x="6918325" y="6356351"/>
            <a:ext cx="458384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Sand, https://</a:t>
            </a:r>
            <a:r>
              <a:rPr lang="en-US" sz="1100" dirty="0" err="1"/>
              <a:t>doi.org</a:t>
            </a:r>
            <a:r>
              <a:rPr lang="en-US" sz="1100" dirty="0"/>
              <a:t>/10.1016/j.jnucmat.2018.08.049</a:t>
            </a:r>
          </a:p>
        </p:txBody>
      </p:sp>
    </p:spTree>
    <p:extLst>
      <p:ext uri="{BB962C8B-B14F-4D97-AF65-F5344CB8AC3E}">
        <p14:creationId xmlns:p14="http://schemas.microsoft.com/office/powerpoint/2010/main" val="24445354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F2F01-3AF5-D34A-A05A-230288199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Atomistic Modeler’s Toolkit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B9477-0D8D-7649-80BF-20A07BCCB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91862"/>
            <a:ext cx="6685280" cy="4234303"/>
          </a:xfrm>
        </p:spPr>
        <p:txBody>
          <a:bodyPr>
            <a:normAutofit/>
          </a:bodyPr>
          <a:lstStyle/>
          <a:p>
            <a:r>
              <a:rPr lang="en-US" i="1" dirty="0"/>
              <a:t>ab initio </a:t>
            </a:r>
            <a:r>
              <a:rPr lang="en-US" dirty="0"/>
              <a:t>Molecular Dynamics (AIMD)</a:t>
            </a:r>
          </a:p>
          <a:p>
            <a:pPr lvl="1"/>
            <a:r>
              <a:rPr lang="en-US" dirty="0"/>
              <a:t>is a computer simulation method in which finite temperature molecular dynamics (MD) trajectories are generated with forces obtained from accurate 'on the fly' electronic structure calculations</a:t>
            </a:r>
          </a:p>
          <a:p>
            <a:pPr lvl="1"/>
            <a:r>
              <a:rPr lang="en-US" dirty="0"/>
              <a:t>hybrid mixing between the accuracy of electronic structure calculations, while allowing for real temperature effects to be considered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3B5D7-BE5A-174A-B662-9CA45EE2F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760AA5-AF31-6E41-A5E8-CE6CE4677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4361" y="1779566"/>
            <a:ext cx="2931158" cy="190245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961C304-9857-2E4C-80C2-F666A5D79070}"/>
              </a:ext>
            </a:extLst>
          </p:cNvPr>
          <p:cNvSpPr/>
          <p:nvPr/>
        </p:nvSpPr>
        <p:spPr>
          <a:xfrm>
            <a:off x="8091203" y="3706501"/>
            <a:ext cx="317747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 dirty="0" err="1"/>
              <a:t>Schnappinger</a:t>
            </a:r>
            <a:r>
              <a:rPr lang="en-US" sz="1100" dirty="0"/>
              <a:t>, https://</a:t>
            </a:r>
            <a:r>
              <a:rPr lang="en-US" sz="1100" dirty="0" err="1"/>
              <a:t>doi.org</a:t>
            </a:r>
            <a:r>
              <a:rPr lang="en-US" sz="1100" dirty="0"/>
              <a:t>/10.1039/C7CP05061E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3709FD-FC18-4E4B-9CD9-AA3D913D138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8568" y="4040186"/>
            <a:ext cx="2331522" cy="22440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F1D8C2D-34F7-CD48-9878-AEA7765BB995}"/>
              </a:ext>
            </a:extLst>
          </p:cNvPr>
          <p:cNvSpPr/>
          <p:nvPr/>
        </p:nvSpPr>
        <p:spPr>
          <a:xfrm>
            <a:off x="8091203" y="6291264"/>
            <a:ext cx="318869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 dirty="0" err="1"/>
              <a:t>Yazyev</a:t>
            </a:r>
            <a:r>
              <a:rPr lang="en-US" sz="1100" dirty="0"/>
              <a:t>, https://</a:t>
            </a:r>
            <a:r>
              <a:rPr lang="en-US" sz="1100" dirty="0" err="1"/>
              <a:t>doi.org</a:t>
            </a:r>
            <a:r>
              <a:rPr lang="en-US" sz="1100" dirty="0"/>
              <a:t>/10.1007/s00214-005-0052-6</a:t>
            </a:r>
          </a:p>
        </p:txBody>
      </p:sp>
    </p:spTree>
    <p:extLst>
      <p:ext uri="{BB962C8B-B14F-4D97-AF65-F5344CB8AC3E}">
        <p14:creationId xmlns:p14="http://schemas.microsoft.com/office/powerpoint/2010/main" val="8713944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550B4-09A7-3C4F-B079-42133EA2A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DFT applied to Nuclear Fuels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4AEF2-FE7E-944A-B2A4-D712D14EC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0593"/>
            <a:ext cx="5567680" cy="4415572"/>
          </a:xfrm>
        </p:spPr>
        <p:txBody>
          <a:bodyPr/>
          <a:lstStyle/>
          <a:p>
            <a:r>
              <a:rPr lang="en-US" dirty="0"/>
              <a:t>Since we are dealing with the electronic structure, these calculations are very computationally expensive and limited to a few hundred atoms</a:t>
            </a:r>
          </a:p>
          <a:p>
            <a:r>
              <a:rPr lang="en-US" dirty="0"/>
              <a:t>Typically employed to calculate lattice constants, elastic constants, point defects, electronic densities, phonon DOS, etc.</a:t>
            </a:r>
          </a:p>
          <a:p>
            <a:r>
              <a:rPr lang="en-US" dirty="0"/>
              <a:t>DFT on advanced nuclear fuels has really only existed for about 15 years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7B415-4BA0-134D-9B60-502978D33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9FA0A1-E963-764F-A46B-CA1B8C96C7F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96070" y="1640274"/>
            <a:ext cx="2172970" cy="19359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B6EB56-041A-E84F-9F68-50D390481BA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50260" y="3661755"/>
            <a:ext cx="2715020" cy="25234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CE471E-5AB8-9F48-938D-36036B1BBFA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41714" y="2160495"/>
            <a:ext cx="1904726" cy="410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756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550B4-09A7-3C4F-B079-42133EA2A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DFT applied to Nuclear Fuels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7B415-4BA0-134D-9B60-502978D33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3896C8-4767-5042-905A-431455DA636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4360" y="1958930"/>
            <a:ext cx="4368800" cy="4368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6ABB7E-9616-CB45-AAAF-36876E3DD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44040"/>
            <a:ext cx="5969000" cy="1828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01F88FA-935F-F64D-8459-765B1441B79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" y="3972867"/>
            <a:ext cx="3119120" cy="25074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AEB2472-2395-3540-B722-AAD583473A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7040" y="3720951"/>
            <a:ext cx="1838960" cy="313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0265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550B4-09A7-3C4F-B079-42133EA2A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MD applied to Nuclear Fuels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4AEF2-FE7E-944A-B2A4-D712D14EC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2875"/>
            <a:ext cx="5770880" cy="4223290"/>
          </a:xfrm>
        </p:spPr>
        <p:txBody>
          <a:bodyPr/>
          <a:lstStyle/>
          <a:p>
            <a:r>
              <a:rPr lang="en-US" dirty="0"/>
              <a:t>MD can span longer time scales and larger length scales, up to millions of atoms and nanoseconds</a:t>
            </a:r>
          </a:p>
          <a:p>
            <a:r>
              <a:rPr lang="en-US" dirty="0"/>
              <a:t>These simulations require interatomic potentials capable of accurately predicting a number of properties</a:t>
            </a:r>
          </a:p>
          <a:p>
            <a:r>
              <a:rPr lang="en-US" dirty="0"/>
              <a:t>No interatomic potentials for advanced nuclear fuels existed prior to about 15 years ago</a:t>
            </a:r>
          </a:p>
          <a:p>
            <a:r>
              <a:rPr lang="en-US" dirty="0"/>
              <a:t>Potential development is still a major area for research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7B415-4BA0-134D-9B60-502978D33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3546F2-FE5E-EA43-A0E0-B7914299781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4728" y="4143330"/>
            <a:ext cx="2504274" cy="19415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F58480-15D5-B543-B0FE-070790F1524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75120" y="1902875"/>
            <a:ext cx="2233930" cy="20881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EAD79C-E051-004B-AE46-1B0620A6F6D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64211" y="1968501"/>
            <a:ext cx="2762617" cy="18548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FEBD3B-B913-3746-8C47-ED9BDD6E693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0562" y="4094826"/>
            <a:ext cx="2886266" cy="216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4164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0A22A60-BF85-C145-A2E8-706C80729F7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06101" y="1655017"/>
            <a:ext cx="3239348" cy="2429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D550B4-09A7-3C4F-B079-42133EA2A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MD applied to Nuclear Fuels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7B415-4BA0-134D-9B60-502978D33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15D17F8-57DF-BC44-B50B-66C2D565F60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680" y="1968501"/>
            <a:ext cx="5699760" cy="15895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F3B7F0B-82A4-0443-9034-0FA81CBB96C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5994" y="5476371"/>
            <a:ext cx="2321566" cy="10034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4F66A9-E5F8-8C4F-9FA6-A11848CA499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41224" y="5262874"/>
            <a:ext cx="2364173" cy="147818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24A563E-3BB7-ED40-8A41-40F0CB83194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7207" y="3558012"/>
            <a:ext cx="4818670" cy="15935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9BACF6-F962-E84D-A76F-957F9995B94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5499021" y="4984634"/>
            <a:ext cx="2525396" cy="7920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4634A30-4824-1645-ABD0-CD4AC5D4059D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9921" y="4226985"/>
            <a:ext cx="2474261" cy="233680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24B7A9F-AF3C-7147-B977-FCCE56609B14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8448105" y="2587768"/>
            <a:ext cx="5030203" cy="179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1089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39301F9-CD64-2A48-8EAD-F307E115770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183" r="12346"/>
          <a:stretch>
            <a:fillRect/>
          </a:stretch>
        </p:blipFill>
        <p:spPr>
          <a:xfrm rot="5400000">
            <a:off x="7957416" y="3292301"/>
            <a:ext cx="3223573" cy="32906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D550B4-09A7-3C4F-B079-42133EA2A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AIMD applied to Nuclear Fuels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7B415-4BA0-134D-9B60-502978D33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9D542BC-A82B-4F45-BE96-3ABE8DB4108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990" t="7304" r="12783" b="11957"/>
          <a:stretch>
            <a:fillRect/>
          </a:stretch>
        </p:blipFill>
        <p:spPr>
          <a:xfrm>
            <a:off x="7923868" y="818593"/>
            <a:ext cx="3290670" cy="272113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B781F9F-CDD5-3246-9340-DEB4A8DB162E}"/>
              </a:ext>
            </a:extLst>
          </p:cNvPr>
          <p:cNvSpPr txBox="1"/>
          <p:nvPr/>
        </p:nvSpPr>
        <p:spPr>
          <a:xfrm>
            <a:off x="8642520" y="552967"/>
            <a:ext cx="173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Alpha U with </a:t>
            </a:r>
            <a:r>
              <a:rPr lang="en-US" dirty="0" err="1"/>
              <a:t>int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037F01-0952-F242-BFDD-25C192843DCB}"/>
              </a:ext>
            </a:extLst>
          </p:cNvPr>
          <p:cNvSpPr txBox="1"/>
          <p:nvPr/>
        </p:nvSpPr>
        <p:spPr>
          <a:xfrm>
            <a:off x="8798572" y="6330186"/>
            <a:ext cx="173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Eutectic LiCl-</a:t>
            </a:r>
            <a:r>
              <a:rPr lang="en-US" dirty="0" err="1"/>
              <a:t>KCl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67355-C270-AA07-D2B2-84DC16AE2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63969"/>
            <a:ext cx="6621517" cy="4262196"/>
          </a:xfrm>
        </p:spPr>
        <p:txBody>
          <a:bodyPr/>
          <a:lstStyle/>
          <a:p>
            <a:r>
              <a:rPr lang="en-US" dirty="0"/>
              <a:t>Use highly accurate DFT, but add temperature/motion</a:t>
            </a:r>
          </a:p>
          <a:p>
            <a:r>
              <a:rPr lang="en-US" dirty="0"/>
              <a:t>Especially useful for unstable phases at 0 K and liquids to predict thermophysical properties, defects, free energies, etc.</a:t>
            </a:r>
          </a:p>
          <a:p>
            <a:r>
              <a:rPr lang="en-US" dirty="0"/>
              <a:t>Can be incorporated with machine learning models to generate interatomic potentials for classical MD</a:t>
            </a:r>
          </a:p>
          <a:p>
            <a:r>
              <a:rPr lang="en-US" dirty="0"/>
              <a:t>Being used extensively for molten salts</a:t>
            </a:r>
          </a:p>
        </p:txBody>
      </p:sp>
    </p:spTree>
    <p:extLst>
      <p:ext uri="{BB962C8B-B14F-4D97-AF65-F5344CB8AC3E}">
        <p14:creationId xmlns:p14="http://schemas.microsoft.com/office/powerpoint/2010/main" val="15811166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71920-0FD8-6346-ACF0-4AE02B6D0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into Fuel Performance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C4107-731A-8245-8183-D62C189D3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6126480" cy="396567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BISON is the multiphysics MOOSE-based fuel performance code developed under NEAMS and includes thermal transport, stress, and underlying material evolution, etc.</a:t>
            </a:r>
          </a:p>
          <a:p>
            <a:r>
              <a:rPr lang="en-US" dirty="0"/>
              <a:t>BISON requires models for material properties and how they evolve during operation</a:t>
            </a:r>
          </a:p>
          <a:p>
            <a:r>
              <a:rPr lang="en-US" dirty="0"/>
              <a:t>A lot of these fundamental properties are unknown, and too difficult to obtain experimentally</a:t>
            </a:r>
          </a:p>
          <a:p>
            <a:r>
              <a:rPr lang="en-US" dirty="0"/>
              <a:t>Lower Length Scale Modeling!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4DCA5B-E8BF-F748-898F-09743B2D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DFA5A2-66BF-A24A-8C0A-1C40B232FE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12000" y="4305846"/>
            <a:ext cx="4094480" cy="20505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847DEF-DB31-7942-8EDE-6A2E600566E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90360" y="1968501"/>
            <a:ext cx="4937760" cy="2292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2871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2BFCB-D8A5-904D-AB5F-B3096E969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51529-E8A0-1A42-BF4B-5C142A1E4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23393"/>
            <a:ext cx="6725920" cy="4202772"/>
          </a:xfrm>
        </p:spPr>
        <p:txBody>
          <a:bodyPr/>
          <a:lstStyle/>
          <a:p>
            <a:r>
              <a:rPr lang="en-US" dirty="0"/>
              <a:t>Scientifically informed engineering is a multiscale problem</a:t>
            </a:r>
          </a:p>
          <a:p>
            <a:r>
              <a:rPr lang="en-US" dirty="0"/>
              <a:t>There exist a number of scientific knowledge gaps for advanced nuclear fuels</a:t>
            </a:r>
          </a:p>
          <a:p>
            <a:r>
              <a:rPr lang="en-US" dirty="0"/>
              <a:t>Atomistic methods (DFT, MD, AIMD) are a rapidly growing area that can fill in a number of these gaps</a:t>
            </a:r>
          </a:p>
          <a:p>
            <a:r>
              <a:rPr lang="en-US" dirty="0"/>
              <a:t>Atomistic data can be implemented into higher length scale methodologies to increase fidelity of fuel performance simulations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A330D-581B-B94E-9D92-024E7FC84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E382E8-E23F-1240-AC13-ADC5611984E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8750" y="1055849"/>
            <a:ext cx="3179584" cy="13743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93139B-1CFF-6649-BCF2-B462FBA856F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8647713" y="2581906"/>
            <a:ext cx="1967568" cy="20933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BD01D4-3328-AA4E-9B99-51C38708058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04202" y="4826988"/>
            <a:ext cx="2968680" cy="148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677597"/>
      </p:ext>
    </p:extLst>
  </p:cSld>
  <p:clrMapOvr>
    <a:masterClrMapping/>
  </p:clrMapOvr>
</p:sld>
</file>

<file path=ppt/theme/theme1.xml><?xml version="1.0" encoding="utf-8"?>
<a:theme xmlns:a="http://schemas.openxmlformats.org/drawingml/2006/main" name="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14832</TotalTime>
  <Words>2590</Words>
  <Application>Microsoft Macintosh PowerPoint</Application>
  <PresentationFormat>Widescreen</PresentationFormat>
  <Paragraphs>298</Paragraphs>
  <Slides>41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Calibri</vt:lpstr>
      <vt:lpstr>Symbol</vt:lpstr>
      <vt:lpstr>NCStateU-horizontal-left-logo</vt:lpstr>
      <vt:lpstr>Nuclear Fuels</vt:lpstr>
      <vt:lpstr>Who am I?</vt:lpstr>
      <vt:lpstr>Ask Questions!</vt:lpstr>
      <vt:lpstr>Background: Key Terms for Today</vt:lpstr>
      <vt:lpstr>What is the purpose of fuel?</vt:lpstr>
      <vt:lpstr>Fuel is the Heat Source</vt:lpstr>
      <vt:lpstr>Fuel System</vt:lpstr>
      <vt:lpstr>Fuel is limited to select elements</vt:lpstr>
      <vt:lpstr>Fuel Considerations</vt:lpstr>
      <vt:lpstr>Why not use pure uranium metal?</vt:lpstr>
      <vt:lpstr>What is the reference fuel for commercial reactors?</vt:lpstr>
      <vt:lpstr>Uranium Dioxide (UO2)</vt:lpstr>
      <vt:lpstr>Uranium Dioxide (UO2)</vt:lpstr>
      <vt:lpstr>Uranium Dioxide (UO2)</vt:lpstr>
      <vt:lpstr>Fission Product Generation</vt:lpstr>
      <vt:lpstr>What are some common fission products?</vt:lpstr>
      <vt:lpstr>A big chunk of the periodic table</vt:lpstr>
      <vt:lpstr>Various types of fission products in the fuel</vt:lpstr>
      <vt:lpstr>Fission products impact the behavior of the fuel</vt:lpstr>
      <vt:lpstr>Fission Gas Release</vt:lpstr>
      <vt:lpstr>UO2 Wrap-up</vt:lpstr>
      <vt:lpstr>Advanced Fuel Types and Associated Reactor Types</vt:lpstr>
      <vt:lpstr>Mixed Oxides</vt:lpstr>
      <vt:lpstr>Uranium-Zirconium (UZr)</vt:lpstr>
      <vt:lpstr>Uranium-Zirconium (UZr)</vt:lpstr>
      <vt:lpstr>TRISO Particle Reactors</vt:lpstr>
      <vt:lpstr>UC/UCO TRISO Fuels</vt:lpstr>
      <vt:lpstr>Molten Salt Reactors</vt:lpstr>
      <vt:lpstr>Molten Salt Reactors</vt:lpstr>
      <vt:lpstr>Summary</vt:lpstr>
      <vt:lpstr>How do we model advanced fuels?</vt:lpstr>
      <vt:lpstr>My viewpoint/approach</vt:lpstr>
      <vt:lpstr>Atomistic Modeler’s Toolkit</vt:lpstr>
      <vt:lpstr>Atomistic Modeler’s Toolkit</vt:lpstr>
      <vt:lpstr>DFT applied to Nuclear Fuels</vt:lpstr>
      <vt:lpstr>DFT applied to Nuclear Fuels</vt:lpstr>
      <vt:lpstr>MD applied to Nuclear Fuels</vt:lpstr>
      <vt:lpstr>MD applied to Nuclear Fuels</vt:lpstr>
      <vt:lpstr>AIMD applied to Nuclear Fuels</vt:lpstr>
      <vt:lpstr>Integration into Fuel Performance Models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Fuel Fabrication</dc:title>
  <dc:creator>Ben Beeler</dc:creator>
  <cp:lastModifiedBy>Benjamin Beeler</cp:lastModifiedBy>
  <cp:revision>88</cp:revision>
  <dcterms:created xsi:type="dcterms:W3CDTF">2019-12-09T16:44:02Z</dcterms:created>
  <dcterms:modified xsi:type="dcterms:W3CDTF">2026-10-15T16:37:45Z</dcterms:modified>
</cp:coreProperties>
</file>
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7"/>
  </p:notesMasterIdLst>
  <p:sldIdLst>
    <p:sldId id="487" r:id="rId2"/>
    <p:sldId id="563" r:id="rId3"/>
    <p:sldId id="507" r:id="rId4"/>
    <p:sldId id="560" r:id="rId5"/>
    <p:sldId id="561" r:id="rId6"/>
    <p:sldId id="562" r:id="rId7"/>
    <p:sldId id="532" r:id="rId8"/>
    <p:sldId id="547" r:id="rId9"/>
    <p:sldId id="577" r:id="rId10"/>
    <p:sldId id="578" r:id="rId11"/>
    <p:sldId id="579" r:id="rId12"/>
    <p:sldId id="580" r:id="rId13"/>
    <p:sldId id="571" r:id="rId14"/>
    <p:sldId id="575" r:id="rId15"/>
    <p:sldId id="329" r:id="rId16"/>
    <p:sldId id="330" r:id="rId17"/>
    <p:sldId id="331" r:id="rId18"/>
    <p:sldId id="332" r:id="rId19"/>
    <p:sldId id="581" r:id="rId20"/>
    <p:sldId id="587" r:id="rId21"/>
    <p:sldId id="574" r:id="rId22"/>
    <p:sldId id="566" r:id="rId23"/>
    <p:sldId id="567" r:id="rId24"/>
    <p:sldId id="588" r:id="rId25"/>
    <p:sldId id="585" r:id="rId26"/>
    <p:sldId id="548" r:id="rId27"/>
    <p:sldId id="335" r:id="rId28"/>
    <p:sldId id="336" r:id="rId29"/>
    <p:sldId id="337" r:id="rId30"/>
    <p:sldId id="338" r:id="rId31"/>
    <p:sldId id="339" r:id="rId32"/>
    <p:sldId id="340" r:id="rId33"/>
    <p:sldId id="341" r:id="rId34"/>
    <p:sldId id="343" r:id="rId35"/>
    <p:sldId id="34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78"/>
    <p:restoredTop sz="94694"/>
  </p:normalViewPr>
  <p:slideViewPr>
    <p:cSldViewPr snapToGrid="0" snapToObjects="1">
      <p:cViewPr varScale="1">
        <p:scale>
          <a:sx n="121" d="100"/>
          <a:sy n="121" d="100"/>
        </p:scale>
        <p:origin x="9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F4C836-458D-7049-9AAC-D805B190D85D}" type="datetimeFigureOut">
              <a:rPr lang="en-US" smtClean="0"/>
              <a:t>2/14/26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6DE4C8-0267-7C42-83B9-C11BDD048B5A}" type="slidenum">
              <a:rPr lang="en-US" smtClean="0"/>
              <a:t>‹#›</a:t>
            </a:fld>
            <a:endParaRPr lang="en-US"/>
          </a:p>
        </p:txBody>
      </p:sp>
    </p:spTree>
    <p:extLst>
      <p:ext uri="{BB962C8B-B14F-4D97-AF65-F5344CB8AC3E}">
        <p14:creationId xmlns:p14="http://schemas.microsoft.com/office/powerpoint/2010/main" val="4208541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6DE4C8-0267-7C42-83B9-C11BDD048B5A}" type="slidenum">
              <a:rPr lang="en-US" smtClean="0"/>
              <a:t>3</a:t>
            </a:fld>
            <a:endParaRPr lang="en-US"/>
          </a:p>
        </p:txBody>
      </p:sp>
    </p:spTree>
    <p:extLst>
      <p:ext uri="{BB962C8B-B14F-4D97-AF65-F5344CB8AC3E}">
        <p14:creationId xmlns:p14="http://schemas.microsoft.com/office/powerpoint/2010/main" val="2743875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2/14/26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84129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2160495"/>
            <a:ext cx="10972800" cy="396567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2/14/26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2422315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1951" y="1544638"/>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2/14/26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12260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1"/>
            <a:ext cx="5384800" cy="4157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1"/>
            <a:ext cx="5384800" cy="4157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2/14/26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2876362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2/14/26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460330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2/14/26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603097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2/14/26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330105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2/14/26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262211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2/14/26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3933736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2/14/26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1745127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2/14/26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2318619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4"/>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1"/>
            <a:ext cx="109728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2/14/26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37537393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8" Type="http://schemas.openxmlformats.org/officeDocument/2006/relationships/image" Target="../media/image17.tiff"/><Relationship Id="rId3" Type="http://schemas.openxmlformats.org/officeDocument/2006/relationships/image" Target="../media/image12.emf"/><Relationship Id="rId7" Type="http://schemas.openxmlformats.org/officeDocument/2006/relationships/image" Target="../media/image16.emf"/><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20.tiff"/><Relationship Id="rId4" Type="http://schemas.openxmlformats.org/officeDocument/2006/relationships/image" Target="../media/image19.tiff"/></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mooseframework.inl.gov/bison/source/materials/UO2Thermal.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image" Target="../media/image27.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emf"/><Relationship Id="rId9"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emf"/></Relationships>
</file>

<file path=ppt/slides/_rels/slide3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emf"/><Relationship Id="rId4" Type="http://schemas.openxmlformats.org/officeDocument/2006/relationships/image" Target="../media/image49.emf"/></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2.xml"/><Relationship Id="rId5" Type="http://schemas.openxmlformats.org/officeDocument/2006/relationships/image" Target="../media/image57.emf"/><Relationship Id="rId4" Type="http://schemas.openxmlformats.org/officeDocument/2006/relationships/image" Target="../media/image56.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2026</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2962351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9B745-AE64-910E-F35B-AA9715713BE5}"/>
              </a:ext>
            </a:extLst>
          </p:cNvPr>
          <p:cNvSpPr>
            <a:spLocks noGrp="1"/>
          </p:cNvSpPr>
          <p:nvPr>
            <p:ph type="title"/>
          </p:nvPr>
        </p:nvSpPr>
        <p:spPr/>
        <p:txBody>
          <a:bodyPr/>
          <a:lstStyle/>
          <a:p>
            <a:r>
              <a:rPr lang="en-US" dirty="0"/>
              <a:t>Paper Project</a:t>
            </a:r>
          </a:p>
        </p:txBody>
      </p:sp>
      <p:sp>
        <p:nvSpPr>
          <p:cNvPr id="3" name="Content Placeholder 2">
            <a:extLst>
              <a:ext uri="{FF2B5EF4-FFF2-40B4-BE49-F238E27FC236}">
                <a16:creationId xmlns:a16="http://schemas.microsoft.com/office/drawing/2014/main" id="{4ABC7A7E-1BA0-6E57-9F62-DD920CC90484}"/>
              </a:ext>
            </a:extLst>
          </p:cNvPr>
          <p:cNvSpPr>
            <a:spLocks noGrp="1"/>
          </p:cNvSpPr>
          <p:nvPr>
            <p:ph idx="1"/>
          </p:nvPr>
        </p:nvSpPr>
        <p:spPr/>
        <p:txBody>
          <a:bodyPr/>
          <a:lstStyle/>
          <a:p>
            <a:r>
              <a:rPr lang="en-US" sz="2000" dirty="0"/>
              <a:t>Assigned papers uploaded to </a:t>
            </a:r>
            <a:r>
              <a:rPr lang="en-US" sz="2000" dirty="0" err="1"/>
              <a:t>moodle</a:t>
            </a:r>
            <a:r>
              <a:rPr lang="en-US" sz="2000" dirty="0"/>
              <a:t> with your name as a prefix</a:t>
            </a:r>
          </a:p>
          <a:p>
            <a:r>
              <a:rPr lang="en-US" sz="2000" dirty="0"/>
              <a:t>This will be a critical review of the paper, similar to what we do for QE2, but much shorter</a:t>
            </a:r>
          </a:p>
          <a:p>
            <a:r>
              <a:rPr lang="en-US" sz="2000" dirty="0"/>
              <a:t>Contextualize, summarize, and analyze</a:t>
            </a:r>
          </a:p>
          <a:p>
            <a:r>
              <a:rPr lang="en-US" sz="2000" dirty="0"/>
              <a:t>15-minute presentation that summarizes what was done in the paper, provides context on why it was done, and reviews what could or should have been done, or could be done next</a:t>
            </a:r>
          </a:p>
          <a:p>
            <a:r>
              <a:rPr lang="en-US" sz="2000" dirty="0"/>
              <a:t>All presentations will be submitted via </a:t>
            </a:r>
            <a:r>
              <a:rPr lang="en-US" sz="2000" dirty="0" err="1"/>
              <a:t>moodle</a:t>
            </a:r>
            <a:r>
              <a:rPr lang="en-US" sz="2000" dirty="0"/>
              <a:t>, due by end of the day on Mar. 3</a:t>
            </a:r>
          </a:p>
          <a:p>
            <a:r>
              <a:rPr lang="en-US" sz="2000" dirty="0"/>
              <a:t>Distance students will submit slides and a recording of their presentation</a:t>
            </a:r>
          </a:p>
          <a:p>
            <a:r>
              <a:rPr lang="en-US" sz="2000" dirty="0"/>
              <a:t>Presentations will take place in-class on Mar. 4 and Mar. 6</a:t>
            </a:r>
          </a:p>
          <a:p>
            <a:endParaRPr lang="en-US" sz="2000" dirty="0"/>
          </a:p>
        </p:txBody>
      </p:sp>
      <p:sp>
        <p:nvSpPr>
          <p:cNvPr id="4" name="Slide Number Placeholder 3">
            <a:extLst>
              <a:ext uri="{FF2B5EF4-FFF2-40B4-BE49-F238E27FC236}">
                <a16:creationId xmlns:a16="http://schemas.microsoft.com/office/drawing/2014/main" id="{7BFB001D-D207-416C-C057-9E0C24D887DA}"/>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347959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22D12-18CD-B14A-8569-BC4BC0DF6C4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0A6FA760-1496-0145-BE5A-C149CF8C614C}"/>
              </a:ext>
            </a:extLst>
          </p:cNvPr>
          <p:cNvSpPr>
            <a:spLocks noGrp="1"/>
          </p:cNvSpPr>
          <p:nvPr>
            <p:ph idx="1"/>
          </p:nvPr>
        </p:nvSpPr>
        <p:spPr/>
        <p:txBody>
          <a:bodyPr>
            <a:normAutofit/>
          </a:bodyPr>
          <a:lstStyle/>
          <a:p>
            <a:r>
              <a:rPr lang="en-US" dirty="0"/>
              <a:t>Talked through numerical thermomechanics</a:t>
            </a:r>
          </a:p>
          <a:p>
            <a:r>
              <a:rPr lang="en-US" dirty="0"/>
              <a:t>All fuel performance codes: a) Numerically model the temperature in the fuel, b) Numerically model the stress in the cladding, c) Consider gap pressure, closure, and heat transfer</a:t>
            </a:r>
          </a:p>
          <a:p>
            <a:r>
              <a:rPr lang="en-US" dirty="0"/>
              <a:t>Some multiphysics fuel performance codes</a:t>
            </a:r>
          </a:p>
          <a:p>
            <a:pPr lvl="1"/>
            <a:r>
              <a:rPr lang="en-US" dirty="0"/>
              <a:t>FRAPCON/FRAPTRAN</a:t>
            </a:r>
          </a:p>
          <a:p>
            <a:pPr lvl="1"/>
            <a:r>
              <a:rPr lang="en-US" dirty="0"/>
              <a:t>BISON</a:t>
            </a:r>
          </a:p>
          <a:p>
            <a:r>
              <a:rPr lang="en-US" dirty="0"/>
              <a:t>Intro into material property evolution</a:t>
            </a:r>
          </a:p>
          <a:p>
            <a:pPr lvl="1"/>
            <a:endParaRPr lang="en-US" dirty="0"/>
          </a:p>
          <a:p>
            <a:endParaRPr lang="en-US" dirty="0"/>
          </a:p>
        </p:txBody>
      </p:sp>
      <p:sp>
        <p:nvSpPr>
          <p:cNvPr id="4" name="Slide Number Placeholder 3">
            <a:extLst>
              <a:ext uri="{FF2B5EF4-FFF2-40B4-BE49-F238E27FC236}">
                <a16:creationId xmlns:a16="http://schemas.microsoft.com/office/drawing/2014/main" id="{01C0F03E-AAC3-0A43-8DBB-83D9575B7BA5}"/>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spTree>
    <p:extLst>
      <p:ext uri="{BB962C8B-B14F-4D97-AF65-F5344CB8AC3E}">
        <p14:creationId xmlns:p14="http://schemas.microsoft.com/office/powerpoint/2010/main" val="3576653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1115B-A07E-9342-8CD9-02A360083D89}"/>
              </a:ext>
            </a:extLst>
          </p:cNvPr>
          <p:cNvSpPr>
            <a:spLocks noGrp="1"/>
          </p:cNvSpPr>
          <p:nvPr>
            <p:ph type="title"/>
          </p:nvPr>
        </p:nvSpPr>
        <p:spPr/>
        <p:txBody>
          <a:bodyPr/>
          <a:lstStyle/>
          <a:p>
            <a:r>
              <a:rPr lang="en-US" dirty="0"/>
              <a:t>Material processing</a:t>
            </a:r>
          </a:p>
        </p:txBody>
      </p:sp>
      <p:sp>
        <p:nvSpPr>
          <p:cNvPr id="3" name="Content Placeholder 2">
            <a:extLst>
              <a:ext uri="{FF2B5EF4-FFF2-40B4-BE49-F238E27FC236}">
                <a16:creationId xmlns:a16="http://schemas.microsoft.com/office/drawing/2014/main" id="{0F9C622E-27BF-7A4D-8DFC-3D5F3F9DFB68}"/>
              </a:ext>
            </a:extLst>
          </p:cNvPr>
          <p:cNvSpPr>
            <a:spLocks noGrp="1"/>
          </p:cNvSpPr>
          <p:nvPr>
            <p:ph idx="1"/>
          </p:nvPr>
        </p:nvSpPr>
        <p:spPr>
          <a:xfrm>
            <a:off x="609600" y="2160495"/>
            <a:ext cx="8407791" cy="3965670"/>
          </a:xfrm>
        </p:spPr>
        <p:txBody>
          <a:bodyPr>
            <a:normAutofit fontScale="70000" lnSpcReduction="20000"/>
          </a:bodyPr>
          <a:lstStyle/>
          <a:p>
            <a:r>
              <a:rPr lang="en-US" dirty="0"/>
              <a:t>The processes we use to make a material have a huge impact on its microstructure and properties</a:t>
            </a:r>
          </a:p>
          <a:p>
            <a:r>
              <a:rPr lang="en-US" b="1" dirty="0"/>
              <a:t>Casting</a:t>
            </a:r>
            <a:r>
              <a:rPr lang="en-US" dirty="0"/>
              <a:t> – manufacturing process in which a liquid material is poured into a mold and then allowed to solidify</a:t>
            </a:r>
          </a:p>
          <a:p>
            <a:pPr lvl="1"/>
            <a:r>
              <a:rPr lang="en-US" dirty="0"/>
              <a:t>Can be used to make complex shapes</a:t>
            </a:r>
          </a:p>
          <a:p>
            <a:pPr lvl="1"/>
            <a:r>
              <a:rPr lang="en-US" dirty="0"/>
              <a:t>The solidified microstructure typically has properties that are far from ideal</a:t>
            </a:r>
          </a:p>
          <a:p>
            <a:r>
              <a:rPr lang="en-US" b="1" dirty="0"/>
              <a:t>Sintering</a:t>
            </a:r>
            <a:r>
              <a:rPr lang="en-US" dirty="0"/>
              <a:t> – Forming a solid from a powder using heat and/or pressure without melting the material</a:t>
            </a:r>
          </a:p>
          <a:p>
            <a:pPr lvl="1"/>
            <a:r>
              <a:rPr lang="en-US" dirty="0"/>
              <a:t>Applicable to metals and ceramics</a:t>
            </a:r>
          </a:p>
          <a:p>
            <a:pPr lvl="1"/>
            <a:r>
              <a:rPr lang="en-US" dirty="0"/>
              <a:t>Difficult to obtain a material that is fully dense</a:t>
            </a:r>
          </a:p>
          <a:p>
            <a:pPr lvl="1"/>
            <a:r>
              <a:rPr lang="en-US" dirty="0"/>
              <a:t>Used to make fuel pellets</a:t>
            </a:r>
          </a:p>
          <a:p>
            <a:r>
              <a:rPr lang="en-US" b="1" dirty="0"/>
              <a:t>Post-fabrication processing</a:t>
            </a:r>
          </a:p>
          <a:p>
            <a:pPr lvl="1"/>
            <a:r>
              <a:rPr lang="en-US" b="1" dirty="0"/>
              <a:t>heat treatment</a:t>
            </a:r>
          </a:p>
          <a:p>
            <a:pPr lvl="1"/>
            <a:r>
              <a:rPr lang="en-US" b="1" dirty="0"/>
              <a:t>working</a:t>
            </a:r>
          </a:p>
        </p:txBody>
      </p:sp>
      <p:sp>
        <p:nvSpPr>
          <p:cNvPr id="4" name="Slide Number Placeholder 3">
            <a:extLst>
              <a:ext uri="{FF2B5EF4-FFF2-40B4-BE49-F238E27FC236}">
                <a16:creationId xmlns:a16="http://schemas.microsoft.com/office/drawing/2014/main" id="{1D5131C2-722D-1742-9A8E-36EF0D80B8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AE0C9426-7730-D743-A676-288DA59A79B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409761" y="1342636"/>
            <a:ext cx="2192042" cy="1490911"/>
          </a:xfrm>
          <a:prstGeom prst="rect">
            <a:avLst/>
          </a:prstGeom>
        </p:spPr>
      </p:pic>
      <p:pic>
        <p:nvPicPr>
          <p:cNvPr id="6" name="Picture 5">
            <a:extLst>
              <a:ext uri="{FF2B5EF4-FFF2-40B4-BE49-F238E27FC236}">
                <a16:creationId xmlns:a16="http://schemas.microsoft.com/office/drawing/2014/main" id="{31039B00-83D2-0D43-8AB9-DA1DA87B604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409761" y="2920779"/>
            <a:ext cx="2172639" cy="1446417"/>
          </a:xfrm>
          <a:prstGeom prst="rect">
            <a:avLst/>
          </a:prstGeom>
        </p:spPr>
      </p:pic>
      <p:pic>
        <p:nvPicPr>
          <p:cNvPr id="7" name="Picture 6">
            <a:extLst>
              <a:ext uri="{FF2B5EF4-FFF2-40B4-BE49-F238E27FC236}">
                <a16:creationId xmlns:a16="http://schemas.microsoft.com/office/drawing/2014/main" id="{16688D4D-35F7-D442-A051-56A43E58E70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530489" y="4421068"/>
            <a:ext cx="1895902" cy="1935283"/>
          </a:xfrm>
          <a:prstGeom prst="rect">
            <a:avLst/>
          </a:prstGeom>
        </p:spPr>
      </p:pic>
    </p:spTree>
    <p:extLst>
      <p:ext uri="{BB962C8B-B14F-4D97-AF65-F5344CB8AC3E}">
        <p14:creationId xmlns:p14="http://schemas.microsoft.com/office/powerpoint/2010/main" val="2890319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3DF1-EBE5-0DCE-9601-567F3D4F6BDB}"/>
              </a:ext>
            </a:extLst>
          </p:cNvPr>
          <p:cNvSpPr>
            <a:spLocks noGrp="1"/>
          </p:cNvSpPr>
          <p:nvPr>
            <p:ph type="title"/>
          </p:nvPr>
        </p:nvSpPr>
        <p:spPr/>
        <p:txBody>
          <a:bodyPr/>
          <a:lstStyle/>
          <a:p>
            <a:r>
              <a:rPr lang="en-US" dirty="0"/>
              <a:t>Material processing</a:t>
            </a:r>
          </a:p>
        </p:txBody>
      </p:sp>
      <p:sp>
        <p:nvSpPr>
          <p:cNvPr id="3" name="Content Placeholder 2">
            <a:extLst>
              <a:ext uri="{FF2B5EF4-FFF2-40B4-BE49-F238E27FC236}">
                <a16:creationId xmlns:a16="http://schemas.microsoft.com/office/drawing/2014/main" id="{816E13F5-8737-D14D-54D6-857C36FFFC2E}"/>
              </a:ext>
            </a:extLst>
          </p:cNvPr>
          <p:cNvSpPr>
            <a:spLocks noGrp="1"/>
          </p:cNvSpPr>
          <p:nvPr>
            <p:ph idx="1"/>
          </p:nvPr>
        </p:nvSpPr>
        <p:spPr/>
        <p:txBody>
          <a:bodyPr/>
          <a:lstStyle/>
          <a:p>
            <a:r>
              <a:rPr lang="en-US" sz="2000" dirty="0"/>
              <a:t>Heat treatment: heating or cooling a material to extreme temperatures to get desired microstructure and properties</a:t>
            </a:r>
          </a:p>
          <a:p>
            <a:pPr lvl="1"/>
            <a:r>
              <a:rPr lang="en-US" sz="2000" dirty="0"/>
              <a:t>Used to control the rate of microstructure change, including diffusion, grain growth, or phase change</a:t>
            </a:r>
          </a:p>
          <a:p>
            <a:pPr lvl="1"/>
            <a:r>
              <a:rPr lang="en-US" sz="2000" dirty="0"/>
              <a:t>Annealing</a:t>
            </a:r>
          </a:p>
          <a:p>
            <a:pPr lvl="2"/>
            <a:r>
              <a:rPr lang="en-US" sz="1600" dirty="0"/>
              <a:t>heat and hold the material, which allows for any defects in the material to repair themselves</a:t>
            </a:r>
          </a:p>
          <a:p>
            <a:pPr lvl="2"/>
            <a:r>
              <a:rPr lang="en-US" sz="1600" dirty="0"/>
              <a:t>The metal is then allowed to cool back to room temperature at a slow pace to produce a more ductile crystalline structure</a:t>
            </a:r>
          </a:p>
          <a:p>
            <a:pPr lvl="1"/>
            <a:r>
              <a:rPr lang="en-US" sz="2000" dirty="0"/>
              <a:t>Quenching</a:t>
            </a:r>
          </a:p>
          <a:p>
            <a:pPr lvl="2"/>
            <a:r>
              <a:rPr lang="en-US" sz="1600" dirty="0"/>
              <a:t>heated to a temperature that transforms its internal structure, held at that temperature, then rapidly cooled</a:t>
            </a:r>
          </a:p>
          <a:p>
            <a:pPr lvl="2"/>
            <a:r>
              <a:rPr lang="en-US" sz="1600" dirty="0"/>
              <a:t>The quick cooling process locks in the high T structure, or forces phase transformation without the ability to relax stresses</a:t>
            </a:r>
          </a:p>
        </p:txBody>
      </p:sp>
      <p:sp>
        <p:nvSpPr>
          <p:cNvPr id="4" name="Slide Number Placeholder 3">
            <a:extLst>
              <a:ext uri="{FF2B5EF4-FFF2-40B4-BE49-F238E27FC236}">
                <a16:creationId xmlns:a16="http://schemas.microsoft.com/office/drawing/2014/main" id="{70756A75-E218-5FEF-F546-E30C0E2F81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184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3DF1-EBE5-0DCE-9601-567F3D4F6BDB}"/>
              </a:ext>
            </a:extLst>
          </p:cNvPr>
          <p:cNvSpPr>
            <a:spLocks noGrp="1"/>
          </p:cNvSpPr>
          <p:nvPr>
            <p:ph type="title"/>
          </p:nvPr>
        </p:nvSpPr>
        <p:spPr/>
        <p:txBody>
          <a:bodyPr/>
          <a:lstStyle/>
          <a:p>
            <a:r>
              <a:rPr lang="en-US" dirty="0"/>
              <a:t>Material processing</a:t>
            </a:r>
          </a:p>
        </p:txBody>
      </p:sp>
      <p:sp>
        <p:nvSpPr>
          <p:cNvPr id="3" name="Content Placeholder 2">
            <a:extLst>
              <a:ext uri="{FF2B5EF4-FFF2-40B4-BE49-F238E27FC236}">
                <a16:creationId xmlns:a16="http://schemas.microsoft.com/office/drawing/2014/main" id="{816E13F5-8737-D14D-54D6-857C36FFFC2E}"/>
              </a:ext>
            </a:extLst>
          </p:cNvPr>
          <p:cNvSpPr>
            <a:spLocks noGrp="1"/>
          </p:cNvSpPr>
          <p:nvPr>
            <p:ph idx="1"/>
          </p:nvPr>
        </p:nvSpPr>
        <p:spPr/>
        <p:txBody>
          <a:bodyPr/>
          <a:lstStyle/>
          <a:p>
            <a:r>
              <a:rPr lang="en-US" sz="2000" dirty="0"/>
              <a:t>Working: metalworking process that plastically deforms the alloy</a:t>
            </a:r>
          </a:p>
          <a:p>
            <a:r>
              <a:rPr lang="en-US" sz="2000" dirty="0"/>
              <a:t>Cold working occurs below the recrystallization temperature, hot working occurs above</a:t>
            </a:r>
          </a:p>
          <a:p>
            <a:r>
              <a:rPr lang="en-US" sz="2000" dirty="0"/>
              <a:t>By plastically deforming the material, we are increasing the number of dislocations and dislocation barriers, increasing the yield strength</a:t>
            </a:r>
          </a:p>
          <a:p>
            <a:r>
              <a:rPr lang="en-US" sz="2000" dirty="0"/>
              <a:t>Main types of working processes:</a:t>
            </a:r>
          </a:p>
          <a:p>
            <a:pPr lvl="1"/>
            <a:r>
              <a:rPr lang="en-US" sz="2000" dirty="0"/>
              <a:t>Squeezing (rolling/extrusion/drawing)</a:t>
            </a:r>
          </a:p>
          <a:p>
            <a:pPr lvl="1"/>
            <a:r>
              <a:rPr lang="en-US" sz="2000" dirty="0"/>
              <a:t>Bending (shaping)</a:t>
            </a:r>
          </a:p>
          <a:p>
            <a:pPr lvl="1"/>
            <a:r>
              <a:rPr lang="en-US" sz="2000" dirty="0"/>
              <a:t>Shearing (slitting)</a:t>
            </a:r>
          </a:p>
          <a:p>
            <a:endParaRPr lang="en-US" sz="2000" dirty="0"/>
          </a:p>
        </p:txBody>
      </p:sp>
      <p:sp>
        <p:nvSpPr>
          <p:cNvPr id="4" name="Slide Number Placeholder 3">
            <a:extLst>
              <a:ext uri="{FF2B5EF4-FFF2-40B4-BE49-F238E27FC236}">
                <a16:creationId xmlns:a16="http://schemas.microsoft.com/office/drawing/2014/main" id="{70756A75-E218-5FEF-F546-E30C0E2F81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026" name="Picture 2" descr="Hot rolling vs cold rolling">
            <a:extLst>
              <a:ext uri="{FF2B5EF4-FFF2-40B4-BE49-F238E27FC236}">
                <a16:creationId xmlns:a16="http://schemas.microsoft.com/office/drawing/2014/main" id="{AB33090E-EFA8-67AF-7F0C-3FB56666B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5445" y="3744119"/>
            <a:ext cx="4844309" cy="2794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7019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D5AD-5A77-CE4C-B5EF-780661BE2543}"/>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347CFC8-A5BC-9F46-9984-484CDAD31D1D}"/>
              </a:ext>
            </a:extLst>
          </p:cNvPr>
          <p:cNvSpPr>
            <a:spLocks noGrp="1"/>
          </p:cNvSpPr>
          <p:nvPr>
            <p:ph idx="1"/>
          </p:nvPr>
        </p:nvSpPr>
        <p:spPr/>
        <p:txBody>
          <a:bodyPr>
            <a:normAutofit/>
          </a:bodyPr>
          <a:lstStyle/>
          <a:p>
            <a:r>
              <a:rPr lang="en-US" dirty="0"/>
              <a:t>Fuel and pellet conditions change with time due to microstructure evolution</a:t>
            </a:r>
          </a:p>
          <a:p>
            <a:r>
              <a:rPr lang="en-US" dirty="0"/>
              <a:t>Atoms in the fuel and cladding materials are arranged in a crystal lattice</a:t>
            </a:r>
          </a:p>
          <a:p>
            <a:r>
              <a:rPr lang="en-US" dirty="0"/>
              <a:t>The crystal lattice is never perfect; it has defects</a:t>
            </a:r>
          </a:p>
          <a:p>
            <a:pPr lvl="1"/>
            <a:r>
              <a:rPr lang="en-US" dirty="0"/>
              <a:t>Point defects, dislocations, grain boundaries, voids and precipitates</a:t>
            </a:r>
          </a:p>
          <a:p>
            <a:r>
              <a:rPr lang="en-US" dirty="0"/>
              <a:t>All materials have defects, radiation damage causes many more defects</a:t>
            </a:r>
          </a:p>
          <a:p>
            <a:r>
              <a:rPr lang="en-US" dirty="0"/>
              <a:t>Microstructure can be tailored through processing, during fabrication or post-fabrication</a:t>
            </a:r>
          </a:p>
          <a:p>
            <a:endParaRPr lang="en-US" dirty="0"/>
          </a:p>
        </p:txBody>
      </p:sp>
      <p:sp>
        <p:nvSpPr>
          <p:cNvPr id="4" name="Slide Number Placeholder 3">
            <a:extLst>
              <a:ext uri="{FF2B5EF4-FFF2-40B4-BE49-F238E27FC236}">
                <a16:creationId xmlns:a16="http://schemas.microsoft.com/office/drawing/2014/main" id="{642CF7E3-3505-A541-9076-C9E5727304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41316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9CC1-34E4-A34F-8621-801D8886CE7C}"/>
              </a:ext>
            </a:extLst>
          </p:cNvPr>
          <p:cNvSpPr>
            <a:spLocks noGrp="1"/>
          </p:cNvSpPr>
          <p:nvPr>
            <p:ph type="title"/>
          </p:nvPr>
        </p:nvSpPr>
        <p:spPr>
          <a:xfrm>
            <a:off x="963084" y="1234721"/>
            <a:ext cx="10363200" cy="1362075"/>
          </a:xfrm>
        </p:spPr>
        <p:txBody>
          <a:bodyPr/>
          <a:lstStyle/>
          <a:p>
            <a:r>
              <a:rPr lang="en-US" dirty="0"/>
              <a:t>UO2 Radiation effects</a:t>
            </a:r>
          </a:p>
        </p:txBody>
      </p:sp>
      <p:sp>
        <p:nvSpPr>
          <p:cNvPr id="4" name="Slide Number Placeholder 3">
            <a:extLst>
              <a:ext uri="{FF2B5EF4-FFF2-40B4-BE49-F238E27FC236}">
                <a16:creationId xmlns:a16="http://schemas.microsoft.com/office/drawing/2014/main" id="{2BFF06B0-02C9-F34D-82A4-D2D5BBAF6842}"/>
              </a:ext>
            </a:extLst>
          </p:cNvPr>
          <p:cNvSpPr>
            <a:spLocks noGrp="1"/>
          </p:cNvSpPr>
          <p:nvPr>
            <p:ph type="sldNum" sz="quarter" idx="12"/>
          </p:nvPr>
        </p:nvSpPr>
        <p:spPr/>
        <p:txBody>
          <a:bodyPr/>
          <a:lstStyle/>
          <a:p>
            <a:pPr>
              <a:defRPr/>
            </a:pPr>
            <a:fld id="{0DA6BD0F-ABBC-C14D-BC96-77BE126A748B}" type="slidenum">
              <a:rPr lang="en-US" smtClean="0"/>
              <a:pPr>
                <a:defRPr/>
              </a:pPr>
              <a:t>8</a:t>
            </a:fld>
            <a:endParaRPr lang="en-US"/>
          </a:p>
        </p:txBody>
      </p:sp>
    </p:spTree>
    <p:extLst>
      <p:ext uri="{BB962C8B-B14F-4D97-AF65-F5344CB8AC3E}">
        <p14:creationId xmlns:p14="http://schemas.microsoft.com/office/powerpoint/2010/main" val="1604704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66515-BEE7-E61D-D574-934E56A6A550}"/>
              </a:ext>
            </a:extLst>
          </p:cNvPr>
          <p:cNvSpPr>
            <a:spLocks noGrp="1"/>
          </p:cNvSpPr>
          <p:nvPr>
            <p:ph type="title"/>
          </p:nvPr>
        </p:nvSpPr>
        <p:spPr/>
        <p:txBody>
          <a:bodyPr/>
          <a:lstStyle/>
          <a:p>
            <a:r>
              <a:rPr lang="en-US" dirty="0"/>
              <a:t>Radiation Damage</a:t>
            </a:r>
          </a:p>
        </p:txBody>
      </p:sp>
      <p:sp>
        <p:nvSpPr>
          <p:cNvPr id="3" name="Content Placeholder 2">
            <a:extLst>
              <a:ext uri="{FF2B5EF4-FFF2-40B4-BE49-F238E27FC236}">
                <a16:creationId xmlns:a16="http://schemas.microsoft.com/office/drawing/2014/main" id="{FB9F58E3-1D21-8DA5-12FE-4E373BF90871}"/>
              </a:ext>
            </a:extLst>
          </p:cNvPr>
          <p:cNvSpPr>
            <a:spLocks noGrp="1"/>
          </p:cNvSpPr>
          <p:nvPr>
            <p:ph sz="half" idx="1"/>
          </p:nvPr>
        </p:nvSpPr>
        <p:spPr/>
        <p:txBody>
          <a:bodyPr/>
          <a:lstStyle/>
          <a:p>
            <a:r>
              <a:rPr lang="en-US" sz="2000" dirty="0">
                <a:effectLst/>
                <a:latin typeface="Arial" panose="020B0604020202020204" pitchFamily="34" charset="0"/>
                <a:cs typeface="Arial" panose="020B0604020202020204" pitchFamily="34" charset="0"/>
              </a:rPr>
              <a:t>The macroscopic and observable results of exposure of solids to energetic particles are collectively known as radiation effects </a:t>
            </a:r>
          </a:p>
          <a:p>
            <a:r>
              <a:rPr lang="en-US" sz="2000" dirty="0">
                <a:latin typeface="Arial" panose="020B0604020202020204" pitchFamily="34" charset="0"/>
                <a:cs typeface="Arial" panose="020B0604020202020204" pitchFamily="34" charset="0"/>
              </a:rPr>
              <a:t>Heat production from the nuclear fuel to generate electricity ensues mostly from the slow down of the fission products by nuclear or electronic interactions</a:t>
            </a:r>
          </a:p>
          <a:p>
            <a:r>
              <a:rPr lang="en-US" sz="2000" dirty="0">
                <a:latin typeface="Arial" panose="020B0604020202020204" pitchFamily="34" charset="0"/>
                <a:cs typeface="Arial" panose="020B0604020202020204" pitchFamily="34" charset="0"/>
              </a:rPr>
              <a:t>As a direct consequence, there are also defects created along the path of the fission fragments leading to modification of the physical properties of the fuel</a:t>
            </a:r>
          </a:p>
          <a:p>
            <a:endParaRPr lang="en-US" sz="20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A28C5CF6-4F66-D006-A3AC-7CEE53701490}"/>
              </a:ext>
            </a:extLst>
          </p:cNvPr>
          <p:cNvSpPr>
            <a:spLocks noGrp="1"/>
          </p:cNvSpPr>
          <p:nvPr>
            <p:ph sz="half" idx="2"/>
          </p:nvPr>
        </p:nvSpPr>
        <p:spPr/>
        <p:txBody>
          <a:bodyPr/>
          <a:lstStyle/>
          <a:p>
            <a:r>
              <a:rPr lang="en-US" sz="2000" dirty="0"/>
              <a:t>Most Frenkel defects (interstitial-vacancy pair) are produced by secondary collision cascades</a:t>
            </a:r>
          </a:p>
          <a:p>
            <a:r>
              <a:rPr lang="en-US" sz="2000" dirty="0"/>
              <a:t>Local charge neutrality prevents the formation of interstitials and vacancies as independent processes, as the cations and anions are charged species</a:t>
            </a:r>
          </a:p>
          <a:p>
            <a:r>
              <a:rPr lang="en-US" sz="2000" dirty="0"/>
              <a:t>In UO2, two anion vacancies need to be created for each cation vacancy, forming a Schottky trio</a:t>
            </a:r>
          </a:p>
          <a:p>
            <a:r>
              <a:rPr lang="en-US" sz="2000" dirty="0"/>
              <a:t>The dominant defect type is anion Frenkel pairs</a:t>
            </a:r>
          </a:p>
        </p:txBody>
      </p:sp>
      <p:sp>
        <p:nvSpPr>
          <p:cNvPr id="5" name="Slide Number Placeholder 4">
            <a:extLst>
              <a:ext uri="{FF2B5EF4-FFF2-40B4-BE49-F238E27FC236}">
                <a16:creationId xmlns:a16="http://schemas.microsoft.com/office/drawing/2014/main" id="{2B2F2CAA-FBA3-C1AB-9867-CCCF43310F0B}"/>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479083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7C1F2-7559-F046-AEB2-DD5A8F435581}"/>
              </a:ext>
            </a:extLst>
          </p:cNvPr>
          <p:cNvSpPr>
            <a:spLocks noGrp="1"/>
          </p:cNvSpPr>
          <p:nvPr>
            <p:ph type="title"/>
          </p:nvPr>
        </p:nvSpPr>
        <p:spPr/>
        <p:txBody>
          <a:bodyPr/>
          <a:lstStyle/>
          <a:p>
            <a:r>
              <a:rPr lang="en-US" dirty="0"/>
              <a:t>Loop Formation</a:t>
            </a:r>
          </a:p>
        </p:txBody>
      </p:sp>
      <p:sp>
        <p:nvSpPr>
          <p:cNvPr id="3" name="Content Placeholder 2">
            <a:extLst>
              <a:ext uri="{FF2B5EF4-FFF2-40B4-BE49-F238E27FC236}">
                <a16:creationId xmlns:a16="http://schemas.microsoft.com/office/drawing/2014/main" id="{1B4FA014-154F-2EAE-BC21-FD60C215F8F7}"/>
              </a:ext>
            </a:extLst>
          </p:cNvPr>
          <p:cNvSpPr>
            <a:spLocks noGrp="1"/>
          </p:cNvSpPr>
          <p:nvPr>
            <p:ph sz="half" idx="1"/>
          </p:nvPr>
        </p:nvSpPr>
        <p:spPr>
          <a:xfrm>
            <a:off x="609600" y="1968501"/>
            <a:ext cx="6579476" cy="4157663"/>
          </a:xfrm>
        </p:spPr>
        <p:txBody>
          <a:bodyPr/>
          <a:lstStyle/>
          <a:p>
            <a:r>
              <a:rPr lang="en-US" sz="2000" dirty="0"/>
              <a:t>Dislocations generally a mixture of screw and edge components in the shape of a loop</a:t>
            </a:r>
          </a:p>
          <a:p>
            <a:r>
              <a:rPr lang="en-US" sz="2000" dirty="0"/>
              <a:t>The most important slip system in UO2 is the one which minimizes the electrostatic energy, the easy slip along {100}&lt;110&gt; tends to minimize the intense repulsive force between cations</a:t>
            </a:r>
          </a:p>
          <a:p>
            <a:r>
              <a:rPr lang="en-US" sz="2000" dirty="0"/>
              <a:t>Prismatic loops are of interstitial type and consist of a disc-shaped layer of defects in a cluster</a:t>
            </a:r>
          </a:p>
          <a:p>
            <a:r>
              <a:rPr lang="en-US" sz="2000" dirty="0"/>
              <a:t>This defect cluster is more energetically favorable than dispersed defects in the bulk</a:t>
            </a:r>
          </a:p>
          <a:p>
            <a:r>
              <a:rPr lang="en-US" sz="2000" dirty="0"/>
              <a:t>Vacancy clusters will form into voids</a:t>
            </a:r>
          </a:p>
        </p:txBody>
      </p:sp>
      <p:sp>
        <p:nvSpPr>
          <p:cNvPr id="5" name="Slide Number Placeholder 4">
            <a:extLst>
              <a:ext uri="{FF2B5EF4-FFF2-40B4-BE49-F238E27FC236}">
                <a16:creationId xmlns:a16="http://schemas.microsoft.com/office/drawing/2014/main" id="{112E98DB-EAC8-56C8-3D71-E066248E1E23}"/>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dirty="0"/>
          </a:p>
        </p:txBody>
      </p:sp>
      <p:pic>
        <p:nvPicPr>
          <p:cNvPr id="6" name="Picture 5">
            <a:extLst>
              <a:ext uri="{FF2B5EF4-FFF2-40B4-BE49-F238E27FC236}">
                <a16:creationId xmlns:a16="http://schemas.microsoft.com/office/drawing/2014/main" id="{2560179B-6939-8C7E-38AE-53CBEB90A37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388352" y="1999457"/>
            <a:ext cx="4012120" cy="3647382"/>
          </a:xfrm>
          <a:prstGeom prst="rect">
            <a:avLst/>
          </a:prstGeom>
        </p:spPr>
      </p:pic>
      <p:sp>
        <p:nvSpPr>
          <p:cNvPr id="7" name="TextBox 6">
            <a:extLst>
              <a:ext uri="{FF2B5EF4-FFF2-40B4-BE49-F238E27FC236}">
                <a16:creationId xmlns:a16="http://schemas.microsoft.com/office/drawing/2014/main" id="{0262B38B-17FA-52BB-A120-396A20C36614}"/>
              </a:ext>
            </a:extLst>
          </p:cNvPr>
          <p:cNvSpPr txBox="1"/>
          <p:nvPr/>
        </p:nvSpPr>
        <p:spPr>
          <a:xfrm>
            <a:off x="7571708" y="5710020"/>
            <a:ext cx="3645408" cy="523220"/>
          </a:xfrm>
          <a:prstGeom prst="rect">
            <a:avLst/>
          </a:prstGeom>
          <a:noFill/>
        </p:spPr>
        <p:txBody>
          <a:bodyPr wrap="square" rtlCol="0">
            <a:spAutoFit/>
          </a:bodyPr>
          <a:lstStyle/>
          <a:p>
            <a:pPr algn="ctr"/>
            <a:r>
              <a:rPr lang="en-US" sz="1400" dirty="0"/>
              <a:t>Prismatic loops in UO2 from alpha particle irradiation</a:t>
            </a:r>
          </a:p>
        </p:txBody>
      </p:sp>
    </p:spTree>
    <p:extLst>
      <p:ext uri="{BB962C8B-B14F-4D97-AF65-F5344CB8AC3E}">
        <p14:creationId xmlns:p14="http://schemas.microsoft.com/office/powerpoint/2010/main" val="2394273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14654-70BB-5C96-CD96-1898405F0530}"/>
              </a:ext>
            </a:extLst>
          </p:cNvPr>
          <p:cNvSpPr>
            <a:spLocks noGrp="1"/>
          </p:cNvSpPr>
          <p:nvPr>
            <p:ph type="title"/>
          </p:nvPr>
        </p:nvSpPr>
        <p:spPr/>
        <p:txBody>
          <a:bodyPr/>
          <a:lstStyle/>
          <a:p>
            <a:r>
              <a:rPr lang="en-US" dirty="0"/>
              <a:t>Voids</a:t>
            </a:r>
          </a:p>
        </p:txBody>
      </p:sp>
      <p:sp>
        <p:nvSpPr>
          <p:cNvPr id="3" name="Content Placeholder 2">
            <a:extLst>
              <a:ext uri="{FF2B5EF4-FFF2-40B4-BE49-F238E27FC236}">
                <a16:creationId xmlns:a16="http://schemas.microsoft.com/office/drawing/2014/main" id="{A914BDC9-1BC2-32B6-D8CC-E769F9FDA861}"/>
              </a:ext>
            </a:extLst>
          </p:cNvPr>
          <p:cNvSpPr>
            <a:spLocks noGrp="1"/>
          </p:cNvSpPr>
          <p:nvPr>
            <p:ph sz="half" idx="1"/>
          </p:nvPr>
        </p:nvSpPr>
        <p:spPr>
          <a:xfrm>
            <a:off x="609600" y="1968501"/>
            <a:ext cx="6266688" cy="4157663"/>
          </a:xfrm>
        </p:spPr>
        <p:txBody>
          <a:bodyPr/>
          <a:lstStyle/>
          <a:p>
            <a:r>
              <a:rPr lang="en-US" sz="2000" dirty="0"/>
              <a:t>Due to preferential absorption of interstitials at dislocations, we are left with a slight excess of vacancies in the bulk to nucleate and grow voids</a:t>
            </a:r>
          </a:p>
          <a:p>
            <a:r>
              <a:rPr lang="en-US" sz="2000" dirty="0"/>
              <a:t>Void nucleation can occur homogeneously by the collection of vacancies in the matrix, or heterogeneously at structural features (precipitates, grain boundaries, etc.)</a:t>
            </a:r>
          </a:p>
          <a:p>
            <a:r>
              <a:rPr lang="en-US" sz="2000" dirty="0"/>
              <a:t>The vacancy-rich radiation damage core is considered to be an important void nucleation mechanism in UO2</a:t>
            </a:r>
          </a:p>
          <a:p>
            <a:r>
              <a:rPr lang="en-US" sz="2000" dirty="0"/>
              <a:t>Vacancy diffusion then allows void growth</a:t>
            </a:r>
          </a:p>
          <a:p>
            <a:r>
              <a:rPr lang="en-US" sz="2000" dirty="0"/>
              <a:t>Gas atoms can often serve to stabilize small voids</a:t>
            </a:r>
          </a:p>
        </p:txBody>
      </p:sp>
      <p:sp>
        <p:nvSpPr>
          <p:cNvPr id="5" name="Slide Number Placeholder 4">
            <a:extLst>
              <a:ext uri="{FF2B5EF4-FFF2-40B4-BE49-F238E27FC236}">
                <a16:creationId xmlns:a16="http://schemas.microsoft.com/office/drawing/2014/main" id="{BB9F4351-AC68-5583-AC05-78E4C7A987E0}"/>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pic>
        <p:nvPicPr>
          <p:cNvPr id="6" name="Picture 5">
            <a:extLst>
              <a:ext uri="{FF2B5EF4-FFF2-40B4-BE49-F238E27FC236}">
                <a16:creationId xmlns:a16="http://schemas.microsoft.com/office/drawing/2014/main" id="{F79FC4BD-4C0E-0249-1802-00868D88B6CE}"/>
              </a:ext>
            </a:extLst>
          </p:cNvPr>
          <p:cNvPicPr>
            <a:picLocks noChangeAspect="1"/>
          </p:cNvPicPr>
          <p:nvPr/>
        </p:nvPicPr>
        <p:blipFill>
          <a:blip r:embed="rId2"/>
          <a:stretch>
            <a:fillRect/>
          </a:stretch>
        </p:blipFill>
        <p:spPr>
          <a:xfrm>
            <a:off x="7827264" y="1511808"/>
            <a:ext cx="3231162" cy="4446078"/>
          </a:xfrm>
          <a:prstGeom prst="rect">
            <a:avLst/>
          </a:prstGeom>
        </p:spPr>
      </p:pic>
      <p:sp>
        <p:nvSpPr>
          <p:cNvPr id="7" name="TextBox 6">
            <a:extLst>
              <a:ext uri="{FF2B5EF4-FFF2-40B4-BE49-F238E27FC236}">
                <a16:creationId xmlns:a16="http://schemas.microsoft.com/office/drawing/2014/main" id="{05512FFB-9548-BE8B-2E0F-4B35DF2300B2}"/>
              </a:ext>
            </a:extLst>
          </p:cNvPr>
          <p:cNvSpPr txBox="1"/>
          <p:nvPr/>
        </p:nvSpPr>
        <p:spPr>
          <a:xfrm>
            <a:off x="7924800" y="6098189"/>
            <a:ext cx="3328416" cy="523220"/>
          </a:xfrm>
          <a:prstGeom prst="rect">
            <a:avLst/>
          </a:prstGeom>
          <a:noFill/>
        </p:spPr>
        <p:txBody>
          <a:bodyPr wrap="square" rtlCol="0">
            <a:spAutoFit/>
          </a:bodyPr>
          <a:lstStyle/>
          <a:p>
            <a:pPr algn="ctr"/>
            <a:r>
              <a:rPr lang="en-US" sz="1400" dirty="0"/>
              <a:t>Voids (bright spots) from alpha irradiation in UO2</a:t>
            </a:r>
          </a:p>
        </p:txBody>
      </p:sp>
    </p:spTree>
    <p:extLst>
      <p:ext uri="{BB962C8B-B14F-4D97-AF65-F5344CB8AC3E}">
        <p14:creationId xmlns:p14="http://schemas.microsoft.com/office/powerpoint/2010/main" val="1015704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2CC82-F9DF-CB15-CAB6-FED72213CC1D}"/>
              </a:ext>
            </a:extLst>
          </p:cNvPr>
          <p:cNvSpPr>
            <a:spLocks noGrp="1"/>
          </p:cNvSpPr>
          <p:nvPr>
            <p:ph type="title"/>
          </p:nvPr>
        </p:nvSpPr>
        <p:spPr/>
        <p:txBody>
          <a:bodyPr/>
          <a:lstStyle/>
          <a:p>
            <a:r>
              <a:rPr lang="en-US" dirty="0"/>
              <a:t>Radiation Effects</a:t>
            </a:r>
          </a:p>
        </p:txBody>
      </p:sp>
      <p:sp>
        <p:nvSpPr>
          <p:cNvPr id="3" name="Content Placeholder 2">
            <a:extLst>
              <a:ext uri="{FF2B5EF4-FFF2-40B4-BE49-F238E27FC236}">
                <a16:creationId xmlns:a16="http://schemas.microsoft.com/office/drawing/2014/main" id="{328B6B8F-0187-AB0D-2481-305E53349EEB}"/>
              </a:ext>
            </a:extLst>
          </p:cNvPr>
          <p:cNvSpPr>
            <a:spLocks noGrp="1"/>
          </p:cNvSpPr>
          <p:nvPr>
            <p:ph sz="half" idx="1"/>
          </p:nvPr>
        </p:nvSpPr>
        <p:spPr>
          <a:xfrm>
            <a:off x="609600" y="1968501"/>
            <a:ext cx="10972800" cy="4157663"/>
          </a:xfrm>
        </p:spPr>
        <p:txBody>
          <a:bodyPr/>
          <a:lstStyle/>
          <a:p>
            <a:r>
              <a:rPr lang="en-US" sz="2400" dirty="0"/>
              <a:t>Chemistry changes</a:t>
            </a:r>
          </a:p>
          <a:p>
            <a:pPr lvl="1"/>
            <a:r>
              <a:rPr lang="en-US" sz="2200" dirty="0"/>
              <a:t>two fission products are generated from each fission, resulting up to about 3% of the chemical species present at the end of life for commercial fuel</a:t>
            </a:r>
          </a:p>
          <a:p>
            <a:pPr lvl="1"/>
            <a:r>
              <a:rPr lang="en-US" sz="2200" dirty="0"/>
              <a:t>the amount of fission products change both chemical and physical properties</a:t>
            </a:r>
          </a:p>
          <a:p>
            <a:r>
              <a:rPr lang="en-US" sz="2400" dirty="0"/>
              <a:t>Physical property changes</a:t>
            </a:r>
          </a:p>
          <a:p>
            <a:pPr lvl="1"/>
            <a:r>
              <a:rPr lang="en-US" sz="2200" dirty="0"/>
              <a:t>The physical effects caused by atomic displacements are rather complex and depend on the relative sink strengths of a given material for interstitials and vacancies and on the temperature</a:t>
            </a:r>
          </a:p>
          <a:p>
            <a:pPr lvl="1"/>
            <a:r>
              <a:rPr lang="en-US" sz="2200" dirty="0"/>
              <a:t>lattice parameter, thermal conductivity, elasticity, formation of the high burnup structure</a:t>
            </a:r>
          </a:p>
          <a:p>
            <a:endParaRPr lang="en-US" sz="2400" dirty="0"/>
          </a:p>
        </p:txBody>
      </p:sp>
      <p:sp>
        <p:nvSpPr>
          <p:cNvPr id="5" name="Slide Number Placeholder 4">
            <a:extLst>
              <a:ext uri="{FF2B5EF4-FFF2-40B4-BE49-F238E27FC236}">
                <a16:creationId xmlns:a16="http://schemas.microsoft.com/office/drawing/2014/main" id="{FF743944-0C64-C1DA-82C8-E55D6301791A}"/>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spTree>
    <p:extLst>
      <p:ext uri="{BB962C8B-B14F-4D97-AF65-F5344CB8AC3E}">
        <p14:creationId xmlns:p14="http://schemas.microsoft.com/office/powerpoint/2010/main" val="2647938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91DCF-FF43-6E4B-899D-1CE8D743FD4C}"/>
              </a:ext>
            </a:extLst>
          </p:cNvPr>
          <p:cNvSpPr>
            <a:spLocks noGrp="1"/>
          </p:cNvSpPr>
          <p:nvPr>
            <p:ph type="title"/>
          </p:nvPr>
        </p:nvSpPr>
        <p:spPr/>
        <p:txBody>
          <a:bodyPr/>
          <a:lstStyle/>
          <a:p>
            <a:r>
              <a:rPr lang="en-US" dirty="0"/>
              <a:t>Thermal Conductivity Degradation</a:t>
            </a:r>
          </a:p>
        </p:txBody>
      </p:sp>
      <p:sp>
        <p:nvSpPr>
          <p:cNvPr id="3" name="Content Placeholder 2">
            <a:extLst>
              <a:ext uri="{FF2B5EF4-FFF2-40B4-BE49-F238E27FC236}">
                <a16:creationId xmlns:a16="http://schemas.microsoft.com/office/drawing/2014/main" id="{A18F91DB-6CF3-9842-AAFF-C28399332F76}"/>
              </a:ext>
            </a:extLst>
          </p:cNvPr>
          <p:cNvSpPr>
            <a:spLocks noGrp="1"/>
          </p:cNvSpPr>
          <p:nvPr>
            <p:ph sz="half" idx="1"/>
          </p:nvPr>
        </p:nvSpPr>
        <p:spPr/>
        <p:txBody>
          <a:bodyPr/>
          <a:lstStyle/>
          <a:p>
            <a:r>
              <a:rPr lang="en-US" sz="2000" dirty="0"/>
              <a:t>One of the major effects of defect formation is the degradation of thermal diffusivity, due to phonon scattering</a:t>
            </a:r>
          </a:p>
          <a:p>
            <a:r>
              <a:rPr lang="en-US" sz="2000" dirty="0"/>
              <a:t>Results obtained on irradiated UO2 show that the thermal conductivity is decreasing with increasing burn-up, and that at equal burn-up, samples with higher irradiation temperatures have higher thermal conductivity</a:t>
            </a:r>
          </a:p>
          <a:p>
            <a:r>
              <a:rPr lang="en-US" sz="2000" dirty="0"/>
              <a:t>There are mesoscopic and atomistic features that affect the thermal conductivity</a:t>
            </a:r>
          </a:p>
          <a:p>
            <a:endParaRPr lang="en-US" sz="2000" dirty="0"/>
          </a:p>
          <a:p>
            <a:endParaRPr lang="en-US" sz="2000" dirty="0"/>
          </a:p>
        </p:txBody>
      </p:sp>
      <p:sp>
        <p:nvSpPr>
          <p:cNvPr id="4" name="Content Placeholder 3">
            <a:extLst>
              <a:ext uri="{FF2B5EF4-FFF2-40B4-BE49-F238E27FC236}">
                <a16:creationId xmlns:a16="http://schemas.microsoft.com/office/drawing/2014/main" id="{9FE98778-6F0D-EB45-9BF1-9CCD7207ECD3}"/>
              </a:ext>
            </a:extLst>
          </p:cNvPr>
          <p:cNvSpPr>
            <a:spLocks noGrp="1"/>
          </p:cNvSpPr>
          <p:nvPr>
            <p:ph sz="half" idx="2"/>
          </p:nvPr>
        </p:nvSpPr>
        <p:spPr/>
        <p:txBody>
          <a:bodyPr/>
          <a:lstStyle/>
          <a:p>
            <a:r>
              <a:rPr lang="en-US" sz="2000" dirty="0"/>
              <a:t>The porosity existing in fresh fuels evolves during irradiation and has a strong impact on heat transport, because voids/bubbles have significantly lower kth than the lattice</a:t>
            </a:r>
          </a:p>
          <a:p>
            <a:r>
              <a:rPr lang="en-US" sz="2000" dirty="0"/>
              <a:t>Precipitates are formed by fission products that are insoluble in the UO2 lattice, forming oxide or metallic inclusions: can use composite theory to get effective thermal conductivities; typically, these precipitates INCREASE the thermal conductivity of the fuel</a:t>
            </a:r>
          </a:p>
          <a:p>
            <a:endParaRPr lang="en-US" sz="2000" dirty="0"/>
          </a:p>
        </p:txBody>
      </p:sp>
      <p:sp>
        <p:nvSpPr>
          <p:cNvPr id="5" name="Slide Number Placeholder 4">
            <a:extLst>
              <a:ext uri="{FF2B5EF4-FFF2-40B4-BE49-F238E27FC236}">
                <a16:creationId xmlns:a16="http://schemas.microsoft.com/office/drawing/2014/main" id="{ACE14E0E-4828-424C-95DA-D7DCB6222E32}"/>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spTree>
    <p:extLst>
      <p:ext uri="{BB962C8B-B14F-4D97-AF65-F5344CB8AC3E}">
        <p14:creationId xmlns:p14="http://schemas.microsoft.com/office/powerpoint/2010/main" val="226466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7DAB2-D749-9663-7099-561E5DE21292}"/>
              </a:ext>
            </a:extLst>
          </p:cNvPr>
          <p:cNvSpPr>
            <a:spLocks noGrp="1"/>
          </p:cNvSpPr>
          <p:nvPr>
            <p:ph type="title"/>
          </p:nvPr>
        </p:nvSpPr>
        <p:spPr/>
        <p:txBody>
          <a:bodyPr/>
          <a:lstStyle/>
          <a:p>
            <a:r>
              <a:rPr lang="en-US" dirty="0"/>
              <a:t>Thermal Conductivity Degradation</a:t>
            </a:r>
          </a:p>
        </p:txBody>
      </p:sp>
      <p:sp>
        <p:nvSpPr>
          <p:cNvPr id="3" name="Content Placeholder 2">
            <a:extLst>
              <a:ext uri="{FF2B5EF4-FFF2-40B4-BE49-F238E27FC236}">
                <a16:creationId xmlns:a16="http://schemas.microsoft.com/office/drawing/2014/main" id="{9877A200-9A4A-0E24-F655-7F5C7B512E44}"/>
              </a:ext>
            </a:extLst>
          </p:cNvPr>
          <p:cNvSpPr>
            <a:spLocks noGrp="1"/>
          </p:cNvSpPr>
          <p:nvPr>
            <p:ph sz="half" idx="1"/>
          </p:nvPr>
        </p:nvSpPr>
        <p:spPr>
          <a:xfrm>
            <a:off x="609600" y="1968501"/>
            <a:ext cx="6072554" cy="4157663"/>
          </a:xfrm>
        </p:spPr>
        <p:txBody>
          <a:bodyPr/>
          <a:lstStyle/>
          <a:p>
            <a:r>
              <a:rPr lang="en-US" sz="2000" dirty="0"/>
              <a:t>Actinides, rare earths, and transition metals can form mixed oxides with UO2 (soluble fission products): these atoms act as phonon scattering centers as a result of the differences in bonding, radii, or mass, and thus decrease kth</a:t>
            </a:r>
          </a:p>
          <a:p>
            <a:r>
              <a:rPr lang="en-US" sz="2000" dirty="0"/>
              <a:t>Volatile fission products/gases are partially in solution and partially in bubbles, where they act as phonon scatterers or as low kth composite fractions</a:t>
            </a:r>
          </a:p>
          <a:p>
            <a:r>
              <a:rPr lang="en-US" sz="2000" dirty="0"/>
              <a:t>Point defects and extended defects contribute to the degradation of the thermal conductivity by scattering or limiting the mean free path of the phonons</a:t>
            </a:r>
          </a:p>
          <a:p>
            <a:endParaRPr lang="en-US" sz="2000" dirty="0"/>
          </a:p>
        </p:txBody>
      </p:sp>
      <p:sp>
        <p:nvSpPr>
          <p:cNvPr id="5" name="Slide Number Placeholder 4">
            <a:extLst>
              <a:ext uri="{FF2B5EF4-FFF2-40B4-BE49-F238E27FC236}">
                <a16:creationId xmlns:a16="http://schemas.microsoft.com/office/drawing/2014/main" id="{5B767119-D937-88AE-31AB-D5B7BC816E1E}"/>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6" name="Picture 5">
            <a:extLst>
              <a:ext uri="{FF2B5EF4-FFF2-40B4-BE49-F238E27FC236}">
                <a16:creationId xmlns:a16="http://schemas.microsoft.com/office/drawing/2014/main" id="{463B2148-EA4C-9BEC-B447-E5D49BFA4E7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044709" y="2417631"/>
            <a:ext cx="4735952" cy="3059687"/>
          </a:xfrm>
          <a:prstGeom prst="rect">
            <a:avLst/>
          </a:prstGeom>
        </p:spPr>
      </p:pic>
    </p:spTree>
    <p:extLst>
      <p:ext uri="{BB962C8B-B14F-4D97-AF65-F5344CB8AC3E}">
        <p14:creationId xmlns:p14="http://schemas.microsoft.com/office/powerpoint/2010/main" val="2931849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C23BC-AB13-A049-9D14-F8095262BAB0}"/>
              </a:ext>
            </a:extLst>
          </p:cNvPr>
          <p:cNvSpPr>
            <a:spLocks noGrp="1"/>
          </p:cNvSpPr>
          <p:nvPr>
            <p:ph type="title"/>
          </p:nvPr>
        </p:nvSpPr>
        <p:spPr/>
        <p:txBody>
          <a:bodyPr/>
          <a:lstStyle/>
          <a:p>
            <a:r>
              <a:rPr lang="en-US" dirty="0"/>
              <a:t>UO2 Thermal Conductivity</a:t>
            </a:r>
          </a:p>
        </p:txBody>
      </p:sp>
      <p:sp>
        <p:nvSpPr>
          <p:cNvPr id="3" name="Content Placeholder 2">
            <a:extLst>
              <a:ext uri="{FF2B5EF4-FFF2-40B4-BE49-F238E27FC236}">
                <a16:creationId xmlns:a16="http://schemas.microsoft.com/office/drawing/2014/main" id="{EBB544FB-A261-1C43-A834-D547BBBE1EF2}"/>
              </a:ext>
            </a:extLst>
          </p:cNvPr>
          <p:cNvSpPr>
            <a:spLocks noGrp="1"/>
          </p:cNvSpPr>
          <p:nvPr>
            <p:ph idx="1"/>
          </p:nvPr>
        </p:nvSpPr>
        <p:spPr>
          <a:xfrm>
            <a:off x="609600" y="2160495"/>
            <a:ext cx="6589853" cy="3965670"/>
          </a:xfrm>
        </p:spPr>
        <p:txBody>
          <a:bodyPr>
            <a:normAutofit/>
          </a:bodyPr>
          <a:lstStyle/>
          <a:p>
            <a:r>
              <a:rPr lang="en-US" sz="2000" dirty="0"/>
              <a:t>We have established correlations for thermal conductivity of fresh UO2 fuel as a function of temperature</a:t>
            </a:r>
          </a:p>
          <a:p>
            <a:endParaRPr lang="en-US" sz="2000" dirty="0"/>
          </a:p>
          <a:p>
            <a:endParaRPr lang="en-US" sz="2000" dirty="0"/>
          </a:p>
          <a:p>
            <a:pPr lvl="1"/>
            <a:r>
              <a:rPr lang="en-US" sz="2000" dirty="0"/>
              <a:t>Where t = T/1000</a:t>
            </a:r>
          </a:p>
          <a:p>
            <a:pPr lvl="1"/>
            <a:r>
              <a:rPr lang="en-US" sz="2000" dirty="0">
                <a:solidFill>
                  <a:srgbClr val="FF0000"/>
                </a:solidFill>
              </a:rPr>
              <a:t>The first part of the equation describes the phonon interactions </a:t>
            </a:r>
          </a:p>
          <a:p>
            <a:pPr lvl="1"/>
            <a:r>
              <a:rPr lang="en-US" sz="2000" dirty="0">
                <a:solidFill>
                  <a:srgbClr val="23FF05"/>
                </a:solidFill>
              </a:rPr>
              <a:t>The second part describes electronic transport which becomes significant at high temperature</a:t>
            </a:r>
          </a:p>
          <a:p>
            <a:endParaRPr lang="en-US" sz="2000" dirty="0"/>
          </a:p>
        </p:txBody>
      </p:sp>
      <p:sp>
        <p:nvSpPr>
          <p:cNvPr id="4" name="Slide Number Placeholder 3">
            <a:extLst>
              <a:ext uri="{FF2B5EF4-FFF2-40B4-BE49-F238E27FC236}">
                <a16:creationId xmlns:a16="http://schemas.microsoft.com/office/drawing/2014/main" id="{FA1E69F8-8412-8D46-AF22-F204AFA4F7F8}"/>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pic>
        <p:nvPicPr>
          <p:cNvPr id="5" name="Picture 4" descr="latex-image-1.pdf">
            <a:extLst>
              <a:ext uri="{FF2B5EF4-FFF2-40B4-BE49-F238E27FC236}">
                <a16:creationId xmlns:a16="http://schemas.microsoft.com/office/drawing/2014/main" id="{4B99836D-CC45-E14D-8D83-831325CBEC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246226" y="3240267"/>
            <a:ext cx="4849774" cy="488969"/>
          </a:xfrm>
          <a:prstGeom prst="rect">
            <a:avLst/>
          </a:prstGeom>
        </p:spPr>
      </p:pic>
      <p:pic>
        <p:nvPicPr>
          <p:cNvPr id="6" name="Picture 5">
            <a:extLst>
              <a:ext uri="{FF2B5EF4-FFF2-40B4-BE49-F238E27FC236}">
                <a16:creationId xmlns:a16="http://schemas.microsoft.com/office/drawing/2014/main" id="{05C1B3D7-16AF-A240-A2E2-E785C25B216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199453" y="2403563"/>
            <a:ext cx="4735952" cy="3059687"/>
          </a:xfrm>
          <a:prstGeom prst="rect">
            <a:avLst/>
          </a:prstGeom>
        </p:spPr>
      </p:pic>
    </p:spTree>
    <p:extLst>
      <p:ext uri="{BB962C8B-B14F-4D97-AF65-F5344CB8AC3E}">
        <p14:creationId xmlns:p14="http://schemas.microsoft.com/office/powerpoint/2010/main" val="2375579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37F66-8667-9747-AC98-5386FCEFEF05}"/>
              </a:ext>
            </a:extLst>
          </p:cNvPr>
          <p:cNvSpPr>
            <a:spLocks noGrp="1"/>
          </p:cNvSpPr>
          <p:nvPr>
            <p:ph type="title"/>
          </p:nvPr>
        </p:nvSpPr>
        <p:spPr/>
        <p:txBody>
          <a:bodyPr/>
          <a:lstStyle/>
          <a:p>
            <a:r>
              <a:rPr lang="en-US" dirty="0"/>
              <a:t>UO2 Thermal Conductivity</a:t>
            </a:r>
          </a:p>
        </p:txBody>
      </p:sp>
      <p:sp>
        <p:nvSpPr>
          <p:cNvPr id="3" name="Content Placeholder 2">
            <a:extLst>
              <a:ext uri="{FF2B5EF4-FFF2-40B4-BE49-F238E27FC236}">
                <a16:creationId xmlns:a16="http://schemas.microsoft.com/office/drawing/2014/main" id="{09E7C28B-56E0-5643-A058-7EC11CFED032}"/>
              </a:ext>
            </a:extLst>
          </p:cNvPr>
          <p:cNvSpPr>
            <a:spLocks noGrp="1"/>
          </p:cNvSpPr>
          <p:nvPr>
            <p:ph idx="1"/>
          </p:nvPr>
        </p:nvSpPr>
        <p:spPr>
          <a:xfrm>
            <a:off x="609600" y="2160495"/>
            <a:ext cx="6531980" cy="3965670"/>
          </a:xfrm>
        </p:spPr>
        <p:txBody>
          <a:bodyPr/>
          <a:lstStyle/>
          <a:p>
            <a:r>
              <a:rPr lang="en-US" dirty="0">
                <a:latin typeface="Arial" charset="0"/>
                <a:ea typeface="MS PGothic" charset="0"/>
              </a:rPr>
              <a:t>UO</a:t>
            </a:r>
            <a:r>
              <a:rPr lang="en-US" baseline="-25000" dirty="0">
                <a:latin typeface="Arial" charset="0"/>
                <a:ea typeface="MS PGothic" charset="0"/>
              </a:rPr>
              <a:t>2</a:t>
            </a:r>
            <a:r>
              <a:rPr lang="en-US" dirty="0">
                <a:latin typeface="Arial" charset="0"/>
                <a:ea typeface="MS PGothic" charset="0"/>
              </a:rPr>
              <a:t> thermal conductivity is low and decreases more during reactor operation</a:t>
            </a:r>
          </a:p>
          <a:p>
            <a:r>
              <a:rPr lang="en-US" dirty="0"/>
              <a:t>The thermal conductivity has been collected after various amounts of burnup to make empirical fits</a:t>
            </a:r>
          </a:p>
          <a:p>
            <a:endParaRPr lang="en-US" dirty="0"/>
          </a:p>
        </p:txBody>
      </p:sp>
      <p:sp>
        <p:nvSpPr>
          <p:cNvPr id="4" name="Slide Number Placeholder 3">
            <a:extLst>
              <a:ext uri="{FF2B5EF4-FFF2-40B4-BE49-F238E27FC236}">
                <a16:creationId xmlns:a16="http://schemas.microsoft.com/office/drawing/2014/main" id="{23C9F6CF-A206-C74A-AB6F-5210D000F4E7}"/>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graphicFrame>
        <p:nvGraphicFramePr>
          <p:cNvPr id="5" name="Object 2">
            <a:extLst>
              <a:ext uri="{FF2B5EF4-FFF2-40B4-BE49-F238E27FC236}">
                <a16:creationId xmlns:a16="http://schemas.microsoft.com/office/drawing/2014/main" id="{1357D662-8961-1D47-A056-3FDBF40D9433}"/>
              </a:ext>
            </a:extLst>
          </p:cNvPr>
          <p:cNvGraphicFramePr>
            <a:graphicFrameLocks noChangeAspect="1"/>
          </p:cNvGraphicFramePr>
          <p:nvPr/>
        </p:nvGraphicFramePr>
        <p:xfrm>
          <a:off x="523052" y="4651821"/>
          <a:ext cx="6705076" cy="651076"/>
        </p:xfrm>
        <a:graphic>
          <a:graphicData uri="http://schemas.openxmlformats.org/presentationml/2006/ole">
            <mc:AlternateContent xmlns:mc="http://schemas.openxmlformats.org/markup-compatibility/2006">
              <mc:Choice xmlns:v="urn:schemas-microsoft-com:vml" Requires="v">
                <p:oleObj name="Equation" r:id="rId2" imgW="4178160" imgH="406080" progId="Equation.3">
                  <p:embed/>
                </p:oleObj>
              </mc:Choice>
              <mc:Fallback>
                <p:oleObj name="Equation" r:id="rId2" imgW="4178160" imgH="406080" progId="Equation.3">
                  <p:embed/>
                  <p:pic>
                    <p:nvPicPr>
                      <p:cNvPr id="5" name="Object 2">
                        <a:extLst>
                          <a:ext uri="{FF2B5EF4-FFF2-40B4-BE49-F238E27FC236}">
                            <a16:creationId xmlns:a16="http://schemas.microsoft.com/office/drawing/2014/main" id="{1357D662-8961-1D47-A056-3FDBF40D94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052" y="4651821"/>
                        <a:ext cx="6705076" cy="651076"/>
                      </a:xfrm>
                      <a:prstGeom prst="rect">
                        <a:avLst/>
                      </a:prstGeom>
                      <a:noFill/>
                      <a:ln>
                        <a:noFill/>
                      </a:ln>
                      <a:effectLst/>
                    </p:spPr>
                  </p:pic>
                </p:oleObj>
              </mc:Fallback>
            </mc:AlternateContent>
          </a:graphicData>
        </a:graphic>
      </p:graphicFrame>
      <p:graphicFrame>
        <p:nvGraphicFramePr>
          <p:cNvPr id="7" name="Object 1">
            <a:extLst>
              <a:ext uri="{FF2B5EF4-FFF2-40B4-BE49-F238E27FC236}">
                <a16:creationId xmlns:a16="http://schemas.microsoft.com/office/drawing/2014/main" id="{6ABB3B95-D499-CA42-9672-690C3008C8D4}"/>
              </a:ext>
            </a:extLst>
          </p:cNvPr>
          <p:cNvGraphicFramePr>
            <a:graphicFrameLocks noChangeAspect="1"/>
          </p:cNvGraphicFramePr>
          <p:nvPr/>
        </p:nvGraphicFramePr>
        <p:xfrm>
          <a:off x="7495978" y="1967299"/>
          <a:ext cx="4558934" cy="3902297"/>
        </p:xfrm>
        <a:graphic>
          <a:graphicData uri="http://schemas.openxmlformats.org/presentationml/2006/ole">
            <mc:AlternateContent xmlns:mc="http://schemas.openxmlformats.org/markup-compatibility/2006">
              <mc:Choice xmlns:v="urn:schemas-microsoft-com:vml" Requires="v">
                <p:oleObj r:id="rId4" imgW="5203952" imgH="4402938" progId="">
                  <p:embed/>
                </p:oleObj>
              </mc:Choice>
              <mc:Fallback>
                <p:oleObj r:id="rId4" imgW="5203952" imgH="4402938" progId="">
                  <p:embed/>
                  <p:pic>
                    <p:nvPicPr>
                      <p:cNvPr id="7" name="Object 1">
                        <a:extLst>
                          <a:ext uri="{FF2B5EF4-FFF2-40B4-BE49-F238E27FC236}">
                            <a16:creationId xmlns:a16="http://schemas.microsoft.com/office/drawing/2014/main" id="{6ABB3B95-D499-CA42-9672-690C3008C8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5978" y="1967299"/>
                        <a:ext cx="4558934" cy="390229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3676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44273-79E0-2143-B0E7-F1AE74C62608}"/>
              </a:ext>
            </a:extLst>
          </p:cNvPr>
          <p:cNvSpPr>
            <a:spLocks noGrp="1"/>
          </p:cNvSpPr>
          <p:nvPr>
            <p:ph type="title"/>
          </p:nvPr>
        </p:nvSpPr>
        <p:spPr/>
        <p:txBody>
          <a:bodyPr/>
          <a:lstStyle/>
          <a:p>
            <a:r>
              <a:rPr lang="en-US" dirty="0"/>
              <a:t>UO2 Thermal Conductivity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DCA8FA-3700-FA48-9CDB-34677C5BC7D5}"/>
                  </a:ext>
                </a:extLst>
              </p:cNvPr>
              <p:cNvSpPr>
                <a:spLocks noGrp="1"/>
              </p:cNvSpPr>
              <p:nvPr>
                <p:ph idx="1"/>
              </p:nvPr>
            </p:nvSpPr>
            <p:spPr/>
            <p:txBody>
              <a:bodyPr/>
              <a:lstStyle/>
              <a:p>
                <a:r>
                  <a:rPr lang="en-US" dirty="0"/>
                  <a:t>One empirical model used in BISON is the NFIR model</a:t>
                </a:r>
              </a:p>
              <a:p>
                <a:r>
                  <a:rPr lang="en-US" dirty="0"/>
                  <a:t>The model is a function of the temperature T (in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C) and the burnup β (in MWD/</a:t>
                </a:r>
                <a:r>
                  <a:rPr lang="en-US" dirty="0" err="1"/>
                  <a:t>kgU</a:t>
                </a:r>
                <a:endParaRPr lang="en-US" dirty="0"/>
              </a:p>
            </p:txBody>
          </p:sp>
        </mc:Choice>
        <mc:Fallback xmlns="">
          <p:sp>
            <p:nvSpPr>
              <p:cNvPr id="3" name="Content Placeholder 2">
                <a:extLst>
                  <a:ext uri="{FF2B5EF4-FFF2-40B4-BE49-F238E27FC236}">
                    <a16:creationId xmlns:a16="http://schemas.microsoft.com/office/drawing/2014/main" id="{3EDCA8FA-3700-FA48-9CDB-34677C5BC7D5}"/>
                  </a:ext>
                </a:extLst>
              </p:cNvPr>
              <p:cNvSpPr>
                <a:spLocks noGrp="1" noRot="1" noChangeAspect="1" noMove="1" noResize="1" noEditPoints="1" noAdjustHandles="1" noChangeArrowheads="1" noChangeShapeType="1" noTextEdit="1"/>
              </p:cNvSpPr>
              <p:nvPr>
                <p:ph idx="1"/>
              </p:nvPr>
            </p:nvSpPr>
            <p:spPr>
              <a:blipFill>
                <a:blip r:embed="rId2"/>
                <a:stretch>
                  <a:fillRect l="-809" t="-9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F30064F-A733-8C43-8392-E5E8600CF218}"/>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grpSp>
        <p:nvGrpSpPr>
          <p:cNvPr id="11" name="Group 10">
            <a:extLst>
              <a:ext uri="{FF2B5EF4-FFF2-40B4-BE49-F238E27FC236}">
                <a16:creationId xmlns:a16="http://schemas.microsoft.com/office/drawing/2014/main" id="{42161884-8184-A446-8369-02FC42382906}"/>
              </a:ext>
            </a:extLst>
          </p:cNvPr>
          <p:cNvGrpSpPr/>
          <p:nvPr/>
        </p:nvGrpSpPr>
        <p:grpSpPr>
          <a:xfrm>
            <a:off x="502731" y="3799145"/>
            <a:ext cx="7320853" cy="2096641"/>
            <a:chOff x="1196982" y="3800021"/>
            <a:chExt cx="8483600" cy="2341639"/>
          </a:xfrm>
        </p:grpSpPr>
        <p:pic>
          <p:nvPicPr>
            <p:cNvPr id="5" name="Picture 4" descr="latex-image-1.pdf">
              <a:extLst>
                <a:ext uri="{FF2B5EF4-FFF2-40B4-BE49-F238E27FC236}">
                  <a16:creationId xmlns:a16="http://schemas.microsoft.com/office/drawing/2014/main" id="{DE478E37-2576-0844-AC97-9EE5E18D5F7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96982" y="3800021"/>
              <a:ext cx="5410200" cy="241300"/>
            </a:xfrm>
            <a:prstGeom prst="rect">
              <a:avLst/>
            </a:prstGeom>
          </p:spPr>
        </p:pic>
        <p:pic>
          <p:nvPicPr>
            <p:cNvPr id="6" name="Picture 5" descr="latex-image-1.pdf">
              <a:extLst>
                <a:ext uri="{FF2B5EF4-FFF2-40B4-BE49-F238E27FC236}">
                  <a16:creationId xmlns:a16="http://schemas.microsoft.com/office/drawing/2014/main" id="{B76DE0A9-E0F6-8F41-AD1A-A90FA77927D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96982" y="4168160"/>
              <a:ext cx="3492500" cy="558800"/>
            </a:xfrm>
            <a:prstGeom prst="rect">
              <a:avLst/>
            </a:prstGeom>
          </p:spPr>
        </p:pic>
        <p:pic>
          <p:nvPicPr>
            <p:cNvPr id="7" name="Picture 6" descr="latex-image-1.pdf">
              <a:extLst>
                <a:ext uri="{FF2B5EF4-FFF2-40B4-BE49-F238E27FC236}">
                  <a16:creationId xmlns:a16="http://schemas.microsoft.com/office/drawing/2014/main" id="{07D79B9A-F3D8-CA44-BCDB-D956BDDDE96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196982" y="4726960"/>
              <a:ext cx="8483600" cy="533400"/>
            </a:xfrm>
            <a:prstGeom prst="rect">
              <a:avLst/>
            </a:prstGeom>
          </p:spPr>
        </p:pic>
        <p:pic>
          <p:nvPicPr>
            <p:cNvPr id="8" name="Picture 7" descr="latex-image-1.pdf">
              <a:extLst>
                <a:ext uri="{FF2B5EF4-FFF2-40B4-BE49-F238E27FC236}">
                  <a16:creationId xmlns:a16="http://schemas.microsoft.com/office/drawing/2014/main" id="{D6D82B0A-D859-4C48-9C99-94DDDA26D293}"/>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196982" y="5260360"/>
              <a:ext cx="6858000" cy="533400"/>
            </a:xfrm>
            <a:prstGeom prst="rect">
              <a:avLst/>
            </a:prstGeom>
          </p:spPr>
        </p:pic>
        <p:pic>
          <p:nvPicPr>
            <p:cNvPr id="9" name="Picture 8" descr="latex-image-1.pdf">
              <a:extLst>
                <a:ext uri="{FF2B5EF4-FFF2-40B4-BE49-F238E27FC236}">
                  <a16:creationId xmlns:a16="http://schemas.microsoft.com/office/drawing/2014/main" id="{7DB420B2-719A-E644-AD3A-33C902D259C0}"/>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196982" y="5862260"/>
              <a:ext cx="2857500" cy="279400"/>
            </a:xfrm>
            <a:prstGeom prst="rect">
              <a:avLst/>
            </a:prstGeom>
          </p:spPr>
        </p:pic>
      </p:grpSp>
      <p:pic>
        <p:nvPicPr>
          <p:cNvPr id="12" name="Picture 11">
            <a:extLst>
              <a:ext uri="{FF2B5EF4-FFF2-40B4-BE49-F238E27FC236}">
                <a16:creationId xmlns:a16="http://schemas.microsoft.com/office/drawing/2014/main" id="{3C7CCD86-1EDE-D740-B56C-3C28CA570B92}"/>
              </a:ext>
            </a:extLst>
          </p:cNvPr>
          <p:cNvPicPr>
            <a:picLocks noChangeAspect="1"/>
          </p:cNvPicPr>
          <p:nvPr/>
        </p:nvPicPr>
        <p:blipFill>
          <a:blip r:embed="rId8"/>
          <a:stretch>
            <a:fillRect/>
          </a:stretch>
        </p:blipFill>
        <p:spPr>
          <a:xfrm>
            <a:off x="7874239" y="3028901"/>
            <a:ext cx="4267200" cy="3200400"/>
          </a:xfrm>
          <a:prstGeom prst="rect">
            <a:avLst/>
          </a:prstGeom>
        </p:spPr>
      </p:pic>
    </p:spTree>
    <p:extLst>
      <p:ext uri="{BB962C8B-B14F-4D97-AF65-F5344CB8AC3E}">
        <p14:creationId xmlns:p14="http://schemas.microsoft.com/office/powerpoint/2010/main" val="258509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90A2B-E6A0-8D42-B5CA-06A9643379FD}"/>
              </a:ext>
            </a:extLst>
          </p:cNvPr>
          <p:cNvSpPr>
            <a:spLocks noGrp="1"/>
          </p:cNvSpPr>
          <p:nvPr>
            <p:ph type="title"/>
          </p:nvPr>
        </p:nvSpPr>
        <p:spPr/>
        <p:txBody>
          <a:bodyPr/>
          <a:lstStyle/>
          <a:p>
            <a:r>
              <a:rPr lang="en-US" dirty="0"/>
              <a:t>UO2 Thermal Conductivity</a:t>
            </a:r>
          </a:p>
        </p:txBody>
      </p:sp>
      <p:sp>
        <p:nvSpPr>
          <p:cNvPr id="3" name="Content Placeholder 2">
            <a:extLst>
              <a:ext uri="{FF2B5EF4-FFF2-40B4-BE49-F238E27FC236}">
                <a16:creationId xmlns:a16="http://schemas.microsoft.com/office/drawing/2014/main" id="{F0A76D93-A352-E54C-89CD-B17941B5B6AF}"/>
              </a:ext>
            </a:extLst>
          </p:cNvPr>
          <p:cNvSpPr>
            <a:spLocks noGrp="1"/>
          </p:cNvSpPr>
          <p:nvPr>
            <p:ph idx="1"/>
          </p:nvPr>
        </p:nvSpPr>
        <p:spPr>
          <a:xfrm>
            <a:off x="609600" y="2160495"/>
            <a:ext cx="7527235" cy="3965670"/>
          </a:xfrm>
        </p:spPr>
        <p:txBody>
          <a:bodyPr/>
          <a:lstStyle/>
          <a:p>
            <a:r>
              <a:rPr lang="en-US" dirty="0"/>
              <a:t>The R</a:t>
            </a:r>
            <a:r>
              <a:rPr lang="en-US" baseline="-25000" dirty="0"/>
              <a:t>f</a:t>
            </a:r>
            <a:r>
              <a:rPr lang="en-US" dirty="0"/>
              <a:t> function switches between two k</a:t>
            </a:r>
            <a:r>
              <a:rPr lang="en-US" baseline="-25000" dirty="0"/>
              <a:t>ph</a:t>
            </a:r>
            <a:r>
              <a:rPr lang="en-US" dirty="0"/>
              <a:t> functions, accounting for thermal recovery</a:t>
            </a:r>
          </a:p>
          <a:p>
            <a:endParaRPr lang="en-US" dirty="0"/>
          </a:p>
        </p:txBody>
      </p:sp>
      <p:sp>
        <p:nvSpPr>
          <p:cNvPr id="4" name="Slide Number Placeholder 3">
            <a:extLst>
              <a:ext uri="{FF2B5EF4-FFF2-40B4-BE49-F238E27FC236}">
                <a16:creationId xmlns:a16="http://schemas.microsoft.com/office/drawing/2014/main" id="{1B837B61-097A-0F42-8BB5-D4D4A35F2A63}"/>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a:p>
        </p:txBody>
      </p:sp>
      <p:pic>
        <p:nvPicPr>
          <p:cNvPr id="6" name="Picture 5">
            <a:extLst>
              <a:ext uri="{FF2B5EF4-FFF2-40B4-BE49-F238E27FC236}">
                <a16:creationId xmlns:a16="http://schemas.microsoft.com/office/drawing/2014/main" id="{C7EAC627-0B90-284A-8A60-57C4030991BD}"/>
              </a:ext>
            </a:extLst>
          </p:cNvPr>
          <p:cNvPicPr>
            <a:picLocks noChangeAspect="1"/>
          </p:cNvPicPr>
          <p:nvPr/>
        </p:nvPicPr>
        <p:blipFill>
          <a:blip r:embed="rId2"/>
          <a:stretch>
            <a:fillRect/>
          </a:stretch>
        </p:blipFill>
        <p:spPr>
          <a:xfrm>
            <a:off x="8737600" y="1655416"/>
            <a:ext cx="2349907" cy="2267585"/>
          </a:xfrm>
          <a:prstGeom prst="rect">
            <a:avLst/>
          </a:prstGeom>
        </p:spPr>
      </p:pic>
      <p:pic>
        <p:nvPicPr>
          <p:cNvPr id="8" name="Picture 7" descr="latex-image-1.pdf">
            <a:extLst>
              <a:ext uri="{FF2B5EF4-FFF2-40B4-BE49-F238E27FC236}">
                <a16:creationId xmlns:a16="http://schemas.microsoft.com/office/drawing/2014/main" id="{9E710241-3779-7943-8F38-E1F56D1CE693}"/>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82176" y="3178832"/>
            <a:ext cx="3013824" cy="500335"/>
          </a:xfrm>
          <a:prstGeom prst="rect">
            <a:avLst/>
          </a:prstGeom>
        </p:spPr>
      </p:pic>
      <p:pic>
        <p:nvPicPr>
          <p:cNvPr id="9" name="Picture 8">
            <a:extLst>
              <a:ext uri="{FF2B5EF4-FFF2-40B4-BE49-F238E27FC236}">
                <a16:creationId xmlns:a16="http://schemas.microsoft.com/office/drawing/2014/main" id="{5976AC22-529F-0C45-BB86-FFB77D5CB214}"/>
              </a:ext>
            </a:extLst>
          </p:cNvPr>
          <p:cNvPicPr>
            <a:picLocks noChangeAspect="1"/>
          </p:cNvPicPr>
          <p:nvPr/>
        </p:nvPicPr>
        <p:blipFill>
          <a:blip r:embed="rId4"/>
          <a:stretch>
            <a:fillRect/>
          </a:stretch>
        </p:blipFill>
        <p:spPr>
          <a:xfrm>
            <a:off x="775938" y="3417921"/>
            <a:ext cx="4191000" cy="3073400"/>
          </a:xfrm>
          <a:prstGeom prst="rect">
            <a:avLst/>
          </a:prstGeom>
        </p:spPr>
      </p:pic>
      <p:pic>
        <p:nvPicPr>
          <p:cNvPr id="10" name="Picture 9">
            <a:extLst>
              <a:ext uri="{FF2B5EF4-FFF2-40B4-BE49-F238E27FC236}">
                <a16:creationId xmlns:a16="http://schemas.microsoft.com/office/drawing/2014/main" id="{82EA9F60-2980-B048-B5BC-7B5CAA6BF178}"/>
              </a:ext>
            </a:extLst>
          </p:cNvPr>
          <p:cNvPicPr>
            <a:picLocks noChangeAspect="1"/>
          </p:cNvPicPr>
          <p:nvPr/>
        </p:nvPicPr>
        <p:blipFill>
          <a:blip r:embed="rId5"/>
          <a:stretch>
            <a:fillRect/>
          </a:stretch>
        </p:blipFill>
        <p:spPr>
          <a:xfrm>
            <a:off x="5461831" y="3417921"/>
            <a:ext cx="4191000" cy="3073400"/>
          </a:xfrm>
          <a:prstGeom prst="rect">
            <a:avLst/>
          </a:prstGeom>
        </p:spPr>
      </p:pic>
    </p:spTree>
    <p:extLst>
      <p:ext uri="{BB962C8B-B14F-4D97-AF65-F5344CB8AC3E}">
        <p14:creationId xmlns:p14="http://schemas.microsoft.com/office/powerpoint/2010/main" val="2123364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0F56E-684B-9E46-0184-D937763BAB2A}"/>
              </a:ext>
            </a:extLst>
          </p:cNvPr>
          <p:cNvSpPr>
            <a:spLocks noGrp="1"/>
          </p:cNvSpPr>
          <p:nvPr>
            <p:ph type="title"/>
          </p:nvPr>
        </p:nvSpPr>
        <p:spPr/>
        <p:txBody>
          <a:bodyPr/>
          <a:lstStyle/>
          <a:p>
            <a:r>
              <a:rPr lang="en-US" dirty="0"/>
              <a:t>MOOSE/BISON Models</a:t>
            </a:r>
          </a:p>
        </p:txBody>
      </p:sp>
      <p:sp>
        <p:nvSpPr>
          <p:cNvPr id="3" name="Content Placeholder 2">
            <a:extLst>
              <a:ext uri="{FF2B5EF4-FFF2-40B4-BE49-F238E27FC236}">
                <a16:creationId xmlns:a16="http://schemas.microsoft.com/office/drawing/2014/main" id="{E608BB7E-77F3-727B-EAA1-B368F937B96F}"/>
              </a:ext>
            </a:extLst>
          </p:cNvPr>
          <p:cNvSpPr>
            <a:spLocks noGrp="1"/>
          </p:cNvSpPr>
          <p:nvPr>
            <p:ph idx="1"/>
          </p:nvPr>
        </p:nvSpPr>
        <p:spPr>
          <a:xfrm>
            <a:off x="609600" y="2160495"/>
            <a:ext cx="5685183" cy="3965670"/>
          </a:xfrm>
        </p:spPr>
        <p:txBody>
          <a:bodyPr>
            <a:normAutofit/>
          </a:bodyPr>
          <a:lstStyle/>
          <a:p>
            <a:r>
              <a:rPr lang="en-US" dirty="0">
                <a:hlinkClick r:id="rId2"/>
              </a:rPr>
              <a:t>https://mooseframework.inl.gov/bison/source/materials/UO2Thermal.html</a:t>
            </a:r>
            <a:endParaRPr lang="en-US" dirty="0"/>
          </a:p>
          <a:p>
            <a:r>
              <a:rPr lang="en-US" dirty="0"/>
              <a:t>Fink-</a:t>
            </a:r>
            <a:r>
              <a:rPr lang="en-US" dirty="0" err="1"/>
              <a:t>Lucuta</a:t>
            </a:r>
            <a:endParaRPr lang="en-US" dirty="0"/>
          </a:p>
          <a:p>
            <a:r>
              <a:rPr lang="en-US" dirty="0"/>
              <a:t>Halden</a:t>
            </a:r>
          </a:p>
          <a:p>
            <a:r>
              <a:rPr lang="en-US" dirty="0"/>
              <a:t>NFIR</a:t>
            </a:r>
          </a:p>
          <a:p>
            <a:r>
              <a:rPr lang="en-US" dirty="0"/>
              <a:t>NFI</a:t>
            </a:r>
          </a:p>
          <a:p>
            <a:r>
              <a:rPr lang="en-US" dirty="0"/>
              <a:t>Ronchi-</a:t>
            </a:r>
            <a:r>
              <a:rPr lang="en-US" dirty="0" err="1"/>
              <a:t>Staicu</a:t>
            </a:r>
            <a:endParaRPr lang="en-US" dirty="0"/>
          </a:p>
          <a:p>
            <a:r>
              <a:rPr lang="en-US" dirty="0" err="1"/>
              <a:t>Toptan</a:t>
            </a:r>
            <a:r>
              <a:rPr lang="en-US" dirty="0"/>
              <a:t> (NCSU alum)</a:t>
            </a:r>
          </a:p>
        </p:txBody>
      </p:sp>
      <p:sp>
        <p:nvSpPr>
          <p:cNvPr id="4" name="Slide Number Placeholder 3">
            <a:extLst>
              <a:ext uri="{FF2B5EF4-FFF2-40B4-BE49-F238E27FC236}">
                <a16:creationId xmlns:a16="http://schemas.microsoft.com/office/drawing/2014/main" id="{D798E50C-9D8E-C5D2-B0DC-E78DA39516F1}"/>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pic>
        <p:nvPicPr>
          <p:cNvPr id="1026" name="Picture 2">
            <a:extLst>
              <a:ext uri="{FF2B5EF4-FFF2-40B4-BE49-F238E27FC236}">
                <a16:creationId xmlns:a16="http://schemas.microsoft.com/office/drawing/2014/main" id="{DDDF0DC7-0811-87A2-B79F-93AA7A5304D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900749" y="2160495"/>
            <a:ext cx="4681651" cy="3755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452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D0FE3-9B84-154C-911C-3D55F7F2098E}"/>
              </a:ext>
            </a:extLst>
          </p:cNvPr>
          <p:cNvSpPr>
            <a:spLocks noGrp="1"/>
          </p:cNvSpPr>
          <p:nvPr>
            <p:ph type="title"/>
          </p:nvPr>
        </p:nvSpPr>
        <p:spPr/>
        <p:txBody>
          <a:bodyPr/>
          <a:lstStyle/>
          <a:p>
            <a:pPr algn="l"/>
            <a:r>
              <a:rPr lang="en-US" dirty="0"/>
              <a:t>Other Physical Changes</a:t>
            </a:r>
          </a:p>
        </p:txBody>
      </p:sp>
      <p:sp>
        <p:nvSpPr>
          <p:cNvPr id="3" name="Content Placeholder 2">
            <a:extLst>
              <a:ext uri="{FF2B5EF4-FFF2-40B4-BE49-F238E27FC236}">
                <a16:creationId xmlns:a16="http://schemas.microsoft.com/office/drawing/2014/main" id="{F4FE3119-4514-4441-BC64-B0004A46E939}"/>
              </a:ext>
            </a:extLst>
          </p:cNvPr>
          <p:cNvSpPr>
            <a:spLocks noGrp="1"/>
          </p:cNvSpPr>
          <p:nvPr>
            <p:ph sz="half" idx="1"/>
          </p:nvPr>
        </p:nvSpPr>
        <p:spPr>
          <a:xfrm>
            <a:off x="609600" y="1968501"/>
            <a:ext cx="5293360" cy="4157663"/>
          </a:xfrm>
        </p:spPr>
        <p:txBody>
          <a:bodyPr/>
          <a:lstStyle/>
          <a:p>
            <a:r>
              <a:rPr lang="en-US" sz="2000" dirty="0"/>
              <a:t>An important effect of radiation damage is the volume increase of the crystal lattice, leading to macroscopic swelling of the fuel material</a:t>
            </a:r>
          </a:p>
          <a:p>
            <a:r>
              <a:rPr lang="en-US" sz="2000" dirty="0"/>
              <a:t>Alpha particle damage alone can cause approximately 0.4% swelling</a:t>
            </a:r>
          </a:p>
          <a:p>
            <a:r>
              <a:rPr lang="en-US" sz="2000" dirty="0"/>
              <a:t>Mechanical properties also vary with damage</a:t>
            </a:r>
          </a:p>
          <a:p>
            <a:r>
              <a:rPr lang="en-US" sz="2000" dirty="0"/>
              <a:t>Hardness increases as a function of dpa</a:t>
            </a:r>
          </a:p>
          <a:p>
            <a:r>
              <a:rPr lang="en-US" sz="2000" dirty="0"/>
              <a:t>Young’s modulus decreases with dpa</a:t>
            </a:r>
          </a:p>
          <a:p>
            <a:endParaRPr lang="en-US" sz="2000" dirty="0"/>
          </a:p>
          <a:p>
            <a:endParaRPr lang="en-US" sz="2000" dirty="0"/>
          </a:p>
        </p:txBody>
      </p:sp>
      <p:sp>
        <p:nvSpPr>
          <p:cNvPr id="5" name="Slide Number Placeholder 4">
            <a:extLst>
              <a:ext uri="{FF2B5EF4-FFF2-40B4-BE49-F238E27FC236}">
                <a16:creationId xmlns:a16="http://schemas.microsoft.com/office/drawing/2014/main" id="{61232C78-AEC2-7543-950C-5BE2E21D9EAB}"/>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7" name="Picture 6">
            <a:extLst>
              <a:ext uri="{FF2B5EF4-FFF2-40B4-BE49-F238E27FC236}">
                <a16:creationId xmlns:a16="http://schemas.microsoft.com/office/drawing/2014/main" id="{203F6D67-D098-534E-BE8E-7E834262E02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57075" y="3348136"/>
            <a:ext cx="3003815" cy="2236884"/>
          </a:xfrm>
          <a:prstGeom prst="rect">
            <a:avLst/>
          </a:prstGeom>
        </p:spPr>
      </p:pic>
      <p:pic>
        <p:nvPicPr>
          <p:cNvPr id="8" name="Picture 7">
            <a:extLst>
              <a:ext uri="{FF2B5EF4-FFF2-40B4-BE49-F238E27FC236}">
                <a16:creationId xmlns:a16="http://schemas.microsoft.com/office/drawing/2014/main" id="{FCE15732-A7E7-6540-807F-7F89C46C670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01660" y="857449"/>
            <a:ext cx="2918460" cy="2448022"/>
          </a:xfrm>
          <a:prstGeom prst="rect">
            <a:avLst/>
          </a:prstGeom>
        </p:spPr>
      </p:pic>
      <p:pic>
        <p:nvPicPr>
          <p:cNvPr id="9" name="Picture 8">
            <a:extLst>
              <a:ext uri="{FF2B5EF4-FFF2-40B4-BE49-F238E27FC236}">
                <a16:creationId xmlns:a16="http://schemas.microsoft.com/office/drawing/2014/main" id="{0CF9D706-B520-DB48-82D5-5F14A99B804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60890" y="3262805"/>
            <a:ext cx="3231109" cy="2335356"/>
          </a:xfrm>
          <a:prstGeom prst="rect">
            <a:avLst/>
          </a:prstGeom>
        </p:spPr>
      </p:pic>
    </p:spTree>
    <p:extLst>
      <p:ext uri="{BB962C8B-B14F-4D97-AF65-F5344CB8AC3E}">
        <p14:creationId xmlns:p14="http://schemas.microsoft.com/office/powerpoint/2010/main" val="2519450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BE65-EA33-1E27-56CE-E2C2B17D9C66}"/>
              </a:ext>
            </a:extLst>
          </p:cNvPr>
          <p:cNvSpPr>
            <a:spLocks noGrp="1"/>
          </p:cNvSpPr>
          <p:nvPr>
            <p:ph type="title"/>
          </p:nvPr>
        </p:nvSpPr>
        <p:spPr/>
        <p:txBody>
          <a:bodyPr/>
          <a:lstStyle/>
          <a:p>
            <a:r>
              <a:rPr lang="en-US" dirty="0"/>
              <a:t>High Burnup Structure (HBS)</a:t>
            </a:r>
          </a:p>
        </p:txBody>
      </p:sp>
      <p:sp>
        <p:nvSpPr>
          <p:cNvPr id="3" name="Content Placeholder 2">
            <a:extLst>
              <a:ext uri="{FF2B5EF4-FFF2-40B4-BE49-F238E27FC236}">
                <a16:creationId xmlns:a16="http://schemas.microsoft.com/office/drawing/2014/main" id="{7E7D6AA5-7E15-D5D2-21E6-D2B97AFB376F}"/>
              </a:ext>
            </a:extLst>
          </p:cNvPr>
          <p:cNvSpPr>
            <a:spLocks noGrp="1"/>
          </p:cNvSpPr>
          <p:nvPr>
            <p:ph idx="1"/>
          </p:nvPr>
        </p:nvSpPr>
        <p:spPr>
          <a:xfrm>
            <a:off x="609599" y="2160495"/>
            <a:ext cx="6984345" cy="3965670"/>
          </a:xfrm>
        </p:spPr>
        <p:txBody>
          <a:bodyPr/>
          <a:lstStyle/>
          <a:p>
            <a:r>
              <a:rPr lang="en-US" sz="2000" dirty="0"/>
              <a:t>At the beginning of the irradiation, the local power is ~10% higher on the pellet periphery, due to self-shielding effect in 235U fissions driven by neutrons entering the rods after interactions in the water</a:t>
            </a:r>
          </a:p>
          <a:p>
            <a:r>
              <a:rPr lang="en-US" sz="2000" dirty="0"/>
              <a:t>With increasing burnup, a strong capture of neutrons by U-238 in the resonance range occurs at the periphery of the fuel</a:t>
            </a:r>
          </a:p>
          <a:p>
            <a:r>
              <a:rPr lang="en-US" sz="2000" dirty="0"/>
              <a:t>This leads to the production of Pu-239, and leads to a higher fissile density and thus a further increase in the local power/burnup</a:t>
            </a:r>
          </a:p>
          <a:p>
            <a:r>
              <a:rPr lang="en-US" sz="2000" dirty="0"/>
              <a:t>This high local burnup area is on the outer ring of the fuel and is about 200 microns thick, which represents about 8% of the fuel </a:t>
            </a:r>
          </a:p>
        </p:txBody>
      </p:sp>
      <p:sp>
        <p:nvSpPr>
          <p:cNvPr id="4" name="Slide Number Placeholder 3">
            <a:extLst>
              <a:ext uri="{FF2B5EF4-FFF2-40B4-BE49-F238E27FC236}">
                <a16:creationId xmlns:a16="http://schemas.microsoft.com/office/drawing/2014/main" id="{3F5D40A2-C122-748D-287A-ABF9B301DAC3}"/>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pic>
        <p:nvPicPr>
          <p:cNvPr id="5" name="Picture 4">
            <a:extLst>
              <a:ext uri="{FF2B5EF4-FFF2-40B4-BE49-F238E27FC236}">
                <a16:creationId xmlns:a16="http://schemas.microsoft.com/office/drawing/2014/main" id="{73FA6F1C-644B-3526-0AF4-93577663AE3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93945" y="2160495"/>
            <a:ext cx="4505289" cy="3519487"/>
          </a:xfrm>
          <a:prstGeom prst="rect">
            <a:avLst/>
          </a:prstGeom>
        </p:spPr>
      </p:pic>
    </p:spTree>
    <p:extLst>
      <p:ext uri="{BB962C8B-B14F-4D97-AF65-F5344CB8AC3E}">
        <p14:creationId xmlns:p14="http://schemas.microsoft.com/office/powerpoint/2010/main" val="3579925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CF0A-FB4F-F14A-9D10-B2D7EF59513F}"/>
              </a:ext>
            </a:extLst>
          </p:cNvPr>
          <p:cNvSpPr>
            <a:spLocks noGrp="1"/>
          </p:cNvSpPr>
          <p:nvPr>
            <p:ph type="title"/>
          </p:nvPr>
        </p:nvSpPr>
        <p:spPr/>
        <p:txBody>
          <a:bodyPr/>
          <a:lstStyle/>
          <a:p>
            <a:r>
              <a:rPr lang="en-US" dirty="0"/>
              <a:t>High Burnup Structure (HBS)</a:t>
            </a:r>
          </a:p>
        </p:txBody>
      </p:sp>
      <p:sp>
        <p:nvSpPr>
          <p:cNvPr id="3" name="Content Placeholder 2">
            <a:extLst>
              <a:ext uri="{FF2B5EF4-FFF2-40B4-BE49-F238E27FC236}">
                <a16:creationId xmlns:a16="http://schemas.microsoft.com/office/drawing/2014/main" id="{1DEF965F-60E3-9840-A7E1-862600FE55A8}"/>
              </a:ext>
            </a:extLst>
          </p:cNvPr>
          <p:cNvSpPr>
            <a:spLocks noGrp="1"/>
          </p:cNvSpPr>
          <p:nvPr>
            <p:ph idx="1"/>
          </p:nvPr>
        </p:nvSpPr>
        <p:spPr>
          <a:xfrm>
            <a:off x="609600" y="2160495"/>
            <a:ext cx="6374295" cy="3965670"/>
          </a:xfrm>
        </p:spPr>
        <p:txBody>
          <a:bodyPr/>
          <a:lstStyle/>
          <a:p>
            <a:r>
              <a:rPr lang="en-US" sz="2000" dirty="0"/>
              <a:t>When thermal recovery is not sufficiently efficient (at lower temperatures), the accumulation of defects at high burnup can lead to the instability of the crystalline structure, initiating a restructuring driven by the energy stored in the material</a:t>
            </a:r>
          </a:p>
          <a:p>
            <a:r>
              <a:rPr lang="en-US" sz="2000" dirty="0"/>
              <a:t>This can be amorphization (not observed in UO2) or recrystallization/polygonization</a:t>
            </a:r>
          </a:p>
          <a:p>
            <a:r>
              <a:rPr lang="en-US" sz="2000" dirty="0"/>
              <a:t>Polygonization is the rearrangement of dislocations into sub-domain walls with slightly misaligned grains</a:t>
            </a:r>
          </a:p>
          <a:p>
            <a:r>
              <a:rPr lang="en-US" sz="2000" dirty="0"/>
              <a:t>In UO2, grains subdivide from 10 microns in size to 100-200 nm size, and a densely porous structure is formed (~20% porosity)</a:t>
            </a:r>
          </a:p>
          <a:p>
            <a:endParaRPr lang="en-US" sz="2000" dirty="0"/>
          </a:p>
        </p:txBody>
      </p:sp>
      <p:sp>
        <p:nvSpPr>
          <p:cNvPr id="4" name="Slide Number Placeholder 3">
            <a:extLst>
              <a:ext uri="{FF2B5EF4-FFF2-40B4-BE49-F238E27FC236}">
                <a16:creationId xmlns:a16="http://schemas.microsoft.com/office/drawing/2014/main" id="{BB5BCB2B-E992-4441-95C8-78A017C7D93C}"/>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pic>
        <p:nvPicPr>
          <p:cNvPr id="5" name="Picture 4">
            <a:extLst>
              <a:ext uri="{FF2B5EF4-FFF2-40B4-BE49-F238E27FC236}">
                <a16:creationId xmlns:a16="http://schemas.microsoft.com/office/drawing/2014/main" id="{FBBCBAF5-E9B2-7248-9AE1-49352A7604D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110598" y="2571267"/>
            <a:ext cx="5081402" cy="2623585"/>
          </a:xfrm>
          <a:prstGeom prst="rect">
            <a:avLst/>
          </a:prstGeom>
        </p:spPr>
      </p:pic>
    </p:spTree>
    <p:extLst>
      <p:ext uri="{BB962C8B-B14F-4D97-AF65-F5344CB8AC3E}">
        <p14:creationId xmlns:p14="http://schemas.microsoft.com/office/powerpoint/2010/main" val="1011576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BC53A-0044-E74B-AB34-073F51252D99}"/>
              </a:ext>
            </a:extLst>
          </p:cNvPr>
          <p:cNvSpPr>
            <a:spLocks noGrp="1"/>
          </p:cNvSpPr>
          <p:nvPr>
            <p:ph type="title"/>
          </p:nvPr>
        </p:nvSpPr>
        <p:spPr/>
        <p:txBody>
          <a:bodyPr/>
          <a:lstStyle/>
          <a:p>
            <a:r>
              <a:rPr lang="en-US" dirty="0"/>
              <a:t>High Burnup Structure (HBS)</a:t>
            </a:r>
          </a:p>
        </p:txBody>
      </p:sp>
      <p:sp>
        <p:nvSpPr>
          <p:cNvPr id="3" name="Content Placeholder 2">
            <a:extLst>
              <a:ext uri="{FF2B5EF4-FFF2-40B4-BE49-F238E27FC236}">
                <a16:creationId xmlns:a16="http://schemas.microsoft.com/office/drawing/2014/main" id="{1993DC90-CC3F-2D46-ABBB-95604395731F}"/>
              </a:ext>
            </a:extLst>
          </p:cNvPr>
          <p:cNvSpPr>
            <a:spLocks noGrp="1"/>
          </p:cNvSpPr>
          <p:nvPr>
            <p:ph idx="1"/>
          </p:nvPr>
        </p:nvSpPr>
        <p:spPr>
          <a:xfrm>
            <a:off x="609600" y="2160495"/>
            <a:ext cx="5825924" cy="3965670"/>
          </a:xfrm>
        </p:spPr>
        <p:txBody>
          <a:bodyPr/>
          <a:lstStyle/>
          <a:p>
            <a:r>
              <a:rPr lang="en-US" sz="2000" dirty="0"/>
              <a:t>The increase of the relative porosity volume degrades the material conductivity and reduces the mean grain size</a:t>
            </a:r>
          </a:p>
          <a:p>
            <a:r>
              <a:rPr lang="en-US" sz="2000" dirty="0"/>
              <a:t>On the other hand, the intragranular irradiation defect-cleaning improves the fuel intrinsic thermal conductivity</a:t>
            </a:r>
          </a:p>
          <a:p>
            <a:r>
              <a:rPr lang="en-US" sz="2000" dirty="0"/>
              <a:t>Fission gas in HBS bubble is retained, not released</a:t>
            </a:r>
          </a:p>
          <a:p>
            <a:r>
              <a:rPr lang="en-US" sz="2000" dirty="0"/>
              <a:t>Exact mechanism of HBS formation is not fully understood, believe to be polygonization, interacting with fission gas bubbles, dislocation growth, and high levels of energy deposition</a:t>
            </a:r>
          </a:p>
          <a:p>
            <a:endParaRPr lang="en-US" sz="2000" dirty="0"/>
          </a:p>
        </p:txBody>
      </p:sp>
      <p:sp>
        <p:nvSpPr>
          <p:cNvPr id="4" name="Slide Number Placeholder 3">
            <a:extLst>
              <a:ext uri="{FF2B5EF4-FFF2-40B4-BE49-F238E27FC236}">
                <a16:creationId xmlns:a16="http://schemas.microsoft.com/office/drawing/2014/main" id="{EE9D85E4-BA66-354B-9C43-D5865BAE4DDE}"/>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a:p>
        </p:txBody>
      </p:sp>
      <p:pic>
        <p:nvPicPr>
          <p:cNvPr id="5" name="Picture 4">
            <a:extLst>
              <a:ext uri="{FF2B5EF4-FFF2-40B4-BE49-F238E27FC236}">
                <a16:creationId xmlns:a16="http://schemas.microsoft.com/office/drawing/2014/main" id="{49F41BE0-6844-054D-9C3D-11E7D80FABF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5469366" y="3270679"/>
            <a:ext cx="4691364" cy="1845104"/>
          </a:xfrm>
          <a:prstGeom prst="rect">
            <a:avLst/>
          </a:prstGeom>
        </p:spPr>
      </p:pic>
      <p:pic>
        <p:nvPicPr>
          <p:cNvPr id="6" name="Picture 5">
            <a:extLst>
              <a:ext uri="{FF2B5EF4-FFF2-40B4-BE49-F238E27FC236}">
                <a16:creationId xmlns:a16="http://schemas.microsoft.com/office/drawing/2014/main" id="{5A3D81E5-FE66-954A-BF79-8BA494556A9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831895" y="2708475"/>
            <a:ext cx="3051205" cy="2250151"/>
          </a:xfrm>
          <a:prstGeom prst="rect">
            <a:avLst/>
          </a:prstGeom>
        </p:spPr>
      </p:pic>
    </p:spTree>
    <p:extLst>
      <p:ext uri="{BB962C8B-B14F-4D97-AF65-F5344CB8AC3E}">
        <p14:creationId xmlns:p14="http://schemas.microsoft.com/office/powerpoint/2010/main" val="1121759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1FB7-A422-CC47-3EB9-B1E9E8DEC9C5}"/>
              </a:ext>
            </a:extLst>
          </p:cNvPr>
          <p:cNvSpPr>
            <a:spLocks noGrp="1"/>
          </p:cNvSpPr>
          <p:nvPr>
            <p:ph type="title"/>
          </p:nvPr>
        </p:nvSpPr>
        <p:spPr/>
        <p:txBody>
          <a:bodyPr/>
          <a:lstStyle/>
          <a:p>
            <a:r>
              <a:rPr lang="en-US" dirty="0"/>
              <a:t>High Burnup Structure (HBS)</a:t>
            </a:r>
          </a:p>
        </p:txBody>
      </p:sp>
      <p:sp>
        <p:nvSpPr>
          <p:cNvPr id="3" name="Content Placeholder 2">
            <a:extLst>
              <a:ext uri="{FF2B5EF4-FFF2-40B4-BE49-F238E27FC236}">
                <a16:creationId xmlns:a16="http://schemas.microsoft.com/office/drawing/2014/main" id="{9095C1C5-DC4A-95FC-775C-721033291ECD}"/>
              </a:ext>
            </a:extLst>
          </p:cNvPr>
          <p:cNvSpPr>
            <a:spLocks noGrp="1"/>
          </p:cNvSpPr>
          <p:nvPr>
            <p:ph idx="1"/>
          </p:nvPr>
        </p:nvSpPr>
        <p:spPr>
          <a:xfrm>
            <a:off x="609600" y="2160495"/>
            <a:ext cx="6506817" cy="3965670"/>
          </a:xfrm>
        </p:spPr>
        <p:txBody>
          <a:bodyPr/>
          <a:lstStyle/>
          <a:p>
            <a:r>
              <a:rPr lang="en-US" sz="2000" dirty="0"/>
              <a:t>HBS has a high fission gas retention capacity, and does not evolve toward an open system of interconnected channels, even when porosity reaches very high values</a:t>
            </a:r>
          </a:p>
          <a:p>
            <a:r>
              <a:rPr lang="en-US" sz="2000" dirty="0"/>
              <a:t>Thus, the HBS is a relatively stable structure, limiting pressure increase in the plenum</a:t>
            </a:r>
          </a:p>
          <a:p>
            <a:r>
              <a:rPr lang="en-US" sz="2000" dirty="0"/>
              <a:t>While burnup is higher in the rim region, the HBS polygonization removes/sweeps defects to new grain boundaries, removing some phonon scatterers</a:t>
            </a:r>
          </a:p>
          <a:p>
            <a:r>
              <a:rPr lang="en-US" sz="2000" dirty="0"/>
              <a:t>Despite high porosity, thermal conductivity increases, slightly decreasing centerline temperatures in high burnup fuel</a:t>
            </a:r>
          </a:p>
        </p:txBody>
      </p:sp>
      <p:sp>
        <p:nvSpPr>
          <p:cNvPr id="4" name="Slide Number Placeholder 3">
            <a:extLst>
              <a:ext uri="{FF2B5EF4-FFF2-40B4-BE49-F238E27FC236}">
                <a16:creationId xmlns:a16="http://schemas.microsoft.com/office/drawing/2014/main" id="{A00B1FEA-7CDB-4C28-CDE5-8C02897913E5}"/>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a:p>
        </p:txBody>
      </p:sp>
      <p:pic>
        <p:nvPicPr>
          <p:cNvPr id="5" name="Picture 4">
            <a:extLst>
              <a:ext uri="{FF2B5EF4-FFF2-40B4-BE49-F238E27FC236}">
                <a16:creationId xmlns:a16="http://schemas.microsoft.com/office/drawing/2014/main" id="{D0419B49-BF83-C00D-78FA-752813401A0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761111" y="2074829"/>
            <a:ext cx="3821289" cy="2550829"/>
          </a:xfrm>
          <a:prstGeom prst="rect">
            <a:avLst/>
          </a:prstGeom>
        </p:spPr>
      </p:pic>
      <p:pic>
        <p:nvPicPr>
          <p:cNvPr id="6" name="Picture 5">
            <a:extLst>
              <a:ext uri="{FF2B5EF4-FFF2-40B4-BE49-F238E27FC236}">
                <a16:creationId xmlns:a16="http://schemas.microsoft.com/office/drawing/2014/main" id="{FA6D0638-F448-C209-51D4-B99C2D476A7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198431" y="4625658"/>
            <a:ext cx="2946647" cy="1928184"/>
          </a:xfrm>
          <a:prstGeom prst="rect">
            <a:avLst/>
          </a:prstGeom>
        </p:spPr>
      </p:pic>
    </p:spTree>
    <p:extLst>
      <p:ext uri="{BB962C8B-B14F-4D97-AF65-F5344CB8AC3E}">
        <p14:creationId xmlns:p14="http://schemas.microsoft.com/office/powerpoint/2010/main" val="2496151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C7CAA-C15D-A23E-A5D9-0DBFBEF7E9EE}"/>
              </a:ext>
            </a:extLst>
          </p:cNvPr>
          <p:cNvSpPr>
            <a:spLocks noGrp="1"/>
          </p:cNvSpPr>
          <p:nvPr>
            <p:ph type="title"/>
          </p:nvPr>
        </p:nvSpPr>
        <p:spPr/>
        <p:txBody>
          <a:bodyPr/>
          <a:lstStyle/>
          <a:p>
            <a:r>
              <a:rPr lang="en-US" dirty="0"/>
              <a:t>Radiation Effects Summary</a:t>
            </a:r>
          </a:p>
        </p:txBody>
      </p:sp>
      <p:sp>
        <p:nvSpPr>
          <p:cNvPr id="3" name="Content Placeholder 2">
            <a:extLst>
              <a:ext uri="{FF2B5EF4-FFF2-40B4-BE49-F238E27FC236}">
                <a16:creationId xmlns:a16="http://schemas.microsoft.com/office/drawing/2014/main" id="{82A9D1E5-B8B5-EB31-B642-DFCB5E5FD494}"/>
              </a:ext>
            </a:extLst>
          </p:cNvPr>
          <p:cNvSpPr>
            <a:spLocks noGrp="1"/>
          </p:cNvSpPr>
          <p:nvPr>
            <p:ph idx="1"/>
          </p:nvPr>
        </p:nvSpPr>
        <p:spPr/>
        <p:txBody>
          <a:bodyPr>
            <a:normAutofit/>
          </a:bodyPr>
          <a:lstStyle/>
          <a:p>
            <a:r>
              <a:rPr lang="en-US" dirty="0"/>
              <a:t>Formation of loops of voids as primary defect clusters</a:t>
            </a:r>
          </a:p>
          <a:p>
            <a:r>
              <a:rPr lang="en-US" dirty="0"/>
              <a:t>Radiation effects include both chemistry and physical property changes</a:t>
            </a:r>
          </a:p>
          <a:p>
            <a:r>
              <a:rPr lang="en-US" dirty="0"/>
              <a:t>One of the key physical properties modified is the thermal conductivity</a:t>
            </a:r>
          </a:p>
          <a:p>
            <a:pPr lvl="1"/>
            <a:r>
              <a:rPr lang="en-US" dirty="0"/>
              <a:t>have several empirical (and mechanistic) models to account for burnup and temperature</a:t>
            </a:r>
          </a:p>
          <a:p>
            <a:r>
              <a:rPr lang="en-US" dirty="0"/>
              <a:t>HBS forms towards the end of life, generating a fine-grained structure with high porosity</a:t>
            </a:r>
          </a:p>
          <a:p>
            <a:r>
              <a:rPr lang="en-US" dirty="0"/>
              <a:t>HBS retains fission gas and slightly increases thermal conductivity</a:t>
            </a:r>
          </a:p>
          <a:p>
            <a:endParaRPr lang="en-US" dirty="0"/>
          </a:p>
        </p:txBody>
      </p:sp>
      <p:sp>
        <p:nvSpPr>
          <p:cNvPr id="4" name="Slide Number Placeholder 3">
            <a:extLst>
              <a:ext uri="{FF2B5EF4-FFF2-40B4-BE49-F238E27FC236}">
                <a16:creationId xmlns:a16="http://schemas.microsoft.com/office/drawing/2014/main" id="{CB048CE9-A7E5-9148-B3CB-661558CEE3A2}"/>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spTree>
    <p:extLst>
      <p:ext uri="{BB962C8B-B14F-4D97-AF65-F5344CB8AC3E}">
        <p14:creationId xmlns:p14="http://schemas.microsoft.com/office/powerpoint/2010/main" val="1037887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9CC1-34E4-A34F-8621-801D8886CE7C}"/>
              </a:ext>
            </a:extLst>
          </p:cNvPr>
          <p:cNvSpPr>
            <a:spLocks noGrp="1"/>
          </p:cNvSpPr>
          <p:nvPr>
            <p:ph type="title"/>
          </p:nvPr>
        </p:nvSpPr>
        <p:spPr>
          <a:xfrm>
            <a:off x="963084" y="1234721"/>
            <a:ext cx="10363200" cy="1362075"/>
          </a:xfrm>
        </p:spPr>
        <p:txBody>
          <a:bodyPr/>
          <a:lstStyle/>
          <a:p>
            <a:r>
              <a:rPr lang="en-US" dirty="0"/>
              <a:t>mechanistic modeling</a:t>
            </a:r>
          </a:p>
        </p:txBody>
      </p:sp>
      <p:sp>
        <p:nvSpPr>
          <p:cNvPr id="4" name="Slide Number Placeholder 3">
            <a:extLst>
              <a:ext uri="{FF2B5EF4-FFF2-40B4-BE49-F238E27FC236}">
                <a16:creationId xmlns:a16="http://schemas.microsoft.com/office/drawing/2014/main" id="{2BFF06B0-02C9-F34D-82A4-D2D5BBAF68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6BD0F-ABBC-C14D-BC96-77BE126A748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34296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ACA9B-E34F-1D42-B710-64EFE35C2A13}"/>
              </a:ext>
            </a:extLst>
          </p:cNvPr>
          <p:cNvSpPr>
            <a:spLocks noGrp="1"/>
          </p:cNvSpPr>
          <p:nvPr>
            <p:ph type="title"/>
          </p:nvPr>
        </p:nvSpPr>
        <p:spPr/>
        <p:txBody>
          <a:bodyPr/>
          <a:lstStyle/>
          <a:p>
            <a:r>
              <a:rPr lang="en-US" dirty="0"/>
              <a:t>Microstructure-based fuel performance modeling</a:t>
            </a:r>
          </a:p>
        </p:txBody>
      </p:sp>
      <p:sp>
        <p:nvSpPr>
          <p:cNvPr id="4" name="Slide Number Placeholder 3">
            <a:extLst>
              <a:ext uri="{FF2B5EF4-FFF2-40B4-BE49-F238E27FC236}">
                <a16:creationId xmlns:a16="http://schemas.microsoft.com/office/drawing/2014/main" id="{4F349795-898F-6B4F-92BE-024F386767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05B15442-8E87-5348-92DA-C67B679478EB}"/>
              </a:ext>
            </a:extLst>
          </p:cNvPr>
          <p:cNvSpPr txBox="1"/>
          <p:nvPr/>
        </p:nvSpPr>
        <p:spPr>
          <a:xfrm>
            <a:off x="1744386" y="2100648"/>
            <a:ext cx="1280583" cy="523220"/>
          </a:xfrm>
          <a:prstGeom prst="rect">
            <a:avLst/>
          </a:prstGeom>
          <a:solidFill>
            <a:schemeClr val="lt1">
              <a:alpha val="76000"/>
            </a:schemeClr>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F81BD"/>
                </a:solidFill>
                <a:effectLst/>
                <a:uLnTx/>
                <a:uFillTx/>
                <a:latin typeface="Arial" charset="0"/>
                <a:ea typeface="ＭＳ Ｐゴシック" charset="0"/>
              </a:rPr>
              <a:t>Operating Conditions</a:t>
            </a:r>
            <a:endParaRPr kumimoji="0" lang="en-US" sz="1400" b="0" i="0" u="none" strike="noStrike" kern="1200" cap="none" spc="0" normalizeH="0" baseline="0" noProof="0" dirty="0">
              <a:ln>
                <a:noFill/>
              </a:ln>
              <a:solidFill>
                <a:srgbClr val="4F81BD"/>
              </a:solidFill>
              <a:effectLst/>
              <a:uLnTx/>
              <a:uFillTx/>
              <a:latin typeface="Arial" charset="0"/>
              <a:ea typeface="ＭＳ Ｐゴシック" charset="0"/>
            </a:endParaRPr>
          </a:p>
        </p:txBody>
      </p:sp>
      <p:sp>
        <p:nvSpPr>
          <p:cNvPr id="23" name="Rounded Rectangle 22">
            <a:extLst>
              <a:ext uri="{FF2B5EF4-FFF2-40B4-BE49-F238E27FC236}">
                <a16:creationId xmlns:a16="http://schemas.microsoft.com/office/drawing/2014/main" id="{372E11C6-F71C-FB4C-AFE4-998E6FD8D83F}"/>
              </a:ext>
            </a:extLst>
          </p:cNvPr>
          <p:cNvSpPr/>
          <p:nvPr/>
        </p:nvSpPr>
        <p:spPr bwMode="auto">
          <a:xfrm>
            <a:off x="3039786" y="2168787"/>
            <a:ext cx="1185334" cy="363086"/>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Neutron flux</a:t>
            </a:r>
          </a:p>
        </p:txBody>
      </p:sp>
      <p:sp>
        <p:nvSpPr>
          <p:cNvPr id="24" name="TextBox 23">
            <a:extLst>
              <a:ext uri="{FF2B5EF4-FFF2-40B4-BE49-F238E27FC236}">
                <a16:creationId xmlns:a16="http://schemas.microsoft.com/office/drawing/2014/main" id="{3FB621F0-0798-1641-A4A4-012AFD80D5FF}"/>
              </a:ext>
            </a:extLst>
          </p:cNvPr>
          <p:cNvSpPr txBox="1"/>
          <p:nvPr/>
        </p:nvSpPr>
        <p:spPr>
          <a:xfrm>
            <a:off x="5325786" y="2168787"/>
            <a:ext cx="1121303" cy="307777"/>
          </a:xfrm>
          <a:prstGeom prst="rect">
            <a:avLst/>
          </a:prstGeom>
          <a:solidFill>
            <a:schemeClr val="lt1">
              <a:alpha val="76000"/>
            </a:schemeClr>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F81BD"/>
                </a:solidFill>
                <a:effectLst/>
                <a:uLnTx/>
                <a:uFillTx/>
                <a:latin typeface="Arial" charset="0"/>
                <a:ea typeface="ＭＳ Ｐゴシック" charset="0"/>
              </a:rPr>
              <a:t>Variables</a:t>
            </a:r>
            <a:endParaRPr kumimoji="0" lang="en-US" sz="1400" b="0" i="0" u="none" strike="noStrike" kern="1200" cap="none" spc="0" normalizeH="0" baseline="0" noProof="0" dirty="0">
              <a:ln>
                <a:noFill/>
              </a:ln>
              <a:solidFill>
                <a:srgbClr val="4F81BD"/>
              </a:solidFill>
              <a:effectLst/>
              <a:uLnTx/>
              <a:uFillTx/>
              <a:latin typeface="Arial" charset="0"/>
              <a:ea typeface="ＭＳ Ｐゴシック" charset="0"/>
            </a:endParaRPr>
          </a:p>
        </p:txBody>
      </p:sp>
      <p:sp>
        <p:nvSpPr>
          <p:cNvPr id="25" name="Rounded Rectangle 24">
            <a:extLst>
              <a:ext uri="{FF2B5EF4-FFF2-40B4-BE49-F238E27FC236}">
                <a16:creationId xmlns:a16="http://schemas.microsoft.com/office/drawing/2014/main" id="{902A1030-6392-4243-8B54-4DBEAFB60ABF}"/>
              </a:ext>
            </a:extLst>
          </p:cNvPr>
          <p:cNvSpPr/>
          <p:nvPr/>
        </p:nvSpPr>
        <p:spPr bwMode="auto">
          <a:xfrm>
            <a:off x="6415446" y="2161664"/>
            <a:ext cx="1280160" cy="363086"/>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Temperature</a:t>
            </a:r>
          </a:p>
        </p:txBody>
      </p:sp>
      <p:sp>
        <p:nvSpPr>
          <p:cNvPr id="26" name="Rounded Rectangle 25">
            <a:extLst>
              <a:ext uri="{FF2B5EF4-FFF2-40B4-BE49-F238E27FC236}">
                <a16:creationId xmlns:a16="http://schemas.microsoft.com/office/drawing/2014/main" id="{86538642-78D8-ED41-8D83-268F81FAB3CB}"/>
              </a:ext>
            </a:extLst>
          </p:cNvPr>
          <p:cNvSpPr/>
          <p:nvPr/>
        </p:nvSpPr>
        <p:spPr bwMode="auto">
          <a:xfrm>
            <a:off x="7774852" y="2162920"/>
            <a:ext cx="1280160" cy="363086"/>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Displacement</a:t>
            </a:r>
          </a:p>
        </p:txBody>
      </p:sp>
      <p:sp>
        <p:nvSpPr>
          <p:cNvPr id="27" name="Rounded Rectangle 26">
            <a:extLst>
              <a:ext uri="{FF2B5EF4-FFF2-40B4-BE49-F238E27FC236}">
                <a16:creationId xmlns:a16="http://schemas.microsoft.com/office/drawing/2014/main" id="{2E13482A-E7FC-A944-8186-A87327747E7B}"/>
              </a:ext>
            </a:extLst>
          </p:cNvPr>
          <p:cNvSpPr/>
          <p:nvPr/>
        </p:nvSpPr>
        <p:spPr bwMode="auto">
          <a:xfrm>
            <a:off x="9134258" y="2162920"/>
            <a:ext cx="1280160" cy="363086"/>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Stoichiometry</a:t>
            </a:r>
          </a:p>
        </p:txBody>
      </p:sp>
      <p:sp>
        <p:nvSpPr>
          <p:cNvPr id="28" name="Rounded Rectangle 27">
            <a:extLst>
              <a:ext uri="{FF2B5EF4-FFF2-40B4-BE49-F238E27FC236}">
                <a16:creationId xmlns:a16="http://schemas.microsoft.com/office/drawing/2014/main" id="{B92283D6-195E-3346-B3CE-738D63E9ED93}"/>
              </a:ext>
            </a:extLst>
          </p:cNvPr>
          <p:cNvSpPr/>
          <p:nvPr/>
        </p:nvSpPr>
        <p:spPr bwMode="auto">
          <a:xfrm>
            <a:off x="4292852" y="2168787"/>
            <a:ext cx="1185334" cy="363086"/>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Coolant T&amp;P</a:t>
            </a:r>
          </a:p>
        </p:txBody>
      </p:sp>
      <p:pic>
        <p:nvPicPr>
          <p:cNvPr id="29" name="Picture 7" descr="temp_3Dslice.png">
            <a:extLst>
              <a:ext uri="{FF2B5EF4-FFF2-40B4-BE49-F238E27FC236}">
                <a16:creationId xmlns:a16="http://schemas.microsoft.com/office/drawing/2014/main" id="{8CCB59EF-A4E0-A74C-AA4E-3B7D54AB0B27}"/>
              </a:ext>
            </a:extLst>
          </p:cNvPr>
          <p:cNvPicPr>
            <a:picLocks noChangeAspect="1"/>
          </p:cNvPicPr>
          <p:nvPr/>
        </p:nvPicPr>
        <p:blipFill>
          <a:blip r:embed="rId2" cstate="screen">
            <a:alphaModFix amt="49000"/>
            <a:extLst>
              <a:ext uri="{28A0092B-C50C-407E-A947-70E740481C1C}">
                <a14:useLocalDpi xmlns:a14="http://schemas.microsoft.com/office/drawing/2010/main"/>
              </a:ext>
            </a:extLst>
          </a:blip>
          <a:srcRect/>
          <a:stretch>
            <a:fillRect/>
          </a:stretch>
        </p:blipFill>
        <p:spPr bwMode="auto">
          <a:xfrm>
            <a:off x="5313497" y="2689324"/>
            <a:ext cx="1621446" cy="3237703"/>
          </a:xfrm>
          <a:prstGeom prst="rect">
            <a:avLst/>
          </a:prstGeom>
          <a:noFill/>
          <a:ln>
            <a:noFill/>
          </a:ln>
          <a:extLst>
            <a:ext uri="{909E8E84-426E-40dd-AFC4-6F175D3DCCD1}">
              <a14:hiddenFill xmlns="" xmlns:a14="http://schemas.microsoft.com/office/drawing/2010/main">
                <a:solidFill>
                  <a:srgbClr val="FFFFFF">
                    <a:alpha val="49001"/>
                  </a:srgbClr>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30" name="Group 29">
            <a:extLst>
              <a:ext uri="{FF2B5EF4-FFF2-40B4-BE49-F238E27FC236}">
                <a16:creationId xmlns:a16="http://schemas.microsoft.com/office/drawing/2014/main" id="{534F30DB-728E-AA40-BCB6-C072D4D70636}"/>
              </a:ext>
            </a:extLst>
          </p:cNvPr>
          <p:cNvGrpSpPr/>
          <p:nvPr/>
        </p:nvGrpSpPr>
        <p:grpSpPr>
          <a:xfrm>
            <a:off x="3393784" y="2623868"/>
            <a:ext cx="5767635" cy="4043220"/>
            <a:chOff x="1724010" y="2195664"/>
            <a:chExt cx="5767635" cy="4043220"/>
          </a:xfrm>
        </p:grpSpPr>
        <p:pic>
          <p:nvPicPr>
            <p:cNvPr id="31" name="Picture 30">
              <a:extLst>
                <a:ext uri="{FF2B5EF4-FFF2-40B4-BE49-F238E27FC236}">
                  <a16:creationId xmlns:a16="http://schemas.microsoft.com/office/drawing/2014/main" id="{7592C8DF-9A42-FD4F-BF81-3DD80F22B4E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471526" y="2195664"/>
              <a:ext cx="898281" cy="821553"/>
            </a:xfrm>
            <a:prstGeom prst="rect">
              <a:avLst/>
            </a:prstGeom>
            <a:ln>
              <a:solidFill>
                <a:schemeClr val="tx2"/>
              </a:solidFill>
            </a:ln>
          </p:spPr>
        </p:pic>
        <p:cxnSp>
          <p:nvCxnSpPr>
            <p:cNvPr id="32" name="Straight Connector 31">
              <a:extLst>
                <a:ext uri="{FF2B5EF4-FFF2-40B4-BE49-F238E27FC236}">
                  <a16:creationId xmlns:a16="http://schemas.microsoft.com/office/drawing/2014/main" id="{6068BD40-E29F-8740-BA15-A114AA533898}"/>
                </a:ext>
              </a:extLst>
            </p:cNvPr>
            <p:cNvCxnSpPr/>
            <p:nvPr/>
          </p:nvCxnSpPr>
          <p:spPr>
            <a:xfrm flipH="1">
              <a:off x="4754286" y="2195664"/>
              <a:ext cx="702027" cy="87514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8AA7950-68B6-F540-AF8C-63B2F5936A40}"/>
                </a:ext>
              </a:extLst>
            </p:cNvPr>
            <p:cNvCxnSpPr/>
            <p:nvPr/>
          </p:nvCxnSpPr>
          <p:spPr>
            <a:xfrm flipH="1">
              <a:off x="4754285" y="3017218"/>
              <a:ext cx="702028" cy="470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34" name="Image 53">
              <a:extLst>
                <a:ext uri="{FF2B5EF4-FFF2-40B4-BE49-F238E27FC236}">
                  <a16:creationId xmlns:a16="http://schemas.microsoft.com/office/drawing/2014/main" id="{7E6DFCEE-26F4-0B41-A319-E6C4D5954A2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364839" y="2195664"/>
              <a:ext cx="1016417" cy="782009"/>
            </a:xfrm>
            <a:prstGeom prst="rect">
              <a:avLst/>
            </a:prstGeom>
            <a:ln>
              <a:solidFill>
                <a:srgbClr val="800000"/>
              </a:solidFill>
            </a:ln>
          </p:spPr>
        </p:pic>
        <p:cxnSp>
          <p:nvCxnSpPr>
            <p:cNvPr id="35" name="Straight Connector 34">
              <a:extLst>
                <a:ext uri="{FF2B5EF4-FFF2-40B4-BE49-F238E27FC236}">
                  <a16:creationId xmlns:a16="http://schemas.microsoft.com/office/drawing/2014/main" id="{D27E5CF1-F405-1045-90C4-2F296F18D958}"/>
                </a:ext>
              </a:extLst>
            </p:cNvPr>
            <p:cNvCxnSpPr/>
            <p:nvPr/>
          </p:nvCxnSpPr>
          <p:spPr>
            <a:xfrm>
              <a:off x="3381257" y="2195664"/>
              <a:ext cx="372839" cy="710641"/>
            </a:xfrm>
            <a:prstGeom prst="line">
              <a:avLst/>
            </a:prstGeom>
            <a:ln>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B54E16D-F5F2-4943-AA58-5884E514D5BF}"/>
                </a:ext>
              </a:extLst>
            </p:cNvPr>
            <p:cNvCxnSpPr/>
            <p:nvPr/>
          </p:nvCxnSpPr>
          <p:spPr>
            <a:xfrm flipH="1">
              <a:off x="3381256" y="2906305"/>
              <a:ext cx="372840" cy="71368"/>
            </a:xfrm>
            <a:prstGeom prst="line">
              <a:avLst/>
            </a:prstGeom>
            <a:ln>
              <a:solidFill>
                <a:srgbClr val="80000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04AABB5-CF0E-D141-A27E-970F53733E8E}"/>
                </a:ext>
              </a:extLst>
            </p:cNvPr>
            <p:cNvSpPr txBox="1"/>
            <p:nvPr/>
          </p:nvSpPr>
          <p:spPr>
            <a:xfrm>
              <a:off x="5265169" y="3064225"/>
              <a:ext cx="2226476" cy="28931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1F497D"/>
                </a:buClr>
                <a:buSzTx/>
                <a:buFontTx/>
                <a:buNone/>
                <a:tabLst/>
                <a:defRPr/>
              </a:pPr>
              <a:r>
                <a:rPr kumimoji="0" lang="en-US" sz="1400" b="1" i="0" u="none" strike="noStrike" kern="1200" cap="none" spc="0" normalizeH="0" baseline="0" noProof="0" dirty="0">
                  <a:ln>
                    <a:noFill/>
                  </a:ln>
                  <a:solidFill>
                    <a:srgbClr val="1F497D"/>
                  </a:solidFill>
                  <a:effectLst/>
                  <a:uLnTx/>
                  <a:uFillTx/>
                  <a:latin typeface="Calibri"/>
                  <a:ea typeface="+mn-ea"/>
                  <a:cs typeface="+mn-cs"/>
                </a:rPr>
                <a:t>Fuel</a:t>
              </a:r>
            </a:p>
            <a:p>
              <a:pPr marL="0" marR="0" lvl="0" indent="0" algn="l" defTabSz="914400" rtl="0" eaLnBrk="1" fontAlgn="auto" latinLnBrk="0" hangingPunct="1">
                <a:lnSpc>
                  <a:spcPct val="100000"/>
                </a:lnSpc>
                <a:spcBef>
                  <a:spcPts val="0"/>
                </a:spcBef>
                <a:spcAft>
                  <a:spcPts val="0"/>
                </a:spcAft>
                <a:buClr>
                  <a:srgbClr val="1F497D"/>
                </a:buClr>
                <a:buSzTx/>
                <a:buFontTx/>
                <a:buNone/>
                <a:tabLst/>
                <a:defRPr/>
              </a:pPr>
              <a:r>
                <a:rPr kumimoji="0" lang="en-US" sz="1400" b="1" i="0" u="none" strike="noStrike" kern="1200" cap="none" spc="0" normalizeH="0" baseline="0" noProof="0" dirty="0">
                  <a:ln>
                    <a:noFill/>
                  </a:ln>
                  <a:solidFill>
                    <a:srgbClr val="1F497D"/>
                  </a:solidFill>
                  <a:effectLst/>
                  <a:uLnTx/>
                  <a:uFillTx/>
                  <a:latin typeface="Calibri"/>
                  <a:ea typeface="+mn-ea"/>
                  <a:cs typeface="+mn-cs"/>
                </a:rPr>
                <a:t>Microstructure variables</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Average grain size</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Dislocation density</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U defect concentrations</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err="1">
                  <a:ln>
                    <a:noFill/>
                  </a:ln>
                  <a:solidFill>
                    <a:prstClr val="black"/>
                  </a:solidFill>
                  <a:effectLst/>
                  <a:uLnTx/>
                  <a:uFillTx/>
                  <a:latin typeface="Calibri"/>
                  <a:ea typeface="+mn-ea"/>
                  <a:cs typeface="+mn-cs"/>
                </a:rPr>
                <a:t>Pu</a:t>
              </a:r>
              <a:r>
                <a:rPr kumimoji="0" lang="en-US" sz="1400" b="0" i="0" u="none" strike="noStrike" kern="1200" cap="none" spc="0" normalizeH="0" baseline="0" noProof="0" dirty="0">
                  <a:ln>
                    <a:noFill/>
                  </a:ln>
                  <a:solidFill>
                    <a:prstClr val="black"/>
                  </a:solidFill>
                  <a:effectLst/>
                  <a:uLnTx/>
                  <a:uFillTx/>
                  <a:latin typeface="Calibri"/>
                  <a:ea typeface="+mn-ea"/>
                  <a:cs typeface="+mn-cs"/>
                </a:rPr>
                <a:t> concentration</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Fission product precipitate fractions</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Dissolved fission products</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Fission gas bubble fraction</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Grain boundary fission gas bubble coverage</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Crack parameter</a:t>
              </a:r>
            </a:p>
          </p:txBody>
        </p:sp>
        <p:sp>
          <p:nvSpPr>
            <p:cNvPr id="38" name="TextBox 37">
              <a:extLst>
                <a:ext uri="{FF2B5EF4-FFF2-40B4-BE49-F238E27FC236}">
                  <a16:creationId xmlns:a16="http://schemas.microsoft.com/office/drawing/2014/main" id="{81B0E81F-9C6E-8F42-8CDC-29766C033FB0}"/>
                </a:ext>
              </a:extLst>
            </p:cNvPr>
            <p:cNvSpPr txBox="1"/>
            <p:nvPr/>
          </p:nvSpPr>
          <p:spPr>
            <a:xfrm>
              <a:off x="1724010" y="3063213"/>
              <a:ext cx="2030085"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800000"/>
                </a:buClr>
                <a:buSzTx/>
                <a:buFontTx/>
                <a:buNone/>
                <a:tabLst/>
                <a:defRPr/>
              </a:pPr>
              <a:r>
                <a:rPr kumimoji="0" lang="en-US" sz="1400" b="1" i="0" u="none" strike="noStrike" kern="1200" cap="none" spc="0" normalizeH="0" baseline="0" noProof="0" dirty="0">
                  <a:ln>
                    <a:noFill/>
                  </a:ln>
                  <a:solidFill>
                    <a:srgbClr val="9BBB59"/>
                  </a:solidFill>
                  <a:effectLst/>
                  <a:uLnTx/>
                  <a:uFillTx/>
                  <a:latin typeface="Calibri"/>
                  <a:ea typeface="+mn-ea"/>
                  <a:cs typeface="+mn-cs"/>
                </a:rPr>
                <a:t>Cladding</a:t>
              </a:r>
            </a:p>
            <a:p>
              <a:pPr marL="0" marR="0" lvl="0" indent="0" algn="l" defTabSz="914400" rtl="0" eaLnBrk="1" fontAlgn="auto" latinLnBrk="0" hangingPunct="1">
                <a:lnSpc>
                  <a:spcPct val="100000"/>
                </a:lnSpc>
                <a:spcBef>
                  <a:spcPts val="0"/>
                </a:spcBef>
                <a:spcAft>
                  <a:spcPts val="0"/>
                </a:spcAft>
                <a:buClr>
                  <a:srgbClr val="800000"/>
                </a:buClr>
                <a:buSzTx/>
                <a:buFontTx/>
                <a:buNone/>
                <a:tabLst/>
                <a:defRPr/>
              </a:pPr>
              <a:r>
                <a:rPr kumimoji="0" lang="en-US" sz="1400" b="1" i="0" u="none" strike="noStrike" kern="1200" cap="none" spc="0" normalizeH="0" baseline="0" noProof="0" dirty="0">
                  <a:ln>
                    <a:noFill/>
                  </a:ln>
                  <a:solidFill>
                    <a:srgbClr val="9BBB59"/>
                  </a:solidFill>
                  <a:effectLst/>
                  <a:uLnTx/>
                  <a:uFillTx/>
                  <a:latin typeface="Calibri"/>
                  <a:ea typeface="+mn-ea"/>
                  <a:cs typeface="+mn-cs"/>
                </a:rPr>
                <a:t>Microstructure variables</a:t>
              </a:r>
              <a:endParaRPr kumimoji="0" lang="en-US" sz="1400" b="0" i="0" u="none" strike="noStrike" kern="1200" cap="none" spc="0" normalizeH="0" baseline="0" noProof="0" dirty="0">
                <a:ln>
                  <a:noFill/>
                </a:ln>
                <a:solidFill>
                  <a:srgbClr val="9BBB59"/>
                </a:solidFill>
                <a:effectLst/>
                <a:uLnTx/>
                <a:uFillTx/>
                <a:latin typeface="Calibri"/>
                <a:ea typeface="+mn-ea"/>
                <a:cs typeface="+mn-cs"/>
              </a:endParaRPr>
            </a:p>
            <a:p>
              <a:pPr marL="111125" marR="0" lvl="0" indent="-111125" algn="l" defTabSz="914400" rtl="0" eaLnBrk="1" fontAlgn="auto" latinLnBrk="0" hangingPunct="1">
                <a:lnSpc>
                  <a:spcPct val="100000"/>
                </a:lnSpc>
                <a:spcBef>
                  <a:spcPts val="0"/>
                </a:spcBef>
                <a:spcAft>
                  <a:spcPts val="0"/>
                </a:spcAft>
                <a:buClr>
                  <a:srgbClr val="800000"/>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Average grain size</a:t>
              </a:r>
            </a:p>
            <a:p>
              <a:pPr marL="111125" marR="0" lvl="0" indent="-111125" algn="l" defTabSz="914400" rtl="0" eaLnBrk="1" fontAlgn="auto" latinLnBrk="0" hangingPunct="1">
                <a:lnSpc>
                  <a:spcPct val="100000"/>
                </a:lnSpc>
                <a:spcBef>
                  <a:spcPts val="0"/>
                </a:spcBef>
                <a:spcAft>
                  <a:spcPts val="0"/>
                </a:spcAft>
                <a:buClr>
                  <a:srgbClr val="800000"/>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Dislocation density</a:t>
              </a:r>
            </a:p>
            <a:p>
              <a:pPr marL="111125" marR="0" lvl="0" indent="-111125" algn="l" defTabSz="914400" rtl="0" eaLnBrk="1" fontAlgn="auto" latinLnBrk="0" hangingPunct="1">
                <a:lnSpc>
                  <a:spcPct val="100000"/>
                </a:lnSpc>
                <a:spcBef>
                  <a:spcPts val="0"/>
                </a:spcBef>
                <a:spcAft>
                  <a:spcPts val="0"/>
                </a:spcAft>
                <a:buClr>
                  <a:srgbClr val="800000"/>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H concentration</a:t>
              </a:r>
            </a:p>
            <a:p>
              <a:pPr marL="111125" marR="0" lvl="0" indent="-111125" algn="l" defTabSz="914400" rtl="0" eaLnBrk="1" fontAlgn="auto" latinLnBrk="0" hangingPunct="1">
                <a:lnSpc>
                  <a:spcPct val="100000"/>
                </a:lnSpc>
                <a:spcBef>
                  <a:spcPts val="0"/>
                </a:spcBef>
                <a:spcAft>
                  <a:spcPts val="0"/>
                </a:spcAft>
                <a:buClr>
                  <a:srgbClr val="800000"/>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Hydride fraction</a:t>
              </a:r>
            </a:p>
            <a:p>
              <a:pPr marL="111125" marR="0" lvl="0" indent="-111125" algn="l" defTabSz="914400" rtl="0" eaLnBrk="1" fontAlgn="auto" latinLnBrk="0" hangingPunct="1">
                <a:lnSpc>
                  <a:spcPct val="100000"/>
                </a:lnSpc>
                <a:spcBef>
                  <a:spcPts val="0"/>
                </a:spcBef>
                <a:spcAft>
                  <a:spcPts val="0"/>
                </a:spcAft>
                <a:buClr>
                  <a:srgbClr val="800000"/>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Point defect concentrations</a:t>
              </a:r>
            </a:p>
            <a:p>
              <a:pPr marL="111125" marR="0" lvl="0" indent="-111125" algn="l" defTabSz="914400" rtl="0" eaLnBrk="1" fontAlgn="auto" latinLnBrk="0" hangingPunct="1">
                <a:lnSpc>
                  <a:spcPct val="100000"/>
                </a:lnSpc>
                <a:spcBef>
                  <a:spcPts val="0"/>
                </a:spcBef>
                <a:spcAft>
                  <a:spcPts val="0"/>
                </a:spcAft>
                <a:buClr>
                  <a:srgbClr val="800000"/>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Loop density</a:t>
              </a:r>
            </a:p>
            <a:p>
              <a:pPr marL="111125" marR="0" lvl="0" indent="-111125" algn="l" defTabSz="914400" rtl="0" eaLnBrk="1" fontAlgn="auto" latinLnBrk="0" hangingPunct="1">
                <a:lnSpc>
                  <a:spcPct val="100000"/>
                </a:lnSpc>
                <a:spcBef>
                  <a:spcPts val="0"/>
                </a:spcBef>
                <a:spcAft>
                  <a:spcPts val="0"/>
                </a:spcAft>
                <a:buClr>
                  <a:srgbClr val="800000"/>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2</a:t>
              </a:r>
              <a:r>
                <a:rPr kumimoji="0" lang="en-US" sz="1400" b="0" i="0" u="none" strike="noStrike" kern="1200" cap="none" spc="0" normalizeH="0" baseline="30000" noProof="0" dirty="0">
                  <a:ln>
                    <a:noFill/>
                  </a:ln>
                  <a:solidFill>
                    <a:prstClr val="black"/>
                  </a:solidFill>
                  <a:effectLst/>
                  <a:uLnTx/>
                  <a:uFillTx/>
                  <a:latin typeface="Calibri"/>
                  <a:ea typeface="+mn-ea"/>
                  <a:cs typeface="+mn-cs"/>
                </a:rPr>
                <a:t>nd</a:t>
              </a:r>
              <a:r>
                <a:rPr kumimoji="0" lang="en-US" sz="1400" b="0" i="0" u="none" strike="noStrike" kern="1200" cap="none" spc="0" normalizeH="0" baseline="0" noProof="0" dirty="0">
                  <a:ln>
                    <a:noFill/>
                  </a:ln>
                  <a:solidFill>
                    <a:prstClr val="black"/>
                  </a:solidFill>
                  <a:effectLst/>
                  <a:uLnTx/>
                  <a:uFillTx/>
                  <a:latin typeface="Calibri"/>
                  <a:ea typeface="+mn-ea"/>
                  <a:cs typeface="+mn-cs"/>
                </a:rPr>
                <a:t> phase particle fraction</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9" name="TextBox 38">
              <a:extLst>
                <a:ext uri="{FF2B5EF4-FFF2-40B4-BE49-F238E27FC236}">
                  <a16:creationId xmlns:a16="http://schemas.microsoft.com/office/drawing/2014/main" id="{1083E2A3-A58F-2541-A656-5C470A11D62B}"/>
                </a:ext>
              </a:extLst>
            </p:cNvPr>
            <p:cNvSpPr txBox="1"/>
            <p:nvPr/>
          </p:nvSpPr>
          <p:spPr>
            <a:xfrm>
              <a:off x="3754094" y="5500220"/>
              <a:ext cx="1404777"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8000"/>
                </a:buClr>
                <a:buSzTx/>
                <a:buFontTx/>
                <a:buNone/>
                <a:tabLst/>
                <a:defRPr/>
              </a:pPr>
              <a:r>
                <a:rPr kumimoji="0" lang="en-US" sz="1400" b="1" i="0" u="none" strike="noStrike" kern="1200" cap="none" spc="0" normalizeH="0" baseline="0" noProof="0" dirty="0">
                  <a:ln>
                    <a:noFill/>
                  </a:ln>
                  <a:solidFill>
                    <a:srgbClr val="008000"/>
                  </a:solidFill>
                  <a:effectLst/>
                  <a:uLnTx/>
                  <a:uFillTx/>
                  <a:latin typeface="Calibri"/>
                  <a:ea typeface="+mn-ea"/>
                  <a:cs typeface="+mn-cs"/>
                </a:rPr>
                <a:t>Gap variable</a:t>
              </a:r>
            </a:p>
            <a:p>
              <a:pPr marL="111125" marR="0" lvl="0" indent="-111125" algn="l" defTabSz="914400" rtl="0" eaLnBrk="1" fontAlgn="auto" latinLnBrk="0" hangingPunct="1">
                <a:lnSpc>
                  <a:spcPct val="100000"/>
                </a:lnSpc>
                <a:spcBef>
                  <a:spcPts val="0"/>
                </a:spcBef>
                <a:spcAft>
                  <a:spcPts val="0"/>
                </a:spcAft>
                <a:buClr>
                  <a:srgbClr val="008000"/>
                </a:buClr>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Gap fission gas concentration</a:t>
              </a:r>
            </a:p>
          </p:txBody>
        </p:sp>
      </p:grpSp>
      <p:grpSp>
        <p:nvGrpSpPr>
          <p:cNvPr id="40" name="Group 39">
            <a:extLst>
              <a:ext uri="{FF2B5EF4-FFF2-40B4-BE49-F238E27FC236}">
                <a16:creationId xmlns:a16="http://schemas.microsoft.com/office/drawing/2014/main" id="{E5E4697C-DCF5-3047-9B2D-149EF892E07A}"/>
              </a:ext>
            </a:extLst>
          </p:cNvPr>
          <p:cNvGrpSpPr/>
          <p:nvPr/>
        </p:nvGrpSpPr>
        <p:grpSpPr>
          <a:xfrm>
            <a:off x="1744386" y="2689324"/>
            <a:ext cx="9030011" cy="3877422"/>
            <a:chOff x="74612" y="2261120"/>
            <a:chExt cx="9030011" cy="3877422"/>
          </a:xfrm>
        </p:grpSpPr>
        <p:sp>
          <p:nvSpPr>
            <p:cNvPr id="41" name="Rounded Rectangle 40">
              <a:extLst>
                <a:ext uri="{FF2B5EF4-FFF2-40B4-BE49-F238E27FC236}">
                  <a16:creationId xmlns:a16="http://schemas.microsoft.com/office/drawing/2014/main" id="{B4F617B0-4FB5-8149-8FDF-A6322B1706A3}"/>
                </a:ext>
              </a:extLst>
            </p:cNvPr>
            <p:cNvSpPr/>
            <p:nvPr/>
          </p:nvSpPr>
          <p:spPr bwMode="auto">
            <a:xfrm>
              <a:off x="7649803" y="2889262"/>
              <a:ext cx="1188720" cy="363086"/>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Grain growth</a:t>
              </a:r>
            </a:p>
          </p:txBody>
        </p:sp>
        <p:sp>
          <p:nvSpPr>
            <p:cNvPr id="42" name="Rounded Rectangle 41">
              <a:extLst>
                <a:ext uri="{FF2B5EF4-FFF2-40B4-BE49-F238E27FC236}">
                  <a16:creationId xmlns:a16="http://schemas.microsoft.com/office/drawing/2014/main" id="{54F20F49-3743-DD43-93A9-333518797C90}"/>
                </a:ext>
              </a:extLst>
            </p:cNvPr>
            <p:cNvSpPr/>
            <p:nvPr/>
          </p:nvSpPr>
          <p:spPr bwMode="auto">
            <a:xfrm>
              <a:off x="7649803" y="3879844"/>
              <a:ext cx="1188720" cy="539531"/>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Defect prod. &amp; transport</a:t>
              </a:r>
            </a:p>
          </p:txBody>
        </p:sp>
        <p:sp>
          <p:nvSpPr>
            <p:cNvPr id="43" name="Rounded Rectangle 42">
              <a:extLst>
                <a:ext uri="{FF2B5EF4-FFF2-40B4-BE49-F238E27FC236}">
                  <a16:creationId xmlns:a16="http://schemas.microsoft.com/office/drawing/2014/main" id="{1301E9CD-8CF9-B147-AFA9-ED9BF7F3A0FB}"/>
                </a:ext>
              </a:extLst>
            </p:cNvPr>
            <p:cNvSpPr/>
            <p:nvPr/>
          </p:nvSpPr>
          <p:spPr bwMode="auto">
            <a:xfrm>
              <a:off x="7649803" y="4575740"/>
              <a:ext cx="1188720" cy="539531"/>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Fission gas behavior</a:t>
              </a:r>
            </a:p>
          </p:txBody>
        </p:sp>
        <p:sp>
          <p:nvSpPr>
            <p:cNvPr id="44" name="Rounded Rectangle 43">
              <a:extLst>
                <a:ext uri="{FF2B5EF4-FFF2-40B4-BE49-F238E27FC236}">
                  <a16:creationId xmlns:a16="http://schemas.microsoft.com/office/drawing/2014/main" id="{2D27BEB4-5ECA-5E47-9001-D30FD00A84FD}"/>
                </a:ext>
              </a:extLst>
            </p:cNvPr>
            <p:cNvSpPr/>
            <p:nvPr/>
          </p:nvSpPr>
          <p:spPr bwMode="auto">
            <a:xfrm>
              <a:off x="7649803" y="5293346"/>
              <a:ext cx="1188720" cy="346398"/>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0" tIns="45720" rIns="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Densification</a:t>
              </a:r>
            </a:p>
          </p:txBody>
        </p:sp>
        <p:sp>
          <p:nvSpPr>
            <p:cNvPr id="45" name="TextBox 44">
              <a:extLst>
                <a:ext uri="{FF2B5EF4-FFF2-40B4-BE49-F238E27FC236}">
                  <a16:creationId xmlns:a16="http://schemas.microsoft.com/office/drawing/2014/main" id="{F1032A4E-0F47-7641-AA7F-F1D2A75040D4}"/>
                </a:ext>
              </a:extLst>
            </p:cNvPr>
            <p:cNvSpPr txBox="1"/>
            <p:nvPr/>
          </p:nvSpPr>
          <p:spPr>
            <a:xfrm>
              <a:off x="7383703" y="2261120"/>
              <a:ext cx="1720920" cy="523220"/>
            </a:xfrm>
            <a:prstGeom prst="rect">
              <a:avLst/>
            </a:prstGeom>
            <a:solidFill>
              <a:schemeClr val="lt1">
                <a:alpha val="76000"/>
              </a:schemeClr>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497D"/>
                  </a:solidFill>
                  <a:effectLst/>
                  <a:uLnTx/>
                  <a:uFillTx/>
                  <a:latin typeface="Arial" charset="0"/>
                  <a:ea typeface="ＭＳ Ｐゴシック" charset="0"/>
                </a:rPr>
                <a:t>Microstructure evolution models</a:t>
              </a:r>
              <a:endParaRPr kumimoji="0" lang="en-US" sz="1400" b="0" i="0" u="none" strike="noStrike" kern="1200" cap="none" spc="0" normalizeH="0" baseline="0" noProof="0" dirty="0">
                <a:ln>
                  <a:noFill/>
                </a:ln>
                <a:solidFill>
                  <a:srgbClr val="1F497D"/>
                </a:solidFill>
                <a:effectLst/>
                <a:uLnTx/>
                <a:uFillTx/>
                <a:latin typeface="Arial" charset="0"/>
                <a:ea typeface="ＭＳ Ｐゴシック" charset="0"/>
              </a:endParaRPr>
            </a:p>
          </p:txBody>
        </p:sp>
        <p:sp>
          <p:nvSpPr>
            <p:cNvPr id="46" name="Rounded Rectangle 45">
              <a:extLst>
                <a:ext uri="{FF2B5EF4-FFF2-40B4-BE49-F238E27FC236}">
                  <a16:creationId xmlns:a16="http://schemas.microsoft.com/office/drawing/2014/main" id="{CB00379A-3041-E14D-A8C1-F8A4D1C0D133}"/>
                </a:ext>
              </a:extLst>
            </p:cNvPr>
            <p:cNvSpPr/>
            <p:nvPr/>
          </p:nvSpPr>
          <p:spPr bwMode="auto">
            <a:xfrm>
              <a:off x="7649803" y="3387898"/>
              <a:ext cx="1188720" cy="363086"/>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Plasticity</a:t>
              </a:r>
            </a:p>
          </p:txBody>
        </p:sp>
        <p:sp>
          <p:nvSpPr>
            <p:cNvPr id="47" name="Rounded Rectangle 46">
              <a:extLst>
                <a:ext uri="{FF2B5EF4-FFF2-40B4-BE49-F238E27FC236}">
                  <a16:creationId xmlns:a16="http://schemas.microsoft.com/office/drawing/2014/main" id="{A8EDF7AD-94CB-4A45-9EBD-45182FAC86BF}"/>
                </a:ext>
              </a:extLst>
            </p:cNvPr>
            <p:cNvSpPr/>
            <p:nvPr/>
          </p:nvSpPr>
          <p:spPr bwMode="auto">
            <a:xfrm>
              <a:off x="340712" y="2889262"/>
              <a:ext cx="1188720" cy="363086"/>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Grain growth</a:t>
              </a:r>
            </a:p>
          </p:txBody>
        </p:sp>
        <p:sp>
          <p:nvSpPr>
            <p:cNvPr id="48" name="Rounded Rectangle 47">
              <a:extLst>
                <a:ext uri="{FF2B5EF4-FFF2-40B4-BE49-F238E27FC236}">
                  <a16:creationId xmlns:a16="http://schemas.microsoft.com/office/drawing/2014/main" id="{F36764AD-3838-554E-811F-B71EFBA0A32C}"/>
                </a:ext>
              </a:extLst>
            </p:cNvPr>
            <p:cNvSpPr/>
            <p:nvPr/>
          </p:nvSpPr>
          <p:spPr bwMode="auto">
            <a:xfrm>
              <a:off x="340712" y="3879844"/>
              <a:ext cx="1188720" cy="539531"/>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Defect prod. &amp; transport</a:t>
              </a:r>
            </a:p>
          </p:txBody>
        </p:sp>
        <p:sp>
          <p:nvSpPr>
            <p:cNvPr id="49" name="Rounded Rectangle 48">
              <a:extLst>
                <a:ext uri="{FF2B5EF4-FFF2-40B4-BE49-F238E27FC236}">
                  <a16:creationId xmlns:a16="http://schemas.microsoft.com/office/drawing/2014/main" id="{4BABB1E1-F5F3-1645-9A19-FA66AD970BBD}"/>
                </a:ext>
              </a:extLst>
            </p:cNvPr>
            <p:cNvSpPr/>
            <p:nvPr/>
          </p:nvSpPr>
          <p:spPr bwMode="auto">
            <a:xfrm>
              <a:off x="340712" y="4575740"/>
              <a:ext cx="1188720" cy="539531"/>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Hydrogen transport</a:t>
              </a:r>
            </a:p>
          </p:txBody>
        </p:sp>
        <p:sp>
          <p:nvSpPr>
            <p:cNvPr id="50" name="TextBox 49">
              <a:extLst>
                <a:ext uri="{FF2B5EF4-FFF2-40B4-BE49-F238E27FC236}">
                  <a16:creationId xmlns:a16="http://schemas.microsoft.com/office/drawing/2014/main" id="{BDFE879B-BB30-764B-BD71-9E19BEFCE22C}"/>
                </a:ext>
              </a:extLst>
            </p:cNvPr>
            <p:cNvSpPr txBox="1"/>
            <p:nvPr/>
          </p:nvSpPr>
          <p:spPr>
            <a:xfrm>
              <a:off x="74612" y="2261120"/>
              <a:ext cx="1720920" cy="523220"/>
            </a:xfrm>
            <a:prstGeom prst="rect">
              <a:avLst/>
            </a:prstGeom>
            <a:solidFill>
              <a:schemeClr val="lt1">
                <a:alpha val="76000"/>
              </a:schemeClr>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00000"/>
                  </a:solidFill>
                  <a:effectLst/>
                  <a:uLnTx/>
                  <a:uFillTx/>
                  <a:latin typeface="Arial" charset="0"/>
                  <a:ea typeface="ＭＳ Ｐゴシック" charset="0"/>
                </a:rPr>
                <a:t>Microstructure evolution models</a:t>
              </a:r>
              <a:endParaRPr kumimoji="0" lang="en-US" sz="1400" b="0" i="0" u="none" strike="noStrike" kern="1200" cap="none" spc="0" normalizeH="0" baseline="0" noProof="0" dirty="0">
                <a:ln>
                  <a:noFill/>
                </a:ln>
                <a:solidFill>
                  <a:srgbClr val="800000"/>
                </a:solidFill>
                <a:effectLst/>
                <a:uLnTx/>
                <a:uFillTx/>
                <a:latin typeface="Arial" charset="0"/>
                <a:ea typeface="ＭＳ Ｐゴシック" charset="0"/>
              </a:endParaRPr>
            </a:p>
          </p:txBody>
        </p:sp>
        <p:sp>
          <p:nvSpPr>
            <p:cNvPr id="51" name="Rounded Rectangle 50">
              <a:extLst>
                <a:ext uri="{FF2B5EF4-FFF2-40B4-BE49-F238E27FC236}">
                  <a16:creationId xmlns:a16="http://schemas.microsoft.com/office/drawing/2014/main" id="{E111B81B-9AAA-FF47-A7A4-78B8162247C3}"/>
                </a:ext>
              </a:extLst>
            </p:cNvPr>
            <p:cNvSpPr/>
            <p:nvPr/>
          </p:nvSpPr>
          <p:spPr bwMode="auto">
            <a:xfrm>
              <a:off x="340712" y="5236844"/>
              <a:ext cx="1188720" cy="474970"/>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Loop evolution</a:t>
              </a:r>
            </a:p>
          </p:txBody>
        </p:sp>
        <p:sp>
          <p:nvSpPr>
            <p:cNvPr id="52" name="Rounded Rectangle 51">
              <a:extLst>
                <a:ext uri="{FF2B5EF4-FFF2-40B4-BE49-F238E27FC236}">
                  <a16:creationId xmlns:a16="http://schemas.microsoft.com/office/drawing/2014/main" id="{0D102BE5-1A76-9647-9539-31D6753342F1}"/>
                </a:ext>
              </a:extLst>
            </p:cNvPr>
            <p:cNvSpPr/>
            <p:nvPr/>
          </p:nvSpPr>
          <p:spPr bwMode="auto">
            <a:xfrm>
              <a:off x="340712" y="3387898"/>
              <a:ext cx="1188720" cy="363086"/>
            </a:xfrm>
            <a:prstGeom prst="round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Plasticity</a:t>
              </a:r>
            </a:p>
          </p:txBody>
        </p:sp>
        <p:sp>
          <p:nvSpPr>
            <p:cNvPr id="53" name="Rounded Rectangle 52">
              <a:extLst>
                <a:ext uri="{FF2B5EF4-FFF2-40B4-BE49-F238E27FC236}">
                  <a16:creationId xmlns:a16="http://schemas.microsoft.com/office/drawing/2014/main" id="{FE694D2A-0C59-3E48-A374-EC59CCDB585E}"/>
                </a:ext>
              </a:extLst>
            </p:cNvPr>
            <p:cNvSpPr/>
            <p:nvPr/>
          </p:nvSpPr>
          <p:spPr bwMode="auto">
            <a:xfrm>
              <a:off x="7649803" y="5792144"/>
              <a:ext cx="1188720" cy="346398"/>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0" tIns="45720" rIns="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Fracture</a:t>
              </a:r>
            </a:p>
          </p:txBody>
        </p:sp>
      </p:grpSp>
      <p:sp>
        <p:nvSpPr>
          <p:cNvPr id="54" name="Rectangle 53">
            <a:extLst>
              <a:ext uri="{FF2B5EF4-FFF2-40B4-BE49-F238E27FC236}">
                <a16:creationId xmlns:a16="http://schemas.microsoft.com/office/drawing/2014/main" id="{519D0A1C-ABA6-0441-B981-A48F18F2E21A}"/>
              </a:ext>
            </a:extLst>
          </p:cNvPr>
          <p:cNvSpPr/>
          <p:nvPr/>
        </p:nvSpPr>
        <p:spPr>
          <a:xfrm>
            <a:off x="1121099" y="1742186"/>
            <a:ext cx="10165270"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Structure/property relationships connect the microstructure variables to the property values</a:t>
            </a:r>
          </a:p>
        </p:txBody>
      </p:sp>
      <p:grpSp>
        <p:nvGrpSpPr>
          <p:cNvPr id="61" name="Group 60">
            <a:extLst>
              <a:ext uri="{FF2B5EF4-FFF2-40B4-BE49-F238E27FC236}">
                <a16:creationId xmlns:a16="http://schemas.microsoft.com/office/drawing/2014/main" id="{4808F3B8-381F-9743-8A33-E83169CD1DD9}"/>
              </a:ext>
            </a:extLst>
          </p:cNvPr>
          <p:cNvGrpSpPr/>
          <p:nvPr/>
        </p:nvGrpSpPr>
        <p:grpSpPr>
          <a:xfrm>
            <a:off x="15680" y="2756291"/>
            <a:ext cx="1622407" cy="3600060"/>
            <a:chOff x="74612" y="2261120"/>
            <a:chExt cx="1720920" cy="3523832"/>
          </a:xfrm>
        </p:grpSpPr>
        <p:sp>
          <p:nvSpPr>
            <p:cNvPr id="55" name="Rounded Rectangle 54">
              <a:extLst>
                <a:ext uri="{FF2B5EF4-FFF2-40B4-BE49-F238E27FC236}">
                  <a16:creationId xmlns:a16="http://schemas.microsoft.com/office/drawing/2014/main" id="{4AA0C3C7-36C0-D14C-B025-524921025AD3}"/>
                </a:ext>
              </a:extLst>
            </p:cNvPr>
            <p:cNvSpPr/>
            <p:nvPr/>
          </p:nvSpPr>
          <p:spPr bwMode="auto">
            <a:xfrm>
              <a:off x="340712" y="2783338"/>
              <a:ext cx="1188720" cy="484837"/>
            </a:xfrm>
            <a:prstGeom prst="roundRect">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Elasticity tensor</a:t>
              </a:r>
            </a:p>
          </p:txBody>
        </p:sp>
        <p:sp>
          <p:nvSpPr>
            <p:cNvPr id="56" name="Rounded Rectangle 55">
              <a:extLst>
                <a:ext uri="{FF2B5EF4-FFF2-40B4-BE49-F238E27FC236}">
                  <a16:creationId xmlns:a16="http://schemas.microsoft.com/office/drawing/2014/main" id="{A3CB46FE-1B97-5F47-AE67-08CE8ADFC6DB}"/>
                </a:ext>
              </a:extLst>
            </p:cNvPr>
            <p:cNvSpPr/>
            <p:nvPr/>
          </p:nvSpPr>
          <p:spPr bwMode="auto">
            <a:xfrm>
              <a:off x="340712" y="3995521"/>
              <a:ext cx="1188720" cy="539531"/>
            </a:xfrm>
            <a:prstGeom prst="roundRect">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Thermal conductivity</a:t>
              </a:r>
            </a:p>
          </p:txBody>
        </p:sp>
        <p:sp>
          <p:nvSpPr>
            <p:cNvPr id="57" name="Rounded Rectangle 56">
              <a:extLst>
                <a:ext uri="{FF2B5EF4-FFF2-40B4-BE49-F238E27FC236}">
                  <a16:creationId xmlns:a16="http://schemas.microsoft.com/office/drawing/2014/main" id="{D6C079BE-8AFE-A648-B627-72EF7FAADFD7}"/>
                </a:ext>
              </a:extLst>
            </p:cNvPr>
            <p:cNvSpPr/>
            <p:nvPr/>
          </p:nvSpPr>
          <p:spPr bwMode="auto">
            <a:xfrm>
              <a:off x="340712" y="4652752"/>
              <a:ext cx="1188720" cy="539531"/>
            </a:xfrm>
            <a:prstGeom prst="roundRect">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Failure criteria</a:t>
              </a:r>
            </a:p>
          </p:txBody>
        </p:sp>
        <p:sp>
          <p:nvSpPr>
            <p:cNvPr id="58" name="Rounded Rectangle 57">
              <a:extLst>
                <a:ext uri="{FF2B5EF4-FFF2-40B4-BE49-F238E27FC236}">
                  <a16:creationId xmlns:a16="http://schemas.microsoft.com/office/drawing/2014/main" id="{9CF43F6C-D872-E24E-B471-9377C128ED74}"/>
                </a:ext>
              </a:extLst>
            </p:cNvPr>
            <p:cNvSpPr/>
            <p:nvPr/>
          </p:nvSpPr>
          <p:spPr bwMode="auto">
            <a:xfrm>
              <a:off x="340712" y="5309982"/>
              <a:ext cx="1188720" cy="474970"/>
            </a:xfrm>
            <a:prstGeom prst="roundRect">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Dimensional change</a:t>
              </a:r>
            </a:p>
          </p:txBody>
        </p:sp>
        <p:sp>
          <p:nvSpPr>
            <p:cNvPr id="59" name="Rounded Rectangle 58">
              <a:extLst>
                <a:ext uri="{FF2B5EF4-FFF2-40B4-BE49-F238E27FC236}">
                  <a16:creationId xmlns:a16="http://schemas.microsoft.com/office/drawing/2014/main" id="{8E7B8CFE-76F7-3344-B1C5-C08E0DA040E0}"/>
                </a:ext>
              </a:extLst>
            </p:cNvPr>
            <p:cNvSpPr/>
            <p:nvPr/>
          </p:nvSpPr>
          <p:spPr bwMode="auto">
            <a:xfrm>
              <a:off x="340712" y="3385875"/>
              <a:ext cx="1188720" cy="491946"/>
            </a:xfrm>
            <a:prstGeom prst="roundRect">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Yield stress</a:t>
              </a:r>
            </a:p>
          </p:txBody>
        </p:sp>
        <p:sp>
          <p:nvSpPr>
            <p:cNvPr id="60" name="TextBox 59">
              <a:extLst>
                <a:ext uri="{FF2B5EF4-FFF2-40B4-BE49-F238E27FC236}">
                  <a16:creationId xmlns:a16="http://schemas.microsoft.com/office/drawing/2014/main" id="{01088076-EDF9-3B4B-ADBD-4ED1BFE54B6C}"/>
                </a:ext>
              </a:extLst>
            </p:cNvPr>
            <p:cNvSpPr txBox="1"/>
            <p:nvPr/>
          </p:nvSpPr>
          <p:spPr>
            <a:xfrm>
              <a:off x="74612" y="2261120"/>
              <a:ext cx="1720920" cy="478116"/>
            </a:xfrm>
            <a:prstGeom prst="rect">
              <a:avLst/>
            </a:prstGeom>
            <a:solidFill>
              <a:schemeClr val="lt1">
                <a:alpha val="76000"/>
              </a:schemeClr>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00000"/>
                  </a:solidFill>
                  <a:effectLst/>
                  <a:uLnTx/>
                  <a:uFillTx/>
                  <a:latin typeface="Arial" charset="0"/>
                  <a:ea typeface="ＭＳ Ｐゴシック" charset="0"/>
                </a:rPr>
                <a:t>Cladding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00000"/>
                  </a:solidFill>
                  <a:effectLst/>
                  <a:uLnTx/>
                  <a:uFillTx/>
                  <a:latin typeface="Arial" charset="0"/>
                  <a:ea typeface="ＭＳ Ｐゴシック" charset="0"/>
                </a:rPr>
                <a:t>Property values</a:t>
              </a:r>
              <a:endParaRPr kumimoji="0" lang="en-US" sz="1200" b="0" i="0" u="none" strike="noStrike" kern="1200" cap="none" spc="0" normalizeH="0" baseline="0" noProof="0" dirty="0">
                <a:ln>
                  <a:noFill/>
                </a:ln>
                <a:solidFill>
                  <a:srgbClr val="800000"/>
                </a:solidFill>
                <a:effectLst/>
                <a:uLnTx/>
                <a:uFillTx/>
                <a:latin typeface="Arial" charset="0"/>
                <a:ea typeface="ＭＳ Ｐゴシック" charset="0"/>
              </a:endParaRPr>
            </a:p>
          </p:txBody>
        </p:sp>
      </p:grpSp>
      <p:grpSp>
        <p:nvGrpSpPr>
          <p:cNvPr id="69" name="Group 68">
            <a:extLst>
              <a:ext uri="{FF2B5EF4-FFF2-40B4-BE49-F238E27FC236}">
                <a16:creationId xmlns:a16="http://schemas.microsoft.com/office/drawing/2014/main" id="{15AE8BF6-F2AD-6B4B-A12F-AC6D1AE7E248}"/>
              </a:ext>
            </a:extLst>
          </p:cNvPr>
          <p:cNvGrpSpPr/>
          <p:nvPr/>
        </p:nvGrpSpPr>
        <p:grpSpPr>
          <a:xfrm>
            <a:off x="10710476" y="2623868"/>
            <a:ext cx="1481524" cy="4043220"/>
            <a:chOff x="7491645" y="2261120"/>
            <a:chExt cx="1566190" cy="4084720"/>
          </a:xfrm>
        </p:grpSpPr>
        <p:sp>
          <p:nvSpPr>
            <p:cNvPr id="62" name="Rounded Rectangle 61">
              <a:extLst>
                <a:ext uri="{FF2B5EF4-FFF2-40B4-BE49-F238E27FC236}">
                  <a16:creationId xmlns:a16="http://schemas.microsoft.com/office/drawing/2014/main" id="{896D47A9-3F74-704A-B09A-B5D75E828959}"/>
                </a:ext>
              </a:extLst>
            </p:cNvPr>
            <p:cNvSpPr/>
            <p:nvPr/>
          </p:nvSpPr>
          <p:spPr bwMode="auto">
            <a:xfrm>
              <a:off x="7784515" y="2783338"/>
              <a:ext cx="1180994" cy="46901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Elasticity tensor</a:t>
              </a:r>
            </a:p>
          </p:txBody>
        </p:sp>
        <p:sp>
          <p:nvSpPr>
            <p:cNvPr id="63" name="Rounded Rectangle 62">
              <a:extLst>
                <a:ext uri="{FF2B5EF4-FFF2-40B4-BE49-F238E27FC236}">
                  <a16:creationId xmlns:a16="http://schemas.microsoft.com/office/drawing/2014/main" id="{B7A716BC-E92A-924B-B9D9-F56DC4C4BB81}"/>
                </a:ext>
              </a:extLst>
            </p:cNvPr>
            <p:cNvSpPr/>
            <p:nvPr/>
          </p:nvSpPr>
          <p:spPr bwMode="auto">
            <a:xfrm>
              <a:off x="7780652" y="3973312"/>
              <a:ext cx="1188720" cy="539531"/>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Fracture stress</a:t>
              </a:r>
            </a:p>
          </p:txBody>
        </p:sp>
        <p:sp>
          <p:nvSpPr>
            <p:cNvPr id="64" name="Rounded Rectangle 63">
              <a:extLst>
                <a:ext uri="{FF2B5EF4-FFF2-40B4-BE49-F238E27FC236}">
                  <a16:creationId xmlns:a16="http://schemas.microsoft.com/office/drawing/2014/main" id="{2BAF1FEB-000C-DD4B-8C66-33146B157A58}"/>
                </a:ext>
              </a:extLst>
            </p:cNvPr>
            <p:cNvSpPr/>
            <p:nvPr/>
          </p:nvSpPr>
          <p:spPr bwMode="auto">
            <a:xfrm>
              <a:off x="7780652" y="4627352"/>
              <a:ext cx="1188720" cy="539531"/>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Melting temperature</a:t>
              </a:r>
            </a:p>
          </p:txBody>
        </p:sp>
        <p:sp>
          <p:nvSpPr>
            <p:cNvPr id="65" name="Rounded Rectangle 64">
              <a:extLst>
                <a:ext uri="{FF2B5EF4-FFF2-40B4-BE49-F238E27FC236}">
                  <a16:creationId xmlns:a16="http://schemas.microsoft.com/office/drawing/2014/main" id="{B9B56DBC-E3CC-C24D-B0AA-E60957D733D0}"/>
                </a:ext>
              </a:extLst>
            </p:cNvPr>
            <p:cNvSpPr/>
            <p:nvPr/>
          </p:nvSpPr>
          <p:spPr bwMode="auto">
            <a:xfrm>
              <a:off x="7780652" y="5870870"/>
              <a:ext cx="1188720" cy="47497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Dimensional change</a:t>
              </a:r>
            </a:p>
          </p:txBody>
        </p:sp>
        <p:sp>
          <p:nvSpPr>
            <p:cNvPr id="66" name="Rounded Rectangle 65">
              <a:extLst>
                <a:ext uri="{FF2B5EF4-FFF2-40B4-BE49-F238E27FC236}">
                  <a16:creationId xmlns:a16="http://schemas.microsoft.com/office/drawing/2014/main" id="{D6CEC3F9-722F-7842-A28D-B420132A5D99}"/>
                </a:ext>
              </a:extLst>
            </p:cNvPr>
            <p:cNvSpPr/>
            <p:nvPr/>
          </p:nvSpPr>
          <p:spPr bwMode="auto">
            <a:xfrm>
              <a:off x="7780652" y="3366857"/>
              <a:ext cx="1188720" cy="491946"/>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Thermal conductivity</a:t>
              </a:r>
            </a:p>
          </p:txBody>
        </p:sp>
        <p:sp>
          <p:nvSpPr>
            <p:cNvPr id="67" name="Rounded Rectangle 66">
              <a:extLst>
                <a:ext uri="{FF2B5EF4-FFF2-40B4-BE49-F238E27FC236}">
                  <a16:creationId xmlns:a16="http://schemas.microsoft.com/office/drawing/2014/main" id="{7E26D34C-100B-C14E-BAC2-9C68B9671144}"/>
                </a:ext>
              </a:extLst>
            </p:cNvPr>
            <p:cNvSpPr/>
            <p:nvPr/>
          </p:nvSpPr>
          <p:spPr bwMode="auto">
            <a:xfrm>
              <a:off x="7780652" y="5281392"/>
              <a:ext cx="1188720" cy="47497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Diffusion constants</a:t>
              </a:r>
            </a:p>
          </p:txBody>
        </p:sp>
        <p:sp>
          <p:nvSpPr>
            <p:cNvPr id="68" name="TextBox 67">
              <a:extLst>
                <a:ext uri="{FF2B5EF4-FFF2-40B4-BE49-F238E27FC236}">
                  <a16:creationId xmlns:a16="http://schemas.microsoft.com/office/drawing/2014/main" id="{85C692FF-EEB8-544E-936E-33E6125BD04E}"/>
                </a:ext>
              </a:extLst>
            </p:cNvPr>
            <p:cNvSpPr txBox="1"/>
            <p:nvPr/>
          </p:nvSpPr>
          <p:spPr>
            <a:xfrm>
              <a:off x="7491645" y="2261120"/>
              <a:ext cx="1566190" cy="466404"/>
            </a:xfrm>
            <a:prstGeom prst="rect">
              <a:avLst/>
            </a:prstGeom>
            <a:solidFill>
              <a:schemeClr val="lt1">
                <a:alpha val="76000"/>
              </a:schemeClr>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497D"/>
                  </a:solidFill>
                  <a:effectLst/>
                  <a:uLnTx/>
                  <a:uFillTx/>
                  <a:latin typeface="Arial" charset="0"/>
                  <a:ea typeface="ＭＳ Ｐゴシック" charset="0"/>
                </a:rPr>
                <a:t>Fuel </a:t>
              </a:r>
              <a:br>
                <a:rPr kumimoji="0" lang="en-US" sz="1200" b="1" i="0" u="none" strike="noStrike" kern="1200" cap="none" spc="0" normalizeH="0" baseline="0" noProof="0" dirty="0">
                  <a:ln>
                    <a:noFill/>
                  </a:ln>
                  <a:solidFill>
                    <a:srgbClr val="1F497D"/>
                  </a:solidFill>
                  <a:effectLst/>
                  <a:uLnTx/>
                  <a:uFillTx/>
                  <a:latin typeface="Arial" charset="0"/>
                  <a:ea typeface="ＭＳ Ｐゴシック" charset="0"/>
                </a:rPr>
              </a:br>
              <a:r>
                <a:rPr kumimoji="0" lang="en-US" sz="1200" b="1" i="0" u="none" strike="noStrike" kern="1200" cap="none" spc="0" normalizeH="0" baseline="0" noProof="0" dirty="0">
                  <a:ln>
                    <a:noFill/>
                  </a:ln>
                  <a:solidFill>
                    <a:srgbClr val="1F497D"/>
                  </a:solidFill>
                  <a:effectLst/>
                  <a:uLnTx/>
                  <a:uFillTx/>
                  <a:latin typeface="Arial" charset="0"/>
                  <a:ea typeface="ＭＳ Ｐゴシック" charset="0"/>
                </a:rPr>
                <a:t>Property values</a:t>
              </a:r>
              <a:endParaRPr kumimoji="0" lang="en-US" sz="1200" b="0" i="0" u="none" strike="noStrike" kern="1200" cap="none" spc="0" normalizeH="0" baseline="0" noProof="0" dirty="0">
                <a:ln>
                  <a:noFill/>
                </a:ln>
                <a:solidFill>
                  <a:srgbClr val="1F497D"/>
                </a:solidFill>
                <a:effectLst/>
                <a:uLnTx/>
                <a:uFillTx/>
                <a:latin typeface="Arial" charset="0"/>
                <a:ea typeface="ＭＳ Ｐゴシック" charset="0"/>
              </a:endParaRPr>
            </a:p>
          </p:txBody>
        </p:sp>
      </p:grpSp>
    </p:spTree>
    <p:extLst>
      <p:ext uri="{BB962C8B-B14F-4D97-AF65-F5344CB8AC3E}">
        <p14:creationId xmlns:p14="http://schemas.microsoft.com/office/powerpoint/2010/main" val="1945494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0DB80-B7E2-514E-96D7-D7854F856644}"/>
              </a:ext>
            </a:extLst>
          </p:cNvPr>
          <p:cNvSpPr>
            <a:spLocks noGrp="1"/>
          </p:cNvSpPr>
          <p:nvPr>
            <p:ph type="title"/>
          </p:nvPr>
        </p:nvSpPr>
        <p:spPr/>
        <p:txBody>
          <a:bodyPr/>
          <a:lstStyle/>
          <a:p>
            <a:r>
              <a:rPr lang="en-US" dirty="0"/>
              <a:t>Example: fission gas behavior in the fuel</a:t>
            </a:r>
          </a:p>
        </p:txBody>
      </p:sp>
      <p:sp>
        <p:nvSpPr>
          <p:cNvPr id="3" name="Content Placeholder 2">
            <a:extLst>
              <a:ext uri="{FF2B5EF4-FFF2-40B4-BE49-F238E27FC236}">
                <a16:creationId xmlns:a16="http://schemas.microsoft.com/office/drawing/2014/main" id="{6222C8A9-2E1F-474E-81CE-D8FB6A8B8178}"/>
              </a:ext>
            </a:extLst>
          </p:cNvPr>
          <p:cNvSpPr>
            <a:spLocks noGrp="1"/>
          </p:cNvSpPr>
          <p:nvPr>
            <p:ph idx="1"/>
          </p:nvPr>
        </p:nvSpPr>
        <p:spPr>
          <a:xfrm>
            <a:off x="609600" y="2160494"/>
            <a:ext cx="3846944" cy="4349635"/>
          </a:xfrm>
        </p:spPr>
        <p:txBody>
          <a:bodyPr>
            <a:normAutofit fontScale="92500" lnSpcReduction="20000"/>
          </a:bodyPr>
          <a:lstStyle/>
          <a:p>
            <a:r>
              <a:rPr lang="en-US" dirty="0"/>
              <a:t>Take into account a finite set of variables to describe the state of the material</a:t>
            </a:r>
          </a:p>
          <a:p>
            <a:r>
              <a:rPr lang="en-US" dirty="0"/>
              <a:t>Utilize a mechanistic model of fission gas behavior to predict the evolution of the microstructure</a:t>
            </a:r>
          </a:p>
          <a:p>
            <a:r>
              <a:rPr lang="en-US" dirty="0"/>
              <a:t>Utilize this updated microstructure to inform a number of structure/property relationships</a:t>
            </a:r>
          </a:p>
        </p:txBody>
      </p:sp>
      <p:sp>
        <p:nvSpPr>
          <p:cNvPr id="4" name="Slide Number Placeholder 3">
            <a:extLst>
              <a:ext uri="{FF2B5EF4-FFF2-40B4-BE49-F238E27FC236}">
                <a16:creationId xmlns:a16="http://schemas.microsoft.com/office/drawing/2014/main" id="{C6988773-D011-7540-A2FD-8C6ED66248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pSp>
        <p:nvGrpSpPr>
          <p:cNvPr id="24" name="Group 23">
            <a:extLst>
              <a:ext uri="{FF2B5EF4-FFF2-40B4-BE49-F238E27FC236}">
                <a16:creationId xmlns:a16="http://schemas.microsoft.com/office/drawing/2014/main" id="{E1A28F25-5A98-AD43-A02A-8A45379A691B}"/>
              </a:ext>
            </a:extLst>
          </p:cNvPr>
          <p:cNvGrpSpPr/>
          <p:nvPr/>
        </p:nvGrpSpPr>
        <p:grpSpPr>
          <a:xfrm>
            <a:off x="4601817" y="1861378"/>
            <a:ext cx="7187183" cy="4494973"/>
            <a:chOff x="3364224" y="1591066"/>
            <a:chExt cx="8662299" cy="4977481"/>
          </a:xfrm>
        </p:grpSpPr>
        <p:pic>
          <p:nvPicPr>
            <p:cNvPr id="5" name="Picture 7" descr="temp_3Dslice.png">
              <a:extLst>
                <a:ext uri="{FF2B5EF4-FFF2-40B4-BE49-F238E27FC236}">
                  <a16:creationId xmlns:a16="http://schemas.microsoft.com/office/drawing/2014/main" id="{63567100-E11B-7048-9524-73D29247FC88}"/>
                </a:ext>
              </a:extLst>
            </p:cNvPr>
            <p:cNvPicPr>
              <a:picLocks noChangeAspect="1"/>
            </p:cNvPicPr>
            <p:nvPr/>
          </p:nvPicPr>
          <p:blipFill>
            <a:blip r:embed="rId2" cstate="screen">
              <a:alphaModFix amt="49000"/>
              <a:extLst>
                <a:ext uri="{28A0092B-C50C-407E-A947-70E740481C1C}">
                  <a14:useLocalDpi xmlns:a14="http://schemas.microsoft.com/office/drawing/2010/main"/>
                </a:ext>
              </a:extLst>
            </a:blip>
            <a:srcRect/>
            <a:stretch>
              <a:fillRect/>
            </a:stretch>
          </p:blipFill>
          <p:spPr bwMode="auto">
            <a:xfrm>
              <a:off x="3364224" y="1591066"/>
              <a:ext cx="1257913" cy="2511801"/>
            </a:xfrm>
            <a:prstGeom prst="rect">
              <a:avLst/>
            </a:prstGeom>
            <a:noFill/>
            <a:ln>
              <a:noFill/>
            </a:ln>
            <a:extLst>
              <a:ext uri="{909E8E84-426E-40dd-AFC4-6F175D3DCCD1}">
                <a14:hiddenFill xmlns="" xmlns:a14="http://schemas.microsoft.com/office/drawing/2010/main">
                  <a:solidFill>
                    <a:srgbClr val="FFFFFF">
                      <a:alpha val="49001"/>
                    </a:srgbClr>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ounded Rectangle 5">
              <a:extLst>
                <a:ext uri="{FF2B5EF4-FFF2-40B4-BE49-F238E27FC236}">
                  <a16:creationId xmlns:a16="http://schemas.microsoft.com/office/drawing/2014/main" id="{49A4D554-E237-6242-9FF4-1F85E9983491}"/>
                </a:ext>
              </a:extLst>
            </p:cNvPr>
            <p:cNvSpPr/>
            <p:nvPr/>
          </p:nvSpPr>
          <p:spPr bwMode="auto">
            <a:xfrm>
              <a:off x="4269126" y="4338055"/>
              <a:ext cx="1491386" cy="668516"/>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Model of fission gas behavior</a:t>
              </a:r>
            </a:p>
          </p:txBody>
        </p:sp>
        <p:grpSp>
          <p:nvGrpSpPr>
            <p:cNvPr id="7" name="Group 6">
              <a:extLst>
                <a:ext uri="{FF2B5EF4-FFF2-40B4-BE49-F238E27FC236}">
                  <a16:creationId xmlns:a16="http://schemas.microsoft.com/office/drawing/2014/main" id="{E60220B5-C353-3843-9E85-0692355A8FAC}"/>
                </a:ext>
              </a:extLst>
            </p:cNvPr>
            <p:cNvGrpSpPr/>
            <p:nvPr/>
          </p:nvGrpSpPr>
          <p:grpSpPr>
            <a:xfrm>
              <a:off x="4203324" y="1944902"/>
              <a:ext cx="5574890" cy="364342"/>
              <a:chOff x="943289" y="1785876"/>
              <a:chExt cx="5574890" cy="364342"/>
            </a:xfrm>
          </p:grpSpPr>
          <p:sp>
            <p:nvSpPr>
              <p:cNvPr id="8" name="Rectangle 7">
                <a:extLst>
                  <a:ext uri="{FF2B5EF4-FFF2-40B4-BE49-F238E27FC236}">
                    <a16:creationId xmlns:a16="http://schemas.microsoft.com/office/drawing/2014/main" id="{5A14CAFE-7E69-4C46-B29D-B7C7A0428980}"/>
                  </a:ext>
                </a:extLst>
              </p:cNvPr>
              <p:cNvSpPr/>
              <p:nvPr/>
            </p:nvSpPr>
            <p:spPr>
              <a:xfrm>
                <a:off x="943289" y="1888459"/>
                <a:ext cx="65802" cy="98700"/>
              </a:xfrm>
              <a:prstGeom prst="rect">
                <a:avLst/>
              </a:prstGeom>
              <a:noFill/>
              <a:ln w="19050" cmpd="sng"/>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a:extLst>
                  <a:ext uri="{FF2B5EF4-FFF2-40B4-BE49-F238E27FC236}">
                    <a16:creationId xmlns:a16="http://schemas.microsoft.com/office/drawing/2014/main" id="{2B38576B-F49E-3A4C-8CDB-3B3EF901AF23}"/>
                  </a:ext>
                </a:extLst>
              </p:cNvPr>
              <p:cNvSpPr txBox="1"/>
              <p:nvPr/>
            </p:nvSpPr>
            <p:spPr>
              <a:xfrm>
                <a:off x="1184180" y="1793000"/>
                <a:ext cx="1121303" cy="281173"/>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4F81BD"/>
                    </a:solidFill>
                    <a:effectLst/>
                    <a:uLnTx/>
                    <a:uFillTx/>
                    <a:latin typeface="Arial" charset="0"/>
                    <a:ea typeface="ＭＳ Ｐゴシック" charset="0"/>
                  </a:rPr>
                  <a:t>Variables</a:t>
                </a:r>
                <a:endParaRPr kumimoji="0" lang="en-US" sz="1050" b="0" i="0" u="none" strike="noStrike" kern="1200" cap="none" spc="0" normalizeH="0" baseline="0" noProof="0" dirty="0">
                  <a:ln>
                    <a:noFill/>
                  </a:ln>
                  <a:solidFill>
                    <a:srgbClr val="4F81BD"/>
                  </a:solidFill>
                  <a:effectLst/>
                  <a:uLnTx/>
                  <a:uFillTx/>
                  <a:latin typeface="Arial" charset="0"/>
                  <a:ea typeface="ＭＳ Ｐゴシック" charset="0"/>
                </a:endParaRPr>
              </a:p>
            </p:txBody>
          </p:sp>
          <p:sp>
            <p:nvSpPr>
              <p:cNvPr id="10" name="Rounded Rectangle 9">
                <a:extLst>
                  <a:ext uri="{FF2B5EF4-FFF2-40B4-BE49-F238E27FC236}">
                    <a16:creationId xmlns:a16="http://schemas.microsoft.com/office/drawing/2014/main" id="{7E0D222D-8213-5E45-8B8A-99138BADD24C}"/>
                  </a:ext>
                </a:extLst>
              </p:cNvPr>
              <p:cNvSpPr/>
              <p:nvPr/>
            </p:nvSpPr>
            <p:spPr bwMode="auto">
              <a:xfrm>
                <a:off x="2273839" y="1785876"/>
                <a:ext cx="1424940" cy="363086"/>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Temperature</a:t>
                </a:r>
              </a:p>
            </p:txBody>
          </p:sp>
          <p:sp>
            <p:nvSpPr>
              <p:cNvPr id="11" name="Rounded Rectangle 10">
                <a:extLst>
                  <a:ext uri="{FF2B5EF4-FFF2-40B4-BE49-F238E27FC236}">
                    <a16:creationId xmlns:a16="http://schemas.microsoft.com/office/drawing/2014/main" id="{CA391329-D1AA-AF44-8020-582FFFD89F60}"/>
                  </a:ext>
                </a:extLst>
              </p:cNvPr>
              <p:cNvSpPr/>
              <p:nvPr/>
            </p:nvSpPr>
            <p:spPr bwMode="auto">
              <a:xfrm>
                <a:off x="3774979" y="1787132"/>
                <a:ext cx="1295400" cy="363086"/>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Displacement</a:t>
                </a:r>
              </a:p>
            </p:txBody>
          </p:sp>
          <p:sp>
            <p:nvSpPr>
              <p:cNvPr id="12" name="Rounded Rectangle 11">
                <a:extLst>
                  <a:ext uri="{FF2B5EF4-FFF2-40B4-BE49-F238E27FC236}">
                    <a16:creationId xmlns:a16="http://schemas.microsoft.com/office/drawing/2014/main" id="{8AD14357-1321-5141-92B5-73CFEF0B9E22}"/>
                  </a:ext>
                </a:extLst>
              </p:cNvPr>
              <p:cNvSpPr/>
              <p:nvPr/>
            </p:nvSpPr>
            <p:spPr bwMode="auto">
              <a:xfrm>
                <a:off x="5139699" y="1787132"/>
                <a:ext cx="1378480" cy="363086"/>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Stoichiometry</a:t>
                </a:r>
              </a:p>
            </p:txBody>
          </p:sp>
        </p:grpSp>
        <p:sp>
          <p:nvSpPr>
            <p:cNvPr id="13" name="Rounded Rectangle 12">
              <a:extLst>
                <a:ext uri="{FF2B5EF4-FFF2-40B4-BE49-F238E27FC236}">
                  <a16:creationId xmlns:a16="http://schemas.microsoft.com/office/drawing/2014/main" id="{91B1EB3F-6790-3842-A030-843982FFE2C7}"/>
                </a:ext>
              </a:extLst>
            </p:cNvPr>
            <p:cNvSpPr/>
            <p:nvPr/>
          </p:nvSpPr>
          <p:spPr>
            <a:xfrm>
              <a:off x="8718374" y="4341907"/>
              <a:ext cx="1769503" cy="68885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a:ea typeface="+mn-ea"/>
                  <a:cs typeface="+mn-cs"/>
                </a:rPr>
                <a:t>Structure/property relationships</a:t>
              </a:r>
            </a:p>
          </p:txBody>
        </p:sp>
        <p:grpSp>
          <p:nvGrpSpPr>
            <p:cNvPr id="14" name="Group 13">
              <a:extLst>
                <a:ext uri="{FF2B5EF4-FFF2-40B4-BE49-F238E27FC236}">
                  <a16:creationId xmlns:a16="http://schemas.microsoft.com/office/drawing/2014/main" id="{C250E191-5C76-8A48-A997-0C16F1FBFB0D}"/>
                </a:ext>
              </a:extLst>
            </p:cNvPr>
            <p:cNvGrpSpPr/>
            <p:nvPr/>
          </p:nvGrpSpPr>
          <p:grpSpPr>
            <a:xfrm>
              <a:off x="10796524" y="3050183"/>
              <a:ext cx="1229999" cy="3518364"/>
              <a:chOff x="7536489" y="2891157"/>
              <a:chExt cx="1229999" cy="3518364"/>
            </a:xfrm>
          </p:grpSpPr>
          <p:sp>
            <p:nvSpPr>
              <p:cNvPr id="15" name="Rounded Rectangle 14">
                <a:extLst>
                  <a:ext uri="{FF2B5EF4-FFF2-40B4-BE49-F238E27FC236}">
                    <a16:creationId xmlns:a16="http://schemas.microsoft.com/office/drawing/2014/main" id="{E72F01D1-FC41-EB48-9EF3-59CB4929AD3F}"/>
                  </a:ext>
                </a:extLst>
              </p:cNvPr>
              <p:cNvSpPr/>
              <p:nvPr/>
            </p:nvSpPr>
            <p:spPr bwMode="auto">
              <a:xfrm>
                <a:off x="7536489" y="2891157"/>
                <a:ext cx="1180994" cy="46901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a:ea typeface="+mn-ea"/>
                    <a:cs typeface="+mn-cs"/>
                  </a:rPr>
                  <a:t>Elasticity tensor</a:t>
                </a:r>
              </a:p>
            </p:txBody>
          </p:sp>
          <p:sp>
            <p:nvSpPr>
              <p:cNvPr id="16" name="Rounded Rectangle 15">
                <a:extLst>
                  <a:ext uri="{FF2B5EF4-FFF2-40B4-BE49-F238E27FC236}">
                    <a16:creationId xmlns:a16="http://schemas.microsoft.com/office/drawing/2014/main" id="{470CCC6F-9A3E-104A-A96A-2833476E5BC6}"/>
                  </a:ext>
                </a:extLst>
              </p:cNvPr>
              <p:cNvSpPr/>
              <p:nvPr/>
            </p:nvSpPr>
            <p:spPr bwMode="auto">
              <a:xfrm>
                <a:off x="7577768" y="4075719"/>
                <a:ext cx="1188720" cy="539531"/>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a:ea typeface="+mn-ea"/>
                    <a:cs typeface="+mn-cs"/>
                  </a:rPr>
                  <a:t>Fracture stress</a:t>
                </a:r>
              </a:p>
            </p:txBody>
          </p:sp>
          <p:sp>
            <p:nvSpPr>
              <p:cNvPr id="17" name="Rounded Rectangle 16">
                <a:extLst>
                  <a:ext uri="{FF2B5EF4-FFF2-40B4-BE49-F238E27FC236}">
                    <a16:creationId xmlns:a16="http://schemas.microsoft.com/office/drawing/2014/main" id="{E84BBEE4-F397-3742-86A3-3473B45B40C2}"/>
                  </a:ext>
                </a:extLst>
              </p:cNvPr>
              <p:cNvSpPr/>
              <p:nvPr/>
            </p:nvSpPr>
            <p:spPr bwMode="auto">
              <a:xfrm>
                <a:off x="7577768" y="4727053"/>
                <a:ext cx="1188720" cy="47497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a:ea typeface="+mn-ea"/>
                    <a:cs typeface="+mn-cs"/>
                  </a:rPr>
                  <a:t>Dimensional change</a:t>
                </a:r>
              </a:p>
            </p:txBody>
          </p:sp>
          <p:sp>
            <p:nvSpPr>
              <p:cNvPr id="18" name="Rounded Rectangle 17">
                <a:extLst>
                  <a:ext uri="{FF2B5EF4-FFF2-40B4-BE49-F238E27FC236}">
                    <a16:creationId xmlns:a16="http://schemas.microsoft.com/office/drawing/2014/main" id="{3AEC03FA-8256-294C-80D9-327488ACEFD4}"/>
                  </a:ext>
                </a:extLst>
              </p:cNvPr>
              <p:cNvSpPr/>
              <p:nvPr/>
            </p:nvSpPr>
            <p:spPr bwMode="auto">
              <a:xfrm>
                <a:off x="7536489" y="3471970"/>
                <a:ext cx="1188720" cy="491946"/>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a:ea typeface="+mn-ea"/>
                    <a:cs typeface="+mn-cs"/>
                  </a:rPr>
                  <a:t>Thermal conductivity</a:t>
                </a:r>
              </a:p>
            </p:txBody>
          </p:sp>
          <p:sp>
            <p:nvSpPr>
              <p:cNvPr id="19" name="Rounded Rectangle 18">
                <a:extLst>
                  <a:ext uri="{FF2B5EF4-FFF2-40B4-BE49-F238E27FC236}">
                    <a16:creationId xmlns:a16="http://schemas.microsoft.com/office/drawing/2014/main" id="{551F1DBA-2BE0-FD43-806A-0EE66E4DDC10}"/>
                  </a:ext>
                </a:extLst>
              </p:cNvPr>
              <p:cNvSpPr/>
              <p:nvPr/>
            </p:nvSpPr>
            <p:spPr bwMode="auto">
              <a:xfrm>
                <a:off x="7577768" y="5313826"/>
                <a:ext cx="1188720" cy="491946"/>
              </a:xfrm>
              <a:prstGeom prst="round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a:ea typeface="+mn-ea"/>
                    <a:cs typeface="+mn-cs"/>
                  </a:rPr>
                  <a:t>Gap conductance</a:t>
                </a:r>
              </a:p>
            </p:txBody>
          </p:sp>
          <p:sp>
            <p:nvSpPr>
              <p:cNvPr id="20" name="Rounded Rectangle 19">
                <a:extLst>
                  <a:ext uri="{FF2B5EF4-FFF2-40B4-BE49-F238E27FC236}">
                    <a16:creationId xmlns:a16="http://schemas.microsoft.com/office/drawing/2014/main" id="{71D1C269-BE5D-BD40-A085-92D7DFF031B5}"/>
                  </a:ext>
                </a:extLst>
              </p:cNvPr>
              <p:cNvSpPr/>
              <p:nvPr/>
            </p:nvSpPr>
            <p:spPr bwMode="auto">
              <a:xfrm>
                <a:off x="7577768" y="5917575"/>
                <a:ext cx="1188720" cy="491946"/>
              </a:xfrm>
              <a:prstGeom prst="round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a:ea typeface="+mn-ea"/>
                    <a:cs typeface="+mn-cs"/>
                  </a:rPr>
                  <a:t>Gap pressure</a:t>
                </a:r>
              </a:p>
            </p:txBody>
          </p:sp>
        </p:grpSp>
        <p:grpSp>
          <p:nvGrpSpPr>
            <p:cNvPr id="21" name="Group 20">
              <a:extLst>
                <a:ext uri="{FF2B5EF4-FFF2-40B4-BE49-F238E27FC236}">
                  <a16:creationId xmlns:a16="http://schemas.microsoft.com/office/drawing/2014/main" id="{65B0426D-6FEB-6848-AE6A-061563BA58F6}"/>
                </a:ext>
              </a:extLst>
            </p:cNvPr>
            <p:cNvGrpSpPr/>
            <p:nvPr/>
          </p:nvGrpSpPr>
          <p:grpSpPr>
            <a:xfrm>
              <a:off x="6103938" y="2957243"/>
              <a:ext cx="2226476" cy="2798370"/>
              <a:chOff x="2843903" y="2798217"/>
              <a:chExt cx="2226476" cy="2798370"/>
            </a:xfrm>
          </p:grpSpPr>
          <p:sp>
            <p:nvSpPr>
              <p:cNvPr id="22" name="TextBox 21">
                <a:extLst>
                  <a:ext uri="{FF2B5EF4-FFF2-40B4-BE49-F238E27FC236}">
                    <a16:creationId xmlns:a16="http://schemas.microsoft.com/office/drawing/2014/main" id="{EE23584D-A2DB-4E4E-97C9-C6056B54C107}"/>
                  </a:ext>
                </a:extLst>
              </p:cNvPr>
              <p:cNvSpPr txBox="1"/>
              <p:nvPr/>
            </p:nvSpPr>
            <p:spPr>
              <a:xfrm>
                <a:off x="2843903" y="4420777"/>
                <a:ext cx="2226476" cy="1175810"/>
              </a:xfrm>
              <a:prstGeom prst="rect">
                <a:avLst/>
              </a:prstGeom>
              <a:noFill/>
            </p:spPr>
            <p:txBody>
              <a:bodyPr wrap="square" rtlCol="0">
                <a:spAutoFit/>
              </a:bodyPr>
              <a:lstStyle/>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Dissolved fission products</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Fission gas bubble fraction</a:t>
                </a:r>
              </a:p>
              <a:p>
                <a:pPr marL="111125" marR="0" lvl="0" indent="-111125" algn="l" defTabSz="914400" rtl="0" eaLnBrk="1" fontAlgn="auto" latinLnBrk="0" hangingPunct="1">
                  <a:lnSpc>
                    <a:spcPct val="100000"/>
                  </a:lnSpc>
                  <a:spcBef>
                    <a:spcPts val="0"/>
                  </a:spcBef>
                  <a:spcAft>
                    <a:spcPts val="0"/>
                  </a:spcAft>
                  <a:buClr>
                    <a:srgbClr val="1F497D"/>
                  </a:buClr>
                  <a:buSzTx/>
                  <a:buFont typeface="Arial"/>
                  <a:buChar char="•"/>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Grain boundary fission gas bubble coverage</a:t>
                </a:r>
              </a:p>
              <a:p>
                <a:pPr marL="111125" marR="0" lvl="0" indent="-111125" algn="l" defTabSz="914400" rtl="0" eaLnBrk="1" fontAlgn="auto" latinLnBrk="0" hangingPunct="1">
                  <a:lnSpc>
                    <a:spcPct val="100000"/>
                  </a:lnSpc>
                  <a:spcBef>
                    <a:spcPts val="0"/>
                  </a:spcBef>
                  <a:spcAft>
                    <a:spcPts val="0"/>
                  </a:spcAft>
                  <a:buClr>
                    <a:srgbClr val="008000"/>
                  </a:buClr>
                  <a:buSzTx/>
                  <a:buFont typeface="Arial"/>
                  <a:buChar char="•"/>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Gap fission gas concentration</a:t>
                </a:r>
              </a:p>
            </p:txBody>
          </p:sp>
          <p:pic>
            <p:nvPicPr>
              <p:cNvPr id="23" name="Picture 3">
                <a:extLst>
                  <a:ext uri="{FF2B5EF4-FFF2-40B4-BE49-F238E27FC236}">
                    <a16:creationId xmlns:a16="http://schemas.microsoft.com/office/drawing/2014/main" id="{DCF2AB2E-F5FC-9C45-8CAD-4F02CA9E80E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86285" y="2798217"/>
                <a:ext cx="1950387" cy="1464051"/>
              </a:xfrm>
              <a:prstGeom prst="roundRect">
                <a:avLst>
                  <a:gd name="adj" fmla="val 7732"/>
                </a:avLst>
              </a:prstGeom>
              <a:ln>
                <a:no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2768110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8109-8CA9-CF49-AC04-3F76C276B87E}"/>
              </a:ext>
            </a:extLst>
          </p:cNvPr>
          <p:cNvSpPr>
            <a:spLocks noGrp="1"/>
          </p:cNvSpPr>
          <p:nvPr>
            <p:ph type="title"/>
          </p:nvPr>
        </p:nvSpPr>
        <p:spPr/>
        <p:txBody>
          <a:bodyPr>
            <a:normAutofit/>
          </a:bodyPr>
          <a:lstStyle/>
          <a:p>
            <a:r>
              <a:rPr lang="en-US" dirty="0"/>
              <a:t>Multiscale separate effects experiments and simulations inform the development of the models</a:t>
            </a:r>
          </a:p>
        </p:txBody>
      </p:sp>
      <p:sp>
        <p:nvSpPr>
          <p:cNvPr id="4" name="Slide Number Placeholder 3">
            <a:extLst>
              <a:ext uri="{FF2B5EF4-FFF2-40B4-BE49-F238E27FC236}">
                <a16:creationId xmlns:a16="http://schemas.microsoft.com/office/drawing/2014/main" id="{2AD4C20E-82BA-DE4E-AD18-FD1319D8D0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Chevron 4">
            <a:extLst>
              <a:ext uri="{FF2B5EF4-FFF2-40B4-BE49-F238E27FC236}">
                <a16:creationId xmlns:a16="http://schemas.microsoft.com/office/drawing/2014/main" id="{8D3BCE96-2795-BB42-809B-4A4C3F8CEEA0}"/>
              </a:ext>
            </a:extLst>
          </p:cNvPr>
          <p:cNvSpPr/>
          <p:nvPr/>
        </p:nvSpPr>
        <p:spPr bwMode="auto">
          <a:xfrm>
            <a:off x="2142114" y="3839079"/>
            <a:ext cx="6513414" cy="620906"/>
          </a:xfrm>
          <a:prstGeom prst="chevron">
            <a:avLst>
              <a:gd name="adj" fmla="val 61370"/>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imes New Roman" charset="0"/>
              <a:ea typeface="ＭＳ Ｐゴシック" charset="0"/>
              <a:cs typeface="+mn-cs"/>
            </a:endParaRPr>
          </a:p>
        </p:txBody>
      </p:sp>
      <p:pic>
        <p:nvPicPr>
          <p:cNvPr id="6" name="Picture 5">
            <a:extLst>
              <a:ext uri="{FF2B5EF4-FFF2-40B4-BE49-F238E27FC236}">
                <a16:creationId xmlns:a16="http://schemas.microsoft.com/office/drawing/2014/main" id="{2D3C7D67-03BE-3E43-82B0-FFEC2B06F6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66713" y="4209412"/>
            <a:ext cx="2765914" cy="2146939"/>
          </a:xfrm>
          <a:prstGeom prst="rect">
            <a:avLst/>
          </a:prstGeom>
          <a:ln>
            <a:noFill/>
          </a:ln>
          <a:effectLst>
            <a:outerShdw blurRad="292100" dist="139700" dir="2700000" algn="tl" rotWithShape="0">
              <a:srgbClr val="333333">
                <a:alpha val="65000"/>
              </a:srgbClr>
            </a:outerShdw>
          </a:effectLst>
        </p:spPr>
      </p:pic>
      <p:pic>
        <p:nvPicPr>
          <p:cNvPr id="7" name="Picture 3">
            <a:extLst>
              <a:ext uri="{FF2B5EF4-FFF2-40B4-BE49-F238E27FC236}">
                <a16:creationId xmlns:a16="http://schemas.microsoft.com/office/drawing/2014/main" id="{013BA53C-302C-414A-8855-D16291F2AD4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066362" y="2080817"/>
            <a:ext cx="2514893" cy="1887796"/>
          </a:xfrm>
          <a:prstGeom prst="roundRect">
            <a:avLst>
              <a:gd name="adj" fmla="val 7732"/>
            </a:avLst>
          </a:prstGeom>
          <a:ln>
            <a:no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987AD33A-4523-3341-89B5-490B87983234}"/>
              </a:ext>
            </a:extLst>
          </p:cNvPr>
          <p:cNvPicPr>
            <a:picLocks noChangeAspect="1"/>
          </p:cNvPicPr>
          <p:nvPr/>
        </p:nvPicPr>
        <p:blipFill>
          <a:blip r:embed="rId4"/>
          <a:stretch>
            <a:fillRect/>
          </a:stretch>
        </p:blipFill>
        <p:spPr>
          <a:xfrm>
            <a:off x="8172394" y="2578142"/>
            <a:ext cx="2658106" cy="3131828"/>
          </a:xfrm>
          <a:prstGeom prst="rect">
            <a:avLst/>
          </a:prstGeom>
          <a:ln>
            <a:noFill/>
          </a:ln>
          <a:effectLst>
            <a:outerShdw blurRad="292100" dist="139700" dir="2700000" algn="tl" rotWithShape="0">
              <a:srgbClr val="333333">
                <a:alpha val="65000"/>
              </a:srgbClr>
            </a:outerShdw>
          </a:effectLst>
        </p:spPr>
      </p:pic>
      <p:pic>
        <p:nvPicPr>
          <p:cNvPr id="9" name="Picture 8" descr="Fission_gas_GB_HE.png">
            <a:extLst>
              <a:ext uri="{FF2B5EF4-FFF2-40B4-BE49-F238E27FC236}">
                <a16:creationId xmlns:a16="http://schemas.microsoft.com/office/drawing/2014/main" id="{91F5C9E4-B935-7A47-9D71-53F78E101E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05081" y="4041729"/>
            <a:ext cx="2031730" cy="2517272"/>
          </a:xfrm>
          <a:prstGeom prst="rect">
            <a:avLst/>
          </a:prstGeom>
          <a:ln>
            <a:noFill/>
          </a:ln>
          <a:effectLst>
            <a:outerShdw blurRad="292100" dist="139700" dir="2700000" algn="tl" rotWithShape="0">
              <a:srgbClr val="333333">
                <a:alpha val="65000"/>
              </a:srgbClr>
            </a:outerShdw>
          </a:effectLst>
        </p:spPr>
      </p:pic>
      <p:pic>
        <p:nvPicPr>
          <p:cNvPr id="10" name="Picture 4">
            <a:extLst>
              <a:ext uri="{FF2B5EF4-FFF2-40B4-BE49-F238E27FC236}">
                <a16:creationId xmlns:a16="http://schemas.microsoft.com/office/drawing/2014/main" id="{153E524B-BAFD-694B-9A34-DF6EC84F913F}"/>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838564" y="2080817"/>
            <a:ext cx="1816963" cy="1836313"/>
          </a:xfrm>
          <a:prstGeom prst="rect">
            <a:avLst/>
          </a:prstGeom>
          <a:ln>
            <a:no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B6ABCF00-D0C0-034A-A327-A53F57D8418D}"/>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2010779" y="2096479"/>
            <a:ext cx="1810559" cy="1861181"/>
          </a:xfrm>
          <a:prstGeom prst="rect">
            <a:avLst/>
          </a:prstGeom>
          <a:ln>
            <a:noFill/>
          </a:ln>
          <a:effectLst>
            <a:outerShdw blurRad="292100" dist="139700" dir="2700000" algn="tl" rotWithShape="0">
              <a:srgbClr val="333333">
                <a:alpha val="65000"/>
              </a:srgbClr>
            </a:outerShdw>
          </a:effectLst>
        </p:spPr>
      </p:pic>
      <p:pic>
        <p:nvPicPr>
          <p:cNvPr id="12" name="Picture 11" descr="A_350000">
            <a:extLst>
              <a:ext uri="{FF2B5EF4-FFF2-40B4-BE49-F238E27FC236}">
                <a16:creationId xmlns:a16="http://schemas.microsoft.com/office/drawing/2014/main" id="{DA6E765F-B85D-9849-AFAE-DC81A9427792}"/>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1859956" y="4305969"/>
            <a:ext cx="1118842" cy="2145494"/>
          </a:xfrm>
          <a:prstGeom prst="rect">
            <a:avLst/>
          </a:prstGeom>
          <a:ln>
            <a:no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 name="Picture 12" descr="A_700000">
            <a:extLst>
              <a:ext uri="{FF2B5EF4-FFF2-40B4-BE49-F238E27FC236}">
                <a16:creationId xmlns:a16="http://schemas.microsoft.com/office/drawing/2014/main" id="{0AC77381-98BD-7F41-B6BC-A7D6D29F594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2832637" y="4314949"/>
            <a:ext cx="1085094" cy="2116687"/>
          </a:xfrm>
          <a:prstGeom prst="rect">
            <a:avLst/>
          </a:prstGeom>
          <a:ln>
            <a:no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52B63368-E0B3-7744-90F5-652C1CD01152}"/>
              </a:ext>
            </a:extLst>
          </p:cNvPr>
          <p:cNvSpPr txBox="1"/>
          <p:nvPr/>
        </p:nvSpPr>
        <p:spPr>
          <a:xfrm>
            <a:off x="2643469" y="3974179"/>
            <a:ext cx="81305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nm</a:t>
            </a:r>
          </a:p>
        </p:txBody>
      </p:sp>
      <p:sp>
        <p:nvSpPr>
          <p:cNvPr id="15" name="TextBox 14">
            <a:extLst>
              <a:ext uri="{FF2B5EF4-FFF2-40B4-BE49-F238E27FC236}">
                <a16:creationId xmlns:a16="http://schemas.microsoft.com/office/drawing/2014/main" id="{87054898-3D4E-954E-82C5-402F438704DB}"/>
              </a:ext>
            </a:extLst>
          </p:cNvPr>
          <p:cNvSpPr txBox="1"/>
          <p:nvPr/>
        </p:nvSpPr>
        <p:spPr>
          <a:xfrm>
            <a:off x="4971242" y="3974179"/>
            <a:ext cx="81305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Calibri"/>
                <a:ea typeface="+mn-ea"/>
                <a:cs typeface="+mn-cs"/>
              </a:rPr>
              <a:t>μm</a:t>
            </a: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922338C9-9C4C-C148-A248-BD924511E101}"/>
              </a:ext>
            </a:extLst>
          </p:cNvPr>
          <p:cNvSpPr txBox="1"/>
          <p:nvPr/>
        </p:nvSpPr>
        <p:spPr>
          <a:xfrm>
            <a:off x="7200663" y="3974179"/>
            <a:ext cx="81305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mm</a:t>
            </a:r>
          </a:p>
        </p:txBody>
      </p:sp>
    </p:spTree>
    <p:extLst>
      <p:ext uri="{BB962C8B-B14F-4D97-AF65-F5344CB8AC3E}">
        <p14:creationId xmlns:p14="http://schemas.microsoft.com/office/powerpoint/2010/main" val="3764443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DA6F7-A8FA-AF40-9DF0-20B7916CA3A6}"/>
              </a:ext>
            </a:extLst>
          </p:cNvPr>
          <p:cNvSpPr>
            <a:spLocks noGrp="1"/>
          </p:cNvSpPr>
          <p:nvPr>
            <p:ph type="title"/>
          </p:nvPr>
        </p:nvSpPr>
        <p:spPr/>
        <p:txBody>
          <a:bodyPr/>
          <a:lstStyle/>
          <a:p>
            <a:r>
              <a:rPr lang="en-US" dirty="0"/>
              <a:t>Microstructure-based models</a:t>
            </a:r>
          </a:p>
        </p:txBody>
      </p:sp>
      <p:sp>
        <p:nvSpPr>
          <p:cNvPr id="3" name="Content Placeholder 2">
            <a:extLst>
              <a:ext uri="{FF2B5EF4-FFF2-40B4-BE49-F238E27FC236}">
                <a16:creationId xmlns:a16="http://schemas.microsoft.com/office/drawing/2014/main" id="{1716EFB2-B5F3-9A4C-BCDF-C865BC59B36D}"/>
              </a:ext>
            </a:extLst>
          </p:cNvPr>
          <p:cNvSpPr>
            <a:spLocks noGrp="1"/>
          </p:cNvSpPr>
          <p:nvPr>
            <p:ph idx="1"/>
          </p:nvPr>
        </p:nvSpPr>
        <p:spPr/>
        <p:txBody>
          <a:bodyPr/>
          <a:lstStyle/>
          <a:p>
            <a:r>
              <a:rPr lang="en-US" dirty="0"/>
              <a:t>Can provide a structure/property relationship to replace the existing burnup dependent model</a:t>
            </a:r>
          </a:p>
          <a:p>
            <a:r>
              <a:rPr lang="en-US" dirty="0"/>
              <a:t>For example, thermal conductivity, taking into account microstructural features and their evolution</a:t>
            </a:r>
          </a:p>
        </p:txBody>
      </p:sp>
      <p:sp>
        <p:nvSpPr>
          <p:cNvPr id="4" name="Slide Number Placeholder 3">
            <a:extLst>
              <a:ext uri="{FF2B5EF4-FFF2-40B4-BE49-F238E27FC236}">
                <a16:creationId xmlns:a16="http://schemas.microsoft.com/office/drawing/2014/main" id="{ED2F008F-5FAC-DB47-A650-B636F0880DA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1FF0FDDF-664F-404C-9D92-9D38AE1FD482}"/>
              </a:ext>
            </a:extLst>
          </p:cNvPr>
          <p:cNvGrpSpPr/>
          <p:nvPr/>
        </p:nvGrpSpPr>
        <p:grpSpPr>
          <a:xfrm>
            <a:off x="1598951" y="3838035"/>
            <a:ext cx="8561049" cy="2780302"/>
            <a:chOff x="291476" y="4474138"/>
            <a:chExt cx="8561049" cy="2780302"/>
          </a:xfrm>
        </p:grpSpPr>
        <p:grpSp>
          <p:nvGrpSpPr>
            <p:cNvPr id="6" name="Group 5">
              <a:extLst>
                <a:ext uri="{FF2B5EF4-FFF2-40B4-BE49-F238E27FC236}">
                  <a16:creationId xmlns:a16="http://schemas.microsoft.com/office/drawing/2014/main" id="{4787CE2E-3034-4946-992B-8194164E0653}"/>
                </a:ext>
              </a:extLst>
            </p:cNvPr>
            <p:cNvGrpSpPr/>
            <p:nvPr/>
          </p:nvGrpSpPr>
          <p:grpSpPr>
            <a:xfrm>
              <a:off x="291476" y="4474138"/>
              <a:ext cx="8561049" cy="2780302"/>
              <a:chOff x="291476" y="3814758"/>
              <a:chExt cx="8561049" cy="2780302"/>
            </a:xfrm>
          </p:grpSpPr>
          <p:sp>
            <p:nvSpPr>
              <p:cNvPr id="10" name="Rounded Rectangle 9">
                <a:extLst>
                  <a:ext uri="{FF2B5EF4-FFF2-40B4-BE49-F238E27FC236}">
                    <a16:creationId xmlns:a16="http://schemas.microsoft.com/office/drawing/2014/main" id="{8E26803D-648F-6D40-9EB5-86871151A6DB}"/>
                  </a:ext>
                </a:extLst>
              </p:cNvPr>
              <p:cNvSpPr/>
              <p:nvPr/>
            </p:nvSpPr>
            <p:spPr bwMode="auto">
              <a:xfrm>
                <a:off x="291476" y="4555730"/>
                <a:ext cx="8561049" cy="1598487"/>
              </a:xfrm>
              <a:prstGeom prst="roundRect">
                <a:avLst>
                  <a:gd name="adj" fmla="val 8899"/>
                </a:avLst>
              </a:prstGeom>
            </p:spPr>
            <p:style>
              <a:lnRef idx="1">
                <a:schemeClr val="accent1"/>
              </a:lnRef>
              <a:fillRef idx="2">
                <a:schemeClr val="accent1"/>
              </a:fillRef>
              <a:effectRef idx="1">
                <a:schemeClr val="accent1"/>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
                    <a:srgbClr val="1F497D"/>
                  </a:buClr>
                  <a:buSzTx/>
                  <a:buFontTx/>
                  <a:buNone/>
                  <a:tabLst/>
                  <a:defRPr/>
                </a:pPr>
                <a:endParaRPr kumimoji="0" lang="en-US" sz="1800" b="0" i="1" u="none" strike="noStrike" kern="1200" cap="none" spc="0" normalizeH="0" baseline="0" noProof="0" dirty="0">
                  <a:ln>
                    <a:noFill/>
                  </a:ln>
                  <a:solidFill>
                    <a:prstClr val="black"/>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D01B6C41-1A0D-FF41-BD17-9F2903531508}"/>
                  </a:ext>
                </a:extLst>
              </p:cNvPr>
              <p:cNvSpPr txBox="1"/>
              <p:nvPr/>
            </p:nvSpPr>
            <p:spPr>
              <a:xfrm>
                <a:off x="2011849" y="6256506"/>
                <a:ext cx="187388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4227"/>
                    </a:solidFill>
                    <a:effectLst/>
                    <a:uLnTx/>
                    <a:uFillTx/>
                    <a:latin typeface="Calibri"/>
                    <a:ea typeface="+mn-ea"/>
                    <a:cs typeface="+mn-cs"/>
                  </a:rPr>
                  <a:t>Bulk conductivity</a:t>
                </a:r>
              </a:p>
            </p:txBody>
          </p:sp>
          <p:sp>
            <p:nvSpPr>
              <p:cNvPr id="12" name="TextBox 11">
                <a:extLst>
                  <a:ext uri="{FF2B5EF4-FFF2-40B4-BE49-F238E27FC236}">
                    <a16:creationId xmlns:a16="http://schemas.microsoft.com/office/drawing/2014/main" id="{B3FB92B3-37F2-C449-BF1E-34DF4A1B7FD6}"/>
                  </a:ext>
                </a:extLst>
              </p:cNvPr>
              <p:cNvSpPr txBox="1"/>
              <p:nvPr/>
            </p:nvSpPr>
            <p:spPr>
              <a:xfrm>
                <a:off x="5997676" y="6254444"/>
                <a:ext cx="1324662"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D95D0"/>
                    </a:solidFill>
                    <a:effectLst/>
                    <a:uLnTx/>
                    <a:uFillTx/>
                    <a:latin typeface="Calibri"/>
                    <a:ea typeface="+mn-ea"/>
                    <a:cs typeface="+mn-cs"/>
                  </a:rPr>
                  <a:t>Fission gas</a:t>
                </a:r>
              </a:p>
            </p:txBody>
          </p:sp>
          <p:sp>
            <p:nvSpPr>
              <p:cNvPr id="13" name="TextBox 12">
                <a:extLst>
                  <a:ext uri="{FF2B5EF4-FFF2-40B4-BE49-F238E27FC236}">
                    <a16:creationId xmlns:a16="http://schemas.microsoft.com/office/drawing/2014/main" id="{8AF08724-0F3E-FB43-A323-49AD43347DEF}"/>
                  </a:ext>
                </a:extLst>
              </p:cNvPr>
              <p:cNvSpPr txBox="1"/>
              <p:nvPr/>
            </p:nvSpPr>
            <p:spPr>
              <a:xfrm>
                <a:off x="4149648" y="3814758"/>
                <a:ext cx="1527192" cy="5847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C3783"/>
                    </a:solidFill>
                    <a:effectLst/>
                    <a:uLnTx/>
                    <a:uFillTx/>
                    <a:latin typeface="Calibri"/>
                    <a:ea typeface="+mn-ea"/>
                    <a:cs typeface="+mn-cs"/>
                  </a:rPr>
                  <a:t>Intragranular porosity </a:t>
                </a:r>
              </a:p>
            </p:txBody>
          </p:sp>
          <p:sp>
            <p:nvSpPr>
              <p:cNvPr id="14" name="TextBox 13">
                <a:extLst>
                  <a:ext uri="{FF2B5EF4-FFF2-40B4-BE49-F238E27FC236}">
                    <a16:creationId xmlns:a16="http://schemas.microsoft.com/office/drawing/2014/main" id="{1B2E349B-7473-9B4B-BA62-A37911F11AA7}"/>
                  </a:ext>
                </a:extLst>
              </p:cNvPr>
              <p:cNvSpPr txBox="1"/>
              <p:nvPr/>
            </p:nvSpPr>
            <p:spPr>
              <a:xfrm>
                <a:off x="2489839" y="3814758"/>
                <a:ext cx="1488474" cy="5847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FF"/>
                    </a:solidFill>
                    <a:effectLst/>
                    <a:uLnTx/>
                    <a:uFillTx/>
                    <a:latin typeface="Calibri"/>
                    <a:ea typeface="+mn-ea"/>
                    <a:cs typeface="+mn-cs"/>
                  </a:rPr>
                  <a:t>Grain boundary and bubbles</a:t>
                </a:r>
              </a:p>
            </p:txBody>
          </p:sp>
          <p:pic>
            <p:nvPicPr>
              <p:cNvPr id="15" name="Picture 33">
                <a:extLst>
                  <a:ext uri="{FF2B5EF4-FFF2-40B4-BE49-F238E27FC236}">
                    <a16:creationId xmlns:a16="http://schemas.microsoft.com/office/drawing/2014/main" id="{7B4A4B1C-7AB1-4B41-9D11-03D8ED57BBA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7193224" y="4848119"/>
                <a:ext cx="1557338" cy="1095375"/>
              </a:xfrm>
              <a:prstGeom prst="roundRect">
                <a:avLst>
                  <a:gd name="adj" fmla="val 10069"/>
                </a:avLst>
              </a:prstGeom>
              <a:ln>
                <a:no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 name="Picture 4">
                <a:extLst>
                  <a:ext uri="{FF2B5EF4-FFF2-40B4-BE49-F238E27FC236}">
                    <a16:creationId xmlns:a16="http://schemas.microsoft.com/office/drawing/2014/main" id="{3982D94A-4CD1-1C40-A042-7ACD46C54F5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342621" y="4935117"/>
                <a:ext cx="1163810" cy="1127118"/>
              </a:xfrm>
              <a:prstGeom prst="roundRect">
                <a:avLst/>
              </a:prstGeom>
              <a:ln>
                <a:no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3C74D0A7-C56F-C54E-85CC-4DDD7C3C118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626565" y="5076529"/>
                <a:ext cx="5486400" cy="725542"/>
              </a:xfrm>
              <a:prstGeom prst="rect">
                <a:avLst/>
              </a:prstGeom>
            </p:spPr>
          </p:pic>
        </p:grpSp>
        <p:sp>
          <p:nvSpPr>
            <p:cNvPr id="7" name="TextBox 6">
              <a:extLst>
                <a:ext uri="{FF2B5EF4-FFF2-40B4-BE49-F238E27FC236}">
                  <a16:creationId xmlns:a16="http://schemas.microsoft.com/office/drawing/2014/main" id="{C836857D-B128-1248-9F7F-9F351F5C2970}"/>
                </a:ext>
              </a:extLst>
            </p:cNvPr>
            <p:cNvSpPr txBox="1"/>
            <p:nvPr/>
          </p:nvSpPr>
          <p:spPr>
            <a:xfrm>
              <a:off x="4943194" y="5616805"/>
              <a:ext cx="919340" cy="4770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0" i="1" u="none" strike="noStrike" kern="1200" cap="none" spc="0" normalizeH="0" baseline="0" noProof="0" dirty="0">
                  <a:ln>
                    <a:noFill/>
                  </a:ln>
                  <a:solidFill>
                    <a:srgbClr val="008000"/>
                  </a:solidFill>
                  <a:effectLst/>
                  <a:uLnTx/>
                  <a:uFillTx/>
                  <a:latin typeface="Times New Roman"/>
                  <a:ea typeface="+mn-ea"/>
                  <a:cs typeface="Times New Roman"/>
                </a:rPr>
                <a:t>κ</a:t>
              </a:r>
              <a:r>
                <a:rPr kumimoji="0" lang="en-US" sz="2500" b="0" i="1" u="none" strike="noStrike" kern="1200" cap="none" spc="0" normalizeH="0" baseline="-25000" noProof="0" dirty="0">
                  <a:ln>
                    <a:noFill/>
                  </a:ln>
                  <a:solidFill>
                    <a:srgbClr val="008000"/>
                  </a:solidFill>
                  <a:effectLst/>
                  <a:uLnTx/>
                  <a:uFillTx/>
                  <a:latin typeface="Times New Roman"/>
                  <a:ea typeface="+mn-ea"/>
                  <a:cs typeface="Times New Roman"/>
                </a:rPr>
                <a:t>pr</a:t>
              </a:r>
            </a:p>
          </p:txBody>
        </p:sp>
        <p:sp>
          <p:nvSpPr>
            <p:cNvPr id="8" name="TextBox 7">
              <a:extLst>
                <a:ext uri="{FF2B5EF4-FFF2-40B4-BE49-F238E27FC236}">
                  <a16:creationId xmlns:a16="http://schemas.microsoft.com/office/drawing/2014/main" id="{DE6D705F-CEF9-8444-8F06-AE1F6BA6B9B0}"/>
                </a:ext>
              </a:extLst>
            </p:cNvPr>
            <p:cNvSpPr txBox="1"/>
            <p:nvPr/>
          </p:nvSpPr>
          <p:spPr>
            <a:xfrm>
              <a:off x="5514116" y="4528045"/>
              <a:ext cx="1527192" cy="5847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Calibri"/>
                  <a:ea typeface="+mn-ea"/>
                  <a:cs typeface="+mn-cs"/>
                </a:rPr>
                <a:t>Precipitated fission products</a:t>
              </a:r>
            </a:p>
          </p:txBody>
        </p:sp>
        <p:sp>
          <p:nvSpPr>
            <p:cNvPr id="9" name="TextBox 8">
              <a:extLst>
                <a:ext uri="{FF2B5EF4-FFF2-40B4-BE49-F238E27FC236}">
                  <a16:creationId xmlns:a16="http://schemas.microsoft.com/office/drawing/2014/main" id="{A1DF3C4C-1775-1846-A5C3-499B80D14DE1}"/>
                </a:ext>
              </a:extLst>
            </p:cNvPr>
            <p:cNvSpPr txBox="1"/>
            <p:nvPr/>
          </p:nvSpPr>
          <p:spPr>
            <a:xfrm>
              <a:off x="3817701" y="6913019"/>
              <a:ext cx="246001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Vacancies and interstitials</a:t>
              </a:r>
            </a:p>
          </p:txBody>
        </p:sp>
      </p:grpSp>
    </p:spTree>
    <p:extLst>
      <p:ext uri="{BB962C8B-B14F-4D97-AF65-F5344CB8AC3E}">
        <p14:creationId xmlns:p14="http://schemas.microsoft.com/office/powerpoint/2010/main" val="2596919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D8C83-B675-194B-9607-80786EB44954}"/>
              </a:ext>
            </a:extLst>
          </p:cNvPr>
          <p:cNvSpPr>
            <a:spLocks noGrp="1"/>
          </p:cNvSpPr>
          <p:nvPr>
            <p:ph type="title"/>
          </p:nvPr>
        </p:nvSpPr>
        <p:spPr/>
        <p:txBody>
          <a:bodyPr/>
          <a:lstStyle/>
          <a:p>
            <a:r>
              <a:rPr lang="en-US" dirty="0"/>
              <a:t>Parametrizing the mechanistic model</a:t>
            </a:r>
          </a:p>
        </p:txBody>
      </p:sp>
      <p:sp>
        <p:nvSpPr>
          <p:cNvPr id="3" name="Content Placeholder 2">
            <a:extLst>
              <a:ext uri="{FF2B5EF4-FFF2-40B4-BE49-F238E27FC236}">
                <a16:creationId xmlns:a16="http://schemas.microsoft.com/office/drawing/2014/main" id="{500B7974-2C51-DA40-A77B-0D9F09957472}"/>
              </a:ext>
            </a:extLst>
          </p:cNvPr>
          <p:cNvSpPr>
            <a:spLocks noGrp="1"/>
          </p:cNvSpPr>
          <p:nvPr>
            <p:ph idx="1"/>
          </p:nvPr>
        </p:nvSpPr>
        <p:spPr>
          <a:xfrm>
            <a:off x="609600" y="2160495"/>
            <a:ext cx="5940287" cy="3965670"/>
          </a:xfrm>
        </p:spPr>
        <p:txBody>
          <a:bodyPr>
            <a:normAutofit fontScale="92500" lnSpcReduction="10000"/>
          </a:bodyPr>
          <a:lstStyle/>
          <a:p>
            <a:r>
              <a:rPr lang="en-US" dirty="0"/>
              <a:t>We employ multiscale modeling and simulation to determine the various parameters for the model</a:t>
            </a:r>
          </a:p>
          <a:p>
            <a:r>
              <a:rPr lang="en-US" dirty="0"/>
              <a:t>MD simulations conducted at LANL have been used to determine the coefficients for various point defects</a:t>
            </a:r>
          </a:p>
          <a:p>
            <a:pPr>
              <a:spcBef>
                <a:spcPts val="400"/>
              </a:spcBef>
            </a:pPr>
            <a:r>
              <a:rPr lang="en-US" dirty="0"/>
              <a:t>MD simulations have shown that phonon scattering must be accounted for to accurately represent small bubbles</a:t>
            </a:r>
          </a:p>
          <a:p>
            <a:pPr>
              <a:spcBef>
                <a:spcPts val="400"/>
              </a:spcBef>
            </a:pPr>
            <a:r>
              <a:rPr lang="en-US" dirty="0"/>
              <a:t>Mesoscale simulations have shown that </a:t>
            </a:r>
            <a:r>
              <a:rPr lang="en-US" dirty="0" err="1"/>
              <a:t>GrB</a:t>
            </a:r>
            <a:r>
              <a:rPr lang="en-US" dirty="0"/>
              <a:t> bubbles have a larger impact on the thermal conductivity</a:t>
            </a:r>
          </a:p>
        </p:txBody>
      </p:sp>
      <p:sp>
        <p:nvSpPr>
          <p:cNvPr id="4" name="Slide Number Placeholder 3">
            <a:extLst>
              <a:ext uri="{FF2B5EF4-FFF2-40B4-BE49-F238E27FC236}">
                <a16:creationId xmlns:a16="http://schemas.microsoft.com/office/drawing/2014/main" id="{7F7AC306-CFB6-D64B-9173-FC364D1937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3CDE755E-6CD6-2E47-A07F-6E5EB752E8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04955" y="3601820"/>
            <a:ext cx="3087045" cy="2754531"/>
          </a:xfrm>
          <a:prstGeom prst="rect">
            <a:avLst/>
          </a:prstGeom>
        </p:spPr>
      </p:pic>
      <p:pic>
        <p:nvPicPr>
          <p:cNvPr id="10" name="Picture 9">
            <a:extLst>
              <a:ext uri="{FF2B5EF4-FFF2-40B4-BE49-F238E27FC236}">
                <a16:creationId xmlns:a16="http://schemas.microsoft.com/office/drawing/2014/main" id="{9E130049-3FBD-084E-96C5-C3D3F30DAA98}"/>
              </a:ext>
            </a:extLst>
          </p:cNvPr>
          <p:cNvPicPr>
            <a:picLocks noChangeAspect="1"/>
          </p:cNvPicPr>
          <p:nvPr/>
        </p:nvPicPr>
        <p:blipFill>
          <a:blip r:embed="rId3"/>
          <a:stretch>
            <a:fillRect/>
          </a:stretch>
        </p:blipFill>
        <p:spPr>
          <a:xfrm>
            <a:off x="7887004" y="1772775"/>
            <a:ext cx="3319323" cy="1633318"/>
          </a:xfrm>
          <a:prstGeom prst="rect">
            <a:avLst/>
          </a:prstGeom>
        </p:spPr>
      </p:pic>
      <p:grpSp>
        <p:nvGrpSpPr>
          <p:cNvPr id="11" name="Group 10">
            <a:extLst>
              <a:ext uri="{FF2B5EF4-FFF2-40B4-BE49-F238E27FC236}">
                <a16:creationId xmlns:a16="http://schemas.microsoft.com/office/drawing/2014/main" id="{5CEFA71A-9783-F942-94B7-600C21EE8F91}"/>
              </a:ext>
            </a:extLst>
          </p:cNvPr>
          <p:cNvGrpSpPr/>
          <p:nvPr/>
        </p:nvGrpSpPr>
        <p:grpSpPr>
          <a:xfrm>
            <a:off x="6231835" y="3688932"/>
            <a:ext cx="2873120" cy="2437233"/>
            <a:chOff x="0" y="3295904"/>
            <a:chExt cx="3879811" cy="3304007"/>
          </a:xfrm>
        </p:grpSpPr>
        <p:pic>
          <p:nvPicPr>
            <p:cNvPr id="12" name="Picture 11" descr="latex-image-1.pdf">
              <a:extLst>
                <a:ext uri="{FF2B5EF4-FFF2-40B4-BE49-F238E27FC236}">
                  <a16:creationId xmlns:a16="http://schemas.microsoft.com/office/drawing/2014/main" id="{0B7B48F7-DB5B-E247-9E82-B49BE83A3C0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36372" y="3597559"/>
              <a:ext cx="1536700" cy="533400"/>
            </a:xfrm>
            <a:prstGeom prst="rect">
              <a:avLst/>
            </a:prstGeom>
          </p:spPr>
        </p:pic>
        <p:sp>
          <p:nvSpPr>
            <p:cNvPr id="13" name="TextBox 12">
              <a:extLst>
                <a:ext uri="{FF2B5EF4-FFF2-40B4-BE49-F238E27FC236}">
                  <a16:creationId xmlns:a16="http://schemas.microsoft.com/office/drawing/2014/main" id="{5311D772-573F-1541-A61C-130A54B8F176}"/>
                </a:ext>
              </a:extLst>
            </p:cNvPr>
            <p:cNvSpPr txBox="1"/>
            <p:nvPr/>
          </p:nvSpPr>
          <p:spPr>
            <a:xfrm>
              <a:off x="0" y="3295904"/>
              <a:ext cx="3503372" cy="344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4F81BD"/>
                  </a:solidFill>
                  <a:effectLst/>
                  <a:uLnTx/>
                  <a:uFillTx/>
                  <a:latin typeface="Arial"/>
                  <a:ea typeface="+mn-ea"/>
                  <a:cs typeface="Arial"/>
                </a:rPr>
                <a:t>Maxwell-Eucken (no phonon scattering)</a:t>
              </a:r>
            </a:p>
          </p:txBody>
        </p:sp>
        <p:pic>
          <p:nvPicPr>
            <p:cNvPr id="14" name="Picture 13">
              <a:extLst>
                <a:ext uri="{FF2B5EF4-FFF2-40B4-BE49-F238E27FC236}">
                  <a16:creationId xmlns:a16="http://schemas.microsoft.com/office/drawing/2014/main" id="{2AF779EF-EC81-D647-B42C-88389FA0CAC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0411" y="4406977"/>
              <a:ext cx="3289400" cy="2192934"/>
            </a:xfrm>
            <a:prstGeom prst="rect">
              <a:avLst/>
            </a:prstGeom>
          </p:spPr>
        </p:pic>
      </p:grpSp>
    </p:spTree>
    <p:extLst>
      <p:ext uri="{BB962C8B-B14F-4D97-AF65-F5344CB8AC3E}">
        <p14:creationId xmlns:p14="http://schemas.microsoft.com/office/powerpoint/2010/main" val="3635157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573D1-F3E7-BA43-A1AC-8F3358727CC6}"/>
              </a:ext>
            </a:extLst>
          </p:cNvPr>
          <p:cNvSpPr>
            <a:spLocks noGrp="1"/>
          </p:cNvSpPr>
          <p:nvPr>
            <p:ph type="title"/>
          </p:nvPr>
        </p:nvSpPr>
        <p:spPr/>
        <p:txBody>
          <a:bodyPr/>
          <a:lstStyle/>
          <a:p>
            <a:r>
              <a:rPr lang="en-US" dirty="0"/>
              <a:t>Parametrizing the mechanistic model</a:t>
            </a:r>
          </a:p>
        </p:txBody>
      </p:sp>
      <p:sp>
        <p:nvSpPr>
          <p:cNvPr id="3" name="Content Placeholder 2">
            <a:extLst>
              <a:ext uri="{FF2B5EF4-FFF2-40B4-BE49-F238E27FC236}">
                <a16:creationId xmlns:a16="http://schemas.microsoft.com/office/drawing/2014/main" id="{E8676ED4-D5DD-6F4E-B008-16F7C2B0F47C}"/>
              </a:ext>
            </a:extLst>
          </p:cNvPr>
          <p:cNvSpPr>
            <a:spLocks noGrp="1"/>
          </p:cNvSpPr>
          <p:nvPr>
            <p:ph idx="1"/>
          </p:nvPr>
        </p:nvSpPr>
        <p:spPr>
          <a:xfrm>
            <a:off x="609600" y="2160495"/>
            <a:ext cx="5045765" cy="3965670"/>
          </a:xfrm>
        </p:spPr>
        <p:txBody>
          <a:bodyPr/>
          <a:lstStyle/>
          <a:p>
            <a:r>
              <a:rPr lang="en-US" dirty="0"/>
              <a:t>A thermal resistor model is created to describe the impact of </a:t>
            </a:r>
            <a:r>
              <a:rPr lang="en-US" dirty="0" err="1"/>
              <a:t>GrB</a:t>
            </a:r>
            <a:r>
              <a:rPr lang="en-US" dirty="0"/>
              <a:t> bubbles on the thermal conductivity</a:t>
            </a:r>
          </a:p>
          <a:p>
            <a:endParaRPr lang="en-US" dirty="0"/>
          </a:p>
          <a:p>
            <a:r>
              <a:rPr lang="en-US" dirty="0"/>
              <a:t>MARMOT simulations are currently being used to inform the development of the precipitate multiplier</a:t>
            </a:r>
          </a:p>
        </p:txBody>
      </p:sp>
      <p:sp>
        <p:nvSpPr>
          <p:cNvPr id="4" name="Slide Number Placeholder 3">
            <a:extLst>
              <a:ext uri="{FF2B5EF4-FFF2-40B4-BE49-F238E27FC236}">
                <a16:creationId xmlns:a16="http://schemas.microsoft.com/office/drawing/2014/main" id="{793E0A36-61DC-C546-811D-AFDD27FCA7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AB4BC4B4-1F51-2748-9F20-7D65A6ABA71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49282"/>
          <a:stretch/>
        </p:blipFill>
        <p:spPr>
          <a:xfrm>
            <a:off x="7305261" y="1786835"/>
            <a:ext cx="3141323" cy="2089426"/>
          </a:xfrm>
          <a:prstGeom prst="rect">
            <a:avLst/>
          </a:prstGeom>
        </p:spPr>
      </p:pic>
      <p:pic>
        <p:nvPicPr>
          <p:cNvPr id="9" name="Picture 8" descr="LGD-3D-Redo-NoFill.png">
            <a:extLst>
              <a:ext uri="{FF2B5EF4-FFF2-40B4-BE49-F238E27FC236}">
                <a16:creationId xmlns:a16="http://schemas.microsoft.com/office/drawing/2014/main" id="{6092E5BA-1979-AD4A-8BB9-966F729360C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600713" y="4137302"/>
            <a:ext cx="2550418" cy="258417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448382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2186-1745-2B4F-BB1C-444A73D2F61E}"/>
              </a:ext>
            </a:extLst>
          </p:cNvPr>
          <p:cNvSpPr>
            <a:spLocks noGrp="1"/>
          </p:cNvSpPr>
          <p:nvPr>
            <p:ph type="title"/>
          </p:nvPr>
        </p:nvSpPr>
        <p:spPr/>
        <p:txBody>
          <a:bodyPr/>
          <a:lstStyle/>
          <a:p>
            <a:r>
              <a:rPr lang="en-US" dirty="0"/>
              <a:t>Parametrizing the mechanistic model</a:t>
            </a:r>
          </a:p>
        </p:txBody>
      </p:sp>
      <p:sp>
        <p:nvSpPr>
          <p:cNvPr id="3" name="Content Placeholder 2">
            <a:extLst>
              <a:ext uri="{FF2B5EF4-FFF2-40B4-BE49-F238E27FC236}">
                <a16:creationId xmlns:a16="http://schemas.microsoft.com/office/drawing/2014/main" id="{10FF35EA-191C-644B-ACE1-1CF7F8F814C7}"/>
              </a:ext>
            </a:extLst>
          </p:cNvPr>
          <p:cNvSpPr>
            <a:spLocks noGrp="1"/>
          </p:cNvSpPr>
          <p:nvPr>
            <p:ph idx="1"/>
          </p:nvPr>
        </p:nvSpPr>
        <p:spPr/>
        <p:txBody>
          <a:bodyPr>
            <a:normAutofit lnSpcReduction="10000"/>
          </a:bodyPr>
          <a:lstStyle/>
          <a:p>
            <a:r>
              <a:rPr lang="en-US" dirty="0"/>
              <a:t>Each term in the expression must be coupled to a corresponding state variable</a:t>
            </a:r>
          </a:p>
          <a:p>
            <a:r>
              <a:rPr lang="en-US" dirty="0"/>
              <a:t>The full model calculates the thermal conductivity as a function of: </a:t>
            </a:r>
          </a:p>
          <a:p>
            <a:pPr lvl="1"/>
            <a:r>
              <a:rPr lang="en-US" dirty="0"/>
              <a:t>Temperature</a:t>
            </a:r>
          </a:p>
          <a:p>
            <a:pPr lvl="1"/>
            <a:r>
              <a:rPr lang="en-US" dirty="0"/>
              <a:t>Point defect concentrations</a:t>
            </a:r>
          </a:p>
          <a:p>
            <a:pPr lvl="1"/>
            <a:r>
              <a:rPr lang="en-US" dirty="0"/>
              <a:t>Intragranular bubble density and average radius</a:t>
            </a:r>
          </a:p>
          <a:p>
            <a:pPr lvl="1"/>
            <a:r>
              <a:rPr lang="en-US" dirty="0"/>
              <a:t>Fractional coverage of bubbles on GBs and average radius</a:t>
            </a:r>
          </a:p>
          <a:p>
            <a:pPr lvl="1"/>
            <a:r>
              <a:rPr lang="en-US" dirty="0"/>
              <a:t>Precipitate volume fractions and average sizes</a:t>
            </a:r>
          </a:p>
          <a:p>
            <a:r>
              <a:rPr lang="en-US" dirty="0"/>
              <a:t>Currently effects of precipitate fission products and individual point defects are neglected in the model, as they are not tracked or predicted in BISON</a:t>
            </a:r>
          </a:p>
          <a:p>
            <a:endParaRPr lang="en-US" dirty="0"/>
          </a:p>
        </p:txBody>
      </p:sp>
      <p:sp>
        <p:nvSpPr>
          <p:cNvPr id="4" name="Slide Number Placeholder 3">
            <a:extLst>
              <a:ext uri="{FF2B5EF4-FFF2-40B4-BE49-F238E27FC236}">
                <a16:creationId xmlns:a16="http://schemas.microsoft.com/office/drawing/2014/main" id="{C75C4F6C-C151-974D-880D-EFDA6A06C5F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descr="latex-image-1.pdf">
            <a:extLst>
              <a:ext uri="{FF2B5EF4-FFF2-40B4-BE49-F238E27FC236}">
                <a16:creationId xmlns:a16="http://schemas.microsoft.com/office/drawing/2014/main" id="{199508E7-A8BA-DD4E-A575-EB481AD276D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099550" y="3847860"/>
            <a:ext cx="2120900" cy="393700"/>
          </a:xfrm>
          <a:prstGeom prst="rect">
            <a:avLst/>
          </a:prstGeom>
        </p:spPr>
      </p:pic>
    </p:spTree>
    <p:extLst>
      <p:ext uri="{BB962C8B-B14F-4D97-AF65-F5344CB8AC3E}">
        <p14:creationId xmlns:p14="http://schemas.microsoft.com/office/powerpoint/2010/main" val="26285012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06B2-F528-4D47-9E9E-60A56601B7F0}"/>
              </a:ext>
            </a:extLst>
          </p:cNvPr>
          <p:cNvSpPr>
            <a:spLocks noGrp="1"/>
          </p:cNvSpPr>
          <p:nvPr>
            <p:ph type="title"/>
          </p:nvPr>
        </p:nvSpPr>
        <p:spPr/>
        <p:txBody>
          <a:bodyPr/>
          <a:lstStyle/>
          <a:p>
            <a:r>
              <a:rPr lang="en-US" dirty="0"/>
              <a:t>Comparing with experiments…</a:t>
            </a:r>
          </a:p>
        </p:txBody>
      </p:sp>
      <p:sp>
        <p:nvSpPr>
          <p:cNvPr id="3" name="Content Placeholder 2">
            <a:extLst>
              <a:ext uri="{FF2B5EF4-FFF2-40B4-BE49-F238E27FC236}">
                <a16:creationId xmlns:a16="http://schemas.microsoft.com/office/drawing/2014/main" id="{3E85962A-82C2-7644-8F73-607B90690953}"/>
              </a:ext>
            </a:extLst>
          </p:cNvPr>
          <p:cNvSpPr>
            <a:spLocks noGrp="1"/>
          </p:cNvSpPr>
          <p:nvPr>
            <p:ph idx="1"/>
          </p:nvPr>
        </p:nvSpPr>
        <p:spPr>
          <a:xfrm>
            <a:off x="589591" y="1839292"/>
            <a:ext cx="10972800" cy="3965670"/>
          </a:xfrm>
        </p:spPr>
        <p:txBody>
          <a:bodyPr/>
          <a:lstStyle/>
          <a:p>
            <a:r>
              <a:rPr lang="en-US" sz="2000" dirty="0"/>
              <a:t>The model under-predicts the temperature in most cases, but not all</a:t>
            </a:r>
          </a:p>
          <a:p>
            <a:r>
              <a:rPr lang="en-US" sz="2000" dirty="0"/>
              <a:t>Thus, the model is neglecting some resistive effects from the microstructure</a:t>
            </a:r>
          </a:p>
          <a:p>
            <a:r>
              <a:rPr lang="en-US" sz="2000" dirty="0"/>
              <a:t>Generally performs as well, and in some cases better, than the burnup based model</a:t>
            </a:r>
          </a:p>
        </p:txBody>
      </p:sp>
      <p:sp>
        <p:nvSpPr>
          <p:cNvPr id="4" name="Slide Number Placeholder 3">
            <a:extLst>
              <a:ext uri="{FF2B5EF4-FFF2-40B4-BE49-F238E27FC236}">
                <a16:creationId xmlns:a16="http://schemas.microsoft.com/office/drawing/2014/main" id="{653548D2-247E-D949-94CD-E698B37739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5DACC8F1-EDF3-D240-822E-3411E699BC85}"/>
              </a:ext>
            </a:extLst>
          </p:cNvPr>
          <p:cNvGrpSpPr/>
          <p:nvPr/>
        </p:nvGrpSpPr>
        <p:grpSpPr>
          <a:xfrm>
            <a:off x="525238" y="3241276"/>
            <a:ext cx="2711711" cy="3076883"/>
            <a:chOff x="67076" y="1542704"/>
            <a:chExt cx="2711711" cy="3076883"/>
          </a:xfrm>
        </p:grpSpPr>
        <p:sp>
          <p:nvSpPr>
            <p:cNvPr id="7" name="Rounded Rectangle 6">
              <a:extLst>
                <a:ext uri="{FF2B5EF4-FFF2-40B4-BE49-F238E27FC236}">
                  <a16:creationId xmlns:a16="http://schemas.microsoft.com/office/drawing/2014/main" id="{B3088DF9-3833-A948-ABA4-7033896806D7}"/>
                </a:ext>
              </a:extLst>
            </p:cNvPr>
            <p:cNvSpPr/>
            <p:nvPr/>
          </p:nvSpPr>
          <p:spPr bwMode="auto">
            <a:xfrm>
              <a:off x="67076" y="1542704"/>
              <a:ext cx="2711711" cy="3076883"/>
            </a:xfrm>
            <a:prstGeom prst="roundRect">
              <a:avLst>
                <a:gd name="adj" fmla="val 5079"/>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4F81BD"/>
                  </a:solidFill>
                  <a:effectLst/>
                  <a:uLnTx/>
                  <a:uFillTx/>
                  <a:latin typeface="Calibri"/>
                  <a:ea typeface="+mn-ea"/>
                  <a:cs typeface="+mn-cs"/>
                </a:rPr>
                <a:t>RISO-3 AN3</a:t>
              </a:r>
            </a:p>
          </p:txBody>
        </p:sp>
        <p:pic>
          <p:nvPicPr>
            <p:cNvPr id="8" name="Picture 7" descr="RISO_AN3_Temp-eps-converted-to.pdf">
              <a:extLst>
                <a:ext uri="{FF2B5EF4-FFF2-40B4-BE49-F238E27FC236}">
                  <a16:creationId xmlns:a16="http://schemas.microsoft.com/office/drawing/2014/main" id="{D9B2EA4C-877A-1141-9405-0B7F631753E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31429" y="1926251"/>
              <a:ext cx="2574012" cy="2574012"/>
            </a:xfrm>
            <a:prstGeom prst="rect">
              <a:avLst/>
            </a:prstGeom>
          </p:spPr>
        </p:pic>
      </p:grpSp>
      <p:grpSp>
        <p:nvGrpSpPr>
          <p:cNvPr id="9" name="Group 8">
            <a:extLst>
              <a:ext uri="{FF2B5EF4-FFF2-40B4-BE49-F238E27FC236}">
                <a16:creationId xmlns:a16="http://schemas.microsoft.com/office/drawing/2014/main" id="{D9C4DE42-651B-F04C-9C49-2CFBF4CFCF6D}"/>
              </a:ext>
            </a:extLst>
          </p:cNvPr>
          <p:cNvGrpSpPr/>
          <p:nvPr/>
        </p:nvGrpSpPr>
        <p:grpSpPr>
          <a:xfrm>
            <a:off x="3384289" y="3235295"/>
            <a:ext cx="2711711" cy="3076883"/>
            <a:chOff x="2401591" y="1542704"/>
            <a:chExt cx="2711711" cy="3076883"/>
          </a:xfrm>
        </p:grpSpPr>
        <p:sp>
          <p:nvSpPr>
            <p:cNvPr id="10" name="Rounded Rectangle 9">
              <a:extLst>
                <a:ext uri="{FF2B5EF4-FFF2-40B4-BE49-F238E27FC236}">
                  <a16:creationId xmlns:a16="http://schemas.microsoft.com/office/drawing/2014/main" id="{C899EC02-FD6A-9940-B959-AB9047BF10E9}"/>
                </a:ext>
              </a:extLst>
            </p:cNvPr>
            <p:cNvSpPr/>
            <p:nvPr/>
          </p:nvSpPr>
          <p:spPr bwMode="auto">
            <a:xfrm>
              <a:off x="2401591" y="1542704"/>
              <a:ext cx="2711711" cy="3076883"/>
            </a:xfrm>
            <a:prstGeom prst="roundRect">
              <a:avLst>
                <a:gd name="adj" fmla="val 5079"/>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4F81BD"/>
                  </a:solidFill>
                  <a:effectLst/>
                  <a:uLnTx/>
                  <a:uFillTx/>
                  <a:latin typeface="Calibri"/>
                  <a:ea typeface="+mn-ea"/>
                  <a:cs typeface="+mn-cs"/>
                </a:rPr>
                <a:t>RISO-3 AN4</a:t>
              </a:r>
            </a:p>
          </p:txBody>
        </p:sp>
        <p:pic>
          <p:nvPicPr>
            <p:cNvPr id="11" name="Picture 10" descr="RISO_AN4_Temp-eps-converted-to.pdf">
              <a:extLst>
                <a:ext uri="{FF2B5EF4-FFF2-40B4-BE49-F238E27FC236}">
                  <a16:creationId xmlns:a16="http://schemas.microsoft.com/office/drawing/2014/main" id="{E1258C7C-9AE7-D245-A7FF-F41FB06B9F1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479622" y="1926251"/>
              <a:ext cx="2574012" cy="2574012"/>
            </a:xfrm>
            <a:prstGeom prst="rect">
              <a:avLst/>
            </a:prstGeom>
          </p:spPr>
        </p:pic>
      </p:grpSp>
      <p:grpSp>
        <p:nvGrpSpPr>
          <p:cNvPr id="12" name="Group 11">
            <a:extLst>
              <a:ext uri="{FF2B5EF4-FFF2-40B4-BE49-F238E27FC236}">
                <a16:creationId xmlns:a16="http://schemas.microsoft.com/office/drawing/2014/main" id="{50FA91CB-A4E2-B24C-BCC0-182E036D0012}"/>
              </a:ext>
            </a:extLst>
          </p:cNvPr>
          <p:cNvGrpSpPr/>
          <p:nvPr/>
        </p:nvGrpSpPr>
        <p:grpSpPr>
          <a:xfrm>
            <a:off x="6243340" y="3235295"/>
            <a:ext cx="2698502" cy="3076883"/>
            <a:chOff x="2977377" y="1542704"/>
            <a:chExt cx="2698502" cy="3076883"/>
          </a:xfrm>
        </p:grpSpPr>
        <p:sp>
          <p:nvSpPr>
            <p:cNvPr id="13" name="Rounded Rectangle 12">
              <a:extLst>
                <a:ext uri="{FF2B5EF4-FFF2-40B4-BE49-F238E27FC236}">
                  <a16:creationId xmlns:a16="http://schemas.microsoft.com/office/drawing/2014/main" id="{180E1ADC-53C7-9B4E-88A6-C509572C5EE7}"/>
                </a:ext>
              </a:extLst>
            </p:cNvPr>
            <p:cNvSpPr/>
            <p:nvPr/>
          </p:nvSpPr>
          <p:spPr bwMode="auto">
            <a:xfrm>
              <a:off x="2977377" y="1542704"/>
              <a:ext cx="2698502" cy="3076883"/>
            </a:xfrm>
            <a:prstGeom prst="roundRect">
              <a:avLst>
                <a:gd name="adj" fmla="val 5079"/>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4F81BD"/>
                  </a:solidFill>
                  <a:effectLst/>
                  <a:uLnTx/>
                  <a:uFillTx/>
                  <a:latin typeface="Calibri"/>
                  <a:ea typeface="+mn-ea"/>
                  <a:cs typeface="+mn-cs"/>
                </a:rPr>
                <a:t>RISO II-3</a:t>
              </a:r>
            </a:p>
          </p:txBody>
        </p:sp>
        <p:pic>
          <p:nvPicPr>
            <p:cNvPr id="14" name="Picture 13" descr="RISO_II3_Temp-eps-converted-to.pdf">
              <a:extLst>
                <a:ext uri="{FF2B5EF4-FFF2-40B4-BE49-F238E27FC236}">
                  <a16:creationId xmlns:a16="http://schemas.microsoft.com/office/drawing/2014/main" id="{2207F328-95F7-E74C-B115-20C9B5C0F41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41535" y="1926251"/>
              <a:ext cx="2583200" cy="2583200"/>
            </a:xfrm>
            <a:prstGeom prst="rect">
              <a:avLst/>
            </a:prstGeom>
          </p:spPr>
        </p:pic>
      </p:grpSp>
      <p:grpSp>
        <p:nvGrpSpPr>
          <p:cNvPr id="15" name="Group 14">
            <a:extLst>
              <a:ext uri="{FF2B5EF4-FFF2-40B4-BE49-F238E27FC236}">
                <a16:creationId xmlns:a16="http://schemas.microsoft.com/office/drawing/2014/main" id="{06093D8A-B740-DB4D-8A50-B907FF860BBF}"/>
              </a:ext>
            </a:extLst>
          </p:cNvPr>
          <p:cNvGrpSpPr/>
          <p:nvPr/>
        </p:nvGrpSpPr>
        <p:grpSpPr>
          <a:xfrm>
            <a:off x="9090325" y="3235294"/>
            <a:ext cx="2698502" cy="3076883"/>
            <a:chOff x="5875500" y="1542704"/>
            <a:chExt cx="2698502" cy="3076883"/>
          </a:xfrm>
        </p:grpSpPr>
        <p:sp>
          <p:nvSpPr>
            <p:cNvPr id="16" name="Rounded Rectangle 15">
              <a:extLst>
                <a:ext uri="{FF2B5EF4-FFF2-40B4-BE49-F238E27FC236}">
                  <a16:creationId xmlns:a16="http://schemas.microsoft.com/office/drawing/2014/main" id="{32C266D0-5EE3-7244-9558-E07DD94A7CC1}"/>
                </a:ext>
              </a:extLst>
            </p:cNvPr>
            <p:cNvSpPr/>
            <p:nvPr/>
          </p:nvSpPr>
          <p:spPr bwMode="auto">
            <a:xfrm>
              <a:off x="5875500" y="1542704"/>
              <a:ext cx="2698502" cy="3076883"/>
            </a:xfrm>
            <a:prstGeom prst="roundRect">
              <a:avLst>
                <a:gd name="adj" fmla="val 5079"/>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4F81BD"/>
                  </a:solidFill>
                  <a:effectLst/>
                  <a:uLnTx/>
                  <a:uFillTx/>
                  <a:latin typeface="Calibri"/>
                  <a:ea typeface="+mn-ea"/>
                  <a:cs typeface="+mn-cs"/>
                </a:rPr>
                <a:t>US PWR TSQ0002</a:t>
              </a:r>
            </a:p>
          </p:txBody>
        </p:sp>
        <p:pic>
          <p:nvPicPr>
            <p:cNvPr id="17" name="Picture 16" descr="US_PWR_TSQ002_Temp-eps-converted-to.pdf">
              <a:extLst>
                <a:ext uri="{FF2B5EF4-FFF2-40B4-BE49-F238E27FC236}">
                  <a16:creationId xmlns:a16="http://schemas.microsoft.com/office/drawing/2014/main" id="{97C54E7D-BDE4-FF41-BE43-F43AD1FF45B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941652" y="1926251"/>
              <a:ext cx="2580162" cy="2580162"/>
            </a:xfrm>
            <a:prstGeom prst="rect">
              <a:avLst/>
            </a:prstGeom>
          </p:spPr>
        </p:pic>
      </p:grpSp>
    </p:spTree>
    <p:extLst>
      <p:ext uri="{BB962C8B-B14F-4D97-AF65-F5344CB8AC3E}">
        <p14:creationId xmlns:p14="http://schemas.microsoft.com/office/powerpoint/2010/main" val="2187180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DCCAD-BE05-A94F-B66A-EA2D3ABF07E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C7C9A290-33D4-8D48-BEAB-3A09AD15C127}"/>
              </a:ext>
            </a:extLst>
          </p:cNvPr>
          <p:cNvSpPr>
            <a:spLocks noGrp="1"/>
          </p:cNvSpPr>
          <p:nvPr>
            <p:ph idx="1"/>
          </p:nvPr>
        </p:nvSpPr>
        <p:spPr/>
        <p:txBody>
          <a:bodyPr/>
          <a:lstStyle/>
          <a:p>
            <a:r>
              <a:rPr lang="en-US" dirty="0"/>
              <a:t>Researchers are working to develop materials models for the fuel and cladding that are mechanistic rather than empirical and that are based on the evolution of the microstructure rather than the burnup</a:t>
            </a:r>
          </a:p>
          <a:p>
            <a:endParaRPr lang="en-US" dirty="0"/>
          </a:p>
        </p:txBody>
      </p:sp>
      <p:sp>
        <p:nvSpPr>
          <p:cNvPr id="4" name="Slide Number Placeholder 3">
            <a:extLst>
              <a:ext uri="{FF2B5EF4-FFF2-40B4-BE49-F238E27FC236}">
                <a16:creationId xmlns:a16="http://schemas.microsoft.com/office/drawing/2014/main" id="{C5080A65-7384-FF4F-94B0-F4C3AB1A3F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17452458"/>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6418</TotalTime>
  <Words>2456</Words>
  <Application>Microsoft Macintosh PowerPoint</Application>
  <PresentationFormat>Widescreen</PresentationFormat>
  <Paragraphs>308</Paragraphs>
  <Slides>35</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1" baseType="lpstr">
      <vt:lpstr>Arial</vt:lpstr>
      <vt:lpstr>Calibri</vt:lpstr>
      <vt:lpstr>Cambria Math</vt:lpstr>
      <vt:lpstr>Times New Roman</vt:lpstr>
      <vt:lpstr>2_NCStateU-horizontal-left-logo</vt:lpstr>
      <vt:lpstr>Equation</vt:lpstr>
      <vt:lpstr>Nuclear Fuel Performance</vt:lpstr>
      <vt:lpstr>Paper Project</vt:lpstr>
      <vt:lpstr>Last Time</vt:lpstr>
      <vt:lpstr>Material processing</vt:lpstr>
      <vt:lpstr>Material processing</vt:lpstr>
      <vt:lpstr>Material processing</vt:lpstr>
      <vt:lpstr>Summary</vt:lpstr>
      <vt:lpstr>UO2 Radiation effects</vt:lpstr>
      <vt:lpstr>Radiation Damage</vt:lpstr>
      <vt:lpstr>Loop Formation</vt:lpstr>
      <vt:lpstr>Voids</vt:lpstr>
      <vt:lpstr>Radiation Effects</vt:lpstr>
      <vt:lpstr>Thermal Conductivity Degradation</vt:lpstr>
      <vt:lpstr>Thermal Conductivity Degradation</vt:lpstr>
      <vt:lpstr>UO2 Thermal Conductivity</vt:lpstr>
      <vt:lpstr>UO2 Thermal Conductivity</vt:lpstr>
      <vt:lpstr>UO2 Thermal Conductivity</vt:lpstr>
      <vt:lpstr>UO2 Thermal Conductivity</vt:lpstr>
      <vt:lpstr>MOOSE/BISON Models</vt:lpstr>
      <vt:lpstr>Other Physical Changes</vt:lpstr>
      <vt:lpstr>High Burnup Structure (HBS)</vt:lpstr>
      <vt:lpstr>High Burnup Structure (HBS)</vt:lpstr>
      <vt:lpstr>High Burnup Structure (HBS)</vt:lpstr>
      <vt:lpstr>High Burnup Structure (HBS)</vt:lpstr>
      <vt:lpstr>Radiation Effects Summary</vt:lpstr>
      <vt:lpstr>mechanistic modeling</vt:lpstr>
      <vt:lpstr>Microstructure-based fuel performance modeling</vt:lpstr>
      <vt:lpstr>Example: fission gas behavior in the fuel</vt:lpstr>
      <vt:lpstr>Multiscale separate effects experiments and simulations inform the development of the models</vt:lpstr>
      <vt:lpstr>Microstructure-based models</vt:lpstr>
      <vt:lpstr>Parametrizing the mechanistic model</vt:lpstr>
      <vt:lpstr>Parametrizing the mechanistic model</vt:lpstr>
      <vt:lpstr>Parametrizing the mechanistic model</vt:lpstr>
      <vt:lpstr>Comparing with experiments…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 1 is in the books</dc:title>
  <dc:creator>Benjamin Beeler</dc:creator>
  <cp:lastModifiedBy>Benjamin W. Beeler</cp:lastModifiedBy>
  <cp:revision>108</cp:revision>
  <dcterms:created xsi:type="dcterms:W3CDTF">2020-02-03T20:17:36Z</dcterms:created>
  <dcterms:modified xsi:type="dcterms:W3CDTF">2026-02-14T23:54:42Z</dcterms:modified>
</cp:coreProperties>
</file>
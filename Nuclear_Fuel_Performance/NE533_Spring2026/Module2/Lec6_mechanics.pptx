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2"/>
  </p:notesMasterIdLst>
  <p:sldIdLst>
    <p:sldId id="269" r:id="rId2"/>
    <p:sldId id="549" r:id="rId3"/>
    <p:sldId id="284" r:id="rId4"/>
    <p:sldId id="285" r:id="rId5"/>
    <p:sldId id="550" r:id="rId6"/>
    <p:sldId id="553" r:id="rId7"/>
    <p:sldId id="288" r:id="rId8"/>
    <p:sldId id="408" r:id="rId9"/>
    <p:sldId id="289" r:id="rId10"/>
    <p:sldId id="29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26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9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4C836-458D-7049-9AAC-D805B190D85D}" type="datetimeFigureOut">
              <a:rPr lang="en-US" smtClean="0"/>
              <a:t>1/29/26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6DE4C8-0267-7C42-83B9-C11BDD048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541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F3A803-A045-354B-887A-01433CE46FC2}" type="datetime1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82176-A547-F94B-AC51-D6E9C882CB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950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42822"/>
            <a:ext cx="10972800" cy="106838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11209"/>
            <a:ext cx="10972800" cy="4614956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BD04BF-9DC2-6341-92B2-BD109A2EF3B1}" type="datetime1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833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0FFBC7-3028-644D-986B-D9855CB74B38}" type="datetime1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6BD0F-ABBC-C14D-BC96-77BE126A74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557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72731"/>
            <a:ext cx="10972800" cy="106838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41119"/>
            <a:ext cx="5384800" cy="4585046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68501"/>
            <a:ext cx="5384800" cy="4157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3B8AE4-01F5-CC42-9C62-61BC6528368B}" type="datetime1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222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E49314-4A78-2444-9569-44EB70168344}" type="datetime1">
              <a:rPr lang="en-US" smtClean="0"/>
              <a:t>1/29/26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772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2854"/>
            <a:ext cx="10972800" cy="106838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C22837-4683-B242-B000-BCEE30621787}" type="datetime1">
              <a:rPr lang="en-US" smtClean="0"/>
              <a:t>1/29/26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B7D4D-4E81-5B40-91F6-CF14C25F86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027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DAE926-7EF1-0B40-B57E-417D188A609C}" type="datetime1">
              <a:rPr lang="en-US" smtClean="0"/>
              <a:t>1/29/26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B2FA7-4FDB-5643-811E-7991DEE50B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353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8D107B-B9C7-5B41-A168-55258AB95F52}" type="datetime1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DD8B14-AE1E-054C-8668-93D0F0400A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289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D92D36-EE82-3142-B011-9831FB5E702F}" type="datetime1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EF0004-A563-C64B-9FAD-6198662E1B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079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B33C1D-C2E2-1049-AA3F-CD6E91052752}" type="datetime1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9610A8-B29A-B34A-A0B5-3DF26A2EB8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945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91AD68-B60C-4542-BDDD-2074DE6DE828}" type="datetime1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D0221-73D0-6245-9CCD-73A1D8FCB5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377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900114"/>
            <a:ext cx="10972800" cy="106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Headline Line One</a:t>
            </a:r>
            <a:br>
              <a:rPr lang="en-US" dirty="0"/>
            </a:br>
            <a:r>
              <a:rPr lang="en-US" dirty="0"/>
              <a:t>Headline Line Two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3022601"/>
            <a:ext cx="10972800" cy="310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3EE08B4B-7256-494F-A90D-3891BD685F4A}" type="datetime1">
              <a:rPr lang="en-US" smtClean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EF7D53D-272A-624E-BE3D-99D13E2B41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34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400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000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A1AB4-6496-0D46-9C3B-B71641B901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Nuclear Fuel Performance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102A4-1D26-9E41-904A-5C94FEB21A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NE-533</a:t>
            </a:r>
          </a:p>
          <a:p>
            <a:r>
              <a:rPr lang="en-US" dirty="0"/>
              <a:t>Spring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6DA87-5AA8-004F-861E-B1E0BAA30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E82176-A547-F94B-AC51-D6E9C882CB8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768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29CC1-34E4-A34F-8621-801D8886C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1234721"/>
            <a:ext cx="10363200" cy="1362075"/>
          </a:xfrm>
        </p:spPr>
        <p:txBody>
          <a:bodyPr/>
          <a:lstStyle/>
          <a:p>
            <a:r>
              <a:rPr lang="en-US" dirty="0"/>
              <a:t>Mechanics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FF06B0-02C9-F34D-82A4-D2D5BBAF6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A6BD0F-ABBC-C14D-BC96-77BE126A748B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887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D71C1-A0EA-7A4C-AEE6-90609E780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Solid mechanics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465AE-1EA8-D646-BA00-15B2C5156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03283"/>
            <a:ext cx="7496175" cy="4822882"/>
          </a:xfrm>
        </p:spPr>
        <p:txBody>
          <a:bodyPr>
            <a:normAutofit/>
          </a:bodyPr>
          <a:lstStyle/>
          <a:p>
            <a:r>
              <a:rPr lang="en-US" dirty="0"/>
              <a:t>When a load is applied to a body, it changes shape and perhaps size</a:t>
            </a:r>
          </a:p>
          <a:p>
            <a:r>
              <a:rPr lang="en-US" dirty="0"/>
              <a:t>Motions throughout a body are called </a:t>
            </a:r>
            <a:r>
              <a:rPr lang="en-US" b="1" dirty="0"/>
              <a:t>displacements </a:t>
            </a:r>
          </a:p>
          <a:p>
            <a:pPr lvl="1"/>
            <a:r>
              <a:rPr lang="en-US" b="1" dirty="0"/>
              <a:t>u</a:t>
            </a:r>
            <a:r>
              <a:rPr lang="en-US" dirty="0"/>
              <a:t>(</a:t>
            </a:r>
            <a:r>
              <a:rPr lang="en-US" b="1" dirty="0"/>
              <a:t>r</a:t>
            </a:r>
            <a:r>
              <a:rPr lang="en-US" dirty="0"/>
              <a:t>, t)</a:t>
            </a:r>
          </a:p>
          <a:p>
            <a:r>
              <a:rPr lang="en-US" dirty="0"/>
              <a:t>Rigid body displacements do not change the shape and/or size</a:t>
            </a:r>
          </a:p>
          <a:p>
            <a:pPr lvl="1"/>
            <a:r>
              <a:rPr lang="en-US" dirty="0"/>
              <a:t>the rigid body is translated</a:t>
            </a:r>
          </a:p>
          <a:p>
            <a:r>
              <a:rPr lang="en-US" dirty="0"/>
              <a:t>Changes in shape and/or size are call </a:t>
            </a:r>
            <a:r>
              <a:rPr lang="en-US" b="1" dirty="0"/>
              <a:t>deformations</a:t>
            </a:r>
          </a:p>
          <a:p>
            <a:r>
              <a:rPr lang="en-US" dirty="0"/>
              <a:t>The objective of </a:t>
            </a:r>
            <a:r>
              <a:rPr lang="en-US" b="1" dirty="0"/>
              <a:t>Solid Mechanics</a:t>
            </a:r>
            <a:r>
              <a:rPr lang="en-US" dirty="0"/>
              <a:t> is to relate loads (applied force) to deformation</a:t>
            </a: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C55892-D605-0443-96E7-A43AE4D7D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8D15C1-2225-2548-989A-DAF386E8D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7400" y="2652888"/>
            <a:ext cx="3689048" cy="206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013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AAA05-860D-AE4C-8988-77A127741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Ideal springs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B08D4-0082-2348-9C8C-A1BF86104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6943725" cy="3965670"/>
          </a:xfrm>
        </p:spPr>
        <p:txBody>
          <a:bodyPr/>
          <a:lstStyle/>
          <a:p>
            <a:r>
              <a:rPr lang="en-US" dirty="0"/>
              <a:t>It can be instructive to view solids as a spring</a:t>
            </a:r>
          </a:p>
          <a:p>
            <a:r>
              <a:rPr lang="en-US" dirty="0"/>
              <a:t>When we apply some force F, we get some displacement x</a:t>
            </a:r>
          </a:p>
          <a:p>
            <a:pPr lvl="1"/>
            <a:r>
              <a:rPr lang="en-US" i="1" dirty="0">
                <a:latin typeface="Times New Roman"/>
                <a:cs typeface="Times New Roman"/>
              </a:rPr>
              <a:t>F = k x</a:t>
            </a:r>
          </a:p>
          <a:p>
            <a:r>
              <a:rPr lang="en-US" dirty="0">
                <a:cs typeface="Times New Roman"/>
              </a:rPr>
              <a:t>When the spring is displaced by x, there is force that responds in the opposite direction equal to </a:t>
            </a:r>
            <a:r>
              <a:rPr lang="en-US" i="1" dirty="0" err="1">
                <a:latin typeface="Times New Roman"/>
                <a:cs typeface="Times New Roman"/>
              </a:rPr>
              <a:t>kx</a:t>
            </a:r>
            <a:endParaRPr lang="en-US" i="1" dirty="0">
              <a:latin typeface="Times New Roman"/>
              <a:cs typeface="Times New Roman"/>
            </a:endParaRPr>
          </a:p>
          <a:p>
            <a:r>
              <a:rPr lang="en-US" dirty="0">
                <a:cs typeface="Times New Roman"/>
              </a:rPr>
              <a:t>Due to the displacement, there is a stored energy </a:t>
            </a:r>
            <a:r>
              <a:rPr lang="en-US" i="1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 = ½ </a:t>
            </a:r>
            <a:r>
              <a:rPr lang="en-US" i="1" dirty="0">
                <a:latin typeface="Times New Roman"/>
                <a:cs typeface="Times New Roman"/>
              </a:rPr>
              <a:t>k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i="1" dirty="0">
                <a:latin typeface="Times New Roman"/>
                <a:cs typeface="Times New Roman"/>
              </a:rPr>
              <a:t>x</a:t>
            </a:r>
            <a:r>
              <a:rPr lang="en-US" baseline="30000" dirty="0">
                <a:latin typeface="Times New Roman"/>
                <a:cs typeface="Times New Roman"/>
              </a:rPr>
              <a:t>2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D5987B-859F-0D44-90BD-652D458A7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9496A9-502E-AD47-B0E0-64840600F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26" y="2389935"/>
            <a:ext cx="4077572" cy="2690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446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C265A-5AF6-3A47-99A2-205BD2DAD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Observed deformation due to a force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BBEF6-4C26-9641-9DE7-34E9FADE0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5648325" cy="3965670"/>
          </a:xfrm>
        </p:spPr>
        <p:txBody>
          <a:bodyPr/>
          <a:lstStyle/>
          <a:p>
            <a:r>
              <a:rPr lang="en-US" dirty="0"/>
              <a:t>Solid mechanics is similar to the behavior of an ideal spring but throughout a body </a:t>
            </a:r>
          </a:p>
          <a:p>
            <a:r>
              <a:rPr lang="en-US" dirty="0"/>
              <a:t>An applied load results results in deformation.</a:t>
            </a:r>
          </a:p>
          <a:p>
            <a:r>
              <a:rPr lang="en-US" dirty="0"/>
              <a:t>The internal </a:t>
            </a:r>
            <a:r>
              <a:rPr lang="en-US" b="1" dirty="0"/>
              <a:t>strain</a:t>
            </a:r>
            <a:r>
              <a:rPr lang="en-US" dirty="0"/>
              <a:t> is like the displacements x</a:t>
            </a:r>
          </a:p>
          <a:p>
            <a:r>
              <a:rPr lang="en-US" dirty="0"/>
              <a:t>The internal </a:t>
            </a:r>
            <a:r>
              <a:rPr lang="en-US" b="1" dirty="0"/>
              <a:t>stress</a:t>
            </a:r>
            <a:r>
              <a:rPr lang="en-US" dirty="0"/>
              <a:t> is like the internal force F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93EFE9-EF10-D740-8C80-BC56CF8FA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pic>
        <p:nvPicPr>
          <p:cNvPr id="5" name="Picture 4" descr="applied_load_stress.gif">
            <a:extLst>
              <a:ext uri="{FF2B5EF4-FFF2-40B4-BE49-F238E27FC236}">
                <a16:creationId xmlns:a16="http://schemas.microsoft.com/office/drawing/2014/main" id="{A3986CE8-8ED2-274E-8F9A-E9D0D96FF71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15159" y="2661002"/>
            <a:ext cx="4990497" cy="291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303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93B7C-F24E-924E-8F3E-4ADB8DF30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Elasticity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AA9BD-F858-2343-9812-3524B0D25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6829425" cy="3965670"/>
          </a:xfrm>
        </p:spPr>
        <p:txBody>
          <a:bodyPr/>
          <a:lstStyle/>
          <a:p>
            <a:r>
              <a:rPr lang="en-US" dirty="0"/>
              <a:t>Elasticity is the ability of a body to resist a distorting influence and to return to its original size and shape when that influence or force is removed</a:t>
            </a:r>
          </a:p>
          <a:p>
            <a:r>
              <a:rPr lang="en-US" dirty="0"/>
              <a:t>In elastic deformation, we are stretching the atomic bonds</a:t>
            </a:r>
          </a:p>
          <a:p>
            <a:r>
              <a:rPr lang="en-US" dirty="0"/>
              <a:t>The more we stretch the bonds, the more force it takes to stretch</a:t>
            </a:r>
          </a:p>
          <a:p>
            <a:r>
              <a:rPr lang="en-US" dirty="0"/>
              <a:t>When we release the load, the atoms spring back into their lattice sites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BA70C2-9204-F54E-973B-120166FEF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036832-FD52-AF41-8884-D57E37B67E1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98243" y="2160494"/>
            <a:ext cx="2568977" cy="3810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310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31A18-D741-1A4E-A140-8F1706ED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Plasticity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7B8B0-946D-BE45-BBF7-9E9A97215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2160495"/>
            <a:ext cx="4914900" cy="3965670"/>
          </a:xfrm>
        </p:spPr>
        <p:txBody>
          <a:bodyPr/>
          <a:lstStyle/>
          <a:p>
            <a:r>
              <a:rPr lang="en-US" dirty="0"/>
              <a:t>Plasticity is the ability of a solid material to undergo permanent deformation, a non-reversible change of shape in response to applied forces</a:t>
            </a:r>
          </a:p>
          <a:p>
            <a:r>
              <a:rPr lang="en-US" dirty="0"/>
              <a:t>Plastic deformation is observed in most materials</a:t>
            </a:r>
          </a:p>
          <a:p>
            <a:r>
              <a:rPr lang="en-US" dirty="0"/>
              <a:t>The transition from elastic behavior to plastic behavior is known as yielding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7AA4B9-0A1E-824E-B3CD-9DA6511B1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715CF9-0E27-CB40-A683-D625B73A329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34076" y="2160495"/>
            <a:ext cx="5837918" cy="4076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147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5C521-B813-0845-BD93-0995B0E3E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Plasticity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43818-6C7C-8D47-9873-6D2433E7B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7157545" cy="3965670"/>
          </a:xfrm>
        </p:spPr>
        <p:txBody>
          <a:bodyPr/>
          <a:lstStyle/>
          <a:p>
            <a:r>
              <a:rPr lang="en-US" sz="2000" dirty="0"/>
              <a:t>Plasticity is typically caused by two modes of deformation in the crystal lattice: slip and twinning</a:t>
            </a:r>
          </a:p>
          <a:p>
            <a:pPr lvl="1"/>
            <a:r>
              <a:rPr lang="en-US" sz="2000" dirty="0"/>
              <a:t>Slip is a shear deformation which moves the atoms through many interatomic distances relative to their initial positions</a:t>
            </a:r>
          </a:p>
          <a:p>
            <a:pPr lvl="1"/>
            <a:r>
              <a:rPr lang="en-US" sz="2000" dirty="0"/>
              <a:t>Twinning is the plastic deformation which takes place along two planes due to an applied force</a:t>
            </a:r>
          </a:p>
          <a:p>
            <a:r>
              <a:rPr lang="en-US" sz="2000" dirty="0"/>
              <a:t>Ductility (total elongation), Yield Strength, etc. are dependent upon temperature and composition</a:t>
            </a:r>
          </a:p>
          <a:p>
            <a:r>
              <a:rPr lang="en-US" sz="2000" dirty="0"/>
              <a:t>Plasticity typically increases at higher temperature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F17810-C339-B740-924E-F0918B5EE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3074" name="Picture 2" descr="What is Plastic Deformation: Definition, Slip and Twinning, Causes">
            <a:extLst>
              <a:ext uri="{FF2B5EF4-FFF2-40B4-BE49-F238E27FC236}">
                <a16:creationId xmlns:a16="http://schemas.microsoft.com/office/drawing/2014/main" id="{E93E5480-AE0B-757C-BA5C-87979BEC1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67145" y="1968501"/>
            <a:ext cx="4128624" cy="3577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531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6B22D-AEFB-1446-9F34-7629631F7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8B66-69CA-E94B-840F-18D4D75ED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5657850" cy="396567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Stress is a physical quantity that expresses the internal forces that neighboring particles of a continuous material exert on each other</a:t>
            </a:r>
          </a:p>
          <a:p>
            <a:r>
              <a:rPr lang="en-US" dirty="0"/>
              <a:t>Stress is a force per unit area with SI units of Pa = N/m</a:t>
            </a:r>
            <a:r>
              <a:rPr lang="en-US" baseline="30000" dirty="0"/>
              <a:t>2</a:t>
            </a:r>
          </a:p>
          <a:p>
            <a:r>
              <a:rPr lang="en-US" dirty="0"/>
              <a:t>The stress is a 2</a:t>
            </a:r>
            <a:r>
              <a:rPr lang="en-US" baseline="30000" dirty="0"/>
              <a:t>nd</a:t>
            </a:r>
            <a:r>
              <a:rPr lang="en-US" dirty="0"/>
              <a:t> order tensor (a 3 by 3 matrix): Cauchy stress tensor</a:t>
            </a:r>
          </a:p>
          <a:p>
            <a:r>
              <a:rPr lang="en-US" b="1" i="1" dirty="0" err="1">
                <a:latin typeface="Times New Roman"/>
                <a:cs typeface="Times New Roman"/>
              </a:rPr>
              <a:t>σ</a:t>
            </a:r>
            <a:r>
              <a:rPr lang="en-US" b="1" baseline="-25000" dirty="0" err="1">
                <a:latin typeface="Times New Roman"/>
                <a:cs typeface="Times New Roman"/>
              </a:rPr>
              <a:t>ij</a:t>
            </a:r>
            <a:r>
              <a:rPr lang="en-US" b="1" dirty="0">
                <a:latin typeface="Times New Roman"/>
                <a:cs typeface="Times New Roman"/>
              </a:rPr>
              <a:t> = </a:t>
            </a:r>
            <a:r>
              <a:rPr lang="en-US" b="1" i="1" dirty="0" err="1">
                <a:latin typeface="Times New Roman"/>
                <a:cs typeface="Times New Roman"/>
              </a:rPr>
              <a:t>F</a:t>
            </a:r>
            <a:r>
              <a:rPr lang="en-US" b="1" baseline="-25000" dirty="0" err="1">
                <a:latin typeface="Times New Roman"/>
                <a:cs typeface="Times New Roman"/>
              </a:rPr>
              <a:t>ij</a:t>
            </a:r>
            <a:r>
              <a:rPr lang="en-US" b="1" dirty="0">
                <a:latin typeface="Times New Roman"/>
                <a:cs typeface="Times New Roman"/>
              </a:rPr>
              <a:t>/</a:t>
            </a:r>
            <a:r>
              <a:rPr lang="en-US" b="1" i="1" dirty="0">
                <a:latin typeface="Times New Roman"/>
                <a:cs typeface="Times New Roman"/>
              </a:rPr>
              <a:t>A</a:t>
            </a:r>
            <a:r>
              <a:rPr lang="en-US" b="1" baseline="-25000" dirty="0">
                <a:latin typeface="Times New Roman"/>
                <a:cs typeface="Times New Roman"/>
              </a:rPr>
              <a:t>i</a:t>
            </a:r>
          </a:p>
          <a:p>
            <a:pPr lvl="1"/>
            <a:r>
              <a:rPr lang="en-US" dirty="0" err="1"/>
              <a:t>i</a:t>
            </a:r>
            <a:r>
              <a:rPr lang="en-US" dirty="0"/>
              <a:t> is the face the force is applied and j is the direction it is applied</a:t>
            </a:r>
          </a:p>
          <a:p>
            <a:r>
              <a:rPr lang="en-US" dirty="0" err="1"/>
              <a:t>Sigmas</a:t>
            </a:r>
            <a:r>
              <a:rPr lang="en-US" dirty="0"/>
              <a:t> are normal stress components, </a:t>
            </a:r>
            <a:r>
              <a:rPr lang="en-US" dirty="0" err="1"/>
              <a:t>taus</a:t>
            </a:r>
            <a:r>
              <a:rPr lang="en-US" dirty="0"/>
              <a:t> are shear stress components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7E70AD-7CFC-804A-858C-1B31961FB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FECAD8-DC1B-BE43-AEF1-7C66A589E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550" y="5098426"/>
            <a:ext cx="5194300" cy="7568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E8DF2D-8A0F-8843-B87C-1F36C74E4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0951" y="1837360"/>
            <a:ext cx="3279524" cy="2759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784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C070F-87AD-0A43-ACC7-C93F19536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Stress as a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16523-1F38-604B-A352-6A630B3D0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878230"/>
            <a:ext cx="10485156" cy="4247935"/>
          </a:xfrm>
        </p:spPr>
        <p:txBody>
          <a:bodyPr>
            <a:noAutofit/>
          </a:bodyPr>
          <a:lstStyle/>
          <a:p>
            <a:r>
              <a:rPr lang="en-US" sz="1800" dirty="0"/>
              <a:t>The stress in a material is the RESPONSE to an applied load (force) or an applied displacement</a:t>
            </a:r>
          </a:p>
          <a:p>
            <a:r>
              <a:rPr lang="en-US" sz="1800" dirty="0"/>
              <a:t>Uniaxial tension or compression</a:t>
            </a:r>
          </a:p>
          <a:p>
            <a:pPr lvl="1"/>
            <a:r>
              <a:rPr lang="en-US" sz="1800" dirty="0"/>
              <a:t>Only one non-zero stress: </a:t>
            </a:r>
            <a:r>
              <a:rPr lang="en-US" sz="1600" i="1" dirty="0" err="1">
                <a:latin typeface="Times New Roman"/>
                <a:cs typeface="Times New Roman"/>
              </a:rPr>
              <a:t>σ</a:t>
            </a:r>
            <a:r>
              <a:rPr lang="en-US" sz="1600" baseline="-25000" dirty="0" err="1">
                <a:latin typeface="Times New Roman"/>
                <a:cs typeface="Times New Roman"/>
              </a:rPr>
              <a:t>ii</a:t>
            </a:r>
            <a:r>
              <a:rPr lang="en-US" sz="1600" dirty="0">
                <a:latin typeface="Times New Roman"/>
                <a:cs typeface="Times New Roman"/>
              </a:rPr>
              <a:t> (</a:t>
            </a:r>
            <a:r>
              <a:rPr lang="en-US" sz="1600" i="1" dirty="0">
                <a:latin typeface="Times New Roman"/>
                <a:cs typeface="Times New Roman"/>
              </a:rPr>
              <a:t>σ</a:t>
            </a:r>
            <a:r>
              <a:rPr lang="en-US" sz="1600" baseline="-25000" dirty="0">
                <a:latin typeface="Times New Roman"/>
                <a:cs typeface="Times New Roman"/>
              </a:rPr>
              <a:t>11</a:t>
            </a:r>
            <a:r>
              <a:rPr lang="en-US" sz="1600" dirty="0">
                <a:latin typeface="Times New Roman"/>
                <a:cs typeface="Times New Roman"/>
              </a:rPr>
              <a:t>, </a:t>
            </a:r>
            <a:r>
              <a:rPr lang="en-US" sz="1600" i="1" dirty="0">
                <a:latin typeface="Times New Roman"/>
                <a:cs typeface="Times New Roman"/>
              </a:rPr>
              <a:t>σ</a:t>
            </a:r>
            <a:r>
              <a:rPr lang="en-US" sz="1600" baseline="-25000" dirty="0">
                <a:latin typeface="Times New Roman"/>
                <a:cs typeface="Times New Roman"/>
              </a:rPr>
              <a:t>22</a:t>
            </a:r>
            <a:r>
              <a:rPr lang="en-US" sz="1600" dirty="0">
                <a:latin typeface="Times New Roman"/>
                <a:cs typeface="Times New Roman"/>
              </a:rPr>
              <a:t>, </a:t>
            </a:r>
            <a:r>
              <a:rPr lang="en-US" sz="1600" i="1" dirty="0">
                <a:latin typeface="Times New Roman"/>
                <a:cs typeface="Times New Roman"/>
              </a:rPr>
              <a:t>σ</a:t>
            </a:r>
            <a:r>
              <a:rPr lang="en-US" sz="1600" baseline="-25000" dirty="0">
                <a:latin typeface="Times New Roman"/>
                <a:cs typeface="Times New Roman"/>
              </a:rPr>
              <a:t>33</a:t>
            </a:r>
            <a:r>
              <a:rPr lang="en-US" sz="1600" dirty="0">
                <a:latin typeface="Times New Roman"/>
                <a:cs typeface="Times New Roman"/>
              </a:rPr>
              <a:t>)</a:t>
            </a:r>
            <a:endParaRPr lang="en-US" sz="1600" dirty="0"/>
          </a:p>
          <a:p>
            <a:pPr lvl="1"/>
            <a:r>
              <a:rPr lang="en-US" sz="1800" dirty="0"/>
              <a:t>Tension means positive stress, compression negative</a:t>
            </a:r>
          </a:p>
          <a:p>
            <a:pPr lvl="1"/>
            <a:r>
              <a:rPr lang="en-US" sz="1800" dirty="0"/>
              <a:t>Examples: Cables, tension tests</a:t>
            </a:r>
          </a:p>
          <a:p>
            <a:r>
              <a:rPr lang="en-US" sz="1800" dirty="0"/>
              <a:t>Pure shear</a:t>
            </a:r>
          </a:p>
          <a:p>
            <a:pPr lvl="1"/>
            <a:r>
              <a:rPr lang="en-US" sz="1800" dirty="0"/>
              <a:t>Only one non-zero stress: </a:t>
            </a:r>
            <a:r>
              <a:rPr lang="en-US" sz="1800" dirty="0">
                <a:latin typeface="Times New Roman"/>
                <a:cs typeface="Times New Roman"/>
              </a:rPr>
              <a:t>(</a:t>
            </a:r>
            <a:r>
              <a:rPr lang="en-US" sz="1800" i="1" dirty="0">
                <a:latin typeface="Times New Roman"/>
                <a:cs typeface="Times New Roman"/>
              </a:rPr>
              <a:t>σ</a:t>
            </a:r>
            <a:r>
              <a:rPr lang="en-US" sz="1800" baseline="-25000" dirty="0">
                <a:latin typeface="Times New Roman"/>
                <a:cs typeface="Times New Roman"/>
              </a:rPr>
              <a:t>12</a:t>
            </a:r>
            <a:r>
              <a:rPr lang="en-US" sz="1800" dirty="0">
                <a:latin typeface="Times New Roman"/>
                <a:cs typeface="Times New Roman"/>
              </a:rPr>
              <a:t>, </a:t>
            </a:r>
            <a:r>
              <a:rPr lang="en-US" sz="1800" i="1" dirty="0">
                <a:latin typeface="Times New Roman"/>
                <a:cs typeface="Times New Roman"/>
              </a:rPr>
              <a:t>σ</a:t>
            </a:r>
            <a:r>
              <a:rPr lang="en-US" sz="1800" baseline="-25000" dirty="0">
                <a:latin typeface="Times New Roman"/>
                <a:cs typeface="Times New Roman"/>
              </a:rPr>
              <a:t>13</a:t>
            </a:r>
            <a:r>
              <a:rPr lang="en-US" sz="1800" dirty="0">
                <a:latin typeface="Times New Roman"/>
                <a:cs typeface="Times New Roman"/>
              </a:rPr>
              <a:t>, </a:t>
            </a:r>
            <a:r>
              <a:rPr lang="en-US" sz="1800" i="1" dirty="0">
                <a:latin typeface="Times New Roman"/>
                <a:cs typeface="Times New Roman"/>
              </a:rPr>
              <a:t>σ</a:t>
            </a:r>
            <a:r>
              <a:rPr lang="en-US" sz="1800" baseline="-25000" dirty="0">
                <a:latin typeface="Times New Roman"/>
                <a:cs typeface="Times New Roman"/>
              </a:rPr>
              <a:t>23</a:t>
            </a:r>
            <a:r>
              <a:rPr lang="en-US" sz="1800" dirty="0">
                <a:latin typeface="Times New Roman"/>
                <a:cs typeface="Times New Roman"/>
              </a:rPr>
              <a:t>)</a:t>
            </a:r>
          </a:p>
          <a:p>
            <a:pPr lvl="1"/>
            <a:r>
              <a:rPr lang="en-US" sz="1800" dirty="0">
                <a:cs typeface="Times New Roman"/>
              </a:rPr>
              <a:t>Examples: drive shaft</a:t>
            </a:r>
          </a:p>
          <a:p>
            <a:r>
              <a:rPr lang="en-US" sz="1800" dirty="0"/>
              <a:t>Biaxial tension/compression</a:t>
            </a:r>
          </a:p>
          <a:p>
            <a:pPr lvl="1"/>
            <a:r>
              <a:rPr lang="en-US" sz="1800" dirty="0"/>
              <a:t>Two non-zero stress (e.g. </a:t>
            </a:r>
            <a:r>
              <a:rPr lang="en-US" sz="1800" i="1" dirty="0">
                <a:latin typeface="Times New Roman"/>
                <a:cs typeface="Times New Roman"/>
              </a:rPr>
              <a:t>σ</a:t>
            </a:r>
            <a:r>
              <a:rPr lang="en-US" sz="1800" baseline="-25000" dirty="0">
                <a:latin typeface="Times New Roman"/>
                <a:cs typeface="Times New Roman"/>
              </a:rPr>
              <a:t>11</a:t>
            </a:r>
            <a:r>
              <a:rPr lang="en-US" sz="1800" dirty="0">
                <a:latin typeface="Times New Roman"/>
                <a:cs typeface="Times New Roman"/>
              </a:rPr>
              <a:t> = 1, </a:t>
            </a:r>
            <a:r>
              <a:rPr lang="en-US" sz="1800" i="1" dirty="0">
                <a:latin typeface="Times New Roman"/>
                <a:cs typeface="Times New Roman"/>
              </a:rPr>
              <a:t>σ</a:t>
            </a:r>
            <a:r>
              <a:rPr lang="en-US" sz="1800" baseline="-25000" dirty="0">
                <a:latin typeface="Times New Roman"/>
                <a:cs typeface="Times New Roman"/>
              </a:rPr>
              <a:t>22</a:t>
            </a:r>
            <a:r>
              <a:rPr lang="en-US" sz="1800" dirty="0">
                <a:latin typeface="Times New Roman"/>
                <a:cs typeface="Times New Roman"/>
              </a:rPr>
              <a:t> = 2)</a:t>
            </a:r>
          </a:p>
          <a:p>
            <a:pPr lvl="1"/>
            <a:r>
              <a:rPr lang="en-US" sz="1800" dirty="0">
                <a:cs typeface="Times New Roman"/>
              </a:rPr>
              <a:t>Examples: Pressure cylinder or vessel</a:t>
            </a:r>
          </a:p>
          <a:p>
            <a:r>
              <a:rPr lang="en-US" sz="1800" dirty="0">
                <a:cs typeface="Times New Roman"/>
              </a:rPr>
              <a:t>Hydrostatic compression (pressure)</a:t>
            </a:r>
          </a:p>
          <a:p>
            <a:pPr lvl="1"/>
            <a:r>
              <a:rPr lang="en-US" sz="1800" i="1" dirty="0">
                <a:latin typeface="Times New Roman"/>
                <a:cs typeface="Times New Roman"/>
              </a:rPr>
              <a:t>σ</a:t>
            </a:r>
            <a:r>
              <a:rPr lang="en-US" sz="1800" baseline="-25000" dirty="0">
                <a:latin typeface="Times New Roman"/>
                <a:cs typeface="Times New Roman"/>
              </a:rPr>
              <a:t>11 </a:t>
            </a:r>
            <a:r>
              <a:rPr lang="en-US" sz="1800" dirty="0">
                <a:latin typeface="Times New Roman"/>
                <a:cs typeface="Times New Roman"/>
              </a:rPr>
              <a:t>= </a:t>
            </a:r>
            <a:r>
              <a:rPr lang="en-US" sz="1800" i="1" dirty="0">
                <a:latin typeface="Times New Roman"/>
                <a:cs typeface="Times New Roman"/>
              </a:rPr>
              <a:t>σ</a:t>
            </a:r>
            <a:r>
              <a:rPr lang="en-US" sz="1800" baseline="-25000" dirty="0">
                <a:latin typeface="Times New Roman"/>
                <a:cs typeface="Times New Roman"/>
              </a:rPr>
              <a:t>22</a:t>
            </a:r>
            <a:r>
              <a:rPr lang="en-US" sz="1800" dirty="0">
                <a:latin typeface="Times New Roman"/>
                <a:cs typeface="Times New Roman"/>
              </a:rPr>
              <a:t> = </a:t>
            </a:r>
            <a:r>
              <a:rPr lang="en-US" sz="1800" i="1" dirty="0">
                <a:latin typeface="Times New Roman"/>
                <a:cs typeface="Times New Roman"/>
              </a:rPr>
              <a:t>σ</a:t>
            </a:r>
            <a:r>
              <a:rPr lang="en-US" sz="1800" baseline="-25000" dirty="0">
                <a:latin typeface="Times New Roman"/>
                <a:cs typeface="Times New Roman"/>
              </a:rPr>
              <a:t>33 </a:t>
            </a:r>
            <a:r>
              <a:rPr lang="en-US" sz="1800" dirty="0">
                <a:latin typeface="Times New Roman"/>
                <a:cs typeface="Times New Roman"/>
              </a:rPr>
              <a:t>= -p</a:t>
            </a:r>
          </a:p>
          <a:p>
            <a:pPr lvl="1"/>
            <a:r>
              <a:rPr lang="en-US" sz="1800" dirty="0"/>
              <a:t>Anything underwater</a:t>
            </a:r>
          </a:p>
          <a:p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4A57D-3ED2-EB46-9269-0DAF8ABD3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00434A1-A684-0A4F-A260-A433BB35150E}"/>
              </a:ext>
            </a:extLst>
          </p:cNvPr>
          <p:cNvGrpSpPr/>
          <p:nvPr/>
        </p:nvGrpSpPr>
        <p:grpSpPr>
          <a:xfrm>
            <a:off x="7503220" y="2284186"/>
            <a:ext cx="834571" cy="1505857"/>
            <a:chOff x="6685643" y="1778000"/>
            <a:chExt cx="834571" cy="1505857"/>
          </a:xfrm>
        </p:grpSpPr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D13A4074-CA61-1346-99EE-93956B8CD9A0}"/>
                </a:ext>
              </a:extLst>
            </p:cNvPr>
            <p:cNvSpPr/>
            <p:nvPr/>
          </p:nvSpPr>
          <p:spPr>
            <a:xfrm>
              <a:off x="6685643" y="2113643"/>
              <a:ext cx="834571" cy="834571"/>
            </a:xfrm>
            <a:prstGeom prst="cub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7B3620FE-F4A6-394B-A0E3-AB5ABE06A2DF}"/>
                </a:ext>
              </a:extLst>
            </p:cNvPr>
            <p:cNvCxnSpPr/>
            <p:nvPr/>
          </p:nvCxnSpPr>
          <p:spPr>
            <a:xfrm flipV="1">
              <a:off x="7102929" y="1778000"/>
              <a:ext cx="0" cy="41728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2322305-6D48-B14A-8FFE-95DA1D792CBB}"/>
                </a:ext>
              </a:extLst>
            </p:cNvPr>
            <p:cNvCxnSpPr/>
            <p:nvPr/>
          </p:nvCxnSpPr>
          <p:spPr>
            <a:xfrm>
              <a:off x="7071175" y="2948214"/>
              <a:ext cx="0" cy="33564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914A4B6-DC85-3F42-8F89-6C27F7C19BC7}"/>
              </a:ext>
            </a:extLst>
          </p:cNvPr>
          <p:cNvGrpSpPr/>
          <p:nvPr/>
        </p:nvGrpSpPr>
        <p:grpSpPr>
          <a:xfrm>
            <a:off x="8622667" y="3599019"/>
            <a:ext cx="834571" cy="923473"/>
            <a:chOff x="5851072" y="3401785"/>
            <a:chExt cx="834571" cy="923473"/>
          </a:xfrm>
        </p:grpSpPr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2071FE94-56C5-6442-8AF0-40D273897955}"/>
                </a:ext>
              </a:extLst>
            </p:cNvPr>
            <p:cNvSpPr/>
            <p:nvPr/>
          </p:nvSpPr>
          <p:spPr>
            <a:xfrm>
              <a:off x="5851072" y="3401785"/>
              <a:ext cx="834571" cy="834571"/>
            </a:xfrm>
            <a:prstGeom prst="cub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B9A6B89-6133-AD42-8983-C33C75E8F2EE}"/>
                </a:ext>
              </a:extLst>
            </p:cNvPr>
            <p:cNvCxnSpPr/>
            <p:nvPr/>
          </p:nvCxnSpPr>
          <p:spPr>
            <a:xfrm>
              <a:off x="5950857" y="3539329"/>
              <a:ext cx="562429" cy="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6DD9892-9E8A-0F4F-A177-A6BF775DDAFD}"/>
                </a:ext>
              </a:extLst>
            </p:cNvPr>
            <p:cNvCxnSpPr/>
            <p:nvPr/>
          </p:nvCxnSpPr>
          <p:spPr>
            <a:xfrm flipH="1" flipV="1">
              <a:off x="5851072" y="4325257"/>
              <a:ext cx="533401" cy="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4E2F206-5ACC-8644-A703-C628F9248C69}"/>
              </a:ext>
            </a:extLst>
          </p:cNvPr>
          <p:cNvGrpSpPr/>
          <p:nvPr/>
        </p:nvGrpSpPr>
        <p:grpSpPr>
          <a:xfrm>
            <a:off x="8787880" y="4969358"/>
            <a:ext cx="1416958" cy="1460500"/>
            <a:chOff x="5479143" y="4972958"/>
            <a:chExt cx="1416958" cy="1460500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565AE617-88E7-D645-B26B-DD9ADE15D48D}"/>
                </a:ext>
              </a:extLst>
            </p:cNvPr>
            <p:cNvCxnSpPr/>
            <p:nvPr/>
          </p:nvCxnSpPr>
          <p:spPr>
            <a:xfrm flipH="1">
              <a:off x="6384473" y="5100411"/>
              <a:ext cx="308428" cy="376464"/>
            </a:xfrm>
            <a:prstGeom prst="straightConnector1">
              <a:avLst/>
            </a:prstGeom>
            <a:ln>
              <a:headEnd type="none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Cube 14">
              <a:extLst>
                <a:ext uri="{FF2B5EF4-FFF2-40B4-BE49-F238E27FC236}">
                  <a16:creationId xmlns:a16="http://schemas.microsoft.com/office/drawing/2014/main" id="{B694F7BE-E947-B741-BCD3-B867A4554AB3}"/>
                </a:ext>
              </a:extLst>
            </p:cNvPr>
            <p:cNvSpPr/>
            <p:nvPr/>
          </p:nvSpPr>
          <p:spPr>
            <a:xfrm>
              <a:off x="5851072" y="5288643"/>
              <a:ext cx="834571" cy="834571"/>
            </a:xfrm>
            <a:prstGeom prst="cub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943968B-B8F4-FC4E-9C8A-635B2EE6214C}"/>
                </a:ext>
              </a:extLst>
            </p:cNvPr>
            <p:cNvCxnSpPr/>
            <p:nvPr/>
          </p:nvCxnSpPr>
          <p:spPr>
            <a:xfrm flipV="1">
              <a:off x="6268358" y="4972958"/>
              <a:ext cx="0" cy="397329"/>
            </a:xfrm>
            <a:prstGeom prst="straightConnector1">
              <a:avLst/>
            </a:prstGeom>
            <a:ln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25F9BB9-6459-D94A-B219-65BB211BB338}"/>
                </a:ext>
              </a:extLst>
            </p:cNvPr>
            <p:cNvCxnSpPr/>
            <p:nvPr/>
          </p:nvCxnSpPr>
          <p:spPr>
            <a:xfrm>
              <a:off x="6236604" y="6123214"/>
              <a:ext cx="0" cy="310244"/>
            </a:xfrm>
            <a:prstGeom prst="straightConnector1">
              <a:avLst/>
            </a:prstGeom>
            <a:ln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C954686-A856-764E-B586-D8F2F6796E32}"/>
                </a:ext>
              </a:extLst>
            </p:cNvPr>
            <p:cNvCxnSpPr>
              <a:stCxn id="15" idx="2"/>
            </p:cNvCxnSpPr>
            <p:nvPr/>
          </p:nvCxnSpPr>
          <p:spPr>
            <a:xfrm flipH="1">
              <a:off x="5479143" y="5810250"/>
              <a:ext cx="371929" cy="0"/>
            </a:xfrm>
            <a:prstGeom prst="straightConnector1">
              <a:avLst/>
            </a:prstGeom>
            <a:ln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CE352FEB-560E-A345-8061-75E4C65F331D}"/>
                </a:ext>
              </a:extLst>
            </p:cNvPr>
            <p:cNvCxnSpPr/>
            <p:nvPr/>
          </p:nvCxnSpPr>
          <p:spPr>
            <a:xfrm>
              <a:off x="6488790" y="5810250"/>
              <a:ext cx="407311" cy="0"/>
            </a:xfrm>
            <a:prstGeom prst="straightConnector1">
              <a:avLst/>
            </a:prstGeom>
            <a:ln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D3E6EB1-30F4-B143-A97F-9FA86ACC2D2A}"/>
                </a:ext>
              </a:extLst>
            </p:cNvPr>
            <p:cNvCxnSpPr/>
            <p:nvPr/>
          </p:nvCxnSpPr>
          <p:spPr>
            <a:xfrm flipH="1">
              <a:off x="5851072" y="5810250"/>
              <a:ext cx="308428" cy="376464"/>
            </a:xfrm>
            <a:prstGeom prst="straightConnector1">
              <a:avLst/>
            </a:prstGeom>
            <a:ln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665A215-B4C7-4443-9024-C559FD767045}"/>
              </a:ext>
            </a:extLst>
          </p:cNvPr>
          <p:cNvGrpSpPr/>
          <p:nvPr/>
        </p:nvGrpSpPr>
        <p:grpSpPr>
          <a:xfrm>
            <a:off x="6467264" y="3925554"/>
            <a:ext cx="1246414" cy="1460500"/>
            <a:chOff x="7199086" y="3828143"/>
            <a:chExt cx="1246414" cy="146050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08EE05A-92F5-FF41-99C1-28EBA96BBE7D}"/>
                </a:ext>
              </a:extLst>
            </p:cNvPr>
            <p:cNvGrpSpPr/>
            <p:nvPr/>
          </p:nvGrpSpPr>
          <p:grpSpPr>
            <a:xfrm>
              <a:off x="7400471" y="3828143"/>
              <a:ext cx="1045029" cy="1460500"/>
              <a:chOff x="7400471" y="3828143"/>
              <a:chExt cx="1045029" cy="1460500"/>
            </a:xfrm>
          </p:grpSpPr>
          <p:sp>
            <p:nvSpPr>
              <p:cNvPr id="24" name="Cube 23">
                <a:extLst>
                  <a:ext uri="{FF2B5EF4-FFF2-40B4-BE49-F238E27FC236}">
                    <a16:creationId xmlns:a16="http://schemas.microsoft.com/office/drawing/2014/main" id="{19E154A4-19B4-CC42-99C4-6327D8499B3D}"/>
                  </a:ext>
                </a:extLst>
              </p:cNvPr>
              <p:cNvSpPr/>
              <p:nvPr/>
            </p:nvSpPr>
            <p:spPr>
              <a:xfrm>
                <a:off x="7400471" y="4143828"/>
                <a:ext cx="834571" cy="834571"/>
              </a:xfrm>
              <a:prstGeom prst="cub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78EDCE99-B479-BC44-AF2E-B5A65ADE6393}"/>
                  </a:ext>
                </a:extLst>
              </p:cNvPr>
              <p:cNvCxnSpPr/>
              <p:nvPr/>
            </p:nvCxnSpPr>
            <p:spPr>
              <a:xfrm flipV="1">
                <a:off x="7817757" y="3828143"/>
                <a:ext cx="0" cy="397329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B537FC1C-9EDB-4840-8511-23BA26CCB167}"/>
                  </a:ext>
                </a:extLst>
              </p:cNvPr>
              <p:cNvCxnSpPr/>
              <p:nvPr/>
            </p:nvCxnSpPr>
            <p:spPr>
              <a:xfrm>
                <a:off x="7786003" y="4978399"/>
                <a:ext cx="0" cy="31024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872411D0-1D57-E848-99B2-A2980FD276AB}"/>
                  </a:ext>
                </a:extLst>
              </p:cNvPr>
              <p:cNvCxnSpPr/>
              <p:nvPr/>
            </p:nvCxnSpPr>
            <p:spPr>
              <a:xfrm>
                <a:off x="8038189" y="4665435"/>
                <a:ext cx="407311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4F45C16B-0824-294C-9009-40937006B3DF}"/>
                </a:ext>
              </a:extLst>
            </p:cNvPr>
            <p:cNvCxnSpPr/>
            <p:nvPr/>
          </p:nvCxnSpPr>
          <p:spPr>
            <a:xfrm flipH="1">
              <a:off x="7199086" y="4665435"/>
              <a:ext cx="20138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81357715"/>
      </p:ext>
    </p:extLst>
  </p:cSld>
  <p:clrMapOvr>
    <a:masterClrMapping/>
  </p:clrMapOvr>
</p:sld>
</file>

<file path=ppt/theme/theme1.xml><?xml version="1.0" encoding="utf-8"?>
<a:theme xmlns:a="http://schemas.openxmlformats.org/drawingml/2006/main" name="1_NCStateU-horizontal-left-lo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4266</TotalTime>
  <Words>581</Words>
  <Application>Microsoft Macintosh PowerPoint</Application>
  <PresentationFormat>Widescreen</PresentationFormat>
  <Paragraphs>70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1_NCStateU-horizontal-left-logo</vt:lpstr>
      <vt:lpstr>Nuclear Fuel Performance</vt:lpstr>
      <vt:lpstr>Mechanics</vt:lpstr>
      <vt:lpstr>Solid mechanics</vt:lpstr>
      <vt:lpstr>Ideal springs</vt:lpstr>
      <vt:lpstr>Observed deformation due to a force</vt:lpstr>
      <vt:lpstr>Elasticity</vt:lpstr>
      <vt:lpstr>Plasticity</vt:lpstr>
      <vt:lpstr>Plasticity</vt:lpstr>
      <vt:lpstr>Stress</vt:lpstr>
      <vt:lpstr>Stress as a response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 1 is in the books</dc:title>
  <dc:creator>Benjamin Beeler</dc:creator>
  <cp:lastModifiedBy>Benjamin Beeler</cp:lastModifiedBy>
  <cp:revision>86</cp:revision>
  <dcterms:created xsi:type="dcterms:W3CDTF">2020-02-03T20:17:36Z</dcterms:created>
  <dcterms:modified xsi:type="dcterms:W3CDTF">2026-01-29T16:48:07Z</dcterms:modified>
</cp:coreProperties>
</file>
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34"/>
  </p:notesMasterIdLst>
  <p:sldIdLst>
    <p:sldId id="487" r:id="rId3"/>
    <p:sldId id="563" r:id="rId4"/>
    <p:sldId id="546" r:id="rId5"/>
    <p:sldId id="278" r:id="rId6"/>
    <p:sldId id="543" r:id="rId7"/>
    <p:sldId id="475" r:id="rId8"/>
    <p:sldId id="479" r:id="rId9"/>
    <p:sldId id="480" r:id="rId10"/>
    <p:sldId id="481" r:id="rId11"/>
    <p:sldId id="483" r:id="rId12"/>
    <p:sldId id="484" r:id="rId13"/>
    <p:sldId id="488" r:id="rId14"/>
    <p:sldId id="489" r:id="rId15"/>
    <p:sldId id="490" r:id="rId16"/>
    <p:sldId id="491" r:id="rId17"/>
    <p:sldId id="492" r:id="rId18"/>
    <p:sldId id="493" r:id="rId19"/>
    <p:sldId id="494" r:id="rId20"/>
    <p:sldId id="495" r:id="rId21"/>
    <p:sldId id="496" r:id="rId22"/>
    <p:sldId id="497" r:id="rId23"/>
    <p:sldId id="498" r:id="rId24"/>
    <p:sldId id="499" r:id="rId25"/>
    <p:sldId id="500" r:id="rId26"/>
    <p:sldId id="501" r:id="rId27"/>
    <p:sldId id="508" r:id="rId28"/>
    <p:sldId id="502" r:id="rId29"/>
    <p:sldId id="564" r:id="rId30"/>
    <p:sldId id="504" r:id="rId31"/>
    <p:sldId id="539" r:id="rId32"/>
    <p:sldId id="54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99"/>
    <p:restoredTop sz="96327"/>
  </p:normalViewPr>
  <p:slideViewPr>
    <p:cSldViewPr snapToGrid="0">
      <p:cViewPr varScale="1">
        <p:scale>
          <a:sx n="128" d="100"/>
          <a:sy n="128" d="100"/>
        </p:scale>
        <p:origin x="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B70D1-658E-AB45-8376-B4A3637A157B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F7EE9-C770-0849-B4B2-77DBAEED18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1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5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60495"/>
            <a:ext cx="10972800" cy="396567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9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4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87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02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4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04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3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8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86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1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3A803-A045-354B-887A-01433CE46FC2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52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2822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11209"/>
            <a:ext cx="10972800" cy="4614956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D04BF-9DC2-6341-92B2-BD109A2EF3B1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22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FFBC7-3028-644D-986B-D9855CB74B38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01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72731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41119"/>
            <a:ext cx="5384800" cy="4585046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1"/>
            <a:ext cx="5384800" cy="4157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B8AE4-01F5-CC42-9C62-61BC6528368B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61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49314-4A78-2444-9569-44EB70168344}" type="datetime1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3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2854"/>
            <a:ext cx="10972800" cy="106838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C22837-4683-B242-B000-BCEE30621787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065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DAE926-7EF1-0B40-B57E-417D188A609C}" type="datetime1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48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D107B-B9C7-5B41-A168-55258AB95F52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567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92D36-EE82-3142-B011-9831FB5E702F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60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33C1D-C2E2-1049-AA3F-CD6E91052752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72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1AD68-B60C-4542-BDDD-2074DE6DE828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6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0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4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1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08B4B-7256-494F-A90D-3891BD685F4A}" type="datetime1">
              <a:rPr lang="en-US" smtClean="0"/>
              <a:t>2/10/26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7.png"/><Relationship Id="rId7" Type="http://schemas.openxmlformats.org/officeDocument/2006/relationships/image" Target="../media/image10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10" Type="http://schemas.openxmlformats.org/officeDocument/2006/relationships/image" Target="../media/image13.emf"/><Relationship Id="rId4" Type="http://schemas.openxmlformats.org/officeDocument/2006/relationships/image" Target="../media/image4.emf"/><Relationship Id="rId9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emf"/><Relationship Id="rId11" Type="http://schemas.openxmlformats.org/officeDocument/2006/relationships/image" Target="../media/image18.emf"/><Relationship Id="rId5" Type="http://schemas.openxmlformats.org/officeDocument/2006/relationships/image" Target="../media/image11.emf"/><Relationship Id="rId10" Type="http://schemas.openxmlformats.org/officeDocument/2006/relationships/image" Target="../media/image17.emf"/><Relationship Id="rId4" Type="http://schemas.openxmlformats.org/officeDocument/2006/relationships/image" Target="../media/image10.emf"/><Relationship Id="rId9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9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image" Target="../media/image13.emf"/><Relationship Id="rId9" Type="http://schemas.openxmlformats.org/officeDocument/2006/relationships/image" Target="../media/image2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NULL"/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13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image" Target="../media/image36.tif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13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10" Type="http://schemas.openxmlformats.org/officeDocument/2006/relationships/image" Target="../media/image47.emf"/><Relationship Id="rId4" Type="http://schemas.openxmlformats.org/officeDocument/2006/relationships/image" Target="../media/image41.emf"/><Relationship Id="rId9" Type="http://schemas.openxmlformats.org/officeDocument/2006/relationships/image" Target="../media/image46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3" Type="http://schemas.openxmlformats.org/officeDocument/2006/relationships/image" Target="../media/image47.emf"/><Relationship Id="rId7" Type="http://schemas.openxmlformats.org/officeDocument/2006/relationships/image" Target="../media/image13.emf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Relationship Id="rId9" Type="http://schemas.openxmlformats.org/officeDocument/2006/relationships/image" Target="../media/image52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5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png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1AB4-6496-0D46-9C3B-B71641B901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Nuclear Fuel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102A4-1D26-9E41-904A-5C94FEB21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NE-533</a:t>
            </a:r>
          </a:p>
          <a:p>
            <a:r>
              <a:rPr lang="en-US" dirty="0"/>
              <a:t>Spring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6DA87-5AA8-004F-861E-B1E0BAA3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5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DB2D-4343-EA1E-2F7E-E3194352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MOOSE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6784D-3783-87C2-7F1C-B8C16FEA6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When you login: enter “groups” in the command line</a:t>
            </a:r>
          </a:p>
          <a:p>
            <a:r>
              <a:rPr lang="en-US" sz="2000" dirty="0"/>
              <a:t>Verify that ne533s26 is listed – this should be fixed… but I want you to verify</a:t>
            </a:r>
          </a:p>
          <a:p>
            <a:r>
              <a:rPr lang="en-US" sz="2000" dirty="0"/>
              <a:t>Ensure that you have set </a:t>
            </a:r>
            <a:r>
              <a:rPr lang="en-US" sz="2000" dirty="0" err="1"/>
              <a:t>conda</a:t>
            </a:r>
            <a:r>
              <a:rPr lang="en-US" sz="2000" dirty="0"/>
              <a:t> up!</a:t>
            </a:r>
          </a:p>
          <a:p>
            <a:r>
              <a:rPr lang="en-US" sz="2000" dirty="0"/>
              <a:t>(base) [bwbeeler@login01 ~]$</a:t>
            </a:r>
          </a:p>
          <a:p>
            <a:endParaRPr lang="en-US" sz="2000" dirty="0"/>
          </a:p>
          <a:p>
            <a:r>
              <a:rPr lang="en-US" sz="2000" dirty="0" err="1"/>
              <a:t>conda</a:t>
            </a:r>
            <a:r>
              <a:rPr lang="en-US" sz="2000" dirty="0"/>
              <a:t> activate /</a:t>
            </a:r>
            <a:r>
              <a:rPr lang="en-US" sz="2000" dirty="0" err="1"/>
              <a:t>usr</a:t>
            </a:r>
            <a:r>
              <a:rPr lang="en-US" sz="2000" dirty="0"/>
              <a:t>/local/</a:t>
            </a:r>
            <a:r>
              <a:rPr lang="en-US" sz="2000" dirty="0" err="1"/>
              <a:t>usrapps</a:t>
            </a:r>
            <a:r>
              <a:rPr lang="en-US" sz="2000" dirty="0"/>
              <a:t>/ne533s26/</a:t>
            </a:r>
            <a:r>
              <a:rPr lang="en-US" sz="2000" dirty="0" err="1"/>
              <a:t>bwbeeler</a:t>
            </a:r>
            <a:r>
              <a:rPr lang="en-US" sz="2000" dirty="0"/>
              <a:t>/moose</a:t>
            </a:r>
          </a:p>
          <a:p>
            <a:r>
              <a:rPr lang="en-US" sz="2000" dirty="0"/>
              <a:t>cd /share/ne533s26/$USER</a:t>
            </a:r>
          </a:p>
          <a:p>
            <a:r>
              <a:rPr lang="en-US" sz="2000" dirty="0"/>
              <a:t>#Make your '</a:t>
            </a:r>
            <a:r>
              <a:rPr lang="en-US" sz="2000" dirty="0" err="1"/>
              <a:t>input.file</a:t>
            </a:r>
            <a:r>
              <a:rPr lang="en-US" sz="2000" dirty="0"/>
              <a:t>'</a:t>
            </a:r>
          </a:p>
          <a:p>
            <a:r>
              <a:rPr lang="en-US" sz="2000" dirty="0" err="1"/>
              <a:t>mpirun</a:t>
            </a:r>
            <a:r>
              <a:rPr lang="en-US" sz="2000" dirty="0"/>
              <a:t> -np 2 /</a:t>
            </a:r>
            <a:r>
              <a:rPr lang="en-US" sz="2000" dirty="0" err="1"/>
              <a:t>usr</a:t>
            </a:r>
            <a:r>
              <a:rPr lang="en-US" sz="2000" dirty="0"/>
              <a:t>/local/</a:t>
            </a:r>
            <a:r>
              <a:rPr lang="en-US" sz="2000" dirty="0" err="1"/>
              <a:t>usrapps</a:t>
            </a:r>
            <a:r>
              <a:rPr lang="en-US" sz="2000" dirty="0"/>
              <a:t>/ne533s26/</a:t>
            </a:r>
            <a:r>
              <a:rPr lang="en-US" sz="2000" dirty="0" err="1"/>
              <a:t>beeler_moose</a:t>
            </a:r>
            <a:r>
              <a:rPr lang="en-US" sz="2000" dirty="0"/>
              <a:t>/</a:t>
            </a:r>
            <a:r>
              <a:rPr lang="en-US" sz="2000" dirty="0" err="1"/>
              <a:t>beeler_moose</a:t>
            </a:r>
            <a:r>
              <a:rPr lang="en-US" sz="2000" dirty="0"/>
              <a:t>-opt -i </a:t>
            </a:r>
            <a:r>
              <a:rPr lang="en-US" sz="2000" dirty="0" err="1"/>
              <a:t>input.file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920B3-7C73-F244-89F1-D8707EF5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C604-4386-4943-9B5F-4D17386A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MOOSE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9C496-CDC5-FA47-B04E-529D21FE7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Three-part project</a:t>
            </a:r>
          </a:p>
          <a:p>
            <a:r>
              <a:rPr lang="en-US" dirty="0"/>
              <a:t>Will upload input and output files to Moodle</a:t>
            </a:r>
          </a:p>
          <a:p>
            <a:r>
              <a:rPr lang="en-US" dirty="0"/>
              <a:t>Will upload a written Part 1 report, max of 10 pages (including figures)</a:t>
            </a:r>
          </a:p>
          <a:p>
            <a:r>
              <a:rPr lang="en-US" dirty="0"/>
              <a:t>This is an individual project, but some collaboration is encouraged</a:t>
            </a:r>
          </a:p>
          <a:p>
            <a:r>
              <a:rPr lang="en-US" dirty="0"/>
              <a:t>Write up with deliverables from Part 1, choice of materials, mesh, details therein, etc. </a:t>
            </a:r>
          </a:p>
          <a:p>
            <a:r>
              <a:rPr lang="en-US" dirty="0"/>
              <a:t>Part 1 is due March 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029A3-92C6-3F47-920B-435588AB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71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6517-7A8C-6D44-8A80-103F9AD20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MOOSE Project 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4B4B8-A41F-4142-861A-4CEFCF7B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14A53C-B601-344D-BB6C-C144C19C902A}"/>
              </a:ext>
            </a:extLst>
          </p:cNvPr>
          <p:cNvSpPr/>
          <p:nvPr/>
        </p:nvSpPr>
        <p:spPr>
          <a:xfrm>
            <a:off x="6651811" y="2122956"/>
            <a:ext cx="2877672" cy="407894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4263C4-2011-2F4C-9640-AC5B4D2FFF98}"/>
              </a:ext>
            </a:extLst>
          </p:cNvPr>
          <p:cNvSpPr/>
          <p:nvPr/>
        </p:nvSpPr>
        <p:spPr>
          <a:xfrm>
            <a:off x="9529483" y="2122956"/>
            <a:ext cx="797858" cy="407894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1977BC-41AE-5748-982F-B0B0A7CF4573}"/>
              </a:ext>
            </a:extLst>
          </p:cNvPr>
          <p:cNvSpPr/>
          <p:nvPr/>
        </p:nvSpPr>
        <p:spPr>
          <a:xfrm>
            <a:off x="10327341" y="2122956"/>
            <a:ext cx="797858" cy="407894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CE7341-0281-C44A-9030-313AEB440CB7}"/>
              </a:ext>
            </a:extLst>
          </p:cNvPr>
          <p:cNvCxnSpPr/>
          <p:nvPr/>
        </p:nvCxnSpPr>
        <p:spPr>
          <a:xfrm>
            <a:off x="6651811" y="2024343"/>
            <a:ext cx="28776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1A5C7E-91BA-4440-B271-E3AF08120135}"/>
              </a:ext>
            </a:extLst>
          </p:cNvPr>
          <p:cNvCxnSpPr>
            <a:cxnSpLocks/>
          </p:cNvCxnSpPr>
          <p:nvPr/>
        </p:nvCxnSpPr>
        <p:spPr>
          <a:xfrm>
            <a:off x="9529483" y="2024343"/>
            <a:ext cx="7978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AD19DE-FBC8-8A45-B373-70FA74B6224B}"/>
              </a:ext>
            </a:extLst>
          </p:cNvPr>
          <p:cNvCxnSpPr>
            <a:cxnSpLocks/>
          </p:cNvCxnSpPr>
          <p:nvPr/>
        </p:nvCxnSpPr>
        <p:spPr>
          <a:xfrm>
            <a:off x="10327341" y="2024343"/>
            <a:ext cx="7978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F40A3F-E5AC-AA42-BFC3-19A6A409A2EB}"/>
              </a:ext>
            </a:extLst>
          </p:cNvPr>
          <p:cNvCxnSpPr>
            <a:cxnSpLocks/>
          </p:cNvCxnSpPr>
          <p:nvPr/>
        </p:nvCxnSpPr>
        <p:spPr>
          <a:xfrm flipV="1">
            <a:off x="6571130" y="2122956"/>
            <a:ext cx="0" cy="4078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FC4C34D-9F6B-3A44-A4E8-FDD2910214C5}"/>
              </a:ext>
            </a:extLst>
          </p:cNvPr>
          <p:cNvSpPr txBox="1"/>
          <p:nvPr/>
        </p:nvSpPr>
        <p:spPr>
          <a:xfrm>
            <a:off x="667872" y="1968501"/>
            <a:ext cx="52972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Fuel pellet dimensions listed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is a 1-D problem, but I want your geometry to be set up in 2-D RZ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Assume reasonable values for material properties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Outer cladding temperature is constant: 600 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 temperature profile for: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Steady-state: Q = 350 W/cm^3</a:t>
            </a:r>
            <a:endParaRPr kumimoji="0" lang="en-US" sz="18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Compare against analytical solution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both a constant k and a temperature-dependent 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Perform a mesh convergence study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 transient solver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Explore two mesh options: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explicitly meshing the gap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without meshing the gap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AC033-6409-0C4A-AA93-30785D045B24}"/>
              </a:ext>
            </a:extLst>
          </p:cNvPr>
          <p:cNvSpPr txBox="1"/>
          <p:nvPr/>
        </p:nvSpPr>
        <p:spPr>
          <a:xfrm>
            <a:off x="7270377" y="3893485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0AB814-5772-5A48-AA51-C140D737CD00}"/>
              </a:ext>
            </a:extLst>
          </p:cNvPr>
          <p:cNvSpPr txBox="1"/>
          <p:nvPr/>
        </p:nvSpPr>
        <p:spPr>
          <a:xfrm rot="16200000">
            <a:off x="9108142" y="3893485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20E950-52CE-184A-96FC-2D43E51B266F}"/>
              </a:ext>
            </a:extLst>
          </p:cNvPr>
          <p:cNvSpPr txBox="1"/>
          <p:nvPr/>
        </p:nvSpPr>
        <p:spPr>
          <a:xfrm rot="16200000">
            <a:off x="9906000" y="3845859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Cladding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D7D2B-ACB3-E84C-8015-B6D0EFA467D3}"/>
              </a:ext>
            </a:extLst>
          </p:cNvPr>
          <p:cNvSpPr txBox="1"/>
          <p:nvPr/>
        </p:nvSpPr>
        <p:spPr>
          <a:xfrm>
            <a:off x="7270377" y="1655011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0.5 cm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933A57-5260-6845-8485-AD035242A637}"/>
              </a:ext>
            </a:extLst>
          </p:cNvPr>
          <p:cNvSpPr txBox="1"/>
          <p:nvPr/>
        </p:nvSpPr>
        <p:spPr>
          <a:xfrm>
            <a:off x="9085730" y="1641751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0.005 cm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BB60B0-6BC9-B948-BD66-42B123FD7F61}"/>
              </a:ext>
            </a:extLst>
          </p:cNvPr>
          <p:cNvSpPr txBox="1"/>
          <p:nvPr/>
        </p:nvSpPr>
        <p:spPr>
          <a:xfrm>
            <a:off x="9941860" y="1640210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0.1 cm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5D5CD-26F8-1C40-B55C-D9B4F132CE15}"/>
              </a:ext>
            </a:extLst>
          </p:cNvPr>
          <p:cNvSpPr txBox="1"/>
          <p:nvPr/>
        </p:nvSpPr>
        <p:spPr>
          <a:xfrm rot="16200000">
            <a:off x="5504329" y="3893485"/>
            <a:ext cx="1640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cm</a:t>
            </a:r>
          </a:p>
        </p:txBody>
      </p:sp>
    </p:spTree>
    <p:extLst>
      <p:ext uri="{BB962C8B-B14F-4D97-AF65-F5344CB8AC3E}">
        <p14:creationId xmlns:p14="http://schemas.microsoft.com/office/powerpoint/2010/main" val="251792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B9FF8-A075-B2A8-5881-868FB2A8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93756-67B8-E53B-4448-BF6D58F84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Defined strain as a matrix of deformations</a:t>
            </a:r>
          </a:p>
          <a:p>
            <a:r>
              <a:rPr lang="en-US" sz="2200" dirty="0"/>
              <a:t>Tensile test stress/strain curves</a:t>
            </a:r>
          </a:p>
          <a:p>
            <a:pPr lvl="1"/>
            <a:r>
              <a:rPr lang="en-US" sz="2200" dirty="0"/>
              <a:t>Youngs modulus, yield strength, ultimate tensile strength, fracture strength</a:t>
            </a:r>
          </a:p>
          <a:p>
            <a:r>
              <a:rPr lang="en-US" sz="2200" dirty="0"/>
              <a:t>Matrix of elastic constants relating strains to stresses</a:t>
            </a:r>
          </a:p>
          <a:p>
            <a:pPr lvl="1"/>
            <a:r>
              <a:rPr lang="en-US" sz="2200" dirty="0"/>
              <a:t>only two unique constants for isotropic materials</a:t>
            </a:r>
          </a:p>
          <a:p>
            <a:r>
              <a:rPr lang="en-US" sz="2200" dirty="0"/>
              <a:t>Strain hardening</a:t>
            </a:r>
          </a:p>
          <a:p>
            <a:pPr lvl="1"/>
            <a:r>
              <a:rPr lang="en-US" sz="2200" dirty="0"/>
              <a:t>permanent deformation, leading to increased yield strength</a:t>
            </a:r>
          </a:p>
          <a:p>
            <a:pPr lvl="1"/>
            <a:r>
              <a:rPr lang="en-US" sz="2200" dirty="0"/>
              <a:t>dislocation pileup, increase in number of barriers</a:t>
            </a:r>
          </a:p>
          <a:p>
            <a:r>
              <a:rPr lang="en-US" sz="2200" dirty="0"/>
              <a:t>We developed analytical solutions for the stress in a pressurized cylinder with a thin wall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618B0-67B0-3B14-26D1-0E5F8575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E5FE-C9E0-9647-996E-451599E6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constitutive relations for thick-walled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FF8AC-A81E-1B44-8E2C-5097D7F2A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099139" cy="3965670"/>
          </a:xfrm>
        </p:spPr>
        <p:txBody>
          <a:bodyPr/>
          <a:lstStyle/>
          <a:p>
            <a:r>
              <a:rPr lang="en-US" sz="2000" dirty="0"/>
              <a:t>We assume small strains, so the strain is defined with respect to displacement: u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We assume isotropic material response: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22867-0567-E545-8461-4C0F21EF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FD9081FC-D16C-5E4B-8493-5B6916A38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064" y="2997058"/>
            <a:ext cx="5638800" cy="33020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41A7D7B9-FE10-704A-A03B-B4043A7D0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68" y="4001368"/>
            <a:ext cx="3187700" cy="2349500"/>
          </a:xfrm>
          <a:prstGeom prst="rect">
            <a:avLst/>
          </a:prstGeom>
        </p:spPr>
      </p:pic>
      <p:pic>
        <p:nvPicPr>
          <p:cNvPr id="7" name="Picture 7" descr="temp_3Dslice.png">
            <a:extLst>
              <a:ext uri="{FF2B5EF4-FFF2-40B4-BE49-F238E27FC236}">
                <a16:creationId xmlns:a16="http://schemas.microsoft.com/office/drawing/2014/main" id="{387F6B20-9E2F-4B43-9CA1-50086F41C31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038" t="21089" r="40648" b="19846"/>
          <a:stretch>
            <a:fillRect/>
          </a:stretch>
        </p:blipFill>
        <p:spPr bwMode="auto">
          <a:xfrm>
            <a:off x="8149306" y="2004894"/>
            <a:ext cx="2270643" cy="453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>
                    <a:alpha val="49001"/>
                  </a:srgbClr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719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8C9DE-36BE-D74A-83B1-A136DE29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within a pressurized cylinder that has thick walls (radius/thickness&lt;20)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00897-4CE9-4D4F-8D76-FBF36D704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11209"/>
            <a:ext cx="10972800" cy="441469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The cylinder as an inner radius R</a:t>
            </a:r>
            <a:r>
              <a:rPr lang="en-US" baseline="-25000" dirty="0"/>
              <a:t>i</a:t>
            </a:r>
            <a:r>
              <a:rPr lang="en-US" dirty="0"/>
              <a:t> and an outer Radius R</a:t>
            </a:r>
            <a:r>
              <a:rPr lang="en-US" baseline="-25000" dirty="0"/>
              <a:t>o</a:t>
            </a:r>
          </a:p>
          <a:p>
            <a:r>
              <a:rPr lang="en-US" dirty="0"/>
              <a:t>We assume there is no shear stress, so </a:t>
            </a:r>
            <a:r>
              <a:rPr lang="en-US" dirty="0" err="1"/>
              <a:t>σ</a:t>
            </a:r>
            <a:r>
              <a:rPr lang="en-US" baseline="-25000" dirty="0" err="1"/>
              <a:t>rz</a:t>
            </a:r>
            <a:r>
              <a:rPr lang="en-US" dirty="0"/>
              <a:t> = 0</a:t>
            </a:r>
          </a:p>
          <a:p>
            <a:endParaRPr lang="en-US" dirty="0"/>
          </a:p>
          <a:p>
            <a:r>
              <a:rPr lang="en-US" dirty="0"/>
              <a:t>We will begin with the r equation</a:t>
            </a:r>
          </a:p>
          <a:p>
            <a:endParaRPr lang="en-US" dirty="0"/>
          </a:p>
          <a:p>
            <a:r>
              <a:rPr lang="en-US" dirty="0"/>
              <a:t>Now we need our constitutive law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combine these equations to 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4F062-8F1F-E54D-B329-03A64181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AF421-6222-8A4D-89F9-0250C41354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384"/>
          <a:stretch/>
        </p:blipFill>
        <p:spPr>
          <a:xfrm>
            <a:off x="10041774" y="3020222"/>
            <a:ext cx="1029497" cy="740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66B003-AD80-F742-8EF6-B97491696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372" y="1543966"/>
            <a:ext cx="3011963" cy="653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1A8743-4CB4-AB4C-9355-95B9B20DF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667" y="1474729"/>
            <a:ext cx="2307447" cy="74012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CEEA1E3-D09F-104F-82FB-1E1FC6D1F217}"/>
              </a:ext>
            </a:extLst>
          </p:cNvPr>
          <p:cNvGrpSpPr/>
          <p:nvPr/>
        </p:nvGrpSpPr>
        <p:grpSpPr>
          <a:xfrm>
            <a:off x="7261078" y="3162536"/>
            <a:ext cx="2269568" cy="653695"/>
            <a:chOff x="1617503" y="2999872"/>
            <a:chExt cx="2269568" cy="65369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3C57827-5106-AD4F-AEB6-3AC5901A83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8653"/>
            <a:stretch/>
          </p:blipFill>
          <p:spPr>
            <a:xfrm>
              <a:off x="1617503" y="2999872"/>
              <a:ext cx="1847767" cy="65369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E1B512E-2202-DB48-802B-143673DEB6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5038"/>
            <a:stretch/>
          </p:blipFill>
          <p:spPr>
            <a:xfrm>
              <a:off x="3436407" y="2999872"/>
              <a:ext cx="450664" cy="653695"/>
            </a:xfrm>
            <a:prstGeom prst="rect">
              <a:avLst/>
            </a:prstGeom>
          </p:spPr>
        </p:pic>
      </p:grpSp>
      <p:pic>
        <p:nvPicPr>
          <p:cNvPr id="12" name="Picture 11" descr="latex-image-1.pdf">
            <a:extLst>
              <a:ext uri="{FF2B5EF4-FFF2-40B4-BE49-F238E27FC236}">
                <a16:creationId xmlns:a16="http://schemas.microsoft.com/office/drawing/2014/main" id="{C00B95E2-A4B2-994E-B624-6C08DA4924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48" b="23379"/>
          <a:stretch/>
        </p:blipFill>
        <p:spPr>
          <a:xfrm>
            <a:off x="8187711" y="4008225"/>
            <a:ext cx="2898922" cy="1691537"/>
          </a:xfrm>
          <a:prstGeom prst="rect">
            <a:avLst/>
          </a:prstGeom>
        </p:spPr>
      </p:pic>
      <p:pic>
        <p:nvPicPr>
          <p:cNvPr id="13" name="Picture 12" descr="latex-image-1.pdf">
            <a:extLst>
              <a:ext uri="{FF2B5EF4-FFF2-40B4-BE49-F238E27FC236}">
                <a16:creationId xmlns:a16="http://schemas.microsoft.com/office/drawing/2014/main" id="{2D186E3B-F4C6-EF42-80B1-9DD0779A39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870" y="4561893"/>
            <a:ext cx="3848100" cy="584200"/>
          </a:xfrm>
          <a:prstGeom prst="rect">
            <a:avLst/>
          </a:prstGeom>
        </p:spPr>
      </p:pic>
      <p:pic>
        <p:nvPicPr>
          <p:cNvPr id="14" name="Picture 13" descr="latex-image-1.pdf">
            <a:extLst>
              <a:ext uri="{FF2B5EF4-FFF2-40B4-BE49-F238E27FC236}">
                <a16:creationId xmlns:a16="http://schemas.microsoft.com/office/drawing/2014/main" id="{47A04BB3-49B1-1D4F-A010-FBAEF10923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999958"/>
            <a:ext cx="4241800" cy="241300"/>
          </a:xfrm>
          <a:prstGeom prst="rect">
            <a:avLst/>
          </a:prstGeom>
        </p:spPr>
      </p:pic>
      <p:pic>
        <p:nvPicPr>
          <p:cNvPr id="15" name="Picture 14" descr="latex-image-1.pdf">
            <a:extLst>
              <a:ext uri="{FF2B5EF4-FFF2-40B4-BE49-F238E27FC236}">
                <a16:creationId xmlns:a16="http://schemas.microsoft.com/office/drawing/2014/main" id="{22B15CD5-3121-804B-B592-4D63ED42BB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627" y="5995075"/>
            <a:ext cx="3873500" cy="292100"/>
          </a:xfrm>
          <a:prstGeom prst="rect">
            <a:avLst/>
          </a:prstGeom>
        </p:spPr>
      </p:pic>
      <p:pic>
        <p:nvPicPr>
          <p:cNvPr id="16" name="Picture 15" descr="latex-image-1.pdf">
            <a:extLst>
              <a:ext uri="{FF2B5EF4-FFF2-40B4-BE49-F238E27FC236}">
                <a16:creationId xmlns:a16="http://schemas.microsoft.com/office/drawing/2014/main" id="{E1A0B2E7-034B-DB48-8FC6-121E6B69FC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389" y="6380067"/>
            <a:ext cx="3289300" cy="241300"/>
          </a:xfrm>
          <a:prstGeom prst="rect">
            <a:avLst/>
          </a:prstGeom>
        </p:spPr>
      </p:pic>
      <p:pic>
        <p:nvPicPr>
          <p:cNvPr id="17" name="Picture 16" descr="latex-image-1.pdf">
            <a:extLst>
              <a:ext uri="{FF2B5EF4-FFF2-40B4-BE49-F238E27FC236}">
                <a16:creationId xmlns:a16="http://schemas.microsoft.com/office/drawing/2014/main" id="{7ECB1385-F4FD-1445-8BA6-5635028CD0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865" y="3838426"/>
            <a:ext cx="2552700" cy="254000"/>
          </a:xfrm>
          <a:prstGeom prst="rect">
            <a:avLst/>
          </a:prstGeom>
        </p:spPr>
      </p:pic>
      <p:pic>
        <p:nvPicPr>
          <p:cNvPr id="18" name="Picture 17" descr="latex-image-1.pdf">
            <a:extLst>
              <a:ext uri="{FF2B5EF4-FFF2-40B4-BE49-F238E27FC236}">
                <a16:creationId xmlns:a16="http://schemas.microsoft.com/office/drawing/2014/main" id="{DDBE3B5C-C5BA-0A46-908A-1916E675EF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229" y="3816231"/>
            <a:ext cx="1968500" cy="24130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CDB9D0-7E6D-5B47-8D85-28917FF259A0}"/>
              </a:ext>
            </a:extLst>
          </p:cNvPr>
          <p:cNvSpPr/>
          <p:nvPr/>
        </p:nvSpPr>
        <p:spPr>
          <a:xfrm>
            <a:off x="7991475" y="4008225"/>
            <a:ext cx="3209925" cy="177345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9388AD3-0E7C-664F-BB81-35EEFB2711EC}"/>
              </a:ext>
            </a:extLst>
          </p:cNvPr>
          <p:cNvSpPr/>
          <p:nvPr/>
        </p:nvSpPr>
        <p:spPr>
          <a:xfrm>
            <a:off x="409575" y="5849506"/>
            <a:ext cx="8782935" cy="879893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81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94FE-9668-9645-B261-7DF41CFB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 equations for the stress within a pressurized cylinder with thick walls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0304B-FAFE-AD45-91D6-D45826BF5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one more relationship from the definition of the strain</a:t>
            </a:r>
          </a:p>
          <a:p>
            <a:endParaRPr lang="en-US" dirty="0"/>
          </a:p>
          <a:p>
            <a:r>
              <a:rPr lang="en-US" dirty="0"/>
              <a:t>From the previous slide, we have</a:t>
            </a:r>
          </a:p>
          <a:p>
            <a:endParaRPr lang="en-US" dirty="0"/>
          </a:p>
          <a:p>
            <a:r>
              <a:rPr lang="en-US" dirty="0"/>
              <a:t>If we combine these, we get</a:t>
            </a:r>
          </a:p>
          <a:p>
            <a:endParaRPr lang="en-US" dirty="0"/>
          </a:p>
          <a:p>
            <a:r>
              <a:rPr lang="en-US" dirty="0"/>
              <a:t>Again, from the previous slide</a:t>
            </a:r>
          </a:p>
          <a:p>
            <a:endParaRPr lang="en-US" dirty="0"/>
          </a:p>
          <a:p>
            <a:r>
              <a:rPr lang="en-US" dirty="0"/>
              <a:t>We end up with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0E638-D91F-0746-830B-89B59538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A2557DA2-6529-2B46-B002-D12FE280B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436" y="5155003"/>
            <a:ext cx="1968500" cy="24130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17EAA5B2-E1C7-9649-B639-C4EEEE183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884" y="5135523"/>
            <a:ext cx="2552700" cy="254000"/>
          </a:xfrm>
          <a:prstGeom prst="rect">
            <a:avLst/>
          </a:prstGeom>
        </p:spPr>
      </p:pic>
      <p:pic>
        <p:nvPicPr>
          <p:cNvPr id="7" name="Picture 6" descr="latex-image-1.pdf">
            <a:extLst>
              <a:ext uri="{FF2B5EF4-FFF2-40B4-BE49-F238E27FC236}">
                <a16:creationId xmlns:a16="http://schemas.microsoft.com/office/drawing/2014/main" id="{4E3941DD-C49D-734B-BCAB-74B5065E80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617" y="3597424"/>
            <a:ext cx="3873500" cy="292100"/>
          </a:xfrm>
          <a:prstGeom prst="rect">
            <a:avLst/>
          </a:prstGeom>
        </p:spPr>
      </p:pic>
      <p:pic>
        <p:nvPicPr>
          <p:cNvPr id="8" name="Picture 7" descr="latex-image-1.pdf">
            <a:extLst>
              <a:ext uri="{FF2B5EF4-FFF2-40B4-BE49-F238E27FC236}">
                <a16:creationId xmlns:a16="http://schemas.microsoft.com/office/drawing/2014/main" id="{D3C6AE56-9EF5-8F4F-84A6-53D505AF2C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636" y="3597424"/>
            <a:ext cx="3289300" cy="241300"/>
          </a:xfrm>
          <a:prstGeom prst="rect">
            <a:avLst/>
          </a:prstGeom>
        </p:spPr>
      </p:pic>
      <p:pic>
        <p:nvPicPr>
          <p:cNvPr id="9" name="Picture 8" descr="latex-image-1.pdf">
            <a:extLst>
              <a:ext uri="{FF2B5EF4-FFF2-40B4-BE49-F238E27FC236}">
                <a16:creationId xmlns:a16="http://schemas.microsoft.com/office/drawing/2014/main" id="{05D44DC2-591B-AB43-8BE1-98018BCAAEF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749"/>
          <a:stretch/>
        </p:blipFill>
        <p:spPr>
          <a:xfrm>
            <a:off x="2826350" y="2672988"/>
            <a:ext cx="2213248" cy="330200"/>
          </a:xfrm>
          <a:prstGeom prst="rect">
            <a:avLst/>
          </a:prstGeom>
        </p:spPr>
      </p:pic>
      <p:pic>
        <p:nvPicPr>
          <p:cNvPr id="10" name="Picture 9" descr="latex-image-1.pdf">
            <a:extLst>
              <a:ext uri="{FF2B5EF4-FFF2-40B4-BE49-F238E27FC236}">
                <a16:creationId xmlns:a16="http://schemas.microsoft.com/office/drawing/2014/main" id="{CEDD61A0-CF38-9345-9373-0606AB9E8C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834" y="2678593"/>
            <a:ext cx="2184400" cy="317500"/>
          </a:xfrm>
          <a:prstGeom prst="rect">
            <a:avLst/>
          </a:prstGeom>
        </p:spPr>
      </p:pic>
      <p:pic>
        <p:nvPicPr>
          <p:cNvPr id="11" name="Picture 10" descr="latex-image-1.pdf">
            <a:extLst>
              <a:ext uri="{FF2B5EF4-FFF2-40B4-BE49-F238E27FC236}">
                <a16:creationId xmlns:a16="http://schemas.microsoft.com/office/drawing/2014/main" id="{FDBAFA06-B22D-994F-91C2-4F4B4FF642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234" y="2685688"/>
            <a:ext cx="1536700" cy="317500"/>
          </a:xfrm>
          <a:prstGeom prst="rect">
            <a:avLst/>
          </a:prstGeom>
        </p:spPr>
      </p:pic>
      <p:pic>
        <p:nvPicPr>
          <p:cNvPr id="12" name="Picture 11" descr="latex-image-1.pdf">
            <a:extLst>
              <a:ext uri="{FF2B5EF4-FFF2-40B4-BE49-F238E27FC236}">
                <a16:creationId xmlns:a16="http://schemas.microsoft.com/office/drawing/2014/main" id="{00CA0D06-DE92-0541-B6B2-DC040794E7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398" y="5700534"/>
            <a:ext cx="2171700" cy="254000"/>
          </a:xfrm>
          <a:prstGeom prst="rect">
            <a:avLst/>
          </a:prstGeom>
        </p:spPr>
      </p:pic>
      <p:pic>
        <p:nvPicPr>
          <p:cNvPr id="13" name="Picture 12" descr="latex-image-1.pdf">
            <a:extLst>
              <a:ext uri="{FF2B5EF4-FFF2-40B4-BE49-F238E27FC236}">
                <a16:creationId xmlns:a16="http://schemas.microsoft.com/office/drawing/2014/main" id="{7A467392-2559-B74A-80FC-4324F74006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598" y="6130993"/>
            <a:ext cx="1714500" cy="330200"/>
          </a:xfrm>
          <a:prstGeom prst="rect">
            <a:avLst/>
          </a:prstGeom>
        </p:spPr>
      </p:pic>
      <p:pic>
        <p:nvPicPr>
          <p:cNvPr id="14" name="Picture 13" descr="latex-image-1.pdf">
            <a:extLst>
              <a:ext uri="{FF2B5EF4-FFF2-40B4-BE49-F238E27FC236}">
                <a16:creationId xmlns:a16="http://schemas.microsoft.com/office/drawing/2014/main" id="{5376E0BE-B67A-5341-9778-63DC906FEDC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350" y="4432960"/>
            <a:ext cx="55880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1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9D59-1636-3F47-BD4E-A7F0E5A2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now have an ODE so we can solve to get the 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3F8C0-853D-8743-8253-8EEA68775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boundary conditions are </a:t>
            </a:r>
            <a:r>
              <a:rPr lang="en-US" dirty="0" err="1"/>
              <a:t>σ</a:t>
            </a:r>
            <a:r>
              <a:rPr lang="en-US" baseline="-25000" dirty="0" err="1"/>
              <a:t>rr</a:t>
            </a:r>
            <a:r>
              <a:rPr lang="en-US" dirty="0"/>
              <a:t>(R</a:t>
            </a:r>
            <a:r>
              <a:rPr lang="en-US" baseline="-25000" dirty="0"/>
              <a:t>i</a:t>
            </a:r>
            <a:r>
              <a:rPr lang="en-US" dirty="0"/>
              <a:t>) = -p and </a:t>
            </a:r>
            <a:r>
              <a:rPr lang="en-US" dirty="0" err="1"/>
              <a:t>σ</a:t>
            </a:r>
            <a:r>
              <a:rPr lang="en-US" baseline="-25000" dirty="0" err="1"/>
              <a:t>rr</a:t>
            </a:r>
            <a:r>
              <a:rPr lang="en-US" dirty="0"/>
              <a:t>(R</a:t>
            </a:r>
            <a:r>
              <a:rPr lang="en-US" baseline="-25000" dirty="0"/>
              <a:t>o</a:t>
            </a:r>
            <a:r>
              <a:rPr lang="en-US" dirty="0"/>
              <a:t>) = 0</a:t>
            </a:r>
          </a:p>
          <a:p>
            <a:r>
              <a:rPr lang="en-US" dirty="0"/>
              <a:t>After integrating twice, we get</a:t>
            </a:r>
          </a:p>
          <a:p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σ</a:t>
            </a:r>
            <a:r>
              <a:rPr lang="en-US" baseline="-25000" dirty="0" err="1"/>
              <a:t>rr</a:t>
            </a:r>
            <a:r>
              <a:rPr lang="en-US" dirty="0"/>
              <a:t>, we can get </a:t>
            </a:r>
            <a:r>
              <a:rPr lang="en-US" dirty="0" err="1"/>
              <a:t>σ</a:t>
            </a:r>
            <a:r>
              <a:rPr lang="en-US" baseline="-25000" dirty="0" err="1"/>
              <a:t>θθ</a:t>
            </a:r>
            <a:r>
              <a:rPr lang="en-US" dirty="0"/>
              <a:t> from</a:t>
            </a:r>
          </a:p>
          <a:p>
            <a:r>
              <a:rPr lang="en-US" dirty="0"/>
              <a:t>From the end condition, we determine </a:t>
            </a:r>
            <a:r>
              <a:rPr lang="en-US" dirty="0" err="1"/>
              <a:t>σ</a:t>
            </a:r>
            <a:r>
              <a:rPr lang="en-US" baseline="-25000" dirty="0" err="1"/>
              <a:t>zz</a:t>
            </a:r>
            <a:endParaRPr lang="en-US" baseline="-250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9698D-3240-C445-9A4C-E112DB93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F79EB564-50F8-B349-8BDB-FF0764886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932" y="2005128"/>
            <a:ext cx="1714500" cy="33020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49A88EF8-F074-A349-94C7-60248AD3E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704" y="2618424"/>
            <a:ext cx="2832100" cy="622300"/>
          </a:xfrm>
          <a:prstGeom prst="rect">
            <a:avLst/>
          </a:prstGeom>
        </p:spPr>
      </p:pic>
      <p:pic>
        <p:nvPicPr>
          <p:cNvPr id="7" name="Picture 6" descr="latex-image-1.pdf">
            <a:extLst>
              <a:ext uri="{FF2B5EF4-FFF2-40B4-BE49-F238E27FC236}">
                <a16:creationId xmlns:a16="http://schemas.microsoft.com/office/drawing/2014/main" id="{E5DC1206-33B8-DB4B-9BB9-CB5E406AF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086" y="3797596"/>
            <a:ext cx="1968500" cy="241300"/>
          </a:xfrm>
          <a:prstGeom prst="rect">
            <a:avLst/>
          </a:prstGeom>
        </p:spPr>
      </p:pic>
      <p:pic>
        <p:nvPicPr>
          <p:cNvPr id="8" name="Picture 7" descr="latex-image-1.pdf">
            <a:extLst>
              <a:ext uri="{FF2B5EF4-FFF2-40B4-BE49-F238E27FC236}">
                <a16:creationId xmlns:a16="http://schemas.microsoft.com/office/drawing/2014/main" id="{61C1241E-2EF9-5643-A06E-D8ABC97BC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6543" y="3607096"/>
            <a:ext cx="2628900" cy="622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C14F13-7F79-344F-92CC-5106DAB35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2559" y="4716418"/>
            <a:ext cx="4467968" cy="193970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9D57E61-1EFD-7343-A527-E72B694C8049}"/>
              </a:ext>
            </a:extLst>
          </p:cNvPr>
          <p:cNvGrpSpPr/>
          <p:nvPr/>
        </p:nvGrpSpPr>
        <p:grpSpPr>
          <a:xfrm>
            <a:off x="2544479" y="4582731"/>
            <a:ext cx="2625453" cy="533400"/>
            <a:chOff x="1020478" y="4582731"/>
            <a:chExt cx="2625453" cy="533400"/>
          </a:xfrm>
        </p:grpSpPr>
        <p:pic>
          <p:nvPicPr>
            <p:cNvPr id="11" name="Picture 10" descr="latex-image-1.pdf">
              <a:extLst>
                <a:ext uri="{FF2B5EF4-FFF2-40B4-BE49-F238E27FC236}">
                  <a16:creationId xmlns:a16="http://schemas.microsoft.com/office/drawing/2014/main" id="{B5314F57-564D-CD47-AB64-D9170BD5B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6631" y="4582731"/>
              <a:ext cx="2019300" cy="5334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F2EC32-6C7D-1A4F-BD55-8FD00DC0DB6E}"/>
                </a:ext>
              </a:extLst>
            </p:cNvPr>
            <p:cNvSpPr txBox="1"/>
            <p:nvPr/>
          </p:nvSpPr>
          <p:spPr>
            <a:xfrm>
              <a:off x="1020478" y="4687552"/>
              <a:ext cx="606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(a)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06E2BFC-EF50-334B-8025-3E7250BFD3F8}"/>
              </a:ext>
            </a:extLst>
          </p:cNvPr>
          <p:cNvGrpSpPr/>
          <p:nvPr/>
        </p:nvGrpSpPr>
        <p:grpSpPr>
          <a:xfrm>
            <a:off x="2544479" y="5359534"/>
            <a:ext cx="1342753" cy="369332"/>
            <a:chOff x="1020478" y="5359534"/>
            <a:chExt cx="134275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219779D-408F-F74A-AA64-C0B9B8BDE5C5}"/>
                </a:ext>
              </a:extLst>
            </p:cNvPr>
            <p:cNvSpPr txBox="1"/>
            <p:nvPr/>
          </p:nvSpPr>
          <p:spPr>
            <a:xfrm>
              <a:off x="1020478" y="5359534"/>
              <a:ext cx="606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(b)</a:t>
              </a:r>
            </a:p>
          </p:txBody>
        </p:sp>
        <p:pic>
          <p:nvPicPr>
            <p:cNvPr id="15" name="Picture 14" descr="latex-image-1.pdf">
              <a:extLst>
                <a:ext uri="{FF2B5EF4-FFF2-40B4-BE49-F238E27FC236}">
                  <a16:creationId xmlns:a16="http://schemas.microsoft.com/office/drawing/2014/main" id="{643B83EE-DCFA-CC47-8B06-D75E0CE7C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6631" y="5454470"/>
              <a:ext cx="736600" cy="2032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0F07772-5C0A-4344-99A0-5E358E35AE93}"/>
              </a:ext>
            </a:extLst>
          </p:cNvPr>
          <p:cNvGrpSpPr/>
          <p:nvPr/>
        </p:nvGrpSpPr>
        <p:grpSpPr>
          <a:xfrm>
            <a:off x="2544479" y="5896808"/>
            <a:ext cx="2625453" cy="533400"/>
            <a:chOff x="1020478" y="5896808"/>
            <a:chExt cx="2625453" cy="53340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61B4333-DCD9-2845-8D64-339570E7ECE8}"/>
                </a:ext>
              </a:extLst>
            </p:cNvPr>
            <p:cNvSpPr txBox="1"/>
            <p:nvPr/>
          </p:nvSpPr>
          <p:spPr>
            <a:xfrm>
              <a:off x="1020478" y="5993028"/>
              <a:ext cx="6061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(c)</a:t>
              </a:r>
            </a:p>
          </p:txBody>
        </p:sp>
        <p:pic>
          <p:nvPicPr>
            <p:cNvPr id="18" name="Picture 17" descr="latex-image-1.pdf">
              <a:extLst>
                <a:ext uri="{FF2B5EF4-FFF2-40B4-BE49-F238E27FC236}">
                  <a16:creationId xmlns:a16="http://schemas.microsoft.com/office/drawing/2014/main" id="{545A3927-0138-5B48-882B-AD9BFCB49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6631" y="5896808"/>
              <a:ext cx="2019300" cy="533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5617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5E29-DC88-1249-BF8D-F8A026D3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if a fuel rod will exceed its yield 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B014E-A6FD-004C-B64B-66295B1C3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fuel rod has an initial pressure of 5 </a:t>
            </a:r>
            <a:r>
              <a:rPr lang="en-US" dirty="0" err="1"/>
              <a:t>MPa</a:t>
            </a:r>
            <a:r>
              <a:rPr lang="en-US" dirty="0"/>
              <a:t> that increases to 9 </a:t>
            </a:r>
            <a:r>
              <a:rPr lang="en-US" dirty="0" err="1"/>
              <a:t>MPa</a:t>
            </a:r>
            <a:r>
              <a:rPr lang="en-US" dirty="0"/>
              <a:t> during operation. Will it exceed its yield stress?</a:t>
            </a:r>
          </a:p>
          <a:p>
            <a:pPr lvl="1"/>
            <a:r>
              <a:rPr lang="en-US" dirty="0"/>
              <a:t>R</a:t>
            </a:r>
            <a:r>
              <a:rPr lang="en-US" baseline="-25000" dirty="0"/>
              <a:t>i</a:t>
            </a:r>
            <a:r>
              <a:rPr lang="en-US" dirty="0"/>
              <a:t> = 0.52, R</a:t>
            </a:r>
            <a:r>
              <a:rPr lang="en-US" baseline="-25000" dirty="0"/>
              <a:t>o</a:t>
            </a:r>
            <a:r>
              <a:rPr lang="en-US" dirty="0"/>
              <a:t> = 0.58 cm, </a:t>
            </a:r>
            <a:r>
              <a:rPr lang="en-US" dirty="0" err="1"/>
              <a:t>σ</a:t>
            </a:r>
            <a:r>
              <a:rPr lang="en-US" baseline="-25000" dirty="0" err="1"/>
              <a:t>y</a:t>
            </a:r>
            <a:r>
              <a:rPr lang="en-US" dirty="0"/>
              <a:t> = 381 </a:t>
            </a:r>
            <a:r>
              <a:rPr lang="en-US" dirty="0" err="1"/>
              <a:t>MPa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889C9-520C-164F-811D-488A8EFB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FB9834-175A-1C4D-B5A8-C1FDD240F0E3}"/>
              </a:ext>
            </a:extLst>
          </p:cNvPr>
          <p:cNvSpPr/>
          <p:nvPr/>
        </p:nvSpPr>
        <p:spPr>
          <a:xfrm>
            <a:off x="1981201" y="4213184"/>
            <a:ext cx="8298332" cy="2442935"/>
          </a:xfrm>
          <a:prstGeom prst="roundRect">
            <a:avLst>
              <a:gd name="adj" fmla="val 669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stress is the largest?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σ</a:t>
            </a:r>
            <a:r>
              <a:rPr kumimoji="0" lang="en-US" sz="16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θθ</a:t>
            </a:r>
            <a:endParaRPr kumimoji="0" lang="en-US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 what position r will the hoop stress be the largest?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16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0.52 cm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stress at p = 5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MPa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σ</a:t>
            </a:r>
            <a:r>
              <a:rPr kumimoji="0" lang="en-US" sz="16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θθ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5*((0.58/0.52)^2 + 1)/((0.58/0.52)^2 – 1) = 46.0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MPa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the stress at p = 9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Mpa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?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σ</a:t>
            </a:r>
            <a:r>
              <a:rPr kumimoji="0" lang="en-US" sz="16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θθ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9*((0.58/0.52)^2 + 1)/((0.58/0.52)^2 – 1) = 82.7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Mpa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Again, we don’t even get close to yielding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4AB346-03A5-684E-A0E7-B8BEAAF17A1E}"/>
              </a:ext>
            </a:extLst>
          </p:cNvPr>
          <p:cNvSpPr/>
          <p:nvPr/>
        </p:nvSpPr>
        <p:spPr>
          <a:xfrm>
            <a:off x="2700936" y="3470565"/>
            <a:ext cx="6790127" cy="74261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latex-image-1.pdf">
            <a:extLst>
              <a:ext uri="{FF2B5EF4-FFF2-40B4-BE49-F238E27FC236}">
                <a16:creationId xmlns:a16="http://schemas.microsoft.com/office/drawing/2014/main" id="{94C4B0FB-D500-8948-A6FC-81397DC07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513" y="3543663"/>
            <a:ext cx="2358388" cy="545787"/>
          </a:xfrm>
          <a:prstGeom prst="rect">
            <a:avLst/>
          </a:prstGeom>
        </p:spPr>
      </p:pic>
      <p:pic>
        <p:nvPicPr>
          <p:cNvPr id="8" name="Picture 7" descr="latex-image-1.pdf">
            <a:extLst>
              <a:ext uri="{FF2B5EF4-FFF2-40B4-BE49-F238E27FC236}">
                <a16:creationId xmlns:a16="http://schemas.microsoft.com/office/drawing/2014/main" id="{38394899-E10F-9244-80FB-E3B91EBAA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333" y="3543663"/>
            <a:ext cx="2189176" cy="5457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7A08E4-BE2F-CD45-B7E6-1D3402B3ED7A}"/>
                  </a:ext>
                </a:extLst>
              </p:cNvPr>
              <p:cNvSpPr txBox="1"/>
              <p:nvPr/>
            </p:nvSpPr>
            <p:spPr>
              <a:xfrm>
                <a:off x="7503148" y="3528511"/>
                <a:ext cx="2070631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𝑧𝑧</m:t>
                          </m:r>
                        </m:sub>
                      </m:sSub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f>
                        <m:f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7A08E4-BE2F-CD45-B7E6-1D3402B3E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3148" y="3528511"/>
                <a:ext cx="2070631" cy="506292"/>
              </a:xfrm>
              <a:prstGeom prst="rect">
                <a:avLst/>
              </a:prstGeom>
              <a:blipFill>
                <a:blip r:embed="rId4"/>
                <a:stretch>
                  <a:fillRect t="-2439" b="-17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76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5E95-679B-3145-B2FD-90420B020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We’ve now solved this same problem assuming thin and thick-walled cylinders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007A2-3B53-AB4F-9283-43268BB82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DBF9A4-8AF1-8E9D-DC6C-825E8BE78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1396448"/>
            <a:ext cx="63754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26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THERMO-Mechanics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6BD0F-ABBC-C14D-BC96-77BE126A74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8083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A9D6-CA1E-9A47-A886-9C78602C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24DB5-0F90-274B-8FBC-2C5D83AEF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6078876" cy="3965670"/>
          </a:xfrm>
        </p:spPr>
        <p:txBody>
          <a:bodyPr/>
          <a:lstStyle/>
          <a:p>
            <a:r>
              <a:rPr lang="en-US" dirty="0"/>
              <a:t>As the temperature increases, atoms have larger vibrations, causing the material to expand</a:t>
            </a:r>
          </a:p>
          <a:p>
            <a:r>
              <a:rPr lang="en-US" dirty="0"/>
              <a:t>This expansion doesn’t raise the energy of the material when unrestrained</a:t>
            </a:r>
          </a:p>
          <a:p>
            <a:r>
              <a:rPr lang="en-US" dirty="0"/>
              <a:t>This expansion can be treated as a strain, but as one that doesn’t cause stress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F943B-AECE-3B47-ADF1-ED61DCB0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89E203-C48D-B14E-8FE9-B002169C76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92" r="10309"/>
          <a:stretch/>
        </p:blipFill>
        <p:spPr>
          <a:xfrm>
            <a:off x="6944139" y="2362141"/>
            <a:ext cx="4638261" cy="27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6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BE7EA-A462-B54E-A5AD-302C9EAB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F1A4A-0EBC-0140-8607-37EB3E4A4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2160495"/>
                <a:ext cx="6732104" cy="396567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isotropic materials, thermal expansion happens equally in all directions and is linear with temperature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In this equation</a:t>
                </a:r>
              </a:p>
              <a:p>
                <a:pPr lvl="1"/>
                <a:r>
                  <a:rPr lang="en-US" dirty="0"/>
                  <a:t>T is the current temperature</a:t>
                </a:r>
              </a:p>
              <a:p>
                <a:pPr lvl="1"/>
                <a:r>
                  <a:rPr lang="en-US" dirty="0"/>
                  <a:t>T</a:t>
                </a:r>
                <a:r>
                  <a:rPr lang="en-US" baseline="-25000" dirty="0"/>
                  <a:t>0</a:t>
                </a:r>
                <a:r>
                  <a:rPr lang="en-US" dirty="0"/>
                  <a:t> is the temperature the original size was measured</a:t>
                </a:r>
              </a:p>
              <a:p>
                <a:pPr lvl="1"/>
                <a:r>
                  <a:rPr lang="el-GR" dirty="0"/>
                  <a:t>α </a:t>
                </a:r>
                <a:r>
                  <a:rPr lang="en-US" dirty="0"/>
                  <a:t>is the linear thermal expansion coefficient</a:t>
                </a:r>
              </a:p>
              <a:p>
                <a:pPr lvl="1"/>
                <a:r>
                  <a:rPr lang="en-US" dirty="0"/>
                  <a:t>I is the identity tensor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F1A4A-0EBC-0140-8607-37EB3E4A4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160495"/>
                <a:ext cx="6732104" cy="3965670"/>
              </a:xfrm>
              <a:blipFill>
                <a:blip r:embed="rId2"/>
                <a:stretch>
                  <a:fillRect l="-1132" t="-637" r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92B68-1069-6546-9FDC-039A09DC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77824A-FADB-2548-8BBD-5F5A5B649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578" y="2496378"/>
            <a:ext cx="4299897" cy="289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09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86BA0-C6E3-5040-AE1A-289C76CE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Expansion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6C266-3A85-CE40-99AA-BDBFFC396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28949"/>
            <a:ext cx="3975652" cy="3097215"/>
          </a:xfrm>
        </p:spPr>
        <p:txBody>
          <a:bodyPr/>
          <a:lstStyle/>
          <a:p>
            <a:r>
              <a:rPr lang="en-US" dirty="0"/>
              <a:t>Though thermal expansion doesn’t directly cause stress, it can still lead to thermal stress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D0B08-D6C2-084B-88B6-C501F427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6C336-1E16-044D-AFD2-E7C6ED494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826" y="2474276"/>
            <a:ext cx="6754298" cy="333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A1A22-B066-4E41-A6E8-C9D7224C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stress in a thin constrained rod</a:t>
            </a:r>
            <a:br>
              <a:rPr lang="en-US" dirty="0"/>
            </a:br>
            <a:r>
              <a:rPr lang="en-US" dirty="0"/>
              <a:t>of length L when it is heated to </a:t>
            </a:r>
            <a:r>
              <a:rPr lang="el-GR" dirty="0"/>
              <a:t>Δ</a:t>
            </a:r>
            <a:r>
              <a:rPr lang="en-US" dirty="0"/>
              <a:t>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AEB94-1AA6-DA4E-8C04-F0A0A390B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5618922" cy="3965670"/>
          </a:xfrm>
        </p:spPr>
        <p:txBody>
          <a:bodyPr/>
          <a:lstStyle/>
          <a:p>
            <a:r>
              <a:rPr lang="en-US" dirty="0"/>
              <a:t>The rod has a Young’s modulus of E and an expansion coefficient of </a:t>
            </a:r>
            <a:r>
              <a:rPr lang="el-GR" dirty="0"/>
              <a:t>α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A3BC5-2759-B946-A317-9D5ADF47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6DC36-07B3-3A47-B8AE-65AC68DA5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410" y="2239456"/>
            <a:ext cx="2042215" cy="2987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91B6D1E-8D45-214C-B0A0-9C6301BE0BF7}"/>
                  </a:ext>
                </a:extLst>
              </p:cNvPr>
              <p:cNvSpPr/>
              <p:nvPr/>
            </p:nvSpPr>
            <p:spPr>
              <a:xfrm>
                <a:off x="609600" y="3195538"/>
                <a:ext cx="251382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𝜖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𝑇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− 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𝐼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91B6D1E-8D45-214C-B0A0-9C6301BE0B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195538"/>
                <a:ext cx="2513829" cy="461665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E6BDC2-3D0B-6F41-B15A-469A5FA7DE89}"/>
                  </a:ext>
                </a:extLst>
              </p:cNvPr>
              <p:cNvSpPr txBox="1"/>
              <p:nvPr/>
            </p:nvSpPr>
            <p:spPr>
              <a:xfrm>
                <a:off x="3419061" y="3212975"/>
                <a:ext cx="219316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𝜎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𝐶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(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𝜖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− 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𝜖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𝑇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E6BDC2-3D0B-6F41-B15A-469A5FA7D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061" y="3212975"/>
                <a:ext cx="2193164" cy="369332"/>
              </a:xfrm>
              <a:prstGeom prst="rect">
                <a:avLst/>
              </a:prstGeom>
              <a:blipFill>
                <a:blip r:embed="rId4"/>
                <a:stretch>
                  <a:fillRect l="-3448" t="-3226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6322298-F62B-8548-8EB9-2AED2C8E4FB9}"/>
                  </a:ext>
                </a:extLst>
              </p:cNvPr>
              <p:cNvSpPr/>
              <p:nvPr/>
            </p:nvSpPr>
            <p:spPr>
              <a:xfrm>
                <a:off x="2301143" y="4344015"/>
                <a:ext cx="237058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𝜖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− 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𝛼</m:t>
                      </m:r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6322298-F62B-8548-8EB9-2AED2C8E4F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143" y="4344015"/>
                <a:ext cx="2370585" cy="461665"/>
              </a:xfrm>
              <a:prstGeom prst="rect">
                <a:avLst/>
              </a:prstGeom>
              <a:blipFill>
                <a:blip r:embed="rId5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ED907E-9DC3-2248-8E6E-6A4D24CA705E}"/>
                  </a:ext>
                </a:extLst>
              </p:cNvPr>
              <p:cNvSpPr txBox="1"/>
              <p:nvPr/>
            </p:nvSpPr>
            <p:spPr>
              <a:xfrm>
                <a:off x="2279375" y="4901677"/>
                <a:ext cx="24141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𝜎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𝐸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(0 − </m:t>
                    </m:r>
                    <m:r>
                      <m:rPr>
                        <m:sty m:val="p"/>
                      </m:rPr>
                      <a:rPr kumimoji="0" lang="el-GR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𝑇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7ED907E-9DC3-2248-8E6E-6A4D24CA7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375" y="4901677"/>
                <a:ext cx="2414122" cy="369332"/>
              </a:xfrm>
              <a:prstGeom prst="rect">
                <a:avLst/>
              </a:prstGeom>
              <a:blipFill>
                <a:blip r:embed="rId6"/>
                <a:stretch>
                  <a:fillRect l="-2604" t="-3333" r="-1562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736BC0-671B-2B42-A2AE-B8B40128D459}"/>
                  </a:ext>
                </a:extLst>
              </p:cNvPr>
              <p:cNvSpPr txBox="1"/>
              <p:nvPr/>
            </p:nvSpPr>
            <p:spPr>
              <a:xfrm>
                <a:off x="2533740" y="5383845"/>
                <a:ext cx="16368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𝜎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=−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𝐸</m:t>
                    </m:r>
                    <m:r>
                      <m:rPr>
                        <m:sty m:val="p"/>
                      </m:rPr>
                      <a:rPr kumimoji="0" lang="el-GR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Δ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𝑇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𝛼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736BC0-671B-2B42-A2AE-B8B40128D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740" y="5383845"/>
                <a:ext cx="1636858" cy="369332"/>
              </a:xfrm>
              <a:prstGeom prst="rect">
                <a:avLst/>
              </a:prstGeom>
              <a:blipFill>
                <a:blip r:embed="rId7"/>
                <a:stretch>
                  <a:fillRect l="-4651" r="-77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F148DC-D479-1A49-8597-1D2F562AC8FA}"/>
              </a:ext>
            </a:extLst>
          </p:cNvPr>
          <p:cNvSpPr/>
          <p:nvPr/>
        </p:nvSpPr>
        <p:spPr>
          <a:xfrm>
            <a:off x="1987826" y="4143330"/>
            <a:ext cx="2809461" cy="1753887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0252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FAB4-F977-624F-B63D-9481071F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large temperature gradient within a fuel pellet</a:t>
            </a:r>
            <a:br>
              <a:rPr lang="en-US" dirty="0"/>
            </a:br>
            <a:r>
              <a:rPr lang="en-US" dirty="0"/>
              <a:t>results in large thermal stresses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EC7E7-830D-6448-BBAF-EE95821CB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04584-0C74-AF49-BE93-92551BEA7A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46" r="50477"/>
          <a:stretch/>
        </p:blipFill>
        <p:spPr>
          <a:xfrm>
            <a:off x="6802975" y="2085976"/>
            <a:ext cx="4236086" cy="41810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4A0A29-4D30-2646-A3AC-037B5014D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2085976"/>
            <a:ext cx="4546600" cy="463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40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FE5FE-C9E0-9647-996E-451599E6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the constitutive relations plus 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FF8AC-A81E-1B44-8E2C-5097D7F2A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099139" cy="3965670"/>
          </a:xfrm>
        </p:spPr>
        <p:txBody>
          <a:bodyPr/>
          <a:lstStyle/>
          <a:p>
            <a:r>
              <a:rPr lang="en-US" dirty="0"/>
              <a:t>We assume small strains, so the strain is defined as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assume isotropic material response, so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22867-0567-E545-8461-4C0F21EF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FD9081FC-D16C-5E4B-8493-5B6916A38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334" y="2729228"/>
            <a:ext cx="5638800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A6347F-9839-1C44-984D-85C666B5B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369" y="3958361"/>
            <a:ext cx="3654810" cy="2167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73AE63-98E3-FB2B-6D4E-E2DDAC51A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631" y="1584913"/>
            <a:ext cx="22860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34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7367-8372-9A40-92E8-A5392312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a cylinder with thermal expansion but not pressure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0F47B2-6180-294D-98D6-5C46269D9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2160495"/>
                <a:ext cx="7938052" cy="396567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𝑟𝑟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Similar to the equations we worked through before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den>
                    </m:f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𝑑𝑟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den>
                        </m:f>
                      </m:e>
                    </m:d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Solving this ODE: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0F47B2-6180-294D-98D6-5C46269D9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160495"/>
                <a:ext cx="7938052" cy="3965670"/>
              </a:xfrm>
              <a:blipFill>
                <a:blip r:embed="rId2"/>
                <a:stretch>
                  <a:fillRect l="-1120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2879B-A5DA-E848-BAD7-FFE01621E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3B668-70D0-2744-B830-A7F4AFB2D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131" y="2160495"/>
            <a:ext cx="2394226" cy="25477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1ADAB6-5A70-C242-8604-6C2ACD6E9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306" y="4245941"/>
            <a:ext cx="5532621" cy="207221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A599434-67ED-714C-9CB7-E3E858FD0694}"/>
              </a:ext>
            </a:extLst>
          </p:cNvPr>
          <p:cNvSpPr/>
          <p:nvPr/>
        </p:nvSpPr>
        <p:spPr>
          <a:xfrm>
            <a:off x="1445741" y="4245941"/>
            <a:ext cx="5993027" cy="2072218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265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A1E1-D204-BA44-97DA-C5984DF9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hoop stress in the cladding?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16A1E-4405-614E-A262-24D687D5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A1221-E48E-2A4C-B291-CEB45660D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7" y="2162549"/>
            <a:ext cx="4085259" cy="3795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9B5934-F3FA-BA47-AD65-CFFA35EB05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602" b="35131"/>
          <a:stretch/>
        </p:blipFill>
        <p:spPr>
          <a:xfrm>
            <a:off x="6096000" y="2162549"/>
            <a:ext cx="5532621" cy="627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0DD6A8-25A8-356D-8FA2-0E79E3DA3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100" y="2998857"/>
            <a:ext cx="39370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0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93DD-6662-9046-97AB-22EF6116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hoop stress equal to zero?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D42C2-A5EC-224B-A2F7-BF62D829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4B8FC-FD94-5C4B-8F92-68BB714C23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602" b="35131"/>
          <a:stretch/>
        </p:blipFill>
        <p:spPr>
          <a:xfrm>
            <a:off x="3871641" y="2158638"/>
            <a:ext cx="5532621" cy="6271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8C9632-5C10-5448-830E-6BBC9DC9DAE6}"/>
                  </a:ext>
                </a:extLst>
              </p:cNvPr>
              <p:cNvSpPr txBox="1"/>
              <p:nvPr/>
            </p:nvSpPr>
            <p:spPr>
              <a:xfrm>
                <a:off x="3871641" y="3033537"/>
                <a:ext cx="4448718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𝜎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𝜃𝜃</m:t>
                          </m:r>
                        </m:sub>
                      </m:sSub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0" lang="el-GR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Δ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𝑇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𝛼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𝐸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𝜈</m:t>
                          </m:r>
                        </m:den>
                      </m:f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1−2</m:t>
                          </m:r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den>
                          </m:f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𝑟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8C9632-5C10-5448-830E-6BBC9DC9D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641" y="3033537"/>
                <a:ext cx="4448718" cy="715902"/>
              </a:xfrm>
              <a:prstGeom prst="rect">
                <a:avLst/>
              </a:prstGeom>
              <a:blipFill>
                <a:blip r:embed="rId3"/>
                <a:stretch>
                  <a:fillRect r="-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83158C-EEB4-A74B-9A6A-8E1EA276A64A}"/>
                  </a:ext>
                </a:extLst>
              </p:cNvPr>
              <p:cNvSpPr txBox="1"/>
              <p:nvPr/>
            </p:nvSpPr>
            <p:spPr>
              <a:xfrm>
                <a:off x="1430268" y="4072172"/>
                <a:ext cx="2441373" cy="7159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1−2</m:t>
                          </m:r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den>
                          </m:f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𝑟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83158C-EEB4-A74B-9A6A-8E1EA276A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268" y="4072172"/>
                <a:ext cx="2441373" cy="715902"/>
              </a:xfrm>
              <a:prstGeom prst="rect">
                <a:avLst/>
              </a:prstGeom>
              <a:blipFill>
                <a:blip r:embed="rId4"/>
                <a:stretch>
                  <a:fillRect r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CECD44-84C7-7740-BEAF-0042E983FF49}"/>
                  </a:ext>
                </a:extLst>
              </p:cNvPr>
              <p:cNvSpPr txBox="1"/>
              <p:nvPr/>
            </p:nvSpPr>
            <p:spPr>
              <a:xfrm>
                <a:off x="5217971" y="4147417"/>
                <a:ext cx="1756058" cy="5654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𝛿</m:t>
                              </m:r>
                            </m:den>
                          </m:f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𝑟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CECD44-84C7-7740-BEAF-0042E983F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971" y="4147417"/>
                <a:ext cx="1756058" cy="565411"/>
              </a:xfrm>
              <a:prstGeom prst="rect">
                <a:avLst/>
              </a:prstGeom>
              <a:blipFill>
                <a:blip r:embed="rId5"/>
                <a:stretch>
                  <a:fillRect l="-2158" t="-2222" r="-2158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3C3695-B173-584A-B759-1036E59546BC}"/>
                  </a:ext>
                </a:extLst>
              </p:cNvPr>
              <p:cNvSpPr txBox="1"/>
              <p:nvPr/>
            </p:nvSpPr>
            <p:spPr>
              <a:xfrm>
                <a:off x="8338696" y="4147416"/>
                <a:ext cx="1550873" cy="5734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𝑟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num>
                        <m:den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3C3695-B173-584A-B759-1036E5954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696" y="4147416"/>
                <a:ext cx="1550873" cy="573427"/>
              </a:xfrm>
              <a:prstGeom prst="rect">
                <a:avLst/>
              </a:prstGeom>
              <a:blipFill>
                <a:blip r:embed="rId6"/>
                <a:stretch>
                  <a:fillRect t="-217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FFF240-ABD5-F24E-BA10-D25BF1F6B366}"/>
                  </a:ext>
                </a:extLst>
              </p:cNvPr>
              <p:cNvSpPr txBox="1"/>
              <p:nvPr/>
            </p:nvSpPr>
            <p:spPr>
              <a:xfrm>
                <a:off x="5335215" y="5258143"/>
                <a:ext cx="1521570" cy="6997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𝛿</m:t>
                          </m:r>
                        </m:num>
                        <m:den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𝑅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FFF240-ABD5-F24E-BA10-D25BF1F6B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215" y="5258143"/>
                <a:ext cx="1521570" cy="699743"/>
              </a:xfrm>
              <a:prstGeom prst="rect">
                <a:avLst/>
              </a:prstGeom>
              <a:blipFill>
                <a:blip r:embed="rId7"/>
                <a:stretch>
                  <a:fillRect l="-8333" r="-833" b="-14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6E6B36-7C9E-B346-B03C-3E33938FA6AD}"/>
              </a:ext>
            </a:extLst>
          </p:cNvPr>
          <p:cNvCxnSpPr/>
          <p:nvPr/>
        </p:nvCxnSpPr>
        <p:spPr>
          <a:xfrm flipH="1">
            <a:off x="3138616" y="3749439"/>
            <a:ext cx="1433384" cy="229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E2EE606-4012-9844-8C18-CF3D8FEFA5C3}"/>
              </a:ext>
            </a:extLst>
          </p:cNvPr>
          <p:cNvCxnSpPr>
            <a:cxnSpLocks/>
          </p:cNvCxnSpPr>
          <p:nvPr/>
        </p:nvCxnSpPr>
        <p:spPr>
          <a:xfrm>
            <a:off x="4265521" y="4418376"/>
            <a:ext cx="6827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F31D87-051F-2A4A-A708-F5BFCC743EA6}"/>
              </a:ext>
            </a:extLst>
          </p:cNvPr>
          <p:cNvCxnSpPr>
            <a:cxnSpLocks/>
          </p:cNvCxnSpPr>
          <p:nvPr/>
        </p:nvCxnSpPr>
        <p:spPr>
          <a:xfrm>
            <a:off x="7354643" y="4483391"/>
            <a:ext cx="714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505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B216-FC7C-CF44-85AD-3F389E39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linear temperature gradient across the cladding</a:t>
            </a:r>
            <a:br>
              <a:rPr lang="en-US" dirty="0"/>
            </a:br>
            <a:r>
              <a:rPr lang="en-US" dirty="0"/>
              <a:t>causes axial thermal stresses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94B71-6295-6841-A23D-5D53513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6C4E4-312D-0D31-BFE7-DC09DEBAB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774" y="1590630"/>
            <a:ext cx="61976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64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D389-51E0-CB44-B0BB-CD1EC185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approach to the thermal stress in a fuel pellet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B3158-BB93-0146-94E4-F8322BF08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60495"/>
            <a:ext cx="7115175" cy="3965670"/>
          </a:xfrm>
        </p:spPr>
        <p:txBody>
          <a:bodyPr/>
          <a:lstStyle/>
          <a:p>
            <a:r>
              <a:rPr lang="en-US" dirty="0"/>
              <a:t>The thermal stress is due to the temperature gradient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9FFCF-39F7-744C-94D0-2F0D51290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hoop_stress.png">
            <a:extLst>
              <a:ext uri="{FF2B5EF4-FFF2-40B4-BE49-F238E27FC236}">
                <a16:creationId xmlns:a16="http://schemas.microsoft.com/office/drawing/2014/main" id="{9BBD8933-4536-2449-8B2D-41EC1D94C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717" y="2160495"/>
            <a:ext cx="2471266" cy="251952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6762813D-6961-E645-8BA2-1822AAD87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16" y="3451674"/>
            <a:ext cx="1625600" cy="482600"/>
          </a:xfrm>
          <a:prstGeom prst="rect">
            <a:avLst/>
          </a:prstGeom>
        </p:spPr>
      </p:pic>
      <p:pic>
        <p:nvPicPr>
          <p:cNvPr id="7" name="Picture 6" descr="latex-image-1.pdf">
            <a:extLst>
              <a:ext uri="{FF2B5EF4-FFF2-40B4-BE49-F238E27FC236}">
                <a16:creationId xmlns:a16="http://schemas.microsoft.com/office/drawing/2014/main" id="{DD483B30-6E3E-8842-A2A7-3EF8CBAB10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698" y="2722535"/>
            <a:ext cx="2984500" cy="698500"/>
          </a:xfrm>
          <a:prstGeom prst="rect">
            <a:avLst/>
          </a:prstGeom>
        </p:spPr>
      </p:pic>
      <p:pic>
        <p:nvPicPr>
          <p:cNvPr id="8" name="Picture 7" descr="latex-image-1.pdf">
            <a:extLst>
              <a:ext uri="{FF2B5EF4-FFF2-40B4-BE49-F238E27FC236}">
                <a16:creationId xmlns:a16="http://schemas.microsoft.com/office/drawing/2014/main" id="{9BD55368-219E-DC4F-AD34-507857AD75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546" y="3383176"/>
            <a:ext cx="2997200" cy="698500"/>
          </a:xfrm>
          <a:prstGeom prst="rect">
            <a:avLst/>
          </a:prstGeom>
        </p:spPr>
      </p:pic>
      <p:pic>
        <p:nvPicPr>
          <p:cNvPr id="9" name="Picture 8" descr="latex-image-1.pdf">
            <a:extLst>
              <a:ext uri="{FF2B5EF4-FFF2-40B4-BE49-F238E27FC236}">
                <a16:creationId xmlns:a16="http://schemas.microsoft.com/office/drawing/2014/main" id="{29713D60-2815-334D-8578-3976597BBE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4308463"/>
            <a:ext cx="2374900" cy="698500"/>
          </a:xfrm>
          <a:prstGeom prst="rect">
            <a:avLst/>
          </a:prstGeom>
        </p:spPr>
      </p:pic>
      <p:pic>
        <p:nvPicPr>
          <p:cNvPr id="10" name="Picture 9" descr="latex-image-1.pdf">
            <a:extLst>
              <a:ext uri="{FF2B5EF4-FFF2-40B4-BE49-F238E27FC236}">
                <a16:creationId xmlns:a16="http://schemas.microsoft.com/office/drawing/2014/main" id="{809550C3-7BF4-A34B-AFE9-F0AB6682C6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046" y="4308463"/>
            <a:ext cx="3949700" cy="622300"/>
          </a:xfrm>
          <a:prstGeom prst="rect">
            <a:avLst/>
          </a:prstGeom>
        </p:spPr>
      </p:pic>
      <p:pic>
        <p:nvPicPr>
          <p:cNvPr id="11" name="Picture 10" descr="latex-image-1.pdf">
            <a:extLst>
              <a:ext uri="{FF2B5EF4-FFF2-40B4-BE49-F238E27FC236}">
                <a16:creationId xmlns:a16="http://schemas.microsoft.com/office/drawing/2014/main" id="{20113967-B0F1-FC47-B5CA-BC55BBDA77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651" y="5440886"/>
            <a:ext cx="825500" cy="533400"/>
          </a:xfrm>
          <a:prstGeom prst="rect">
            <a:avLst/>
          </a:prstGeom>
        </p:spPr>
      </p:pic>
      <p:pic>
        <p:nvPicPr>
          <p:cNvPr id="12" name="Picture 11" descr="latex-image-1.pdf">
            <a:extLst>
              <a:ext uri="{FF2B5EF4-FFF2-40B4-BE49-F238E27FC236}">
                <a16:creationId xmlns:a16="http://schemas.microsoft.com/office/drawing/2014/main" id="{985E2825-0480-9B46-B318-3F48ACC90F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886" y="5507041"/>
            <a:ext cx="2476500" cy="622300"/>
          </a:xfrm>
          <a:prstGeom prst="rect">
            <a:avLst/>
          </a:prstGeom>
        </p:spPr>
      </p:pic>
      <p:pic>
        <p:nvPicPr>
          <p:cNvPr id="13" name="Picture 12" descr="latex-image-1.pdf">
            <a:extLst>
              <a:ext uri="{FF2B5EF4-FFF2-40B4-BE49-F238E27FC236}">
                <a16:creationId xmlns:a16="http://schemas.microsoft.com/office/drawing/2014/main" id="{44C571EB-F10E-6C48-8B57-F4B9FD8217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343" y="5402786"/>
            <a:ext cx="2019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71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F17F-1BE7-1A45-8DB4-39326682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 this stress 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95B57-8275-1045-8419-F79501145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495"/>
            <a:ext cx="5212997" cy="3965670"/>
          </a:xfrm>
        </p:spPr>
        <p:txBody>
          <a:bodyPr/>
          <a:lstStyle/>
          <a:p>
            <a:r>
              <a:rPr lang="en-US" dirty="0"/>
              <a:t>The boundary conditions are: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Once we solve it, we obtain</a:t>
            </a:r>
          </a:p>
          <a:p>
            <a:r>
              <a:rPr lang="en-US" dirty="0"/>
              <a:t>Then we can solve the hoop stress</a:t>
            </a:r>
          </a:p>
          <a:p>
            <a:r>
              <a:rPr lang="en-US" dirty="0"/>
              <a:t>The axial stress is more complicated to obtain, but you end up with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E7D5E-EB80-6B47-8E70-0DBAACCE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FE61CC85-DA34-5C46-8CD1-5B2A7734D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687" y="2334761"/>
            <a:ext cx="2476500" cy="62230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D2B5707F-3CD4-B040-B10C-397838288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912" y="2300201"/>
            <a:ext cx="2019300" cy="609600"/>
          </a:xfrm>
          <a:prstGeom prst="rect">
            <a:avLst/>
          </a:prstGeom>
        </p:spPr>
      </p:pic>
      <p:pic>
        <p:nvPicPr>
          <p:cNvPr id="7" name="Picture 6" descr="latex-image-1.pdf">
            <a:extLst>
              <a:ext uri="{FF2B5EF4-FFF2-40B4-BE49-F238E27FC236}">
                <a16:creationId xmlns:a16="http://schemas.microsoft.com/office/drawing/2014/main" id="{B804A44B-047F-F040-8A32-60A0E6B645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379" y="2732001"/>
            <a:ext cx="1905000" cy="355600"/>
          </a:xfrm>
          <a:prstGeom prst="rect">
            <a:avLst/>
          </a:prstGeom>
        </p:spPr>
      </p:pic>
      <p:pic>
        <p:nvPicPr>
          <p:cNvPr id="8" name="Picture 7" descr="latex-image-1.pdf">
            <a:extLst>
              <a:ext uri="{FF2B5EF4-FFF2-40B4-BE49-F238E27FC236}">
                <a16:creationId xmlns:a16="http://schemas.microsoft.com/office/drawing/2014/main" id="{A86E0F14-9F41-6F43-B4DD-1F6BBE988C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79" y="3274746"/>
            <a:ext cx="1790700" cy="228600"/>
          </a:xfrm>
          <a:prstGeom prst="rect">
            <a:avLst/>
          </a:prstGeom>
        </p:spPr>
      </p:pic>
      <p:pic>
        <p:nvPicPr>
          <p:cNvPr id="9" name="Picture 8" descr="latex-image-1.pdf">
            <a:extLst>
              <a:ext uri="{FF2B5EF4-FFF2-40B4-BE49-F238E27FC236}">
                <a16:creationId xmlns:a16="http://schemas.microsoft.com/office/drawing/2014/main" id="{B3D62069-D6F6-BE4A-BD81-C81D24D330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870" y="3998462"/>
            <a:ext cx="2349500" cy="279400"/>
          </a:xfrm>
          <a:prstGeom prst="rect">
            <a:avLst/>
          </a:prstGeom>
        </p:spPr>
      </p:pic>
      <p:pic>
        <p:nvPicPr>
          <p:cNvPr id="10" name="Picture 9" descr="latex-image-1.pdf">
            <a:extLst>
              <a:ext uri="{FF2B5EF4-FFF2-40B4-BE49-F238E27FC236}">
                <a16:creationId xmlns:a16="http://schemas.microsoft.com/office/drawing/2014/main" id="{443E3FCF-320A-AF4E-AC46-A4F11FA140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870" y="4802372"/>
            <a:ext cx="1968500" cy="241300"/>
          </a:xfrm>
          <a:prstGeom prst="rect">
            <a:avLst/>
          </a:prstGeom>
        </p:spPr>
      </p:pic>
      <p:pic>
        <p:nvPicPr>
          <p:cNvPr id="11" name="Picture 10" descr="latex-image-1.pdf">
            <a:extLst>
              <a:ext uri="{FF2B5EF4-FFF2-40B4-BE49-F238E27FC236}">
                <a16:creationId xmlns:a16="http://schemas.microsoft.com/office/drawing/2014/main" id="{C94BE21D-5A10-DE41-86D7-AD91426C7F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512" y="4789672"/>
            <a:ext cx="2235200" cy="254000"/>
          </a:xfrm>
          <a:prstGeom prst="rect">
            <a:avLst/>
          </a:prstGeom>
        </p:spPr>
      </p:pic>
      <p:pic>
        <p:nvPicPr>
          <p:cNvPr id="12" name="Picture 11" descr="latex-image-1.pdf">
            <a:extLst>
              <a:ext uri="{FF2B5EF4-FFF2-40B4-BE49-F238E27FC236}">
                <a16:creationId xmlns:a16="http://schemas.microsoft.com/office/drawing/2014/main" id="{07ED6397-98D5-CD4D-9A65-7723122CCF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870" y="5686080"/>
            <a:ext cx="2349500" cy="254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1EAC623-3906-1145-B978-0EF80AB3F418}"/>
              </a:ext>
            </a:extLst>
          </p:cNvPr>
          <p:cNvSpPr/>
          <p:nvPr/>
        </p:nvSpPr>
        <p:spPr>
          <a:xfrm>
            <a:off x="5876925" y="3848100"/>
            <a:ext cx="2559262" cy="57150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330540-3B53-0649-AD68-4372E7E52716}"/>
              </a:ext>
            </a:extLst>
          </p:cNvPr>
          <p:cNvSpPr/>
          <p:nvPr/>
        </p:nvSpPr>
        <p:spPr>
          <a:xfrm>
            <a:off x="5876925" y="5493636"/>
            <a:ext cx="2559262" cy="57150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6DAEC1-62A7-5443-9462-D69DE755F995}"/>
              </a:ext>
            </a:extLst>
          </p:cNvPr>
          <p:cNvSpPr/>
          <p:nvPr/>
        </p:nvSpPr>
        <p:spPr>
          <a:xfrm>
            <a:off x="8383540" y="4630922"/>
            <a:ext cx="2559262" cy="57150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73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35DE9-BE02-F641-A13C-DA2F682F2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fuel temperature gradient causes large thermal stresses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01BB9-4AA5-984D-A525-9CA4D3F6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2C1D34-9DC5-B888-46AE-1531C086A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608" y="1204913"/>
            <a:ext cx="7112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53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8291-BE66-2529-6193-9D35CAA3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3402B-64EA-BBA1-B847-969B22751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ED63E-070C-3A25-BE75-E9FA1F1F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235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B1C6A-E2A7-C24B-B027-CED4BD1F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far do fuel cracks extend?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E0986-E778-7E4A-B01B-CC70D84B5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891072"/>
            <a:ext cx="10972800" cy="3188451"/>
          </a:xfrm>
        </p:spPr>
        <p:txBody>
          <a:bodyPr/>
          <a:lstStyle/>
          <a:p>
            <a:pPr marL="173038" indent="-173038">
              <a:buFont typeface="Arial"/>
              <a:buChar char="•"/>
            </a:pPr>
            <a:r>
              <a:rPr lang="en-US" dirty="0"/>
              <a:t>E = 200 </a:t>
            </a:r>
            <a:r>
              <a:rPr lang="en-US" dirty="0" err="1"/>
              <a:t>GPa</a:t>
            </a:r>
            <a:r>
              <a:rPr lang="en-US" dirty="0"/>
              <a:t>, </a:t>
            </a:r>
            <a:r>
              <a:rPr lang="en-US" dirty="0" err="1"/>
              <a:t>ν</a:t>
            </a:r>
            <a:r>
              <a:rPr lang="en-US" dirty="0"/>
              <a:t> = 0.345, α = 11.0e-6 1/K, </a:t>
            </a:r>
            <a:r>
              <a:rPr lang="en-US" dirty="0" err="1"/>
              <a:t>σ</a:t>
            </a:r>
            <a:r>
              <a:rPr lang="en-US" baseline="-25000" dirty="0" err="1"/>
              <a:t>fr</a:t>
            </a:r>
            <a:r>
              <a:rPr lang="en-US" dirty="0"/>
              <a:t> = 130 </a:t>
            </a:r>
            <a:r>
              <a:rPr lang="en-US" dirty="0" err="1"/>
              <a:t>MPa</a:t>
            </a:r>
            <a:r>
              <a:rPr lang="en-US" dirty="0"/>
              <a:t>, ΔT = 550 K</a:t>
            </a:r>
          </a:p>
          <a:p>
            <a:pPr marL="173038" indent="-173038">
              <a:buFont typeface="Arial"/>
              <a:buChar char="•"/>
            </a:pPr>
            <a:r>
              <a:rPr lang="en-US" dirty="0"/>
              <a:t>Solve for </a:t>
            </a:r>
            <a:r>
              <a:rPr lang="en-US" dirty="0" err="1"/>
              <a:t>η</a:t>
            </a:r>
            <a:endParaRPr lang="en-US" dirty="0"/>
          </a:p>
          <a:p>
            <a:pPr marL="630238" lvl="1" indent="-173038">
              <a:buFont typeface="Arial"/>
              <a:buChar char="•"/>
            </a:pPr>
            <a:r>
              <a:rPr lang="en-US" dirty="0"/>
              <a:t>– </a:t>
            </a:r>
            <a:r>
              <a:rPr lang="en-US" dirty="0" err="1"/>
              <a:t>σ</a:t>
            </a:r>
            <a:r>
              <a:rPr lang="en-US" baseline="-25000" dirty="0" err="1"/>
              <a:t>fr</a:t>
            </a:r>
            <a:r>
              <a:rPr lang="en-US" dirty="0"/>
              <a:t> / </a:t>
            </a:r>
            <a:r>
              <a:rPr lang="en-US" dirty="0" err="1"/>
              <a:t>σ</a:t>
            </a:r>
            <a:r>
              <a:rPr lang="en-US" dirty="0"/>
              <a:t>* = 1 – 3 η</a:t>
            </a:r>
            <a:r>
              <a:rPr lang="en-US" baseline="30000" dirty="0"/>
              <a:t>2</a:t>
            </a:r>
          </a:p>
          <a:p>
            <a:pPr marL="630238" lvl="1" indent="-173038">
              <a:buFont typeface="Arial"/>
              <a:buChar char="•"/>
            </a:pPr>
            <a:r>
              <a:rPr lang="en-US" dirty="0"/>
              <a:t>3 η</a:t>
            </a:r>
            <a:r>
              <a:rPr lang="en-US" baseline="30000" dirty="0"/>
              <a:t>2</a:t>
            </a:r>
            <a:r>
              <a:rPr lang="en-US" dirty="0"/>
              <a:t> = 1 + </a:t>
            </a:r>
            <a:r>
              <a:rPr lang="en-US" dirty="0" err="1"/>
              <a:t>σ</a:t>
            </a:r>
            <a:r>
              <a:rPr lang="en-US" baseline="-25000" dirty="0" err="1"/>
              <a:t>fr</a:t>
            </a:r>
            <a:r>
              <a:rPr lang="en-US" dirty="0"/>
              <a:t> / </a:t>
            </a:r>
            <a:r>
              <a:rPr lang="en-US" dirty="0" err="1"/>
              <a:t>σ</a:t>
            </a:r>
            <a:r>
              <a:rPr lang="en-US" dirty="0"/>
              <a:t>* </a:t>
            </a:r>
          </a:p>
          <a:p>
            <a:pPr marL="630238" lvl="1" indent="-173038">
              <a:buFont typeface="Arial"/>
              <a:buChar char="•"/>
            </a:pPr>
            <a:r>
              <a:rPr lang="en-US" dirty="0" err="1"/>
              <a:t>η</a:t>
            </a:r>
            <a:r>
              <a:rPr lang="en-US" dirty="0"/>
              <a:t> = ( (1 + </a:t>
            </a:r>
            <a:r>
              <a:rPr lang="en-US" dirty="0" err="1"/>
              <a:t>σ</a:t>
            </a:r>
            <a:r>
              <a:rPr lang="en-US" baseline="-25000" dirty="0" err="1"/>
              <a:t>fr</a:t>
            </a:r>
            <a:r>
              <a:rPr lang="en-US" dirty="0"/>
              <a:t> / </a:t>
            </a:r>
            <a:r>
              <a:rPr lang="en-US" dirty="0" err="1"/>
              <a:t>σ</a:t>
            </a:r>
            <a:r>
              <a:rPr lang="en-US" dirty="0"/>
              <a:t>*)/3 )</a:t>
            </a:r>
            <a:r>
              <a:rPr lang="en-US" baseline="30000" dirty="0"/>
              <a:t>½</a:t>
            </a:r>
            <a:r>
              <a:rPr lang="en-US" dirty="0"/>
              <a:t> </a:t>
            </a:r>
          </a:p>
          <a:p>
            <a:pPr marL="173038" indent="-173038">
              <a:buFont typeface="Arial"/>
              <a:buChar char="•"/>
            </a:pPr>
            <a:r>
              <a:rPr lang="en-US" dirty="0" err="1"/>
              <a:t>σ</a:t>
            </a:r>
            <a:r>
              <a:rPr lang="en-US" dirty="0"/>
              <a:t>* = 11.0e-6*200*550/(4*(1 – 0.345) ) = 461.8 </a:t>
            </a:r>
            <a:r>
              <a:rPr lang="en-US" dirty="0" err="1"/>
              <a:t>MPa</a:t>
            </a:r>
            <a:endParaRPr lang="en-US" dirty="0"/>
          </a:p>
          <a:p>
            <a:pPr marL="173038" indent="-173038">
              <a:buFont typeface="Arial"/>
              <a:buChar char="•"/>
            </a:pPr>
            <a:r>
              <a:rPr lang="en-US" dirty="0" err="1"/>
              <a:t>η</a:t>
            </a:r>
            <a:r>
              <a:rPr lang="en-US" dirty="0"/>
              <a:t> = sqrt( (1 + 130/461.8)/3 ) = 0.65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AF2A8-51FE-6144-A00B-1526E869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A1A3EC9D-956E-DA49-8974-B8169A358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740" y="2123329"/>
            <a:ext cx="2235200" cy="25400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9F0F67B9-A068-2C45-8D23-B4043E18A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728" y="1940529"/>
            <a:ext cx="2019300" cy="609600"/>
          </a:xfrm>
          <a:prstGeom prst="rect">
            <a:avLst/>
          </a:prstGeom>
        </p:spPr>
      </p:pic>
      <p:pic>
        <p:nvPicPr>
          <p:cNvPr id="7" name="Picture 6" descr="latex-image-1.pdf">
            <a:extLst>
              <a:ext uri="{FF2B5EF4-FFF2-40B4-BE49-F238E27FC236}">
                <a16:creationId xmlns:a16="http://schemas.microsoft.com/office/drawing/2014/main" id="{E17E8F71-037E-6048-8192-08C5E4D5EE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100" y="1978629"/>
            <a:ext cx="8255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73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9CC1-34E4-A34F-8621-801D8886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1234721"/>
            <a:ext cx="10363200" cy="1362075"/>
          </a:xfrm>
        </p:spPr>
        <p:txBody>
          <a:bodyPr/>
          <a:lstStyle/>
          <a:p>
            <a:r>
              <a:rPr lang="en-US" dirty="0"/>
              <a:t>thermal expansion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F06B0-02C9-F34D-82A4-D2D5BBAF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6BD0F-ABBC-C14D-BC96-77BE126A74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639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C6706-6E44-3345-89B1-3A928BCB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gap changes as a function of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FC82D-FC8E-FE43-B3F1-3CD65FE0B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the pellet and the cladding swell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But, as the gap decreases, the temperature changes, which again makes the gap change</a:t>
            </a:r>
          </a:p>
          <a:p>
            <a:r>
              <a:rPr lang="en-US" dirty="0"/>
              <a:t>The solution using the analytical equations is iterative, due to the dependence of the gap size and temperature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FA4F6-0813-D14B-B1AF-63B4F14A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latex-image-1.pdf">
            <a:extLst>
              <a:ext uri="{FF2B5EF4-FFF2-40B4-BE49-F238E27FC236}">
                <a16:creationId xmlns:a16="http://schemas.microsoft.com/office/drawing/2014/main" id="{8DC5361F-BF03-E34F-B9B9-FB2DF13A9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270" y="2117883"/>
            <a:ext cx="2171700" cy="317500"/>
          </a:xfrm>
          <a:prstGeom prst="rect">
            <a:avLst/>
          </a:prstGeom>
        </p:spPr>
      </p:pic>
      <p:pic>
        <p:nvPicPr>
          <p:cNvPr id="6" name="Picture 5" descr="latex-image-1.pdf">
            <a:extLst>
              <a:ext uri="{FF2B5EF4-FFF2-40B4-BE49-F238E27FC236}">
                <a16:creationId xmlns:a16="http://schemas.microsoft.com/office/drawing/2014/main" id="{12C118A6-DD55-9042-AB05-E32A917B1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639" y="2143283"/>
            <a:ext cx="2387600" cy="292100"/>
          </a:xfrm>
          <a:prstGeom prst="rect">
            <a:avLst/>
          </a:prstGeom>
        </p:spPr>
      </p:pic>
      <p:pic>
        <p:nvPicPr>
          <p:cNvPr id="7" name="Picture 6" descr="latex-image-1.pdf">
            <a:extLst>
              <a:ext uri="{FF2B5EF4-FFF2-40B4-BE49-F238E27FC236}">
                <a16:creationId xmlns:a16="http://schemas.microsoft.com/office/drawing/2014/main" id="{DC2FA14D-1CD7-B64C-BEA0-47E64F492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270" y="3429000"/>
            <a:ext cx="5274259" cy="320040"/>
          </a:xfrm>
          <a:prstGeom prst="rect">
            <a:avLst/>
          </a:prstGeom>
        </p:spPr>
      </p:pic>
      <p:pic>
        <p:nvPicPr>
          <p:cNvPr id="8" name="Picture 7" descr="latex-image-1.pdf">
            <a:extLst>
              <a:ext uri="{FF2B5EF4-FFF2-40B4-BE49-F238E27FC236}">
                <a16:creationId xmlns:a16="http://schemas.microsoft.com/office/drawing/2014/main" id="{C2838CE1-17EF-E44A-A09A-55CFC8680B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32" y="2708921"/>
            <a:ext cx="2527300" cy="368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B73EA4-3D9D-27B9-9FC6-7E2479FD65B7}"/>
                  </a:ext>
                </a:extLst>
              </p:cNvPr>
              <p:cNvSpPr txBox="1"/>
              <p:nvPr/>
            </p:nvSpPr>
            <p:spPr>
              <a:xfrm>
                <a:off x="4334101" y="2568201"/>
                <a:ext cx="2098908" cy="6063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∆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𝛼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sub>
                          </m:sSub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𝑓𝑎𝑏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B73EA4-3D9D-27B9-9FC6-7E2479FD6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101" y="2568201"/>
                <a:ext cx="2098908" cy="606384"/>
              </a:xfrm>
              <a:prstGeom prst="rect">
                <a:avLst/>
              </a:prstGeom>
              <a:blipFill>
                <a:blip r:embed="rId6"/>
                <a:stretch>
                  <a:fillRect l="-2410" t="-2041" r="-3614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714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48291-BE66-2529-6193-9D35CAA3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3402B-64EA-BBA1-B847-969B22751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ED63E-070C-3A25-BE75-E9FA1F1F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333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9016-F80B-D947-87B2-CEA142F1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calculation is repeated until the gap width stops changing significantly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09FC4-3CFB-E244-BF60-22E39B186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08313"/>
            <a:ext cx="6011917" cy="4217852"/>
          </a:xfrm>
        </p:spPr>
        <p:txBody>
          <a:bodyPr/>
          <a:lstStyle/>
          <a:p>
            <a:r>
              <a:rPr lang="en-US" sz="2200" dirty="0"/>
              <a:t>The change in the gap does NOT affect the coolant or outer cladding temperatures, just the gap and fuel temperatures</a:t>
            </a:r>
          </a:p>
          <a:p>
            <a:r>
              <a:rPr lang="en-US" sz="2200" dirty="0"/>
              <a:t>Does fuel centerline temp go up or down with correction?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D2E94-9705-1A4B-9736-78F59D51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F2C605-4958-CF43-AA48-80339EFDB0A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FF997E-B767-F645-9407-4C9AD54B7DE2}"/>
              </a:ext>
            </a:extLst>
          </p:cNvPr>
          <p:cNvGraphicFramePr>
            <a:graphicFrameLocks noGrp="1"/>
          </p:cNvGraphicFramePr>
          <p:nvPr/>
        </p:nvGraphicFramePr>
        <p:xfrm>
          <a:off x="1368639" y="4143330"/>
          <a:ext cx="4493836" cy="2108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3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3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Iteration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δ</a:t>
                      </a:r>
                      <a:r>
                        <a:rPr lang="en-US" sz="1600" baseline="-25000" dirty="0" err="1"/>
                        <a:t>gap</a:t>
                      </a:r>
                      <a:r>
                        <a:rPr lang="en-US" sz="1600" baseline="0" dirty="0"/>
                        <a:t> (cm)</a:t>
                      </a:r>
                      <a:endParaRPr lang="en-US" sz="16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T</a:t>
                      </a:r>
                      <a:r>
                        <a:rPr lang="en-US" sz="1600" baseline="-25000" dirty="0" err="1"/>
                        <a:t>s</a:t>
                      </a:r>
                      <a:r>
                        <a:rPr lang="en-US" sz="1600" baseline="-25000" dirty="0"/>
                        <a:t> </a:t>
                      </a:r>
                      <a:r>
                        <a:rPr lang="en-US" sz="1600" baseline="0" dirty="0"/>
                        <a:t>(K)</a:t>
                      </a:r>
                      <a:endParaRPr lang="en-US" sz="16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</a:t>
                      </a:r>
                      <a:r>
                        <a:rPr lang="en-US" sz="1600" baseline="-25000" dirty="0"/>
                        <a:t>0 </a:t>
                      </a:r>
                      <a:r>
                        <a:rPr lang="en-US" sz="1600" baseline="0" dirty="0"/>
                        <a:t>(K)</a:t>
                      </a:r>
                      <a:endParaRPr lang="en-US" sz="1600" baseline="-25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0.00066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0.00097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0.00094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2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0.00094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4DFEEDC-E905-318E-C88F-55EEBDA6C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027583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5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1331</Words>
  <Application>Microsoft Macintosh PowerPoint</Application>
  <PresentationFormat>Widescreen</PresentationFormat>
  <Paragraphs>232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Arial</vt:lpstr>
      <vt:lpstr>Calibri</vt:lpstr>
      <vt:lpstr>Cambria Math</vt:lpstr>
      <vt:lpstr>NCStateU-horizontal-left-logo</vt:lpstr>
      <vt:lpstr>1_NCStateU-horizontal-left-logo</vt:lpstr>
      <vt:lpstr>Nuclear Fuel Performance</vt:lpstr>
      <vt:lpstr>MOOSE Notes</vt:lpstr>
      <vt:lpstr>MOOSE Project</vt:lpstr>
      <vt:lpstr>MOOSE Project Part 1</vt:lpstr>
      <vt:lpstr>Last Time</vt:lpstr>
      <vt:lpstr>Develop constitutive relations for thick-walled</vt:lpstr>
      <vt:lpstr>Stress within a pressurized cylinder that has thick walls (radius/thickness&lt;20)</vt:lpstr>
      <vt:lpstr>Develop equations for the stress within a pressurized cylinder with thick walls </vt:lpstr>
      <vt:lpstr>We now have an ODE so we can solve to get the stress</vt:lpstr>
      <vt:lpstr>Determine if a fuel rod will exceed its yield stress</vt:lpstr>
      <vt:lpstr>We’ve now solved this same problem assuming thin and thick-walled cylinders</vt:lpstr>
      <vt:lpstr>THERMO-Mechanics</vt:lpstr>
      <vt:lpstr>Thermal Expansion</vt:lpstr>
      <vt:lpstr>Thermal Expansion</vt:lpstr>
      <vt:lpstr>Thermal Expansion</vt:lpstr>
      <vt:lpstr>What is the stress in a thin constrained rod of length L when it is heated to ΔT?</vt:lpstr>
      <vt:lpstr>The large temperature gradient within a fuel pellet results in large thermal stresses</vt:lpstr>
      <vt:lpstr>Consider the constitutive relations plus T</vt:lpstr>
      <vt:lpstr>Consider a cylinder with thermal expansion but not pressure</vt:lpstr>
      <vt:lpstr>What is the hoop stress in the cladding?</vt:lpstr>
      <vt:lpstr>Where is hoop stress equal to zero?</vt:lpstr>
      <vt:lpstr>The linear temperature gradient across the cladding causes axial thermal stresses</vt:lpstr>
      <vt:lpstr>Same approach to the thermal stress in a fuel pellet</vt:lpstr>
      <vt:lpstr>Solve this stress ODE</vt:lpstr>
      <vt:lpstr>The fuel temperature gradient causes large thermal stresses</vt:lpstr>
      <vt:lpstr>Example</vt:lpstr>
      <vt:lpstr>How far do fuel cracks extend?</vt:lpstr>
      <vt:lpstr>thermal expansion</vt:lpstr>
      <vt:lpstr>The gap changes as a function of time</vt:lpstr>
      <vt:lpstr>Example</vt:lpstr>
      <vt:lpstr>This calculation is repeated until the gap width stops changing significantly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THERMO-Mechanics</dc:title>
  <dc:creator>Benjamin W. Beeler</dc:creator>
  <cp:lastModifiedBy>Benjamin Beeler</cp:lastModifiedBy>
  <cp:revision>36</cp:revision>
  <dcterms:created xsi:type="dcterms:W3CDTF">2024-02-08T20:22:30Z</dcterms:created>
  <dcterms:modified xsi:type="dcterms:W3CDTF">2026-02-10T16:49:56Z</dcterms:modified>
</cp:coreProperties>
</file>
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 id="2147483672" r:id="rId2"/>
  </p:sldMasterIdLst>
  <p:sldIdLst>
    <p:sldId id="537" r:id="rId3"/>
    <p:sldId id="586" r:id="rId4"/>
    <p:sldId id="550" r:id="rId5"/>
    <p:sldId id="548" r:id="rId6"/>
    <p:sldId id="335" r:id="rId7"/>
    <p:sldId id="336" r:id="rId8"/>
    <p:sldId id="337" r:id="rId9"/>
    <p:sldId id="338" r:id="rId10"/>
    <p:sldId id="339" r:id="rId11"/>
    <p:sldId id="340" r:id="rId12"/>
    <p:sldId id="341" r:id="rId13"/>
    <p:sldId id="343" r:id="rId14"/>
    <p:sldId id="549" r:id="rId15"/>
    <p:sldId id="543" r:id="rId16"/>
    <p:sldId id="544" r:id="rId17"/>
    <p:sldId id="546" r:id="rId18"/>
    <p:sldId id="34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6327"/>
  </p:normalViewPr>
  <p:slideViewPr>
    <p:cSldViewPr snapToGrid="0">
      <p:cViewPr varScale="1">
        <p:scale>
          <a:sx n="128" d="100"/>
          <a:sy n="128" d="100"/>
        </p:scale>
        <p:origin x="4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6F3A803-A045-354B-887A-01433CE46FC2}" type="datetime1">
              <a:rPr lang="en-US" smtClean="0"/>
              <a:t>2/10/26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71230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609600" y="2160495"/>
            <a:ext cx="10972800" cy="396567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5BD04BF-9DC2-6341-92B2-BD109A2EF3B1}" type="datetime1">
              <a:rPr lang="en-US" smtClean="0"/>
              <a:t>2/10/26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39940846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B0FFBC7-3028-644D-986B-D9855CB74B38}" type="datetime1">
              <a:rPr lang="en-US" smtClean="0"/>
              <a:t>2/10/26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14020719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C3B8AE4-01F5-CC42-9C62-61BC6528368B}" type="datetime1">
              <a:rPr lang="en-US" smtClean="0"/>
              <a:t>2/10/26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9243854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77E49314-4A78-2444-9569-44EB70168344}" type="datetime1">
              <a:rPr lang="en-US" smtClean="0"/>
              <a:t>2/10/26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3825052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5BC22837-4683-B242-B000-BCEE30621787}" type="datetime1">
              <a:rPr lang="en-US" smtClean="0"/>
              <a:t>2/10/26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761465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CDAE926-7EF1-0B40-B57E-417D188A609C}" type="datetime1">
              <a:rPr lang="en-US" smtClean="0"/>
              <a:t>2/10/26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40947454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18D107B-B9C7-5B41-A168-55258AB95F52}" type="datetime1">
              <a:rPr lang="en-US" smtClean="0"/>
              <a:t>2/10/26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5213726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3AD92D36-EE82-3142-B011-9831FB5E702F}" type="datetime1">
              <a:rPr lang="en-US" smtClean="0"/>
              <a:t>2/10/26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15016700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A8B33C1D-C2E2-1049-AA3F-CD6E91052752}" type="datetime1">
              <a:rPr lang="en-US" smtClean="0"/>
              <a:t>2/10/26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56351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2791AD68-B60C-4542-BDDD-2074DE6DE828}" type="datetime1">
              <a:rPr lang="en-US" smtClean="0"/>
              <a:t>2/10/26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16940919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6F3A803-A045-354B-887A-01433CE46FC2}" type="datetime1">
              <a:rPr lang="en-US" smtClean="0"/>
              <a:t>2/10/26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9398531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609600" y="2160495"/>
            <a:ext cx="10972800" cy="396567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5BD04BF-9DC2-6341-92B2-BD109A2EF3B1}" type="datetime1">
              <a:rPr lang="en-US" smtClean="0"/>
              <a:t>2/10/26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0238989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B0FFBC7-3028-644D-986B-D9855CB74B38}" type="datetime1">
              <a:rPr lang="en-US" smtClean="0"/>
              <a:t>2/10/26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11154771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C3B8AE4-01F5-CC42-9C62-61BC6528368B}" type="datetime1">
              <a:rPr lang="en-US" smtClean="0"/>
              <a:t>2/10/26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12385243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77E49314-4A78-2444-9569-44EB70168344}" type="datetime1">
              <a:rPr lang="en-US" smtClean="0"/>
              <a:t>2/10/26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42426855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5BC22837-4683-B242-B000-BCEE30621787}" type="datetime1">
              <a:rPr lang="en-US" smtClean="0"/>
              <a:t>2/10/26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14464283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CDAE926-7EF1-0B40-B57E-417D188A609C}" type="datetime1">
              <a:rPr lang="en-US" smtClean="0"/>
              <a:t>2/10/26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30283760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18D107B-B9C7-5B41-A168-55258AB95F52}" type="datetime1">
              <a:rPr lang="en-US" smtClean="0"/>
              <a:t>2/10/26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105511228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3AD92D36-EE82-3142-B011-9831FB5E702F}" type="datetime1">
              <a:rPr lang="en-US" smtClean="0"/>
              <a:t>2/10/26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591626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A8B33C1D-C2E2-1049-AA3F-CD6E91052752}" type="datetime1">
              <a:rPr lang="en-US" smtClean="0"/>
              <a:t>2/10/26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4394377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2791AD68-B60C-4542-BDDD-2074DE6DE828}" type="datetime1">
              <a:rPr lang="en-US" smtClean="0"/>
              <a:t>2/10/26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23900266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jpe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4"/>
            <a:ext cx="10972800" cy="1068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1"/>
            <a:ext cx="10972800" cy="310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3EE08B4B-7256-494F-A90D-3891BD685F4A}" type="datetime1">
              <a:rPr lang="en-US" smtClean="0"/>
              <a:t>2/10/26</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3" name="Picture 2"/>
          <p:cNvPicPr>
            <a:picLocks noChangeAspect="1"/>
          </p:cNvPicPr>
          <p:nvPr userDrawn="1"/>
        </p:nvPicPr>
        <p:blipFill>
          <a:blip r:embed="rId13" cstate="screen">
            <a:extLst>
              <a:ext uri="{28A0092B-C50C-407E-A947-70E740481C1C}">
                <a14:useLocalDpi xmlns:a14="http://schemas.microsoft.com/office/drawing/2010/main"/>
              </a:ext>
            </a:extLst>
          </a:blip>
          <a:stretch>
            <a:fillRect/>
          </a:stretch>
        </p:blipFill>
        <p:spPr>
          <a:xfrm>
            <a:off x="0" y="0"/>
            <a:ext cx="12192000" cy="457200"/>
          </a:xfrm>
          <a:prstGeom prst="rect">
            <a:avLst/>
          </a:prstGeom>
        </p:spPr>
      </p:pic>
    </p:spTree>
    <p:extLst>
      <p:ext uri="{BB962C8B-B14F-4D97-AF65-F5344CB8AC3E}">
        <p14:creationId xmlns:p14="http://schemas.microsoft.com/office/powerpoint/2010/main" val="253718731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defTabSz="457200" rtl="0" eaLnBrk="1" fontAlgn="base" hangingPunct="1">
        <a:spcBef>
          <a:spcPct val="0"/>
        </a:spcBef>
        <a:spcAft>
          <a:spcPct val="0"/>
        </a:spcAft>
        <a:defRPr sz="3200" b="1" kern="1200">
          <a:solidFill>
            <a:schemeClr val="tx1"/>
          </a:solidFill>
          <a:latin typeface="Arial"/>
          <a:ea typeface="ＭＳ Ｐゴシック" charset="0"/>
          <a:cs typeface="Arial"/>
        </a:defRPr>
      </a:lvl1pPr>
      <a:lvl2pPr algn="ctr" defTabSz="457200" rtl="0" eaLnBrk="1" fontAlgn="base" hangingPunct="1">
        <a:spcBef>
          <a:spcPct val="0"/>
        </a:spcBef>
        <a:spcAft>
          <a:spcPct val="0"/>
        </a:spcAft>
        <a:defRPr sz="3200" b="1">
          <a:solidFill>
            <a:schemeClr val="tx1"/>
          </a:solidFill>
          <a:latin typeface="Arial" charset="0"/>
          <a:ea typeface="ＭＳ Ｐゴシック" charset="0"/>
        </a:defRPr>
      </a:lvl2pPr>
      <a:lvl3pPr algn="ctr" defTabSz="457200" rtl="0" eaLnBrk="1" fontAlgn="base" hangingPunct="1">
        <a:spcBef>
          <a:spcPct val="0"/>
        </a:spcBef>
        <a:spcAft>
          <a:spcPct val="0"/>
        </a:spcAft>
        <a:defRPr sz="3200" b="1">
          <a:solidFill>
            <a:schemeClr val="tx1"/>
          </a:solidFill>
          <a:latin typeface="Arial" charset="0"/>
          <a:ea typeface="ＭＳ Ｐゴシック" charset="0"/>
        </a:defRPr>
      </a:lvl3pPr>
      <a:lvl4pPr algn="ctr" defTabSz="457200" rtl="0" eaLnBrk="1" fontAlgn="base" hangingPunct="1">
        <a:spcBef>
          <a:spcPct val="0"/>
        </a:spcBef>
        <a:spcAft>
          <a:spcPct val="0"/>
        </a:spcAft>
        <a:defRPr sz="3200" b="1">
          <a:solidFill>
            <a:schemeClr val="tx1"/>
          </a:solidFill>
          <a:latin typeface="Arial" charset="0"/>
          <a:ea typeface="ＭＳ Ｐゴシック" charset="0"/>
        </a:defRPr>
      </a:lvl4pPr>
      <a:lvl5pPr algn="ctr" defTabSz="457200" rtl="0" eaLnBrk="1" fontAlgn="base" hangingPunct="1">
        <a:spcBef>
          <a:spcPct val="0"/>
        </a:spcBef>
        <a:spcAft>
          <a:spcPct val="0"/>
        </a:spcAft>
        <a:defRPr sz="3200" b="1">
          <a:solidFill>
            <a:schemeClr val="tx1"/>
          </a:solidFill>
          <a:latin typeface="Arial" charset="0"/>
          <a:ea typeface="ＭＳ Ｐゴシック" charset="0"/>
        </a:defRPr>
      </a:lvl5pPr>
      <a:lvl6pPr marL="457200" algn="ctr" defTabSz="457200" rtl="0" eaLnBrk="1" fontAlgn="base" hangingPunct="1">
        <a:spcBef>
          <a:spcPct val="0"/>
        </a:spcBef>
        <a:spcAft>
          <a:spcPct val="0"/>
        </a:spcAft>
        <a:defRPr sz="3200" b="1">
          <a:solidFill>
            <a:schemeClr val="tx1"/>
          </a:solidFill>
          <a:latin typeface="Arial" charset="0"/>
          <a:ea typeface="ＭＳ Ｐゴシック" charset="0"/>
        </a:defRPr>
      </a:lvl6pPr>
      <a:lvl7pPr marL="914400" algn="ctr" defTabSz="457200" rtl="0" eaLnBrk="1" fontAlgn="base" hangingPunct="1">
        <a:spcBef>
          <a:spcPct val="0"/>
        </a:spcBef>
        <a:spcAft>
          <a:spcPct val="0"/>
        </a:spcAft>
        <a:defRPr sz="3200" b="1">
          <a:solidFill>
            <a:schemeClr val="tx1"/>
          </a:solidFill>
          <a:latin typeface="Arial" charset="0"/>
          <a:ea typeface="ＭＳ Ｐゴシック" charset="0"/>
        </a:defRPr>
      </a:lvl7pPr>
      <a:lvl8pPr marL="1371600" algn="ctr" defTabSz="457200" rtl="0" eaLnBrk="1" fontAlgn="base" hangingPunct="1">
        <a:spcBef>
          <a:spcPct val="0"/>
        </a:spcBef>
        <a:spcAft>
          <a:spcPct val="0"/>
        </a:spcAft>
        <a:defRPr sz="3200" b="1">
          <a:solidFill>
            <a:schemeClr val="tx1"/>
          </a:solidFill>
          <a:latin typeface="Arial" charset="0"/>
          <a:ea typeface="ＭＳ Ｐゴシック" charset="0"/>
        </a:defRPr>
      </a:lvl8pPr>
      <a:lvl9pPr marL="1828800" algn="ctr" defTabSz="457200" rtl="0" eaLnBrk="1" fontAlgn="base" hangingPunct="1">
        <a:spcBef>
          <a:spcPct val="0"/>
        </a:spcBef>
        <a:spcAft>
          <a:spcPct val="0"/>
        </a:spcAft>
        <a:defRPr sz="3200" b="1">
          <a:solidFill>
            <a:schemeClr val="tx1"/>
          </a:solidFill>
          <a:latin typeface="Arial" charset="0"/>
          <a:ea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4"/>
            <a:ext cx="10972800" cy="1068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1"/>
            <a:ext cx="10972800" cy="310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3EE08B4B-7256-494F-A90D-3891BD685F4A}" type="datetime1">
              <a:rPr lang="en-US" smtClean="0"/>
              <a:t>2/10/26</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3" name="Picture 2"/>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0" y="0"/>
            <a:ext cx="12192000" cy="457200"/>
          </a:xfrm>
          <a:prstGeom prst="rect">
            <a:avLst/>
          </a:prstGeom>
        </p:spPr>
      </p:pic>
    </p:spTree>
    <p:extLst>
      <p:ext uri="{BB962C8B-B14F-4D97-AF65-F5344CB8AC3E}">
        <p14:creationId xmlns:p14="http://schemas.microsoft.com/office/powerpoint/2010/main" val="302322471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ctr" defTabSz="457200" rtl="0" eaLnBrk="1" fontAlgn="base" hangingPunct="1">
        <a:spcBef>
          <a:spcPct val="0"/>
        </a:spcBef>
        <a:spcAft>
          <a:spcPct val="0"/>
        </a:spcAft>
        <a:defRPr sz="3200" b="1" kern="1200">
          <a:solidFill>
            <a:schemeClr val="tx1"/>
          </a:solidFill>
          <a:latin typeface="Arial"/>
          <a:ea typeface="ＭＳ Ｐゴシック" charset="0"/>
          <a:cs typeface="Arial"/>
        </a:defRPr>
      </a:lvl1pPr>
      <a:lvl2pPr algn="ctr" defTabSz="457200" rtl="0" eaLnBrk="1" fontAlgn="base" hangingPunct="1">
        <a:spcBef>
          <a:spcPct val="0"/>
        </a:spcBef>
        <a:spcAft>
          <a:spcPct val="0"/>
        </a:spcAft>
        <a:defRPr sz="3200" b="1">
          <a:solidFill>
            <a:schemeClr val="tx1"/>
          </a:solidFill>
          <a:latin typeface="Arial" charset="0"/>
          <a:ea typeface="ＭＳ Ｐゴシック" charset="0"/>
        </a:defRPr>
      </a:lvl2pPr>
      <a:lvl3pPr algn="ctr" defTabSz="457200" rtl="0" eaLnBrk="1" fontAlgn="base" hangingPunct="1">
        <a:spcBef>
          <a:spcPct val="0"/>
        </a:spcBef>
        <a:spcAft>
          <a:spcPct val="0"/>
        </a:spcAft>
        <a:defRPr sz="3200" b="1">
          <a:solidFill>
            <a:schemeClr val="tx1"/>
          </a:solidFill>
          <a:latin typeface="Arial" charset="0"/>
          <a:ea typeface="ＭＳ Ｐゴシック" charset="0"/>
        </a:defRPr>
      </a:lvl3pPr>
      <a:lvl4pPr algn="ctr" defTabSz="457200" rtl="0" eaLnBrk="1" fontAlgn="base" hangingPunct="1">
        <a:spcBef>
          <a:spcPct val="0"/>
        </a:spcBef>
        <a:spcAft>
          <a:spcPct val="0"/>
        </a:spcAft>
        <a:defRPr sz="3200" b="1">
          <a:solidFill>
            <a:schemeClr val="tx1"/>
          </a:solidFill>
          <a:latin typeface="Arial" charset="0"/>
          <a:ea typeface="ＭＳ Ｐゴシック" charset="0"/>
        </a:defRPr>
      </a:lvl4pPr>
      <a:lvl5pPr algn="ctr" defTabSz="457200" rtl="0" eaLnBrk="1" fontAlgn="base" hangingPunct="1">
        <a:spcBef>
          <a:spcPct val="0"/>
        </a:spcBef>
        <a:spcAft>
          <a:spcPct val="0"/>
        </a:spcAft>
        <a:defRPr sz="3200" b="1">
          <a:solidFill>
            <a:schemeClr val="tx1"/>
          </a:solidFill>
          <a:latin typeface="Arial" charset="0"/>
          <a:ea typeface="ＭＳ Ｐゴシック" charset="0"/>
        </a:defRPr>
      </a:lvl5pPr>
      <a:lvl6pPr marL="457200" algn="ctr" defTabSz="457200" rtl="0" eaLnBrk="1" fontAlgn="base" hangingPunct="1">
        <a:spcBef>
          <a:spcPct val="0"/>
        </a:spcBef>
        <a:spcAft>
          <a:spcPct val="0"/>
        </a:spcAft>
        <a:defRPr sz="3200" b="1">
          <a:solidFill>
            <a:schemeClr val="tx1"/>
          </a:solidFill>
          <a:latin typeface="Arial" charset="0"/>
          <a:ea typeface="ＭＳ Ｐゴシック" charset="0"/>
        </a:defRPr>
      </a:lvl6pPr>
      <a:lvl7pPr marL="914400" algn="ctr" defTabSz="457200" rtl="0" eaLnBrk="1" fontAlgn="base" hangingPunct="1">
        <a:spcBef>
          <a:spcPct val="0"/>
        </a:spcBef>
        <a:spcAft>
          <a:spcPct val="0"/>
        </a:spcAft>
        <a:defRPr sz="3200" b="1">
          <a:solidFill>
            <a:schemeClr val="tx1"/>
          </a:solidFill>
          <a:latin typeface="Arial" charset="0"/>
          <a:ea typeface="ＭＳ Ｐゴシック" charset="0"/>
        </a:defRPr>
      </a:lvl7pPr>
      <a:lvl8pPr marL="1371600" algn="ctr" defTabSz="457200" rtl="0" eaLnBrk="1" fontAlgn="base" hangingPunct="1">
        <a:spcBef>
          <a:spcPct val="0"/>
        </a:spcBef>
        <a:spcAft>
          <a:spcPct val="0"/>
        </a:spcAft>
        <a:defRPr sz="3200" b="1">
          <a:solidFill>
            <a:schemeClr val="tx1"/>
          </a:solidFill>
          <a:latin typeface="Arial" charset="0"/>
          <a:ea typeface="ＭＳ Ｐゴシック" charset="0"/>
        </a:defRPr>
      </a:lvl8pPr>
      <a:lvl9pPr marL="1828800" algn="ctr" defTabSz="457200" rtl="0" eaLnBrk="1" fontAlgn="base" hangingPunct="1">
        <a:spcBef>
          <a:spcPct val="0"/>
        </a:spcBef>
        <a:spcAft>
          <a:spcPct val="0"/>
        </a:spcAft>
        <a:defRPr sz="3200" b="1">
          <a:solidFill>
            <a:schemeClr val="tx1"/>
          </a:solidFill>
          <a:latin typeface="Arial" charset="0"/>
          <a:ea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emf"/><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emf"/></Relationships>
</file>

<file path=ppt/slides/_rels/slide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2.emf"/><Relationship Id="rId4" Type="http://schemas.openxmlformats.org/officeDocument/2006/relationships/image" Target="../media/image21.emf"/></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image" Target="../media/image26.emf"/><Relationship Id="rId1" Type="http://schemas.openxmlformats.org/officeDocument/2006/relationships/slideLayout" Target="../slideLayouts/slideLayout2.xml"/><Relationship Id="rId5" Type="http://schemas.openxmlformats.org/officeDocument/2006/relationships/image" Target="../media/image29.emf"/><Relationship Id="rId4" Type="http://schemas.openxmlformats.org/officeDocument/2006/relationships/image" Target="../media/image28.emf"/></Relationships>
</file>

<file path=ppt/slides/_rels/slide13.xml.rels><?xml version="1.0" encoding="UTF-8" standalone="yes"?>
<Relationships xmlns="http://schemas.openxmlformats.org/package/2006/relationships"><Relationship Id="rId3" Type="http://schemas.openxmlformats.org/officeDocument/2006/relationships/image" Target="../media/image31.tiff"/><Relationship Id="rId2" Type="http://schemas.openxmlformats.org/officeDocument/2006/relationships/image" Target="../media/image30.tiff"/><Relationship Id="rId1" Type="http://schemas.openxmlformats.org/officeDocument/2006/relationships/slideLayout" Target="../slideLayouts/slideLayout2.xml"/><Relationship Id="rId6" Type="http://schemas.openxmlformats.org/officeDocument/2006/relationships/image" Target="../media/image34.tiff"/><Relationship Id="rId5" Type="http://schemas.openxmlformats.org/officeDocument/2006/relationships/image" Target="../media/image33.tiff"/><Relationship Id="rId4" Type="http://schemas.openxmlformats.org/officeDocument/2006/relationships/image" Target="../media/image32.tiff"/></Relationships>
</file>

<file path=ppt/slides/_rels/slide14.xml.rels><?xml version="1.0" encoding="UTF-8" standalone="yes"?>
<Relationships xmlns="http://schemas.openxmlformats.org/package/2006/relationships"><Relationship Id="rId8" Type="http://schemas.openxmlformats.org/officeDocument/2006/relationships/image" Target="../media/image41.tiff"/><Relationship Id="rId3" Type="http://schemas.openxmlformats.org/officeDocument/2006/relationships/image" Target="../media/image36.tiff"/><Relationship Id="rId7" Type="http://schemas.openxmlformats.org/officeDocument/2006/relationships/image" Target="../media/image40.tiff"/><Relationship Id="rId2" Type="http://schemas.openxmlformats.org/officeDocument/2006/relationships/image" Target="../media/image35.tiff"/><Relationship Id="rId1" Type="http://schemas.openxmlformats.org/officeDocument/2006/relationships/slideLayout" Target="../slideLayouts/slideLayout2.xml"/><Relationship Id="rId6" Type="http://schemas.openxmlformats.org/officeDocument/2006/relationships/image" Target="../media/image39.tiff"/><Relationship Id="rId5" Type="http://schemas.openxmlformats.org/officeDocument/2006/relationships/image" Target="../media/image38.tiff"/><Relationship Id="rId4" Type="http://schemas.openxmlformats.org/officeDocument/2006/relationships/image" Target="../media/image37.tiff"/><Relationship Id="rId9" Type="http://schemas.openxmlformats.org/officeDocument/2006/relationships/image" Target="../media/image42.png"/></Relationships>
</file>

<file path=ppt/slides/_rels/slide15.xml.rels><?xml version="1.0" encoding="UTF-8" standalone="yes"?>
<Relationships xmlns="http://schemas.openxmlformats.org/package/2006/relationships"><Relationship Id="rId3" Type="http://schemas.openxmlformats.org/officeDocument/2006/relationships/image" Target="../media/image44.tiff"/><Relationship Id="rId7" Type="http://schemas.openxmlformats.org/officeDocument/2006/relationships/image" Target="../media/image48.png"/><Relationship Id="rId2" Type="http://schemas.openxmlformats.org/officeDocument/2006/relationships/image" Target="../media/image43.tiff"/><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1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A1AB4-6496-0D46-9C3B-B71641B90165}"/>
              </a:ext>
            </a:extLst>
          </p:cNvPr>
          <p:cNvSpPr>
            <a:spLocks noGrp="1"/>
          </p:cNvSpPr>
          <p:nvPr>
            <p:ph type="ctrTitle"/>
          </p:nvPr>
        </p:nvSpPr>
        <p:spPr/>
        <p:txBody>
          <a:bodyPr/>
          <a:lstStyle/>
          <a:p>
            <a:r>
              <a:rPr lang="en-US" sz="4000" dirty="0"/>
              <a:t>Nuclear Fuel Performance</a:t>
            </a:r>
          </a:p>
        </p:txBody>
      </p:sp>
      <p:sp>
        <p:nvSpPr>
          <p:cNvPr id="3" name="Subtitle 2">
            <a:extLst>
              <a:ext uri="{FF2B5EF4-FFF2-40B4-BE49-F238E27FC236}">
                <a16:creationId xmlns:a16="http://schemas.microsoft.com/office/drawing/2014/main" id="{D4E102A4-1D26-9E41-904A-5C94FEB21AD8}"/>
              </a:ext>
            </a:extLst>
          </p:cNvPr>
          <p:cNvSpPr>
            <a:spLocks noGrp="1"/>
          </p:cNvSpPr>
          <p:nvPr>
            <p:ph type="subTitle" idx="1"/>
          </p:nvPr>
        </p:nvSpPr>
        <p:spPr/>
        <p:txBody>
          <a:bodyPr/>
          <a:lstStyle/>
          <a:p>
            <a:r>
              <a:rPr lang="en-US" dirty="0"/>
              <a:t>NE-533</a:t>
            </a:r>
          </a:p>
          <a:p>
            <a:r>
              <a:rPr lang="en-US" dirty="0"/>
              <a:t>Spring 2025</a:t>
            </a:r>
          </a:p>
        </p:txBody>
      </p:sp>
      <p:sp>
        <p:nvSpPr>
          <p:cNvPr id="4" name="Slide Number Placeholder 3">
            <a:extLst>
              <a:ext uri="{FF2B5EF4-FFF2-40B4-BE49-F238E27FC236}">
                <a16:creationId xmlns:a16="http://schemas.microsoft.com/office/drawing/2014/main" id="{8ED6DA87-5AA8-004F-861E-B1E0BAA302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E82176-A547-F94B-AC51-D6E9C882CB88}"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7026228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74C15-A2F2-8C48-AA72-13D294E4B1C9}"/>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8E8D4801-0739-BD4F-9675-172A3E9FCBF5}"/>
              </a:ext>
            </a:extLst>
          </p:cNvPr>
          <p:cNvSpPr>
            <a:spLocks noGrp="1"/>
          </p:cNvSpPr>
          <p:nvPr>
            <p:ph idx="1"/>
          </p:nvPr>
        </p:nvSpPr>
        <p:spPr/>
        <p:txBody>
          <a:bodyPr/>
          <a:lstStyle/>
          <a:p>
            <a:r>
              <a:rPr lang="en-US" dirty="0"/>
              <a:t>Exam Thursday</a:t>
            </a:r>
          </a:p>
          <a:p>
            <a:r>
              <a:rPr lang="en-US" dirty="0"/>
              <a:t>Problem session after lecture</a:t>
            </a:r>
          </a:p>
          <a:p>
            <a:r>
              <a:rPr lang="en-US" dirty="0"/>
              <a:t>MOOSE project due 2/28</a:t>
            </a:r>
          </a:p>
          <a:p>
            <a:r>
              <a:rPr lang="en-US" dirty="0"/>
              <a:t>Snowstorm coming…</a:t>
            </a:r>
          </a:p>
          <a:p>
            <a:pPr lvl="1"/>
            <a:r>
              <a:rPr lang="en-US" dirty="0"/>
              <a:t>Assuming that class is cancelled on Thursday, we will do the exam via zoom</a:t>
            </a:r>
          </a:p>
          <a:p>
            <a:pPr lvl="1"/>
            <a:r>
              <a:rPr lang="en-US" dirty="0"/>
              <a:t>Cameras on, I will be a virtual proctor</a:t>
            </a:r>
          </a:p>
          <a:p>
            <a:pPr lvl="1"/>
            <a:r>
              <a:rPr lang="en-US" dirty="0"/>
              <a:t>Will submit your scanned or photographed exam and cheat sheet and email them to me</a:t>
            </a:r>
          </a:p>
        </p:txBody>
      </p:sp>
      <p:sp>
        <p:nvSpPr>
          <p:cNvPr id="4" name="Slide Number Placeholder 3">
            <a:extLst>
              <a:ext uri="{FF2B5EF4-FFF2-40B4-BE49-F238E27FC236}">
                <a16:creationId xmlns:a16="http://schemas.microsoft.com/office/drawing/2014/main" id="{5C992E4C-F6EE-9B4F-9ADF-A2A09B940BD0}"/>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6184602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4C1970-F3F5-A94D-AE92-F20A79829D2D}"/>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EA711F14-73E2-A715-A83A-56B9AADE5F8F}"/>
              </a:ext>
            </a:extLst>
          </p:cNvPr>
          <p:cNvSpPr>
            <a:spLocks noGrp="1"/>
          </p:cNvSpPr>
          <p:nvPr>
            <p:ph idx="1"/>
          </p:nvPr>
        </p:nvSpPr>
        <p:spPr>
          <a:xfrm>
            <a:off x="609600" y="1968501"/>
            <a:ext cx="10972800" cy="4157664"/>
          </a:xfrm>
        </p:spPr>
        <p:txBody>
          <a:bodyPr/>
          <a:lstStyle/>
          <a:p>
            <a:r>
              <a:rPr lang="en-US" sz="2000" dirty="0"/>
              <a:t>The crystal lattice is never perfect; it has defects</a:t>
            </a:r>
          </a:p>
          <a:p>
            <a:pPr lvl="1"/>
            <a:r>
              <a:rPr lang="en-US" sz="2000" dirty="0"/>
              <a:t>Point defects, dislocations, grain boundaries, voids and precipitates</a:t>
            </a:r>
          </a:p>
          <a:p>
            <a:r>
              <a:rPr lang="en-US" sz="2000" dirty="0"/>
              <a:t>Microstructure can be tailored through processing, during fabrication or post-fabrication</a:t>
            </a:r>
          </a:p>
          <a:p>
            <a:r>
              <a:rPr lang="en-US" sz="2000" dirty="0"/>
              <a:t>Started UO2 radiation effects</a:t>
            </a:r>
          </a:p>
          <a:p>
            <a:pPr lvl="1"/>
            <a:r>
              <a:rPr lang="en-US" sz="2000" dirty="0"/>
              <a:t>interstitial loops and voids</a:t>
            </a:r>
          </a:p>
          <a:p>
            <a:pPr lvl="1"/>
            <a:r>
              <a:rPr lang="en-US" sz="2000" dirty="0"/>
              <a:t>changes in thermal conductivity due to irradiation and chemistry changes</a:t>
            </a:r>
          </a:p>
          <a:p>
            <a:pPr lvl="1"/>
            <a:r>
              <a:rPr lang="en-US" sz="2000" dirty="0"/>
              <a:t>have various empirical models which take into account phonon and electron kth, as well as burnup</a:t>
            </a:r>
          </a:p>
        </p:txBody>
      </p:sp>
      <p:sp>
        <p:nvSpPr>
          <p:cNvPr id="4" name="Slide Number Placeholder 3">
            <a:extLst>
              <a:ext uri="{FF2B5EF4-FFF2-40B4-BE49-F238E27FC236}">
                <a16:creationId xmlns:a16="http://schemas.microsoft.com/office/drawing/2014/main" id="{5BA1D232-F61C-0870-5C34-3688EEE46BBB}"/>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2202772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29CC1-34E4-A34F-8621-801D8886CE7C}"/>
              </a:ext>
            </a:extLst>
          </p:cNvPr>
          <p:cNvSpPr>
            <a:spLocks noGrp="1"/>
          </p:cNvSpPr>
          <p:nvPr>
            <p:ph type="title"/>
          </p:nvPr>
        </p:nvSpPr>
        <p:spPr>
          <a:xfrm>
            <a:off x="963084" y="1234721"/>
            <a:ext cx="10363200" cy="1362075"/>
          </a:xfrm>
        </p:spPr>
        <p:txBody>
          <a:bodyPr/>
          <a:lstStyle/>
          <a:p>
            <a:r>
              <a:rPr lang="en-US" dirty="0"/>
              <a:t>mechanistic modeling</a:t>
            </a:r>
          </a:p>
        </p:txBody>
      </p:sp>
      <p:sp>
        <p:nvSpPr>
          <p:cNvPr id="4" name="Slide Number Placeholder 3">
            <a:extLst>
              <a:ext uri="{FF2B5EF4-FFF2-40B4-BE49-F238E27FC236}">
                <a16:creationId xmlns:a16="http://schemas.microsoft.com/office/drawing/2014/main" id="{2BFF06B0-02C9-F34D-82A4-D2D5BBAF684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DA6BD0F-ABBC-C14D-BC96-77BE126A748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2342964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3ACA9B-E34F-1D42-B710-64EFE35C2A13}"/>
              </a:ext>
            </a:extLst>
          </p:cNvPr>
          <p:cNvSpPr>
            <a:spLocks noGrp="1"/>
          </p:cNvSpPr>
          <p:nvPr>
            <p:ph type="title"/>
          </p:nvPr>
        </p:nvSpPr>
        <p:spPr/>
        <p:txBody>
          <a:bodyPr/>
          <a:lstStyle/>
          <a:p>
            <a:r>
              <a:rPr lang="en-US" dirty="0"/>
              <a:t>Microstructure-based fuel performance modeling</a:t>
            </a:r>
          </a:p>
        </p:txBody>
      </p:sp>
      <p:sp>
        <p:nvSpPr>
          <p:cNvPr id="4" name="Slide Number Placeholder 3">
            <a:extLst>
              <a:ext uri="{FF2B5EF4-FFF2-40B4-BE49-F238E27FC236}">
                <a16:creationId xmlns:a16="http://schemas.microsoft.com/office/drawing/2014/main" id="{4F349795-898F-6B4F-92BE-024F3867673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2" name="TextBox 21">
            <a:extLst>
              <a:ext uri="{FF2B5EF4-FFF2-40B4-BE49-F238E27FC236}">
                <a16:creationId xmlns:a16="http://schemas.microsoft.com/office/drawing/2014/main" id="{05B15442-8E87-5348-92DA-C67B679478EB}"/>
              </a:ext>
            </a:extLst>
          </p:cNvPr>
          <p:cNvSpPr txBox="1"/>
          <p:nvPr/>
        </p:nvSpPr>
        <p:spPr>
          <a:xfrm>
            <a:off x="1744386" y="2100648"/>
            <a:ext cx="1280583" cy="523220"/>
          </a:xfrm>
          <a:prstGeom prst="rect">
            <a:avLst/>
          </a:prstGeom>
          <a:solidFill>
            <a:schemeClr val="lt1">
              <a:alpha val="76000"/>
            </a:schemeClr>
          </a:solidFill>
          <a:ln>
            <a:noFill/>
          </a:ln>
        </p:spPr>
        <p:style>
          <a:lnRef idx="2">
            <a:schemeClr val="accent3"/>
          </a:lnRef>
          <a:fillRef idx="1">
            <a:schemeClr val="lt1"/>
          </a:fillRef>
          <a:effectRef idx="0">
            <a:schemeClr val="accent3"/>
          </a:effectRef>
          <a:fontRef idx="minor">
            <a:schemeClr val="dk1"/>
          </a:fontRef>
        </p:style>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4F81BD"/>
                </a:solidFill>
                <a:effectLst/>
                <a:uLnTx/>
                <a:uFillTx/>
                <a:latin typeface="Arial" charset="0"/>
                <a:ea typeface="ＭＳ Ｐゴシック" charset="0"/>
              </a:rPr>
              <a:t>Operating Conditions</a:t>
            </a:r>
            <a:endParaRPr kumimoji="0" lang="en-US" sz="1400" b="0" i="0" u="none" strike="noStrike" kern="1200" cap="none" spc="0" normalizeH="0" baseline="0" noProof="0" dirty="0">
              <a:ln>
                <a:noFill/>
              </a:ln>
              <a:solidFill>
                <a:srgbClr val="4F81BD"/>
              </a:solidFill>
              <a:effectLst/>
              <a:uLnTx/>
              <a:uFillTx/>
              <a:latin typeface="Arial" charset="0"/>
              <a:ea typeface="ＭＳ Ｐゴシック" charset="0"/>
            </a:endParaRPr>
          </a:p>
        </p:txBody>
      </p:sp>
      <p:sp>
        <p:nvSpPr>
          <p:cNvPr id="23" name="Rounded Rectangle 22">
            <a:extLst>
              <a:ext uri="{FF2B5EF4-FFF2-40B4-BE49-F238E27FC236}">
                <a16:creationId xmlns:a16="http://schemas.microsoft.com/office/drawing/2014/main" id="{372E11C6-F71C-FB4C-AFE4-998E6FD8D83F}"/>
              </a:ext>
            </a:extLst>
          </p:cNvPr>
          <p:cNvSpPr/>
          <p:nvPr/>
        </p:nvSpPr>
        <p:spPr bwMode="auto">
          <a:xfrm>
            <a:off x="3039786" y="2168787"/>
            <a:ext cx="1185334" cy="363086"/>
          </a:xfrm>
          <a:prstGeom prst="round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Neutron flux</a:t>
            </a:r>
          </a:p>
        </p:txBody>
      </p:sp>
      <p:sp>
        <p:nvSpPr>
          <p:cNvPr id="24" name="TextBox 23">
            <a:extLst>
              <a:ext uri="{FF2B5EF4-FFF2-40B4-BE49-F238E27FC236}">
                <a16:creationId xmlns:a16="http://schemas.microsoft.com/office/drawing/2014/main" id="{3FB621F0-0798-1641-A4A4-012AFD80D5FF}"/>
              </a:ext>
            </a:extLst>
          </p:cNvPr>
          <p:cNvSpPr txBox="1"/>
          <p:nvPr/>
        </p:nvSpPr>
        <p:spPr>
          <a:xfrm>
            <a:off x="5325786" y="2168787"/>
            <a:ext cx="1121303" cy="307777"/>
          </a:xfrm>
          <a:prstGeom prst="rect">
            <a:avLst/>
          </a:prstGeom>
          <a:solidFill>
            <a:schemeClr val="lt1">
              <a:alpha val="76000"/>
            </a:schemeClr>
          </a:solidFill>
          <a:ln>
            <a:noFill/>
          </a:ln>
        </p:spPr>
        <p:style>
          <a:lnRef idx="2">
            <a:schemeClr val="accent3"/>
          </a:lnRef>
          <a:fillRef idx="1">
            <a:schemeClr val="lt1"/>
          </a:fillRef>
          <a:effectRef idx="0">
            <a:schemeClr val="accent3"/>
          </a:effectRef>
          <a:fontRef idx="minor">
            <a:schemeClr val="dk1"/>
          </a:fontRef>
        </p:style>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4F81BD"/>
                </a:solidFill>
                <a:effectLst/>
                <a:uLnTx/>
                <a:uFillTx/>
                <a:latin typeface="Arial" charset="0"/>
                <a:ea typeface="ＭＳ Ｐゴシック" charset="0"/>
              </a:rPr>
              <a:t>Variables</a:t>
            </a:r>
            <a:endParaRPr kumimoji="0" lang="en-US" sz="1400" b="0" i="0" u="none" strike="noStrike" kern="1200" cap="none" spc="0" normalizeH="0" baseline="0" noProof="0" dirty="0">
              <a:ln>
                <a:noFill/>
              </a:ln>
              <a:solidFill>
                <a:srgbClr val="4F81BD"/>
              </a:solidFill>
              <a:effectLst/>
              <a:uLnTx/>
              <a:uFillTx/>
              <a:latin typeface="Arial" charset="0"/>
              <a:ea typeface="ＭＳ Ｐゴシック" charset="0"/>
            </a:endParaRPr>
          </a:p>
        </p:txBody>
      </p:sp>
      <p:sp>
        <p:nvSpPr>
          <p:cNvPr id="25" name="Rounded Rectangle 24">
            <a:extLst>
              <a:ext uri="{FF2B5EF4-FFF2-40B4-BE49-F238E27FC236}">
                <a16:creationId xmlns:a16="http://schemas.microsoft.com/office/drawing/2014/main" id="{902A1030-6392-4243-8B54-4DBEAFB60ABF}"/>
              </a:ext>
            </a:extLst>
          </p:cNvPr>
          <p:cNvSpPr/>
          <p:nvPr/>
        </p:nvSpPr>
        <p:spPr bwMode="auto">
          <a:xfrm>
            <a:off x="6415446" y="2161664"/>
            <a:ext cx="1280160" cy="363086"/>
          </a:xfrm>
          <a:prstGeom prst="roundRect">
            <a:avLst/>
          </a:prstGeom>
          <a:ln>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Temperature</a:t>
            </a:r>
          </a:p>
        </p:txBody>
      </p:sp>
      <p:sp>
        <p:nvSpPr>
          <p:cNvPr id="26" name="Rounded Rectangle 25">
            <a:extLst>
              <a:ext uri="{FF2B5EF4-FFF2-40B4-BE49-F238E27FC236}">
                <a16:creationId xmlns:a16="http://schemas.microsoft.com/office/drawing/2014/main" id="{86538642-78D8-ED41-8D83-268F81FAB3CB}"/>
              </a:ext>
            </a:extLst>
          </p:cNvPr>
          <p:cNvSpPr/>
          <p:nvPr/>
        </p:nvSpPr>
        <p:spPr bwMode="auto">
          <a:xfrm>
            <a:off x="7774852" y="2162920"/>
            <a:ext cx="1280160" cy="363086"/>
          </a:xfrm>
          <a:prstGeom prst="roundRect">
            <a:avLst/>
          </a:prstGeom>
          <a:ln>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Displacement</a:t>
            </a:r>
          </a:p>
        </p:txBody>
      </p:sp>
      <p:sp>
        <p:nvSpPr>
          <p:cNvPr id="27" name="Rounded Rectangle 26">
            <a:extLst>
              <a:ext uri="{FF2B5EF4-FFF2-40B4-BE49-F238E27FC236}">
                <a16:creationId xmlns:a16="http://schemas.microsoft.com/office/drawing/2014/main" id="{2E13482A-E7FC-A944-8186-A87327747E7B}"/>
              </a:ext>
            </a:extLst>
          </p:cNvPr>
          <p:cNvSpPr/>
          <p:nvPr/>
        </p:nvSpPr>
        <p:spPr bwMode="auto">
          <a:xfrm>
            <a:off x="9134258" y="2162920"/>
            <a:ext cx="1280160" cy="363086"/>
          </a:xfrm>
          <a:prstGeom prst="roundRect">
            <a:avLst/>
          </a:prstGeom>
          <a:ln>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Stoichiometry</a:t>
            </a:r>
          </a:p>
        </p:txBody>
      </p:sp>
      <p:sp>
        <p:nvSpPr>
          <p:cNvPr id="28" name="Rounded Rectangle 27">
            <a:extLst>
              <a:ext uri="{FF2B5EF4-FFF2-40B4-BE49-F238E27FC236}">
                <a16:creationId xmlns:a16="http://schemas.microsoft.com/office/drawing/2014/main" id="{B92283D6-195E-3346-B3CE-738D63E9ED93}"/>
              </a:ext>
            </a:extLst>
          </p:cNvPr>
          <p:cNvSpPr/>
          <p:nvPr/>
        </p:nvSpPr>
        <p:spPr bwMode="auto">
          <a:xfrm>
            <a:off x="4292852" y="2168787"/>
            <a:ext cx="1185334" cy="363086"/>
          </a:xfrm>
          <a:prstGeom prst="round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Coolant T&amp;P</a:t>
            </a:r>
          </a:p>
        </p:txBody>
      </p:sp>
      <p:pic>
        <p:nvPicPr>
          <p:cNvPr id="29" name="Picture 7" descr="temp_3Dslice.png">
            <a:extLst>
              <a:ext uri="{FF2B5EF4-FFF2-40B4-BE49-F238E27FC236}">
                <a16:creationId xmlns:a16="http://schemas.microsoft.com/office/drawing/2014/main" id="{8CCB59EF-A4E0-A74C-AA4E-3B7D54AB0B27}"/>
              </a:ext>
            </a:extLst>
          </p:cNvPr>
          <p:cNvPicPr>
            <a:picLocks noChangeAspect="1"/>
          </p:cNvPicPr>
          <p:nvPr/>
        </p:nvPicPr>
        <p:blipFill>
          <a:blip r:embed="rId2" cstate="screen">
            <a:alphaModFix amt="49000"/>
            <a:extLst>
              <a:ext uri="{28A0092B-C50C-407E-A947-70E740481C1C}">
                <a14:useLocalDpi xmlns:a14="http://schemas.microsoft.com/office/drawing/2010/main"/>
              </a:ext>
            </a:extLst>
          </a:blip>
          <a:srcRect/>
          <a:stretch>
            <a:fillRect/>
          </a:stretch>
        </p:blipFill>
        <p:spPr bwMode="auto">
          <a:xfrm>
            <a:off x="5313497" y="2689324"/>
            <a:ext cx="1621446" cy="3237703"/>
          </a:xfrm>
          <a:prstGeom prst="rect">
            <a:avLst/>
          </a:prstGeom>
          <a:noFill/>
          <a:ln>
            <a:noFill/>
          </a:ln>
          <a:extLst>
            <a:ext uri="{909E8E84-426E-40dd-AFC4-6F175D3DCCD1}">
              <a14:hiddenFill xmlns="" xmlns:a14="http://schemas.microsoft.com/office/drawing/2010/main">
                <a:solidFill>
                  <a:srgbClr val="FFFFFF">
                    <a:alpha val="49001"/>
                  </a:srgbClr>
                </a:solidFill>
              </a14:hiddenFill>
            </a:ext>
            <a:ext uri="{91240B29-F687-4f45-9708-019B960494DF}">
              <a14:hiddenLine xmlns="" xmlns:a14="http://schemas.microsoft.com/office/drawing/2010/main" w="9525">
                <a:solidFill>
                  <a:srgbClr val="000000"/>
                </a:solidFill>
                <a:miter lim="800000"/>
                <a:headEnd/>
                <a:tailEnd/>
              </a14:hiddenLine>
            </a:ext>
          </a:extLst>
        </p:spPr>
      </p:pic>
      <p:grpSp>
        <p:nvGrpSpPr>
          <p:cNvPr id="30" name="Group 29">
            <a:extLst>
              <a:ext uri="{FF2B5EF4-FFF2-40B4-BE49-F238E27FC236}">
                <a16:creationId xmlns:a16="http://schemas.microsoft.com/office/drawing/2014/main" id="{534F30DB-728E-AA40-BCB6-C072D4D70636}"/>
              </a:ext>
            </a:extLst>
          </p:cNvPr>
          <p:cNvGrpSpPr/>
          <p:nvPr/>
        </p:nvGrpSpPr>
        <p:grpSpPr>
          <a:xfrm>
            <a:off x="3393784" y="2623868"/>
            <a:ext cx="5767635" cy="4043220"/>
            <a:chOff x="1724010" y="2195664"/>
            <a:chExt cx="5767635" cy="4043220"/>
          </a:xfrm>
        </p:grpSpPr>
        <p:pic>
          <p:nvPicPr>
            <p:cNvPr id="31" name="Picture 30">
              <a:extLst>
                <a:ext uri="{FF2B5EF4-FFF2-40B4-BE49-F238E27FC236}">
                  <a16:creationId xmlns:a16="http://schemas.microsoft.com/office/drawing/2014/main" id="{7592C8DF-9A42-FD4F-BF81-3DD80F22B4ED}"/>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5471526" y="2195664"/>
              <a:ext cx="898281" cy="821553"/>
            </a:xfrm>
            <a:prstGeom prst="rect">
              <a:avLst/>
            </a:prstGeom>
            <a:ln>
              <a:solidFill>
                <a:schemeClr val="tx2"/>
              </a:solidFill>
            </a:ln>
          </p:spPr>
        </p:pic>
        <p:cxnSp>
          <p:nvCxnSpPr>
            <p:cNvPr id="32" name="Straight Connector 31">
              <a:extLst>
                <a:ext uri="{FF2B5EF4-FFF2-40B4-BE49-F238E27FC236}">
                  <a16:creationId xmlns:a16="http://schemas.microsoft.com/office/drawing/2014/main" id="{6068BD40-E29F-8740-BA15-A114AA533898}"/>
                </a:ext>
              </a:extLst>
            </p:cNvPr>
            <p:cNvCxnSpPr/>
            <p:nvPr/>
          </p:nvCxnSpPr>
          <p:spPr>
            <a:xfrm flipH="1">
              <a:off x="4754286" y="2195664"/>
              <a:ext cx="702027" cy="875141"/>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38AA7950-68B6-F540-AF8C-63B2F5936A40}"/>
                </a:ext>
              </a:extLst>
            </p:cNvPr>
            <p:cNvCxnSpPr/>
            <p:nvPr/>
          </p:nvCxnSpPr>
          <p:spPr>
            <a:xfrm flipH="1">
              <a:off x="4754285" y="3017218"/>
              <a:ext cx="702028" cy="4700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pic>
          <p:nvPicPr>
            <p:cNvPr id="34" name="Image 53">
              <a:extLst>
                <a:ext uri="{FF2B5EF4-FFF2-40B4-BE49-F238E27FC236}">
                  <a16:creationId xmlns:a16="http://schemas.microsoft.com/office/drawing/2014/main" id="{7E6DFCEE-26F4-0B41-A319-E6C4D5954A2E}"/>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a:stretch/>
          </p:blipFill>
          <p:spPr>
            <a:xfrm>
              <a:off x="2364839" y="2195664"/>
              <a:ext cx="1016417" cy="782009"/>
            </a:xfrm>
            <a:prstGeom prst="rect">
              <a:avLst/>
            </a:prstGeom>
            <a:ln>
              <a:solidFill>
                <a:srgbClr val="800000"/>
              </a:solidFill>
            </a:ln>
          </p:spPr>
        </p:pic>
        <p:cxnSp>
          <p:nvCxnSpPr>
            <p:cNvPr id="35" name="Straight Connector 34">
              <a:extLst>
                <a:ext uri="{FF2B5EF4-FFF2-40B4-BE49-F238E27FC236}">
                  <a16:creationId xmlns:a16="http://schemas.microsoft.com/office/drawing/2014/main" id="{D27E5CF1-F405-1045-90C4-2F296F18D958}"/>
                </a:ext>
              </a:extLst>
            </p:cNvPr>
            <p:cNvCxnSpPr/>
            <p:nvPr/>
          </p:nvCxnSpPr>
          <p:spPr>
            <a:xfrm>
              <a:off x="3381257" y="2195664"/>
              <a:ext cx="372839" cy="710641"/>
            </a:xfrm>
            <a:prstGeom prst="line">
              <a:avLst/>
            </a:prstGeom>
            <a:ln>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AB54E16D-F5F2-4943-AA58-5884E514D5BF}"/>
                </a:ext>
              </a:extLst>
            </p:cNvPr>
            <p:cNvCxnSpPr/>
            <p:nvPr/>
          </p:nvCxnSpPr>
          <p:spPr>
            <a:xfrm flipH="1">
              <a:off x="3381256" y="2906305"/>
              <a:ext cx="372840" cy="71368"/>
            </a:xfrm>
            <a:prstGeom prst="line">
              <a:avLst/>
            </a:prstGeom>
            <a:ln>
              <a:solidFill>
                <a:srgbClr val="800000"/>
              </a:solidFill>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D04AABB5-CF0E-D141-A27E-970F53733E8E}"/>
                </a:ext>
              </a:extLst>
            </p:cNvPr>
            <p:cNvSpPr txBox="1"/>
            <p:nvPr/>
          </p:nvSpPr>
          <p:spPr>
            <a:xfrm>
              <a:off x="5265169" y="3064225"/>
              <a:ext cx="2226476" cy="289310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1F497D"/>
                </a:buClr>
                <a:buSzTx/>
                <a:buFontTx/>
                <a:buNone/>
                <a:tabLst/>
                <a:defRPr/>
              </a:pPr>
              <a:r>
                <a:rPr kumimoji="0" lang="en-US" sz="1400" b="1" i="0" u="none" strike="noStrike" kern="1200" cap="none" spc="0" normalizeH="0" baseline="0" noProof="0" dirty="0">
                  <a:ln>
                    <a:noFill/>
                  </a:ln>
                  <a:solidFill>
                    <a:srgbClr val="1F497D"/>
                  </a:solidFill>
                  <a:effectLst/>
                  <a:uLnTx/>
                  <a:uFillTx/>
                  <a:latin typeface="Calibri"/>
                  <a:ea typeface="+mn-ea"/>
                  <a:cs typeface="+mn-cs"/>
                </a:rPr>
                <a:t>Fuel</a:t>
              </a:r>
            </a:p>
            <a:p>
              <a:pPr marL="0" marR="0" lvl="0" indent="0" algn="l" defTabSz="914400" rtl="0" eaLnBrk="1" fontAlgn="auto" latinLnBrk="0" hangingPunct="1">
                <a:lnSpc>
                  <a:spcPct val="100000"/>
                </a:lnSpc>
                <a:spcBef>
                  <a:spcPts val="0"/>
                </a:spcBef>
                <a:spcAft>
                  <a:spcPts val="0"/>
                </a:spcAft>
                <a:buClr>
                  <a:srgbClr val="1F497D"/>
                </a:buClr>
                <a:buSzTx/>
                <a:buFontTx/>
                <a:buNone/>
                <a:tabLst/>
                <a:defRPr/>
              </a:pPr>
              <a:r>
                <a:rPr kumimoji="0" lang="en-US" sz="1400" b="1" i="0" u="none" strike="noStrike" kern="1200" cap="none" spc="0" normalizeH="0" baseline="0" noProof="0" dirty="0">
                  <a:ln>
                    <a:noFill/>
                  </a:ln>
                  <a:solidFill>
                    <a:srgbClr val="1F497D"/>
                  </a:solidFill>
                  <a:effectLst/>
                  <a:uLnTx/>
                  <a:uFillTx/>
                  <a:latin typeface="Calibri"/>
                  <a:ea typeface="+mn-ea"/>
                  <a:cs typeface="+mn-cs"/>
                </a:rPr>
                <a:t>Microstructure variables</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Average grain size</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Dislocation density</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U defect concentrations</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400" b="0" i="0" u="none" strike="noStrike" kern="1200" cap="none" spc="0" normalizeH="0" baseline="0" noProof="0" dirty="0" err="1">
                  <a:ln>
                    <a:noFill/>
                  </a:ln>
                  <a:solidFill>
                    <a:prstClr val="black"/>
                  </a:solidFill>
                  <a:effectLst/>
                  <a:uLnTx/>
                  <a:uFillTx/>
                  <a:latin typeface="Calibri"/>
                  <a:ea typeface="+mn-ea"/>
                  <a:cs typeface="+mn-cs"/>
                </a:rPr>
                <a:t>Pu</a:t>
              </a:r>
              <a:r>
                <a:rPr kumimoji="0" lang="en-US" sz="1400" b="0" i="0" u="none" strike="noStrike" kern="1200" cap="none" spc="0" normalizeH="0" baseline="0" noProof="0" dirty="0">
                  <a:ln>
                    <a:noFill/>
                  </a:ln>
                  <a:solidFill>
                    <a:prstClr val="black"/>
                  </a:solidFill>
                  <a:effectLst/>
                  <a:uLnTx/>
                  <a:uFillTx/>
                  <a:latin typeface="Calibri"/>
                  <a:ea typeface="+mn-ea"/>
                  <a:cs typeface="+mn-cs"/>
                </a:rPr>
                <a:t> concentration</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Fission product precipitate fractions</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Dissolved fission products</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Fission gas bubble fraction</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Grain boundary fission gas bubble coverage</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Crack parameter</a:t>
              </a:r>
            </a:p>
          </p:txBody>
        </p:sp>
        <p:sp>
          <p:nvSpPr>
            <p:cNvPr id="38" name="TextBox 37">
              <a:extLst>
                <a:ext uri="{FF2B5EF4-FFF2-40B4-BE49-F238E27FC236}">
                  <a16:creationId xmlns:a16="http://schemas.microsoft.com/office/drawing/2014/main" id="{81B0E81F-9C6E-8F42-8CDC-29766C033FB0}"/>
                </a:ext>
              </a:extLst>
            </p:cNvPr>
            <p:cNvSpPr txBox="1"/>
            <p:nvPr/>
          </p:nvSpPr>
          <p:spPr>
            <a:xfrm>
              <a:off x="1724010" y="3063213"/>
              <a:ext cx="2030085" cy="267765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800000"/>
                </a:buClr>
                <a:buSzTx/>
                <a:buFontTx/>
                <a:buNone/>
                <a:tabLst/>
                <a:defRPr/>
              </a:pPr>
              <a:r>
                <a:rPr kumimoji="0" lang="en-US" sz="1400" b="1" i="0" u="none" strike="noStrike" kern="1200" cap="none" spc="0" normalizeH="0" baseline="0" noProof="0" dirty="0">
                  <a:ln>
                    <a:noFill/>
                  </a:ln>
                  <a:solidFill>
                    <a:srgbClr val="9BBB59"/>
                  </a:solidFill>
                  <a:effectLst/>
                  <a:uLnTx/>
                  <a:uFillTx/>
                  <a:latin typeface="Calibri"/>
                  <a:ea typeface="+mn-ea"/>
                  <a:cs typeface="+mn-cs"/>
                </a:rPr>
                <a:t>Cladding</a:t>
              </a:r>
            </a:p>
            <a:p>
              <a:pPr marL="0" marR="0" lvl="0" indent="0" algn="l" defTabSz="914400" rtl="0" eaLnBrk="1" fontAlgn="auto" latinLnBrk="0" hangingPunct="1">
                <a:lnSpc>
                  <a:spcPct val="100000"/>
                </a:lnSpc>
                <a:spcBef>
                  <a:spcPts val="0"/>
                </a:spcBef>
                <a:spcAft>
                  <a:spcPts val="0"/>
                </a:spcAft>
                <a:buClr>
                  <a:srgbClr val="800000"/>
                </a:buClr>
                <a:buSzTx/>
                <a:buFontTx/>
                <a:buNone/>
                <a:tabLst/>
                <a:defRPr/>
              </a:pPr>
              <a:r>
                <a:rPr kumimoji="0" lang="en-US" sz="1400" b="1" i="0" u="none" strike="noStrike" kern="1200" cap="none" spc="0" normalizeH="0" baseline="0" noProof="0" dirty="0">
                  <a:ln>
                    <a:noFill/>
                  </a:ln>
                  <a:solidFill>
                    <a:srgbClr val="9BBB59"/>
                  </a:solidFill>
                  <a:effectLst/>
                  <a:uLnTx/>
                  <a:uFillTx/>
                  <a:latin typeface="Calibri"/>
                  <a:ea typeface="+mn-ea"/>
                  <a:cs typeface="+mn-cs"/>
                </a:rPr>
                <a:t>Microstructure variables</a:t>
              </a:r>
              <a:endParaRPr kumimoji="0" lang="en-US" sz="1400" b="0" i="0" u="none" strike="noStrike" kern="1200" cap="none" spc="0" normalizeH="0" baseline="0" noProof="0" dirty="0">
                <a:ln>
                  <a:noFill/>
                </a:ln>
                <a:solidFill>
                  <a:srgbClr val="9BBB59"/>
                </a:solidFill>
                <a:effectLst/>
                <a:uLnTx/>
                <a:uFillTx/>
                <a:latin typeface="Calibri"/>
                <a:ea typeface="+mn-ea"/>
                <a:cs typeface="+mn-cs"/>
              </a:endParaRPr>
            </a:p>
            <a:p>
              <a:pPr marL="111125" marR="0" lvl="0" indent="-111125" algn="l" defTabSz="914400" rtl="0" eaLnBrk="1" fontAlgn="auto" latinLnBrk="0" hangingPunct="1">
                <a:lnSpc>
                  <a:spcPct val="100000"/>
                </a:lnSpc>
                <a:spcBef>
                  <a:spcPts val="0"/>
                </a:spcBef>
                <a:spcAft>
                  <a:spcPts val="0"/>
                </a:spcAft>
                <a:buClr>
                  <a:srgbClr val="800000"/>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Average grain size</a:t>
              </a:r>
            </a:p>
            <a:p>
              <a:pPr marL="111125" marR="0" lvl="0" indent="-111125" algn="l" defTabSz="914400" rtl="0" eaLnBrk="1" fontAlgn="auto" latinLnBrk="0" hangingPunct="1">
                <a:lnSpc>
                  <a:spcPct val="100000"/>
                </a:lnSpc>
                <a:spcBef>
                  <a:spcPts val="0"/>
                </a:spcBef>
                <a:spcAft>
                  <a:spcPts val="0"/>
                </a:spcAft>
                <a:buClr>
                  <a:srgbClr val="800000"/>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Dislocation density</a:t>
              </a:r>
            </a:p>
            <a:p>
              <a:pPr marL="111125" marR="0" lvl="0" indent="-111125" algn="l" defTabSz="914400" rtl="0" eaLnBrk="1" fontAlgn="auto" latinLnBrk="0" hangingPunct="1">
                <a:lnSpc>
                  <a:spcPct val="100000"/>
                </a:lnSpc>
                <a:spcBef>
                  <a:spcPts val="0"/>
                </a:spcBef>
                <a:spcAft>
                  <a:spcPts val="0"/>
                </a:spcAft>
                <a:buClr>
                  <a:srgbClr val="800000"/>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H concentration</a:t>
              </a:r>
            </a:p>
            <a:p>
              <a:pPr marL="111125" marR="0" lvl="0" indent="-111125" algn="l" defTabSz="914400" rtl="0" eaLnBrk="1" fontAlgn="auto" latinLnBrk="0" hangingPunct="1">
                <a:lnSpc>
                  <a:spcPct val="100000"/>
                </a:lnSpc>
                <a:spcBef>
                  <a:spcPts val="0"/>
                </a:spcBef>
                <a:spcAft>
                  <a:spcPts val="0"/>
                </a:spcAft>
                <a:buClr>
                  <a:srgbClr val="800000"/>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Hydride fraction</a:t>
              </a:r>
            </a:p>
            <a:p>
              <a:pPr marL="111125" marR="0" lvl="0" indent="-111125" algn="l" defTabSz="914400" rtl="0" eaLnBrk="1" fontAlgn="auto" latinLnBrk="0" hangingPunct="1">
                <a:lnSpc>
                  <a:spcPct val="100000"/>
                </a:lnSpc>
                <a:spcBef>
                  <a:spcPts val="0"/>
                </a:spcBef>
                <a:spcAft>
                  <a:spcPts val="0"/>
                </a:spcAft>
                <a:buClr>
                  <a:srgbClr val="800000"/>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Point defect concentrations</a:t>
              </a:r>
            </a:p>
            <a:p>
              <a:pPr marL="111125" marR="0" lvl="0" indent="-111125" algn="l" defTabSz="914400" rtl="0" eaLnBrk="1" fontAlgn="auto" latinLnBrk="0" hangingPunct="1">
                <a:lnSpc>
                  <a:spcPct val="100000"/>
                </a:lnSpc>
                <a:spcBef>
                  <a:spcPts val="0"/>
                </a:spcBef>
                <a:spcAft>
                  <a:spcPts val="0"/>
                </a:spcAft>
                <a:buClr>
                  <a:srgbClr val="800000"/>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Loop density</a:t>
              </a:r>
            </a:p>
            <a:p>
              <a:pPr marL="111125" marR="0" lvl="0" indent="-111125" algn="l" defTabSz="914400" rtl="0" eaLnBrk="1" fontAlgn="auto" latinLnBrk="0" hangingPunct="1">
                <a:lnSpc>
                  <a:spcPct val="100000"/>
                </a:lnSpc>
                <a:spcBef>
                  <a:spcPts val="0"/>
                </a:spcBef>
                <a:spcAft>
                  <a:spcPts val="0"/>
                </a:spcAft>
                <a:buClr>
                  <a:srgbClr val="800000"/>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2</a:t>
              </a:r>
              <a:r>
                <a:rPr kumimoji="0" lang="en-US" sz="1400" b="0" i="0" u="none" strike="noStrike" kern="1200" cap="none" spc="0" normalizeH="0" baseline="30000" noProof="0" dirty="0">
                  <a:ln>
                    <a:noFill/>
                  </a:ln>
                  <a:solidFill>
                    <a:prstClr val="black"/>
                  </a:solidFill>
                  <a:effectLst/>
                  <a:uLnTx/>
                  <a:uFillTx/>
                  <a:latin typeface="Calibri"/>
                  <a:ea typeface="+mn-ea"/>
                  <a:cs typeface="+mn-cs"/>
                </a:rPr>
                <a:t>nd</a:t>
              </a:r>
              <a:r>
                <a:rPr kumimoji="0" lang="en-US" sz="1400" b="0" i="0" u="none" strike="noStrike" kern="1200" cap="none" spc="0" normalizeH="0" baseline="0" noProof="0" dirty="0">
                  <a:ln>
                    <a:noFill/>
                  </a:ln>
                  <a:solidFill>
                    <a:prstClr val="black"/>
                  </a:solidFill>
                  <a:effectLst/>
                  <a:uLnTx/>
                  <a:uFillTx/>
                  <a:latin typeface="Calibri"/>
                  <a:ea typeface="+mn-ea"/>
                  <a:cs typeface="+mn-cs"/>
                </a:rPr>
                <a:t> phase particle fraction</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p:txBody>
        </p:sp>
        <p:sp>
          <p:nvSpPr>
            <p:cNvPr id="39" name="TextBox 38">
              <a:extLst>
                <a:ext uri="{FF2B5EF4-FFF2-40B4-BE49-F238E27FC236}">
                  <a16:creationId xmlns:a16="http://schemas.microsoft.com/office/drawing/2014/main" id="{1083E2A3-A58F-2541-A656-5C470A11D62B}"/>
                </a:ext>
              </a:extLst>
            </p:cNvPr>
            <p:cNvSpPr txBox="1"/>
            <p:nvPr/>
          </p:nvSpPr>
          <p:spPr>
            <a:xfrm>
              <a:off x="3754094" y="5500220"/>
              <a:ext cx="1404777" cy="73866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008000"/>
                </a:buClr>
                <a:buSzTx/>
                <a:buFontTx/>
                <a:buNone/>
                <a:tabLst/>
                <a:defRPr/>
              </a:pPr>
              <a:r>
                <a:rPr kumimoji="0" lang="en-US" sz="1400" b="1" i="0" u="none" strike="noStrike" kern="1200" cap="none" spc="0" normalizeH="0" baseline="0" noProof="0" dirty="0">
                  <a:ln>
                    <a:noFill/>
                  </a:ln>
                  <a:solidFill>
                    <a:srgbClr val="008000"/>
                  </a:solidFill>
                  <a:effectLst/>
                  <a:uLnTx/>
                  <a:uFillTx/>
                  <a:latin typeface="Calibri"/>
                  <a:ea typeface="+mn-ea"/>
                  <a:cs typeface="+mn-cs"/>
                </a:rPr>
                <a:t>Gap variable</a:t>
              </a:r>
            </a:p>
            <a:p>
              <a:pPr marL="111125" marR="0" lvl="0" indent="-111125" algn="l" defTabSz="914400" rtl="0" eaLnBrk="1" fontAlgn="auto" latinLnBrk="0" hangingPunct="1">
                <a:lnSpc>
                  <a:spcPct val="100000"/>
                </a:lnSpc>
                <a:spcBef>
                  <a:spcPts val="0"/>
                </a:spcBef>
                <a:spcAft>
                  <a:spcPts val="0"/>
                </a:spcAft>
                <a:buClr>
                  <a:srgbClr val="008000"/>
                </a:buClr>
                <a:buSzTx/>
                <a:buFont typeface="Arial"/>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Gap fission gas concentration</a:t>
              </a:r>
            </a:p>
          </p:txBody>
        </p:sp>
      </p:grpSp>
      <p:grpSp>
        <p:nvGrpSpPr>
          <p:cNvPr id="40" name="Group 39">
            <a:extLst>
              <a:ext uri="{FF2B5EF4-FFF2-40B4-BE49-F238E27FC236}">
                <a16:creationId xmlns:a16="http://schemas.microsoft.com/office/drawing/2014/main" id="{E5E4697C-DCF5-3047-9B2D-149EF892E07A}"/>
              </a:ext>
            </a:extLst>
          </p:cNvPr>
          <p:cNvGrpSpPr/>
          <p:nvPr/>
        </p:nvGrpSpPr>
        <p:grpSpPr>
          <a:xfrm>
            <a:off x="1744386" y="2689324"/>
            <a:ext cx="9030011" cy="3877422"/>
            <a:chOff x="74612" y="2261120"/>
            <a:chExt cx="9030011" cy="3877422"/>
          </a:xfrm>
        </p:grpSpPr>
        <p:sp>
          <p:nvSpPr>
            <p:cNvPr id="41" name="Rounded Rectangle 40">
              <a:extLst>
                <a:ext uri="{FF2B5EF4-FFF2-40B4-BE49-F238E27FC236}">
                  <a16:creationId xmlns:a16="http://schemas.microsoft.com/office/drawing/2014/main" id="{B4F617B0-4FB5-8149-8FDF-A6322B1706A3}"/>
                </a:ext>
              </a:extLst>
            </p:cNvPr>
            <p:cNvSpPr/>
            <p:nvPr/>
          </p:nvSpPr>
          <p:spPr bwMode="auto">
            <a:xfrm>
              <a:off x="7649803" y="2889262"/>
              <a:ext cx="1188720" cy="363086"/>
            </a:xfrm>
            <a:prstGeom prst="roundRect">
              <a:avLst/>
            </a:pr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Grain growth</a:t>
              </a:r>
            </a:p>
          </p:txBody>
        </p:sp>
        <p:sp>
          <p:nvSpPr>
            <p:cNvPr id="42" name="Rounded Rectangle 41">
              <a:extLst>
                <a:ext uri="{FF2B5EF4-FFF2-40B4-BE49-F238E27FC236}">
                  <a16:creationId xmlns:a16="http://schemas.microsoft.com/office/drawing/2014/main" id="{54F20F49-3743-DD43-93A9-333518797C90}"/>
                </a:ext>
              </a:extLst>
            </p:cNvPr>
            <p:cNvSpPr/>
            <p:nvPr/>
          </p:nvSpPr>
          <p:spPr bwMode="auto">
            <a:xfrm>
              <a:off x="7649803" y="3879844"/>
              <a:ext cx="1188720" cy="539531"/>
            </a:xfrm>
            <a:prstGeom prst="roundRect">
              <a:avLst/>
            </a:pr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Defect prod. &amp; transport</a:t>
              </a:r>
            </a:p>
          </p:txBody>
        </p:sp>
        <p:sp>
          <p:nvSpPr>
            <p:cNvPr id="43" name="Rounded Rectangle 42">
              <a:extLst>
                <a:ext uri="{FF2B5EF4-FFF2-40B4-BE49-F238E27FC236}">
                  <a16:creationId xmlns:a16="http://schemas.microsoft.com/office/drawing/2014/main" id="{1301E9CD-8CF9-B147-AFA9-ED9BF7F3A0FB}"/>
                </a:ext>
              </a:extLst>
            </p:cNvPr>
            <p:cNvSpPr/>
            <p:nvPr/>
          </p:nvSpPr>
          <p:spPr bwMode="auto">
            <a:xfrm>
              <a:off x="7649803" y="4575740"/>
              <a:ext cx="1188720" cy="539531"/>
            </a:xfrm>
            <a:prstGeom prst="roundRect">
              <a:avLst/>
            </a:pr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Fission gas behavior</a:t>
              </a:r>
            </a:p>
          </p:txBody>
        </p:sp>
        <p:sp>
          <p:nvSpPr>
            <p:cNvPr id="44" name="Rounded Rectangle 43">
              <a:extLst>
                <a:ext uri="{FF2B5EF4-FFF2-40B4-BE49-F238E27FC236}">
                  <a16:creationId xmlns:a16="http://schemas.microsoft.com/office/drawing/2014/main" id="{2D27BEB4-5ECA-5E47-9001-D30FD00A84FD}"/>
                </a:ext>
              </a:extLst>
            </p:cNvPr>
            <p:cNvSpPr/>
            <p:nvPr/>
          </p:nvSpPr>
          <p:spPr bwMode="auto">
            <a:xfrm>
              <a:off x="7649803" y="5293346"/>
              <a:ext cx="1188720" cy="346398"/>
            </a:xfrm>
            <a:prstGeom prst="roundRect">
              <a:avLst/>
            </a:pr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square" lIns="0" tIns="45720" rIns="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Densification</a:t>
              </a:r>
            </a:p>
          </p:txBody>
        </p:sp>
        <p:sp>
          <p:nvSpPr>
            <p:cNvPr id="45" name="TextBox 44">
              <a:extLst>
                <a:ext uri="{FF2B5EF4-FFF2-40B4-BE49-F238E27FC236}">
                  <a16:creationId xmlns:a16="http://schemas.microsoft.com/office/drawing/2014/main" id="{F1032A4E-0F47-7641-AA7F-F1D2A75040D4}"/>
                </a:ext>
              </a:extLst>
            </p:cNvPr>
            <p:cNvSpPr txBox="1"/>
            <p:nvPr/>
          </p:nvSpPr>
          <p:spPr>
            <a:xfrm>
              <a:off x="7383703" y="2261120"/>
              <a:ext cx="1720920" cy="523220"/>
            </a:xfrm>
            <a:prstGeom prst="rect">
              <a:avLst/>
            </a:prstGeom>
            <a:solidFill>
              <a:schemeClr val="lt1">
                <a:alpha val="76000"/>
              </a:schemeClr>
            </a:solidFill>
            <a:ln>
              <a:noFill/>
            </a:ln>
          </p:spPr>
          <p:style>
            <a:lnRef idx="2">
              <a:schemeClr val="accent3"/>
            </a:lnRef>
            <a:fillRef idx="1">
              <a:schemeClr val="lt1"/>
            </a:fillRef>
            <a:effectRef idx="0">
              <a:schemeClr val="accent3"/>
            </a:effectRef>
            <a:fontRef idx="minor">
              <a:schemeClr val="dk1"/>
            </a:fontRef>
          </p:style>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497D"/>
                  </a:solidFill>
                  <a:effectLst/>
                  <a:uLnTx/>
                  <a:uFillTx/>
                  <a:latin typeface="Arial" charset="0"/>
                  <a:ea typeface="ＭＳ Ｐゴシック" charset="0"/>
                </a:rPr>
                <a:t>Microstructure evolution models</a:t>
              </a:r>
              <a:endParaRPr kumimoji="0" lang="en-US" sz="1400" b="0" i="0" u="none" strike="noStrike" kern="1200" cap="none" spc="0" normalizeH="0" baseline="0" noProof="0" dirty="0">
                <a:ln>
                  <a:noFill/>
                </a:ln>
                <a:solidFill>
                  <a:srgbClr val="1F497D"/>
                </a:solidFill>
                <a:effectLst/>
                <a:uLnTx/>
                <a:uFillTx/>
                <a:latin typeface="Arial" charset="0"/>
                <a:ea typeface="ＭＳ Ｐゴシック" charset="0"/>
              </a:endParaRPr>
            </a:p>
          </p:txBody>
        </p:sp>
        <p:sp>
          <p:nvSpPr>
            <p:cNvPr id="46" name="Rounded Rectangle 45">
              <a:extLst>
                <a:ext uri="{FF2B5EF4-FFF2-40B4-BE49-F238E27FC236}">
                  <a16:creationId xmlns:a16="http://schemas.microsoft.com/office/drawing/2014/main" id="{CB00379A-3041-E14D-A8C1-F8A4D1C0D133}"/>
                </a:ext>
              </a:extLst>
            </p:cNvPr>
            <p:cNvSpPr/>
            <p:nvPr/>
          </p:nvSpPr>
          <p:spPr bwMode="auto">
            <a:xfrm>
              <a:off x="7649803" y="3387898"/>
              <a:ext cx="1188720" cy="363086"/>
            </a:xfrm>
            <a:prstGeom prst="roundRect">
              <a:avLst/>
            </a:pr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Plasticity</a:t>
              </a:r>
            </a:p>
          </p:txBody>
        </p:sp>
        <p:sp>
          <p:nvSpPr>
            <p:cNvPr id="47" name="Rounded Rectangle 46">
              <a:extLst>
                <a:ext uri="{FF2B5EF4-FFF2-40B4-BE49-F238E27FC236}">
                  <a16:creationId xmlns:a16="http://schemas.microsoft.com/office/drawing/2014/main" id="{A8EDF7AD-94CB-4A45-9EBD-45182FAC86BF}"/>
                </a:ext>
              </a:extLst>
            </p:cNvPr>
            <p:cNvSpPr/>
            <p:nvPr/>
          </p:nvSpPr>
          <p:spPr bwMode="auto">
            <a:xfrm>
              <a:off x="340712" y="2889262"/>
              <a:ext cx="1188720" cy="363086"/>
            </a:xfrm>
            <a:prstGeom prst="roundRect">
              <a:avLst/>
            </a:prstGeom>
            <a:ln>
              <a:headEnd type="none" w="med" len="med"/>
              <a:tailEnd type="none" w="med" len="med"/>
            </a:ln>
          </p:spPr>
          <p:style>
            <a:lnRef idx="1">
              <a:schemeClr val="accent3"/>
            </a:lnRef>
            <a:fillRef idx="2">
              <a:schemeClr val="accent3"/>
            </a:fillRef>
            <a:effectRef idx="1">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Grain growth</a:t>
              </a:r>
            </a:p>
          </p:txBody>
        </p:sp>
        <p:sp>
          <p:nvSpPr>
            <p:cNvPr id="48" name="Rounded Rectangle 47">
              <a:extLst>
                <a:ext uri="{FF2B5EF4-FFF2-40B4-BE49-F238E27FC236}">
                  <a16:creationId xmlns:a16="http://schemas.microsoft.com/office/drawing/2014/main" id="{F36764AD-3838-554E-811F-B71EFBA0A32C}"/>
                </a:ext>
              </a:extLst>
            </p:cNvPr>
            <p:cNvSpPr/>
            <p:nvPr/>
          </p:nvSpPr>
          <p:spPr bwMode="auto">
            <a:xfrm>
              <a:off x="340712" y="3879844"/>
              <a:ext cx="1188720" cy="539531"/>
            </a:xfrm>
            <a:prstGeom prst="roundRect">
              <a:avLst/>
            </a:prstGeom>
            <a:ln>
              <a:headEnd type="none" w="med" len="med"/>
              <a:tailEnd type="none" w="med" len="med"/>
            </a:ln>
          </p:spPr>
          <p:style>
            <a:lnRef idx="1">
              <a:schemeClr val="accent3"/>
            </a:lnRef>
            <a:fillRef idx="2">
              <a:schemeClr val="accent3"/>
            </a:fillRef>
            <a:effectRef idx="1">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Defect prod. &amp; transport</a:t>
              </a:r>
            </a:p>
          </p:txBody>
        </p:sp>
        <p:sp>
          <p:nvSpPr>
            <p:cNvPr id="49" name="Rounded Rectangle 48">
              <a:extLst>
                <a:ext uri="{FF2B5EF4-FFF2-40B4-BE49-F238E27FC236}">
                  <a16:creationId xmlns:a16="http://schemas.microsoft.com/office/drawing/2014/main" id="{4BABB1E1-F5F3-1645-9A19-FA66AD970BBD}"/>
                </a:ext>
              </a:extLst>
            </p:cNvPr>
            <p:cNvSpPr/>
            <p:nvPr/>
          </p:nvSpPr>
          <p:spPr bwMode="auto">
            <a:xfrm>
              <a:off x="340712" y="4575740"/>
              <a:ext cx="1188720" cy="539531"/>
            </a:xfrm>
            <a:prstGeom prst="roundRect">
              <a:avLst/>
            </a:prstGeom>
            <a:ln>
              <a:headEnd type="none" w="med" len="med"/>
              <a:tailEnd type="none" w="med" len="med"/>
            </a:ln>
          </p:spPr>
          <p:style>
            <a:lnRef idx="1">
              <a:schemeClr val="accent3"/>
            </a:lnRef>
            <a:fillRef idx="2">
              <a:schemeClr val="accent3"/>
            </a:fillRef>
            <a:effectRef idx="1">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Hydrogen transport</a:t>
              </a:r>
            </a:p>
          </p:txBody>
        </p:sp>
        <p:sp>
          <p:nvSpPr>
            <p:cNvPr id="50" name="TextBox 49">
              <a:extLst>
                <a:ext uri="{FF2B5EF4-FFF2-40B4-BE49-F238E27FC236}">
                  <a16:creationId xmlns:a16="http://schemas.microsoft.com/office/drawing/2014/main" id="{BDFE879B-BB30-764B-BD71-9E19BEFCE22C}"/>
                </a:ext>
              </a:extLst>
            </p:cNvPr>
            <p:cNvSpPr txBox="1"/>
            <p:nvPr/>
          </p:nvSpPr>
          <p:spPr>
            <a:xfrm>
              <a:off x="74612" y="2261120"/>
              <a:ext cx="1720920" cy="523220"/>
            </a:xfrm>
            <a:prstGeom prst="rect">
              <a:avLst/>
            </a:prstGeom>
            <a:solidFill>
              <a:schemeClr val="lt1">
                <a:alpha val="76000"/>
              </a:schemeClr>
            </a:solidFill>
            <a:ln>
              <a:noFill/>
            </a:ln>
          </p:spPr>
          <p:style>
            <a:lnRef idx="2">
              <a:schemeClr val="accent3"/>
            </a:lnRef>
            <a:fillRef idx="1">
              <a:schemeClr val="lt1"/>
            </a:fillRef>
            <a:effectRef idx="0">
              <a:schemeClr val="accent3"/>
            </a:effectRef>
            <a:fontRef idx="minor">
              <a:schemeClr val="dk1"/>
            </a:fontRef>
          </p:style>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800000"/>
                  </a:solidFill>
                  <a:effectLst/>
                  <a:uLnTx/>
                  <a:uFillTx/>
                  <a:latin typeface="Arial" charset="0"/>
                  <a:ea typeface="ＭＳ Ｐゴシック" charset="0"/>
                </a:rPr>
                <a:t>Microstructure evolution models</a:t>
              </a:r>
              <a:endParaRPr kumimoji="0" lang="en-US" sz="1400" b="0" i="0" u="none" strike="noStrike" kern="1200" cap="none" spc="0" normalizeH="0" baseline="0" noProof="0" dirty="0">
                <a:ln>
                  <a:noFill/>
                </a:ln>
                <a:solidFill>
                  <a:srgbClr val="800000"/>
                </a:solidFill>
                <a:effectLst/>
                <a:uLnTx/>
                <a:uFillTx/>
                <a:latin typeface="Arial" charset="0"/>
                <a:ea typeface="ＭＳ Ｐゴシック" charset="0"/>
              </a:endParaRPr>
            </a:p>
          </p:txBody>
        </p:sp>
        <p:sp>
          <p:nvSpPr>
            <p:cNvPr id="51" name="Rounded Rectangle 50">
              <a:extLst>
                <a:ext uri="{FF2B5EF4-FFF2-40B4-BE49-F238E27FC236}">
                  <a16:creationId xmlns:a16="http://schemas.microsoft.com/office/drawing/2014/main" id="{E111B81B-9AAA-FF47-A7A4-78B8162247C3}"/>
                </a:ext>
              </a:extLst>
            </p:cNvPr>
            <p:cNvSpPr/>
            <p:nvPr/>
          </p:nvSpPr>
          <p:spPr bwMode="auto">
            <a:xfrm>
              <a:off x="340712" y="5236844"/>
              <a:ext cx="1188720" cy="474970"/>
            </a:xfrm>
            <a:prstGeom prst="roundRect">
              <a:avLst/>
            </a:prstGeom>
            <a:ln>
              <a:headEnd type="none" w="med" len="med"/>
              <a:tailEnd type="none" w="med" len="med"/>
            </a:ln>
          </p:spPr>
          <p:style>
            <a:lnRef idx="1">
              <a:schemeClr val="accent3"/>
            </a:lnRef>
            <a:fillRef idx="2">
              <a:schemeClr val="accent3"/>
            </a:fillRef>
            <a:effectRef idx="1">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Loop evolution</a:t>
              </a:r>
            </a:p>
          </p:txBody>
        </p:sp>
        <p:sp>
          <p:nvSpPr>
            <p:cNvPr id="52" name="Rounded Rectangle 51">
              <a:extLst>
                <a:ext uri="{FF2B5EF4-FFF2-40B4-BE49-F238E27FC236}">
                  <a16:creationId xmlns:a16="http://schemas.microsoft.com/office/drawing/2014/main" id="{0D102BE5-1A76-9647-9539-31D6753342F1}"/>
                </a:ext>
              </a:extLst>
            </p:cNvPr>
            <p:cNvSpPr/>
            <p:nvPr/>
          </p:nvSpPr>
          <p:spPr bwMode="auto">
            <a:xfrm>
              <a:off x="340712" y="3387898"/>
              <a:ext cx="1188720" cy="363086"/>
            </a:xfrm>
            <a:prstGeom prst="roundRect">
              <a:avLst/>
            </a:prstGeom>
            <a:ln>
              <a:headEnd type="none" w="med" len="med"/>
              <a:tailEnd type="none" w="med" len="med"/>
            </a:ln>
          </p:spPr>
          <p:style>
            <a:lnRef idx="1">
              <a:schemeClr val="accent3"/>
            </a:lnRef>
            <a:fillRef idx="2">
              <a:schemeClr val="accent3"/>
            </a:fillRef>
            <a:effectRef idx="1">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Plasticity</a:t>
              </a:r>
            </a:p>
          </p:txBody>
        </p:sp>
        <p:sp>
          <p:nvSpPr>
            <p:cNvPr id="53" name="Rounded Rectangle 52">
              <a:extLst>
                <a:ext uri="{FF2B5EF4-FFF2-40B4-BE49-F238E27FC236}">
                  <a16:creationId xmlns:a16="http://schemas.microsoft.com/office/drawing/2014/main" id="{FE694D2A-0C59-3E48-A374-EC59CCDB585E}"/>
                </a:ext>
              </a:extLst>
            </p:cNvPr>
            <p:cNvSpPr/>
            <p:nvPr/>
          </p:nvSpPr>
          <p:spPr bwMode="auto">
            <a:xfrm>
              <a:off x="7649803" y="5792144"/>
              <a:ext cx="1188720" cy="346398"/>
            </a:xfrm>
            <a:prstGeom prst="roundRect">
              <a:avLst/>
            </a:pr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square" lIns="0" tIns="45720" rIns="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Fracture</a:t>
              </a:r>
            </a:p>
          </p:txBody>
        </p:sp>
      </p:grpSp>
      <p:sp>
        <p:nvSpPr>
          <p:cNvPr id="54" name="Rectangle 53">
            <a:extLst>
              <a:ext uri="{FF2B5EF4-FFF2-40B4-BE49-F238E27FC236}">
                <a16:creationId xmlns:a16="http://schemas.microsoft.com/office/drawing/2014/main" id="{519D0A1C-ABA6-0441-B981-A48F18F2E21A}"/>
              </a:ext>
            </a:extLst>
          </p:cNvPr>
          <p:cNvSpPr/>
          <p:nvPr/>
        </p:nvSpPr>
        <p:spPr>
          <a:xfrm>
            <a:off x="1121099" y="1742186"/>
            <a:ext cx="10165270" cy="369332"/>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Structure/property relationships connect the microstructure variables to the property values</a:t>
            </a:r>
          </a:p>
        </p:txBody>
      </p:sp>
      <p:grpSp>
        <p:nvGrpSpPr>
          <p:cNvPr id="61" name="Group 60">
            <a:extLst>
              <a:ext uri="{FF2B5EF4-FFF2-40B4-BE49-F238E27FC236}">
                <a16:creationId xmlns:a16="http://schemas.microsoft.com/office/drawing/2014/main" id="{4808F3B8-381F-9743-8A33-E83169CD1DD9}"/>
              </a:ext>
            </a:extLst>
          </p:cNvPr>
          <p:cNvGrpSpPr/>
          <p:nvPr/>
        </p:nvGrpSpPr>
        <p:grpSpPr>
          <a:xfrm>
            <a:off x="15680" y="2756291"/>
            <a:ext cx="1622407" cy="3600060"/>
            <a:chOff x="74612" y="2261120"/>
            <a:chExt cx="1720920" cy="3523832"/>
          </a:xfrm>
        </p:grpSpPr>
        <p:sp>
          <p:nvSpPr>
            <p:cNvPr id="55" name="Rounded Rectangle 54">
              <a:extLst>
                <a:ext uri="{FF2B5EF4-FFF2-40B4-BE49-F238E27FC236}">
                  <a16:creationId xmlns:a16="http://schemas.microsoft.com/office/drawing/2014/main" id="{4AA0C3C7-36C0-D14C-B025-524921025AD3}"/>
                </a:ext>
              </a:extLst>
            </p:cNvPr>
            <p:cNvSpPr/>
            <p:nvPr/>
          </p:nvSpPr>
          <p:spPr bwMode="auto">
            <a:xfrm>
              <a:off x="340712" y="2783338"/>
              <a:ext cx="1188720" cy="484837"/>
            </a:xfrm>
            <a:prstGeom prst="roundRect">
              <a:avLst/>
            </a:prstGeom>
            <a:ln>
              <a:headEnd type="none" w="med" len="med"/>
              <a:tailEnd type="none" w="med" len="med"/>
            </a:ln>
          </p:spPr>
          <p:style>
            <a:lnRef idx="1">
              <a:schemeClr val="accent3"/>
            </a:lnRef>
            <a:fillRef idx="3">
              <a:schemeClr val="accent3"/>
            </a:fillRef>
            <a:effectRef idx="2">
              <a:schemeClr val="accent3"/>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a:ea typeface="+mn-ea"/>
                  <a:cs typeface="+mn-cs"/>
                </a:rPr>
                <a:t>Elasticity tensor</a:t>
              </a:r>
            </a:p>
          </p:txBody>
        </p:sp>
        <p:sp>
          <p:nvSpPr>
            <p:cNvPr id="56" name="Rounded Rectangle 55">
              <a:extLst>
                <a:ext uri="{FF2B5EF4-FFF2-40B4-BE49-F238E27FC236}">
                  <a16:creationId xmlns:a16="http://schemas.microsoft.com/office/drawing/2014/main" id="{A3CB46FE-1B97-5F47-AE67-08CE8ADFC6DB}"/>
                </a:ext>
              </a:extLst>
            </p:cNvPr>
            <p:cNvSpPr/>
            <p:nvPr/>
          </p:nvSpPr>
          <p:spPr bwMode="auto">
            <a:xfrm>
              <a:off x="340712" y="3995521"/>
              <a:ext cx="1188720" cy="539531"/>
            </a:xfrm>
            <a:prstGeom prst="roundRect">
              <a:avLst/>
            </a:prstGeom>
            <a:ln>
              <a:headEnd type="none" w="med" len="med"/>
              <a:tailEnd type="none" w="med" len="med"/>
            </a:ln>
          </p:spPr>
          <p:style>
            <a:lnRef idx="1">
              <a:schemeClr val="accent3"/>
            </a:lnRef>
            <a:fillRef idx="3">
              <a:schemeClr val="accent3"/>
            </a:fillRef>
            <a:effectRef idx="2">
              <a:schemeClr val="accent3"/>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a:ea typeface="+mn-ea"/>
                  <a:cs typeface="+mn-cs"/>
                </a:rPr>
                <a:t>Thermal conductivity</a:t>
              </a:r>
            </a:p>
          </p:txBody>
        </p:sp>
        <p:sp>
          <p:nvSpPr>
            <p:cNvPr id="57" name="Rounded Rectangle 56">
              <a:extLst>
                <a:ext uri="{FF2B5EF4-FFF2-40B4-BE49-F238E27FC236}">
                  <a16:creationId xmlns:a16="http://schemas.microsoft.com/office/drawing/2014/main" id="{D6C079BE-8AFE-A648-B627-72EF7FAADFD7}"/>
                </a:ext>
              </a:extLst>
            </p:cNvPr>
            <p:cNvSpPr/>
            <p:nvPr/>
          </p:nvSpPr>
          <p:spPr bwMode="auto">
            <a:xfrm>
              <a:off x="340712" y="4652752"/>
              <a:ext cx="1188720" cy="539531"/>
            </a:xfrm>
            <a:prstGeom prst="roundRect">
              <a:avLst/>
            </a:prstGeom>
            <a:ln>
              <a:headEnd type="none" w="med" len="med"/>
              <a:tailEnd type="none" w="med" len="med"/>
            </a:ln>
          </p:spPr>
          <p:style>
            <a:lnRef idx="1">
              <a:schemeClr val="accent3"/>
            </a:lnRef>
            <a:fillRef idx="3">
              <a:schemeClr val="accent3"/>
            </a:fillRef>
            <a:effectRef idx="2">
              <a:schemeClr val="accent3"/>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a:ea typeface="+mn-ea"/>
                  <a:cs typeface="+mn-cs"/>
                </a:rPr>
                <a:t>Failure criteria</a:t>
              </a:r>
            </a:p>
          </p:txBody>
        </p:sp>
        <p:sp>
          <p:nvSpPr>
            <p:cNvPr id="58" name="Rounded Rectangle 57">
              <a:extLst>
                <a:ext uri="{FF2B5EF4-FFF2-40B4-BE49-F238E27FC236}">
                  <a16:creationId xmlns:a16="http://schemas.microsoft.com/office/drawing/2014/main" id="{9CF43F6C-D872-E24E-B471-9377C128ED74}"/>
                </a:ext>
              </a:extLst>
            </p:cNvPr>
            <p:cNvSpPr/>
            <p:nvPr/>
          </p:nvSpPr>
          <p:spPr bwMode="auto">
            <a:xfrm>
              <a:off x="340712" y="5309982"/>
              <a:ext cx="1188720" cy="474970"/>
            </a:xfrm>
            <a:prstGeom prst="roundRect">
              <a:avLst/>
            </a:prstGeom>
            <a:ln>
              <a:headEnd type="none" w="med" len="med"/>
              <a:tailEnd type="none" w="med" len="med"/>
            </a:ln>
          </p:spPr>
          <p:style>
            <a:lnRef idx="1">
              <a:schemeClr val="accent3"/>
            </a:lnRef>
            <a:fillRef idx="3">
              <a:schemeClr val="accent3"/>
            </a:fillRef>
            <a:effectRef idx="2">
              <a:schemeClr val="accent3"/>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a:ea typeface="+mn-ea"/>
                  <a:cs typeface="+mn-cs"/>
                </a:rPr>
                <a:t>Dimensional change</a:t>
              </a:r>
            </a:p>
          </p:txBody>
        </p:sp>
        <p:sp>
          <p:nvSpPr>
            <p:cNvPr id="59" name="Rounded Rectangle 58">
              <a:extLst>
                <a:ext uri="{FF2B5EF4-FFF2-40B4-BE49-F238E27FC236}">
                  <a16:creationId xmlns:a16="http://schemas.microsoft.com/office/drawing/2014/main" id="{8E7B8CFE-76F7-3344-B1C5-C08E0DA040E0}"/>
                </a:ext>
              </a:extLst>
            </p:cNvPr>
            <p:cNvSpPr/>
            <p:nvPr/>
          </p:nvSpPr>
          <p:spPr bwMode="auto">
            <a:xfrm>
              <a:off x="340712" y="3385875"/>
              <a:ext cx="1188720" cy="491946"/>
            </a:xfrm>
            <a:prstGeom prst="roundRect">
              <a:avLst/>
            </a:prstGeom>
            <a:ln>
              <a:headEnd type="none" w="med" len="med"/>
              <a:tailEnd type="none" w="med" len="med"/>
            </a:ln>
          </p:spPr>
          <p:style>
            <a:lnRef idx="1">
              <a:schemeClr val="accent3"/>
            </a:lnRef>
            <a:fillRef idx="3">
              <a:schemeClr val="accent3"/>
            </a:fillRef>
            <a:effectRef idx="2">
              <a:schemeClr val="accent3"/>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a:ea typeface="+mn-ea"/>
                  <a:cs typeface="+mn-cs"/>
                </a:rPr>
                <a:t>Yield stress</a:t>
              </a:r>
            </a:p>
          </p:txBody>
        </p:sp>
        <p:sp>
          <p:nvSpPr>
            <p:cNvPr id="60" name="TextBox 59">
              <a:extLst>
                <a:ext uri="{FF2B5EF4-FFF2-40B4-BE49-F238E27FC236}">
                  <a16:creationId xmlns:a16="http://schemas.microsoft.com/office/drawing/2014/main" id="{01088076-EDF9-3B4B-ADBD-4ED1BFE54B6C}"/>
                </a:ext>
              </a:extLst>
            </p:cNvPr>
            <p:cNvSpPr txBox="1"/>
            <p:nvPr/>
          </p:nvSpPr>
          <p:spPr>
            <a:xfrm>
              <a:off x="74612" y="2261120"/>
              <a:ext cx="1720920" cy="478116"/>
            </a:xfrm>
            <a:prstGeom prst="rect">
              <a:avLst/>
            </a:prstGeom>
            <a:solidFill>
              <a:schemeClr val="lt1">
                <a:alpha val="76000"/>
              </a:schemeClr>
            </a:solidFill>
            <a:ln>
              <a:noFill/>
            </a:ln>
          </p:spPr>
          <p:style>
            <a:lnRef idx="2">
              <a:schemeClr val="accent3"/>
            </a:lnRef>
            <a:fillRef idx="1">
              <a:schemeClr val="lt1"/>
            </a:fillRef>
            <a:effectRef idx="0">
              <a:schemeClr val="accent3"/>
            </a:effectRef>
            <a:fontRef idx="minor">
              <a:schemeClr val="dk1"/>
            </a:fontRef>
          </p:style>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800000"/>
                  </a:solidFill>
                  <a:effectLst/>
                  <a:uLnTx/>
                  <a:uFillTx/>
                  <a:latin typeface="Arial" charset="0"/>
                  <a:ea typeface="ＭＳ Ｐゴシック" charset="0"/>
                </a:rPr>
                <a:t>Cladding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800000"/>
                  </a:solidFill>
                  <a:effectLst/>
                  <a:uLnTx/>
                  <a:uFillTx/>
                  <a:latin typeface="Arial" charset="0"/>
                  <a:ea typeface="ＭＳ Ｐゴシック" charset="0"/>
                </a:rPr>
                <a:t>Property values</a:t>
              </a:r>
              <a:endParaRPr kumimoji="0" lang="en-US" sz="1200" b="0" i="0" u="none" strike="noStrike" kern="1200" cap="none" spc="0" normalizeH="0" baseline="0" noProof="0" dirty="0">
                <a:ln>
                  <a:noFill/>
                </a:ln>
                <a:solidFill>
                  <a:srgbClr val="800000"/>
                </a:solidFill>
                <a:effectLst/>
                <a:uLnTx/>
                <a:uFillTx/>
                <a:latin typeface="Arial" charset="0"/>
                <a:ea typeface="ＭＳ Ｐゴシック" charset="0"/>
              </a:endParaRPr>
            </a:p>
          </p:txBody>
        </p:sp>
      </p:grpSp>
      <p:grpSp>
        <p:nvGrpSpPr>
          <p:cNvPr id="69" name="Group 68">
            <a:extLst>
              <a:ext uri="{FF2B5EF4-FFF2-40B4-BE49-F238E27FC236}">
                <a16:creationId xmlns:a16="http://schemas.microsoft.com/office/drawing/2014/main" id="{15AE8BF6-F2AD-6B4B-A12F-AC6D1AE7E248}"/>
              </a:ext>
            </a:extLst>
          </p:cNvPr>
          <p:cNvGrpSpPr/>
          <p:nvPr/>
        </p:nvGrpSpPr>
        <p:grpSpPr>
          <a:xfrm>
            <a:off x="10710476" y="2623868"/>
            <a:ext cx="1481524" cy="4043220"/>
            <a:chOff x="7491645" y="2261120"/>
            <a:chExt cx="1566190" cy="4084720"/>
          </a:xfrm>
        </p:grpSpPr>
        <p:sp>
          <p:nvSpPr>
            <p:cNvPr id="62" name="Rounded Rectangle 61">
              <a:extLst>
                <a:ext uri="{FF2B5EF4-FFF2-40B4-BE49-F238E27FC236}">
                  <a16:creationId xmlns:a16="http://schemas.microsoft.com/office/drawing/2014/main" id="{896D47A9-3F74-704A-B09A-B5D75E828959}"/>
                </a:ext>
              </a:extLst>
            </p:cNvPr>
            <p:cNvSpPr/>
            <p:nvPr/>
          </p:nvSpPr>
          <p:spPr bwMode="auto">
            <a:xfrm>
              <a:off x="7784515" y="2783338"/>
              <a:ext cx="1180994" cy="469010"/>
            </a:xfrm>
            <a:prstGeom prst="roundRect">
              <a:avLst/>
            </a:prstGeom>
            <a:ln>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Elasticity tensor</a:t>
              </a:r>
            </a:p>
          </p:txBody>
        </p:sp>
        <p:sp>
          <p:nvSpPr>
            <p:cNvPr id="63" name="Rounded Rectangle 62">
              <a:extLst>
                <a:ext uri="{FF2B5EF4-FFF2-40B4-BE49-F238E27FC236}">
                  <a16:creationId xmlns:a16="http://schemas.microsoft.com/office/drawing/2014/main" id="{B7A716BC-E92A-924B-B9D9-F56DC4C4BB81}"/>
                </a:ext>
              </a:extLst>
            </p:cNvPr>
            <p:cNvSpPr/>
            <p:nvPr/>
          </p:nvSpPr>
          <p:spPr bwMode="auto">
            <a:xfrm>
              <a:off x="7780652" y="3973312"/>
              <a:ext cx="1188720" cy="539531"/>
            </a:xfrm>
            <a:prstGeom prst="roundRect">
              <a:avLst/>
            </a:prstGeom>
            <a:ln>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Fracture stress</a:t>
              </a:r>
            </a:p>
          </p:txBody>
        </p:sp>
        <p:sp>
          <p:nvSpPr>
            <p:cNvPr id="64" name="Rounded Rectangle 63">
              <a:extLst>
                <a:ext uri="{FF2B5EF4-FFF2-40B4-BE49-F238E27FC236}">
                  <a16:creationId xmlns:a16="http://schemas.microsoft.com/office/drawing/2014/main" id="{2BAF1FEB-000C-DD4B-8C66-33146B157A58}"/>
                </a:ext>
              </a:extLst>
            </p:cNvPr>
            <p:cNvSpPr/>
            <p:nvPr/>
          </p:nvSpPr>
          <p:spPr bwMode="auto">
            <a:xfrm>
              <a:off x="7780652" y="4627352"/>
              <a:ext cx="1188720" cy="539531"/>
            </a:xfrm>
            <a:prstGeom prst="roundRect">
              <a:avLst/>
            </a:prstGeom>
            <a:ln>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Melting temperature</a:t>
              </a:r>
            </a:p>
          </p:txBody>
        </p:sp>
        <p:sp>
          <p:nvSpPr>
            <p:cNvPr id="65" name="Rounded Rectangle 64">
              <a:extLst>
                <a:ext uri="{FF2B5EF4-FFF2-40B4-BE49-F238E27FC236}">
                  <a16:creationId xmlns:a16="http://schemas.microsoft.com/office/drawing/2014/main" id="{B9B56DBC-E3CC-C24D-B0AA-E60957D733D0}"/>
                </a:ext>
              </a:extLst>
            </p:cNvPr>
            <p:cNvSpPr/>
            <p:nvPr/>
          </p:nvSpPr>
          <p:spPr bwMode="auto">
            <a:xfrm>
              <a:off x="7780652" y="5870870"/>
              <a:ext cx="1188720" cy="474970"/>
            </a:xfrm>
            <a:prstGeom prst="roundRect">
              <a:avLst/>
            </a:prstGeom>
            <a:ln>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Dimensional change</a:t>
              </a:r>
            </a:p>
          </p:txBody>
        </p:sp>
        <p:sp>
          <p:nvSpPr>
            <p:cNvPr id="66" name="Rounded Rectangle 65">
              <a:extLst>
                <a:ext uri="{FF2B5EF4-FFF2-40B4-BE49-F238E27FC236}">
                  <a16:creationId xmlns:a16="http://schemas.microsoft.com/office/drawing/2014/main" id="{D6CEC3F9-722F-7842-A28D-B420132A5D99}"/>
                </a:ext>
              </a:extLst>
            </p:cNvPr>
            <p:cNvSpPr/>
            <p:nvPr/>
          </p:nvSpPr>
          <p:spPr bwMode="auto">
            <a:xfrm>
              <a:off x="7780652" y="3366857"/>
              <a:ext cx="1188720" cy="491946"/>
            </a:xfrm>
            <a:prstGeom prst="roundRect">
              <a:avLst/>
            </a:prstGeom>
            <a:ln>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Thermal conductivity</a:t>
              </a:r>
            </a:p>
          </p:txBody>
        </p:sp>
        <p:sp>
          <p:nvSpPr>
            <p:cNvPr id="67" name="Rounded Rectangle 66">
              <a:extLst>
                <a:ext uri="{FF2B5EF4-FFF2-40B4-BE49-F238E27FC236}">
                  <a16:creationId xmlns:a16="http://schemas.microsoft.com/office/drawing/2014/main" id="{7E26D34C-100B-C14E-BAC2-9C68B9671144}"/>
                </a:ext>
              </a:extLst>
            </p:cNvPr>
            <p:cNvSpPr/>
            <p:nvPr/>
          </p:nvSpPr>
          <p:spPr bwMode="auto">
            <a:xfrm>
              <a:off x="7780652" y="5281392"/>
              <a:ext cx="1188720" cy="474970"/>
            </a:xfrm>
            <a:prstGeom prst="roundRect">
              <a:avLst/>
            </a:prstGeom>
            <a:ln>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Diffusion constants</a:t>
              </a:r>
            </a:p>
          </p:txBody>
        </p:sp>
        <p:sp>
          <p:nvSpPr>
            <p:cNvPr id="68" name="TextBox 67">
              <a:extLst>
                <a:ext uri="{FF2B5EF4-FFF2-40B4-BE49-F238E27FC236}">
                  <a16:creationId xmlns:a16="http://schemas.microsoft.com/office/drawing/2014/main" id="{85C692FF-EEB8-544E-936E-33E6125BD04E}"/>
                </a:ext>
              </a:extLst>
            </p:cNvPr>
            <p:cNvSpPr txBox="1"/>
            <p:nvPr/>
          </p:nvSpPr>
          <p:spPr>
            <a:xfrm>
              <a:off x="7491645" y="2261120"/>
              <a:ext cx="1566190" cy="466404"/>
            </a:xfrm>
            <a:prstGeom prst="rect">
              <a:avLst/>
            </a:prstGeom>
            <a:solidFill>
              <a:schemeClr val="lt1">
                <a:alpha val="76000"/>
              </a:schemeClr>
            </a:solidFill>
            <a:ln>
              <a:noFill/>
            </a:ln>
          </p:spPr>
          <p:style>
            <a:lnRef idx="2">
              <a:schemeClr val="accent3"/>
            </a:lnRef>
            <a:fillRef idx="1">
              <a:schemeClr val="lt1"/>
            </a:fillRef>
            <a:effectRef idx="0">
              <a:schemeClr val="accent3"/>
            </a:effectRef>
            <a:fontRef idx="minor">
              <a:schemeClr val="dk1"/>
            </a:fontRef>
          </p:style>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497D"/>
                  </a:solidFill>
                  <a:effectLst/>
                  <a:uLnTx/>
                  <a:uFillTx/>
                  <a:latin typeface="Arial" charset="0"/>
                  <a:ea typeface="ＭＳ Ｐゴシック" charset="0"/>
                </a:rPr>
                <a:t>Fuel </a:t>
              </a:r>
              <a:br>
                <a:rPr kumimoji="0" lang="en-US" sz="1200" b="1" i="0" u="none" strike="noStrike" kern="1200" cap="none" spc="0" normalizeH="0" baseline="0" noProof="0" dirty="0">
                  <a:ln>
                    <a:noFill/>
                  </a:ln>
                  <a:solidFill>
                    <a:srgbClr val="1F497D"/>
                  </a:solidFill>
                  <a:effectLst/>
                  <a:uLnTx/>
                  <a:uFillTx/>
                  <a:latin typeface="Arial" charset="0"/>
                  <a:ea typeface="ＭＳ Ｐゴシック" charset="0"/>
                </a:rPr>
              </a:br>
              <a:r>
                <a:rPr kumimoji="0" lang="en-US" sz="1200" b="1" i="0" u="none" strike="noStrike" kern="1200" cap="none" spc="0" normalizeH="0" baseline="0" noProof="0" dirty="0">
                  <a:ln>
                    <a:noFill/>
                  </a:ln>
                  <a:solidFill>
                    <a:srgbClr val="1F497D"/>
                  </a:solidFill>
                  <a:effectLst/>
                  <a:uLnTx/>
                  <a:uFillTx/>
                  <a:latin typeface="Arial" charset="0"/>
                  <a:ea typeface="ＭＳ Ｐゴシック" charset="0"/>
                </a:rPr>
                <a:t>Property values</a:t>
              </a:r>
              <a:endParaRPr kumimoji="0" lang="en-US" sz="1200" b="0" i="0" u="none" strike="noStrike" kern="1200" cap="none" spc="0" normalizeH="0" baseline="0" noProof="0" dirty="0">
                <a:ln>
                  <a:noFill/>
                </a:ln>
                <a:solidFill>
                  <a:srgbClr val="1F497D"/>
                </a:solidFill>
                <a:effectLst/>
                <a:uLnTx/>
                <a:uFillTx/>
                <a:latin typeface="Arial" charset="0"/>
                <a:ea typeface="ＭＳ Ｐゴシック" charset="0"/>
              </a:endParaRPr>
            </a:p>
          </p:txBody>
        </p:sp>
      </p:grpSp>
    </p:spTree>
    <p:extLst>
      <p:ext uri="{BB962C8B-B14F-4D97-AF65-F5344CB8AC3E}">
        <p14:creationId xmlns:p14="http://schemas.microsoft.com/office/powerpoint/2010/main" val="19454943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0DB80-B7E2-514E-96D7-D7854F856644}"/>
              </a:ext>
            </a:extLst>
          </p:cNvPr>
          <p:cNvSpPr>
            <a:spLocks noGrp="1"/>
          </p:cNvSpPr>
          <p:nvPr>
            <p:ph type="title"/>
          </p:nvPr>
        </p:nvSpPr>
        <p:spPr/>
        <p:txBody>
          <a:bodyPr/>
          <a:lstStyle/>
          <a:p>
            <a:r>
              <a:rPr lang="en-US" dirty="0"/>
              <a:t>Example: fission gas behavior in the fuel</a:t>
            </a:r>
          </a:p>
        </p:txBody>
      </p:sp>
      <p:sp>
        <p:nvSpPr>
          <p:cNvPr id="3" name="Content Placeholder 2">
            <a:extLst>
              <a:ext uri="{FF2B5EF4-FFF2-40B4-BE49-F238E27FC236}">
                <a16:creationId xmlns:a16="http://schemas.microsoft.com/office/drawing/2014/main" id="{6222C8A9-2E1F-474E-81CE-D8FB6A8B8178}"/>
              </a:ext>
            </a:extLst>
          </p:cNvPr>
          <p:cNvSpPr>
            <a:spLocks noGrp="1"/>
          </p:cNvSpPr>
          <p:nvPr>
            <p:ph idx="1"/>
          </p:nvPr>
        </p:nvSpPr>
        <p:spPr>
          <a:xfrm>
            <a:off x="609600" y="2160494"/>
            <a:ext cx="3846944" cy="4349635"/>
          </a:xfrm>
        </p:spPr>
        <p:txBody>
          <a:bodyPr>
            <a:normAutofit fontScale="92500" lnSpcReduction="20000"/>
          </a:bodyPr>
          <a:lstStyle/>
          <a:p>
            <a:r>
              <a:rPr lang="en-US" dirty="0"/>
              <a:t>Take into account a finite set of variables to describe the state of the material</a:t>
            </a:r>
          </a:p>
          <a:p>
            <a:r>
              <a:rPr lang="en-US" dirty="0"/>
              <a:t>Utilize a mechanistic model of fission gas behavior to predict the evolution of the microstructure</a:t>
            </a:r>
          </a:p>
          <a:p>
            <a:r>
              <a:rPr lang="en-US" dirty="0"/>
              <a:t>Utilize this updated microstructure to inform a number of structure/property relationships</a:t>
            </a:r>
          </a:p>
        </p:txBody>
      </p:sp>
      <p:sp>
        <p:nvSpPr>
          <p:cNvPr id="4" name="Slide Number Placeholder 3">
            <a:extLst>
              <a:ext uri="{FF2B5EF4-FFF2-40B4-BE49-F238E27FC236}">
                <a16:creationId xmlns:a16="http://schemas.microsoft.com/office/drawing/2014/main" id="{C6988773-D011-7540-A2FD-8C6ED662489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grpSp>
        <p:nvGrpSpPr>
          <p:cNvPr id="24" name="Group 23">
            <a:extLst>
              <a:ext uri="{FF2B5EF4-FFF2-40B4-BE49-F238E27FC236}">
                <a16:creationId xmlns:a16="http://schemas.microsoft.com/office/drawing/2014/main" id="{E1A28F25-5A98-AD43-A02A-8A45379A691B}"/>
              </a:ext>
            </a:extLst>
          </p:cNvPr>
          <p:cNvGrpSpPr/>
          <p:nvPr/>
        </p:nvGrpSpPr>
        <p:grpSpPr>
          <a:xfrm>
            <a:off x="4601817" y="1861378"/>
            <a:ext cx="7187183" cy="4494973"/>
            <a:chOff x="3364224" y="1591066"/>
            <a:chExt cx="8662299" cy="4977481"/>
          </a:xfrm>
        </p:grpSpPr>
        <p:pic>
          <p:nvPicPr>
            <p:cNvPr id="5" name="Picture 7" descr="temp_3Dslice.png">
              <a:extLst>
                <a:ext uri="{FF2B5EF4-FFF2-40B4-BE49-F238E27FC236}">
                  <a16:creationId xmlns:a16="http://schemas.microsoft.com/office/drawing/2014/main" id="{63567100-E11B-7048-9524-73D29247FC88}"/>
                </a:ext>
              </a:extLst>
            </p:cNvPr>
            <p:cNvPicPr>
              <a:picLocks noChangeAspect="1"/>
            </p:cNvPicPr>
            <p:nvPr/>
          </p:nvPicPr>
          <p:blipFill>
            <a:blip r:embed="rId2" cstate="screen">
              <a:alphaModFix amt="49000"/>
              <a:extLst>
                <a:ext uri="{28A0092B-C50C-407E-A947-70E740481C1C}">
                  <a14:useLocalDpi xmlns:a14="http://schemas.microsoft.com/office/drawing/2010/main"/>
                </a:ext>
              </a:extLst>
            </a:blip>
            <a:srcRect/>
            <a:stretch>
              <a:fillRect/>
            </a:stretch>
          </p:blipFill>
          <p:spPr bwMode="auto">
            <a:xfrm>
              <a:off x="3364224" y="1591066"/>
              <a:ext cx="1257913" cy="2511801"/>
            </a:xfrm>
            <a:prstGeom prst="rect">
              <a:avLst/>
            </a:prstGeom>
            <a:noFill/>
            <a:ln>
              <a:noFill/>
            </a:ln>
            <a:extLst>
              <a:ext uri="{909E8E84-426E-40dd-AFC4-6F175D3DCCD1}">
                <a14:hiddenFill xmlns="" xmlns:a14="http://schemas.microsoft.com/office/drawing/2010/main">
                  <a:solidFill>
                    <a:srgbClr val="FFFFFF">
                      <a:alpha val="49001"/>
                    </a:srgbClr>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 name="Rounded Rectangle 5">
              <a:extLst>
                <a:ext uri="{FF2B5EF4-FFF2-40B4-BE49-F238E27FC236}">
                  <a16:creationId xmlns:a16="http://schemas.microsoft.com/office/drawing/2014/main" id="{49A4D554-E237-6242-9FF4-1F85E9983491}"/>
                </a:ext>
              </a:extLst>
            </p:cNvPr>
            <p:cNvSpPr/>
            <p:nvPr/>
          </p:nvSpPr>
          <p:spPr bwMode="auto">
            <a:xfrm>
              <a:off x="4269126" y="4338055"/>
              <a:ext cx="1491386" cy="668516"/>
            </a:xfrm>
            <a:prstGeom prst="roundRect">
              <a:avLst/>
            </a:pr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Calibri"/>
                  <a:ea typeface="+mn-ea"/>
                  <a:cs typeface="+mn-cs"/>
                </a:rPr>
                <a:t>Model of fission gas behavior</a:t>
              </a:r>
            </a:p>
          </p:txBody>
        </p:sp>
        <p:grpSp>
          <p:nvGrpSpPr>
            <p:cNvPr id="7" name="Group 6">
              <a:extLst>
                <a:ext uri="{FF2B5EF4-FFF2-40B4-BE49-F238E27FC236}">
                  <a16:creationId xmlns:a16="http://schemas.microsoft.com/office/drawing/2014/main" id="{E60220B5-C353-3843-9E85-0692355A8FAC}"/>
                </a:ext>
              </a:extLst>
            </p:cNvPr>
            <p:cNvGrpSpPr/>
            <p:nvPr/>
          </p:nvGrpSpPr>
          <p:grpSpPr>
            <a:xfrm>
              <a:off x="4203324" y="1944902"/>
              <a:ext cx="5574890" cy="364342"/>
              <a:chOff x="943289" y="1785876"/>
              <a:chExt cx="5574890" cy="364342"/>
            </a:xfrm>
          </p:grpSpPr>
          <p:sp>
            <p:nvSpPr>
              <p:cNvPr id="8" name="Rectangle 7">
                <a:extLst>
                  <a:ext uri="{FF2B5EF4-FFF2-40B4-BE49-F238E27FC236}">
                    <a16:creationId xmlns:a16="http://schemas.microsoft.com/office/drawing/2014/main" id="{5A14CAFE-7E69-4C46-B29D-B7C7A0428980}"/>
                  </a:ext>
                </a:extLst>
              </p:cNvPr>
              <p:cNvSpPr/>
              <p:nvPr/>
            </p:nvSpPr>
            <p:spPr>
              <a:xfrm>
                <a:off x="943289" y="1888459"/>
                <a:ext cx="65802" cy="98700"/>
              </a:xfrm>
              <a:prstGeom prst="rect">
                <a:avLst/>
              </a:prstGeom>
              <a:noFill/>
              <a:ln w="19050" cmpd="sng"/>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2B38576B-F49E-3A4C-8CDB-3B3EF901AF23}"/>
                  </a:ext>
                </a:extLst>
              </p:cNvPr>
              <p:cNvSpPr txBox="1"/>
              <p:nvPr/>
            </p:nvSpPr>
            <p:spPr>
              <a:xfrm>
                <a:off x="1184180" y="1793000"/>
                <a:ext cx="1121303" cy="281173"/>
              </a:xfrm>
              <a:prstGeom prst="rect">
                <a:avLst/>
              </a:prstGeom>
              <a:noFill/>
              <a:ln>
                <a:noFill/>
              </a:ln>
            </p:spPr>
            <p:style>
              <a:lnRef idx="2">
                <a:schemeClr val="accent3"/>
              </a:lnRef>
              <a:fillRef idx="1">
                <a:schemeClr val="lt1"/>
              </a:fillRef>
              <a:effectRef idx="0">
                <a:schemeClr val="accent3"/>
              </a:effectRef>
              <a:fontRef idx="minor">
                <a:schemeClr val="dk1"/>
              </a:fontRef>
            </p:style>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4F81BD"/>
                    </a:solidFill>
                    <a:effectLst/>
                    <a:uLnTx/>
                    <a:uFillTx/>
                    <a:latin typeface="Arial" charset="0"/>
                    <a:ea typeface="ＭＳ Ｐゴシック" charset="0"/>
                  </a:rPr>
                  <a:t>Variables</a:t>
                </a:r>
                <a:endParaRPr kumimoji="0" lang="en-US" sz="1050" b="0" i="0" u="none" strike="noStrike" kern="1200" cap="none" spc="0" normalizeH="0" baseline="0" noProof="0" dirty="0">
                  <a:ln>
                    <a:noFill/>
                  </a:ln>
                  <a:solidFill>
                    <a:srgbClr val="4F81BD"/>
                  </a:solidFill>
                  <a:effectLst/>
                  <a:uLnTx/>
                  <a:uFillTx/>
                  <a:latin typeface="Arial" charset="0"/>
                  <a:ea typeface="ＭＳ Ｐゴシック" charset="0"/>
                </a:endParaRPr>
              </a:p>
            </p:txBody>
          </p:sp>
          <p:sp>
            <p:nvSpPr>
              <p:cNvPr id="10" name="Rounded Rectangle 9">
                <a:extLst>
                  <a:ext uri="{FF2B5EF4-FFF2-40B4-BE49-F238E27FC236}">
                    <a16:creationId xmlns:a16="http://schemas.microsoft.com/office/drawing/2014/main" id="{7E0D222D-8213-5E45-8B8A-99138BADD24C}"/>
                  </a:ext>
                </a:extLst>
              </p:cNvPr>
              <p:cNvSpPr/>
              <p:nvPr/>
            </p:nvSpPr>
            <p:spPr bwMode="auto">
              <a:xfrm>
                <a:off x="2273839" y="1785876"/>
                <a:ext cx="1424940" cy="363086"/>
              </a:xfrm>
              <a:prstGeom prst="roundRect">
                <a:avLst/>
              </a:prstGeom>
              <a:ln>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Calibri"/>
                    <a:ea typeface="+mn-ea"/>
                    <a:cs typeface="+mn-cs"/>
                  </a:rPr>
                  <a:t>Temperature</a:t>
                </a:r>
              </a:p>
            </p:txBody>
          </p:sp>
          <p:sp>
            <p:nvSpPr>
              <p:cNvPr id="11" name="Rounded Rectangle 10">
                <a:extLst>
                  <a:ext uri="{FF2B5EF4-FFF2-40B4-BE49-F238E27FC236}">
                    <a16:creationId xmlns:a16="http://schemas.microsoft.com/office/drawing/2014/main" id="{CA391329-D1AA-AF44-8020-582FFFD89F60}"/>
                  </a:ext>
                </a:extLst>
              </p:cNvPr>
              <p:cNvSpPr/>
              <p:nvPr/>
            </p:nvSpPr>
            <p:spPr bwMode="auto">
              <a:xfrm>
                <a:off x="3774979" y="1787132"/>
                <a:ext cx="1295400" cy="363086"/>
              </a:xfrm>
              <a:prstGeom prst="roundRect">
                <a:avLst/>
              </a:prstGeom>
              <a:ln>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Calibri"/>
                    <a:ea typeface="+mn-ea"/>
                    <a:cs typeface="+mn-cs"/>
                  </a:rPr>
                  <a:t>Displacement</a:t>
                </a:r>
              </a:p>
            </p:txBody>
          </p:sp>
          <p:sp>
            <p:nvSpPr>
              <p:cNvPr id="12" name="Rounded Rectangle 11">
                <a:extLst>
                  <a:ext uri="{FF2B5EF4-FFF2-40B4-BE49-F238E27FC236}">
                    <a16:creationId xmlns:a16="http://schemas.microsoft.com/office/drawing/2014/main" id="{8AD14357-1321-5141-92B5-73CFEF0B9E22}"/>
                  </a:ext>
                </a:extLst>
              </p:cNvPr>
              <p:cNvSpPr/>
              <p:nvPr/>
            </p:nvSpPr>
            <p:spPr bwMode="auto">
              <a:xfrm>
                <a:off x="5139699" y="1787132"/>
                <a:ext cx="1378480" cy="363086"/>
              </a:xfrm>
              <a:prstGeom prst="roundRect">
                <a:avLst/>
              </a:prstGeom>
              <a:ln>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Calibri"/>
                    <a:ea typeface="+mn-ea"/>
                    <a:cs typeface="+mn-cs"/>
                  </a:rPr>
                  <a:t>Stoichiometry</a:t>
                </a:r>
              </a:p>
            </p:txBody>
          </p:sp>
        </p:grpSp>
        <p:sp>
          <p:nvSpPr>
            <p:cNvPr id="13" name="Rounded Rectangle 12">
              <a:extLst>
                <a:ext uri="{FF2B5EF4-FFF2-40B4-BE49-F238E27FC236}">
                  <a16:creationId xmlns:a16="http://schemas.microsoft.com/office/drawing/2014/main" id="{91B1EB3F-6790-3842-A030-843982FFE2C7}"/>
                </a:ext>
              </a:extLst>
            </p:cNvPr>
            <p:cNvSpPr/>
            <p:nvPr/>
          </p:nvSpPr>
          <p:spPr>
            <a:xfrm>
              <a:off x="8718374" y="4341907"/>
              <a:ext cx="1769503" cy="688854"/>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white"/>
                  </a:solidFill>
                  <a:effectLst/>
                  <a:uLnTx/>
                  <a:uFillTx/>
                  <a:latin typeface="Calibri"/>
                  <a:ea typeface="+mn-ea"/>
                  <a:cs typeface="+mn-cs"/>
                </a:rPr>
                <a:t>Structure/property relationships</a:t>
              </a:r>
            </a:p>
          </p:txBody>
        </p:sp>
        <p:grpSp>
          <p:nvGrpSpPr>
            <p:cNvPr id="14" name="Group 13">
              <a:extLst>
                <a:ext uri="{FF2B5EF4-FFF2-40B4-BE49-F238E27FC236}">
                  <a16:creationId xmlns:a16="http://schemas.microsoft.com/office/drawing/2014/main" id="{C250E191-5C76-8A48-A997-0C16F1FBFB0D}"/>
                </a:ext>
              </a:extLst>
            </p:cNvPr>
            <p:cNvGrpSpPr/>
            <p:nvPr/>
          </p:nvGrpSpPr>
          <p:grpSpPr>
            <a:xfrm>
              <a:off x="10796524" y="3050183"/>
              <a:ext cx="1229999" cy="3518364"/>
              <a:chOff x="7536489" y="2891157"/>
              <a:chExt cx="1229999" cy="3518364"/>
            </a:xfrm>
          </p:grpSpPr>
          <p:sp>
            <p:nvSpPr>
              <p:cNvPr id="15" name="Rounded Rectangle 14">
                <a:extLst>
                  <a:ext uri="{FF2B5EF4-FFF2-40B4-BE49-F238E27FC236}">
                    <a16:creationId xmlns:a16="http://schemas.microsoft.com/office/drawing/2014/main" id="{E72F01D1-FC41-EB48-9EF3-59CB4929AD3F}"/>
                  </a:ext>
                </a:extLst>
              </p:cNvPr>
              <p:cNvSpPr/>
              <p:nvPr/>
            </p:nvSpPr>
            <p:spPr bwMode="auto">
              <a:xfrm>
                <a:off x="7536489" y="2891157"/>
                <a:ext cx="1180994" cy="469010"/>
              </a:xfrm>
              <a:prstGeom prst="roundRect">
                <a:avLst/>
              </a:prstGeom>
              <a:ln>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a:ea typeface="+mn-ea"/>
                    <a:cs typeface="+mn-cs"/>
                  </a:rPr>
                  <a:t>Elasticity tensor</a:t>
                </a:r>
              </a:p>
            </p:txBody>
          </p:sp>
          <p:sp>
            <p:nvSpPr>
              <p:cNvPr id="16" name="Rounded Rectangle 15">
                <a:extLst>
                  <a:ext uri="{FF2B5EF4-FFF2-40B4-BE49-F238E27FC236}">
                    <a16:creationId xmlns:a16="http://schemas.microsoft.com/office/drawing/2014/main" id="{470CCC6F-9A3E-104A-A96A-2833476E5BC6}"/>
                  </a:ext>
                </a:extLst>
              </p:cNvPr>
              <p:cNvSpPr/>
              <p:nvPr/>
            </p:nvSpPr>
            <p:spPr bwMode="auto">
              <a:xfrm>
                <a:off x="7577768" y="4075719"/>
                <a:ext cx="1188720" cy="539531"/>
              </a:xfrm>
              <a:prstGeom prst="roundRect">
                <a:avLst/>
              </a:prstGeom>
              <a:ln>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a:ea typeface="+mn-ea"/>
                    <a:cs typeface="+mn-cs"/>
                  </a:rPr>
                  <a:t>Fracture stress</a:t>
                </a:r>
              </a:p>
            </p:txBody>
          </p:sp>
          <p:sp>
            <p:nvSpPr>
              <p:cNvPr id="17" name="Rounded Rectangle 16">
                <a:extLst>
                  <a:ext uri="{FF2B5EF4-FFF2-40B4-BE49-F238E27FC236}">
                    <a16:creationId xmlns:a16="http://schemas.microsoft.com/office/drawing/2014/main" id="{E84BBEE4-F397-3742-86A3-3473B45B40C2}"/>
                  </a:ext>
                </a:extLst>
              </p:cNvPr>
              <p:cNvSpPr/>
              <p:nvPr/>
            </p:nvSpPr>
            <p:spPr bwMode="auto">
              <a:xfrm>
                <a:off x="7577768" y="4727053"/>
                <a:ext cx="1188720" cy="474970"/>
              </a:xfrm>
              <a:prstGeom prst="roundRect">
                <a:avLst/>
              </a:prstGeom>
              <a:ln>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a:ea typeface="+mn-ea"/>
                    <a:cs typeface="+mn-cs"/>
                  </a:rPr>
                  <a:t>Dimensional change</a:t>
                </a:r>
              </a:p>
            </p:txBody>
          </p:sp>
          <p:sp>
            <p:nvSpPr>
              <p:cNvPr id="18" name="Rounded Rectangle 17">
                <a:extLst>
                  <a:ext uri="{FF2B5EF4-FFF2-40B4-BE49-F238E27FC236}">
                    <a16:creationId xmlns:a16="http://schemas.microsoft.com/office/drawing/2014/main" id="{3AEC03FA-8256-294C-80D9-327488ACEFD4}"/>
                  </a:ext>
                </a:extLst>
              </p:cNvPr>
              <p:cNvSpPr/>
              <p:nvPr/>
            </p:nvSpPr>
            <p:spPr bwMode="auto">
              <a:xfrm>
                <a:off x="7536489" y="3471970"/>
                <a:ext cx="1188720" cy="491946"/>
              </a:xfrm>
              <a:prstGeom prst="roundRect">
                <a:avLst/>
              </a:prstGeom>
              <a:ln>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a:ea typeface="+mn-ea"/>
                    <a:cs typeface="+mn-cs"/>
                  </a:rPr>
                  <a:t>Thermal conductivity</a:t>
                </a:r>
              </a:p>
            </p:txBody>
          </p:sp>
          <p:sp>
            <p:nvSpPr>
              <p:cNvPr id="19" name="Rounded Rectangle 18">
                <a:extLst>
                  <a:ext uri="{FF2B5EF4-FFF2-40B4-BE49-F238E27FC236}">
                    <a16:creationId xmlns:a16="http://schemas.microsoft.com/office/drawing/2014/main" id="{551F1DBA-2BE0-FD43-806A-0EE66E4DDC10}"/>
                  </a:ext>
                </a:extLst>
              </p:cNvPr>
              <p:cNvSpPr/>
              <p:nvPr/>
            </p:nvSpPr>
            <p:spPr bwMode="auto">
              <a:xfrm>
                <a:off x="7577768" y="5313826"/>
                <a:ext cx="1188720" cy="491946"/>
              </a:xfrm>
              <a:prstGeom prst="roundRect">
                <a:avLst/>
              </a:prstGeom>
              <a:ln>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a:ea typeface="+mn-ea"/>
                    <a:cs typeface="+mn-cs"/>
                  </a:rPr>
                  <a:t>Gap conductance</a:t>
                </a:r>
              </a:p>
            </p:txBody>
          </p:sp>
          <p:sp>
            <p:nvSpPr>
              <p:cNvPr id="20" name="Rounded Rectangle 19">
                <a:extLst>
                  <a:ext uri="{FF2B5EF4-FFF2-40B4-BE49-F238E27FC236}">
                    <a16:creationId xmlns:a16="http://schemas.microsoft.com/office/drawing/2014/main" id="{71D1C269-BE5D-BD40-A085-92D7DFF031B5}"/>
                  </a:ext>
                </a:extLst>
              </p:cNvPr>
              <p:cNvSpPr/>
              <p:nvPr/>
            </p:nvSpPr>
            <p:spPr bwMode="auto">
              <a:xfrm>
                <a:off x="7577768" y="5917575"/>
                <a:ext cx="1188720" cy="491946"/>
              </a:xfrm>
              <a:prstGeom prst="roundRect">
                <a:avLst/>
              </a:prstGeom>
              <a:ln>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vert="horz" wrap="square" lIns="91440" tIns="45720" rIns="91440" bIns="45720" numCol="1" rtlCol="0"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a:ea typeface="+mn-ea"/>
                    <a:cs typeface="+mn-cs"/>
                  </a:rPr>
                  <a:t>Gap pressure</a:t>
                </a:r>
              </a:p>
            </p:txBody>
          </p:sp>
        </p:grpSp>
        <p:grpSp>
          <p:nvGrpSpPr>
            <p:cNvPr id="21" name="Group 20">
              <a:extLst>
                <a:ext uri="{FF2B5EF4-FFF2-40B4-BE49-F238E27FC236}">
                  <a16:creationId xmlns:a16="http://schemas.microsoft.com/office/drawing/2014/main" id="{65B0426D-6FEB-6848-AE6A-061563BA58F6}"/>
                </a:ext>
              </a:extLst>
            </p:cNvPr>
            <p:cNvGrpSpPr/>
            <p:nvPr/>
          </p:nvGrpSpPr>
          <p:grpSpPr>
            <a:xfrm>
              <a:off x="6103938" y="2957243"/>
              <a:ext cx="2226476" cy="2798370"/>
              <a:chOff x="2843903" y="2798217"/>
              <a:chExt cx="2226476" cy="2798370"/>
            </a:xfrm>
          </p:grpSpPr>
          <p:sp>
            <p:nvSpPr>
              <p:cNvPr id="22" name="TextBox 21">
                <a:extLst>
                  <a:ext uri="{FF2B5EF4-FFF2-40B4-BE49-F238E27FC236}">
                    <a16:creationId xmlns:a16="http://schemas.microsoft.com/office/drawing/2014/main" id="{EE23584D-A2DB-4E4E-97C9-C6056B54C107}"/>
                  </a:ext>
                </a:extLst>
              </p:cNvPr>
              <p:cNvSpPr txBox="1"/>
              <p:nvPr/>
            </p:nvSpPr>
            <p:spPr>
              <a:xfrm>
                <a:off x="2843903" y="4420777"/>
                <a:ext cx="2226476" cy="1175810"/>
              </a:xfrm>
              <a:prstGeom prst="rect">
                <a:avLst/>
              </a:prstGeom>
              <a:noFill/>
            </p:spPr>
            <p:txBody>
              <a:bodyPr wrap="square" rtlCol="0">
                <a:spAutoFit/>
              </a:bodyPr>
              <a:lstStyle/>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050" b="0" i="0" u="none" strike="noStrike" kern="1200" cap="none" spc="0" normalizeH="0" baseline="0" noProof="0" dirty="0">
                    <a:ln>
                      <a:noFill/>
                    </a:ln>
                    <a:solidFill>
                      <a:prstClr val="black"/>
                    </a:solidFill>
                    <a:effectLst/>
                    <a:uLnTx/>
                    <a:uFillTx/>
                    <a:latin typeface="Calibri"/>
                    <a:ea typeface="+mn-ea"/>
                    <a:cs typeface="+mn-cs"/>
                  </a:rPr>
                  <a:t>Dissolved fission products</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050" b="0" i="0" u="none" strike="noStrike" kern="1200" cap="none" spc="0" normalizeH="0" baseline="0" noProof="0" dirty="0">
                    <a:ln>
                      <a:noFill/>
                    </a:ln>
                    <a:solidFill>
                      <a:prstClr val="black"/>
                    </a:solidFill>
                    <a:effectLst/>
                    <a:uLnTx/>
                    <a:uFillTx/>
                    <a:latin typeface="Calibri"/>
                    <a:ea typeface="+mn-ea"/>
                    <a:cs typeface="+mn-cs"/>
                  </a:rPr>
                  <a:t>Fission gas bubble fraction</a:t>
                </a:r>
              </a:p>
              <a:p>
                <a:pPr marL="111125" marR="0" lvl="0" indent="-111125" algn="l" defTabSz="914400" rtl="0" eaLnBrk="1" fontAlgn="auto" latinLnBrk="0" hangingPunct="1">
                  <a:lnSpc>
                    <a:spcPct val="100000"/>
                  </a:lnSpc>
                  <a:spcBef>
                    <a:spcPts val="0"/>
                  </a:spcBef>
                  <a:spcAft>
                    <a:spcPts val="0"/>
                  </a:spcAft>
                  <a:buClr>
                    <a:srgbClr val="1F497D"/>
                  </a:buClr>
                  <a:buSzTx/>
                  <a:buFont typeface="Arial"/>
                  <a:buChar char="•"/>
                  <a:tabLst/>
                  <a:defRPr/>
                </a:pPr>
                <a:r>
                  <a:rPr kumimoji="0" lang="en-US" sz="1050" b="0" i="0" u="none" strike="noStrike" kern="1200" cap="none" spc="0" normalizeH="0" baseline="0" noProof="0" dirty="0">
                    <a:ln>
                      <a:noFill/>
                    </a:ln>
                    <a:solidFill>
                      <a:prstClr val="black"/>
                    </a:solidFill>
                    <a:effectLst/>
                    <a:uLnTx/>
                    <a:uFillTx/>
                    <a:latin typeface="Calibri"/>
                    <a:ea typeface="+mn-ea"/>
                    <a:cs typeface="+mn-cs"/>
                  </a:rPr>
                  <a:t>Grain boundary fission gas bubble coverage</a:t>
                </a:r>
              </a:p>
              <a:p>
                <a:pPr marL="111125" marR="0" lvl="0" indent="-111125" algn="l" defTabSz="914400" rtl="0" eaLnBrk="1" fontAlgn="auto" latinLnBrk="0" hangingPunct="1">
                  <a:lnSpc>
                    <a:spcPct val="100000"/>
                  </a:lnSpc>
                  <a:spcBef>
                    <a:spcPts val="0"/>
                  </a:spcBef>
                  <a:spcAft>
                    <a:spcPts val="0"/>
                  </a:spcAft>
                  <a:buClr>
                    <a:srgbClr val="008000"/>
                  </a:buClr>
                  <a:buSzTx/>
                  <a:buFont typeface="Arial"/>
                  <a:buChar char="•"/>
                  <a:tabLst/>
                  <a:defRPr/>
                </a:pPr>
                <a:r>
                  <a:rPr kumimoji="0" lang="en-US" sz="1050" b="0" i="0" u="none" strike="noStrike" kern="1200" cap="none" spc="0" normalizeH="0" baseline="0" noProof="0" dirty="0">
                    <a:ln>
                      <a:noFill/>
                    </a:ln>
                    <a:solidFill>
                      <a:prstClr val="black"/>
                    </a:solidFill>
                    <a:effectLst/>
                    <a:uLnTx/>
                    <a:uFillTx/>
                    <a:latin typeface="Calibri"/>
                    <a:ea typeface="+mn-ea"/>
                    <a:cs typeface="+mn-cs"/>
                  </a:rPr>
                  <a:t>Gap fission gas concentration</a:t>
                </a:r>
              </a:p>
            </p:txBody>
          </p:sp>
          <p:pic>
            <p:nvPicPr>
              <p:cNvPr id="23" name="Picture 3">
                <a:extLst>
                  <a:ext uri="{FF2B5EF4-FFF2-40B4-BE49-F238E27FC236}">
                    <a16:creationId xmlns:a16="http://schemas.microsoft.com/office/drawing/2014/main" id="{DCF2AB2E-F5FC-9C45-8CAD-4F02CA9E80E6}"/>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bwMode="auto">
              <a:xfrm>
                <a:off x="2886285" y="2798217"/>
                <a:ext cx="1950387" cy="1464051"/>
              </a:xfrm>
              <a:prstGeom prst="roundRect">
                <a:avLst>
                  <a:gd name="adj" fmla="val 7732"/>
                </a:avLst>
              </a:prstGeom>
              <a:ln>
                <a:noFill/>
              </a:ln>
              <a:effectLst>
                <a:outerShdw blurRad="292100" dist="139700" dir="2700000" algn="tl" rotWithShape="0">
                  <a:srgbClr val="333333">
                    <a:alpha val="65000"/>
                  </a:srgb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grpSp>
    </p:spTree>
    <p:extLst>
      <p:ext uri="{BB962C8B-B14F-4D97-AF65-F5344CB8AC3E}">
        <p14:creationId xmlns:p14="http://schemas.microsoft.com/office/powerpoint/2010/main" val="27681102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28109-8CA9-CF49-AC04-3F76C276B87E}"/>
              </a:ext>
            </a:extLst>
          </p:cNvPr>
          <p:cNvSpPr>
            <a:spLocks noGrp="1"/>
          </p:cNvSpPr>
          <p:nvPr>
            <p:ph type="title"/>
          </p:nvPr>
        </p:nvSpPr>
        <p:spPr/>
        <p:txBody>
          <a:bodyPr/>
          <a:lstStyle/>
          <a:p>
            <a:r>
              <a:rPr lang="en-US" dirty="0"/>
              <a:t>Multiscale separate effects experiments and simulations inform the development of the models</a:t>
            </a:r>
          </a:p>
        </p:txBody>
      </p:sp>
      <p:sp>
        <p:nvSpPr>
          <p:cNvPr id="4" name="Slide Number Placeholder 3">
            <a:extLst>
              <a:ext uri="{FF2B5EF4-FFF2-40B4-BE49-F238E27FC236}">
                <a16:creationId xmlns:a16="http://schemas.microsoft.com/office/drawing/2014/main" id="{2AD4C20E-82BA-DE4E-AD18-FD1319D8D0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Chevron 4">
            <a:extLst>
              <a:ext uri="{FF2B5EF4-FFF2-40B4-BE49-F238E27FC236}">
                <a16:creationId xmlns:a16="http://schemas.microsoft.com/office/drawing/2014/main" id="{8D3BCE96-2795-BB42-809B-4A4C3F8CEEA0}"/>
              </a:ext>
            </a:extLst>
          </p:cNvPr>
          <p:cNvSpPr/>
          <p:nvPr/>
        </p:nvSpPr>
        <p:spPr bwMode="auto">
          <a:xfrm>
            <a:off x="2142114" y="3839079"/>
            <a:ext cx="6513414" cy="620906"/>
          </a:xfrm>
          <a:prstGeom prst="chevron">
            <a:avLst>
              <a:gd name="adj" fmla="val 61370"/>
            </a:avLst>
          </a:prstGeom>
          <a:ln>
            <a:headEnd type="none" w="med" len="med"/>
            <a:tailEnd type="none" w="med" len="med"/>
          </a:ln>
        </p:spPr>
        <p:style>
          <a:lnRef idx="1">
            <a:schemeClr val="accent3"/>
          </a:lnRef>
          <a:fillRef idx="2">
            <a:schemeClr val="accent3"/>
          </a:fillRef>
          <a:effectRef idx="1">
            <a:schemeClr val="accent3"/>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Times New Roman" charset="0"/>
              <a:ea typeface="ＭＳ Ｐゴシック" charset="0"/>
              <a:cs typeface="+mn-cs"/>
            </a:endParaRPr>
          </a:p>
        </p:txBody>
      </p:sp>
      <p:pic>
        <p:nvPicPr>
          <p:cNvPr id="6" name="Picture 5">
            <a:extLst>
              <a:ext uri="{FF2B5EF4-FFF2-40B4-BE49-F238E27FC236}">
                <a16:creationId xmlns:a16="http://schemas.microsoft.com/office/drawing/2014/main" id="{2D3C7D67-03BE-3E43-82B0-FFEC2B06F65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266713" y="4209412"/>
            <a:ext cx="2765914" cy="2146939"/>
          </a:xfrm>
          <a:prstGeom prst="rect">
            <a:avLst/>
          </a:prstGeom>
          <a:ln>
            <a:noFill/>
          </a:ln>
          <a:effectLst>
            <a:outerShdw blurRad="292100" dist="139700" dir="2700000" algn="tl" rotWithShape="0">
              <a:srgbClr val="333333">
                <a:alpha val="65000"/>
              </a:srgbClr>
            </a:outerShdw>
          </a:effectLst>
        </p:spPr>
      </p:pic>
      <p:pic>
        <p:nvPicPr>
          <p:cNvPr id="7" name="Picture 3">
            <a:extLst>
              <a:ext uri="{FF2B5EF4-FFF2-40B4-BE49-F238E27FC236}">
                <a16:creationId xmlns:a16="http://schemas.microsoft.com/office/drawing/2014/main" id="{013BA53C-302C-414A-8855-D16291F2AD4B}"/>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bwMode="auto">
          <a:xfrm>
            <a:off x="4066362" y="2080817"/>
            <a:ext cx="2514893" cy="1887796"/>
          </a:xfrm>
          <a:prstGeom prst="roundRect">
            <a:avLst>
              <a:gd name="adj" fmla="val 7732"/>
            </a:avLst>
          </a:prstGeom>
          <a:ln>
            <a:noFill/>
          </a:ln>
          <a:effectLst>
            <a:outerShdw blurRad="292100" dist="139700" dir="2700000" algn="tl" rotWithShape="0">
              <a:srgbClr val="333333">
                <a:alpha val="65000"/>
              </a:srgb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8" name="Picture 7">
            <a:extLst>
              <a:ext uri="{FF2B5EF4-FFF2-40B4-BE49-F238E27FC236}">
                <a16:creationId xmlns:a16="http://schemas.microsoft.com/office/drawing/2014/main" id="{987AD33A-4523-3341-89B5-490B87983234}"/>
              </a:ext>
            </a:extLst>
          </p:cNvPr>
          <p:cNvPicPr>
            <a:picLocks noChangeAspect="1"/>
          </p:cNvPicPr>
          <p:nvPr/>
        </p:nvPicPr>
        <p:blipFill>
          <a:blip r:embed="rId4"/>
          <a:stretch>
            <a:fillRect/>
          </a:stretch>
        </p:blipFill>
        <p:spPr>
          <a:xfrm>
            <a:off x="8172394" y="2578142"/>
            <a:ext cx="2658106" cy="3131828"/>
          </a:xfrm>
          <a:prstGeom prst="rect">
            <a:avLst/>
          </a:prstGeom>
          <a:ln>
            <a:noFill/>
          </a:ln>
          <a:effectLst>
            <a:outerShdw blurRad="292100" dist="139700" dir="2700000" algn="tl" rotWithShape="0">
              <a:srgbClr val="333333">
                <a:alpha val="65000"/>
              </a:srgbClr>
            </a:outerShdw>
          </a:effectLst>
        </p:spPr>
      </p:pic>
      <p:pic>
        <p:nvPicPr>
          <p:cNvPr id="9" name="Picture 8" descr="Fission_gas_GB_HE.png">
            <a:extLst>
              <a:ext uri="{FF2B5EF4-FFF2-40B4-BE49-F238E27FC236}">
                <a16:creationId xmlns:a16="http://schemas.microsoft.com/office/drawing/2014/main" id="{91F5C9E4-B935-7A47-9D71-53F78E101E02}"/>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4105081" y="4041729"/>
            <a:ext cx="2031730" cy="2517272"/>
          </a:xfrm>
          <a:prstGeom prst="rect">
            <a:avLst/>
          </a:prstGeom>
          <a:ln>
            <a:noFill/>
          </a:ln>
          <a:effectLst>
            <a:outerShdw blurRad="292100" dist="139700" dir="2700000" algn="tl" rotWithShape="0">
              <a:srgbClr val="333333">
                <a:alpha val="65000"/>
              </a:srgbClr>
            </a:outerShdw>
          </a:effectLst>
        </p:spPr>
      </p:pic>
      <p:pic>
        <p:nvPicPr>
          <p:cNvPr id="10" name="Picture 4">
            <a:extLst>
              <a:ext uri="{FF2B5EF4-FFF2-40B4-BE49-F238E27FC236}">
                <a16:creationId xmlns:a16="http://schemas.microsoft.com/office/drawing/2014/main" id="{153E524B-BAFD-694B-9A34-DF6EC84F913F}"/>
              </a:ext>
            </a:extLst>
          </p:cNvPr>
          <p:cNvPicPr>
            <a:picLocks noChangeAspect="1"/>
          </p:cNvPicPr>
          <p:nvPr/>
        </p:nvPicPr>
        <p:blipFill>
          <a:blip r:embed="rId6" cstate="screen">
            <a:extLst>
              <a:ext uri="{28A0092B-C50C-407E-A947-70E740481C1C}">
                <a14:useLocalDpi xmlns:a14="http://schemas.microsoft.com/office/drawing/2010/main"/>
              </a:ext>
            </a:extLst>
          </a:blip>
          <a:srcRect/>
          <a:stretch>
            <a:fillRect/>
          </a:stretch>
        </p:blipFill>
        <p:spPr bwMode="auto">
          <a:xfrm>
            <a:off x="6838564" y="2080817"/>
            <a:ext cx="1816963" cy="1836313"/>
          </a:xfrm>
          <a:prstGeom prst="rect">
            <a:avLst/>
          </a:prstGeom>
          <a:ln>
            <a:noFill/>
          </a:ln>
          <a:effectLst>
            <a:outerShdw blurRad="292100" dist="139700" dir="2700000" algn="tl" rotWithShape="0">
              <a:srgbClr val="333333">
                <a:alpha val="65000"/>
              </a:srgb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11" name="Picture 10">
            <a:extLst>
              <a:ext uri="{FF2B5EF4-FFF2-40B4-BE49-F238E27FC236}">
                <a16:creationId xmlns:a16="http://schemas.microsoft.com/office/drawing/2014/main" id="{B6ABCF00-D0C0-034A-A327-A53F57D8418D}"/>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a:stretch/>
        </p:blipFill>
        <p:spPr>
          <a:xfrm>
            <a:off x="2010779" y="2096479"/>
            <a:ext cx="1810559" cy="1861181"/>
          </a:xfrm>
          <a:prstGeom prst="rect">
            <a:avLst/>
          </a:prstGeom>
          <a:ln>
            <a:noFill/>
          </a:ln>
          <a:effectLst>
            <a:outerShdw blurRad="292100" dist="139700" dir="2700000" algn="tl" rotWithShape="0">
              <a:srgbClr val="333333">
                <a:alpha val="65000"/>
              </a:srgbClr>
            </a:outerShdw>
          </a:effectLst>
        </p:spPr>
      </p:pic>
      <p:pic>
        <p:nvPicPr>
          <p:cNvPr id="12" name="Picture 11" descr="A_350000">
            <a:extLst>
              <a:ext uri="{FF2B5EF4-FFF2-40B4-BE49-F238E27FC236}">
                <a16:creationId xmlns:a16="http://schemas.microsoft.com/office/drawing/2014/main" id="{DA6E765F-B85D-9849-AFAE-DC81A9427792}"/>
              </a:ext>
            </a:extLst>
          </p:cNvPr>
          <p:cNvPicPr>
            <a:picLocks noChangeAspect="1" noChangeArrowheads="1"/>
          </p:cNvPicPr>
          <p:nvPr/>
        </p:nvPicPr>
        <p:blipFill>
          <a:blip r:embed="rId8" cstate="screen">
            <a:extLst>
              <a:ext uri="{28A0092B-C50C-407E-A947-70E740481C1C}">
                <a14:useLocalDpi xmlns:a14="http://schemas.microsoft.com/office/drawing/2010/main"/>
              </a:ext>
            </a:extLst>
          </a:blip>
          <a:srcRect/>
          <a:stretch>
            <a:fillRect/>
          </a:stretch>
        </p:blipFill>
        <p:spPr bwMode="auto">
          <a:xfrm>
            <a:off x="1859956" y="4305969"/>
            <a:ext cx="1118842" cy="2145494"/>
          </a:xfrm>
          <a:prstGeom prst="rect">
            <a:avLst/>
          </a:prstGeom>
          <a:ln>
            <a:noFill/>
          </a:ln>
          <a:effectLst>
            <a:outerShdw blurRad="292100" dist="139700" dir="2700000" algn="tl" rotWithShape="0">
              <a:srgbClr val="333333">
                <a:alpha val="65000"/>
              </a:srgb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13" name="Picture 12" descr="A_700000">
            <a:extLst>
              <a:ext uri="{FF2B5EF4-FFF2-40B4-BE49-F238E27FC236}">
                <a16:creationId xmlns:a16="http://schemas.microsoft.com/office/drawing/2014/main" id="{0AC77381-98BD-7F41-B6BC-A7D6D29F5943}"/>
              </a:ext>
            </a:extLst>
          </p:cNvPr>
          <p:cNvPicPr>
            <a:picLocks noChangeAspect="1" noChangeArrowheads="1"/>
          </p:cNvPicPr>
          <p:nvPr/>
        </p:nvPicPr>
        <p:blipFill>
          <a:blip r:embed="rId9" cstate="screen">
            <a:extLst>
              <a:ext uri="{28A0092B-C50C-407E-A947-70E740481C1C}">
                <a14:useLocalDpi xmlns:a14="http://schemas.microsoft.com/office/drawing/2010/main"/>
              </a:ext>
            </a:extLst>
          </a:blip>
          <a:srcRect/>
          <a:stretch>
            <a:fillRect/>
          </a:stretch>
        </p:blipFill>
        <p:spPr bwMode="auto">
          <a:xfrm>
            <a:off x="2832637" y="4314949"/>
            <a:ext cx="1085094" cy="2116687"/>
          </a:xfrm>
          <a:prstGeom prst="rect">
            <a:avLst/>
          </a:prstGeom>
          <a:ln>
            <a:noFill/>
          </a:ln>
          <a:effectLst>
            <a:outerShdw blurRad="292100" dist="139700" dir="2700000" algn="tl" rotWithShape="0">
              <a:srgbClr val="333333">
                <a:alpha val="65000"/>
              </a:srgb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4" name="TextBox 13">
            <a:extLst>
              <a:ext uri="{FF2B5EF4-FFF2-40B4-BE49-F238E27FC236}">
                <a16:creationId xmlns:a16="http://schemas.microsoft.com/office/drawing/2014/main" id="{52B63368-E0B3-7744-90F5-652C1CD01152}"/>
              </a:ext>
            </a:extLst>
          </p:cNvPr>
          <p:cNvSpPr txBox="1"/>
          <p:nvPr/>
        </p:nvSpPr>
        <p:spPr>
          <a:xfrm>
            <a:off x="2643469" y="3974179"/>
            <a:ext cx="813050"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a:ea typeface="+mn-ea"/>
                <a:cs typeface="+mn-cs"/>
              </a:rPr>
              <a:t>nm</a:t>
            </a:r>
          </a:p>
        </p:txBody>
      </p:sp>
      <p:sp>
        <p:nvSpPr>
          <p:cNvPr id="15" name="TextBox 14">
            <a:extLst>
              <a:ext uri="{FF2B5EF4-FFF2-40B4-BE49-F238E27FC236}">
                <a16:creationId xmlns:a16="http://schemas.microsoft.com/office/drawing/2014/main" id="{87054898-3D4E-954E-82C5-402F438704DB}"/>
              </a:ext>
            </a:extLst>
          </p:cNvPr>
          <p:cNvSpPr txBox="1"/>
          <p:nvPr/>
        </p:nvSpPr>
        <p:spPr>
          <a:xfrm>
            <a:off x="4971242" y="3974179"/>
            <a:ext cx="813050"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err="1">
                <a:ln>
                  <a:noFill/>
                </a:ln>
                <a:solidFill>
                  <a:prstClr val="black"/>
                </a:solidFill>
                <a:effectLst/>
                <a:uLnTx/>
                <a:uFillTx/>
                <a:latin typeface="Calibri"/>
                <a:ea typeface="+mn-ea"/>
                <a:cs typeface="+mn-cs"/>
              </a:rPr>
              <a:t>μm</a:t>
            </a:r>
            <a:endParaRPr kumimoji="0" lang="en-US" sz="1800" b="1" i="0" u="none" strike="noStrike" kern="1200" cap="none" spc="0" normalizeH="0" baseline="0" noProof="0" dirty="0">
              <a:ln>
                <a:noFill/>
              </a:ln>
              <a:solidFill>
                <a:prstClr val="black"/>
              </a:solidFill>
              <a:effectLst/>
              <a:uLnTx/>
              <a:uFillTx/>
              <a:latin typeface="Calibri"/>
              <a:ea typeface="+mn-ea"/>
              <a:cs typeface="+mn-cs"/>
            </a:endParaRPr>
          </a:p>
        </p:txBody>
      </p:sp>
      <p:sp>
        <p:nvSpPr>
          <p:cNvPr id="16" name="TextBox 15">
            <a:extLst>
              <a:ext uri="{FF2B5EF4-FFF2-40B4-BE49-F238E27FC236}">
                <a16:creationId xmlns:a16="http://schemas.microsoft.com/office/drawing/2014/main" id="{922338C9-9C4C-C148-A248-BD924511E101}"/>
              </a:ext>
            </a:extLst>
          </p:cNvPr>
          <p:cNvSpPr txBox="1"/>
          <p:nvPr/>
        </p:nvSpPr>
        <p:spPr>
          <a:xfrm>
            <a:off x="7200663" y="3974179"/>
            <a:ext cx="813050"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a:ea typeface="+mn-ea"/>
                <a:cs typeface="+mn-cs"/>
              </a:rPr>
              <a:t>mm</a:t>
            </a:r>
          </a:p>
        </p:txBody>
      </p:sp>
    </p:spTree>
    <p:extLst>
      <p:ext uri="{BB962C8B-B14F-4D97-AF65-F5344CB8AC3E}">
        <p14:creationId xmlns:p14="http://schemas.microsoft.com/office/powerpoint/2010/main" val="3764443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DA6F7-A8FA-AF40-9DF0-20B7916CA3A6}"/>
              </a:ext>
            </a:extLst>
          </p:cNvPr>
          <p:cNvSpPr>
            <a:spLocks noGrp="1"/>
          </p:cNvSpPr>
          <p:nvPr>
            <p:ph type="title"/>
          </p:nvPr>
        </p:nvSpPr>
        <p:spPr/>
        <p:txBody>
          <a:bodyPr/>
          <a:lstStyle/>
          <a:p>
            <a:r>
              <a:rPr lang="en-US" dirty="0"/>
              <a:t>Microstructure-based models</a:t>
            </a:r>
          </a:p>
        </p:txBody>
      </p:sp>
      <p:sp>
        <p:nvSpPr>
          <p:cNvPr id="3" name="Content Placeholder 2">
            <a:extLst>
              <a:ext uri="{FF2B5EF4-FFF2-40B4-BE49-F238E27FC236}">
                <a16:creationId xmlns:a16="http://schemas.microsoft.com/office/drawing/2014/main" id="{1716EFB2-B5F3-9A4C-BCDF-C865BC59B36D}"/>
              </a:ext>
            </a:extLst>
          </p:cNvPr>
          <p:cNvSpPr>
            <a:spLocks noGrp="1"/>
          </p:cNvSpPr>
          <p:nvPr>
            <p:ph idx="1"/>
          </p:nvPr>
        </p:nvSpPr>
        <p:spPr/>
        <p:txBody>
          <a:bodyPr/>
          <a:lstStyle/>
          <a:p>
            <a:r>
              <a:rPr lang="en-US" dirty="0"/>
              <a:t>Can provide a structure/property relationship to replace the existing burnup dependent model</a:t>
            </a:r>
          </a:p>
          <a:p>
            <a:r>
              <a:rPr lang="en-US" dirty="0"/>
              <a:t>For example, thermal conductivity, taking into account microstructural features and their evolution</a:t>
            </a:r>
          </a:p>
        </p:txBody>
      </p:sp>
      <p:sp>
        <p:nvSpPr>
          <p:cNvPr id="4" name="Slide Number Placeholder 3">
            <a:extLst>
              <a:ext uri="{FF2B5EF4-FFF2-40B4-BE49-F238E27FC236}">
                <a16:creationId xmlns:a16="http://schemas.microsoft.com/office/drawing/2014/main" id="{ED2F008F-5FAC-DB47-A650-B636F0880DA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grpSp>
        <p:nvGrpSpPr>
          <p:cNvPr id="5" name="Group 4">
            <a:extLst>
              <a:ext uri="{FF2B5EF4-FFF2-40B4-BE49-F238E27FC236}">
                <a16:creationId xmlns:a16="http://schemas.microsoft.com/office/drawing/2014/main" id="{1FF0FDDF-664F-404C-9D92-9D38AE1FD482}"/>
              </a:ext>
            </a:extLst>
          </p:cNvPr>
          <p:cNvGrpSpPr/>
          <p:nvPr/>
        </p:nvGrpSpPr>
        <p:grpSpPr>
          <a:xfrm>
            <a:off x="1598951" y="3838035"/>
            <a:ext cx="8561049" cy="2780302"/>
            <a:chOff x="291476" y="4474138"/>
            <a:chExt cx="8561049" cy="2780302"/>
          </a:xfrm>
        </p:grpSpPr>
        <p:grpSp>
          <p:nvGrpSpPr>
            <p:cNvPr id="6" name="Group 5">
              <a:extLst>
                <a:ext uri="{FF2B5EF4-FFF2-40B4-BE49-F238E27FC236}">
                  <a16:creationId xmlns:a16="http://schemas.microsoft.com/office/drawing/2014/main" id="{4787CE2E-3034-4946-992B-8194164E0653}"/>
                </a:ext>
              </a:extLst>
            </p:cNvPr>
            <p:cNvGrpSpPr/>
            <p:nvPr/>
          </p:nvGrpSpPr>
          <p:grpSpPr>
            <a:xfrm>
              <a:off x="291476" y="4474138"/>
              <a:ext cx="8561049" cy="2780302"/>
              <a:chOff x="291476" y="3814758"/>
              <a:chExt cx="8561049" cy="2780302"/>
            </a:xfrm>
          </p:grpSpPr>
          <p:sp>
            <p:nvSpPr>
              <p:cNvPr id="10" name="Rounded Rectangle 9">
                <a:extLst>
                  <a:ext uri="{FF2B5EF4-FFF2-40B4-BE49-F238E27FC236}">
                    <a16:creationId xmlns:a16="http://schemas.microsoft.com/office/drawing/2014/main" id="{8E26803D-648F-6D40-9EB5-86871151A6DB}"/>
                  </a:ext>
                </a:extLst>
              </p:cNvPr>
              <p:cNvSpPr/>
              <p:nvPr/>
            </p:nvSpPr>
            <p:spPr bwMode="auto">
              <a:xfrm>
                <a:off x="291476" y="4555730"/>
                <a:ext cx="8561049" cy="1598487"/>
              </a:xfrm>
              <a:prstGeom prst="roundRect">
                <a:avLst>
                  <a:gd name="adj" fmla="val 8899"/>
                </a:avLst>
              </a:prstGeom>
            </p:spPr>
            <p:style>
              <a:lnRef idx="1">
                <a:schemeClr val="accent1"/>
              </a:lnRef>
              <a:fillRef idx="2">
                <a:schemeClr val="accent1"/>
              </a:fillRef>
              <a:effectRef idx="1">
                <a:schemeClr val="accent1"/>
              </a:effectRef>
              <a:fontRef idx="minor">
                <a:schemeClr val="dk1"/>
              </a:fontRef>
            </p:style>
            <p:txBody>
              <a:bodyPr/>
              <a:lstStyle/>
              <a:p>
                <a:pPr marL="0" marR="0" lvl="0" indent="0" algn="l" defTabSz="914400" rtl="0" eaLnBrk="1" fontAlgn="auto" latinLnBrk="0" hangingPunct="1">
                  <a:lnSpc>
                    <a:spcPct val="100000"/>
                  </a:lnSpc>
                  <a:spcBef>
                    <a:spcPts val="0"/>
                  </a:spcBef>
                  <a:spcAft>
                    <a:spcPts val="0"/>
                  </a:spcAft>
                  <a:buClr>
                    <a:srgbClr val="1F497D"/>
                  </a:buClr>
                  <a:buSzTx/>
                  <a:buFontTx/>
                  <a:buNone/>
                  <a:tabLst/>
                  <a:defRPr/>
                </a:pPr>
                <a:endParaRPr kumimoji="0" lang="en-US" sz="1800" b="0" i="1" u="none" strike="noStrike" kern="1200" cap="none" spc="0" normalizeH="0" baseline="0" noProof="0" dirty="0">
                  <a:ln>
                    <a:noFill/>
                  </a:ln>
                  <a:solidFill>
                    <a:prstClr val="black"/>
                  </a:solidFill>
                  <a:effectLst/>
                  <a:uLnTx/>
                  <a:uFillTx/>
                  <a:latin typeface="Calibri"/>
                  <a:ea typeface="+mn-ea"/>
                  <a:cs typeface="+mn-cs"/>
                </a:endParaRPr>
              </a:p>
            </p:txBody>
          </p:sp>
          <p:sp>
            <p:nvSpPr>
              <p:cNvPr id="11" name="TextBox 10">
                <a:extLst>
                  <a:ext uri="{FF2B5EF4-FFF2-40B4-BE49-F238E27FC236}">
                    <a16:creationId xmlns:a16="http://schemas.microsoft.com/office/drawing/2014/main" id="{D01B6C41-1A0D-FF41-BD17-9F2903531508}"/>
                  </a:ext>
                </a:extLst>
              </p:cNvPr>
              <p:cNvSpPr txBox="1"/>
              <p:nvPr/>
            </p:nvSpPr>
            <p:spPr>
              <a:xfrm>
                <a:off x="2011849" y="6256506"/>
                <a:ext cx="187388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4227"/>
                    </a:solidFill>
                    <a:effectLst/>
                    <a:uLnTx/>
                    <a:uFillTx/>
                    <a:latin typeface="Calibri"/>
                    <a:ea typeface="+mn-ea"/>
                    <a:cs typeface="+mn-cs"/>
                  </a:rPr>
                  <a:t>Bulk conductivity</a:t>
                </a:r>
              </a:p>
            </p:txBody>
          </p:sp>
          <p:sp>
            <p:nvSpPr>
              <p:cNvPr id="12" name="TextBox 11">
                <a:extLst>
                  <a:ext uri="{FF2B5EF4-FFF2-40B4-BE49-F238E27FC236}">
                    <a16:creationId xmlns:a16="http://schemas.microsoft.com/office/drawing/2014/main" id="{B3FB92B3-37F2-C449-BF1E-34DF4A1B7FD6}"/>
                  </a:ext>
                </a:extLst>
              </p:cNvPr>
              <p:cNvSpPr txBox="1"/>
              <p:nvPr/>
            </p:nvSpPr>
            <p:spPr>
              <a:xfrm>
                <a:off x="5997676" y="6254444"/>
                <a:ext cx="1324662" cy="338554"/>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D95D0"/>
                    </a:solidFill>
                    <a:effectLst/>
                    <a:uLnTx/>
                    <a:uFillTx/>
                    <a:latin typeface="Calibri"/>
                    <a:ea typeface="+mn-ea"/>
                    <a:cs typeface="+mn-cs"/>
                  </a:rPr>
                  <a:t>Fission gas</a:t>
                </a:r>
              </a:p>
            </p:txBody>
          </p:sp>
          <p:sp>
            <p:nvSpPr>
              <p:cNvPr id="13" name="TextBox 12">
                <a:extLst>
                  <a:ext uri="{FF2B5EF4-FFF2-40B4-BE49-F238E27FC236}">
                    <a16:creationId xmlns:a16="http://schemas.microsoft.com/office/drawing/2014/main" id="{8AF08724-0F3E-FB43-A323-49AD43347DEF}"/>
                  </a:ext>
                </a:extLst>
              </p:cNvPr>
              <p:cNvSpPr txBox="1"/>
              <p:nvPr/>
            </p:nvSpPr>
            <p:spPr>
              <a:xfrm>
                <a:off x="4149648" y="3814758"/>
                <a:ext cx="1527192" cy="58477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C3783"/>
                    </a:solidFill>
                    <a:effectLst/>
                    <a:uLnTx/>
                    <a:uFillTx/>
                    <a:latin typeface="Calibri"/>
                    <a:ea typeface="+mn-ea"/>
                    <a:cs typeface="+mn-cs"/>
                  </a:rPr>
                  <a:t>Intragranular porosity </a:t>
                </a:r>
              </a:p>
            </p:txBody>
          </p:sp>
          <p:sp>
            <p:nvSpPr>
              <p:cNvPr id="14" name="TextBox 13">
                <a:extLst>
                  <a:ext uri="{FF2B5EF4-FFF2-40B4-BE49-F238E27FC236}">
                    <a16:creationId xmlns:a16="http://schemas.microsoft.com/office/drawing/2014/main" id="{1B2E349B-7473-9B4B-BA62-A37911F11AA7}"/>
                  </a:ext>
                </a:extLst>
              </p:cNvPr>
              <p:cNvSpPr txBox="1"/>
              <p:nvPr/>
            </p:nvSpPr>
            <p:spPr>
              <a:xfrm>
                <a:off x="2489839" y="3814758"/>
                <a:ext cx="1488474" cy="58477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FF"/>
                    </a:solidFill>
                    <a:effectLst/>
                    <a:uLnTx/>
                    <a:uFillTx/>
                    <a:latin typeface="Calibri"/>
                    <a:ea typeface="+mn-ea"/>
                    <a:cs typeface="+mn-cs"/>
                  </a:rPr>
                  <a:t>Grain boundary and bubbles</a:t>
                </a:r>
              </a:p>
            </p:txBody>
          </p:sp>
          <p:pic>
            <p:nvPicPr>
              <p:cNvPr id="15" name="Picture 33">
                <a:extLst>
                  <a:ext uri="{FF2B5EF4-FFF2-40B4-BE49-F238E27FC236}">
                    <a16:creationId xmlns:a16="http://schemas.microsoft.com/office/drawing/2014/main" id="{7B4A4B1C-7AB1-4B41-9D11-03D8ED57BBA4}"/>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bwMode="auto">
              <a:xfrm>
                <a:off x="7193224" y="4848119"/>
                <a:ext cx="1557338" cy="1095375"/>
              </a:xfrm>
              <a:prstGeom prst="roundRect">
                <a:avLst>
                  <a:gd name="adj" fmla="val 10069"/>
                </a:avLst>
              </a:prstGeom>
              <a:ln>
                <a:noFill/>
              </a:ln>
              <a:effectLst>
                <a:outerShdw blurRad="292100" dist="139700" dir="2700000" algn="tl" rotWithShape="0">
                  <a:srgbClr val="333333">
                    <a:alpha val="65000"/>
                  </a:srgb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16" name="Picture 4">
                <a:extLst>
                  <a:ext uri="{FF2B5EF4-FFF2-40B4-BE49-F238E27FC236}">
                    <a16:creationId xmlns:a16="http://schemas.microsoft.com/office/drawing/2014/main" id="{3982D94A-4CD1-1C40-A042-7ACD46C54F5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bwMode="auto">
              <a:xfrm>
                <a:off x="342621" y="4935117"/>
                <a:ext cx="1163810" cy="1127118"/>
              </a:xfrm>
              <a:prstGeom prst="roundRect">
                <a:avLst/>
              </a:prstGeom>
              <a:ln>
                <a:noFill/>
              </a:ln>
              <a:effectLst>
                <a:outerShdw blurRad="292100" dist="139700" dir="2700000" algn="tl" rotWithShape="0">
                  <a:srgbClr val="333333">
                    <a:alpha val="65000"/>
                  </a:srgbClr>
                </a:outerShdw>
              </a:effectLst>
              <a:extLst>
                <a:ext uri="{909E8E84-426E-40dd-AFC4-6F175D3DCCD1}">
                  <a14:hiddenFill xmlns="" xmlns:a14="http://schemas.microsoft.com/office/drawing/2010/main">
                    <a:solidFill>
                      <a:srgbClr val="FFFFFF"/>
                    </a:solidFill>
                  </a14:hiddenFill>
                </a:ext>
              </a:extLst>
            </p:spPr>
          </p:pic>
          <p:pic>
            <p:nvPicPr>
              <p:cNvPr id="17" name="Picture 16">
                <a:extLst>
                  <a:ext uri="{FF2B5EF4-FFF2-40B4-BE49-F238E27FC236}">
                    <a16:creationId xmlns:a16="http://schemas.microsoft.com/office/drawing/2014/main" id="{3C74D0A7-C56F-C54E-85CC-4DDD7C3C1185}"/>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626565" y="5076529"/>
                <a:ext cx="5486400" cy="725542"/>
              </a:xfrm>
              <a:prstGeom prst="rect">
                <a:avLst/>
              </a:prstGeom>
            </p:spPr>
          </p:pic>
        </p:grpSp>
        <p:sp>
          <p:nvSpPr>
            <p:cNvPr id="7" name="TextBox 6">
              <a:extLst>
                <a:ext uri="{FF2B5EF4-FFF2-40B4-BE49-F238E27FC236}">
                  <a16:creationId xmlns:a16="http://schemas.microsoft.com/office/drawing/2014/main" id="{C836857D-B128-1248-9F7F-9F351F5C2970}"/>
                </a:ext>
              </a:extLst>
            </p:cNvPr>
            <p:cNvSpPr txBox="1"/>
            <p:nvPr/>
          </p:nvSpPr>
          <p:spPr>
            <a:xfrm>
              <a:off x="4943194" y="5616805"/>
              <a:ext cx="919340" cy="4770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0" i="1" u="none" strike="noStrike" kern="1200" cap="none" spc="0" normalizeH="0" baseline="0" noProof="0" dirty="0">
                  <a:ln>
                    <a:noFill/>
                  </a:ln>
                  <a:solidFill>
                    <a:srgbClr val="008000"/>
                  </a:solidFill>
                  <a:effectLst/>
                  <a:uLnTx/>
                  <a:uFillTx/>
                  <a:latin typeface="Times New Roman"/>
                  <a:ea typeface="+mn-ea"/>
                  <a:cs typeface="Times New Roman"/>
                </a:rPr>
                <a:t>κ</a:t>
              </a:r>
              <a:r>
                <a:rPr kumimoji="0" lang="en-US" sz="2500" b="0" i="1" u="none" strike="noStrike" kern="1200" cap="none" spc="0" normalizeH="0" baseline="-25000" noProof="0" dirty="0">
                  <a:ln>
                    <a:noFill/>
                  </a:ln>
                  <a:solidFill>
                    <a:srgbClr val="008000"/>
                  </a:solidFill>
                  <a:effectLst/>
                  <a:uLnTx/>
                  <a:uFillTx/>
                  <a:latin typeface="Times New Roman"/>
                  <a:ea typeface="+mn-ea"/>
                  <a:cs typeface="Times New Roman"/>
                </a:rPr>
                <a:t>pr</a:t>
              </a:r>
            </a:p>
          </p:txBody>
        </p:sp>
        <p:sp>
          <p:nvSpPr>
            <p:cNvPr id="8" name="TextBox 7">
              <a:extLst>
                <a:ext uri="{FF2B5EF4-FFF2-40B4-BE49-F238E27FC236}">
                  <a16:creationId xmlns:a16="http://schemas.microsoft.com/office/drawing/2014/main" id="{DE6D705F-CEF9-8444-8F06-AE1F6BA6B9B0}"/>
                </a:ext>
              </a:extLst>
            </p:cNvPr>
            <p:cNvSpPr txBox="1"/>
            <p:nvPr/>
          </p:nvSpPr>
          <p:spPr>
            <a:xfrm>
              <a:off x="5514116" y="4528045"/>
              <a:ext cx="1527192" cy="58477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000"/>
                  </a:solidFill>
                  <a:effectLst/>
                  <a:uLnTx/>
                  <a:uFillTx/>
                  <a:latin typeface="Calibri"/>
                  <a:ea typeface="+mn-ea"/>
                  <a:cs typeface="+mn-cs"/>
                </a:rPr>
                <a:t>Precipitated fission products</a:t>
              </a:r>
            </a:p>
          </p:txBody>
        </p:sp>
        <p:sp>
          <p:nvSpPr>
            <p:cNvPr id="9" name="TextBox 8">
              <a:extLst>
                <a:ext uri="{FF2B5EF4-FFF2-40B4-BE49-F238E27FC236}">
                  <a16:creationId xmlns:a16="http://schemas.microsoft.com/office/drawing/2014/main" id="{A1DF3C4C-1775-1846-A5C3-499B80D14DE1}"/>
                </a:ext>
              </a:extLst>
            </p:cNvPr>
            <p:cNvSpPr txBox="1"/>
            <p:nvPr/>
          </p:nvSpPr>
          <p:spPr>
            <a:xfrm>
              <a:off x="3817701" y="6913019"/>
              <a:ext cx="246001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Vacancies and interstitials</a:t>
              </a:r>
            </a:p>
          </p:txBody>
        </p:sp>
      </p:grpSp>
    </p:spTree>
    <p:extLst>
      <p:ext uri="{BB962C8B-B14F-4D97-AF65-F5344CB8AC3E}">
        <p14:creationId xmlns:p14="http://schemas.microsoft.com/office/powerpoint/2010/main" val="25969192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D8C83-B675-194B-9607-80786EB44954}"/>
              </a:ext>
            </a:extLst>
          </p:cNvPr>
          <p:cNvSpPr>
            <a:spLocks noGrp="1"/>
          </p:cNvSpPr>
          <p:nvPr>
            <p:ph type="title"/>
          </p:nvPr>
        </p:nvSpPr>
        <p:spPr/>
        <p:txBody>
          <a:bodyPr/>
          <a:lstStyle/>
          <a:p>
            <a:r>
              <a:rPr lang="en-US" dirty="0"/>
              <a:t>Parametrizing the mechanistic model</a:t>
            </a:r>
          </a:p>
        </p:txBody>
      </p:sp>
      <p:sp>
        <p:nvSpPr>
          <p:cNvPr id="3" name="Content Placeholder 2">
            <a:extLst>
              <a:ext uri="{FF2B5EF4-FFF2-40B4-BE49-F238E27FC236}">
                <a16:creationId xmlns:a16="http://schemas.microsoft.com/office/drawing/2014/main" id="{500B7974-2C51-DA40-A77B-0D9F09957472}"/>
              </a:ext>
            </a:extLst>
          </p:cNvPr>
          <p:cNvSpPr>
            <a:spLocks noGrp="1"/>
          </p:cNvSpPr>
          <p:nvPr>
            <p:ph idx="1"/>
          </p:nvPr>
        </p:nvSpPr>
        <p:spPr>
          <a:xfrm>
            <a:off x="609600" y="2160495"/>
            <a:ext cx="5940287" cy="3965670"/>
          </a:xfrm>
        </p:spPr>
        <p:txBody>
          <a:bodyPr>
            <a:normAutofit fontScale="92500" lnSpcReduction="10000"/>
          </a:bodyPr>
          <a:lstStyle/>
          <a:p>
            <a:r>
              <a:rPr lang="en-US" dirty="0"/>
              <a:t>We employ multiscale modeling and simulation to determine the various parameters for the model</a:t>
            </a:r>
          </a:p>
          <a:p>
            <a:r>
              <a:rPr lang="en-US" dirty="0"/>
              <a:t>MD simulations conducted at LANL have been used to determine the coefficients for various point defects</a:t>
            </a:r>
          </a:p>
          <a:p>
            <a:pPr>
              <a:spcBef>
                <a:spcPts val="400"/>
              </a:spcBef>
            </a:pPr>
            <a:r>
              <a:rPr lang="en-US" dirty="0"/>
              <a:t>MD simulations have shown that phonon scattering must be accounted for to accurately represent small bubbles</a:t>
            </a:r>
          </a:p>
          <a:p>
            <a:pPr>
              <a:spcBef>
                <a:spcPts val="400"/>
              </a:spcBef>
            </a:pPr>
            <a:r>
              <a:rPr lang="en-US" dirty="0"/>
              <a:t>Mesoscale simulations have shown that </a:t>
            </a:r>
            <a:r>
              <a:rPr lang="en-US" dirty="0" err="1"/>
              <a:t>GrB</a:t>
            </a:r>
            <a:r>
              <a:rPr lang="en-US" dirty="0"/>
              <a:t> bubbles have a larger impact on the thermal conductivity</a:t>
            </a:r>
          </a:p>
        </p:txBody>
      </p:sp>
      <p:sp>
        <p:nvSpPr>
          <p:cNvPr id="4" name="Slide Number Placeholder 3">
            <a:extLst>
              <a:ext uri="{FF2B5EF4-FFF2-40B4-BE49-F238E27FC236}">
                <a16:creationId xmlns:a16="http://schemas.microsoft.com/office/drawing/2014/main" id="{7F7AC306-CFB6-D64B-9173-FC364D1937A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8" name="Picture 7">
            <a:extLst>
              <a:ext uri="{FF2B5EF4-FFF2-40B4-BE49-F238E27FC236}">
                <a16:creationId xmlns:a16="http://schemas.microsoft.com/office/drawing/2014/main" id="{3CDE755E-6CD6-2E47-A07F-6E5EB752E86D}"/>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104955" y="3601820"/>
            <a:ext cx="3087045" cy="2754531"/>
          </a:xfrm>
          <a:prstGeom prst="rect">
            <a:avLst/>
          </a:prstGeom>
        </p:spPr>
      </p:pic>
      <p:pic>
        <p:nvPicPr>
          <p:cNvPr id="10" name="Picture 9">
            <a:extLst>
              <a:ext uri="{FF2B5EF4-FFF2-40B4-BE49-F238E27FC236}">
                <a16:creationId xmlns:a16="http://schemas.microsoft.com/office/drawing/2014/main" id="{9E130049-3FBD-084E-96C5-C3D3F30DAA98}"/>
              </a:ext>
            </a:extLst>
          </p:cNvPr>
          <p:cNvPicPr>
            <a:picLocks noChangeAspect="1"/>
          </p:cNvPicPr>
          <p:nvPr/>
        </p:nvPicPr>
        <p:blipFill>
          <a:blip r:embed="rId3"/>
          <a:stretch>
            <a:fillRect/>
          </a:stretch>
        </p:blipFill>
        <p:spPr>
          <a:xfrm>
            <a:off x="7887004" y="1772775"/>
            <a:ext cx="3319323" cy="1633318"/>
          </a:xfrm>
          <a:prstGeom prst="rect">
            <a:avLst/>
          </a:prstGeom>
        </p:spPr>
      </p:pic>
      <p:grpSp>
        <p:nvGrpSpPr>
          <p:cNvPr id="11" name="Group 10">
            <a:extLst>
              <a:ext uri="{FF2B5EF4-FFF2-40B4-BE49-F238E27FC236}">
                <a16:creationId xmlns:a16="http://schemas.microsoft.com/office/drawing/2014/main" id="{5CEFA71A-9783-F942-94B7-600C21EE8F91}"/>
              </a:ext>
            </a:extLst>
          </p:cNvPr>
          <p:cNvGrpSpPr/>
          <p:nvPr/>
        </p:nvGrpSpPr>
        <p:grpSpPr>
          <a:xfrm>
            <a:off x="6231835" y="3688932"/>
            <a:ext cx="2873120" cy="2437233"/>
            <a:chOff x="0" y="3295904"/>
            <a:chExt cx="3879811" cy="3304007"/>
          </a:xfrm>
        </p:grpSpPr>
        <p:pic>
          <p:nvPicPr>
            <p:cNvPr id="12" name="Picture 11" descr="latex-image-1.pdf">
              <a:extLst>
                <a:ext uri="{FF2B5EF4-FFF2-40B4-BE49-F238E27FC236}">
                  <a16:creationId xmlns:a16="http://schemas.microsoft.com/office/drawing/2014/main" id="{0B7B48F7-DB5B-E247-9E82-B49BE83A3C0E}"/>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836372" y="3597559"/>
              <a:ext cx="1536700" cy="533400"/>
            </a:xfrm>
            <a:prstGeom prst="rect">
              <a:avLst/>
            </a:prstGeom>
          </p:spPr>
        </p:pic>
        <p:sp>
          <p:nvSpPr>
            <p:cNvPr id="13" name="TextBox 12">
              <a:extLst>
                <a:ext uri="{FF2B5EF4-FFF2-40B4-BE49-F238E27FC236}">
                  <a16:creationId xmlns:a16="http://schemas.microsoft.com/office/drawing/2014/main" id="{5311D772-573F-1541-A61C-130A54B8F176}"/>
                </a:ext>
              </a:extLst>
            </p:cNvPr>
            <p:cNvSpPr txBox="1"/>
            <p:nvPr/>
          </p:nvSpPr>
          <p:spPr>
            <a:xfrm>
              <a:off x="0" y="3295904"/>
              <a:ext cx="3503372" cy="34421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4F81BD"/>
                  </a:solidFill>
                  <a:effectLst/>
                  <a:uLnTx/>
                  <a:uFillTx/>
                  <a:latin typeface="Arial"/>
                  <a:ea typeface="+mn-ea"/>
                  <a:cs typeface="Arial"/>
                </a:rPr>
                <a:t>Maxwell-Eucken (no phonon scattering)</a:t>
              </a:r>
            </a:p>
          </p:txBody>
        </p:sp>
        <p:pic>
          <p:nvPicPr>
            <p:cNvPr id="14" name="Picture 13">
              <a:extLst>
                <a:ext uri="{FF2B5EF4-FFF2-40B4-BE49-F238E27FC236}">
                  <a16:creationId xmlns:a16="http://schemas.microsoft.com/office/drawing/2014/main" id="{2AF779EF-EC81-D647-B42C-88389FA0CACF}"/>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590411" y="4406977"/>
              <a:ext cx="3289400" cy="2192934"/>
            </a:xfrm>
            <a:prstGeom prst="rect">
              <a:avLst/>
            </a:prstGeom>
          </p:spPr>
        </p:pic>
      </p:grpSp>
    </p:spTree>
    <p:extLst>
      <p:ext uri="{BB962C8B-B14F-4D97-AF65-F5344CB8AC3E}">
        <p14:creationId xmlns:p14="http://schemas.microsoft.com/office/powerpoint/2010/main" val="36351579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573D1-F3E7-BA43-A1AC-8F3358727CC6}"/>
              </a:ext>
            </a:extLst>
          </p:cNvPr>
          <p:cNvSpPr>
            <a:spLocks noGrp="1"/>
          </p:cNvSpPr>
          <p:nvPr>
            <p:ph type="title"/>
          </p:nvPr>
        </p:nvSpPr>
        <p:spPr/>
        <p:txBody>
          <a:bodyPr/>
          <a:lstStyle/>
          <a:p>
            <a:r>
              <a:rPr lang="en-US" dirty="0"/>
              <a:t>Parametrizing the mechanistic model</a:t>
            </a:r>
          </a:p>
        </p:txBody>
      </p:sp>
      <p:sp>
        <p:nvSpPr>
          <p:cNvPr id="3" name="Content Placeholder 2">
            <a:extLst>
              <a:ext uri="{FF2B5EF4-FFF2-40B4-BE49-F238E27FC236}">
                <a16:creationId xmlns:a16="http://schemas.microsoft.com/office/drawing/2014/main" id="{E8676ED4-D5DD-6F4E-B008-16F7C2B0F47C}"/>
              </a:ext>
            </a:extLst>
          </p:cNvPr>
          <p:cNvSpPr>
            <a:spLocks noGrp="1"/>
          </p:cNvSpPr>
          <p:nvPr>
            <p:ph idx="1"/>
          </p:nvPr>
        </p:nvSpPr>
        <p:spPr>
          <a:xfrm>
            <a:off x="609600" y="2160495"/>
            <a:ext cx="5045765" cy="3965670"/>
          </a:xfrm>
        </p:spPr>
        <p:txBody>
          <a:bodyPr/>
          <a:lstStyle/>
          <a:p>
            <a:r>
              <a:rPr lang="en-US" dirty="0"/>
              <a:t>A thermal resistor model is created to describe the impact of </a:t>
            </a:r>
            <a:r>
              <a:rPr lang="en-US" dirty="0" err="1"/>
              <a:t>GrB</a:t>
            </a:r>
            <a:r>
              <a:rPr lang="en-US" dirty="0"/>
              <a:t> bubbles on the thermal conductivity</a:t>
            </a:r>
          </a:p>
          <a:p>
            <a:endParaRPr lang="en-US" dirty="0"/>
          </a:p>
          <a:p>
            <a:r>
              <a:rPr lang="en-US" dirty="0"/>
              <a:t>MARMOT simulations are currently being used to inform the development of the precipitate multiplier</a:t>
            </a:r>
          </a:p>
        </p:txBody>
      </p:sp>
      <p:sp>
        <p:nvSpPr>
          <p:cNvPr id="4" name="Slide Number Placeholder 3">
            <a:extLst>
              <a:ext uri="{FF2B5EF4-FFF2-40B4-BE49-F238E27FC236}">
                <a16:creationId xmlns:a16="http://schemas.microsoft.com/office/drawing/2014/main" id="{793E0A36-61DC-C546-811D-AFDD27FCA78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8" name="Picture 7">
            <a:extLst>
              <a:ext uri="{FF2B5EF4-FFF2-40B4-BE49-F238E27FC236}">
                <a16:creationId xmlns:a16="http://schemas.microsoft.com/office/drawing/2014/main" id="{AB4BC4B4-1F51-2748-9F20-7D65A6ABA717}"/>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49282"/>
          <a:stretch/>
        </p:blipFill>
        <p:spPr>
          <a:xfrm>
            <a:off x="7305261" y="1786835"/>
            <a:ext cx="3141323" cy="2089426"/>
          </a:xfrm>
          <a:prstGeom prst="rect">
            <a:avLst/>
          </a:prstGeom>
        </p:spPr>
      </p:pic>
      <p:pic>
        <p:nvPicPr>
          <p:cNvPr id="9" name="Picture 8" descr="LGD-3D-Redo-NoFill.png">
            <a:extLst>
              <a:ext uri="{FF2B5EF4-FFF2-40B4-BE49-F238E27FC236}">
                <a16:creationId xmlns:a16="http://schemas.microsoft.com/office/drawing/2014/main" id="{6092E5BA-1979-AD4A-8BB9-966F729360CD}"/>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7600713" y="4137302"/>
            <a:ext cx="2550418" cy="2584174"/>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14483826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E2186-1745-2B4F-BB1C-444A73D2F61E}"/>
              </a:ext>
            </a:extLst>
          </p:cNvPr>
          <p:cNvSpPr>
            <a:spLocks noGrp="1"/>
          </p:cNvSpPr>
          <p:nvPr>
            <p:ph type="title"/>
          </p:nvPr>
        </p:nvSpPr>
        <p:spPr/>
        <p:txBody>
          <a:bodyPr/>
          <a:lstStyle/>
          <a:p>
            <a:r>
              <a:rPr lang="en-US" dirty="0"/>
              <a:t>Parametrizing the mechanistic model</a:t>
            </a:r>
          </a:p>
        </p:txBody>
      </p:sp>
      <p:sp>
        <p:nvSpPr>
          <p:cNvPr id="3" name="Content Placeholder 2">
            <a:extLst>
              <a:ext uri="{FF2B5EF4-FFF2-40B4-BE49-F238E27FC236}">
                <a16:creationId xmlns:a16="http://schemas.microsoft.com/office/drawing/2014/main" id="{10FF35EA-191C-644B-ACE1-1CF7F8F814C7}"/>
              </a:ext>
            </a:extLst>
          </p:cNvPr>
          <p:cNvSpPr>
            <a:spLocks noGrp="1"/>
          </p:cNvSpPr>
          <p:nvPr>
            <p:ph idx="1"/>
          </p:nvPr>
        </p:nvSpPr>
        <p:spPr/>
        <p:txBody>
          <a:bodyPr>
            <a:normAutofit lnSpcReduction="10000"/>
          </a:bodyPr>
          <a:lstStyle/>
          <a:p>
            <a:r>
              <a:rPr lang="en-US" dirty="0"/>
              <a:t>Each term in the expression must be coupled to a corresponding state variable</a:t>
            </a:r>
          </a:p>
          <a:p>
            <a:r>
              <a:rPr lang="en-US" dirty="0"/>
              <a:t>The full model calculates the thermal conductivity as a function of: </a:t>
            </a:r>
          </a:p>
          <a:p>
            <a:pPr lvl="1"/>
            <a:r>
              <a:rPr lang="en-US" dirty="0"/>
              <a:t>Temperature</a:t>
            </a:r>
          </a:p>
          <a:p>
            <a:pPr lvl="1"/>
            <a:r>
              <a:rPr lang="en-US" dirty="0"/>
              <a:t>Point defect concentrations</a:t>
            </a:r>
          </a:p>
          <a:p>
            <a:pPr lvl="1"/>
            <a:r>
              <a:rPr lang="en-US" dirty="0"/>
              <a:t>Intragranular bubble density and average radius</a:t>
            </a:r>
          </a:p>
          <a:p>
            <a:pPr lvl="1"/>
            <a:r>
              <a:rPr lang="en-US" dirty="0"/>
              <a:t>Fractional coverage of bubbles on GBs and average radius</a:t>
            </a:r>
          </a:p>
          <a:p>
            <a:pPr lvl="1"/>
            <a:r>
              <a:rPr lang="en-US" dirty="0"/>
              <a:t>Precipitate volume fractions and average sizes</a:t>
            </a:r>
          </a:p>
          <a:p>
            <a:r>
              <a:rPr lang="en-US" dirty="0"/>
              <a:t>Currently effects of precipitate fission products and individual point defects are neglected in the model, as they are not tracked or predicted in BISON</a:t>
            </a:r>
          </a:p>
          <a:p>
            <a:endParaRPr lang="en-US" dirty="0"/>
          </a:p>
        </p:txBody>
      </p:sp>
      <p:sp>
        <p:nvSpPr>
          <p:cNvPr id="4" name="Slide Number Placeholder 3">
            <a:extLst>
              <a:ext uri="{FF2B5EF4-FFF2-40B4-BE49-F238E27FC236}">
                <a16:creationId xmlns:a16="http://schemas.microsoft.com/office/drawing/2014/main" id="{C75C4F6C-C151-974D-880D-EFDA6A06C5F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5" name="Picture 4" descr="latex-image-1.pdf">
            <a:extLst>
              <a:ext uri="{FF2B5EF4-FFF2-40B4-BE49-F238E27FC236}">
                <a16:creationId xmlns:a16="http://schemas.microsoft.com/office/drawing/2014/main" id="{199508E7-A8BA-DD4E-A575-EB481AD276DB}"/>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9099550" y="3847860"/>
            <a:ext cx="2120900" cy="393700"/>
          </a:xfrm>
          <a:prstGeom prst="rect">
            <a:avLst/>
          </a:prstGeom>
        </p:spPr>
      </p:pic>
    </p:spTree>
    <p:extLst>
      <p:ext uri="{BB962C8B-B14F-4D97-AF65-F5344CB8AC3E}">
        <p14:creationId xmlns:p14="http://schemas.microsoft.com/office/powerpoint/2010/main" val="26285012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06B2-F528-4D47-9E9E-60A56601B7F0}"/>
              </a:ext>
            </a:extLst>
          </p:cNvPr>
          <p:cNvSpPr>
            <a:spLocks noGrp="1"/>
          </p:cNvSpPr>
          <p:nvPr>
            <p:ph type="title"/>
          </p:nvPr>
        </p:nvSpPr>
        <p:spPr/>
        <p:txBody>
          <a:bodyPr/>
          <a:lstStyle/>
          <a:p>
            <a:r>
              <a:rPr lang="en-US" dirty="0"/>
              <a:t>Comparing with experiments…</a:t>
            </a:r>
          </a:p>
        </p:txBody>
      </p:sp>
      <p:sp>
        <p:nvSpPr>
          <p:cNvPr id="3" name="Content Placeholder 2">
            <a:extLst>
              <a:ext uri="{FF2B5EF4-FFF2-40B4-BE49-F238E27FC236}">
                <a16:creationId xmlns:a16="http://schemas.microsoft.com/office/drawing/2014/main" id="{3E85962A-82C2-7644-8F73-607B90690953}"/>
              </a:ext>
            </a:extLst>
          </p:cNvPr>
          <p:cNvSpPr>
            <a:spLocks noGrp="1"/>
          </p:cNvSpPr>
          <p:nvPr>
            <p:ph idx="1"/>
          </p:nvPr>
        </p:nvSpPr>
        <p:spPr>
          <a:xfrm>
            <a:off x="589591" y="1839292"/>
            <a:ext cx="10972800" cy="3965670"/>
          </a:xfrm>
        </p:spPr>
        <p:txBody>
          <a:bodyPr/>
          <a:lstStyle/>
          <a:p>
            <a:r>
              <a:rPr lang="en-US" sz="2000" dirty="0"/>
              <a:t>The model under-predicts the temperature in most cases, but not all</a:t>
            </a:r>
          </a:p>
          <a:p>
            <a:r>
              <a:rPr lang="en-US" sz="2000" dirty="0"/>
              <a:t>Thus, the model is neglecting some resistive effects from the microstructure</a:t>
            </a:r>
          </a:p>
          <a:p>
            <a:r>
              <a:rPr lang="en-US" sz="2000" dirty="0"/>
              <a:t>Generally performs as well, and in some cases better, than the burnup based model</a:t>
            </a:r>
          </a:p>
        </p:txBody>
      </p:sp>
      <p:sp>
        <p:nvSpPr>
          <p:cNvPr id="4" name="Slide Number Placeholder 3">
            <a:extLst>
              <a:ext uri="{FF2B5EF4-FFF2-40B4-BE49-F238E27FC236}">
                <a16:creationId xmlns:a16="http://schemas.microsoft.com/office/drawing/2014/main" id="{653548D2-247E-D949-94CD-E698B37739B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grpSp>
        <p:nvGrpSpPr>
          <p:cNvPr id="6" name="Group 5">
            <a:extLst>
              <a:ext uri="{FF2B5EF4-FFF2-40B4-BE49-F238E27FC236}">
                <a16:creationId xmlns:a16="http://schemas.microsoft.com/office/drawing/2014/main" id="{5DACC8F1-EDF3-D240-822E-3411E699BC85}"/>
              </a:ext>
            </a:extLst>
          </p:cNvPr>
          <p:cNvGrpSpPr/>
          <p:nvPr/>
        </p:nvGrpSpPr>
        <p:grpSpPr>
          <a:xfrm>
            <a:off x="525238" y="3241276"/>
            <a:ext cx="2711711" cy="3076883"/>
            <a:chOff x="67076" y="1542704"/>
            <a:chExt cx="2711711" cy="3076883"/>
          </a:xfrm>
        </p:grpSpPr>
        <p:sp>
          <p:nvSpPr>
            <p:cNvPr id="7" name="Rounded Rectangle 6">
              <a:extLst>
                <a:ext uri="{FF2B5EF4-FFF2-40B4-BE49-F238E27FC236}">
                  <a16:creationId xmlns:a16="http://schemas.microsoft.com/office/drawing/2014/main" id="{B3088DF9-3833-A948-ABA4-7033896806D7}"/>
                </a:ext>
              </a:extLst>
            </p:cNvPr>
            <p:cNvSpPr/>
            <p:nvPr/>
          </p:nvSpPr>
          <p:spPr bwMode="auto">
            <a:xfrm>
              <a:off x="67076" y="1542704"/>
              <a:ext cx="2711711" cy="3076883"/>
            </a:xfrm>
            <a:prstGeom prst="roundRect">
              <a:avLst>
                <a:gd name="adj" fmla="val 5079"/>
              </a:avLst>
            </a:prstGeom>
            <a:ln>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1" i="0" u="none" strike="noStrike" kern="1200" cap="none" spc="0" normalizeH="0" baseline="0" noProof="0" dirty="0">
                  <a:ln>
                    <a:noFill/>
                  </a:ln>
                  <a:solidFill>
                    <a:srgbClr val="4F81BD"/>
                  </a:solidFill>
                  <a:effectLst/>
                  <a:uLnTx/>
                  <a:uFillTx/>
                  <a:latin typeface="Calibri"/>
                  <a:ea typeface="+mn-ea"/>
                  <a:cs typeface="+mn-cs"/>
                </a:rPr>
                <a:t>RISO-3 AN3</a:t>
              </a:r>
            </a:p>
          </p:txBody>
        </p:sp>
        <p:pic>
          <p:nvPicPr>
            <p:cNvPr id="8" name="Picture 7" descr="RISO_AN3_Temp-eps-converted-to.pdf">
              <a:extLst>
                <a:ext uri="{FF2B5EF4-FFF2-40B4-BE49-F238E27FC236}">
                  <a16:creationId xmlns:a16="http://schemas.microsoft.com/office/drawing/2014/main" id="{D9B2EA4C-877A-1141-9405-0B7F631753E0}"/>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31429" y="1926251"/>
              <a:ext cx="2574012" cy="2574012"/>
            </a:xfrm>
            <a:prstGeom prst="rect">
              <a:avLst/>
            </a:prstGeom>
          </p:spPr>
        </p:pic>
      </p:grpSp>
      <p:grpSp>
        <p:nvGrpSpPr>
          <p:cNvPr id="9" name="Group 8">
            <a:extLst>
              <a:ext uri="{FF2B5EF4-FFF2-40B4-BE49-F238E27FC236}">
                <a16:creationId xmlns:a16="http://schemas.microsoft.com/office/drawing/2014/main" id="{D9C4DE42-651B-F04C-9C49-2CFBF4CFCF6D}"/>
              </a:ext>
            </a:extLst>
          </p:cNvPr>
          <p:cNvGrpSpPr/>
          <p:nvPr/>
        </p:nvGrpSpPr>
        <p:grpSpPr>
          <a:xfrm>
            <a:off x="3384289" y="3235295"/>
            <a:ext cx="2711711" cy="3076883"/>
            <a:chOff x="2401591" y="1542704"/>
            <a:chExt cx="2711711" cy="3076883"/>
          </a:xfrm>
        </p:grpSpPr>
        <p:sp>
          <p:nvSpPr>
            <p:cNvPr id="10" name="Rounded Rectangle 9">
              <a:extLst>
                <a:ext uri="{FF2B5EF4-FFF2-40B4-BE49-F238E27FC236}">
                  <a16:creationId xmlns:a16="http://schemas.microsoft.com/office/drawing/2014/main" id="{C899EC02-FD6A-9940-B959-AB9047BF10E9}"/>
                </a:ext>
              </a:extLst>
            </p:cNvPr>
            <p:cNvSpPr/>
            <p:nvPr/>
          </p:nvSpPr>
          <p:spPr bwMode="auto">
            <a:xfrm>
              <a:off x="2401591" y="1542704"/>
              <a:ext cx="2711711" cy="3076883"/>
            </a:xfrm>
            <a:prstGeom prst="roundRect">
              <a:avLst>
                <a:gd name="adj" fmla="val 5079"/>
              </a:avLst>
            </a:prstGeom>
            <a:ln>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1" i="0" u="none" strike="noStrike" kern="1200" cap="none" spc="0" normalizeH="0" baseline="0" noProof="0" dirty="0">
                  <a:ln>
                    <a:noFill/>
                  </a:ln>
                  <a:solidFill>
                    <a:srgbClr val="4F81BD"/>
                  </a:solidFill>
                  <a:effectLst/>
                  <a:uLnTx/>
                  <a:uFillTx/>
                  <a:latin typeface="Calibri"/>
                  <a:ea typeface="+mn-ea"/>
                  <a:cs typeface="+mn-cs"/>
                </a:rPr>
                <a:t>RISO-3 AN4</a:t>
              </a:r>
            </a:p>
          </p:txBody>
        </p:sp>
        <p:pic>
          <p:nvPicPr>
            <p:cNvPr id="11" name="Picture 10" descr="RISO_AN4_Temp-eps-converted-to.pdf">
              <a:extLst>
                <a:ext uri="{FF2B5EF4-FFF2-40B4-BE49-F238E27FC236}">
                  <a16:creationId xmlns:a16="http://schemas.microsoft.com/office/drawing/2014/main" id="{E1258C7C-9AE7-D245-A7FF-F41FB06B9F1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479622" y="1926251"/>
              <a:ext cx="2574012" cy="2574012"/>
            </a:xfrm>
            <a:prstGeom prst="rect">
              <a:avLst/>
            </a:prstGeom>
          </p:spPr>
        </p:pic>
      </p:grpSp>
      <p:grpSp>
        <p:nvGrpSpPr>
          <p:cNvPr id="12" name="Group 11">
            <a:extLst>
              <a:ext uri="{FF2B5EF4-FFF2-40B4-BE49-F238E27FC236}">
                <a16:creationId xmlns:a16="http://schemas.microsoft.com/office/drawing/2014/main" id="{50FA91CB-A4E2-B24C-BCC0-182E036D0012}"/>
              </a:ext>
            </a:extLst>
          </p:cNvPr>
          <p:cNvGrpSpPr/>
          <p:nvPr/>
        </p:nvGrpSpPr>
        <p:grpSpPr>
          <a:xfrm>
            <a:off x="6243340" y="3235295"/>
            <a:ext cx="2698502" cy="3076883"/>
            <a:chOff x="2977377" y="1542704"/>
            <a:chExt cx="2698502" cy="3076883"/>
          </a:xfrm>
        </p:grpSpPr>
        <p:sp>
          <p:nvSpPr>
            <p:cNvPr id="13" name="Rounded Rectangle 12">
              <a:extLst>
                <a:ext uri="{FF2B5EF4-FFF2-40B4-BE49-F238E27FC236}">
                  <a16:creationId xmlns:a16="http://schemas.microsoft.com/office/drawing/2014/main" id="{180E1ADC-53C7-9B4E-88A6-C509572C5EE7}"/>
                </a:ext>
              </a:extLst>
            </p:cNvPr>
            <p:cNvSpPr/>
            <p:nvPr/>
          </p:nvSpPr>
          <p:spPr bwMode="auto">
            <a:xfrm>
              <a:off x="2977377" y="1542704"/>
              <a:ext cx="2698502" cy="3076883"/>
            </a:xfrm>
            <a:prstGeom prst="roundRect">
              <a:avLst>
                <a:gd name="adj" fmla="val 5079"/>
              </a:avLst>
            </a:prstGeom>
            <a:ln>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1" i="0" u="none" strike="noStrike" kern="1200" cap="none" spc="0" normalizeH="0" baseline="0" noProof="0" dirty="0">
                  <a:ln>
                    <a:noFill/>
                  </a:ln>
                  <a:solidFill>
                    <a:srgbClr val="4F81BD"/>
                  </a:solidFill>
                  <a:effectLst/>
                  <a:uLnTx/>
                  <a:uFillTx/>
                  <a:latin typeface="Calibri"/>
                  <a:ea typeface="+mn-ea"/>
                  <a:cs typeface="+mn-cs"/>
                </a:rPr>
                <a:t>RISO II-3</a:t>
              </a:r>
            </a:p>
          </p:txBody>
        </p:sp>
        <p:pic>
          <p:nvPicPr>
            <p:cNvPr id="14" name="Picture 13" descr="RISO_II3_Temp-eps-converted-to.pdf">
              <a:extLst>
                <a:ext uri="{FF2B5EF4-FFF2-40B4-BE49-F238E27FC236}">
                  <a16:creationId xmlns:a16="http://schemas.microsoft.com/office/drawing/2014/main" id="{2207F328-95F7-E74C-B115-20C9B5C0F415}"/>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3041535" y="1926251"/>
              <a:ext cx="2583200" cy="2583200"/>
            </a:xfrm>
            <a:prstGeom prst="rect">
              <a:avLst/>
            </a:prstGeom>
          </p:spPr>
        </p:pic>
      </p:grpSp>
      <p:grpSp>
        <p:nvGrpSpPr>
          <p:cNvPr id="15" name="Group 14">
            <a:extLst>
              <a:ext uri="{FF2B5EF4-FFF2-40B4-BE49-F238E27FC236}">
                <a16:creationId xmlns:a16="http://schemas.microsoft.com/office/drawing/2014/main" id="{06093D8A-B740-DB4D-8A50-B907FF860BBF}"/>
              </a:ext>
            </a:extLst>
          </p:cNvPr>
          <p:cNvGrpSpPr/>
          <p:nvPr/>
        </p:nvGrpSpPr>
        <p:grpSpPr>
          <a:xfrm>
            <a:off x="9090325" y="3235294"/>
            <a:ext cx="2698502" cy="3076883"/>
            <a:chOff x="5875500" y="1542704"/>
            <a:chExt cx="2698502" cy="3076883"/>
          </a:xfrm>
        </p:grpSpPr>
        <p:sp>
          <p:nvSpPr>
            <p:cNvPr id="16" name="Rounded Rectangle 15">
              <a:extLst>
                <a:ext uri="{FF2B5EF4-FFF2-40B4-BE49-F238E27FC236}">
                  <a16:creationId xmlns:a16="http://schemas.microsoft.com/office/drawing/2014/main" id="{32C266D0-5EE3-7244-9558-E07DD94A7CC1}"/>
                </a:ext>
              </a:extLst>
            </p:cNvPr>
            <p:cNvSpPr/>
            <p:nvPr/>
          </p:nvSpPr>
          <p:spPr bwMode="auto">
            <a:xfrm>
              <a:off x="5875500" y="1542704"/>
              <a:ext cx="2698502" cy="3076883"/>
            </a:xfrm>
            <a:prstGeom prst="roundRect">
              <a:avLst>
                <a:gd name="adj" fmla="val 5079"/>
              </a:avLst>
            </a:prstGeom>
            <a:ln>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1" i="0" u="none" strike="noStrike" kern="1200" cap="none" spc="0" normalizeH="0" baseline="0" noProof="0" dirty="0">
                  <a:ln>
                    <a:noFill/>
                  </a:ln>
                  <a:solidFill>
                    <a:srgbClr val="4F81BD"/>
                  </a:solidFill>
                  <a:effectLst/>
                  <a:uLnTx/>
                  <a:uFillTx/>
                  <a:latin typeface="Calibri"/>
                  <a:ea typeface="+mn-ea"/>
                  <a:cs typeface="+mn-cs"/>
                </a:rPr>
                <a:t>US PWR TSQ0002</a:t>
              </a:r>
            </a:p>
          </p:txBody>
        </p:sp>
        <p:pic>
          <p:nvPicPr>
            <p:cNvPr id="17" name="Picture 16" descr="US_PWR_TSQ002_Temp-eps-converted-to.pdf">
              <a:extLst>
                <a:ext uri="{FF2B5EF4-FFF2-40B4-BE49-F238E27FC236}">
                  <a16:creationId xmlns:a16="http://schemas.microsoft.com/office/drawing/2014/main" id="{97C54E7D-BDE4-FF41-BE43-F43AD1FF45B2}"/>
                </a:ext>
              </a:extLst>
            </p:cNvPr>
            <p:cNvPicPr>
              <a:picLocks noChangeAspect="1"/>
            </p:cNvPicPr>
            <p:nvPr/>
          </p:nvPicPr>
          <p:blipFill>
            <a:blip r:embed="rId5">
              <a:extLst>
                <a:ext uri="{28A0092B-C50C-407E-A947-70E740481C1C}">
                  <a14:useLocalDpi xmlns:a14="http://schemas.microsoft.com/office/drawing/2010/main"/>
                </a:ext>
              </a:extLst>
            </a:blip>
            <a:stretch>
              <a:fillRect/>
            </a:stretch>
          </p:blipFill>
          <p:spPr>
            <a:xfrm>
              <a:off x="5941652" y="1926251"/>
              <a:ext cx="2580162" cy="2580162"/>
            </a:xfrm>
            <a:prstGeom prst="rect">
              <a:avLst/>
            </a:prstGeom>
          </p:spPr>
        </p:pic>
      </p:grpSp>
    </p:spTree>
    <p:extLst>
      <p:ext uri="{BB962C8B-B14F-4D97-AF65-F5344CB8AC3E}">
        <p14:creationId xmlns:p14="http://schemas.microsoft.com/office/powerpoint/2010/main" val="21871801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CEED-7571-1B45-BDAA-06C8A774DD20}"/>
              </a:ext>
            </a:extLst>
          </p:cNvPr>
          <p:cNvSpPr>
            <a:spLocks noGrp="1"/>
          </p:cNvSpPr>
          <p:nvPr>
            <p:ph type="title"/>
          </p:nvPr>
        </p:nvSpPr>
        <p:spPr/>
        <p:txBody>
          <a:bodyPr/>
          <a:lstStyle/>
          <a:p>
            <a:r>
              <a:rPr lang="en-US" dirty="0"/>
              <a:t>UZr Fuel Performance Modeling</a:t>
            </a:r>
          </a:p>
        </p:txBody>
      </p:sp>
      <p:sp>
        <p:nvSpPr>
          <p:cNvPr id="3" name="Content Placeholder 2">
            <a:extLst>
              <a:ext uri="{FF2B5EF4-FFF2-40B4-BE49-F238E27FC236}">
                <a16:creationId xmlns:a16="http://schemas.microsoft.com/office/drawing/2014/main" id="{384620B3-D1CB-9E43-98AF-6E37171ADF46}"/>
              </a:ext>
            </a:extLst>
          </p:cNvPr>
          <p:cNvSpPr>
            <a:spLocks noGrp="1"/>
          </p:cNvSpPr>
          <p:nvPr>
            <p:ph idx="1"/>
          </p:nvPr>
        </p:nvSpPr>
        <p:spPr>
          <a:xfrm>
            <a:off x="609600" y="2014149"/>
            <a:ext cx="5666508" cy="1767761"/>
          </a:xfrm>
        </p:spPr>
        <p:txBody>
          <a:bodyPr/>
          <a:lstStyle/>
          <a:p>
            <a:r>
              <a:rPr lang="en-US" sz="2000" dirty="0"/>
              <a:t>Development of a quantitative phase-field model of macroscale constituent redistribution in the U-Zr system, where model parameters were optimized, and the model validated against an independent data set</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DC288DC7-EEF1-AE41-8920-944CBEC5A30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Rectangle 4">
            <a:extLst>
              <a:ext uri="{FF2B5EF4-FFF2-40B4-BE49-F238E27FC236}">
                <a16:creationId xmlns:a16="http://schemas.microsoft.com/office/drawing/2014/main" id="{1D1D10F4-DD60-4F43-A0DC-FA6B373761DF}"/>
              </a:ext>
            </a:extLst>
          </p:cNvPr>
          <p:cNvSpPr/>
          <p:nvPr/>
        </p:nvSpPr>
        <p:spPr>
          <a:xfrm rot="10800000" flipV="1">
            <a:off x="6276108" y="2014149"/>
            <a:ext cx="5631873" cy="1015663"/>
          </a:xfrm>
          <a:prstGeom prst="rect">
            <a:avLst/>
          </a:prstGeom>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Calculation of surface tension based on molecular dynamics, which is used in the BISON gaseous metallic fuel swelling model </a:t>
            </a:r>
          </a:p>
        </p:txBody>
      </p:sp>
      <p:pic>
        <p:nvPicPr>
          <p:cNvPr id="7" name="Picture 6">
            <a:extLst>
              <a:ext uri="{FF2B5EF4-FFF2-40B4-BE49-F238E27FC236}">
                <a16:creationId xmlns:a16="http://schemas.microsoft.com/office/drawing/2014/main" id="{662D6043-7D59-1640-AF9E-16F41913065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22569" y="4321176"/>
            <a:ext cx="2749084" cy="2035175"/>
          </a:xfrm>
          <a:prstGeom prst="rect">
            <a:avLst/>
          </a:prstGeom>
        </p:spPr>
      </p:pic>
      <p:pic>
        <p:nvPicPr>
          <p:cNvPr id="8" name="Picture 7">
            <a:extLst>
              <a:ext uri="{FF2B5EF4-FFF2-40B4-BE49-F238E27FC236}">
                <a16:creationId xmlns:a16="http://schemas.microsoft.com/office/drawing/2014/main" id="{2999825F-C6C2-AC46-9A4A-8A502942595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871653" y="3692719"/>
            <a:ext cx="3813799" cy="3165281"/>
          </a:xfrm>
          <a:prstGeom prst="rect">
            <a:avLst/>
          </a:prstGeom>
        </p:spPr>
      </p:pic>
      <p:pic>
        <p:nvPicPr>
          <p:cNvPr id="9" name="Picture 8">
            <a:extLst>
              <a:ext uri="{FF2B5EF4-FFF2-40B4-BE49-F238E27FC236}">
                <a16:creationId xmlns:a16="http://schemas.microsoft.com/office/drawing/2014/main" id="{4745BB48-CAA4-704D-8A39-D19F3772F673}"/>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684329" y="3029813"/>
            <a:ext cx="1589808" cy="1599034"/>
          </a:xfrm>
          <a:prstGeom prst="rect">
            <a:avLst/>
          </a:prstGeom>
        </p:spPr>
      </p:pic>
      <p:pic>
        <p:nvPicPr>
          <p:cNvPr id="10" name="Picture 9">
            <a:extLst>
              <a:ext uri="{FF2B5EF4-FFF2-40B4-BE49-F238E27FC236}">
                <a16:creationId xmlns:a16="http://schemas.microsoft.com/office/drawing/2014/main" id="{6B8A02BD-0337-4449-9093-E65BEFC003E2}"/>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7509038" y="3075461"/>
            <a:ext cx="1861659" cy="1652403"/>
          </a:xfrm>
          <a:prstGeom prst="rect">
            <a:avLst/>
          </a:prstGeom>
        </p:spPr>
      </p:pic>
      <p:pic>
        <p:nvPicPr>
          <p:cNvPr id="11" name="Picture 10">
            <a:extLst>
              <a:ext uri="{FF2B5EF4-FFF2-40B4-BE49-F238E27FC236}">
                <a16:creationId xmlns:a16="http://schemas.microsoft.com/office/drawing/2014/main" id="{ECA07231-AA83-1E47-BF93-5AFECAB2D4A2}"/>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7971727" y="4773513"/>
            <a:ext cx="2737888" cy="2097106"/>
          </a:xfrm>
          <a:prstGeom prst="rect">
            <a:avLst/>
          </a:prstGeom>
        </p:spPr>
      </p:pic>
    </p:spTree>
    <p:extLst>
      <p:ext uri="{BB962C8B-B14F-4D97-AF65-F5344CB8AC3E}">
        <p14:creationId xmlns:p14="http://schemas.microsoft.com/office/powerpoint/2010/main" val="3338368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93BAA-7162-D74C-9F60-EB1D1EEC9800}"/>
              </a:ext>
            </a:extLst>
          </p:cNvPr>
          <p:cNvSpPr>
            <a:spLocks noGrp="1"/>
          </p:cNvSpPr>
          <p:nvPr>
            <p:ph type="title"/>
          </p:nvPr>
        </p:nvSpPr>
        <p:spPr/>
        <p:txBody>
          <a:bodyPr/>
          <a:lstStyle/>
          <a:p>
            <a:r>
              <a:rPr lang="en-US" dirty="0"/>
              <a:t>U3Si2 Fuel Performance Modeling</a:t>
            </a:r>
          </a:p>
        </p:txBody>
      </p:sp>
      <p:sp>
        <p:nvSpPr>
          <p:cNvPr id="3" name="Content Placeholder 2">
            <a:extLst>
              <a:ext uri="{FF2B5EF4-FFF2-40B4-BE49-F238E27FC236}">
                <a16:creationId xmlns:a16="http://schemas.microsoft.com/office/drawing/2014/main" id="{7534AB9B-E2BB-0248-A45B-FD450A3148AB}"/>
              </a:ext>
            </a:extLst>
          </p:cNvPr>
          <p:cNvSpPr>
            <a:spLocks noGrp="1"/>
          </p:cNvSpPr>
          <p:nvPr>
            <p:ph idx="1"/>
          </p:nvPr>
        </p:nvSpPr>
        <p:spPr>
          <a:xfrm>
            <a:off x="609599" y="2160495"/>
            <a:ext cx="11059391" cy="811305"/>
          </a:xfrm>
        </p:spPr>
        <p:txBody>
          <a:bodyPr/>
          <a:lstStyle/>
          <a:p>
            <a:r>
              <a:rPr lang="en-US" dirty="0"/>
              <a:t>Point Defect Diffusion, Fission gas swelling, thermal and irradiation creep</a:t>
            </a:r>
          </a:p>
        </p:txBody>
      </p:sp>
      <p:sp>
        <p:nvSpPr>
          <p:cNvPr id="4" name="Slide Number Placeholder 3">
            <a:extLst>
              <a:ext uri="{FF2B5EF4-FFF2-40B4-BE49-F238E27FC236}">
                <a16:creationId xmlns:a16="http://schemas.microsoft.com/office/drawing/2014/main" id="{ED1FE7D0-4C49-D347-9578-514DBF931B7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6" name="Picture 5">
            <a:extLst>
              <a:ext uri="{FF2B5EF4-FFF2-40B4-BE49-F238E27FC236}">
                <a16:creationId xmlns:a16="http://schemas.microsoft.com/office/drawing/2014/main" id="{CD5980A5-96C4-C04A-9066-55A7DA583077}"/>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31739" y="2971800"/>
            <a:ext cx="2345730" cy="1239952"/>
          </a:xfrm>
          <a:prstGeom prst="rect">
            <a:avLst/>
          </a:prstGeom>
        </p:spPr>
      </p:pic>
      <p:pic>
        <p:nvPicPr>
          <p:cNvPr id="7" name="Picture 6">
            <a:extLst>
              <a:ext uri="{FF2B5EF4-FFF2-40B4-BE49-F238E27FC236}">
                <a16:creationId xmlns:a16="http://schemas.microsoft.com/office/drawing/2014/main" id="{244D931C-A14B-3547-A973-792C231ED5D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5418701" y="2568431"/>
            <a:ext cx="2912919" cy="2184690"/>
          </a:xfrm>
          <a:prstGeom prst="rect">
            <a:avLst/>
          </a:prstGeom>
        </p:spPr>
      </p:pic>
      <p:pic>
        <p:nvPicPr>
          <p:cNvPr id="8" name="Picture 7">
            <a:extLst>
              <a:ext uri="{FF2B5EF4-FFF2-40B4-BE49-F238E27FC236}">
                <a16:creationId xmlns:a16="http://schemas.microsoft.com/office/drawing/2014/main" id="{6AEAB12E-FB53-EC4B-B85A-D5A2C0609207}"/>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331621" y="2590777"/>
            <a:ext cx="2921733" cy="2139998"/>
          </a:xfrm>
          <a:prstGeom prst="rect">
            <a:avLst/>
          </a:prstGeom>
        </p:spPr>
      </p:pic>
      <p:pic>
        <p:nvPicPr>
          <p:cNvPr id="9" name="Picture 8">
            <a:extLst>
              <a:ext uri="{FF2B5EF4-FFF2-40B4-BE49-F238E27FC236}">
                <a16:creationId xmlns:a16="http://schemas.microsoft.com/office/drawing/2014/main" id="{70E31060-A2C4-FC4C-9E52-E95809F35B65}"/>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5337464" y="4695248"/>
            <a:ext cx="2912918" cy="2133542"/>
          </a:xfrm>
          <a:prstGeom prst="rect">
            <a:avLst/>
          </a:prstGeom>
        </p:spPr>
      </p:pic>
      <p:pic>
        <p:nvPicPr>
          <p:cNvPr id="10" name="Picture 9">
            <a:extLst>
              <a:ext uri="{FF2B5EF4-FFF2-40B4-BE49-F238E27FC236}">
                <a16:creationId xmlns:a16="http://schemas.microsoft.com/office/drawing/2014/main" id="{278C5AEC-A9DD-A249-BECA-2B68BF6A6634}"/>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557648" y="4690319"/>
            <a:ext cx="2695706" cy="2167681"/>
          </a:xfrm>
          <a:prstGeom prst="rect">
            <a:avLst/>
          </a:prstGeom>
        </p:spPr>
      </p:pic>
      <p:pic>
        <p:nvPicPr>
          <p:cNvPr id="11" name="Picture 10">
            <a:extLst>
              <a:ext uri="{FF2B5EF4-FFF2-40B4-BE49-F238E27FC236}">
                <a16:creationId xmlns:a16="http://schemas.microsoft.com/office/drawing/2014/main" id="{B7CB2BC2-69D4-8747-8730-6F92B9887FAC}"/>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t="-2956"/>
          <a:stretch/>
        </p:blipFill>
        <p:spPr>
          <a:xfrm>
            <a:off x="2707694" y="3247638"/>
            <a:ext cx="2418308" cy="2270651"/>
          </a:xfrm>
          <a:prstGeom prst="rect">
            <a:avLst/>
          </a:prstGeom>
        </p:spPr>
      </p:pic>
      <p:pic>
        <p:nvPicPr>
          <p:cNvPr id="12" name="Picture 11">
            <a:extLst>
              <a:ext uri="{FF2B5EF4-FFF2-40B4-BE49-F238E27FC236}">
                <a16:creationId xmlns:a16="http://schemas.microsoft.com/office/drawing/2014/main" id="{F603AAA3-C9F4-CB42-A2CF-D92160A71792}"/>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301281" y="4238305"/>
            <a:ext cx="2414615" cy="1953491"/>
          </a:xfrm>
          <a:prstGeom prst="rect">
            <a:avLst/>
          </a:prstGeom>
        </p:spPr>
      </p:pic>
      <p:pic>
        <p:nvPicPr>
          <p:cNvPr id="13" name="Picture 12">
            <a:extLst>
              <a:ext uri="{FF2B5EF4-FFF2-40B4-BE49-F238E27FC236}">
                <a16:creationId xmlns:a16="http://schemas.microsoft.com/office/drawing/2014/main" id="{E2ECD0EB-9523-A847-9D07-3DD35FEBCA6E}"/>
              </a:ext>
            </a:extLst>
          </p:cNvPr>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528499" y="6151542"/>
            <a:ext cx="4513223" cy="677248"/>
          </a:xfrm>
          <a:prstGeom prst="rect">
            <a:avLst/>
          </a:prstGeom>
        </p:spPr>
      </p:pic>
    </p:spTree>
    <p:extLst>
      <p:ext uri="{BB962C8B-B14F-4D97-AF65-F5344CB8AC3E}">
        <p14:creationId xmlns:p14="http://schemas.microsoft.com/office/powerpoint/2010/main" val="3739613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0ABA0-282C-4646-89D9-127B16E82486}"/>
              </a:ext>
            </a:extLst>
          </p:cNvPr>
          <p:cNvSpPr>
            <a:spLocks noGrp="1"/>
          </p:cNvSpPr>
          <p:nvPr>
            <p:ph type="title"/>
          </p:nvPr>
        </p:nvSpPr>
        <p:spPr/>
        <p:txBody>
          <a:bodyPr/>
          <a:lstStyle/>
          <a:p>
            <a:r>
              <a:rPr lang="en-US" dirty="0"/>
              <a:t>TRISO Particle Fuel Performance Modeling</a:t>
            </a:r>
          </a:p>
        </p:txBody>
      </p:sp>
      <p:pic>
        <p:nvPicPr>
          <p:cNvPr id="7" name="Content Placeholder 6">
            <a:extLst>
              <a:ext uri="{FF2B5EF4-FFF2-40B4-BE49-F238E27FC236}">
                <a16:creationId xmlns:a16="http://schemas.microsoft.com/office/drawing/2014/main" id="{BEAD677E-A7F4-1E42-B22C-930D2BB8DE4C}"/>
              </a:ext>
            </a:extLst>
          </p:cNvPr>
          <p:cNvPicPr>
            <a:picLocks noGrp="1" noChangeAspect="1"/>
          </p:cNvPicPr>
          <p:nvPr>
            <p:ph idx="1"/>
          </p:nvPr>
        </p:nvPicPr>
        <p:blipFill>
          <a:blip r:embed="rId2" cstate="screen">
            <a:extLst>
              <a:ext uri="{28A0092B-C50C-407E-A947-70E740481C1C}">
                <a14:useLocalDpi xmlns:a14="http://schemas.microsoft.com/office/drawing/2010/main"/>
              </a:ext>
            </a:extLst>
          </a:blip>
          <a:stretch>
            <a:fillRect/>
          </a:stretch>
        </p:blipFill>
        <p:spPr>
          <a:xfrm>
            <a:off x="8673006" y="3641293"/>
            <a:ext cx="2738263" cy="2715058"/>
          </a:xfrm>
          <a:prstGeom prst="rect">
            <a:avLst/>
          </a:prstGeom>
        </p:spPr>
      </p:pic>
      <p:sp>
        <p:nvSpPr>
          <p:cNvPr id="4" name="Slide Number Placeholder 3">
            <a:extLst>
              <a:ext uri="{FF2B5EF4-FFF2-40B4-BE49-F238E27FC236}">
                <a16:creationId xmlns:a16="http://schemas.microsoft.com/office/drawing/2014/main" id="{AE95850B-3373-0543-B8D3-92BFCF0790B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539FC2A1-E65F-384A-940E-413DFD85027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100923" y="1895765"/>
            <a:ext cx="1602867" cy="1595581"/>
          </a:xfrm>
          <a:prstGeom prst="rect">
            <a:avLst/>
          </a:prstGeom>
        </p:spPr>
      </p:pic>
      <p:pic>
        <p:nvPicPr>
          <p:cNvPr id="6" name="Picture 5">
            <a:extLst>
              <a:ext uri="{FF2B5EF4-FFF2-40B4-BE49-F238E27FC236}">
                <a16:creationId xmlns:a16="http://schemas.microsoft.com/office/drawing/2014/main" id="{0D2AF70A-CAA3-CF40-9C1D-8A5E1EBC46A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096000" y="1841408"/>
            <a:ext cx="2405875" cy="4697505"/>
          </a:xfrm>
          <a:prstGeom prst="rect">
            <a:avLst/>
          </a:prstGeom>
        </p:spPr>
      </p:pic>
      <p:pic>
        <p:nvPicPr>
          <p:cNvPr id="8" name="Picture 7">
            <a:extLst>
              <a:ext uri="{FF2B5EF4-FFF2-40B4-BE49-F238E27FC236}">
                <a16:creationId xmlns:a16="http://schemas.microsoft.com/office/drawing/2014/main" id="{9BDFBD74-0C70-594B-8DEC-6D2EE111638F}"/>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2313372" y="4842165"/>
            <a:ext cx="3546903" cy="1275196"/>
          </a:xfrm>
          <a:prstGeom prst="rect">
            <a:avLst/>
          </a:prstGeom>
        </p:spPr>
      </p:pic>
      <p:pic>
        <p:nvPicPr>
          <p:cNvPr id="9" name="Picture 8">
            <a:extLst>
              <a:ext uri="{FF2B5EF4-FFF2-40B4-BE49-F238E27FC236}">
                <a16:creationId xmlns:a16="http://schemas.microsoft.com/office/drawing/2014/main" id="{219B0323-6419-0E42-BCD5-DBD9DF240715}"/>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09600" y="5203305"/>
            <a:ext cx="1416627" cy="399561"/>
          </a:xfrm>
          <a:prstGeom prst="rect">
            <a:avLst/>
          </a:prstGeom>
        </p:spPr>
      </p:pic>
      <p:pic>
        <p:nvPicPr>
          <p:cNvPr id="10" name="Picture 9">
            <a:extLst>
              <a:ext uri="{FF2B5EF4-FFF2-40B4-BE49-F238E27FC236}">
                <a16:creationId xmlns:a16="http://schemas.microsoft.com/office/drawing/2014/main" id="{662D0CEC-71DE-CA43-9DF0-E467A551DE0C}"/>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962072" y="5602866"/>
            <a:ext cx="711681" cy="273087"/>
          </a:xfrm>
          <a:prstGeom prst="rect">
            <a:avLst/>
          </a:prstGeom>
        </p:spPr>
      </p:pic>
      <p:sp>
        <p:nvSpPr>
          <p:cNvPr id="11" name="Content Placeholder 2">
            <a:extLst>
              <a:ext uri="{FF2B5EF4-FFF2-40B4-BE49-F238E27FC236}">
                <a16:creationId xmlns:a16="http://schemas.microsoft.com/office/drawing/2014/main" id="{E27C45E3-BB2E-954A-BC4A-419EF0F4F27B}"/>
              </a:ext>
            </a:extLst>
          </p:cNvPr>
          <p:cNvSpPr txBox="1">
            <a:spLocks/>
          </p:cNvSpPr>
          <p:nvPr/>
        </p:nvSpPr>
        <p:spPr bwMode="auto">
          <a:xfrm>
            <a:off x="609600" y="2014149"/>
            <a:ext cx="5315269" cy="25549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342900" marR="0" lvl="0" indent="-342900" algn="l" defTabSz="457200" rtl="0" eaLnBrk="1" fontAlgn="base" latinLnBrk="0" hangingPunct="1">
              <a:lnSpc>
                <a:spcPct val="100000"/>
              </a:lnSpc>
              <a:spcBef>
                <a:spcPct val="20000"/>
              </a:spcBef>
              <a:spcAft>
                <a:spcPct val="0"/>
              </a:spcAft>
              <a:buClrTx/>
              <a:buSzTx/>
              <a:buFont typeface="Arial" charset="0"/>
              <a:buChar char="•"/>
              <a:tabLst/>
              <a:defRPr/>
            </a:pPr>
            <a:r>
              <a:rPr kumimoji="0" lang="en-US" sz="2000" b="0" i="0" u="none" strike="noStrike" kern="1200" cap="none" spc="0" normalizeH="0" baseline="0" noProof="0" dirty="0">
                <a:ln>
                  <a:noFill/>
                </a:ln>
                <a:solidFill>
                  <a:prstClr val="black"/>
                </a:solidFill>
                <a:effectLst/>
                <a:uLnTx/>
                <a:uFillTx/>
                <a:latin typeface="Arial"/>
                <a:ea typeface="ＭＳ Ｐゴシック" charset="0"/>
                <a:cs typeface="Arial"/>
              </a:rPr>
              <a:t>TRISO particle modeling is still under development from a mechanistic model standpoint</a:t>
            </a:r>
          </a:p>
          <a:p>
            <a:pPr marL="342900" marR="0" lvl="0" indent="-342900" algn="l" defTabSz="457200" rtl="0" eaLnBrk="1" fontAlgn="base" latinLnBrk="0" hangingPunct="1">
              <a:lnSpc>
                <a:spcPct val="100000"/>
              </a:lnSpc>
              <a:spcBef>
                <a:spcPct val="20000"/>
              </a:spcBef>
              <a:spcAft>
                <a:spcPct val="0"/>
              </a:spcAft>
              <a:buClrTx/>
              <a:buSzTx/>
              <a:buFont typeface="Arial" charset="0"/>
              <a:buChar char="•"/>
              <a:tabLst/>
              <a:defRPr/>
            </a:pPr>
            <a:r>
              <a:rPr kumimoji="0" lang="en-US" sz="2000" b="0" i="0" u="none" strike="noStrike" kern="1200" cap="none" spc="0" normalizeH="0" baseline="0" noProof="0" dirty="0">
                <a:ln>
                  <a:noFill/>
                </a:ln>
                <a:solidFill>
                  <a:prstClr val="black"/>
                </a:solidFill>
                <a:effectLst/>
                <a:uLnTx/>
                <a:uFillTx/>
                <a:latin typeface="Arial"/>
                <a:ea typeface="ＭＳ Ｐゴシック" charset="0"/>
                <a:cs typeface="Arial"/>
              </a:rPr>
              <a:t>Imperfect data for many critical fission products through different layers</a:t>
            </a:r>
          </a:p>
          <a:p>
            <a:pPr marL="342900" marR="0" lvl="0" indent="-342900" algn="l" defTabSz="457200" rtl="0" eaLnBrk="1" fontAlgn="base" latinLnBrk="0" hangingPunct="1">
              <a:lnSpc>
                <a:spcPct val="100000"/>
              </a:lnSpc>
              <a:spcBef>
                <a:spcPct val="20000"/>
              </a:spcBef>
              <a:spcAft>
                <a:spcPct val="0"/>
              </a:spcAft>
              <a:buClrTx/>
              <a:buSzTx/>
              <a:buFont typeface="Arial" charset="0"/>
              <a:buChar char="•"/>
              <a:tabLst/>
              <a:defRPr/>
            </a:pPr>
            <a:r>
              <a:rPr kumimoji="0" lang="en-US" sz="2000" b="0" i="0" u="none" strike="noStrike" kern="1200" cap="none" spc="0" normalizeH="0" baseline="0" noProof="0" dirty="0">
                <a:ln>
                  <a:noFill/>
                </a:ln>
                <a:solidFill>
                  <a:prstClr val="black"/>
                </a:solidFill>
                <a:effectLst/>
                <a:uLnTx/>
                <a:uFillTx/>
                <a:latin typeface="Arial"/>
                <a:ea typeface="ＭＳ Ｐゴシック" charset="0"/>
                <a:cs typeface="Arial"/>
              </a:rPr>
              <a:t>Data typically for UO2 only, not for UC or UCO fuel kernels</a:t>
            </a:r>
          </a:p>
          <a:p>
            <a:pPr marL="342900" marR="0" lvl="0" indent="-342900" algn="l" defTabSz="457200" rtl="0" eaLnBrk="1" fontAlgn="base" latinLnBrk="0" hangingPunct="1">
              <a:lnSpc>
                <a:spcPct val="100000"/>
              </a:lnSpc>
              <a:spcBef>
                <a:spcPct val="20000"/>
              </a:spcBef>
              <a:spcAft>
                <a:spcPct val="0"/>
              </a:spcAft>
              <a:buClrTx/>
              <a:buSzTx/>
              <a:buFont typeface="Arial" charset="0"/>
              <a:buChar char="•"/>
              <a:tabLst/>
              <a:defRPr/>
            </a:pPr>
            <a:endParaRPr kumimoji="0" lang="en-US" sz="2000" b="0" i="0" u="none" strike="noStrike" kern="1200" cap="none" spc="0" normalizeH="0" baseline="0" noProof="0" dirty="0">
              <a:ln>
                <a:noFill/>
              </a:ln>
              <a:solidFill>
                <a:prstClr val="black"/>
              </a:solidFill>
              <a:effectLst/>
              <a:uLnTx/>
              <a:uFillTx/>
              <a:latin typeface="Arial"/>
              <a:ea typeface="ＭＳ Ｐゴシック" charset="0"/>
              <a:cs typeface="Arial"/>
            </a:endParaRPr>
          </a:p>
          <a:p>
            <a:pPr marL="342900" marR="0" lvl="0" indent="-342900" algn="l" defTabSz="457200" rtl="0" eaLnBrk="1" fontAlgn="base" latinLnBrk="0" hangingPunct="1">
              <a:lnSpc>
                <a:spcPct val="100000"/>
              </a:lnSpc>
              <a:spcBef>
                <a:spcPct val="20000"/>
              </a:spcBef>
              <a:spcAft>
                <a:spcPct val="0"/>
              </a:spcAft>
              <a:buClrTx/>
              <a:buSzTx/>
              <a:buFont typeface="Arial" charset="0"/>
              <a:buChar char="•"/>
              <a:tabLst/>
              <a:defRPr/>
            </a:pPr>
            <a:endParaRPr kumimoji="0" lang="en-US" sz="2000" b="0" i="0" u="none" strike="noStrike" kern="1200" cap="none" spc="0" normalizeH="0" baseline="0" noProof="0" dirty="0">
              <a:ln>
                <a:noFill/>
              </a:ln>
              <a:solidFill>
                <a:prstClr val="black"/>
              </a:solidFill>
              <a:effectLst/>
              <a:uLnTx/>
              <a:uFillTx/>
              <a:latin typeface="Arial"/>
              <a:ea typeface="ＭＳ Ｐゴシック" charset="0"/>
              <a:cs typeface="Arial"/>
            </a:endParaRPr>
          </a:p>
          <a:p>
            <a:pPr marL="342900" marR="0" lvl="0" indent="-342900" algn="l" defTabSz="457200" rtl="0" eaLnBrk="1" fontAlgn="base" latinLnBrk="0" hangingPunct="1">
              <a:lnSpc>
                <a:spcPct val="100000"/>
              </a:lnSpc>
              <a:spcBef>
                <a:spcPct val="20000"/>
              </a:spcBef>
              <a:spcAft>
                <a:spcPct val="0"/>
              </a:spcAft>
              <a:buClrTx/>
              <a:buSzTx/>
              <a:buFont typeface="Arial" charset="0"/>
              <a:buChar char="•"/>
              <a:tabLst/>
              <a:defRPr/>
            </a:pPr>
            <a:endParaRPr kumimoji="0" lang="en-US" sz="20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spTree>
    <p:extLst>
      <p:ext uri="{BB962C8B-B14F-4D97-AF65-F5344CB8AC3E}">
        <p14:creationId xmlns:p14="http://schemas.microsoft.com/office/powerpoint/2010/main" val="4221215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375A6-1B0B-8841-A719-FDC48BFEACDB}"/>
              </a:ext>
            </a:extLst>
          </p:cNvPr>
          <p:cNvSpPr>
            <a:spLocks noGrp="1"/>
          </p:cNvSpPr>
          <p:nvPr>
            <p:ph type="title"/>
          </p:nvPr>
        </p:nvSpPr>
        <p:spPr/>
        <p:txBody>
          <a:bodyPr/>
          <a:lstStyle/>
          <a:p>
            <a:r>
              <a:rPr lang="en-US" dirty="0" err="1"/>
              <a:t>FeCrAl</a:t>
            </a:r>
            <a:endParaRPr lang="en-US" dirty="0"/>
          </a:p>
        </p:txBody>
      </p:sp>
      <p:sp>
        <p:nvSpPr>
          <p:cNvPr id="3" name="Content Placeholder 2">
            <a:extLst>
              <a:ext uri="{FF2B5EF4-FFF2-40B4-BE49-F238E27FC236}">
                <a16:creationId xmlns:a16="http://schemas.microsoft.com/office/drawing/2014/main" id="{E407E887-B0CF-714B-8195-9EADD4956EC4}"/>
              </a:ext>
            </a:extLst>
          </p:cNvPr>
          <p:cNvSpPr>
            <a:spLocks noGrp="1"/>
          </p:cNvSpPr>
          <p:nvPr>
            <p:ph idx="1"/>
          </p:nvPr>
        </p:nvSpPr>
        <p:spPr>
          <a:xfrm>
            <a:off x="609600" y="2160495"/>
            <a:ext cx="4846519" cy="3965670"/>
          </a:xfrm>
        </p:spPr>
        <p:txBody>
          <a:bodyPr/>
          <a:lstStyle/>
          <a:p>
            <a:r>
              <a:rPr lang="en-US" sz="2000" dirty="0"/>
              <a:t>Evolution of compositional randomness (precipitation) will affect the mechanical properties of </a:t>
            </a:r>
            <a:r>
              <a:rPr lang="en-US" sz="2000" dirty="0" err="1"/>
              <a:t>FeCrAl</a:t>
            </a:r>
            <a:endParaRPr lang="en-US" sz="2000" dirty="0"/>
          </a:p>
          <a:p>
            <a:r>
              <a:rPr lang="en-US" sz="2000" dirty="0"/>
              <a:t>Kinetic Monte Carlo simulations modeled the precipitation of alpha’ phase from bcc Fe-Cr alloys under thermal aging at various temperatures</a:t>
            </a:r>
          </a:p>
          <a:p>
            <a:r>
              <a:rPr lang="en-US" sz="2000" dirty="0"/>
              <a:t>Fe-Al alloys do not show any phase separation</a:t>
            </a:r>
          </a:p>
          <a:p>
            <a:r>
              <a:rPr lang="en-US" sz="2000" dirty="0"/>
              <a:t>Can determine critical temperatures for precipitation and the resulting microstructures to investigate potential hardening</a:t>
            </a:r>
          </a:p>
        </p:txBody>
      </p:sp>
      <p:sp>
        <p:nvSpPr>
          <p:cNvPr id="4" name="Slide Number Placeholder 3">
            <a:extLst>
              <a:ext uri="{FF2B5EF4-FFF2-40B4-BE49-F238E27FC236}">
                <a16:creationId xmlns:a16="http://schemas.microsoft.com/office/drawing/2014/main" id="{BDACF95B-295D-9440-A4A5-58C3C3BCD45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3768E076-4A2B-9247-9B4D-06D0C78BAA0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492701" y="1847852"/>
            <a:ext cx="3170217" cy="2184400"/>
          </a:xfrm>
          <a:prstGeom prst="rect">
            <a:avLst/>
          </a:prstGeom>
        </p:spPr>
      </p:pic>
      <p:pic>
        <p:nvPicPr>
          <p:cNvPr id="6" name="Picture 5">
            <a:extLst>
              <a:ext uri="{FF2B5EF4-FFF2-40B4-BE49-F238E27FC236}">
                <a16:creationId xmlns:a16="http://schemas.microsoft.com/office/drawing/2014/main" id="{D018691A-A48A-664A-9280-9DB83FE5A81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700644" y="1700692"/>
            <a:ext cx="3277152" cy="2478719"/>
          </a:xfrm>
          <a:prstGeom prst="rect">
            <a:avLst/>
          </a:prstGeom>
        </p:spPr>
      </p:pic>
      <p:pic>
        <p:nvPicPr>
          <p:cNvPr id="7" name="Picture 6">
            <a:extLst>
              <a:ext uri="{FF2B5EF4-FFF2-40B4-BE49-F238E27FC236}">
                <a16:creationId xmlns:a16="http://schemas.microsoft.com/office/drawing/2014/main" id="{642C1348-858F-6540-871E-8EFD87634AF4}"/>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864646" y="4179411"/>
            <a:ext cx="3170217" cy="2391470"/>
          </a:xfrm>
          <a:prstGeom prst="rect">
            <a:avLst/>
          </a:prstGeom>
        </p:spPr>
      </p:pic>
    </p:spTree>
    <p:extLst>
      <p:ext uri="{BB962C8B-B14F-4D97-AF65-F5344CB8AC3E}">
        <p14:creationId xmlns:p14="http://schemas.microsoft.com/office/powerpoint/2010/main" val="37503959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2DCCAD-BE05-A94F-B66A-EA2D3ABF07EF}"/>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C7C9A290-33D4-8D48-BEAB-3A09AD15C127}"/>
              </a:ext>
            </a:extLst>
          </p:cNvPr>
          <p:cNvSpPr>
            <a:spLocks noGrp="1"/>
          </p:cNvSpPr>
          <p:nvPr>
            <p:ph idx="1"/>
          </p:nvPr>
        </p:nvSpPr>
        <p:spPr/>
        <p:txBody>
          <a:bodyPr/>
          <a:lstStyle/>
          <a:p>
            <a:r>
              <a:rPr lang="en-US" dirty="0"/>
              <a:t>Researchers are working to develop materials models for the fuel and cladding that are mechanistic rather than empirical and that are based on the evolution of the microstructure rather than the burnup</a:t>
            </a:r>
          </a:p>
          <a:p>
            <a:endParaRPr lang="en-US" dirty="0"/>
          </a:p>
        </p:txBody>
      </p:sp>
      <p:sp>
        <p:nvSpPr>
          <p:cNvPr id="4" name="Slide Number Placeholder 3">
            <a:extLst>
              <a:ext uri="{FF2B5EF4-FFF2-40B4-BE49-F238E27FC236}">
                <a16:creationId xmlns:a16="http://schemas.microsoft.com/office/drawing/2014/main" id="{C5080A65-7384-FF4F-94B0-F4C3AB1A3F9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17452458"/>
      </p:ext>
    </p:extLst>
  </p:cSld>
  <p:clrMapOvr>
    <a:masterClrMapping/>
  </p:clrMapOvr>
</p:sld>
</file>

<file path=ppt/theme/theme1.xml><?xml version="1.0" encoding="utf-8"?>
<a:theme xmlns:a="http://schemas.openxmlformats.org/drawingml/2006/main" name="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3122</TotalTime>
  <Words>888</Words>
  <Application>Microsoft Macintosh PowerPoint</Application>
  <PresentationFormat>Widescreen</PresentationFormat>
  <Paragraphs>174</Paragraphs>
  <Slides>17</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17</vt:i4>
      </vt:variant>
    </vt:vector>
  </HeadingPairs>
  <TitlesOfParts>
    <vt:vector size="22" baseType="lpstr">
      <vt:lpstr>Arial</vt:lpstr>
      <vt:lpstr>Calibri</vt:lpstr>
      <vt:lpstr>Times New Roman</vt:lpstr>
      <vt:lpstr>NCStateU-horizontal-left-logo</vt:lpstr>
      <vt:lpstr>1_NCStateU-horizontal-left-logo</vt:lpstr>
      <vt:lpstr>Nuclear Fuel Performance</vt:lpstr>
      <vt:lpstr>Housekeeping</vt:lpstr>
      <vt:lpstr>Last Time</vt:lpstr>
      <vt:lpstr>mechanistic modeling</vt:lpstr>
      <vt:lpstr>Microstructure-based fuel performance modeling</vt:lpstr>
      <vt:lpstr>Example: fission gas behavior in the fuel</vt:lpstr>
      <vt:lpstr>Multiscale separate effects experiments and simulations inform the development of the models</vt:lpstr>
      <vt:lpstr>Microstructure-based models</vt:lpstr>
      <vt:lpstr>Parametrizing the mechanistic model</vt:lpstr>
      <vt:lpstr>Parametrizing the mechanistic model</vt:lpstr>
      <vt:lpstr>Parametrizing the mechanistic model</vt:lpstr>
      <vt:lpstr>Comparing with experiments…</vt:lpstr>
      <vt:lpstr>UZr Fuel Performance Modeling</vt:lpstr>
      <vt:lpstr>U3Si2 Fuel Performance Modeling</vt:lpstr>
      <vt:lpstr>TRISO Particle Fuel Performance Modeling</vt:lpstr>
      <vt:lpstr>FeCrAl</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Nuclear Fuel Performance</dc:title>
  <dc:creator>Benjamin W. Beeler</dc:creator>
  <cp:lastModifiedBy>Benjamin Beeler</cp:lastModifiedBy>
  <cp:revision>15</cp:revision>
  <dcterms:created xsi:type="dcterms:W3CDTF">2024-02-20T20:00:53Z</dcterms:created>
  <dcterms:modified xsi:type="dcterms:W3CDTF">2026-02-10T14:53:19Z</dcterms:modified>
</cp:coreProperties>
</file>
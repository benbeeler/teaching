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82" r:id="rId2"/>
    <p:sldId id="551" r:id="rId3"/>
    <p:sldId id="417" r:id="rId4"/>
    <p:sldId id="418" r:id="rId5"/>
    <p:sldId id="419" r:id="rId6"/>
    <p:sldId id="550" r:id="rId7"/>
    <p:sldId id="429" r:id="rId8"/>
    <p:sldId id="431" r:id="rId9"/>
    <p:sldId id="432" r:id="rId10"/>
    <p:sldId id="545" r:id="rId11"/>
    <p:sldId id="552" r:id="rId12"/>
    <p:sldId id="433" r:id="rId13"/>
    <p:sldId id="434" r:id="rId14"/>
    <p:sldId id="436" r:id="rId15"/>
    <p:sldId id="438" r:id="rId16"/>
    <p:sldId id="439" r:id="rId17"/>
    <p:sldId id="427" r:id="rId18"/>
    <p:sldId id="413" r:id="rId19"/>
    <p:sldId id="426" r:id="rId20"/>
    <p:sldId id="398" r:id="rId21"/>
    <p:sldId id="286" r:id="rId22"/>
    <p:sldId id="287" r:id="rId23"/>
    <p:sldId id="288" r:id="rId24"/>
    <p:sldId id="290" r:id="rId25"/>
    <p:sldId id="289" r:id="rId26"/>
    <p:sldId id="548" r:id="rId27"/>
    <p:sldId id="425" r:id="rId28"/>
    <p:sldId id="54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55"/>
    <p:restoredTop sz="96327"/>
  </p:normalViewPr>
  <p:slideViewPr>
    <p:cSldViewPr snapToGrid="0">
      <p:cViewPr varScale="1">
        <p:scale>
          <a:sx n="128" d="100"/>
          <a:sy n="128" d="100"/>
        </p:scale>
        <p:origin x="35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lvl1pPr>
              <a:defRPr sz="4400"/>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D480A359-2FB3-4847-9D97-3491754AA7F9}" type="datetimeFigureOut">
              <a:rPr lang="en-US"/>
              <a:pPr>
                <a:defRPr/>
              </a:pPr>
              <a:t>1/22/26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4125370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dirty="0"/>
              <a:t>Click to edit Master title style</a:t>
            </a:r>
          </a:p>
        </p:txBody>
      </p:sp>
      <p:sp>
        <p:nvSpPr>
          <p:cNvPr id="3" name="Content Placeholder 2"/>
          <p:cNvSpPr>
            <a:spLocks noGrp="1"/>
          </p:cNvSpPr>
          <p:nvPr>
            <p:ph idx="1" hasCustomPrompt="1"/>
          </p:nvPr>
        </p:nvSpPr>
        <p:spPr>
          <a:xfrm>
            <a:off x="609600" y="2280746"/>
            <a:ext cx="10972800" cy="3845418"/>
          </a:xfrm>
        </p:spPr>
        <p:txBody>
          <a:bodyPr/>
          <a:lstStyle>
            <a:lvl1pPr>
              <a:defRPr sz="2200"/>
            </a:lvl1pPr>
            <a:lvl2pPr>
              <a:defRPr sz="2200"/>
            </a:lvl2pPr>
            <a:lvl3pPr>
              <a:defRPr sz="2200"/>
            </a:lvl3pPr>
            <a:lvl4pPr>
              <a:defRPr sz="2200"/>
            </a:lvl4pPr>
            <a:lvl5pPr>
              <a:defRPr sz="2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D128603A-2399-D64A-8203-C8F297F981E8}" type="datetimeFigureOut">
              <a:rPr lang="en-US"/>
              <a:pPr>
                <a:defRPr/>
              </a:pPr>
              <a:t>1/22/26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3026697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5CF71F39-3D09-F149-B1A1-DC2A7DB4A435}" type="datetimeFigureOut">
              <a:rPr lang="en-US"/>
              <a:pPr>
                <a:defRPr/>
              </a:pPr>
              <a:t>1/22/26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395035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dirty="0"/>
              <a:t>Click to edit Master title style</a:t>
            </a:r>
          </a:p>
        </p:txBody>
      </p:sp>
      <p:sp>
        <p:nvSpPr>
          <p:cNvPr id="3" name="Content Placeholder 2"/>
          <p:cNvSpPr>
            <a:spLocks noGrp="1"/>
          </p:cNvSpPr>
          <p:nvPr>
            <p:ph sz="half" idx="1" hasCustomPrompt="1"/>
          </p:nvPr>
        </p:nvSpPr>
        <p:spPr>
          <a:xfrm>
            <a:off x="609600" y="1968503"/>
            <a:ext cx="5384800" cy="4157663"/>
          </a:xfrm>
        </p:spPr>
        <p:txBody>
          <a:bodyPr/>
          <a:lstStyle>
            <a:lvl1pPr>
              <a:defRPr sz="2200"/>
            </a:lvl1pPr>
            <a:lvl2pPr>
              <a:defRPr sz="2200"/>
            </a:lvl2pPr>
            <a:lvl3pPr>
              <a:defRPr sz="2200"/>
            </a:lvl3pPr>
            <a:lvl4pPr>
              <a:defRPr sz="2200"/>
            </a:lvl4pPr>
            <a:lvl5pPr>
              <a:defRPr sz="22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17E7E973-E761-9943-801C-DE1E51E28431}" type="datetimeFigureOut">
              <a:rPr lang="en-US"/>
              <a:pPr>
                <a:defRPr/>
              </a:pPr>
              <a:t>1/22/26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629645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3200"/>
            </a:lvl1pPr>
          </a:lstStyle>
          <a:p>
            <a:r>
              <a:rPr lang="en-US" dirty="0"/>
              <a:t>Click to edit Master title style</a:t>
            </a:r>
          </a:p>
        </p:txBody>
      </p:sp>
      <p:sp>
        <p:nvSpPr>
          <p:cNvPr id="4" name="Content Placeholder 3"/>
          <p:cNvSpPr>
            <a:spLocks noGrp="1"/>
          </p:cNvSpPr>
          <p:nvPr>
            <p:ph sz="half" idx="2" hasCustomPrompt="1"/>
          </p:nvPr>
        </p:nvSpPr>
        <p:spPr>
          <a:xfrm>
            <a:off x="609600" y="2174875"/>
            <a:ext cx="5386917" cy="3951288"/>
          </a:xfrm>
        </p:spPr>
        <p:txBody>
          <a:bodyPr/>
          <a:lstStyle>
            <a:lvl1pPr>
              <a:defRPr sz="2200"/>
            </a:lvl1pPr>
            <a:lvl2pPr>
              <a:defRPr sz="2200"/>
            </a:lvl2pPr>
            <a:lvl3pPr>
              <a:defRPr sz="2200"/>
            </a:lvl3pPr>
            <a:lvl4pPr>
              <a:defRPr sz="2200"/>
            </a:lvl4pPr>
            <a:lvl5pPr>
              <a:defRPr sz="22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8ACE534-2B3A-FA4B-B87A-8AC244117610}" type="datetimeFigureOut">
              <a:rPr lang="en-US"/>
              <a:pPr>
                <a:defRPr/>
              </a:pPr>
              <a:t>1/22/26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4141396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2CDFFB5-C0BC-DE4D-9A38-E0EE75FC9E15}" type="datetimeFigureOut">
              <a:rPr lang="en-US"/>
              <a:pPr>
                <a:defRPr/>
              </a:pPr>
              <a:t>1/22/26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2773814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F42570F-F7E3-1F40-B6F3-59FE945D5A70}" type="datetimeFigureOut">
              <a:rPr lang="en-US"/>
              <a:pPr>
                <a:defRPr/>
              </a:pPr>
              <a:t>1/22/26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257086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371E9B0-C3DF-544F-BB14-A487ECCC7F43}" type="datetimeFigureOut">
              <a:rPr lang="en-US"/>
              <a:pPr>
                <a:defRPr/>
              </a:pPr>
              <a:t>1/22/26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578737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E5C4B1CF-5E0C-5D41-A3E2-D78942339385}" type="datetimeFigureOut">
              <a:rPr lang="en-US"/>
              <a:pPr>
                <a:defRPr/>
              </a:pPr>
              <a:t>1/22/26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685234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3BC5DAC-1A13-D34F-9418-D6257772B49C}" type="datetimeFigureOut">
              <a:rPr lang="en-US"/>
              <a:pPr>
                <a:defRPr/>
              </a:pPr>
              <a:t>1/22/26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1827585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4EC0D93-568E-6D41-8E6D-0963A71A503C}" type="datetimeFigureOut">
              <a:rPr lang="en-US"/>
              <a:pPr>
                <a:defRPr/>
              </a:pPr>
              <a:t>1/22/26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10903545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31836"/>
            <a:ext cx="10972800" cy="1068387"/>
          </a:xfrm>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609600" y="1800223"/>
            <a:ext cx="5384800" cy="432594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800223"/>
            <a:ext cx="5384800" cy="432594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C3B8AE4-01F5-CC42-9C62-61BC6528368B}" type="datetime1">
              <a:rPr lang="en-US" smtClean="0"/>
              <a:t>1/22/26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458168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2057400"/>
            <a:ext cx="10972800" cy="40687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C944504B-B211-B34D-97AF-78446C71FCDD}" type="datetimeFigureOut">
              <a:rPr lang="en-US" smtClean="0"/>
              <a:pPr>
                <a:defRPr/>
              </a:pPr>
              <a:t>1/22/26</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33234341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ctr" defTabSz="609585"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2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2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200"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2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2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430.png"/><Relationship Id="rId1" Type="http://schemas.openxmlformats.org/officeDocument/2006/relationships/slideLayout" Target="../slideLayouts/slideLayout2.xml"/><Relationship Id="rId4" Type="http://schemas.openxmlformats.org/officeDocument/2006/relationships/image" Target="../media/image3.tiff"/></Relationships>
</file>

<file path=ppt/slides/_rels/slide4.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7.tiff"/><Relationship Id="rId5" Type="http://schemas.openxmlformats.org/officeDocument/2006/relationships/image" Target="../media/image6.tiff"/><Relationship Id="rId4" Type="http://schemas.openxmlformats.org/officeDocument/2006/relationships/image" Target="../media/image5.tiff"/></Relationships>
</file>

<file path=ppt/slides/_rels/slide5.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gif"/><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 Id="rId4" Type="http://schemas.openxmlformats.org/officeDocument/2006/relationships/hyperlink" Target="https://doi.org/10.1016/j.actamat.2017.07.060"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0.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tiff"/><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tiff"/><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CEBA0-F4FB-0048-8F3D-BD218463FF20}"/>
              </a:ext>
            </a:extLst>
          </p:cNvPr>
          <p:cNvSpPr>
            <a:spLocks noGrp="1"/>
          </p:cNvSpPr>
          <p:nvPr>
            <p:ph type="ctrTitle"/>
          </p:nvPr>
        </p:nvSpPr>
        <p:spPr/>
        <p:txBody>
          <a:bodyPr/>
          <a:lstStyle/>
          <a:p>
            <a:r>
              <a:rPr lang="en-US" sz="4000" dirty="0"/>
              <a:t>Nuclear Fuel Performance</a:t>
            </a:r>
          </a:p>
        </p:txBody>
      </p:sp>
      <p:sp>
        <p:nvSpPr>
          <p:cNvPr id="3" name="Subtitle 2">
            <a:extLst>
              <a:ext uri="{FF2B5EF4-FFF2-40B4-BE49-F238E27FC236}">
                <a16:creationId xmlns:a16="http://schemas.microsoft.com/office/drawing/2014/main" id="{768DE25D-10FF-1D41-9E49-CCD029714F59}"/>
              </a:ext>
            </a:extLst>
          </p:cNvPr>
          <p:cNvSpPr>
            <a:spLocks noGrp="1"/>
          </p:cNvSpPr>
          <p:nvPr>
            <p:ph type="subTitle" idx="1"/>
          </p:nvPr>
        </p:nvSpPr>
        <p:spPr/>
        <p:txBody>
          <a:bodyPr/>
          <a:lstStyle/>
          <a:p>
            <a:r>
              <a:rPr lang="en-US" dirty="0"/>
              <a:t>NE 533: Spring 2026</a:t>
            </a:r>
          </a:p>
        </p:txBody>
      </p:sp>
      <p:sp>
        <p:nvSpPr>
          <p:cNvPr id="4" name="Slide Number Placeholder 3">
            <a:extLst>
              <a:ext uri="{FF2B5EF4-FFF2-40B4-BE49-F238E27FC236}">
                <a16:creationId xmlns:a16="http://schemas.microsoft.com/office/drawing/2014/main" id="{128EED92-2B94-B04B-ACF3-199640B45F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E82176-A547-F94B-AC51-D6E9C882CB8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742535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F3436-81F1-4C52-ABB5-BF34C18BBC48}"/>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25063B90-43B8-BCA8-C29D-C8171ECB6DD8}"/>
              </a:ext>
            </a:extLst>
          </p:cNvPr>
          <p:cNvSpPr>
            <a:spLocks noGrp="1"/>
          </p:cNvSpPr>
          <p:nvPr>
            <p:ph idx="1"/>
          </p:nvPr>
        </p:nvSpPr>
        <p:spPr/>
        <p:txBody>
          <a:bodyPr/>
          <a:lstStyle/>
          <a:p>
            <a:r>
              <a:rPr lang="en-US" dirty="0"/>
              <a:t>Volumetric heat generation: Q = E</a:t>
            </a:r>
            <a:r>
              <a:rPr lang="en-US" baseline="-25000" dirty="0"/>
              <a:t>f</a:t>
            </a:r>
            <a:r>
              <a:rPr lang="en-US" dirty="0"/>
              <a:t> x </a:t>
            </a:r>
            <a:r>
              <a:rPr lang="en-US" dirty="0" err="1"/>
              <a:t>N</a:t>
            </a:r>
            <a:r>
              <a:rPr lang="en-US" baseline="-25000" dirty="0" err="1"/>
              <a:t>f</a:t>
            </a:r>
            <a:r>
              <a:rPr lang="en-US" dirty="0"/>
              <a:t> x </a:t>
            </a:r>
            <a:r>
              <a:rPr lang="en-US" dirty="0">
                <a:latin typeface="Symbol" pitchFamily="2" charset="2"/>
              </a:rPr>
              <a:t>s</a:t>
            </a:r>
            <a:r>
              <a:rPr lang="en-US" baseline="-25000" dirty="0">
                <a:latin typeface="Arial" panose="020B0604020202020204" pitchFamily="34" charset="0"/>
                <a:cs typeface="Arial" panose="020B0604020202020204" pitchFamily="34" charset="0"/>
              </a:rPr>
              <a:t>f</a:t>
            </a:r>
            <a:r>
              <a:rPr lang="en-US" dirty="0">
                <a:latin typeface="Symbol" pitchFamily="2" charset="2"/>
              </a:rPr>
              <a:t> </a:t>
            </a:r>
            <a:r>
              <a:rPr lang="en-US" dirty="0">
                <a:latin typeface="Arial" panose="020B0604020202020204" pitchFamily="34" charset="0"/>
                <a:cs typeface="Arial" panose="020B0604020202020204" pitchFamily="34" charset="0"/>
              </a:rPr>
              <a:t>x</a:t>
            </a:r>
            <a:r>
              <a:rPr lang="en-US" dirty="0">
                <a:latin typeface="Symbol" pitchFamily="2" charset="2"/>
              </a:rPr>
              <a:t> f</a:t>
            </a:r>
          </a:p>
          <a:p>
            <a:r>
              <a:rPr lang="en-US" dirty="0"/>
              <a:t>Talked through ‘real’ scenarios to solve heat conduction equation</a:t>
            </a:r>
          </a:p>
          <a:p>
            <a:r>
              <a:rPr lang="en-US" dirty="0"/>
              <a:t>Derived temperature profile across fuel, cladding gap</a:t>
            </a:r>
          </a:p>
          <a:p>
            <a:r>
              <a:rPr lang="en-US" dirty="0"/>
              <a:t>Assumptions:</a:t>
            </a:r>
          </a:p>
          <a:p>
            <a:pPr lvl="1"/>
            <a:r>
              <a:rPr lang="en-US" dirty="0"/>
              <a:t>Steady-state solution</a:t>
            </a:r>
          </a:p>
          <a:p>
            <a:pPr lvl="1"/>
            <a:r>
              <a:rPr lang="en-US" dirty="0"/>
              <a:t>Temperature is axisymmetric</a:t>
            </a:r>
          </a:p>
          <a:p>
            <a:pPr lvl="1"/>
            <a:r>
              <a:rPr lang="en-US" dirty="0"/>
              <a:t>T is constant in Z</a:t>
            </a:r>
          </a:p>
          <a:p>
            <a:pPr lvl="1"/>
            <a:r>
              <a:rPr lang="en-US" dirty="0"/>
              <a:t>Thermal conductivity is independent of temperature</a:t>
            </a:r>
          </a:p>
          <a:p>
            <a:r>
              <a:rPr lang="en-US" dirty="0"/>
              <a:t>Temperature profile in the fuel is parabolic, linear profiles in gap, cladding, and coolant</a:t>
            </a:r>
          </a:p>
          <a:p>
            <a:pPr lvl="1"/>
            <a:endParaRPr lang="en-US" dirty="0"/>
          </a:p>
        </p:txBody>
      </p:sp>
    </p:spTree>
    <p:extLst>
      <p:ext uri="{BB962C8B-B14F-4D97-AF65-F5344CB8AC3E}">
        <p14:creationId xmlns:p14="http://schemas.microsoft.com/office/powerpoint/2010/main" val="407513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E6194-F8DD-B54B-B583-BABDDAC359B5}"/>
              </a:ext>
            </a:extLst>
          </p:cNvPr>
          <p:cNvSpPr>
            <a:spLocks noGrp="1"/>
          </p:cNvSpPr>
          <p:nvPr>
            <p:ph type="title"/>
          </p:nvPr>
        </p:nvSpPr>
        <p:spPr/>
        <p:txBody>
          <a:bodyPr/>
          <a:lstStyle/>
          <a:p>
            <a:r>
              <a:rPr lang="en-US" dirty="0"/>
              <a:t>Neutron flux varies axially, so does LHR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90C441-0B17-F74F-B776-9607167C47A2}"/>
                  </a:ext>
                </a:extLst>
              </p:cNvPr>
              <p:cNvSpPr>
                <a:spLocks noGrp="1"/>
              </p:cNvSpPr>
              <p:nvPr>
                <p:ph idx="1"/>
              </p:nvPr>
            </p:nvSpPr>
            <p:spPr>
              <a:xfrm>
                <a:off x="609600" y="2160495"/>
                <a:ext cx="7320197" cy="3965670"/>
              </a:xfrm>
            </p:spPr>
            <p:txBody>
              <a:bodyPr/>
              <a:lstStyle/>
              <a:p>
                <a:r>
                  <a:rPr lang="en-US" dirty="0"/>
                  <a:t>Taking a fuel rod with length, L = 2*Z</a:t>
                </a:r>
                <a:r>
                  <a:rPr lang="en-US" baseline="-25000" dirty="0"/>
                  <a:t>0</a:t>
                </a:r>
              </a:p>
              <a:p>
                <a:endParaRPr lang="en-US" baseline="-25000" dirty="0"/>
              </a:p>
              <a:p>
                <a:endParaRPr lang="en-US" baseline="-25000" dirty="0"/>
              </a:p>
              <a:p>
                <a:endParaRPr lang="en-US" baseline="-25000" dirty="0"/>
              </a:p>
              <a:p>
                <a:endParaRPr lang="en-US" baseline="-25000" dirty="0"/>
              </a:p>
              <a:p>
                <a:r>
                  <a:rPr lang="en-US" dirty="0"/>
                  <a:t>LHR</a:t>
                </a:r>
                <a:r>
                  <a:rPr lang="en-US" baseline="30000" dirty="0"/>
                  <a:t>0</a:t>
                </a:r>
                <a:r>
                  <a:rPr lang="en-US" dirty="0"/>
                  <a:t> is the midpoint linear heat rate, i.e. @ z=Z</a:t>
                </a:r>
                <a:r>
                  <a:rPr lang="en-US" baseline="-25000" dirty="0"/>
                  <a:t>0</a:t>
                </a:r>
              </a:p>
              <a:p>
                <a14:m>
                  <m:oMath xmlns:m="http://schemas.openxmlformats.org/officeDocument/2006/math">
                    <m:r>
                      <a:rPr lang="en-US" i="1" smtClean="0">
                        <a:latin typeface="Cambria Math" panose="02040503050406030204" pitchFamily="18" charset="0"/>
                        <a:ea typeface="Cambria Math" panose="02040503050406030204" pitchFamily="18" charset="0"/>
                      </a:rPr>
                      <m:t>𝛾</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𝑍</m:t>
                            </m:r>
                          </m:e>
                          <m:sub>
                            <m:r>
                              <a:rPr lang="en-US" b="0" i="1" smtClean="0">
                                <a:latin typeface="Cambria Math" panose="02040503050406030204" pitchFamily="18" charset="0"/>
                                <a:ea typeface="Cambria Math" panose="02040503050406030204" pitchFamily="18" charset="0"/>
                              </a:rPr>
                              <m:t>𝑒𝑥</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𝑍</m:t>
                            </m:r>
                          </m:e>
                          <m:sub>
                            <m:r>
                              <a:rPr lang="en-US" b="0" i="1" smtClean="0">
                                <a:latin typeface="Cambria Math" panose="02040503050406030204" pitchFamily="18" charset="0"/>
                                <a:ea typeface="Cambria Math" panose="02040503050406030204" pitchFamily="18" charset="0"/>
                              </a:rPr>
                              <m:t>0</m:t>
                            </m:r>
                          </m:sub>
                        </m:sSub>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𝑍</m:t>
                            </m:r>
                          </m:e>
                          <m:sub>
                            <m:r>
                              <a:rPr lang="en-US" b="0" i="1" smtClean="0">
                                <a:latin typeface="Cambria Math" panose="02040503050406030204" pitchFamily="18" charset="0"/>
                                <a:ea typeface="Cambria Math" panose="02040503050406030204" pitchFamily="18" charset="0"/>
                              </a:rPr>
                              <m:t>0</m:t>
                            </m:r>
                          </m:sub>
                        </m:sSub>
                      </m:den>
                    </m:f>
                  </m:oMath>
                </a14:m>
                <a:r>
                  <a:rPr lang="en-US" dirty="0"/>
                  <a:t> , where </a:t>
                </a:r>
                <a:r>
                  <a:rPr lang="en-US" dirty="0" err="1"/>
                  <a:t>Z</a:t>
                </a:r>
                <a:r>
                  <a:rPr lang="en-US" baseline="-25000" dirty="0" err="1"/>
                  <a:t>ex</a:t>
                </a:r>
                <a:r>
                  <a:rPr lang="en-US" dirty="0"/>
                  <a:t> is the extrapolation distance</a:t>
                </a:r>
              </a:p>
              <a:p>
                <a:r>
                  <a:rPr lang="en-US" dirty="0"/>
                  <a:t>A typical value is </a:t>
                </a:r>
                <a14:m>
                  <m:oMath xmlns:m="http://schemas.openxmlformats.org/officeDocument/2006/math">
                    <m:r>
                      <a:rPr lang="en-US" i="1">
                        <a:latin typeface="Cambria Math" panose="02040503050406030204" pitchFamily="18" charset="0"/>
                        <a:ea typeface="Cambria Math" panose="02040503050406030204" pitchFamily="18" charset="0"/>
                      </a:rPr>
                      <m:t>𝛾</m:t>
                    </m:r>
                    <m:r>
                      <a:rPr lang="en-US" i="1">
                        <a:latin typeface="Cambria Math" panose="02040503050406030204" pitchFamily="18" charset="0"/>
                        <a:ea typeface="Cambria Math" panose="02040503050406030204" pitchFamily="18" charset="0"/>
                      </a:rPr>
                      <m:t>=</m:t>
                    </m:r>
                  </m:oMath>
                </a14:m>
                <a:r>
                  <a:rPr lang="en-US" dirty="0"/>
                  <a:t> 1.3; can reduce </a:t>
                </a:r>
                <a:r>
                  <a:rPr lang="en-US" dirty="0">
                    <a:latin typeface="Symbol" pitchFamily="2" charset="2"/>
                  </a:rPr>
                  <a:t>p/2g </a:t>
                </a:r>
                <a:r>
                  <a:rPr lang="en-US" dirty="0">
                    <a:latin typeface="Arial" panose="020B0604020202020204" pitchFamily="34" charset="0"/>
                    <a:cs typeface="Arial" panose="020B0604020202020204" pitchFamily="34" charset="0"/>
                  </a:rPr>
                  <a:t>to 1.2</a:t>
                </a:r>
              </a:p>
            </p:txBody>
          </p:sp>
        </mc:Choice>
        <mc:Fallback xmlns="">
          <p:sp>
            <p:nvSpPr>
              <p:cNvPr id="3" name="Content Placeholder 2">
                <a:extLst>
                  <a:ext uri="{FF2B5EF4-FFF2-40B4-BE49-F238E27FC236}">
                    <a16:creationId xmlns:a16="http://schemas.microsoft.com/office/drawing/2014/main" id="{8890C441-0B17-F74F-B776-9607167C47A2}"/>
                  </a:ext>
                </a:extLst>
              </p:cNvPr>
              <p:cNvSpPr>
                <a:spLocks noGrp="1" noRot="1" noChangeAspect="1" noMove="1" noResize="1" noEditPoints="1" noAdjustHandles="1" noChangeArrowheads="1" noChangeShapeType="1" noTextEdit="1"/>
              </p:cNvSpPr>
              <p:nvPr>
                <p:ph idx="1"/>
              </p:nvPr>
            </p:nvSpPr>
            <p:spPr>
              <a:xfrm>
                <a:off x="609600" y="2160495"/>
                <a:ext cx="7320197" cy="3965670"/>
              </a:xfrm>
              <a:blipFill>
                <a:blip r:embed="rId2"/>
                <a:stretch>
                  <a:fillRect l="-1213" t="-95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E9A5199-D345-9B48-8692-24B0C97543D1}"/>
              </a:ext>
            </a:extLst>
          </p:cNvPr>
          <p:cNvSpPr>
            <a:spLocks noGrp="1"/>
          </p:cNvSpPr>
          <p:nvPr>
            <p:ph type="sldNum" sz="quarter" idx="12"/>
          </p:nvPr>
        </p:nvSpPr>
        <p:spPr/>
        <p:txBody>
          <a:bodyPr/>
          <a:lstStyle/>
          <a:p>
            <a:pPr>
              <a:defRPr/>
            </a:pPr>
            <a:fld id="{3FF2C605-4958-CF43-AA48-80339EFDB0AF}" type="slidenum">
              <a:rPr lang="en-US" smtClean="0"/>
              <a:pPr>
                <a:defRPr/>
              </a:pPr>
              <a:t>3</a:t>
            </a:fld>
            <a:endParaRPr lang="en-US"/>
          </a:p>
        </p:txBody>
      </p:sp>
      <p:pic>
        <p:nvPicPr>
          <p:cNvPr id="5" name="Picture 4">
            <a:extLst>
              <a:ext uri="{FF2B5EF4-FFF2-40B4-BE49-F238E27FC236}">
                <a16:creationId xmlns:a16="http://schemas.microsoft.com/office/drawing/2014/main" id="{D7F5DC96-330B-8845-96D1-BC2B921CCE7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134610" y="2770874"/>
            <a:ext cx="5033364" cy="805717"/>
          </a:xfrm>
          <a:prstGeom prst="rect">
            <a:avLst/>
          </a:prstGeom>
        </p:spPr>
      </p:pic>
      <p:pic>
        <p:nvPicPr>
          <p:cNvPr id="6" name="Picture 5">
            <a:extLst>
              <a:ext uri="{FF2B5EF4-FFF2-40B4-BE49-F238E27FC236}">
                <a16:creationId xmlns:a16="http://schemas.microsoft.com/office/drawing/2014/main" id="{0BAF6281-68F6-EB49-86D8-BBE421E2DD1B}"/>
              </a:ext>
            </a:extLst>
          </p:cNvPr>
          <p:cNvPicPr>
            <a:picLocks noChangeAspect="1"/>
          </p:cNvPicPr>
          <p:nvPr/>
        </p:nvPicPr>
        <p:blipFill>
          <a:blip r:embed="rId4"/>
          <a:stretch>
            <a:fillRect/>
          </a:stretch>
        </p:blipFill>
        <p:spPr>
          <a:xfrm>
            <a:off x="10456472" y="796831"/>
            <a:ext cx="1417567" cy="5559520"/>
          </a:xfrm>
          <a:prstGeom prst="rect">
            <a:avLst/>
          </a:prstGeom>
        </p:spPr>
      </p:pic>
    </p:spTree>
    <p:extLst>
      <p:ext uri="{BB962C8B-B14F-4D97-AF65-F5344CB8AC3E}">
        <p14:creationId xmlns:p14="http://schemas.microsoft.com/office/powerpoint/2010/main" val="1818650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36FE5-9442-A240-B108-6C147AAEBC18}"/>
              </a:ext>
            </a:extLst>
          </p:cNvPr>
          <p:cNvSpPr>
            <a:spLocks noGrp="1"/>
          </p:cNvSpPr>
          <p:nvPr>
            <p:ph type="title"/>
          </p:nvPr>
        </p:nvSpPr>
        <p:spPr/>
        <p:txBody>
          <a:bodyPr/>
          <a:lstStyle/>
          <a:p>
            <a:r>
              <a:rPr lang="en-US" dirty="0"/>
              <a:t>Coolant temperature varies with Z</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20E121-BBD5-274D-B657-F780EB7D9B3C}"/>
                  </a:ext>
                </a:extLst>
              </p:cNvPr>
              <p:cNvSpPr>
                <a:spLocks noGrp="1"/>
              </p:cNvSpPr>
              <p:nvPr>
                <p:ph idx="1"/>
              </p:nvPr>
            </p:nvSpPr>
            <p:spPr>
              <a:xfrm>
                <a:off x="609600" y="2160495"/>
                <a:ext cx="3065385" cy="3965670"/>
              </a:xfrm>
            </p:spPr>
            <p:txBody>
              <a:bodyPr/>
              <a:lstStyle/>
              <a:p>
                <a:r>
                  <a:rPr lang="en-US" dirty="0"/>
                  <a:t>Each rod has a given flow area</a:t>
                </a:r>
              </a:p>
              <a:p>
                <a:r>
                  <a:rPr lang="en-US" dirty="0"/>
                  <a:t>Mass flow rate: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𝑚</m:t>
                        </m:r>
                      </m:e>
                    </m:acc>
                  </m:oMath>
                </a14:m>
                <a:endParaRPr lang="en-US" dirty="0"/>
              </a:p>
              <a:p>
                <a:r>
                  <a:rPr lang="en-US" dirty="0"/>
                  <a:t>Coolant specific heat: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𝑃𝑊</m:t>
                        </m:r>
                      </m:sub>
                    </m:sSub>
                  </m:oMath>
                </a14:m>
                <a:r>
                  <a:rPr lang="en-US" dirty="0"/>
                  <a:t> </a:t>
                </a:r>
              </a:p>
              <a:p>
                <a:endParaRPr lang="en-US" dirty="0"/>
              </a:p>
            </p:txBody>
          </p:sp>
        </mc:Choice>
        <mc:Fallback xmlns="">
          <p:sp>
            <p:nvSpPr>
              <p:cNvPr id="3" name="Content Placeholder 2">
                <a:extLst>
                  <a:ext uri="{FF2B5EF4-FFF2-40B4-BE49-F238E27FC236}">
                    <a16:creationId xmlns:a16="http://schemas.microsoft.com/office/drawing/2014/main" id="{CA20E121-BBD5-274D-B657-F780EB7D9B3C}"/>
                  </a:ext>
                </a:extLst>
              </p:cNvPr>
              <p:cNvSpPr>
                <a:spLocks noGrp="1" noRot="1" noChangeAspect="1" noMove="1" noResize="1" noEditPoints="1" noAdjustHandles="1" noChangeArrowheads="1" noChangeShapeType="1" noTextEdit="1"/>
              </p:cNvSpPr>
              <p:nvPr>
                <p:ph idx="1"/>
              </p:nvPr>
            </p:nvSpPr>
            <p:spPr>
              <a:xfrm>
                <a:off x="609600" y="2160495"/>
                <a:ext cx="3065385" cy="3965670"/>
              </a:xfrm>
              <a:blipFill>
                <a:blip r:embed="rId2"/>
                <a:stretch>
                  <a:fillRect l="-2905" t="-95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F63AD60-094A-0D40-85F9-BAB2D5038CB9}"/>
              </a:ext>
            </a:extLst>
          </p:cNvPr>
          <p:cNvSpPr>
            <a:spLocks noGrp="1"/>
          </p:cNvSpPr>
          <p:nvPr>
            <p:ph type="sldNum" sz="quarter" idx="12"/>
          </p:nvPr>
        </p:nvSpPr>
        <p:spPr/>
        <p:txBody>
          <a:bodyPr/>
          <a:lstStyle/>
          <a:p>
            <a:pPr>
              <a:defRPr/>
            </a:pPr>
            <a:fld id="{3FF2C605-4958-CF43-AA48-80339EFDB0AF}" type="slidenum">
              <a:rPr lang="en-US" smtClean="0"/>
              <a:pPr>
                <a:defRPr/>
              </a:pPr>
              <a:t>4</a:t>
            </a:fld>
            <a:endParaRPr lang="en-US"/>
          </a:p>
        </p:txBody>
      </p:sp>
      <p:pic>
        <p:nvPicPr>
          <p:cNvPr id="5" name="Picture 4">
            <a:extLst>
              <a:ext uri="{FF2B5EF4-FFF2-40B4-BE49-F238E27FC236}">
                <a16:creationId xmlns:a16="http://schemas.microsoft.com/office/drawing/2014/main" id="{FCACCB56-8751-DC45-B598-06CDF9383CA6}"/>
              </a:ext>
            </a:extLst>
          </p:cNvPr>
          <p:cNvPicPr>
            <a:picLocks noChangeAspect="1"/>
          </p:cNvPicPr>
          <p:nvPr/>
        </p:nvPicPr>
        <p:blipFill>
          <a:blip r:embed="rId3"/>
          <a:stretch>
            <a:fillRect/>
          </a:stretch>
        </p:blipFill>
        <p:spPr>
          <a:xfrm>
            <a:off x="8666102" y="2122507"/>
            <a:ext cx="2844800" cy="2823084"/>
          </a:xfrm>
          <a:prstGeom prst="rect">
            <a:avLst/>
          </a:prstGeom>
        </p:spPr>
      </p:pic>
      <p:pic>
        <p:nvPicPr>
          <p:cNvPr id="6" name="Picture 5">
            <a:extLst>
              <a:ext uri="{FF2B5EF4-FFF2-40B4-BE49-F238E27FC236}">
                <a16:creationId xmlns:a16="http://schemas.microsoft.com/office/drawing/2014/main" id="{18FCEBF7-5071-1D47-8E2D-64EC3066E51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774160" y="2495477"/>
            <a:ext cx="2643682" cy="814970"/>
          </a:xfrm>
          <a:prstGeom prst="rect">
            <a:avLst/>
          </a:prstGeom>
        </p:spPr>
      </p:pic>
      <p:pic>
        <p:nvPicPr>
          <p:cNvPr id="7" name="Picture 6">
            <a:extLst>
              <a:ext uri="{FF2B5EF4-FFF2-40B4-BE49-F238E27FC236}">
                <a16:creationId xmlns:a16="http://schemas.microsoft.com/office/drawing/2014/main" id="{6F06B6A0-2D17-4B4F-92D0-F1628247448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674986" y="3436792"/>
            <a:ext cx="4842029" cy="882325"/>
          </a:xfrm>
          <a:prstGeom prst="rect">
            <a:avLst/>
          </a:prstGeom>
        </p:spPr>
      </p:pic>
      <p:pic>
        <p:nvPicPr>
          <p:cNvPr id="8" name="Picture 7">
            <a:extLst>
              <a:ext uri="{FF2B5EF4-FFF2-40B4-BE49-F238E27FC236}">
                <a16:creationId xmlns:a16="http://schemas.microsoft.com/office/drawing/2014/main" id="{403409C5-062F-D543-B8A4-60D4B53C379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335103" y="4433133"/>
            <a:ext cx="5521793" cy="1885026"/>
          </a:xfrm>
          <a:prstGeom prst="rect">
            <a:avLst/>
          </a:prstGeom>
        </p:spPr>
      </p:pic>
    </p:spTree>
    <p:extLst>
      <p:ext uri="{BB962C8B-B14F-4D97-AF65-F5344CB8AC3E}">
        <p14:creationId xmlns:p14="http://schemas.microsoft.com/office/powerpoint/2010/main" val="940973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0D42F-D896-D641-9AC7-E3CA88074B85}"/>
              </a:ext>
            </a:extLst>
          </p:cNvPr>
          <p:cNvSpPr>
            <a:spLocks noGrp="1"/>
          </p:cNvSpPr>
          <p:nvPr>
            <p:ph type="title"/>
          </p:nvPr>
        </p:nvSpPr>
        <p:spPr/>
        <p:txBody>
          <a:bodyPr/>
          <a:lstStyle/>
          <a:p>
            <a:r>
              <a:rPr lang="en-US" dirty="0"/>
              <a:t>Calculate LHR and </a:t>
            </a:r>
            <a:r>
              <a:rPr lang="en-US" dirty="0" err="1"/>
              <a:t>T</a:t>
            </a:r>
            <a:r>
              <a:rPr lang="en-US" baseline="-25000" dirty="0" err="1"/>
              <a:t>cool</a:t>
            </a:r>
            <a:r>
              <a:rPr lang="en-US" dirty="0"/>
              <a:t> with axial variation</a:t>
            </a:r>
          </a:p>
        </p:txBody>
      </p:sp>
      <p:sp>
        <p:nvSpPr>
          <p:cNvPr id="3" name="Content Placeholder 2">
            <a:extLst>
              <a:ext uri="{FF2B5EF4-FFF2-40B4-BE49-F238E27FC236}">
                <a16:creationId xmlns:a16="http://schemas.microsoft.com/office/drawing/2014/main" id="{0ED25CC9-9D1A-6C48-BACE-DAD35B4F4710}"/>
              </a:ext>
            </a:extLst>
          </p:cNvPr>
          <p:cNvSpPr>
            <a:spLocks noGrp="1"/>
          </p:cNvSpPr>
          <p:nvPr>
            <p:ph idx="1"/>
          </p:nvPr>
        </p:nvSpPr>
        <p:spPr>
          <a:xfrm>
            <a:off x="609600" y="2160495"/>
            <a:ext cx="6016052" cy="3965670"/>
          </a:xfrm>
        </p:spPr>
        <p:txBody>
          <a:bodyPr/>
          <a:lstStyle/>
          <a:p>
            <a:r>
              <a:rPr lang="en-US" dirty="0" err="1"/>
              <a:t>mdot</a:t>
            </a:r>
            <a:r>
              <a:rPr lang="en-US" dirty="0"/>
              <a:t> = 0.25 kg/s-rod; Z</a:t>
            </a:r>
            <a:r>
              <a:rPr lang="en-US" baseline="-25000" dirty="0"/>
              <a:t>0</a:t>
            </a:r>
            <a:r>
              <a:rPr lang="en-US" dirty="0"/>
              <a:t> = 150 cm; LHR</a:t>
            </a:r>
            <a:r>
              <a:rPr lang="en-US" baseline="30000" dirty="0"/>
              <a:t>0</a:t>
            </a:r>
            <a:r>
              <a:rPr lang="en-US" dirty="0"/>
              <a:t> = 150 W/cm; C</a:t>
            </a:r>
            <a:r>
              <a:rPr lang="en-US" baseline="-25000" dirty="0"/>
              <a:t>PW</a:t>
            </a:r>
            <a:r>
              <a:rPr lang="en-US" dirty="0"/>
              <a:t> = 4200 J/kg-K; T</a:t>
            </a:r>
            <a:r>
              <a:rPr lang="en-US" baseline="-25000" dirty="0"/>
              <a:t>in</a:t>
            </a:r>
            <a:r>
              <a:rPr lang="en-US" dirty="0"/>
              <a:t>= 570 K</a:t>
            </a:r>
          </a:p>
          <a:p>
            <a:endParaRPr lang="en-US" dirty="0"/>
          </a:p>
        </p:txBody>
      </p:sp>
      <p:sp>
        <p:nvSpPr>
          <p:cNvPr id="4" name="Slide Number Placeholder 3">
            <a:extLst>
              <a:ext uri="{FF2B5EF4-FFF2-40B4-BE49-F238E27FC236}">
                <a16:creationId xmlns:a16="http://schemas.microsoft.com/office/drawing/2014/main" id="{5B8AEF2A-112C-2149-82FE-A6D9D8934188}"/>
              </a:ext>
            </a:extLst>
          </p:cNvPr>
          <p:cNvSpPr>
            <a:spLocks noGrp="1"/>
          </p:cNvSpPr>
          <p:nvPr>
            <p:ph type="sldNum" sz="quarter" idx="12"/>
          </p:nvPr>
        </p:nvSpPr>
        <p:spPr/>
        <p:txBody>
          <a:bodyPr/>
          <a:lstStyle/>
          <a:p>
            <a:pPr>
              <a:defRPr/>
            </a:pPr>
            <a:fld id="{3FF2C605-4958-CF43-AA48-80339EFDB0AF}" type="slidenum">
              <a:rPr lang="en-US" smtClean="0"/>
              <a:pPr>
                <a:defRPr/>
              </a:pPr>
              <a:t>5</a:t>
            </a:fld>
            <a:endParaRPr lang="en-US"/>
          </a:p>
        </p:txBody>
      </p:sp>
      <p:pic>
        <p:nvPicPr>
          <p:cNvPr id="5" name="Picture 4">
            <a:extLst>
              <a:ext uri="{FF2B5EF4-FFF2-40B4-BE49-F238E27FC236}">
                <a16:creationId xmlns:a16="http://schemas.microsoft.com/office/drawing/2014/main" id="{4532923B-7C4E-9942-88A1-3DD2EFEF8740}"/>
              </a:ext>
            </a:extLst>
          </p:cNvPr>
          <p:cNvPicPr>
            <a:picLocks noChangeAspect="1"/>
          </p:cNvPicPr>
          <p:nvPr/>
        </p:nvPicPr>
        <p:blipFill>
          <a:blip r:embed="rId2"/>
          <a:stretch>
            <a:fillRect/>
          </a:stretch>
        </p:blipFill>
        <p:spPr>
          <a:xfrm>
            <a:off x="6872258" y="2459010"/>
            <a:ext cx="4710142" cy="3252241"/>
          </a:xfrm>
          <a:prstGeom prst="rect">
            <a:avLst/>
          </a:prstGeom>
        </p:spPr>
      </p:pic>
      <p:pic>
        <p:nvPicPr>
          <p:cNvPr id="6" name="Picture 5">
            <a:extLst>
              <a:ext uri="{FF2B5EF4-FFF2-40B4-BE49-F238E27FC236}">
                <a16:creationId xmlns:a16="http://schemas.microsoft.com/office/drawing/2014/main" id="{B300F0CD-F56C-8C4C-85AC-9A63FF20EDE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56729" y="4143330"/>
            <a:ext cx="5521793" cy="907165"/>
          </a:xfrm>
          <a:prstGeom prst="rect">
            <a:avLst/>
          </a:prstGeom>
        </p:spPr>
      </p:pic>
    </p:spTree>
    <p:extLst>
      <p:ext uri="{BB962C8B-B14F-4D97-AF65-F5344CB8AC3E}">
        <p14:creationId xmlns:p14="http://schemas.microsoft.com/office/powerpoint/2010/main" val="3092277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056C3-0DFF-9E16-0103-1633DF0E6C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D948A5-E69D-3786-7B0C-5C7F507E79AF}"/>
              </a:ext>
            </a:extLst>
          </p:cNvPr>
          <p:cNvSpPr>
            <a:spLocks noGrp="1"/>
          </p:cNvSpPr>
          <p:nvPr>
            <p:ph type="title"/>
          </p:nvPr>
        </p:nvSpPr>
        <p:spPr/>
        <p:txBody>
          <a:bodyPr/>
          <a:lstStyle/>
          <a:p>
            <a:r>
              <a:rPr lang="en-US" dirty="0"/>
              <a:t>Thermal Operational Limits</a:t>
            </a:r>
          </a:p>
        </p:txBody>
      </p:sp>
      <p:sp>
        <p:nvSpPr>
          <p:cNvPr id="4" name="Slide Number Placeholder 3">
            <a:extLst>
              <a:ext uri="{FF2B5EF4-FFF2-40B4-BE49-F238E27FC236}">
                <a16:creationId xmlns:a16="http://schemas.microsoft.com/office/drawing/2014/main" id="{F839F550-0A79-22FD-B88A-BD66CA4A1E2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6BD0F-ABBC-C14D-BC96-77BE126A748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20692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87779-EE1B-9747-916C-6AC5676EE933}"/>
              </a:ext>
            </a:extLst>
          </p:cNvPr>
          <p:cNvSpPr>
            <a:spLocks noGrp="1"/>
          </p:cNvSpPr>
          <p:nvPr>
            <p:ph type="title"/>
          </p:nvPr>
        </p:nvSpPr>
        <p:spPr/>
        <p:txBody>
          <a:bodyPr/>
          <a:lstStyle/>
          <a:p>
            <a:r>
              <a:rPr lang="en-US" dirty="0"/>
              <a:t>Thermal Operational Limits</a:t>
            </a:r>
          </a:p>
        </p:txBody>
      </p:sp>
      <p:sp>
        <p:nvSpPr>
          <p:cNvPr id="3" name="Content Placeholder 2">
            <a:extLst>
              <a:ext uri="{FF2B5EF4-FFF2-40B4-BE49-F238E27FC236}">
                <a16:creationId xmlns:a16="http://schemas.microsoft.com/office/drawing/2014/main" id="{E83932E2-D9AC-254B-B0BC-313C3890BD99}"/>
              </a:ext>
            </a:extLst>
          </p:cNvPr>
          <p:cNvSpPr>
            <a:spLocks noGrp="1"/>
          </p:cNvSpPr>
          <p:nvPr>
            <p:ph sz="half" idx="1"/>
          </p:nvPr>
        </p:nvSpPr>
        <p:spPr/>
        <p:txBody>
          <a:bodyPr/>
          <a:lstStyle/>
          <a:p>
            <a:r>
              <a:rPr lang="en-US" sz="2000" dirty="0"/>
              <a:t>Thermal limits are prescribed for normal operation and accident conditions, with the goal of avoiding fuel damage</a:t>
            </a:r>
          </a:p>
          <a:p>
            <a:r>
              <a:rPr lang="en-US" sz="2000" dirty="0"/>
              <a:t>Operational limits provide an envelope under which fuel failure will not occur</a:t>
            </a:r>
          </a:p>
          <a:p>
            <a:r>
              <a:rPr lang="en-US" sz="2000" dirty="0"/>
              <a:t>LHR limits</a:t>
            </a:r>
          </a:p>
          <a:p>
            <a:r>
              <a:rPr lang="en-US" sz="2000" dirty="0"/>
              <a:t>Centerline temperature limits</a:t>
            </a:r>
          </a:p>
        </p:txBody>
      </p:sp>
      <p:sp>
        <p:nvSpPr>
          <p:cNvPr id="4" name="Content Placeholder 3">
            <a:extLst>
              <a:ext uri="{FF2B5EF4-FFF2-40B4-BE49-F238E27FC236}">
                <a16:creationId xmlns:a16="http://schemas.microsoft.com/office/drawing/2014/main" id="{EEE40D5E-9BC0-204C-A149-012EDCF138E9}"/>
              </a:ext>
            </a:extLst>
          </p:cNvPr>
          <p:cNvSpPr>
            <a:spLocks noGrp="1"/>
          </p:cNvSpPr>
          <p:nvPr>
            <p:ph sz="half" idx="2"/>
          </p:nvPr>
        </p:nvSpPr>
        <p:spPr/>
        <p:txBody>
          <a:bodyPr/>
          <a:lstStyle/>
          <a:p>
            <a:r>
              <a:rPr lang="en-US" sz="2000" dirty="0"/>
              <a:t>Critical Heat Flux (CHF)</a:t>
            </a:r>
          </a:p>
          <a:p>
            <a:pPr lvl="1"/>
            <a:r>
              <a:rPr lang="en-US" sz="1800" dirty="0"/>
              <a:t>The CHF is the heat flux at which boiling ceases to be an effective form of transferring heat from a solid surface to a liquid</a:t>
            </a:r>
          </a:p>
          <a:p>
            <a:pPr lvl="1"/>
            <a:r>
              <a:rPr lang="en-US" sz="1800" dirty="0"/>
              <a:t>As the coolant temperature increases, the mode of heat transfer changes</a:t>
            </a:r>
          </a:p>
          <a:p>
            <a:pPr lvl="1"/>
            <a:r>
              <a:rPr lang="en-US" sz="1800" dirty="0"/>
              <a:t>A boiling curve can be determined experimentally by increasing the temperature and measuring heat flux to the liquid</a:t>
            </a:r>
          </a:p>
          <a:p>
            <a:pPr lvl="1"/>
            <a:r>
              <a:rPr lang="en-US" sz="1800" dirty="0"/>
              <a:t>Nucleate boiling is a type of boiling that takes place when the surface temperature is hotter than the saturated fluid temperature</a:t>
            </a:r>
          </a:p>
          <a:p>
            <a:endParaRPr lang="en-US" sz="2000" dirty="0"/>
          </a:p>
        </p:txBody>
      </p:sp>
      <p:sp>
        <p:nvSpPr>
          <p:cNvPr id="5" name="Slide Number Placeholder 4">
            <a:extLst>
              <a:ext uri="{FF2B5EF4-FFF2-40B4-BE49-F238E27FC236}">
                <a16:creationId xmlns:a16="http://schemas.microsoft.com/office/drawing/2014/main" id="{D39457F3-6D33-6B40-B97F-E8F8BD141CC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786475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61174-77B6-924C-8FD4-5F2F8A8265E4}"/>
              </a:ext>
            </a:extLst>
          </p:cNvPr>
          <p:cNvSpPr>
            <a:spLocks noGrp="1"/>
          </p:cNvSpPr>
          <p:nvPr>
            <p:ph type="title"/>
          </p:nvPr>
        </p:nvSpPr>
        <p:spPr/>
        <p:txBody>
          <a:bodyPr/>
          <a:lstStyle/>
          <a:p>
            <a:r>
              <a:rPr lang="en-US" dirty="0"/>
              <a:t>Critical Heat Flux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52A0B0-5F25-ED49-BEEF-DEFDBDDA3397}"/>
                  </a:ext>
                </a:extLst>
              </p:cNvPr>
              <p:cNvSpPr>
                <a:spLocks noGrp="1"/>
              </p:cNvSpPr>
              <p:nvPr>
                <p:ph sz="half" idx="1"/>
              </p:nvPr>
            </p:nvSpPr>
            <p:spPr>
              <a:xfrm>
                <a:off x="609599" y="1968501"/>
                <a:ext cx="5892088" cy="4157663"/>
              </a:xfrm>
            </p:spPr>
            <p:txBody>
              <a:bodyPr/>
              <a:lstStyle/>
              <a:p>
                <a:r>
                  <a:rPr lang="en-US" sz="2000" dirty="0"/>
                  <a:t>In the single-phase mode (region I), flux is driven by temperature difference between the outer cladding surface and the coolant</a:t>
                </a:r>
              </a:p>
              <a:p>
                <a:pPr marL="0" indent="0">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𝑞</m:t>
                      </m:r>
                      <m:r>
                        <a:rPr lang="en-US" sz="1800" b="0" i="1" smtClean="0">
                          <a:latin typeface="Cambria Math" panose="02040503050406030204" pitchFamily="18" charset="0"/>
                        </a:rPr>
                        <m:t>=</m:t>
                      </m:r>
                      <m:r>
                        <a:rPr lang="en-US" sz="1800" b="0" i="1" smtClean="0">
                          <a:latin typeface="Cambria Math" panose="02040503050406030204" pitchFamily="18" charset="0"/>
                        </a:rPr>
                        <m:t>h</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𝑇</m:t>
                          </m:r>
                        </m:e>
                        <m:sub>
                          <m:r>
                            <a:rPr lang="en-US" sz="1800" b="0" i="1" smtClean="0">
                              <a:latin typeface="Cambria Math" panose="02040503050406030204" pitchFamily="18" charset="0"/>
                            </a:rPr>
                            <m:t>𝐶𝑂</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𝑇</m:t>
                          </m:r>
                        </m:e>
                        <m:sub>
                          <m:r>
                            <a:rPr lang="en-US" sz="1800" b="0" i="1" smtClean="0">
                              <a:latin typeface="Cambria Math" panose="02040503050406030204" pitchFamily="18" charset="0"/>
                            </a:rPr>
                            <m:t>𝑐𝑜𝑜𝑙</m:t>
                          </m:r>
                        </m:sub>
                      </m:sSub>
                      <m:r>
                        <a:rPr lang="en-US" sz="1800" b="0" i="1" smtClean="0">
                          <a:latin typeface="Cambria Math" panose="02040503050406030204" pitchFamily="18" charset="0"/>
                        </a:rPr>
                        <m:t>)</m:t>
                      </m:r>
                    </m:oMath>
                  </m:oMathPara>
                </a14:m>
                <a:endParaRPr lang="en-US" sz="1800" dirty="0"/>
              </a:p>
              <a:p>
                <a:r>
                  <a:rPr lang="en-US" sz="2000" dirty="0"/>
                  <a:t>The heat transfer coefficient can be determined by the Dittus-Boelter equation:</a:t>
                </a:r>
              </a:p>
              <a:p>
                <a:pPr marL="0" indent="0">
                  <a:buNone/>
                </a:pPr>
                <a14:m>
                  <m:oMathPara xmlns:m="http://schemas.openxmlformats.org/officeDocument/2006/math">
                    <m:oMathParaPr>
                      <m:jc m:val="centerGroup"/>
                    </m:oMathParaPr>
                    <m:oMath xmlns:m="http://schemas.openxmlformats.org/officeDocument/2006/math">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h</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𝑑</m:t>
                              </m:r>
                            </m:e>
                            <m:sub>
                              <m:r>
                                <a:rPr lang="en-US" sz="1800" b="0" i="1" smtClean="0">
                                  <a:latin typeface="Cambria Math" panose="02040503050406030204" pitchFamily="18" charset="0"/>
                                </a:rPr>
                                <m:t>𝑒𝑞</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𝑘</m:t>
                              </m:r>
                            </m:e>
                            <m:sub>
                              <m:r>
                                <a:rPr lang="en-US" sz="1800" b="0" i="1" smtClean="0">
                                  <a:latin typeface="Cambria Math" panose="02040503050406030204" pitchFamily="18" charset="0"/>
                                </a:rPr>
                                <m:t>𝑐𝑜𝑜𝑙</m:t>
                              </m:r>
                            </m:sub>
                          </m:sSub>
                        </m:den>
                      </m:f>
                      <m:r>
                        <a:rPr lang="en-US" sz="1800" b="0" i="1" smtClean="0">
                          <a:latin typeface="Cambria Math" panose="02040503050406030204" pitchFamily="18" charset="0"/>
                        </a:rPr>
                        <m:t>=0.023</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𝑅𝑒</m:t>
                          </m:r>
                        </m:e>
                        <m:sup>
                          <m:r>
                            <a:rPr lang="en-US" sz="1800" b="0" i="1" smtClean="0">
                              <a:latin typeface="Cambria Math" panose="02040503050406030204" pitchFamily="18" charset="0"/>
                            </a:rPr>
                            <m:t>0.8</m:t>
                          </m:r>
                        </m:sup>
                      </m:sSup>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𝑃𝑟</m:t>
                          </m:r>
                        </m:e>
                        <m:sup>
                          <m:r>
                            <a:rPr lang="en-US" sz="1800" b="0" i="1" smtClean="0">
                              <a:latin typeface="Cambria Math" panose="02040503050406030204" pitchFamily="18" charset="0"/>
                            </a:rPr>
                            <m:t>0.4</m:t>
                          </m:r>
                        </m:sup>
                      </m:sSup>
                    </m:oMath>
                  </m:oMathPara>
                </a14:m>
                <a:endParaRPr lang="en-US" sz="2000" b="0" dirty="0"/>
              </a:p>
              <a:p>
                <a:r>
                  <a:rPr lang="en-US" sz="2000" dirty="0"/>
                  <a:t>Re is the Reynolds number and </a:t>
                </a:r>
                <a:r>
                  <a:rPr lang="en-US" sz="2000" dirty="0" err="1"/>
                  <a:t>Pr</a:t>
                </a:r>
                <a:r>
                  <a:rPr lang="en-US" sz="2000" dirty="0"/>
                  <a:t> is the Prandtl number, </a:t>
                </a:r>
                <a:r>
                  <a:rPr lang="en-US" sz="2000" dirty="0" err="1"/>
                  <a:t>d</a:t>
                </a:r>
                <a:r>
                  <a:rPr lang="en-US" sz="2000" baseline="-25000" dirty="0" err="1"/>
                  <a:t>eq</a:t>
                </a:r>
                <a:r>
                  <a:rPr lang="en-US" sz="2000" dirty="0"/>
                  <a:t> is the equivalent diameter of the flow channel, </a:t>
                </a:r>
                <a:r>
                  <a:rPr lang="en-US" sz="2000" dirty="0" err="1"/>
                  <a:t>k</a:t>
                </a:r>
                <a:r>
                  <a:rPr lang="en-US" sz="2000" baseline="-25000" dirty="0" err="1"/>
                  <a:t>cool</a:t>
                </a:r>
                <a:r>
                  <a:rPr lang="en-US" sz="2000" dirty="0"/>
                  <a:t> is the coolant thermal cond.</a:t>
                </a:r>
              </a:p>
              <a:p>
                <a:r>
                  <a:rPr lang="en-US" sz="2000" dirty="0"/>
                  <a:t>We typically assuming a nominal value for h, but in reality, it is temperature dependent</a:t>
                </a:r>
              </a:p>
              <a:p>
                <a:endParaRPr lang="en-US" sz="2000" dirty="0"/>
              </a:p>
            </p:txBody>
          </p:sp>
        </mc:Choice>
        <mc:Fallback xmlns="">
          <p:sp>
            <p:nvSpPr>
              <p:cNvPr id="3" name="Content Placeholder 2">
                <a:extLst>
                  <a:ext uri="{FF2B5EF4-FFF2-40B4-BE49-F238E27FC236}">
                    <a16:creationId xmlns:a16="http://schemas.microsoft.com/office/drawing/2014/main" id="{7652A0B0-5F25-ED49-BEEF-DEFDBDDA3397}"/>
                  </a:ext>
                </a:extLst>
              </p:cNvPr>
              <p:cNvSpPr>
                <a:spLocks noGrp="1" noRot="1" noChangeAspect="1" noMove="1" noResize="1" noEditPoints="1" noAdjustHandles="1" noChangeArrowheads="1" noChangeShapeType="1" noTextEdit="1"/>
              </p:cNvSpPr>
              <p:nvPr>
                <p:ph sz="half" idx="1"/>
              </p:nvPr>
            </p:nvSpPr>
            <p:spPr>
              <a:xfrm>
                <a:off x="609599" y="1968501"/>
                <a:ext cx="5892088" cy="4157663"/>
              </a:xfrm>
              <a:blipFill>
                <a:blip r:embed="rId2"/>
                <a:stretch>
                  <a:fillRect l="-860" t="-915" r="-1075" b="-10366"/>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64F05194-E7EB-C64D-B897-10C6CBA43C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028" name="Picture 4" descr="undefined">
            <a:extLst>
              <a:ext uri="{FF2B5EF4-FFF2-40B4-BE49-F238E27FC236}">
                <a16:creationId xmlns:a16="http://schemas.microsoft.com/office/drawing/2014/main" id="{64C6A627-3F87-03FB-52FF-E556798868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1185" y="1857652"/>
            <a:ext cx="4237217" cy="428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1466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61174-77B6-924C-8FD4-5F2F8A8265E4}"/>
              </a:ext>
            </a:extLst>
          </p:cNvPr>
          <p:cNvSpPr>
            <a:spLocks noGrp="1"/>
          </p:cNvSpPr>
          <p:nvPr>
            <p:ph type="title"/>
          </p:nvPr>
        </p:nvSpPr>
        <p:spPr/>
        <p:txBody>
          <a:bodyPr/>
          <a:lstStyle/>
          <a:p>
            <a:r>
              <a:rPr lang="en-US" dirty="0"/>
              <a:t>Critical Heat Flux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52A0B0-5F25-ED49-BEEF-DEFDBDDA3397}"/>
                  </a:ext>
                </a:extLst>
              </p:cNvPr>
              <p:cNvSpPr>
                <a:spLocks noGrp="1"/>
              </p:cNvSpPr>
              <p:nvPr>
                <p:ph sz="half" idx="1"/>
              </p:nvPr>
            </p:nvSpPr>
            <p:spPr>
              <a:xfrm>
                <a:off x="609600" y="1968501"/>
                <a:ext cx="5486400" cy="4157663"/>
              </a:xfrm>
            </p:spPr>
            <p:txBody>
              <a:bodyPr/>
              <a:lstStyle/>
              <a:p>
                <a:r>
                  <a:rPr lang="en-US" sz="2000" dirty="0"/>
                  <a:t>At point A, the onset of nucleate boiling provides greater heat transfer to the coolant</a:t>
                </a:r>
              </a:p>
              <a:p>
                <a:r>
                  <a:rPr lang="en-US" sz="2000" dirty="0"/>
                  <a:t>Typical nucleate boiling correlation relating heat flux and temperature is:</a:t>
                </a:r>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𝑞</m:t>
                      </m:r>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𝑊</m:t>
                              </m:r>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𝑚</m:t>
                                  </m:r>
                                </m:e>
                                <m:sup>
                                  <m:r>
                                    <a:rPr lang="en-US" sz="2000" b="0" i="1" smtClean="0">
                                      <a:latin typeface="Cambria Math" panose="02040503050406030204" pitchFamily="18" charset="0"/>
                                    </a:rPr>
                                    <m:t>2</m:t>
                                  </m:r>
                                </m:sup>
                              </m:sSup>
                            </m:den>
                          </m:f>
                        </m:e>
                      </m:d>
                      <m:r>
                        <a:rPr lang="en-US" sz="2000" b="0" i="1" smtClean="0">
                          <a:latin typeface="Cambria Math" panose="02040503050406030204" pitchFamily="18" charset="0"/>
                        </a:rPr>
                        <m:t>=6</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𝐶𝑂</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𝑐𝑜𝑜𝑙</m:t>
                              </m:r>
                            </m:sub>
                          </m:sSub>
                          <m:r>
                            <a:rPr lang="en-US" sz="2000" b="0" i="1" smtClean="0">
                              <a:latin typeface="Cambria Math" panose="02040503050406030204" pitchFamily="18" charset="0"/>
                            </a:rPr>
                            <m:t>)</m:t>
                          </m:r>
                        </m:e>
                        <m:sup>
                          <m:r>
                            <a:rPr lang="en-US" sz="2000" b="0" i="1" smtClean="0">
                              <a:latin typeface="Cambria Math" panose="02040503050406030204" pitchFamily="18" charset="0"/>
                            </a:rPr>
                            <m:t>4</m:t>
                          </m:r>
                        </m:sup>
                      </m:sSup>
                    </m:oMath>
                  </m:oMathPara>
                </a14:m>
                <a:endParaRPr lang="en-US" sz="2000" dirty="0"/>
              </a:p>
              <a:p>
                <a:r>
                  <a:rPr lang="en-US" sz="2000" dirty="0"/>
                  <a:t>Heat transfer mechanism is more complex in this region with two distinct phases</a:t>
                </a:r>
              </a:p>
              <a:p>
                <a:r>
                  <a:rPr lang="en-US" sz="2000" dirty="0"/>
                  <a:t>At a critical point, C, the bubbles coalesce, and a continuous film of steam starts to form</a:t>
                </a:r>
              </a:p>
              <a:p>
                <a:r>
                  <a:rPr lang="en-US" sz="2000" dirty="0"/>
                  <a:t>Point C is known as the critical heat flux</a:t>
                </a:r>
              </a:p>
            </p:txBody>
          </p:sp>
        </mc:Choice>
        <mc:Fallback xmlns="">
          <p:sp>
            <p:nvSpPr>
              <p:cNvPr id="3" name="Content Placeholder 2">
                <a:extLst>
                  <a:ext uri="{FF2B5EF4-FFF2-40B4-BE49-F238E27FC236}">
                    <a16:creationId xmlns:a16="http://schemas.microsoft.com/office/drawing/2014/main" id="{7652A0B0-5F25-ED49-BEEF-DEFDBDDA3397}"/>
                  </a:ext>
                </a:extLst>
              </p:cNvPr>
              <p:cNvSpPr>
                <a:spLocks noGrp="1" noRot="1" noChangeAspect="1" noMove="1" noResize="1" noEditPoints="1" noAdjustHandles="1" noChangeArrowheads="1" noChangeShapeType="1" noTextEdit="1"/>
              </p:cNvSpPr>
              <p:nvPr>
                <p:ph sz="half" idx="1"/>
              </p:nvPr>
            </p:nvSpPr>
            <p:spPr>
              <a:xfrm>
                <a:off x="609600" y="1968501"/>
                <a:ext cx="5486400" cy="4157663"/>
              </a:xfrm>
              <a:blipFill>
                <a:blip r:embed="rId2"/>
                <a:stretch>
                  <a:fillRect l="-924" t="-915" r="-231"/>
                </a:stretch>
              </a:blipFill>
            </p:spPr>
            <p:txBody>
              <a:bodyPr/>
              <a:lstStyle/>
              <a:p>
                <a:r>
                  <a:rPr lang="en-US">
                    <a:noFill/>
                  </a:rPr>
                  <a:t> </a:t>
                </a:r>
              </a:p>
            </p:txBody>
          </p:sp>
        </mc:Fallback>
      </mc:AlternateContent>
      <p:pic>
        <p:nvPicPr>
          <p:cNvPr id="6" name="Picture 2" descr="Pool Boiling Curve - an overview | ScienceDirect Topics">
            <a:extLst>
              <a:ext uri="{FF2B5EF4-FFF2-40B4-BE49-F238E27FC236}">
                <a16:creationId xmlns:a16="http://schemas.microsoft.com/office/drawing/2014/main" id="{E0EB0BC3-099F-7946-BB22-A6F9BB2C370C}"/>
              </a:ext>
            </a:extLst>
          </p:cNvPr>
          <p:cNvPicPr>
            <a:picLocks noGrp="1" noChangeAspect="1" noChangeArrowheads="1"/>
          </p:cNvPicPr>
          <p:nvPr>
            <p:ph sz="half" idx="2"/>
          </p:nvPr>
        </p:nvPicPr>
        <p:blipFill>
          <a:blip r:embed="rId3">
            <a:extLst>
              <a:ext uri="{28A0092B-C50C-407E-A947-70E740481C1C}">
                <a14:useLocalDpi xmlns:a14="http://schemas.microsoft.com/office/drawing/2010/main"/>
              </a:ext>
            </a:extLst>
          </a:blip>
          <a:srcRect/>
          <a:stretch>
            <a:fillRect/>
          </a:stretch>
        </p:blipFill>
        <p:spPr bwMode="auto">
          <a:xfrm>
            <a:off x="6420678" y="2327086"/>
            <a:ext cx="5377991" cy="320040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64F05194-E7EB-C64D-B897-10C6CBA43C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50560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6F393-3204-1140-BB44-38FA1D5006BE}"/>
              </a:ext>
            </a:extLst>
          </p:cNvPr>
          <p:cNvSpPr>
            <a:spLocks noGrp="1"/>
          </p:cNvSpPr>
          <p:nvPr>
            <p:ph type="title"/>
          </p:nvPr>
        </p:nvSpPr>
        <p:spPr/>
        <p:txBody>
          <a:bodyPr/>
          <a:lstStyle/>
          <a:p>
            <a:r>
              <a:rPr lang="en-US" dirty="0"/>
              <a:t>Departure from Nucleate Boiling</a:t>
            </a:r>
          </a:p>
        </p:txBody>
      </p:sp>
      <p:sp>
        <p:nvSpPr>
          <p:cNvPr id="3" name="Content Placeholder 2">
            <a:extLst>
              <a:ext uri="{FF2B5EF4-FFF2-40B4-BE49-F238E27FC236}">
                <a16:creationId xmlns:a16="http://schemas.microsoft.com/office/drawing/2014/main" id="{E2A5D48F-8978-CE4F-AEF2-32B6E33FC481}"/>
              </a:ext>
            </a:extLst>
          </p:cNvPr>
          <p:cNvSpPr>
            <a:spLocks noGrp="1"/>
          </p:cNvSpPr>
          <p:nvPr>
            <p:ph idx="1"/>
          </p:nvPr>
        </p:nvSpPr>
        <p:spPr>
          <a:xfrm>
            <a:off x="609600" y="2160495"/>
            <a:ext cx="8808720" cy="3965670"/>
          </a:xfrm>
        </p:spPr>
        <p:txBody>
          <a:bodyPr/>
          <a:lstStyle/>
          <a:p>
            <a:r>
              <a:rPr lang="en-US" sz="2000" dirty="0"/>
              <a:t>If the heat flux of a boiling system is higher than the critical heat flux (CHF) of the system, the bulk fluid may boil, or in some cases, regions of the bulk fluid may boil where the fluid travels in small channels</a:t>
            </a:r>
          </a:p>
          <a:p>
            <a:r>
              <a:rPr lang="en-US" sz="2000" dirty="0"/>
              <a:t>Large bubbles form, sometimes blocking the passage of the fluid</a:t>
            </a:r>
          </a:p>
          <a:p>
            <a:r>
              <a:rPr lang="en-US" sz="2000" dirty="0"/>
              <a:t>This results in a departure from nucleate boiling (DNB) in which steam bubbles no longer break away from the solid surface of the channel, bubbles dominate the channel or surface, and the heat flux dramatically decreases</a:t>
            </a:r>
          </a:p>
          <a:p>
            <a:r>
              <a:rPr lang="en-US" sz="2000" dirty="0"/>
              <a:t>Vapor essentially insulates the bulk liquid from the hot surface, increasing surface temperatures</a:t>
            </a:r>
          </a:p>
          <a:p>
            <a:endParaRPr lang="en-US" sz="2000" dirty="0"/>
          </a:p>
        </p:txBody>
      </p:sp>
      <p:sp>
        <p:nvSpPr>
          <p:cNvPr id="4" name="Slide Number Placeholder 3">
            <a:extLst>
              <a:ext uri="{FF2B5EF4-FFF2-40B4-BE49-F238E27FC236}">
                <a16:creationId xmlns:a16="http://schemas.microsoft.com/office/drawing/2014/main" id="{53BA8822-AD43-DF42-99AE-ABA07FE29266}"/>
              </a:ext>
            </a:extLst>
          </p:cNvPr>
          <p:cNvSpPr>
            <a:spLocks noGrp="1"/>
          </p:cNvSpPr>
          <p:nvPr>
            <p:ph type="sldNum" sz="quarter" idx="12"/>
          </p:nvPr>
        </p:nvSpPr>
        <p:spPr/>
        <p:txBody>
          <a:bodyPr/>
          <a:lstStyle/>
          <a:p>
            <a:pPr>
              <a:defRPr/>
            </a:pPr>
            <a:fld id="{3FF2C605-4958-CF43-AA48-80339EFDB0AF}" type="slidenum">
              <a:rPr lang="en-US" smtClean="0"/>
              <a:pPr>
                <a:defRPr/>
              </a:pPr>
              <a:t>10</a:t>
            </a:fld>
            <a:endParaRPr lang="en-US" dirty="0"/>
          </a:p>
        </p:txBody>
      </p:sp>
      <p:pic>
        <p:nvPicPr>
          <p:cNvPr id="5" name="Picture 4">
            <a:extLst>
              <a:ext uri="{FF2B5EF4-FFF2-40B4-BE49-F238E27FC236}">
                <a16:creationId xmlns:a16="http://schemas.microsoft.com/office/drawing/2014/main" id="{7D5CF72F-70AA-A743-9534-7319A12CAC6A}"/>
              </a:ext>
            </a:extLst>
          </p:cNvPr>
          <p:cNvPicPr>
            <a:picLocks noChangeAspect="1"/>
          </p:cNvPicPr>
          <p:nvPr/>
        </p:nvPicPr>
        <p:blipFill>
          <a:blip r:embed="rId2"/>
          <a:stretch>
            <a:fillRect/>
          </a:stretch>
        </p:blipFill>
        <p:spPr>
          <a:xfrm>
            <a:off x="9743444" y="1135961"/>
            <a:ext cx="1981196" cy="5220390"/>
          </a:xfrm>
          <a:prstGeom prst="rect">
            <a:avLst/>
          </a:prstGeom>
        </p:spPr>
      </p:pic>
    </p:spTree>
    <p:extLst>
      <p:ext uri="{BB962C8B-B14F-4D97-AF65-F5344CB8AC3E}">
        <p14:creationId xmlns:p14="http://schemas.microsoft.com/office/powerpoint/2010/main" val="1984870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506FF-BDCB-D930-622B-C8F493EE4BC4}"/>
              </a:ext>
            </a:extLst>
          </p:cNvPr>
          <p:cNvSpPr>
            <a:spLocks noGrp="1"/>
          </p:cNvSpPr>
          <p:nvPr>
            <p:ph type="title"/>
          </p:nvPr>
        </p:nvSpPr>
        <p:spPr/>
        <p:txBody>
          <a:bodyPr/>
          <a:lstStyle/>
          <a:p>
            <a:r>
              <a:rPr lang="en-US" dirty="0"/>
              <a:t>Visualization of Stages of Flow</a:t>
            </a:r>
          </a:p>
        </p:txBody>
      </p:sp>
      <p:pic>
        <p:nvPicPr>
          <p:cNvPr id="1026" name="Picture 2" descr="undefined">
            <a:extLst>
              <a:ext uri="{FF2B5EF4-FFF2-40B4-BE49-F238E27FC236}">
                <a16:creationId xmlns:a16="http://schemas.microsoft.com/office/drawing/2014/main" id="{79E131CA-45A0-5F16-F953-5C0A9B77AD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5200" y="2011363"/>
            <a:ext cx="7340600" cy="4670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5789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61174-77B6-924C-8FD4-5F2F8A8265E4}"/>
              </a:ext>
            </a:extLst>
          </p:cNvPr>
          <p:cNvSpPr>
            <a:spLocks noGrp="1"/>
          </p:cNvSpPr>
          <p:nvPr>
            <p:ph type="title"/>
          </p:nvPr>
        </p:nvSpPr>
        <p:spPr/>
        <p:txBody>
          <a:bodyPr/>
          <a:lstStyle/>
          <a:p>
            <a:r>
              <a:rPr lang="en-US" dirty="0"/>
              <a:t>Critical Heat Flux</a:t>
            </a:r>
          </a:p>
        </p:txBody>
      </p:sp>
      <p:sp>
        <p:nvSpPr>
          <p:cNvPr id="3" name="Content Placeholder 2">
            <a:extLst>
              <a:ext uri="{FF2B5EF4-FFF2-40B4-BE49-F238E27FC236}">
                <a16:creationId xmlns:a16="http://schemas.microsoft.com/office/drawing/2014/main" id="{7652A0B0-5F25-ED49-BEEF-DEFDBDDA3397}"/>
              </a:ext>
            </a:extLst>
          </p:cNvPr>
          <p:cNvSpPr>
            <a:spLocks noGrp="1"/>
          </p:cNvSpPr>
          <p:nvPr>
            <p:ph sz="half" idx="1"/>
          </p:nvPr>
        </p:nvSpPr>
        <p:spPr/>
        <p:txBody>
          <a:bodyPr/>
          <a:lstStyle/>
          <a:p>
            <a:r>
              <a:rPr lang="en-US" sz="2000" dirty="0"/>
              <a:t>Transition boiling is an oscillating mixture of nucleate and film boiling</a:t>
            </a:r>
          </a:p>
          <a:p>
            <a:r>
              <a:rPr lang="en-US" sz="2000" dirty="0"/>
              <a:t>Beyond point D the rod is ”coated” in steam and the heat flux is dramatically reduced</a:t>
            </a:r>
          </a:p>
          <a:p>
            <a:r>
              <a:rPr lang="en-US" sz="2000" dirty="0"/>
              <a:t>The heat transfer coefficient from cladding to steam is much lower than from cladding to water</a:t>
            </a:r>
          </a:p>
          <a:p>
            <a:r>
              <a:rPr lang="en-US" sz="2000" dirty="0" err="1"/>
              <a:t>T</a:t>
            </a:r>
            <a:r>
              <a:rPr lang="en-US" sz="2000" baseline="-25000" dirty="0" err="1"/>
              <a:t>sat</a:t>
            </a:r>
            <a:r>
              <a:rPr lang="en-US" sz="2000" dirty="0"/>
              <a:t> is the saturation temperature, which is fixed for a given pressure, whereas the coolant temperature (</a:t>
            </a:r>
            <a:r>
              <a:rPr lang="en-US" sz="2000" dirty="0" err="1"/>
              <a:t>T</a:t>
            </a:r>
            <a:r>
              <a:rPr lang="en-US" sz="2000" baseline="-25000" dirty="0" err="1"/>
              <a:t>cool</a:t>
            </a:r>
            <a:r>
              <a:rPr lang="en-US" sz="2000" dirty="0"/>
              <a:t>) increases</a:t>
            </a:r>
          </a:p>
          <a:p>
            <a:r>
              <a:rPr lang="en-US" sz="2000" dirty="0"/>
              <a:t>Beyond point D, film boiling can occur</a:t>
            </a:r>
          </a:p>
        </p:txBody>
      </p:sp>
      <p:pic>
        <p:nvPicPr>
          <p:cNvPr id="6" name="Picture 2" descr="Pool Boiling Curve - an overview | ScienceDirect Topics">
            <a:extLst>
              <a:ext uri="{FF2B5EF4-FFF2-40B4-BE49-F238E27FC236}">
                <a16:creationId xmlns:a16="http://schemas.microsoft.com/office/drawing/2014/main" id="{E0EB0BC3-099F-7946-BB22-A6F9BB2C370C}"/>
              </a:ext>
            </a:extLst>
          </p:cNvPr>
          <p:cNvPicPr>
            <a:picLocks noGrp="1" noChangeAspect="1" noChangeArrowheads="1"/>
          </p:cNvPicPr>
          <p:nvPr>
            <p:ph sz="half" idx="2"/>
          </p:nvPr>
        </p:nvPicPr>
        <p:blipFill>
          <a:blip r:embed="rId2">
            <a:extLst>
              <a:ext uri="{28A0092B-C50C-407E-A947-70E740481C1C}">
                <a14:useLocalDpi xmlns:a14="http://schemas.microsoft.com/office/drawing/2010/main"/>
              </a:ext>
            </a:extLst>
          </a:blip>
          <a:srcRect/>
          <a:stretch>
            <a:fillRect/>
          </a:stretch>
        </p:blipFill>
        <p:spPr bwMode="auto">
          <a:xfrm>
            <a:off x="6096001" y="2327086"/>
            <a:ext cx="5377991" cy="320040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64F05194-E7EB-C64D-B897-10C6CBA43C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3691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87779-EE1B-9747-916C-6AC5676EE933}"/>
              </a:ext>
            </a:extLst>
          </p:cNvPr>
          <p:cNvSpPr>
            <a:spLocks noGrp="1"/>
          </p:cNvSpPr>
          <p:nvPr>
            <p:ph type="title"/>
          </p:nvPr>
        </p:nvSpPr>
        <p:spPr/>
        <p:txBody>
          <a:bodyPr/>
          <a:lstStyle/>
          <a:p>
            <a:r>
              <a:rPr lang="en-US" dirty="0"/>
              <a:t>DNBR</a:t>
            </a:r>
          </a:p>
        </p:txBody>
      </p:sp>
      <p:sp>
        <p:nvSpPr>
          <p:cNvPr id="3" name="Content Placeholder 2">
            <a:extLst>
              <a:ext uri="{FF2B5EF4-FFF2-40B4-BE49-F238E27FC236}">
                <a16:creationId xmlns:a16="http://schemas.microsoft.com/office/drawing/2014/main" id="{E83932E2-D9AC-254B-B0BC-313C3890BD99}"/>
              </a:ext>
            </a:extLst>
          </p:cNvPr>
          <p:cNvSpPr>
            <a:spLocks noGrp="1"/>
          </p:cNvSpPr>
          <p:nvPr>
            <p:ph sz="half" idx="1"/>
          </p:nvPr>
        </p:nvSpPr>
        <p:spPr/>
        <p:txBody>
          <a:bodyPr/>
          <a:lstStyle/>
          <a:p>
            <a:r>
              <a:rPr lang="en-US" sz="2000" dirty="0"/>
              <a:t>The departure from nucleate boiling ratio (DNBR) is the ratio of the heat flux that causes </a:t>
            </a:r>
            <a:r>
              <a:rPr lang="en-US" sz="2000" dirty="0" err="1"/>
              <a:t>dryout</a:t>
            </a:r>
            <a:r>
              <a:rPr lang="en-US" sz="2000" dirty="0"/>
              <a:t> (the critical heat flux) to the actual heat flux</a:t>
            </a:r>
          </a:p>
          <a:p>
            <a:r>
              <a:rPr lang="en-US" sz="2000" dirty="0"/>
              <a:t>The limits on the DNBR in the hottest channel is 1.15 to 1.3, or a margin of 15-30 percent</a:t>
            </a:r>
          </a:p>
          <a:p>
            <a:r>
              <a:rPr lang="en-US" sz="2000" dirty="0"/>
              <a:t>The DNBR is determined by identifying the hottest channel, and the location where the heat flux most closely approaches the CHF</a:t>
            </a:r>
          </a:p>
          <a:p>
            <a:r>
              <a:rPr lang="en-US" sz="2000" dirty="0"/>
              <a:t>When CHF is surpassed, cladding temperature can increase to above 1100 K</a:t>
            </a:r>
          </a:p>
          <a:p>
            <a:endParaRPr lang="en-US" sz="2000" dirty="0"/>
          </a:p>
        </p:txBody>
      </p:sp>
      <p:pic>
        <p:nvPicPr>
          <p:cNvPr id="7" name="Content Placeholder 6">
            <a:extLst>
              <a:ext uri="{FF2B5EF4-FFF2-40B4-BE49-F238E27FC236}">
                <a16:creationId xmlns:a16="http://schemas.microsoft.com/office/drawing/2014/main" id="{582EBBFB-3CBE-5845-8F86-33EB4C28B6F8}"/>
              </a:ext>
            </a:extLst>
          </p:cNvPr>
          <p:cNvPicPr>
            <a:picLocks noGrp="1" noChangeAspect="1"/>
          </p:cNvPicPr>
          <p:nvPr>
            <p:ph sz="half" idx="2"/>
          </p:nvPr>
        </p:nvPicPr>
        <p:blipFill>
          <a:blip r:embed="rId2" cstate="screen">
            <a:extLst>
              <a:ext uri="{28A0092B-C50C-407E-A947-70E740481C1C}">
                <a14:useLocalDpi xmlns:a14="http://schemas.microsoft.com/office/drawing/2010/main"/>
              </a:ext>
            </a:extLst>
          </a:blip>
          <a:stretch>
            <a:fillRect/>
          </a:stretch>
        </p:blipFill>
        <p:spPr>
          <a:xfrm>
            <a:off x="6521450" y="1977231"/>
            <a:ext cx="4737100" cy="4140200"/>
          </a:xfrm>
          <a:prstGeom prst="rect">
            <a:avLst/>
          </a:prstGeom>
        </p:spPr>
      </p:pic>
      <p:sp>
        <p:nvSpPr>
          <p:cNvPr id="5" name="Slide Number Placeholder 4">
            <a:extLst>
              <a:ext uri="{FF2B5EF4-FFF2-40B4-BE49-F238E27FC236}">
                <a16:creationId xmlns:a16="http://schemas.microsoft.com/office/drawing/2014/main" id="{D39457F3-6D33-6B40-B97F-E8F8BD141CC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79664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A8E01-A936-37FF-B75F-B783C456D1F6}"/>
              </a:ext>
            </a:extLst>
          </p:cNvPr>
          <p:cNvSpPr>
            <a:spLocks noGrp="1"/>
          </p:cNvSpPr>
          <p:nvPr>
            <p:ph type="title"/>
          </p:nvPr>
        </p:nvSpPr>
        <p:spPr/>
        <p:txBody>
          <a:bodyPr/>
          <a:lstStyle/>
          <a:p>
            <a:r>
              <a:rPr lang="en-US" dirty="0"/>
              <a:t>Thermal conductivity</a:t>
            </a:r>
          </a:p>
        </p:txBody>
      </p:sp>
      <p:sp>
        <p:nvSpPr>
          <p:cNvPr id="4" name="Slide Number Placeholder 3">
            <a:extLst>
              <a:ext uri="{FF2B5EF4-FFF2-40B4-BE49-F238E27FC236}">
                <a16:creationId xmlns:a16="http://schemas.microsoft.com/office/drawing/2014/main" id="{A7107D10-1757-BC47-2149-74C2EEF515F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6BD0F-ABBC-C14D-BC96-77BE126A748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678075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36E0B-C958-EF07-5A64-02470AFE2264}"/>
              </a:ext>
            </a:extLst>
          </p:cNvPr>
          <p:cNvSpPr>
            <a:spLocks noGrp="1"/>
          </p:cNvSpPr>
          <p:nvPr>
            <p:ph type="title"/>
          </p:nvPr>
        </p:nvSpPr>
        <p:spPr/>
        <p:txBody>
          <a:bodyPr/>
          <a:lstStyle/>
          <a:p>
            <a:pPr algn="l"/>
            <a:r>
              <a:rPr lang="en-US" dirty="0"/>
              <a:t>Phonons</a:t>
            </a:r>
          </a:p>
        </p:txBody>
      </p:sp>
      <p:sp>
        <p:nvSpPr>
          <p:cNvPr id="3" name="Content Placeholder 2">
            <a:extLst>
              <a:ext uri="{FF2B5EF4-FFF2-40B4-BE49-F238E27FC236}">
                <a16:creationId xmlns:a16="http://schemas.microsoft.com/office/drawing/2014/main" id="{6A76C256-8DDD-9126-60F9-F1F6CA865195}"/>
              </a:ext>
            </a:extLst>
          </p:cNvPr>
          <p:cNvSpPr>
            <a:spLocks noGrp="1"/>
          </p:cNvSpPr>
          <p:nvPr>
            <p:ph sz="half" idx="1"/>
          </p:nvPr>
        </p:nvSpPr>
        <p:spPr>
          <a:xfrm>
            <a:off x="609600" y="1968501"/>
            <a:ext cx="6095170" cy="4157663"/>
          </a:xfrm>
        </p:spPr>
        <p:txBody>
          <a:bodyPr/>
          <a:lstStyle/>
          <a:p>
            <a:r>
              <a:rPr lang="en-US" sz="2000" dirty="0"/>
              <a:t>A phonon is a collective excitation in a periodic, elastic arrangement of atoms or molecules in condensed matter, specifically in solids and some liquids</a:t>
            </a:r>
          </a:p>
          <a:p>
            <a:r>
              <a:rPr lang="en-US" sz="2000" dirty="0"/>
              <a:t>Phonons can be thought of as quantized sound waves, or quantized modes of vibrations for elastic structures of interacting particles</a:t>
            </a:r>
          </a:p>
          <a:p>
            <a:r>
              <a:rPr lang="en-US" sz="2000" dirty="0"/>
              <a:t>The thermodynamic properties of a solid are directly related to its phonon structure</a:t>
            </a:r>
          </a:p>
          <a:p>
            <a:r>
              <a:rPr lang="en-US" sz="2000" dirty="0"/>
              <a:t>Heat capacity is dominated by high frequency phonons while thermal conductivity is dominated by low frequency phonons</a:t>
            </a:r>
          </a:p>
        </p:txBody>
      </p:sp>
      <p:pic>
        <p:nvPicPr>
          <p:cNvPr id="7" name="Content Placeholder 6" descr="A table of maths with numbers and lines&#10;&#10;Description automatically generated with medium confidence">
            <a:extLst>
              <a:ext uri="{FF2B5EF4-FFF2-40B4-BE49-F238E27FC236}">
                <a16:creationId xmlns:a16="http://schemas.microsoft.com/office/drawing/2014/main" id="{88F928CE-80C5-062E-F2F8-699BAE088C98}"/>
              </a:ext>
            </a:extLst>
          </p:cNvPr>
          <p:cNvPicPr>
            <a:picLocks noGrp="1" noChangeAspect="1"/>
          </p:cNvPicPr>
          <p:nvPr>
            <p:ph sz="half" idx="2"/>
          </p:nvPr>
        </p:nvPicPr>
        <p:blipFill>
          <a:blip r:embed="rId2"/>
          <a:stretch>
            <a:fillRect/>
          </a:stretch>
        </p:blipFill>
        <p:spPr>
          <a:xfrm>
            <a:off x="8032568" y="914085"/>
            <a:ext cx="2565125" cy="2565125"/>
          </a:xfrm>
        </p:spPr>
      </p:pic>
      <p:sp>
        <p:nvSpPr>
          <p:cNvPr id="5" name="Slide Number Placeholder 4">
            <a:extLst>
              <a:ext uri="{FF2B5EF4-FFF2-40B4-BE49-F238E27FC236}">
                <a16:creationId xmlns:a16="http://schemas.microsoft.com/office/drawing/2014/main" id="{74CBBCF8-422E-09C6-E09B-A0C6DCF6F6D8}"/>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sp>
        <p:nvSpPr>
          <p:cNvPr id="9" name="TextBox 8">
            <a:extLst>
              <a:ext uri="{FF2B5EF4-FFF2-40B4-BE49-F238E27FC236}">
                <a16:creationId xmlns:a16="http://schemas.microsoft.com/office/drawing/2014/main" id="{F166367F-3897-71B9-D5C3-FD6AB35A26D0}"/>
              </a:ext>
            </a:extLst>
          </p:cNvPr>
          <p:cNvSpPr txBox="1"/>
          <p:nvPr/>
        </p:nvSpPr>
        <p:spPr>
          <a:xfrm>
            <a:off x="7477585" y="3469928"/>
            <a:ext cx="3675089" cy="461665"/>
          </a:xfrm>
          <a:prstGeom prst="rect">
            <a:avLst/>
          </a:prstGeom>
          <a:noFill/>
        </p:spPr>
        <p:txBody>
          <a:bodyPr wrap="square">
            <a:spAutoFit/>
          </a:bodyPr>
          <a:lstStyle/>
          <a:p>
            <a:pPr algn="ctr"/>
            <a:r>
              <a:rPr lang="en-US" sz="1200" b="0" i="0" dirty="0">
                <a:solidFill>
                  <a:srgbClr val="202122"/>
                </a:solidFill>
                <a:effectLst/>
                <a:latin typeface="Arial" panose="020B0604020202020204" pitchFamily="34" charset="0"/>
              </a:rPr>
              <a:t>Animation showing 6 normal modes of a one-dimensional lattice</a:t>
            </a:r>
            <a:endParaRPr lang="en-US" sz="1200" dirty="0"/>
          </a:p>
        </p:txBody>
      </p:sp>
      <p:pic>
        <p:nvPicPr>
          <p:cNvPr id="1026" name="Picture 2" descr="undefined">
            <a:extLst>
              <a:ext uri="{FF2B5EF4-FFF2-40B4-BE49-F238E27FC236}">
                <a16:creationId xmlns:a16="http://schemas.microsoft.com/office/drawing/2014/main" id="{ADA2D2C7-DB4D-7A47-9A78-B0A342F9AF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0481" y="4096476"/>
            <a:ext cx="3754688" cy="2029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4887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EDA1B-201C-1F55-F97E-0AD7ADAB061C}"/>
              </a:ext>
            </a:extLst>
          </p:cNvPr>
          <p:cNvSpPr>
            <a:spLocks noGrp="1"/>
          </p:cNvSpPr>
          <p:nvPr>
            <p:ph type="title"/>
          </p:nvPr>
        </p:nvSpPr>
        <p:spPr/>
        <p:txBody>
          <a:bodyPr/>
          <a:lstStyle/>
          <a:p>
            <a:pPr algn="l"/>
            <a:r>
              <a:rPr lang="en-US" dirty="0"/>
              <a:t>Phonon Scattering</a:t>
            </a:r>
          </a:p>
        </p:txBody>
      </p:sp>
      <p:sp>
        <p:nvSpPr>
          <p:cNvPr id="3" name="Content Placeholder 2">
            <a:extLst>
              <a:ext uri="{FF2B5EF4-FFF2-40B4-BE49-F238E27FC236}">
                <a16:creationId xmlns:a16="http://schemas.microsoft.com/office/drawing/2014/main" id="{AB47F970-EB76-7F47-C5AE-C217330C2A2C}"/>
              </a:ext>
            </a:extLst>
          </p:cNvPr>
          <p:cNvSpPr>
            <a:spLocks noGrp="1"/>
          </p:cNvSpPr>
          <p:nvPr>
            <p:ph sz="half" idx="1"/>
          </p:nvPr>
        </p:nvSpPr>
        <p:spPr>
          <a:xfrm>
            <a:off x="609600" y="1968501"/>
            <a:ext cx="5309830" cy="4157663"/>
          </a:xfrm>
        </p:spPr>
        <p:txBody>
          <a:bodyPr/>
          <a:lstStyle/>
          <a:p>
            <a:r>
              <a:rPr lang="en-US" sz="2000" dirty="0"/>
              <a:t>Phonons can scatter through several mechanisms as they travel through the material:</a:t>
            </a:r>
          </a:p>
          <a:p>
            <a:pPr lvl="1"/>
            <a:r>
              <a:rPr lang="en-US" sz="2000" dirty="0"/>
              <a:t>phonon-phonon; phonon-impurity; phonon-electron; phonon-boundary</a:t>
            </a:r>
          </a:p>
          <a:p>
            <a:r>
              <a:rPr lang="en-US" sz="2000" dirty="0"/>
              <a:t>Temperature increases thermal fluctuations, and thus increases phonon scattering</a:t>
            </a:r>
          </a:p>
          <a:p>
            <a:r>
              <a:rPr lang="en-US" sz="2000" dirty="0"/>
              <a:t>Electronic contributions in UO2 become much more prevalent at higher temperatures, with an increases kth as T increases</a:t>
            </a:r>
          </a:p>
        </p:txBody>
      </p:sp>
      <p:sp>
        <p:nvSpPr>
          <p:cNvPr id="5" name="Slide Number Placeholder 4">
            <a:extLst>
              <a:ext uri="{FF2B5EF4-FFF2-40B4-BE49-F238E27FC236}">
                <a16:creationId xmlns:a16="http://schemas.microsoft.com/office/drawing/2014/main" id="{BEB38BF1-9B29-168C-1A72-A07F27B98D4C}"/>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pic>
        <p:nvPicPr>
          <p:cNvPr id="6" name="Picture 5">
            <a:extLst>
              <a:ext uri="{FF2B5EF4-FFF2-40B4-BE49-F238E27FC236}">
                <a16:creationId xmlns:a16="http://schemas.microsoft.com/office/drawing/2014/main" id="{C22303FB-4545-D83A-DF8E-C81A764DF5F6}"/>
              </a:ext>
            </a:extLst>
          </p:cNvPr>
          <p:cNvPicPr>
            <a:picLocks noChangeAspect="1"/>
          </p:cNvPicPr>
          <p:nvPr/>
        </p:nvPicPr>
        <p:blipFill>
          <a:blip r:embed="rId2"/>
          <a:stretch>
            <a:fillRect/>
          </a:stretch>
        </p:blipFill>
        <p:spPr>
          <a:xfrm>
            <a:off x="5919430" y="2084667"/>
            <a:ext cx="3140828" cy="3021665"/>
          </a:xfrm>
          <a:prstGeom prst="rect">
            <a:avLst/>
          </a:prstGeom>
        </p:spPr>
      </p:pic>
      <p:pic>
        <p:nvPicPr>
          <p:cNvPr id="7" name="Picture 6">
            <a:extLst>
              <a:ext uri="{FF2B5EF4-FFF2-40B4-BE49-F238E27FC236}">
                <a16:creationId xmlns:a16="http://schemas.microsoft.com/office/drawing/2014/main" id="{0E95B5AC-834C-2C8F-BB0A-59DBA9260CBB}"/>
              </a:ext>
            </a:extLst>
          </p:cNvPr>
          <p:cNvPicPr>
            <a:picLocks noChangeAspect="1"/>
          </p:cNvPicPr>
          <p:nvPr/>
        </p:nvPicPr>
        <p:blipFill>
          <a:blip r:embed="rId3"/>
          <a:stretch>
            <a:fillRect/>
          </a:stretch>
        </p:blipFill>
        <p:spPr>
          <a:xfrm>
            <a:off x="9060258" y="2145468"/>
            <a:ext cx="2881934" cy="3021665"/>
          </a:xfrm>
          <a:prstGeom prst="rect">
            <a:avLst/>
          </a:prstGeom>
        </p:spPr>
      </p:pic>
      <p:sp>
        <p:nvSpPr>
          <p:cNvPr id="9" name="TextBox 8">
            <a:extLst>
              <a:ext uri="{FF2B5EF4-FFF2-40B4-BE49-F238E27FC236}">
                <a16:creationId xmlns:a16="http://schemas.microsoft.com/office/drawing/2014/main" id="{98BB7146-C69C-4138-ACBC-E1BE2F7E2B1D}"/>
              </a:ext>
            </a:extLst>
          </p:cNvPr>
          <p:cNvSpPr txBox="1"/>
          <p:nvPr/>
        </p:nvSpPr>
        <p:spPr>
          <a:xfrm>
            <a:off x="7483362" y="5291252"/>
            <a:ext cx="3153792" cy="261610"/>
          </a:xfrm>
          <a:prstGeom prst="rect">
            <a:avLst/>
          </a:prstGeom>
          <a:noFill/>
        </p:spPr>
        <p:txBody>
          <a:bodyPr wrap="square">
            <a:spAutoFit/>
          </a:bodyPr>
          <a:lstStyle/>
          <a:p>
            <a:pPr algn="ctr"/>
            <a:r>
              <a:rPr lang="en-US" sz="1100" b="0" i="0" u="none" strike="noStrike" dirty="0">
                <a:solidFill>
                  <a:srgbClr val="0272B1"/>
                </a:solidFill>
                <a:effectLst/>
                <a:latin typeface="ElsevierSans"/>
                <a:hlinkClick r:id="rId4" tooltip="Persistent link using digital object identifier"/>
              </a:rPr>
              <a:t>https://doi.org/10.1016/j.actamat.2017.07.060</a:t>
            </a:r>
            <a:endParaRPr lang="en-US" sz="1100" dirty="0"/>
          </a:p>
        </p:txBody>
      </p:sp>
    </p:spTree>
    <p:extLst>
      <p:ext uri="{BB962C8B-B14F-4D97-AF65-F5344CB8AC3E}">
        <p14:creationId xmlns:p14="http://schemas.microsoft.com/office/powerpoint/2010/main" val="225897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87779-EE1B-9747-916C-6AC5676EE933}"/>
              </a:ext>
            </a:extLst>
          </p:cNvPr>
          <p:cNvSpPr>
            <a:spLocks noGrp="1"/>
          </p:cNvSpPr>
          <p:nvPr>
            <p:ph type="title"/>
          </p:nvPr>
        </p:nvSpPr>
        <p:spPr/>
        <p:txBody>
          <a:bodyPr/>
          <a:lstStyle/>
          <a:p>
            <a:pPr algn="l"/>
            <a:r>
              <a:rPr lang="en-US" dirty="0"/>
              <a:t>Thermal Conductivity with Porosity</a:t>
            </a:r>
          </a:p>
        </p:txBody>
      </p:sp>
      <p:sp>
        <p:nvSpPr>
          <p:cNvPr id="3" name="Content Placeholder 2">
            <a:extLst>
              <a:ext uri="{FF2B5EF4-FFF2-40B4-BE49-F238E27FC236}">
                <a16:creationId xmlns:a16="http://schemas.microsoft.com/office/drawing/2014/main" id="{E83932E2-D9AC-254B-B0BC-313C3890BD99}"/>
              </a:ext>
            </a:extLst>
          </p:cNvPr>
          <p:cNvSpPr>
            <a:spLocks noGrp="1"/>
          </p:cNvSpPr>
          <p:nvPr>
            <p:ph sz="half" idx="1"/>
          </p:nvPr>
        </p:nvSpPr>
        <p:spPr/>
        <p:txBody>
          <a:bodyPr/>
          <a:lstStyle/>
          <a:p>
            <a:r>
              <a:rPr lang="en-US" sz="2000" dirty="0"/>
              <a:t>Sintering creates a porous oxide with about 95% theoretical density</a:t>
            </a:r>
          </a:p>
          <a:p>
            <a:r>
              <a:rPr lang="en-US" sz="2000" dirty="0"/>
              <a:t>The pores provide space to accommodate fission gases, and thus reduce swelling, but diminish the thermal conductivity</a:t>
            </a:r>
          </a:p>
          <a:p>
            <a:r>
              <a:rPr lang="en-US" sz="2000" dirty="0"/>
              <a:t>Additional porosity develops from fission gas accumulation</a:t>
            </a:r>
          </a:p>
          <a:p>
            <a:r>
              <a:rPr lang="en-US" sz="2000" dirty="0"/>
              <a:t>Porosity will degrade thermal conductivity by creating scattering centers</a:t>
            </a:r>
          </a:p>
          <a:p>
            <a:r>
              <a:rPr lang="en-US" sz="2000" dirty="0"/>
              <a:t>Approximations for that degradation can be developed based upon a parallel thermal resistance framework</a:t>
            </a:r>
          </a:p>
          <a:p>
            <a:endParaRPr lang="en-US" sz="2000"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EE40D5E-9BC0-204C-A149-012EDCF138E9}"/>
                  </a:ext>
                </a:extLst>
              </p:cNvPr>
              <p:cNvSpPr>
                <a:spLocks noGrp="1"/>
              </p:cNvSpPr>
              <p:nvPr>
                <p:ph sz="half" idx="2"/>
              </p:nvPr>
            </p:nvSpPr>
            <p:spPr/>
            <p:txBody>
              <a:bodyPr/>
              <a:lstStyle/>
              <a:p>
                <a:r>
                  <a:rPr lang="en-US" sz="2000" dirty="0"/>
                  <a:t>This framework accounts for porosity volume, assuming that the pores are approximately cubic</a:t>
                </a:r>
              </a:p>
              <a:p>
                <a:r>
                  <a:rPr lang="en-US" sz="2000" dirty="0"/>
                  <a:t>If we assume that the thermal conductivity of the oxide is much larger than the k</a:t>
                </a:r>
                <a:r>
                  <a:rPr lang="en-US" sz="2000" baseline="-25000" dirty="0"/>
                  <a:t>th</a:t>
                </a:r>
                <a:r>
                  <a:rPr lang="en-US" sz="2000" dirty="0"/>
                  <a:t> of the pore, then:</a:t>
                </a:r>
              </a:p>
              <a:p>
                <a:pPr marL="0" indent="0">
                  <a:buNone/>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𝑒𝑓𝑓</m:t>
                              </m:r>
                            </m:sub>
                          </m:sSub>
                        </m:num>
                        <m:den>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𝑜𝑥</m:t>
                              </m:r>
                            </m:sub>
                          </m:sSub>
                        </m:den>
                      </m:f>
                      <m:r>
                        <a:rPr lang="en-US" sz="2000" b="0" i="1" smtClean="0">
                          <a:latin typeface="Cambria Math" panose="02040503050406030204" pitchFamily="18" charset="0"/>
                        </a:rPr>
                        <m:t>=1−</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𝑃</m:t>
                          </m:r>
                        </m:e>
                        <m:sup>
                          <m:f>
                            <m:fPr>
                              <m:type m:val="skw"/>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3</m:t>
                              </m:r>
                            </m:den>
                          </m:f>
                        </m:sup>
                      </m:sSup>
                    </m:oMath>
                  </m:oMathPara>
                </a14:m>
                <a:endParaRPr lang="en-US" sz="2000" b="0" dirty="0"/>
              </a:p>
              <a:p>
                <a:r>
                  <a:rPr lang="en-US" sz="2000" dirty="0"/>
                  <a:t>where </a:t>
                </a:r>
                <a:r>
                  <a:rPr lang="en-US" sz="2000" dirty="0" err="1"/>
                  <a:t>k</a:t>
                </a:r>
                <a:r>
                  <a:rPr lang="en-US" sz="2000" baseline="-25000" dirty="0" err="1"/>
                  <a:t>eff</a:t>
                </a:r>
                <a:r>
                  <a:rPr lang="en-US" sz="2000" dirty="0"/>
                  <a:t> is the effective therm. cond. of the fuel, </a:t>
                </a:r>
                <a:r>
                  <a:rPr lang="en-US" sz="2000" dirty="0" err="1"/>
                  <a:t>k</a:t>
                </a:r>
                <a:r>
                  <a:rPr lang="en-US" sz="2000" baseline="-25000" dirty="0" err="1"/>
                  <a:t>ox</a:t>
                </a:r>
                <a:r>
                  <a:rPr lang="en-US" sz="2000" dirty="0"/>
                  <a:t> is the therm. cond. of the oxide, and P is the porosity</a:t>
                </a:r>
              </a:p>
            </p:txBody>
          </p:sp>
        </mc:Choice>
        <mc:Fallback xmlns="">
          <p:sp>
            <p:nvSpPr>
              <p:cNvPr id="4" name="Content Placeholder 3">
                <a:extLst>
                  <a:ext uri="{FF2B5EF4-FFF2-40B4-BE49-F238E27FC236}">
                    <a16:creationId xmlns:a16="http://schemas.microsoft.com/office/drawing/2014/main" id="{EEE40D5E-9BC0-204C-A149-012EDCF138E9}"/>
                  </a:ext>
                </a:extLst>
              </p:cNvPr>
              <p:cNvSpPr>
                <a:spLocks noGrp="1" noRot="1" noChangeAspect="1" noMove="1" noResize="1" noEditPoints="1" noAdjustHandles="1" noChangeArrowheads="1" noChangeShapeType="1" noTextEdit="1"/>
              </p:cNvSpPr>
              <p:nvPr>
                <p:ph sz="half" idx="2"/>
              </p:nvPr>
            </p:nvSpPr>
            <p:spPr>
              <a:blipFill>
                <a:blip r:embed="rId2"/>
                <a:stretch>
                  <a:fillRect l="-1176" t="-915"/>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D39457F3-6D33-6B40-B97F-E8F8BD141CC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55731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87779-EE1B-9747-916C-6AC5676EE933}"/>
              </a:ext>
            </a:extLst>
          </p:cNvPr>
          <p:cNvSpPr>
            <a:spLocks noGrp="1"/>
          </p:cNvSpPr>
          <p:nvPr>
            <p:ph type="title"/>
          </p:nvPr>
        </p:nvSpPr>
        <p:spPr/>
        <p:txBody>
          <a:bodyPr/>
          <a:lstStyle/>
          <a:p>
            <a:pPr algn="l"/>
            <a:r>
              <a:rPr lang="en-US" dirty="0"/>
              <a:t>Thermal Conductivity with Burnup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3932E2-D9AC-254B-B0BC-313C3890BD99}"/>
                  </a:ext>
                </a:extLst>
              </p:cNvPr>
              <p:cNvSpPr>
                <a:spLocks noGrp="1"/>
              </p:cNvSpPr>
              <p:nvPr>
                <p:ph sz="half" idx="1"/>
              </p:nvPr>
            </p:nvSpPr>
            <p:spPr>
              <a:xfrm>
                <a:off x="609599" y="1968501"/>
                <a:ext cx="5801139" cy="4157663"/>
              </a:xfrm>
            </p:spPr>
            <p:txBody>
              <a:bodyPr/>
              <a:lstStyle/>
              <a:p>
                <a:r>
                  <a:rPr lang="en-US" sz="2000" dirty="0"/>
                  <a:t>An empirical relation for the thermal conductivity of UO2:</a:t>
                </a:r>
              </a:p>
              <a:p>
                <a:pPr marL="0" indent="0">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𝑜𝑥</m:t>
                          </m:r>
                        </m:sub>
                      </m:sSub>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𝐴</m:t>
                          </m:r>
                          <m:r>
                            <a:rPr lang="en-US" sz="2000" b="0" i="1" smtClean="0">
                              <a:latin typeface="Cambria Math" panose="02040503050406030204" pitchFamily="18" charset="0"/>
                            </a:rPr>
                            <m:t>+</m:t>
                          </m:r>
                          <m:r>
                            <a:rPr lang="en-US" sz="2000" b="0" i="1" smtClean="0">
                              <a:latin typeface="Cambria Math" panose="02040503050406030204" pitchFamily="18" charset="0"/>
                            </a:rPr>
                            <m:t>𝐵𝑇</m:t>
                          </m:r>
                        </m:den>
                      </m:f>
                    </m:oMath>
                  </m:oMathPara>
                </a14:m>
                <a:endParaRPr lang="en-US" sz="2000" dirty="0"/>
              </a:p>
              <a:p>
                <a:r>
                  <a:rPr lang="en-US" sz="2000" dirty="0"/>
                  <a:t>A=3.8+200xFIMA (</a:t>
                </a:r>
                <a:r>
                  <a:rPr lang="en-US" sz="2000" dirty="0" err="1"/>
                  <a:t>cmK</a:t>
                </a:r>
                <a:r>
                  <a:rPr lang="en-US" sz="2000" dirty="0"/>
                  <a:t>/W) </a:t>
                </a:r>
              </a:p>
              <a:p>
                <a:r>
                  <a:rPr lang="en-US" sz="2000" dirty="0"/>
                  <a:t>B=0.0217 (cm/W)</a:t>
                </a:r>
              </a:p>
              <a:p>
                <a:r>
                  <a:rPr lang="en-US" sz="2000" dirty="0"/>
                  <a:t>The temperature at the fuel centerline and fuel surface are related by:</a:t>
                </a:r>
              </a:p>
              <a:p>
                <a:pPr marL="0" indent="0">
                  <a:buNone/>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𝐵</m:t>
                          </m:r>
                        </m:den>
                      </m:f>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ln</m:t>
                          </m:r>
                        </m:fName>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𝐴</m:t>
                                  </m:r>
                                  <m:r>
                                    <a:rPr lang="en-US" sz="2000" b="0" i="1" smtClean="0">
                                      <a:latin typeface="Cambria Math" panose="02040503050406030204" pitchFamily="18" charset="0"/>
                                    </a:rPr>
                                    <m:t>+</m:t>
                                  </m:r>
                                  <m:r>
                                    <a:rPr lang="en-US" sz="2000" b="0" i="1" smtClean="0">
                                      <a:latin typeface="Cambria Math" panose="02040503050406030204" pitchFamily="18" charset="0"/>
                                    </a:rPr>
                                    <m:t>𝐵</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0</m:t>
                                      </m:r>
                                    </m:sub>
                                  </m:sSub>
                                </m:num>
                                <m:den>
                                  <m:r>
                                    <a:rPr lang="en-US" sz="2000" b="0" i="1" smtClean="0">
                                      <a:latin typeface="Cambria Math" panose="02040503050406030204" pitchFamily="18" charset="0"/>
                                    </a:rPr>
                                    <m:t>𝐴</m:t>
                                  </m:r>
                                  <m:r>
                                    <a:rPr lang="en-US" sz="2000" b="0" i="1" smtClean="0">
                                      <a:latin typeface="Cambria Math" panose="02040503050406030204" pitchFamily="18" charset="0"/>
                                    </a:rPr>
                                    <m:t>+</m:t>
                                  </m:r>
                                  <m:r>
                                    <a:rPr lang="en-US" sz="2000" b="0" i="1" smtClean="0">
                                      <a:latin typeface="Cambria Math" panose="02040503050406030204" pitchFamily="18" charset="0"/>
                                    </a:rPr>
                                    <m:t>𝐵</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𝑠</m:t>
                                      </m:r>
                                    </m:sub>
                                  </m:sSub>
                                </m:den>
                              </m:f>
                            </m:e>
                          </m:d>
                        </m:e>
                      </m:func>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𝐿𝐻𝑅</m:t>
                          </m:r>
                        </m:num>
                        <m:den>
                          <m:r>
                            <a:rPr lang="en-US" sz="2000" b="0" i="1" smtClean="0">
                              <a:latin typeface="Cambria Math" panose="02040503050406030204" pitchFamily="18" charset="0"/>
                            </a:rPr>
                            <m:t>4</m:t>
                          </m:r>
                          <m:r>
                            <a:rPr lang="en-US" sz="2000" b="0" i="1" smtClean="0">
                              <a:latin typeface="Cambria Math" panose="02040503050406030204" pitchFamily="18" charset="0"/>
                              <a:ea typeface="Cambria Math" panose="02040503050406030204" pitchFamily="18" charset="0"/>
                            </a:rPr>
                            <m:t>𝜋</m:t>
                          </m:r>
                        </m:den>
                      </m:f>
                    </m:oMath>
                  </m:oMathPara>
                </a14:m>
                <a:endParaRPr lang="en-US" sz="2000" dirty="0"/>
              </a:p>
              <a:p>
                <a:r>
                  <a:rPr lang="en-US" sz="2000" dirty="0"/>
                  <a:t>Solving the heat conduction equation with temperature-dependent k</a:t>
                </a:r>
                <a:r>
                  <a:rPr lang="en-US" sz="2000" baseline="-25000" dirty="0"/>
                  <a:t>th</a:t>
                </a:r>
                <a:r>
                  <a:rPr lang="en-US" sz="2000" dirty="0"/>
                  <a:t> requires numerical methods</a:t>
                </a:r>
              </a:p>
            </p:txBody>
          </p:sp>
        </mc:Choice>
        <mc:Fallback xmlns="">
          <p:sp>
            <p:nvSpPr>
              <p:cNvPr id="3" name="Content Placeholder 2">
                <a:extLst>
                  <a:ext uri="{FF2B5EF4-FFF2-40B4-BE49-F238E27FC236}">
                    <a16:creationId xmlns:a16="http://schemas.microsoft.com/office/drawing/2014/main" id="{E83932E2-D9AC-254B-B0BC-313C3890BD99}"/>
                  </a:ext>
                </a:extLst>
              </p:cNvPr>
              <p:cNvSpPr>
                <a:spLocks noGrp="1" noRot="1" noChangeAspect="1" noMove="1" noResize="1" noEditPoints="1" noAdjustHandles="1" noChangeArrowheads="1" noChangeShapeType="1" noTextEdit="1"/>
              </p:cNvSpPr>
              <p:nvPr>
                <p:ph sz="half" idx="1"/>
              </p:nvPr>
            </p:nvSpPr>
            <p:spPr>
              <a:xfrm>
                <a:off x="609599" y="1968501"/>
                <a:ext cx="5801139" cy="4157663"/>
              </a:xfrm>
              <a:blipFill>
                <a:blip r:embed="rId2"/>
                <a:stretch>
                  <a:fillRect l="-875" t="-915" r="-1094" b="-5488"/>
                </a:stretch>
              </a:blipFill>
            </p:spPr>
            <p:txBody>
              <a:bodyPr/>
              <a:lstStyle/>
              <a:p>
                <a:r>
                  <a:rPr lang="en-US">
                    <a:noFill/>
                  </a:rPr>
                  <a:t> </a:t>
                </a:r>
              </a:p>
            </p:txBody>
          </p:sp>
        </mc:Fallback>
      </mc:AlternateContent>
      <p:pic>
        <p:nvPicPr>
          <p:cNvPr id="1026" name="Picture 2" descr="PDF] Thermal conductivity of UO2 and PuO2 from first-principles | Semantic  Scholar">
            <a:extLst>
              <a:ext uri="{FF2B5EF4-FFF2-40B4-BE49-F238E27FC236}">
                <a16:creationId xmlns:a16="http://schemas.microsoft.com/office/drawing/2014/main" id="{B74105B8-7576-0243-8659-47680F2A4C67}"/>
              </a:ext>
            </a:extLst>
          </p:cNvPr>
          <p:cNvPicPr>
            <a:picLocks noGrp="1" noChangeAspect="1" noChangeArrowheads="1"/>
          </p:cNvPicPr>
          <p:nvPr>
            <p:ph sz="half" idx="2"/>
          </p:nvPr>
        </p:nvPicPr>
        <p:blipFill>
          <a:blip r:embed="rId3">
            <a:extLst>
              <a:ext uri="{28A0092B-C50C-407E-A947-70E740481C1C}">
                <a14:useLocalDpi xmlns:a14="http://schemas.microsoft.com/office/drawing/2010/main"/>
              </a:ext>
            </a:extLst>
          </a:blip>
          <a:stretch>
            <a:fillRect/>
          </a:stretch>
        </p:blipFill>
        <p:spPr bwMode="auto">
          <a:xfrm>
            <a:off x="7079145" y="2260357"/>
            <a:ext cx="4584943" cy="3603729"/>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D39457F3-6D33-6B40-B97F-E8F8BD141CC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814520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sz="4000" dirty="0"/>
              <a:t>Numerical Solve</a:t>
            </a:r>
          </a:p>
        </p:txBody>
      </p:sp>
    </p:spTree>
    <p:extLst>
      <p:ext uri="{BB962C8B-B14F-4D97-AF65-F5344CB8AC3E}">
        <p14:creationId xmlns:p14="http://schemas.microsoft.com/office/powerpoint/2010/main" val="35537390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D3656-120C-384F-A1DC-FDC8B6A538A9}"/>
              </a:ext>
            </a:extLst>
          </p:cNvPr>
          <p:cNvSpPr>
            <a:spLocks noGrp="1"/>
          </p:cNvSpPr>
          <p:nvPr>
            <p:ph type="title"/>
          </p:nvPr>
        </p:nvSpPr>
        <p:spPr/>
        <p:txBody>
          <a:bodyPr/>
          <a:lstStyle/>
          <a:p>
            <a:r>
              <a:rPr lang="en-US" dirty="0"/>
              <a:t>The most accurate solution is numerical, in 3D, requires modeling the entire core, and is multi-physics</a:t>
            </a:r>
          </a:p>
        </p:txBody>
      </p:sp>
      <p:sp>
        <p:nvSpPr>
          <p:cNvPr id="3" name="Slide Number Placeholder 2">
            <a:extLst>
              <a:ext uri="{FF2B5EF4-FFF2-40B4-BE49-F238E27FC236}">
                <a16:creationId xmlns:a16="http://schemas.microsoft.com/office/drawing/2014/main" id="{9C4EF919-0518-2948-8068-0BC1EDD17301}"/>
              </a:ext>
            </a:extLst>
          </p:cNvPr>
          <p:cNvSpPr>
            <a:spLocks noGrp="1"/>
          </p:cNvSpPr>
          <p:nvPr>
            <p:ph type="sldNum" sz="quarter" idx="12"/>
          </p:nvPr>
        </p:nvSpPr>
        <p:spPr/>
        <p:txBody>
          <a:bodyPr/>
          <a:lstStyle/>
          <a:p>
            <a:pPr>
              <a:defRPr/>
            </a:pPr>
            <a:fld id="{C2AB7D4D-4E81-5B40-91F6-CF14C25F8623}" type="slidenum">
              <a:rPr lang="en-US" smtClean="0"/>
              <a:pPr>
                <a:defRPr/>
              </a:pPr>
              <a:t>20</a:t>
            </a:fld>
            <a:endParaRPr lang="en-US"/>
          </a:p>
        </p:txBody>
      </p:sp>
      <p:sp>
        <p:nvSpPr>
          <p:cNvPr id="6" name="Content Placeholder 2">
            <a:extLst>
              <a:ext uri="{FF2B5EF4-FFF2-40B4-BE49-F238E27FC236}">
                <a16:creationId xmlns:a16="http://schemas.microsoft.com/office/drawing/2014/main" id="{8BBAAFD6-E1C2-1D47-93E7-08A9C5576A6B}"/>
              </a:ext>
            </a:extLst>
          </p:cNvPr>
          <p:cNvSpPr txBox="1">
            <a:spLocks/>
          </p:cNvSpPr>
          <p:nvPr/>
        </p:nvSpPr>
        <p:spPr>
          <a:xfrm>
            <a:off x="609600" y="2160495"/>
            <a:ext cx="5737412" cy="3965670"/>
          </a:xfrm>
          <a:prstGeom prst="rect">
            <a:avLst/>
          </a:prstGeom>
        </p:spPr>
        <p:txBody>
          <a:bodyPr/>
          <a:lstStyle>
            <a:lvl1pPr marL="342900" indent="-34290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Font typeface="Arial" charset="0"/>
              <a:buChar char="–"/>
              <a:defRPr sz="14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Font typeface="Arial" charset="0"/>
              <a:buChar char="»"/>
              <a:defRPr sz="1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Solution is 3D and changes in time</a:t>
            </a:r>
          </a:p>
          <a:p>
            <a:r>
              <a:rPr lang="en-US" dirty="0"/>
              <a:t>All the properties are functions of temperature</a:t>
            </a:r>
          </a:p>
          <a:p>
            <a:r>
              <a:rPr lang="en-US" dirty="0"/>
              <a:t>The boundary conditions come from information about the coolant flow</a:t>
            </a:r>
          </a:p>
          <a:p>
            <a:r>
              <a:rPr lang="en-US" dirty="0"/>
              <a:t>The heat generation rate comes from information about the neutronics in the reactor</a:t>
            </a:r>
          </a:p>
          <a:p>
            <a:r>
              <a:rPr lang="en-US" dirty="0"/>
              <a:t>No analytical solution is possible</a:t>
            </a:r>
          </a:p>
        </p:txBody>
      </p:sp>
      <p:pic>
        <p:nvPicPr>
          <p:cNvPr id="5" name="Picture 4">
            <a:extLst>
              <a:ext uri="{FF2B5EF4-FFF2-40B4-BE49-F238E27FC236}">
                <a16:creationId xmlns:a16="http://schemas.microsoft.com/office/drawing/2014/main" id="{9337D355-2855-2E8D-5348-8C8435DC860E}"/>
              </a:ext>
            </a:extLst>
          </p:cNvPr>
          <p:cNvPicPr>
            <a:picLocks noChangeAspect="1"/>
          </p:cNvPicPr>
          <p:nvPr/>
        </p:nvPicPr>
        <p:blipFill>
          <a:blip r:embed="rId2"/>
          <a:stretch>
            <a:fillRect/>
          </a:stretch>
        </p:blipFill>
        <p:spPr>
          <a:xfrm>
            <a:off x="6615655" y="2244853"/>
            <a:ext cx="5312901" cy="3538535"/>
          </a:xfrm>
          <a:prstGeom prst="rect">
            <a:avLst/>
          </a:prstGeom>
        </p:spPr>
      </p:pic>
    </p:spTree>
    <p:extLst>
      <p:ext uri="{BB962C8B-B14F-4D97-AF65-F5344CB8AC3E}">
        <p14:creationId xmlns:p14="http://schemas.microsoft.com/office/powerpoint/2010/main" val="854128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95FDD-59C7-B74C-B061-5F6B720D0D34}"/>
              </a:ext>
            </a:extLst>
          </p:cNvPr>
          <p:cNvSpPr>
            <a:spLocks noGrp="1"/>
          </p:cNvSpPr>
          <p:nvPr>
            <p:ph type="title"/>
          </p:nvPr>
        </p:nvSpPr>
        <p:spPr/>
        <p:txBody>
          <a:bodyPr/>
          <a:lstStyle/>
          <a:p>
            <a:r>
              <a:rPr lang="en-US" dirty="0"/>
              <a:t>For numerical solutions, deal with discretization in space/time</a:t>
            </a:r>
          </a:p>
        </p:txBody>
      </p:sp>
      <p:sp>
        <p:nvSpPr>
          <p:cNvPr id="3" name="Content Placeholder 2">
            <a:extLst>
              <a:ext uri="{FF2B5EF4-FFF2-40B4-BE49-F238E27FC236}">
                <a16:creationId xmlns:a16="http://schemas.microsoft.com/office/drawing/2014/main" id="{FA8EA3B6-A377-3B4E-8156-6FF7ABB145FE}"/>
              </a:ext>
            </a:extLst>
          </p:cNvPr>
          <p:cNvSpPr>
            <a:spLocks noGrp="1"/>
          </p:cNvSpPr>
          <p:nvPr>
            <p:ph idx="1"/>
          </p:nvPr>
        </p:nvSpPr>
        <p:spPr/>
        <p:txBody>
          <a:bodyPr/>
          <a:lstStyle/>
          <a:p>
            <a:r>
              <a:rPr lang="en-US" dirty="0"/>
              <a:t>Discretization in time</a:t>
            </a:r>
          </a:p>
          <a:p>
            <a:pPr lvl="1"/>
            <a:r>
              <a:rPr lang="en-US" dirty="0"/>
              <a:t>Forward Euler’s method (explicit)</a:t>
            </a:r>
          </a:p>
          <a:p>
            <a:pPr lvl="1"/>
            <a:r>
              <a:rPr lang="en-US" dirty="0"/>
              <a:t>Backward Euler’s method (implicit)</a:t>
            </a:r>
          </a:p>
          <a:p>
            <a:r>
              <a:rPr lang="en-US" dirty="0"/>
              <a:t>Discretization in space</a:t>
            </a:r>
          </a:p>
          <a:p>
            <a:pPr lvl="1"/>
            <a:r>
              <a:rPr lang="en-US" dirty="0"/>
              <a:t>Finite difference</a:t>
            </a:r>
          </a:p>
          <a:p>
            <a:pPr lvl="1"/>
            <a:r>
              <a:rPr lang="en-US" dirty="0"/>
              <a:t>Finite volume</a:t>
            </a:r>
          </a:p>
          <a:p>
            <a:pPr lvl="1"/>
            <a:r>
              <a:rPr lang="en-US" dirty="0"/>
              <a:t>Finite element</a:t>
            </a:r>
          </a:p>
          <a:p>
            <a:endParaRPr lang="en-US" dirty="0"/>
          </a:p>
        </p:txBody>
      </p:sp>
      <p:sp>
        <p:nvSpPr>
          <p:cNvPr id="4" name="Slide Number Placeholder 3">
            <a:extLst>
              <a:ext uri="{FF2B5EF4-FFF2-40B4-BE49-F238E27FC236}">
                <a16:creationId xmlns:a16="http://schemas.microsoft.com/office/drawing/2014/main" id="{895CEFB3-DB6D-514B-9F95-E115D61DD1F2}"/>
              </a:ext>
            </a:extLst>
          </p:cNvPr>
          <p:cNvSpPr>
            <a:spLocks noGrp="1"/>
          </p:cNvSpPr>
          <p:nvPr>
            <p:ph type="sldNum" sz="quarter" idx="12"/>
          </p:nvPr>
        </p:nvSpPr>
        <p:spPr/>
        <p:txBody>
          <a:bodyPr/>
          <a:lstStyle/>
          <a:p>
            <a:pPr>
              <a:defRPr/>
            </a:pPr>
            <a:fld id="{3FF2C605-4958-CF43-AA48-80339EFDB0AF}" type="slidenum">
              <a:rPr lang="en-US" smtClean="0"/>
              <a:pPr>
                <a:defRPr/>
              </a:pPr>
              <a:t>21</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8D1FADE-5BC5-6164-7037-65C792B549C3}"/>
                  </a:ext>
                </a:extLst>
              </p:cNvPr>
              <p:cNvSpPr txBox="1"/>
              <p:nvPr/>
            </p:nvSpPr>
            <p:spPr>
              <a:xfrm>
                <a:off x="7926141" y="2795455"/>
                <a:ext cx="2679708" cy="5325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𝜌</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𝑐</m:t>
                          </m:r>
                        </m:e>
                        <m:sub>
                          <m:r>
                            <a:rPr lang="en-US" b="0" i="1" smtClean="0">
                              <a:latin typeface="Cambria Math" panose="02040503050406030204" pitchFamily="18" charset="0"/>
                              <a:ea typeface="Cambria Math" panose="02040503050406030204" pitchFamily="18" charset="0"/>
                            </a:rPr>
                            <m:t>𝑝</m:t>
                          </m:r>
                        </m:sub>
                      </m:sSub>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𝑇</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𝑟</m:t>
                          </m:r>
                        </m:den>
                      </m:f>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den>
                      </m:f>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𝑟𝑘</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𝑇</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den>
                          </m:f>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𝑄</m:t>
                      </m:r>
                    </m:oMath>
                  </m:oMathPara>
                </a14:m>
                <a:endParaRPr lang="en-US" dirty="0"/>
              </a:p>
            </p:txBody>
          </p:sp>
        </mc:Choice>
        <mc:Fallback xmlns="">
          <p:sp>
            <p:nvSpPr>
              <p:cNvPr id="5" name="TextBox 4">
                <a:extLst>
                  <a:ext uri="{FF2B5EF4-FFF2-40B4-BE49-F238E27FC236}">
                    <a16:creationId xmlns:a16="http://schemas.microsoft.com/office/drawing/2014/main" id="{88D1FADE-5BC5-6164-7037-65C792B549C3}"/>
                  </a:ext>
                </a:extLst>
              </p:cNvPr>
              <p:cNvSpPr txBox="1">
                <a:spLocks noRot="1" noChangeAspect="1" noMove="1" noResize="1" noEditPoints="1" noAdjustHandles="1" noChangeArrowheads="1" noChangeShapeType="1" noTextEdit="1"/>
              </p:cNvSpPr>
              <p:nvPr/>
            </p:nvSpPr>
            <p:spPr>
              <a:xfrm>
                <a:off x="7926141" y="2795455"/>
                <a:ext cx="2679708" cy="532582"/>
              </a:xfrm>
              <a:prstGeom prst="rect">
                <a:avLst/>
              </a:prstGeom>
              <a:blipFill>
                <a:blip r:embed="rId2"/>
                <a:stretch>
                  <a:fillRect l="-1887" t="-4651" r="-1887" b="-11628"/>
                </a:stretch>
              </a:blipFill>
            </p:spPr>
            <p:txBody>
              <a:bodyPr/>
              <a:lstStyle/>
              <a:p>
                <a:r>
                  <a:rPr lang="en-US">
                    <a:noFill/>
                  </a:rPr>
                  <a:t> </a:t>
                </a:r>
              </a:p>
            </p:txBody>
          </p:sp>
        </mc:Fallback>
      </mc:AlternateContent>
    </p:spTree>
    <p:extLst>
      <p:ext uri="{BB962C8B-B14F-4D97-AF65-F5344CB8AC3E}">
        <p14:creationId xmlns:p14="http://schemas.microsoft.com/office/powerpoint/2010/main" val="3972361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D8C5B-59EA-D74E-87D3-CFC0CFA42AA1}"/>
              </a:ext>
            </a:extLst>
          </p:cNvPr>
          <p:cNvSpPr>
            <a:spLocks noGrp="1"/>
          </p:cNvSpPr>
          <p:nvPr>
            <p:ph type="title"/>
          </p:nvPr>
        </p:nvSpPr>
        <p:spPr/>
        <p:txBody>
          <a:bodyPr/>
          <a:lstStyle/>
          <a:p>
            <a:r>
              <a:rPr lang="en-US" dirty="0"/>
              <a:t>Forward Euler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E84607-EAD0-A848-9861-2C1E5917915E}"/>
                  </a:ext>
                </a:extLst>
              </p:cNvPr>
              <p:cNvSpPr>
                <a:spLocks noGrp="1"/>
              </p:cNvSpPr>
              <p:nvPr>
                <p:ph idx="1"/>
              </p:nvPr>
            </p:nvSpPr>
            <p:spPr>
              <a:xfrm>
                <a:off x="609600" y="2160495"/>
                <a:ext cx="6116053" cy="3965670"/>
              </a:xfrm>
            </p:spPr>
            <p:txBody>
              <a:bodyPr>
                <a:normAutofit fontScale="92500"/>
              </a:bodyPr>
              <a:lstStyle/>
              <a:p>
                <a:r>
                  <a:rPr lang="en-US" dirty="0"/>
                  <a:t>Step forward through time in increments, dt</a:t>
                </a:r>
              </a:p>
              <a:p>
                <a:r>
                  <a:rPr lang="en-US" dirty="0"/>
                  <a:t>The Euler method is a first-order method, which means that the local error (error per step) is proportional to the square of the step size</a:t>
                </a:r>
              </a:p>
              <a:p>
                <a:r>
                  <a:rPr lang="en-US" dirty="0">
                    <a:latin typeface="Arial" panose="020B0604020202020204" pitchFamily="34" charset="0"/>
                    <a:cs typeface="Arial" panose="020B0604020202020204" pitchFamily="34" charset="0"/>
                  </a:rPr>
                  <a:t>Expand a function y(t), with a timestep size, h</a:t>
                </a:r>
              </a:p>
              <a:p>
                <a:pPr marL="457200" lvl="1" indent="0">
                  <a:buNone/>
                </a:pPr>
                <a14:m>
                  <m:oMath xmlns:m="http://schemas.openxmlformats.org/officeDocument/2006/math">
                    <m:r>
                      <a:rPr lang="en-US" b="0" i="1" smtClean="0">
                        <a:latin typeface="Cambria Math" panose="02040503050406030204" pitchFamily="18" charset="0"/>
                        <a:cs typeface="Arial" panose="020B0604020202020204" pitchFamily="34" charset="0"/>
                      </a:rPr>
                      <m:t>𝑦</m:t>
                    </m:r>
                    <m:d>
                      <m:dPr>
                        <m:ctrlPr>
                          <a:rPr lang="en-US" b="0" i="1" smtClean="0">
                            <a:latin typeface="Cambria Math" panose="02040503050406030204" pitchFamily="18" charset="0"/>
                            <a:cs typeface="Arial" panose="020B0604020202020204" pitchFamily="34" charset="0"/>
                          </a:rPr>
                        </m:ctrlPr>
                      </m:dPr>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𝑡</m:t>
                            </m:r>
                          </m:e>
                          <m:sub>
                            <m:r>
                              <a:rPr lang="en-US" b="0" i="1" smtClean="0">
                                <a:latin typeface="Cambria Math" panose="02040503050406030204" pitchFamily="18" charset="0"/>
                                <a:cs typeface="Arial" panose="020B0604020202020204" pitchFamily="34" charset="0"/>
                              </a:rPr>
                              <m:t>0</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h</m:t>
                        </m:r>
                      </m:e>
                    </m:d>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𝑦</m:t>
                    </m:r>
                    <m:d>
                      <m:dPr>
                        <m:ctrlPr>
                          <a:rPr lang="en-US" b="0" i="1" smtClean="0">
                            <a:latin typeface="Cambria Math" panose="02040503050406030204" pitchFamily="18" charset="0"/>
                            <a:cs typeface="Arial" panose="020B0604020202020204" pitchFamily="34" charset="0"/>
                          </a:rPr>
                        </m:ctrlPr>
                      </m:dPr>
                      <m:e>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𝑡</m:t>
                            </m:r>
                          </m:e>
                          <m:sub>
                            <m:r>
                              <a:rPr lang="en-US" b="0" i="1" smtClean="0">
                                <a:latin typeface="Cambria Math" panose="02040503050406030204" pitchFamily="18" charset="0"/>
                                <a:cs typeface="Arial" panose="020B0604020202020204" pitchFamily="34" charset="0"/>
                              </a:rPr>
                              <m:t>0</m:t>
                            </m:r>
                          </m:sub>
                        </m:sSub>
                      </m:e>
                    </m:d>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h</m:t>
                    </m:r>
                  </m:oMath>
                </a14:m>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m:t>
                        </m:r>
                      </m:sup>
                    </m:sSup>
                    <m:d>
                      <m:dPr>
                        <m:ctrlPr>
                          <a:rPr lang="en-US" i="1">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m:t>
                            </m:r>
                          </m:sub>
                        </m:sSub>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2</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oMath>
                </a14:m>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Euler takes only the first derivative</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𝑛</m:t>
                        </m:r>
                      </m:sub>
                    </m:sSub>
                    <m:r>
                      <a:rPr lang="en-US" i="1">
                        <a:latin typeface="Cambria Math" panose="02040503050406030204" pitchFamily="18" charset="0"/>
                      </a:rPr>
                      <m:t>+</m:t>
                    </m:r>
                    <m:r>
                      <a:rPr lang="en-US" i="1">
                        <a:latin typeface="Cambria Math" panose="02040503050406030204" pitchFamily="18" charset="0"/>
                      </a:rPr>
                      <m:t>h</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𝑡</m:t>
                        </m:r>
                      </m:e>
                    </m:d>
                  </m:oMath>
                </a14:m>
                <a:endParaRPr lang="en-US" dirty="0"/>
              </a:p>
              <a:p>
                <a:r>
                  <a:rPr lang="en-US" dirty="0"/>
                  <a:t>Value </a:t>
                </a:r>
                <a:r>
                  <a:rPr lang="en-US" dirty="0" err="1"/>
                  <a:t>y</a:t>
                </a:r>
                <a:r>
                  <a:rPr lang="en-US" baseline="-25000" dirty="0" err="1"/>
                  <a:t>n</a:t>
                </a:r>
                <a:r>
                  <a:rPr lang="en-US" dirty="0"/>
                  <a:t> is an approximation of the solution to the ODE at time </a:t>
                </a:r>
                <a:r>
                  <a:rPr lang="en-US" dirty="0" err="1"/>
                  <a:t>t</a:t>
                </a:r>
                <a:r>
                  <a:rPr lang="en-US" baseline="-25000" dirty="0" err="1"/>
                  <a:t>n</a:t>
                </a:r>
                <a:endParaRPr lang="en-US" baseline="-25000" dirty="0"/>
              </a:p>
              <a:p>
                <a:endParaRPr lang="en-US" b="0" dirty="0"/>
              </a:p>
              <a:p>
                <a:endParaRPr lang="en-US" dirty="0"/>
              </a:p>
            </p:txBody>
          </p:sp>
        </mc:Choice>
        <mc:Fallback xmlns="">
          <p:sp>
            <p:nvSpPr>
              <p:cNvPr id="3" name="Content Placeholder 2">
                <a:extLst>
                  <a:ext uri="{FF2B5EF4-FFF2-40B4-BE49-F238E27FC236}">
                    <a16:creationId xmlns:a16="http://schemas.microsoft.com/office/drawing/2014/main" id="{87E84607-EAD0-A848-9861-2C1E5917915E}"/>
                  </a:ext>
                </a:extLst>
              </p:cNvPr>
              <p:cNvSpPr>
                <a:spLocks noGrp="1" noRot="1" noChangeAspect="1" noMove="1" noResize="1" noEditPoints="1" noAdjustHandles="1" noChangeArrowheads="1" noChangeShapeType="1" noTextEdit="1"/>
              </p:cNvSpPr>
              <p:nvPr>
                <p:ph idx="1"/>
              </p:nvPr>
            </p:nvSpPr>
            <p:spPr>
              <a:xfrm>
                <a:off x="609600" y="2160495"/>
                <a:ext cx="6116053" cy="3965670"/>
              </a:xfrm>
              <a:blipFill>
                <a:blip r:embed="rId2"/>
                <a:stretch>
                  <a:fillRect l="-830" t="-63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4DD9B99-41ED-9D44-9B66-C3DC634D4B4F}"/>
              </a:ext>
            </a:extLst>
          </p:cNvPr>
          <p:cNvSpPr>
            <a:spLocks noGrp="1"/>
          </p:cNvSpPr>
          <p:nvPr>
            <p:ph type="sldNum" sz="quarter" idx="12"/>
          </p:nvPr>
        </p:nvSpPr>
        <p:spPr/>
        <p:txBody>
          <a:bodyPr/>
          <a:lstStyle/>
          <a:p>
            <a:pPr>
              <a:defRPr/>
            </a:pPr>
            <a:fld id="{3FF2C605-4958-CF43-AA48-80339EFDB0AF}" type="slidenum">
              <a:rPr lang="en-US" smtClean="0"/>
              <a:pPr>
                <a:defRPr/>
              </a:pPr>
              <a:t>22</a:t>
            </a:fld>
            <a:endParaRPr lang="en-US" dirty="0"/>
          </a:p>
        </p:txBody>
      </p:sp>
      <p:pic>
        <p:nvPicPr>
          <p:cNvPr id="5" name="Picture 4">
            <a:extLst>
              <a:ext uri="{FF2B5EF4-FFF2-40B4-BE49-F238E27FC236}">
                <a16:creationId xmlns:a16="http://schemas.microsoft.com/office/drawing/2014/main" id="{B963C78B-F2A7-AE4E-A879-A1F385D2B64F}"/>
              </a:ext>
            </a:extLst>
          </p:cNvPr>
          <p:cNvPicPr>
            <a:picLocks noChangeAspect="1"/>
          </p:cNvPicPr>
          <p:nvPr/>
        </p:nvPicPr>
        <p:blipFill>
          <a:blip r:embed="rId3"/>
          <a:stretch>
            <a:fillRect/>
          </a:stretch>
        </p:blipFill>
        <p:spPr>
          <a:xfrm>
            <a:off x="7225764" y="2160495"/>
            <a:ext cx="4356636" cy="3404943"/>
          </a:xfrm>
          <a:prstGeom prst="rect">
            <a:avLst/>
          </a:prstGeom>
        </p:spPr>
      </p:pic>
    </p:spTree>
    <p:extLst>
      <p:ext uri="{BB962C8B-B14F-4D97-AF65-F5344CB8AC3E}">
        <p14:creationId xmlns:p14="http://schemas.microsoft.com/office/powerpoint/2010/main" val="1139243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B4333-4351-7F4D-B209-C97ED58B275F}"/>
              </a:ext>
            </a:extLst>
          </p:cNvPr>
          <p:cNvSpPr>
            <a:spLocks noGrp="1"/>
          </p:cNvSpPr>
          <p:nvPr>
            <p:ph type="title"/>
          </p:nvPr>
        </p:nvSpPr>
        <p:spPr/>
        <p:txBody>
          <a:bodyPr/>
          <a:lstStyle/>
          <a:p>
            <a:r>
              <a:rPr lang="en-US" dirty="0"/>
              <a:t>Forward Euler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AF6037-21C7-B14D-ADE2-92952F8EC568}"/>
                  </a:ext>
                </a:extLst>
              </p:cNvPr>
              <p:cNvSpPr>
                <a:spLocks noGrp="1"/>
              </p:cNvSpPr>
              <p:nvPr>
                <p:ph idx="1"/>
              </p:nvPr>
            </p:nvSpPr>
            <p:spPr/>
            <p:txBody>
              <a:bodyPr/>
              <a:lstStyle/>
              <a:p>
                <a:r>
                  <a:rPr lang="en-US" sz="2000" dirty="0"/>
                  <a:t>Applying to our temperature system</a:t>
                </a:r>
              </a:p>
              <a:p>
                <a:pPr marL="0" indent="0">
                  <a:buNone/>
                </a:pPr>
                <a:r>
                  <a:rPr lang="en-US" sz="2000" b="0" dirty="0"/>
                  <a:t>		</a:t>
                </a:r>
                <a14:m>
                  <m:oMath xmlns:m="http://schemas.openxmlformats.org/officeDocument/2006/math">
                    <m:r>
                      <a:rPr lang="en-US" sz="2000" b="0" i="1" smtClean="0">
                        <a:latin typeface="Cambria Math" panose="02040503050406030204" pitchFamily="18" charset="0"/>
                      </a:rPr>
                      <m:t>𝑇</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𝑟</m:t>
                        </m:r>
                        <m:r>
                          <a:rPr lang="en-US" sz="2000" b="0" i="1" smtClean="0">
                            <a:latin typeface="Cambria Math" panose="02040503050406030204" pitchFamily="18" charset="0"/>
                          </a:rPr>
                          <m:t>,</m:t>
                        </m:r>
                        <m:r>
                          <a:rPr lang="en-US" sz="2000" b="0" i="1" smtClean="0">
                            <a:latin typeface="Cambria Math" panose="02040503050406030204" pitchFamily="18" charset="0"/>
                          </a:rPr>
                          <m:t>𝑡</m:t>
                        </m:r>
                        <m:r>
                          <a:rPr lang="en-US" sz="2000" b="0" i="1" smtClean="0">
                            <a:latin typeface="Cambria Math" panose="02040503050406030204" pitchFamily="18" charset="0"/>
                          </a:rPr>
                          <m:t>+</m:t>
                        </m:r>
                        <m:r>
                          <a:rPr lang="en-US" sz="2000" b="0" i="1" smtClean="0">
                            <a:latin typeface="Cambria Math" panose="02040503050406030204" pitchFamily="18" charset="0"/>
                          </a:rPr>
                          <m:t>𝑑𝑡</m:t>
                        </m:r>
                      </m:e>
                    </m:d>
                    <m:r>
                      <a:rPr lang="en-US" sz="2000" b="0" i="1" smtClean="0">
                        <a:latin typeface="Cambria Math" panose="02040503050406030204" pitchFamily="18" charset="0"/>
                      </a:rPr>
                      <m:t>=</m:t>
                    </m:r>
                    <m:r>
                      <a:rPr lang="en-US" sz="2000" b="0" i="1" smtClean="0">
                        <a:latin typeface="Cambria Math" panose="02040503050406030204" pitchFamily="18" charset="0"/>
                      </a:rPr>
                      <m:t>𝑇</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𝑟</m:t>
                        </m:r>
                        <m:r>
                          <a:rPr lang="en-US" sz="2000" b="0" i="1" smtClean="0">
                            <a:latin typeface="Cambria Math" panose="02040503050406030204" pitchFamily="18" charset="0"/>
                          </a:rPr>
                          <m:t>,</m:t>
                        </m:r>
                        <m:r>
                          <a:rPr lang="en-US" sz="2000" b="0" i="1" smtClean="0">
                            <a:latin typeface="Cambria Math" panose="02040503050406030204" pitchFamily="18" charset="0"/>
                          </a:rPr>
                          <m:t>𝑡</m:t>
                        </m:r>
                      </m:e>
                    </m:d>
                    <m:r>
                      <a:rPr lang="en-US" sz="2000" b="0" i="1" smtClean="0">
                        <a:latin typeface="Cambria Math" panose="02040503050406030204" pitchFamily="18" charset="0"/>
                      </a:rPr>
                      <m:t>+</m:t>
                    </m:r>
                    <m:r>
                      <a:rPr lang="en-US" sz="2000" b="0" i="1" smtClean="0">
                        <a:latin typeface="Cambria Math" panose="02040503050406030204" pitchFamily="18" charset="0"/>
                      </a:rPr>
                      <m:t>𝑑𝑡</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𝑇</m:t>
                        </m:r>
                        <m:r>
                          <a:rPr lang="en-US" sz="2000" b="0" i="1" smtClean="0">
                            <a:latin typeface="Cambria Math" panose="02040503050406030204" pitchFamily="18" charset="0"/>
                          </a:rPr>
                          <m:t>(</m:t>
                        </m:r>
                        <m:r>
                          <a:rPr lang="en-US" sz="2000" b="0" i="1" smtClean="0">
                            <a:latin typeface="Cambria Math" panose="02040503050406030204" pitchFamily="18" charset="0"/>
                          </a:rPr>
                          <m:t>𝑟</m:t>
                        </m:r>
                        <m:r>
                          <a:rPr lang="en-US" sz="2000" b="0" i="1" smtClean="0">
                            <a:latin typeface="Cambria Math" panose="02040503050406030204" pitchFamily="18" charset="0"/>
                          </a:rPr>
                          <m:t>,</m:t>
                        </m:r>
                        <m:r>
                          <a:rPr lang="en-US" sz="2000" b="0" i="1" smtClean="0">
                            <a:latin typeface="Cambria Math" panose="02040503050406030204" pitchFamily="18" charset="0"/>
                          </a:rPr>
                          <m:t>𝑡</m:t>
                        </m:r>
                        <m:r>
                          <a:rPr lang="en-US" sz="2000" b="0" i="1" smtClean="0">
                            <a:latin typeface="Cambria Math" panose="02040503050406030204" pitchFamily="18" charset="0"/>
                          </a:rPr>
                          <m:t>)</m:t>
                        </m:r>
                      </m:num>
                      <m:den>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m:t>
                        </m:r>
                      </m:den>
                    </m:f>
                  </m:oMath>
                </a14:m>
                <a:endParaRPr lang="en-US" sz="2000" i="1" dirty="0">
                  <a:latin typeface="Cambria Math" panose="02040503050406030204" pitchFamily="18" charset="0"/>
                </a:endParaRPr>
              </a:p>
              <a:p>
                <a:r>
                  <a:rPr lang="en-US" sz="2000" dirty="0">
                    <a:latin typeface="Arial" panose="020B0604020202020204" pitchFamily="34" charset="0"/>
                    <a:cs typeface="Arial" panose="020B0604020202020204" pitchFamily="34" charset="0"/>
                  </a:rPr>
                  <a:t>Using the heat conduction equation:</a:t>
                </a:r>
                <a:endParaRPr lang="en-US" sz="2000" i="1" dirty="0">
                  <a:latin typeface="Cambria Math" panose="02040503050406030204" pitchFamily="18" charset="0"/>
                </a:endParaRPr>
              </a:p>
              <a:p>
                <a:pPr marL="0" indent="0">
                  <a:buNone/>
                </a:pPr>
                <a:r>
                  <a:rPr lang="en-US" sz="2000" i="1" dirty="0">
                    <a:latin typeface="Cambria Math" panose="02040503050406030204" pitchFamily="18" charset="0"/>
                  </a:rPr>
                  <a:t>		</a:t>
                </a:r>
                <a:r>
                  <a:rPr lang="en-US" sz="2000" dirty="0"/>
                  <a:t>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𝑇</m:t>
                        </m:r>
                        <m:r>
                          <a:rPr lang="en-US" sz="2000" i="1">
                            <a:latin typeface="Cambria Math" panose="02040503050406030204" pitchFamily="18" charset="0"/>
                          </a:rPr>
                          <m:t>(</m:t>
                        </m:r>
                        <m:r>
                          <a:rPr lang="en-US" sz="2000" i="1">
                            <a:latin typeface="Cambria Math" panose="02040503050406030204" pitchFamily="18" charset="0"/>
                          </a:rPr>
                          <m:t>𝑟</m:t>
                        </m:r>
                        <m:r>
                          <a:rPr lang="en-US" sz="2000" i="1">
                            <a:latin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m:t>
                        </m:r>
                      </m:num>
                      <m:den>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𝑡</m:t>
                        </m:r>
                      </m:den>
                    </m:f>
                    <m:r>
                      <a:rPr lang="en-US" sz="2000" b="0" i="1" smtClean="0">
                        <a:latin typeface="Cambria Math" panose="02040503050406030204" pitchFamily="18" charset="0"/>
                        <a:ea typeface="Cambria Math" panose="02040503050406030204" pitchFamily="18" charset="0"/>
                      </a:rPr>
                      <m:t>= </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𝜌</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𝑐</m:t>
                            </m:r>
                          </m:e>
                          <m:sub>
                            <m:r>
                              <a:rPr lang="en-US" sz="2000" b="0" i="1" smtClean="0">
                                <a:latin typeface="Cambria Math" panose="02040503050406030204" pitchFamily="18" charset="0"/>
                                <a:ea typeface="Cambria Math" panose="02040503050406030204" pitchFamily="18" charset="0"/>
                              </a:rPr>
                              <m:t>𝑝</m:t>
                            </m:r>
                          </m:sub>
                        </m:sSub>
                      </m:den>
                    </m:f>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𝑟</m:t>
                        </m:r>
                      </m:den>
                    </m:f>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num>
                      <m:den>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𝑟</m:t>
                        </m:r>
                      </m:den>
                    </m:f>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𝑟𝑘</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𝑇</m:t>
                        </m:r>
                        <m:r>
                          <a:rPr lang="en-US" sz="2000" b="0" i="1" smtClean="0">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𝑇</m:t>
                            </m:r>
                            <m:r>
                              <a:rPr lang="en-US" sz="2000" i="1">
                                <a:latin typeface="Cambria Math" panose="02040503050406030204" pitchFamily="18" charset="0"/>
                              </a:rPr>
                              <m:t>(</m:t>
                            </m:r>
                            <m:r>
                              <a:rPr lang="en-US" sz="2000" i="1">
                                <a:latin typeface="Cambria Math" panose="02040503050406030204" pitchFamily="18" charset="0"/>
                              </a:rPr>
                              <m:t>𝑟</m:t>
                            </m:r>
                            <m:r>
                              <a:rPr lang="en-US" sz="2000" i="1">
                                <a:latin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m:t>
                            </m:r>
                          </m:num>
                          <m:den>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𝑡</m:t>
                            </m:r>
                          </m:den>
                        </m:f>
                      </m:e>
                    </m:d>
                    <m:r>
                      <a:rPr lang="en-US" sz="2000" b="0" i="1" smtClean="0">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𝜌</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𝑐</m:t>
                            </m:r>
                          </m:e>
                          <m:sub>
                            <m:r>
                              <a:rPr lang="en-US" sz="2000" i="1">
                                <a:latin typeface="Cambria Math" panose="02040503050406030204" pitchFamily="18" charset="0"/>
                                <a:ea typeface="Cambria Math" panose="02040503050406030204" pitchFamily="18" charset="0"/>
                              </a:rPr>
                              <m:t>𝑝</m:t>
                            </m:r>
                          </m:sub>
                        </m:sSub>
                      </m:den>
                    </m:f>
                    <m:r>
                      <a:rPr lang="en-US" sz="2000" b="0" i="1" smtClean="0">
                        <a:latin typeface="Cambria Math" panose="02040503050406030204" pitchFamily="18" charset="0"/>
                        <a:ea typeface="Cambria Math" panose="02040503050406030204" pitchFamily="18" charset="0"/>
                      </a:rPr>
                      <m:t>𝑄</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𝑟</m:t>
                    </m:r>
                    <m:r>
                      <a:rPr lang="en-US" sz="2000" b="0" i="1" smtClean="0">
                        <a:latin typeface="Cambria Math" panose="02040503050406030204" pitchFamily="18" charset="0"/>
                        <a:ea typeface="Cambria Math" panose="02040503050406030204" pitchFamily="18" charset="0"/>
                      </a:rPr>
                      <m:t>)</m:t>
                    </m:r>
                  </m:oMath>
                </a14:m>
                <a:endParaRPr lang="en-US" sz="2000" i="1" dirty="0">
                  <a:latin typeface="Cambria Math" panose="02040503050406030204" pitchFamily="18" charset="0"/>
                </a:endParaRPr>
              </a:p>
              <a:p>
                <a:r>
                  <a:rPr lang="en-US" sz="2000" dirty="0">
                    <a:latin typeface="Arial" panose="020B0604020202020204" pitchFamily="34" charset="0"/>
                    <a:cs typeface="Arial" panose="020B0604020202020204" pitchFamily="34" charset="0"/>
                  </a:rPr>
                  <a:t>We input T</a:t>
                </a:r>
                <a:r>
                  <a:rPr lang="en-US" sz="2000" baseline="-25000" dirty="0">
                    <a:latin typeface="Arial" panose="020B0604020202020204" pitchFamily="34" charset="0"/>
                    <a:cs typeface="Arial" panose="020B0604020202020204" pitchFamily="34" charset="0"/>
                  </a:rPr>
                  <a:t>0</a:t>
                </a:r>
                <a:r>
                  <a:rPr lang="en-US" sz="2000" dirty="0">
                    <a:latin typeface="Arial" panose="020B0604020202020204" pitchFamily="34" charset="0"/>
                    <a:cs typeface="Arial" panose="020B0604020202020204" pitchFamily="34" charset="0"/>
                  </a:rPr>
                  <a:t>, which here is T @ t=0, step size dt</a:t>
                </a:r>
              </a:p>
              <a:p>
                <a:pPr marL="457200" lvl="1" indent="0">
                  <a:buNone/>
                </a:pPr>
                <a:r>
                  <a:rPr lang="en-US" sz="2000" dirty="0">
                    <a:latin typeface="Arial" panose="020B0604020202020204" pitchFamily="34" charset="0"/>
                    <a:cs typeface="Arial" panose="020B0604020202020204" pitchFamily="34" charset="0"/>
                  </a:rPr>
                  <a:t>	</a:t>
                </a:r>
                <a:r>
                  <a:rPr lang="en-US" sz="2000" dirty="0">
                    <a:latin typeface="Cambria Math" panose="02040503050406030204" pitchFamily="18" charset="0"/>
                    <a:ea typeface="Cambria Math" panose="02040503050406030204" pitchFamily="18" charset="0"/>
                    <a:cs typeface="Arial" panose="020B0604020202020204" pitchFamily="34" charset="0"/>
                  </a:rPr>
                  <a:t>T</a:t>
                </a:r>
                <a:r>
                  <a:rPr lang="en-US" sz="2000" baseline="-25000" dirty="0">
                    <a:latin typeface="Cambria Math" panose="02040503050406030204" pitchFamily="18" charset="0"/>
                    <a:ea typeface="Cambria Math" panose="02040503050406030204" pitchFamily="18" charset="0"/>
                    <a:cs typeface="Arial" panose="020B0604020202020204" pitchFamily="34" charset="0"/>
                  </a:rPr>
                  <a:t>n+1</a:t>
                </a:r>
                <a:r>
                  <a:rPr lang="en-US" sz="2000" dirty="0">
                    <a:latin typeface="Cambria Math" panose="02040503050406030204" pitchFamily="18" charset="0"/>
                    <a:ea typeface="Cambria Math" panose="02040503050406030204" pitchFamily="18" charset="0"/>
                    <a:cs typeface="Arial" panose="020B0604020202020204" pitchFamily="34" charset="0"/>
                  </a:rPr>
                  <a:t> = T</a:t>
                </a:r>
                <a:r>
                  <a:rPr lang="en-US" sz="2000" baseline="-25000" dirty="0">
                    <a:latin typeface="Cambria Math" panose="02040503050406030204" pitchFamily="18" charset="0"/>
                    <a:ea typeface="Cambria Math" panose="02040503050406030204" pitchFamily="18" charset="0"/>
                    <a:cs typeface="Arial" panose="020B0604020202020204" pitchFamily="34" charset="0"/>
                  </a:rPr>
                  <a:t>n</a:t>
                </a:r>
                <a:r>
                  <a:rPr lang="en-US" sz="2000" dirty="0">
                    <a:latin typeface="Cambria Math" panose="02040503050406030204" pitchFamily="18" charset="0"/>
                    <a:ea typeface="Cambria Math" panose="02040503050406030204" pitchFamily="18" charset="0"/>
                    <a:cs typeface="Arial" panose="020B0604020202020204" pitchFamily="34" charset="0"/>
                  </a:rPr>
                  <a:t> + dt*T’; t</a:t>
                </a:r>
                <a:r>
                  <a:rPr lang="en-US" sz="2000" baseline="-25000" dirty="0">
                    <a:latin typeface="Cambria Math" panose="02040503050406030204" pitchFamily="18" charset="0"/>
                    <a:ea typeface="Cambria Math" panose="02040503050406030204" pitchFamily="18" charset="0"/>
                    <a:cs typeface="Arial" panose="020B0604020202020204" pitchFamily="34" charset="0"/>
                  </a:rPr>
                  <a:t>n+1</a:t>
                </a:r>
                <a:r>
                  <a:rPr lang="en-US" sz="2000" dirty="0">
                    <a:latin typeface="Cambria Math" panose="02040503050406030204" pitchFamily="18" charset="0"/>
                    <a:ea typeface="Cambria Math" panose="02040503050406030204" pitchFamily="18" charset="0"/>
                    <a:cs typeface="Arial" panose="020B0604020202020204" pitchFamily="34" charset="0"/>
                  </a:rPr>
                  <a:t> = </a:t>
                </a:r>
                <a:r>
                  <a:rPr lang="en-US" sz="2000" dirty="0" err="1">
                    <a:latin typeface="Cambria Math" panose="02040503050406030204" pitchFamily="18" charset="0"/>
                    <a:ea typeface="Cambria Math" panose="02040503050406030204" pitchFamily="18" charset="0"/>
                    <a:cs typeface="Arial" panose="020B0604020202020204" pitchFamily="34" charset="0"/>
                  </a:rPr>
                  <a:t>t</a:t>
                </a:r>
                <a:r>
                  <a:rPr lang="en-US" sz="2000" baseline="-25000" dirty="0" err="1">
                    <a:latin typeface="Cambria Math" panose="02040503050406030204" pitchFamily="18" charset="0"/>
                    <a:ea typeface="Cambria Math" panose="02040503050406030204" pitchFamily="18" charset="0"/>
                    <a:cs typeface="Arial" panose="020B0604020202020204" pitchFamily="34" charset="0"/>
                  </a:rPr>
                  <a:t>n</a:t>
                </a:r>
                <a:r>
                  <a:rPr lang="en-US" sz="2000" dirty="0">
                    <a:latin typeface="Cambria Math" panose="02040503050406030204" pitchFamily="18" charset="0"/>
                    <a:ea typeface="Cambria Math" panose="02040503050406030204" pitchFamily="18" charset="0"/>
                    <a:cs typeface="Arial" panose="020B0604020202020204" pitchFamily="34" charset="0"/>
                  </a:rPr>
                  <a:t> + dt</a:t>
                </a:r>
              </a:p>
              <a:p>
                <a:pPr marL="0" indent="0">
                  <a:buNone/>
                </a:pPr>
                <a:r>
                  <a:rPr lang="en-US" sz="2000" i="1" dirty="0">
                    <a:latin typeface="Cambria Math" panose="02040503050406030204" pitchFamily="18" charset="0"/>
                  </a:rPr>
                  <a:t>	</a:t>
                </a:r>
              </a:p>
            </p:txBody>
          </p:sp>
        </mc:Choice>
        <mc:Fallback xmlns="">
          <p:sp>
            <p:nvSpPr>
              <p:cNvPr id="3" name="Content Placeholder 2">
                <a:extLst>
                  <a:ext uri="{FF2B5EF4-FFF2-40B4-BE49-F238E27FC236}">
                    <a16:creationId xmlns:a16="http://schemas.microsoft.com/office/drawing/2014/main" id="{A9AF6037-21C7-B14D-ADE2-92952F8EC568}"/>
                  </a:ext>
                </a:extLst>
              </p:cNvPr>
              <p:cNvSpPr>
                <a:spLocks noGrp="1" noRot="1" noChangeAspect="1" noMove="1" noResize="1" noEditPoints="1" noAdjustHandles="1" noChangeArrowheads="1" noChangeShapeType="1" noTextEdit="1"/>
              </p:cNvSpPr>
              <p:nvPr>
                <p:ph idx="1"/>
              </p:nvPr>
            </p:nvSpPr>
            <p:spPr>
              <a:blipFill>
                <a:blip r:embed="rId2"/>
                <a:stretch>
                  <a:fillRect l="-462" t="-65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5393430-A425-0E44-9312-4908F4FAFC8F}"/>
              </a:ext>
            </a:extLst>
          </p:cNvPr>
          <p:cNvSpPr>
            <a:spLocks noGrp="1"/>
          </p:cNvSpPr>
          <p:nvPr>
            <p:ph type="sldNum" sz="quarter" idx="12"/>
          </p:nvPr>
        </p:nvSpPr>
        <p:spPr/>
        <p:txBody>
          <a:bodyPr/>
          <a:lstStyle/>
          <a:p>
            <a:pPr>
              <a:defRPr/>
            </a:pPr>
            <a:fld id="{3FF2C605-4958-CF43-AA48-80339EFDB0AF}" type="slidenum">
              <a:rPr lang="en-US" smtClean="0"/>
              <a:pPr>
                <a:defRPr/>
              </a:pPr>
              <a:t>23</a:t>
            </a:fld>
            <a:endParaRPr lang="en-US"/>
          </a:p>
        </p:txBody>
      </p:sp>
      <p:grpSp>
        <p:nvGrpSpPr>
          <p:cNvPr id="8" name="Group 7">
            <a:extLst>
              <a:ext uri="{FF2B5EF4-FFF2-40B4-BE49-F238E27FC236}">
                <a16:creationId xmlns:a16="http://schemas.microsoft.com/office/drawing/2014/main" id="{A95A35D5-E512-8E41-8A13-A9A251761226}"/>
              </a:ext>
            </a:extLst>
          </p:cNvPr>
          <p:cNvGrpSpPr/>
          <p:nvPr/>
        </p:nvGrpSpPr>
        <p:grpSpPr>
          <a:xfrm>
            <a:off x="7189560" y="2590150"/>
            <a:ext cx="4495544" cy="3226609"/>
            <a:chOff x="7696456" y="2771085"/>
            <a:chExt cx="4495544" cy="3226609"/>
          </a:xfrm>
        </p:grpSpPr>
        <p:pic>
          <p:nvPicPr>
            <p:cNvPr id="5" name="Picture 4">
              <a:extLst>
                <a:ext uri="{FF2B5EF4-FFF2-40B4-BE49-F238E27FC236}">
                  <a16:creationId xmlns:a16="http://schemas.microsoft.com/office/drawing/2014/main" id="{6F731DC1-EA49-5844-8200-70777884BF4B}"/>
                </a:ext>
              </a:extLst>
            </p:cNvPr>
            <p:cNvPicPr>
              <a:picLocks noChangeAspect="1"/>
            </p:cNvPicPr>
            <p:nvPr/>
          </p:nvPicPr>
          <p:blipFill>
            <a:blip r:embed="rId3"/>
            <a:stretch>
              <a:fillRect/>
            </a:stretch>
          </p:blipFill>
          <p:spPr>
            <a:xfrm>
              <a:off x="7986742" y="2771085"/>
              <a:ext cx="4205258" cy="2870655"/>
            </a:xfrm>
            <a:prstGeom prst="rect">
              <a:avLst/>
            </a:prstGeom>
          </p:spPr>
        </p:pic>
        <p:sp>
          <p:nvSpPr>
            <p:cNvPr id="6" name="TextBox 5">
              <a:extLst>
                <a:ext uri="{FF2B5EF4-FFF2-40B4-BE49-F238E27FC236}">
                  <a16:creationId xmlns:a16="http://schemas.microsoft.com/office/drawing/2014/main" id="{75860AC4-7261-1047-9C05-4A1DCEBCC728}"/>
                </a:ext>
              </a:extLst>
            </p:cNvPr>
            <p:cNvSpPr txBox="1"/>
            <p:nvPr/>
          </p:nvSpPr>
          <p:spPr>
            <a:xfrm>
              <a:off x="10130971" y="5628362"/>
              <a:ext cx="290286" cy="369332"/>
            </a:xfrm>
            <a:prstGeom prst="rect">
              <a:avLst/>
            </a:prstGeom>
            <a:noFill/>
          </p:spPr>
          <p:txBody>
            <a:bodyPr wrap="square" rtlCol="0">
              <a:spAutoFit/>
            </a:bodyPr>
            <a:lstStyle/>
            <a:p>
              <a:r>
                <a:rPr lang="en-US" dirty="0"/>
                <a:t>t</a:t>
              </a:r>
            </a:p>
          </p:txBody>
        </p:sp>
        <p:sp>
          <p:nvSpPr>
            <p:cNvPr id="7" name="TextBox 6">
              <a:extLst>
                <a:ext uri="{FF2B5EF4-FFF2-40B4-BE49-F238E27FC236}">
                  <a16:creationId xmlns:a16="http://schemas.microsoft.com/office/drawing/2014/main" id="{819011AE-151F-E549-8949-A1510A11D749}"/>
                </a:ext>
              </a:extLst>
            </p:cNvPr>
            <p:cNvSpPr txBox="1"/>
            <p:nvPr/>
          </p:nvSpPr>
          <p:spPr>
            <a:xfrm>
              <a:off x="7696456" y="3834123"/>
              <a:ext cx="290286" cy="369332"/>
            </a:xfrm>
            <a:prstGeom prst="rect">
              <a:avLst/>
            </a:prstGeom>
            <a:noFill/>
          </p:spPr>
          <p:txBody>
            <a:bodyPr wrap="square" rtlCol="0">
              <a:spAutoFit/>
            </a:bodyPr>
            <a:lstStyle/>
            <a:p>
              <a:r>
                <a:rPr lang="en-US" dirty="0"/>
                <a:t>T</a:t>
              </a:r>
            </a:p>
          </p:txBody>
        </p:sp>
      </p:grpSp>
    </p:spTree>
    <p:extLst>
      <p:ext uri="{BB962C8B-B14F-4D97-AF65-F5344CB8AC3E}">
        <p14:creationId xmlns:p14="http://schemas.microsoft.com/office/powerpoint/2010/main" val="42068725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D43AC-3AF2-B642-A2B7-35FC33DAB407}"/>
              </a:ext>
            </a:extLst>
          </p:cNvPr>
          <p:cNvSpPr>
            <a:spLocks noGrp="1"/>
          </p:cNvSpPr>
          <p:nvPr>
            <p:ph type="title"/>
          </p:nvPr>
        </p:nvSpPr>
        <p:spPr/>
        <p:txBody>
          <a:bodyPr/>
          <a:lstStyle/>
          <a:p>
            <a:r>
              <a:rPr lang="en-US" dirty="0"/>
              <a:t>Backwards Euler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6FF89B6-A486-8A43-8B2D-E7B9EF089E02}"/>
                  </a:ext>
                </a:extLst>
              </p:cNvPr>
              <p:cNvSpPr>
                <a:spLocks noGrp="1"/>
              </p:cNvSpPr>
              <p:nvPr>
                <p:ph idx="1"/>
              </p:nvPr>
            </p:nvSpPr>
            <p:spPr>
              <a:xfrm>
                <a:off x="609600" y="2160495"/>
                <a:ext cx="7226300" cy="3965670"/>
              </a:xfrm>
            </p:spPr>
            <p:txBody>
              <a:bodyPr>
                <a:normAutofit fontScale="85000" lnSpcReduction="20000"/>
              </a:bodyPr>
              <a:lstStyle/>
              <a:p>
                <a:r>
                  <a:rPr lang="en-US" dirty="0"/>
                  <a:t>Backwards Euler for a function T(</a:t>
                </a:r>
                <a:r>
                  <a:rPr lang="en-US" dirty="0" err="1"/>
                  <a:t>r,t</a:t>
                </a:r>
                <a:r>
                  <a:rPr lang="en-US" dirty="0"/>
                  <a:t>)</a:t>
                </a:r>
              </a:p>
              <a:p>
                <a:pPr marL="0" indent="0">
                  <a:buNone/>
                </a:pPr>
                <a:r>
                  <a:rPr lang="en-US" b="0" dirty="0"/>
                  <a:t>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𝑑𝑡</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𝑑𝑡</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𝑑𝑡</m:t>
                        </m:r>
                        <m:r>
                          <a:rPr lang="en-US" b="0" i="1" smtClean="0">
                            <a:latin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𝑟</m:t>
                        </m:r>
                      </m:den>
                    </m:f>
                  </m:oMath>
                </a14:m>
                <a:endParaRPr lang="en-US" dirty="0"/>
              </a:p>
              <a:p>
                <a:pPr marL="0" indent="0">
                  <a:buNone/>
                </a:pPr>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𝑑𝑡</m:t>
                        </m:r>
                        <m:r>
                          <a:rPr lang="en-US" i="1">
                            <a:latin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𝑟</m:t>
                        </m:r>
                      </m:den>
                    </m:f>
                    <m:r>
                      <a:rPr lang="en-US" b="0" i="1" smtClean="0">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𝜌</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𝑐</m:t>
                            </m:r>
                          </m:e>
                          <m:sub>
                            <m:r>
                              <a:rPr lang="en-US" i="1">
                                <a:latin typeface="Cambria Math" panose="02040503050406030204" pitchFamily="18" charset="0"/>
                                <a:ea typeface="Cambria Math" panose="02040503050406030204" pitchFamily="18" charset="0"/>
                              </a:rPr>
                              <m:t>𝑝</m:t>
                            </m:r>
                          </m:sub>
                        </m:sSub>
                      </m:den>
                    </m:f>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𝑟</m:t>
                        </m:r>
                      </m:den>
                    </m:f>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𝑟</m:t>
                        </m:r>
                      </m:den>
                    </m:f>
                    <m:d>
                      <m:dPr>
                        <m:ctrlPr>
                          <a:rPr lang="en-US"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𝑟𝑘</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𝑇</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𝑑𝑡</m:t>
                            </m:r>
                            <m:r>
                              <a:rPr lang="en-US" i="1">
                                <a:latin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𝑟</m:t>
                            </m:r>
                          </m:den>
                        </m:f>
                      </m:e>
                    </m:d>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𝜌</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𝑐</m:t>
                            </m:r>
                          </m:e>
                          <m:sub>
                            <m:r>
                              <a:rPr lang="en-US" i="1">
                                <a:latin typeface="Cambria Math" panose="02040503050406030204" pitchFamily="18" charset="0"/>
                                <a:ea typeface="Cambria Math" panose="02040503050406030204" pitchFamily="18" charset="0"/>
                              </a:rPr>
                              <m:t>𝑝</m:t>
                            </m:r>
                          </m:sub>
                        </m:sSub>
                      </m:den>
                    </m:f>
                    <m:r>
                      <a:rPr lang="en-US" i="1">
                        <a:latin typeface="Cambria Math" panose="02040503050406030204" pitchFamily="18" charset="0"/>
                        <a:ea typeface="Cambria Math" panose="02040503050406030204" pitchFamily="18" charset="0"/>
                      </a:rPr>
                      <m:t>𝑄</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𝑟</m:t>
                    </m:r>
                    <m:r>
                      <a:rPr lang="en-US" i="1">
                        <a:latin typeface="Cambria Math" panose="02040503050406030204" pitchFamily="18" charset="0"/>
                        <a:ea typeface="Cambria Math" panose="02040503050406030204" pitchFamily="18" charset="0"/>
                      </a:rPr>
                      <m:t>)</m:t>
                    </m:r>
                  </m:oMath>
                </a14:m>
                <a:endParaRPr lang="en-US" i="1" dirty="0">
                  <a:latin typeface="Cambria Math" panose="02040503050406030204" pitchFamily="18" charset="0"/>
                </a:endParaRPr>
              </a:p>
              <a:p>
                <a:r>
                  <a:rPr lang="en-US" dirty="0"/>
                  <a:t>This differs from Forward Euler in that here we use (</a:t>
                </a:r>
                <a:r>
                  <a:rPr lang="en-US" dirty="0" err="1"/>
                  <a:t>r,t+dt</a:t>
                </a:r>
                <a:r>
                  <a:rPr lang="en-US" dirty="0"/>
                  <a:t>), instead of (</a:t>
                </a:r>
                <a:r>
                  <a:rPr lang="en-US" dirty="0" err="1"/>
                  <a:t>r,t</a:t>
                </a:r>
                <a:r>
                  <a:rPr lang="en-US" dirty="0"/>
                  <a:t>)</a:t>
                </a:r>
              </a:p>
              <a:p>
                <a:r>
                  <a:rPr lang="en-US" dirty="0"/>
                  <a:t>T</a:t>
                </a:r>
                <a:r>
                  <a:rPr lang="en-US" baseline="-25000" dirty="0"/>
                  <a:t>n+1</a:t>
                </a:r>
                <a:r>
                  <a:rPr lang="en-US" dirty="0"/>
                  <a:t> = T</a:t>
                </a:r>
                <a:r>
                  <a:rPr lang="en-US" baseline="-25000" dirty="0"/>
                  <a:t>n</a:t>
                </a:r>
                <a:r>
                  <a:rPr lang="en-US" dirty="0"/>
                  <a:t> + dt T’(</a:t>
                </a:r>
                <a:r>
                  <a:rPr lang="en-US" dirty="0" err="1"/>
                  <a:t>r,t+dt</a:t>
                </a:r>
                <a:r>
                  <a:rPr lang="en-US" dirty="0"/>
                  <a:t>), t</a:t>
                </a:r>
                <a:r>
                  <a:rPr lang="en-US" baseline="-25000" dirty="0"/>
                  <a:t>n+1</a:t>
                </a:r>
                <a:r>
                  <a:rPr lang="en-US" dirty="0"/>
                  <a:t> = </a:t>
                </a:r>
                <a:r>
                  <a:rPr lang="en-US" dirty="0" err="1"/>
                  <a:t>t</a:t>
                </a:r>
                <a:r>
                  <a:rPr lang="en-US" baseline="-25000" dirty="0" err="1"/>
                  <a:t>n</a:t>
                </a:r>
                <a:r>
                  <a:rPr lang="en-US" dirty="0"/>
                  <a:t> + </a:t>
                </a:r>
                <a:r>
                  <a:rPr lang="en-US" dirty="0" err="1"/>
                  <a:t>dt</a:t>
                </a:r>
                <a:endParaRPr lang="en-US" dirty="0"/>
              </a:p>
              <a:p>
                <a:r>
                  <a:rPr lang="en-US" dirty="0"/>
                  <a:t>The new approximation appears on both sides of the equation, thus this method needs to solve an algebraic equation for the unknown future state</a:t>
                </a:r>
              </a:p>
              <a:p>
                <a:r>
                  <a:rPr lang="en-US" dirty="0"/>
                  <a:t>This can be done with fixed-point iteration or non-linear solvers</a:t>
                </a:r>
              </a:p>
              <a:p>
                <a:r>
                  <a:rPr lang="en-US" dirty="0"/>
                  <a:t>Improved Euler is a form of explicit Euler (explicit trapezoidal rule), which takes the derivative at the midpoint</a:t>
                </a:r>
              </a:p>
            </p:txBody>
          </p:sp>
        </mc:Choice>
        <mc:Fallback xmlns="">
          <p:sp>
            <p:nvSpPr>
              <p:cNvPr id="3" name="Content Placeholder 2">
                <a:extLst>
                  <a:ext uri="{FF2B5EF4-FFF2-40B4-BE49-F238E27FC236}">
                    <a16:creationId xmlns:a16="http://schemas.microsoft.com/office/drawing/2014/main" id="{C6FF89B6-A486-8A43-8B2D-E7B9EF089E02}"/>
                  </a:ext>
                </a:extLst>
              </p:cNvPr>
              <p:cNvSpPr>
                <a:spLocks noGrp="1" noRot="1" noChangeAspect="1" noMove="1" noResize="1" noEditPoints="1" noAdjustHandles="1" noChangeArrowheads="1" noChangeShapeType="1" noTextEdit="1"/>
              </p:cNvSpPr>
              <p:nvPr>
                <p:ph idx="1"/>
              </p:nvPr>
            </p:nvSpPr>
            <p:spPr>
              <a:xfrm>
                <a:off x="609600" y="2160495"/>
                <a:ext cx="7226300" cy="3965670"/>
              </a:xfrm>
              <a:blipFill>
                <a:blip r:embed="rId2"/>
                <a:stretch>
                  <a:fillRect l="-703" t="-1911" r="-35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998B834-2688-814C-8F58-239144928A55}"/>
              </a:ext>
            </a:extLst>
          </p:cNvPr>
          <p:cNvSpPr>
            <a:spLocks noGrp="1"/>
          </p:cNvSpPr>
          <p:nvPr>
            <p:ph type="sldNum" sz="quarter" idx="12"/>
          </p:nvPr>
        </p:nvSpPr>
        <p:spPr/>
        <p:txBody>
          <a:bodyPr/>
          <a:lstStyle/>
          <a:p>
            <a:pPr>
              <a:defRPr/>
            </a:pPr>
            <a:fld id="{3FF2C605-4958-CF43-AA48-80339EFDB0AF}" type="slidenum">
              <a:rPr lang="en-US" smtClean="0"/>
              <a:pPr>
                <a:defRPr/>
              </a:pPr>
              <a:t>24</a:t>
            </a:fld>
            <a:endParaRPr lang="en-US" dirty="0"/>
          </a:p>
        </p:txBody>
      </p:sp>
      <p:pic>
        <p:nvPicPr>
          <p:cNvPr id="7" name="Picture 6">
            <a:extLst>
              <a:ext uri="{FF2B5EF4-FFF2-40B4-BE49-F238E27FC236}">
                <a16:creationId xmlns:a16="http://schemas.microsoft.com/office/drawing/2014/main" id="{353E9F51-5532-754C-9BBF-85A8497ABAB6}"/>
              </a:ext>
            </a:extLst>
          </p:cNvPr>
          <p:cNvPicPr>
            <a:picLocks noChangeAspect="1"/>
          </p:cNvPicPr>
          <p:nvPr/>
        </p:nvPicPr>
        <p:blipFill>
          <a:blip r:embed="rId3"/>
          <a:stretch>
            <a:fillRect/>
          </a:stretch>
        </p:blipFill>
        <p:spPr>
          <a:xfrm>
            <a:off x="7998690" y="2692400"/>
            <a:ext cx="4193309" cy="2882900"/>
          </a:xfrm>
          <a:prstGeom prst="rect">
            <a:avLst/>
          </a:prstGeom>
        </p:spPr>
      </p:pic>
      <p:sp>
        <p:nvSpPr>
          <p:cNvPr id="8" name="TextBox 7">
            <a:extLst>
              <a:ext uri="{FF2B5EF4-FFF2-40B4-BE49-F238E27FC236}">
                <a16:creationId xmlns:a16="http://schemas.microsoft.com/office/drawing/2014/main" id="{4F1100BC-8189-8644-836E-91D27D7ABCE9}"/>
              </a:ext>
            </a:extLst>
          </p:cNvPr>
          <p:cNvSpPr txBox="1"/>
          <p:nvPr/>
        </p:nvSpPr>
        <p:spPr>
          <a:xfrm>
            <a:off x="10160000" y="5411827"/>
            <a:ext cx="290286" cy="369332"/>
          </a:xfrm>
          <a:prstGeom prst="rect">
            <a:avLst/>
          </a:prstGeom>
          <a:noFill/>
        </p:spPr>
        <p:txBody>
          <a:bodyPr wrap="square" rtlCol="0">
            <a:spAutoFit/>
          </a:bodyPr>
          <a:lstStyle/>
          <a:p>
            <a:r>
              <a:rPr lang="en-US" dirty="0"/>
              <a:t>t</a:t>
            </a:r>
          </a:p>
        </p:txBody>
      </p:sp>
    </p:spTree>
    <p:extLst>
      <p:ext uri="{BB962C8B-B14F-4D97-AF65-F5344CB8AC3E}">
        <p14:creationId xmlns:p14="http://schemas.microsoft.com/office/powerpoint/2010/main" val="4020655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3C657-EABE-EB4F-9D4F-E6F8C7D6F217}"/>
              </a:ext>
            </a:extLst>
          </p:cNvPr>
          <p:cNvSpPr>
            <a:spLocks noGrp="1"/>
          </p:cNvSpPr>
          <p:nvPr>
            <p:ph type="title"/>
          </p:nvPr>
        </p:nvSpPr>
        <p:spPr/>
        <p:txBody>
          <a:bodyPr/>
          <a:lstStyle/>
          <a:p>
            <a:r>
              <a:rPr lang="en-US" dirty="0"/>
              <a:t>Explicit vs Implicit</a:t>
            </a:r>
          </a:p>
        </p:txBody>
      </p:sp>
      <p:sp>
        <p:nvSpPr>
          <p:cNvPr id="3" name="Content Placeholder 2">
            <a:extLst>
              <a:ext uri="{FF2B5EF4-FFF2-40B4-BE49-F238E27FC236}">
                <a16:creationId xmlns:a16="http://schemas.microsoft.com/office/drawing/2014/main" id="{93486D4E-1694-C44E-BB1D-F1DA0B76C9A9}"/>
              </a:ext>
            </a:extLst>
          </p:cNvPr>
          <p:cNvSpPr>
            <a:spLocks noGrp="1"/>
          </p:cNvSpPr>
          <p:nvPr>
            <p:ph idx="1"/>
          </p:nvPr>
        </p:nvSpPr>
        <p:spPr/>
        <p:txBody>
          <a:bodyPr>
            <a:normAutofit lnSpcReduction="10000"/>
          </a:bodyPr>
          <a:lstStyle/>
          <a:p>
            <a:r>
              <a:rPr lang="en-US" dirty="0"/>
              <a:t>Forward Euler is explicit</a:t>
            </a:r>
          </a:p>
          <a:p>
            <a:pPr lvl="1"/>
            <a:r>
              <a:rPr lang="en-US" dirty="0"/>
              <a:t>Explicit methods calculate the state of a system at a later time from the state of the system at the current time</a:t>
            </a:r>
          </a:p>
          <a:p>
            <a:pPr lvl="1"/>
            <a:r>
              <a:rPr lang="en-US" dirty="0"/>
              <a:t>Can be unstable if step size is too much</a:t>
            </a:r>
          </a:p>
          <a:p>
            <a:r>
              <a:rPr lang="en-US" dirty="0"/>
              <a:t>Backwards Euler is implicit</a:t>
            </a:r>
          </a:p>
          <a:p>
            <a:pPr lvl="1"/>
            <a:r>
              <a:rPr lang="en-US" dirty="0"/>
              <a:t>Implicit methods find a solution by solving an equation involving both the current state of the system and a later state </a:t>
            </a:r>
          </a:p>
          <a:p>
            <a:pPr lvl="1"/>
            <a:r>
              <a:rPr lang="en-US" dirty="0"/>
              <a:t>Implicit require an extra computation and they can be much harder to implement</a:t>
            </a:r>
          </a:p>
          <a:p>
            <a:pPr lvl="1"/>
            <a:r>
              <a:rPr lang="en-US" dirty="0"/>
              <a:t>Implicit methods are used because many problems arising in practice are stiff, for which the use of an explicit method requires very small timesteps</a:t>
            </a:r>
          </a:p>
          <a:p>
            <a:pPr lvl="1"/>
            <a:endParaRPr lang="en-US" dirty="0"/>
          </a:p>
        </p:txBody>
      </p:sp>
      <p:sp>
        <p:nvSpPr>
          <p:cNvPr id="4" name="Slide Number Placeholder 3">
            <a:extLst>
              <a:ext uri="{FF2B5EF4-FFF2-40B4-BE49-F238E27FC236}">
                <a16:creationId xmlns:a16="http://schemas.microsoft.com/office/drawing/2014/main" id="{3830AFB9-C757-6E40-BF70-89EFAB4ED2F9}"/>
              </a:ext>
            </a:extLst>
          </p:cNvPr>
          <p:cNvSpPr>
            <a:spLocks noGrp="1"/>
          </p:cNvSpPr>
          <p:nvPr>
            <p:ph type="sldNum" sz="quarter" idx="12"/>
          </p:nvPr>
        </p:nvSpPr>
        <p:spPr/>
        <p:txBody>
          <a:bodyPr/>
          <a:lstStyle/>
          <a:p>
            <a:pPr>
              <a:defRPr/>
            </a:pPr>
            <a:fld id="{3FF2C605-4958-CF43-AA48-80339EFDB0AF}" type="slidenum">
              <a:rPr lang="en-US" smtClean="0"/>
              <a:pPr>
                <a:defRPr/>
              </a:pPr>
              <a:t>25</a:t>
            </a:fld>
            <a:endParaRPr lang="en-US"/>
          </a:p>
        </p:txBody>
      </p:sp>
    </p:spTree>
    <p:extLst>
      <p:ext uri="{BB962C8B-B14F-4D97-AF65-F5344CB8AC3E}">
        <p14:creationId xmlns:p14="http://schemas.microsoft.com/office/powerpoint/2010/main" val="20170983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93A35-AE50-6E1D-A370-1CF9EC4523FB}"/>
              </a:ext>
            </a:extLst>
          </p:cNvPr>
          <p:cNvSpPr>
            <a:spLocks noGrp="1"/>
          </p:cNvSpPr>
          <p:nvPr>
            <p:ph type="title"/>
          </p:nvPr>
        </p:nvSpPr>
        <p:spPr/>
        <p:txBody>
          <a:bodyPr/>
          <a:lstStyle/>
          <a:p>
            <a:r>
              <a:rPr lang="en-US" dirty="0"/>
              <a:t>Stiff Equations</a:t>
            </a:r>
          </a:p>
        </p:txBody>
      </p:sp>
      <p:sp>
        <p:nvSpPr>
          <p:cNvPr id="3" name="Content Placeholder 2">
            <a:extLst>
              <a:ext uri="{FF2B5EF4-FFF2-40B4-BE49-F238E27FC236}">
                <a16:creationId xmlns:a16="http://schemas.microsoft.com/office/drawing/2014/main" id="{742524FA-926E-7300-FA49-217616E14B54}"/>
              </a:ext>
            </a:extLst>
          </p:cNvPr>
          <p:cNvSpPr>
            <a:spLocks noGrp="1"/>
          </p:cNvSpPr>
          <p:nvPr>
            <p:ph idx="1"/>
          </p:nvPr>
        </p:nvSpPr>
        <p:spPr>
          <a:xfrm>
            <a:off x="575919" y="1892139"/>
            <a:ext cx="10972800" cy="3965670"/>
          </a:xfrm>
        </p:spPr>
        <p:txBody>
          <a:bodyPr/>
          <a:lstStyle/>
          <a:p>
            <a:r>
              <a:rPr lang="en-US" sz="2000" dirty="0"/>
              <a:t>A stiff equation is a differential equation for which certain numerical methods for solving the equation are numerically unstable, unless the step size is taken to be extremely small</a:t>
            </a:r>
          </a:p>
          <a:p>
            <a:r>
              <a:rPr lang="en-US" sz="2000" dirty="0"/>
              <a:t>Consider the problem:</a:t>
            </a:r>
          </a:p>
          <a:p>
            <a:endParaRPr lang="en-US" sz="2000" dirty="0"/>
          </a:p>
          <a:p>
            <a:r>
              <a:rPr lang="en-US" sz="2000" dirty="0"/>
              <a:t>Where the exact solution is:</a:t>
            </a:r>
          </a:p>
          <a:p>
            <a:endParaRPr lang="en-US" sz="2000" dirty="0"/>
          </a:p>
          <a:p>
            <a:endParaRPr lang="en-US" sz="2000" dirty="0"/>
          </a:p>
          <a:p>
            <a:r>
              <a:rPr lang="en-US" sz="2000" dirty="0"/>
              <a:t>Euler's method with a step size of </a:t>
            </a:r>
            <a:r>
              <a:rPr lang="en-US" sz="2000" dirty="0" err="1"/>
              <a:t>ℎ</a:t>
            </a:r>
            <a:r>
              <a:rPr lang="en-US" sz="2000" dirty="0"/>
              <a:t>=1/4  oscillates wildly</a:t>
            </a:r>
          </a:p>
          <a:p>
            <a:r>
              <a:rPr lang="en-US" sz="2000" dirty="0"/>
              <a:t>Euler's method with half the step size, </a:t>
            </a:r>
            <a:r>
              <a:rPr lang="en-US" sz="2000" dirty="0" err="1"/>
              <a:t>ℎ</a:t>
            </a:r>
            <a:r>
              <a:rPr lang="en-US" sz="2000" dirty="0"/>
              <a:t>=/18, produces a solution within the graph boundaries, but oscillates about zero</a:t>
            </a:r>
          </a:p>
          <a:p>
            <a:r>
              <a:rPr lang="en-US" sz="2000" dirty="0"/>
              <a:t>The trapezoidal method (similar to backwards Euler) is implicit, and converges to the correct solution</a:t>
            </a:r>
          </a:p>
          <a:p>
            <a:endParaRPr lang="en-US" sz="2000" dirty="0"/>
          </a:p>
        </p:txBody>
      </p:sp>
      <p:sp>
        <p:nvSpPr>
          <p:cNvPr id="4" name="Slide Number Placeholder 3">
            <a:extLst>
              <a:ext uri="{FF2B5EF4-FFF2-40B4-BE49-F238E27FC236}">
                <a16:creationId xmlns:a16="http://schemas.microsoft.com/office/drawing/2014/main" id="{6CACF2C7-55C4-7159-B704-DCB5D651D98D}"/>
              </a:ext>
            </a:extLst>
          </p:cNvPr>
          <p:cNvSpPr>
            <a:spLocks noGrp="1"/>
          </p:cNvSpPr>
          <p:nvPr>
            <p:ph type="sldNum" sz="quarter" idx="12"/>
          </p:nvPr>
        </p:nvSpPr>
        <p:spPr/>
        <p:txBody>
          <a:bodyPr/>
          <a:lstStyle/>
          <a:p>
            <a:pPr>
              <a:defRPr/>
            </a:pPr>
            <a:fld id="{3FF2C605-4958-CF43-AA48-80339EFDB0AF}" type="slidenum">
              <a:rPr lang="en-US" smtClean="0"/>
              <a:pPr>
                <a:defRPr/>
              </a:pPr>
              <a:t>26</a:t>
            </a:fld>
            <a:endParaRPr lang="en-US"/>
          </a:p>
        </p:txBody>
      </p:sp>
      <p:pic>
        <p:nvPicPr>
          <p:cNvPr id="5" name="Picture 4">
            <a:extLst>
              <a:ext uri="{FF2B5EF4-FFF2-40B4-BE49-F238E27FC236}">
                <a16:creationId xmlns:a16="http://schemas.microsoft.com/office/drawing/2014/main" id="{9BE915F9-1AAF-615C-AE51-11730040D061}"/>
              </a:ext>
            </a:extLst>
          </p:cNvPr>
          <p:cNvPicPr>
            <a:picLocks noChangeAspect="1"/>
          </p:cNvPicPr>
          <p:nvPr/>
        </p:nvPicPr>
        <p:blipFill>
          <a:blip r:embed="rId2"/>
          <a:stretch>
            <a:fillRect/>
          </a:stretch>
        </p:blipFill>
        <p:spPr>
          <a:xfrm>
            <a:off x="2007704" y="2902895"/>
            <a:ext cx="3152288" cy="429857"/>
          </a:xfrm>
          <a:prstGeom prst="rect">
            <a:avLst/>
          </a:prstGeom>
        </p:spPr>
      </p:pic>
      <p:pic>
        <p:nvPicPr>
          <p:cNvPr id="6" name="Picture 5">
            <a:extLst>
              <a:ext uri="{FF2B5EF4-FFF2-40B4-BE49-F238E27FC236}">
                <a16:creationId xmlns:a16="http://schemas.microsoft.com/office/drawing/2014/main" id="{1A1C83EC-BCC6-444A-1D79-9636B1A579EA}"/>
              </a:ext>
            </a:extLst>
          </p:cNvPr>
          <p:cNvPicPr>
            <a:picLocks noChangeAspect="1"/>
          </p:cNvPicPr>
          <p:nvPr/>
        </p:nvPicPr>
        <p:blipFill>
          <a:blip r:embed="rId3"/>
          <a:stretch>
            <a:fillRect/>
          </a:stretch>
        </p:blipFill>
        <p:spPr>
          <a:xfrm>
            <a:off x="2007704" y="3628335"/>
            <a:ext cx="3035852" cy="419129"/>
          </a:xfrm>
          <a:prstGeom prst="rect">
            <a:avLst/>
          </a:prstGeom>
        </p:spPr>
      </p:pic>
      <p:pic>
        <p:nvPicPr>
          <p:cNvPr id="1026" name="Picture 2">
            <a:extLst>
              <a:ext uri="{FF2B5EF4-FFF2-40B4-BE49-F238E27FC236}">
                <a16:creationId xmlns:a16="http://schemas.microsoft.com/office/drawing/2014/main" id="{6E344C48-BBAB-8D2A-BDC7-AFBEA837E9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0330" y="2496530"/>
            <a:ext cx="4806545" cy="186494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70C59A9-5939-F719-1B86-E50249AE979D}"/>
              </a:ext>
            </a:extLst>
          </p:cNvPr>
          <p:cNvPicPr>
            <a:picLocks noChangeAspect="1"/>
          </p:cNvPicPr>
          <p:nvPr/>
        </p:nvPicPr>
        <p:blipFill>
          <a:blip r:embed="rId5"/>
          <a:stretch>
            <a:fillRect/>
          </a:stretch>
        </p:blipFill>
        <p:spPr>
          <a:xfrm>
            <a:off x="3583848" y="5817018"/>
            <a:ext cx="4140200" cy="419100"/>
          </a:xfrm>
          <a:prstGeom prst="rect">
            <a:avLst/>
          </a:prstGeom>
        </p:spPr>
      </p:pic>
    </p:spTree>
    <p:extLst>
      <p:ext uri="{BB962C8B-B14F-4D97-AF65-F5344CB8AC3E}">
        <p14:creationId xmlns:p14="http://schemas.microsoft.com/office/powerpoint/2010/main" val="178011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8A9B5-4C0D-9C4B-BD13-9E962EC1FCCD}"/>
              </a:ext>
            </a:extLst>
          </p:cNvPr>
          <p:cNvSpPr>
            <a:spLocks noGrp="1"/>
          </p:cNvSpPr>
          <p:nvPr>
            <p:ph type="title"/>
          </p:nvPr>
        </p:nvSpPr>
        <p:spPr/>
        <p:txBody>
          <a:bodyPr/>
          <a:lstStyle/>
          <a:p>
            <a:r>
              <a:rPr lang="en-US" dirty="0"/>
              <a:t>Example Problem</a:t>
            </a:r>
          </a:p>
        </p:txBody>
      </p:sp>
      <p:sp>
        <p:nvSpPr>
          <p:cNvPr id="3" name="Content Placeholder 2">
            <a:extLst>
              <a:ext uri="{FF2B5EF4-FFF2-40B4-BE49-F238E27FC236}">
                <a16:creationId xmlns:a16="http://schemas.microsoft.com/office/drawing/2014/main" id="{3519C46E-DC3D-A645-8EA7-9D8BACF54EA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535664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8A9B5-4C0D-9C4B-BD13-9E962EC1FCCD}"/>
              </a:ext>
            </a:extLst>
          </p:cNvPr>
          <p:cNvSpPr>
            <a:spLocks noGrp="1"/>
          </p:cNvSpPr>
          <p:nvPr>
            <p:ph type="title"/>
          </p:nvPr>
        </p:nvSpPr>
        <p:spPr/>
        <p:txBody>
          <a:bodyPr/>
          <a:lstStyle/>
          <a:p>
            <a:r>
              <a:rPr lang="en-US" dirty="0"/>
              <a:t>Example Problem</a:t>
            </a:r>
          </a:p>
        </p:txBody>
      </p:sp>
      <p:sp>
        <p:nvSpPr>
          <p:cNvPr id="3" name="Content Placeholder 2">
            <a:extLst>
              <a:ext uri="{FF2B5EF4-FFF2-40B4-BE49-F238E27FC236}">
                <a16:creationId xmlns:a16="http://schemas.microsoft.com/office/drawing/2014/main" id="{3519C46E-DC3D-A645-8EA7-9D8BACF54EAF}"/>
              </a:ext>
            </a:extLst>
          </p:cNvPr>
          <p:cNvSpPr>
            <a:spLocks noGrp="1"/>
          </p:cNvSpPr>
          <p:nvPr>
            <p:ph idx="1"/>
          </p:nvPr>
        </p:nvSpPr>
        <p:spPr>
          <a:xfrm>
            <a:off x="609600" y="2160495"/>
            <a:ext cx="5652052" cy="3965670"/>
          </a:xfrm>
        </p:spPr>
        <p:txBody>
          <a:bodyPr/>
          <a:lstStyle/>
          <a:p>
            <a:r>
              <a:rPr lang="en-US" dirty="0"/>
              <a:t>y’=t*exp(-2t)</a:t>
            </a:r>
          </a:p>
          <a:p>
            <a:r>
              <a:rPr lang="en-US" dirty="0"/>
              <a:t>y0=4</a:t>
            </a:r>
          </a:p>
          <a:p>
            <a:r>
              <a:rPr lang="en-US" dirty="0"/>
              <a:t>dt=0.5</a:t>
            </a:r>
          </a:p>
          <a:p>
            <a:r>
              <a:rPr lang="en-US" dirty="0"/>
              <a:t>Backwards Euler</a:t>
            </a:r>
          </a:p>
          <a:p>
            <a:endParaRPr lang="en-US" dirty="0"/>
          </a:p>
        </p:txBody>
      </p:sp>
      <p:pic>
        <p:nvPicPr>
          <p:cNvPr id="5" name="Picture 4">
            <a:extLst>
              <a:ext uri="{FF2B5EF4-FFF2-40B4-BE49-F238E27FC236}">
                <a16:creationId xmlns:a16="http://schemas.microsoft.com/office/drawing/2014/main" id="{553D173A-460C-97E7-0766-69D8E5DE557C}"/>
              </a:ext>
            </a:extLst>
          </p:cNvPr>
          <p:cNvPicPr>
            <a:picLocks noChangeAspect="1"/>
          </p:cNvPicPr>
          <p:nvPr/>
        </p:nvPicPr>
        <p:blipFill>
          <a:blip r:embed="rId2"/>
          <a:stretch>
            <a:fillRect/>
          </a:stretch>
        </p:blipFill>
        <p:spPr>
          <a:xfrm>
            <a:off x="6921500" y="2176465"/>
            <a:ext cx="4660900" cy="3949700"/>
          </a:xfrm>
          <a:prstGeom prst="rect">
            <a:avLst/>
          </a:prstGeom>
        </p:spPr>
      </p:pic>
    </p:spTree>
    <p:extLst>
      <p:ext uri="{BB962C8B-B14F-4D97-AF65-F5344CB8AC3E}">
        <p14:creationId xmlns:p14="http://schemas.microsoft.com/office/powerpoint/2010/main" val="2206144944"/>
      </p:ext>
    </p:extLst>
  </p:cSld>
  <p:clrMapOvr>
    <a:masterClrMapping/>
  </p:clrMapOvr>
</p:sld>
</file>

<file path=ppt/theme/theme1.xml><?xml version="1.0" encoding="utf-8"?>
<a:theme xmlns:a="http://schemas.openxmlformats.org/drawingml/2006/main" name="1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2502</TotalTime>
  <Words>1777</Words>
  <Application>Microsoft Macintosh PowerPoint</Application>
  <PresentationFormat>Widescreen</PresentationFormat>
  <Paragraphs>191</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Cambria Math</vt:lpstr>
      <vt:lpstr>ElsevierSans</vt:lpstr>
      <vt:lpstr>Symbol</vt:lpstr>
      <vt:lpstr>1_NCStateU-horizontal-left-logo</vt:lpstr>
      <vt:lpstr>Nuclear Fuel Performance</vt:lpstr>
      <vt:lpstr>Last Time</vt:lpstr>
      <vt:lpstr>Neutron flux varies axially, so does LHR</vt:lpstr>
      <vt:lpstr>Coolant temperature varies with Z</vt:lpstr>
      <vt:lpstr>Calculate LHR and Tcool with axial variation</vt:lpstr>
      <vt:lpstr>Thermal Operational Limits</vt:lpstr>
      <vt:lpstr>Thermal Operational Limits</vt:lpstr>
      <vt:lpstr>Critical Heat Flux</vt:lpstr>
      <vt:lpstr>Critical Heat Flux</vt:lpstr>
      <vt:lpstr>Departure from Nucleate Boiling</vt:lpstr>
      <vt:lpstr>Visualization of Stages of Flow</vt:lpstr>
      <vt:lpstr>Critical Heat Flux</vt:lpstr>
      <vt:lpstr>DNBR</vt:lpstr>
      <vt:lpstr>Thermal conductivity</vt:lpstr>
      <vt:lpstr>Phonons</vt:lpstr>
      <vt:lpstr>Phonon Scattering</vt:lpstr>
      <vt:lpstr>Thermal Conductivity with Porosity</vt:lpstr>
      <vt:lpstr>Thermal Conductivity with Burnup</vt:lpstr>
      <vt:lpstr>Numerical Solve</vt:lpstr>
      <vt:lpstr>The most accurate solution is numerical, in 3D, requires modeling the entire core, and is multi-physics</vt:lpstr>
      <vt:lpstr>For numerical solutions, deal with discretization in space/time</vt:lpstr>
      <vt:lpstr>Forward Euler</vt:lpstr>
      <vt:lpstr>Forward Euler</vt:lpstr>
      <vt:lpstr>Backwards Euler</vt:lpstr>
      <vt:lpstr>Explicit vs Implicit</vt:lpstr>
      <vt:lpstr>Stiff Equations</vt:lpstr>
      <vt:lpstr>Example Problem</vt:lpstr>
      <vt:lpstr>Example Problem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Nuclear Fuel Performance</dc:title>
  <dc:creator>Benjamin Beeler</dc:creator>
  <cp:lastModifiedBy>Benjamin Beeler</cp:lastModifiedBy>
  <cp:revision>35</cp:revision>
  <dcterms:created xsi:type="dcterms:W3CDTF">2023-01-13T17:44:27Z</dcterms:created>
  <dcterms:modified xsi:type="dcterms:W3CDTF">2026-01-22T19:51:31Z</dcterms:modified>
</cp:coreProperties>
</file>
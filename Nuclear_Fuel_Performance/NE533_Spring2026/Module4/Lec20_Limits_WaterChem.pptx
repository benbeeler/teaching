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9"/>
  </p:notesMasterIdLst>
  <p:sldIdLst>
    <p:sldId id="537" r:id="rId2"/>
    <p:sldId id="601" r:id="rId3"/>
    <p:sldId id="600" r:id="rId4"/>
    <p:sldId id="577" r:id="rId5"/>
    <p:sldId id="571" r:id="rId6"/>
    <p:sldId id="586" r:id="rId7"/>
    <p:sldId id="572" r:id="rId8"/>
    <p:sldId id="573" r:id="rId9"/>
    <p:sldId id="602" r:id="rId10"/>
    <p:sldId id="575" r:id="rId11"/>
    <p:sldId id="579" r:id="rId12"/>
    <p:sldId id="576" r:id="rId13"/>
    <p:sldId id="585" r:id="rId14"/>
    <p:sldId id="587" r:id="rId15"/>
    <p:sldId id="597" r:id="rId16"/>
    <p:sldId id="598" r:id="rId17"/>
    <p:sldId id="605" r:id="rId18"/>
    <p:sldId id="578" r:id="rId19"/>
    <p:sldId id="407" r:id="rId20"/>
    <p:sldId id="549" r:id="rId21"/>
    <p:sldId id="423" r:id="rId22"/>
    <p:sldId id="547" r:id="rId23"/>
    <p:sldId id="550" r:id="rId24"/>
    <p:sldId id="559" r:id="rId25"/>
    <p:sldId id="551" r:id="rId26"/>
    <p:sldId id="419" r:id="rId27"/>
    <p:sldId id="552"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3668"/>
    <p:restoredTop sz="94672"/>
  </p:normalViewPr>
  <p:slideViewPr>
    <p:cSldViewPr snapToGrid="0" snapToObjects="1">
      <p:cViewPr varScale="1">
        <p:scale>
          <a:sx n="122" d="100"/>
          <a:sy n="122" d="100"/>
        </p:scale>
        <p:origin x="224" y="3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90BC3A-953C-654D-BC1C-D0CE62D49644}" type="datetimeFigureOut">
              <a:rPr lang="en-US" smtClean="0"/>
              <a:t>4/16/26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0FD7D17-6095-D940-89AB-64358FB46A57}" type="slidenum">
              <a:rPr lang="en-US" smtClean="0"/>
              <a:t>‹#›</a:t>
            </a:fld>
            <a:endParaRPr lang="en-US"/>
          </a:p>
        </p:txBody>
      </p:sp>
    </p:spTree>
    <p:extLst>
      <p:ext uri="{BB962C8B-B14F-4D97-AF65-F5344CB8AC3E}">
        <p14:creationId xmlns:p14="http://schemas.microsoft.com/office/powerpoint/2010/main" val="3987637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D6F3A803-A045-354B-887A-01433CE46FC2}" type="datetime1">
              <a:rPr lang="en-US" smtClean="0"/>
              <a:t>4/16/26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21211127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486847"/>
            <a:ext cx="10972800" cy="1068387"/>
          </a:xfrm>
        </p:spPr>
        <p:txBody>
          <a:bodyPr/>
          <a:lstStyle>
            <a:lvl1pPr algn="l">
              <a:defRPr/>
            </a:lvl1pPr>
          </a:lstStyle>
          <a:p>
            <a:r>
              <a:rPr lang="en-US" dirty="0"/>
              <a:t>Click to edit Master title style</a:t>
            </a:r>
          </a:p>
        </p:txBody>
      </p:sp>
      <p:sp>
        <p:nvSpPr>
          <p:cNvPr id="3" name="Content Placeholder 2"/>
          <p:cNvSpPr>
            <a:spLocks noGrp="1"/>
          </p:cNvSpPr>
          <p:nvPr>
            <p:ph idx="1"/>
          </p:nvPr>
        </p:nvSpPr>
        <p:spPr>
          <a:xfrm>
            <a:off x="609600" y="1555234"/>
            <a:ext cx="10972800" cy="457093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C5BD04BF-9DC2-6341-92B2-BD109A2EF3B1}" type="datetime1">
              <a:rPr lang="en-US" smtClean="0"/>
              <a:t>4/16/26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1274341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519101"/>
            <a:ext cx="10363200" cy="1362075"/>
          </a:xfrm>
        </p:spPr>
        <p:txBody>
          <a:bodyPr anchor="t"/>
          <a:lstStyle>
            <a:lvl1pPr algn="l">
              <a:defRPr sz="4000"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B0FFBC7-3028-644D-986B-D9855CB74B38}" type="datetime1">
              <a:rPr lang="en-US" smtClean="0"/>
              <a:t>4/16/26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14785666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472731"/>
            <a:ext cx="10972800" cy="1068387"/>
          </a:xfrm>
        </p:spPr>
        <p:txBody>
          <a:bodyPr/>
          <a:lstStyle>
            <a:lvl1pPr algn="l">
              <a:defRPr/>
            </a:lvl1pPr>
          </a:lstStyle>
          <a:p>
            <a:r>
              <a:rPr lang="en-US" dirty="0"/>
              <a:t>Click to edit Master title style</a:t>
            </a:r>
          </a:p>
        </p:txBody>
      </p:sp>
      <p:sp>
        <p:nvSpPr>
          <p:cNvPr id="3" name="Content Placeholder 2"/>
          <p:cNvSpPr>
            <a:spLocks noGrp="1"/>
          </p:cNvSpPr>
          <p:nvPr>
            <p:ph sz="half" idx="1"/>
          </p:nvPr>
        </p:nvSpPr>
        <p:spPr>
          <a:xfrm>
            <a:off x="609600" y="1541119"/>
            <a:ext cx="5384800" cy="45850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541119"/>
            <a:ext cx="5384800" cy="458504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C3B8AE4-01F5-CC42-9C62-61BC6528368B}" type="datetime1">
              <a:rPr lang="en-US" smtClean="0"/>
              <a:t>4/16/26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427243153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457201"/>
            <a:ext cx="10972800" cy="1068387"/>
          </a:xfrm>
        </p:spPr>
        <p:txBody>
          <a:bodyPr/>
          <a:lstStyle>
            <a:lvl1pPr algn="l">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77E49314-4A78-2444-9569-44EB70168344}" type="datetime1">
              <a:rPr lang="en-US" smtClean="0"/>
              <a:t>4/16/26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26559346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600" y="482670"/>
            <a:ext cx="10972800" cy="1068387"/>
          </a:xfrm>
        </p:spPr>
        <p:txBody>
          <a:bodyPr/>
          <a:lstStyle>
            <a:lvl1pPr algn="l">
              <a:defRPr/>
            </a:lvl1pPr>
          </a:lstStyle>
          <a:p>
            <a:r>
              <a:rPr lang="en-US" dirty="0"/>
              <a:t>Click to edit Master title style</a:t>
            </a:r>
          </a:p>
        </p:txBody>
      </p:sp>
      <p:sp>
        <p:nvSpPr>
          <p:cNvPr id="3" name="Date Placeholder 3"/>
          <p:cNvSpPr>
            <a:spLocks noGrp="1"/>
          </p:cNvSpPr>
          <p:nvPr>
            <p:ph type="dt" sz="half" idx="10"/>
          </p:nvPr>
        </p:nvSpPr>
        <p:spPr/>
        <p:txBody>
          <a:bodyPr/>
          <a:lstStyle>
            <a:lvl1pPr>
              <a:defRPr/>
            </a:lvl1pPr>
          </a:lstStyle>
          <a:p>
            <a:pPr>
              <a:defRPr/>
            </a:pPr>
            <a:fld id="{5BC22837-4683-B242-B000-BCEE30621787}" type="datetime1">
              <a:rPr lang="en-US" smtClean="0"/>
              <a:t>4/16/26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4355885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DCDAE926-7EF1-0B40-B57E-417D188A609C}" type="datetime1">
              <a:rPr lang="en-US" smtClean="0"/>
              <a:t>4/16/26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23209682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518D107B-B9C7-5B41-A168-55258AB95F52}" type="datetime1">
              <a:rPr lang="en-US" smtClean="0"/>
              <a:t>4/16/26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38290633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3AD92D36-EE82-3142-B011-9831FB5E702F}" type="datetime1">
              <a:rPr lang="en-US" smtClean="0"/>
              <a:t>4/16/26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20355897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A8B33C1D-C2E2-1049-AA3F-CD6E91052752}" type="datetime1">
              <a:rPr lang="en-US" smtClean="0"/>
              <a:t>4/16/26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6257124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2791AD68-B60C-4542-BDDD-2074DE6DE828}" type="datetime1">
              <a:rPr lang="en-US" smtClean="0"/>
              <a:t>4/16/26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9810484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4"/>
            <a:ext cx="10972800" cy="1068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1"/>
            <a:ext cx="10972800" cy="3103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3EE08B4B-7256-494F-A90D-3891BD685F4A}" type="datetime1">
              <a:rPr lang="en-US" smtClean="0"/>
              <a:t>4/16/26</a:t>
            </a:fld>
            <a:endParaRPr lang="en-US" dirty="0"/>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fontAlgn="auto">
              <a:spcBef>
                <a:spcPts val="0"/>
              </a:spcBef>
              <a:spcAft>
                <a:spcPts val="0"/>
              </a:spcAft>
              <a:defRPr sz="12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3" name="Picture 2"/>
          <p:cNvPicPr>
            <a:picLocks noChangeAspect="1"/>
          </p:cNvPicPr>
          <p:nvPr userDrawn="1"/>
        </p:nvPicPr>
        <p:blipFill>
          <a:blip r:embed="rId13" cstate="screen">
            <a:extLst>
              <a:ext uri="{28A0092B-C50C-407E-A947-70E740481C1C}">
                <a14:useLocalDpi xmlns:a14="http://schemas.microsoft.com/office/drawing/2010/main"/>
              </a:ext>
            </a:extLst>
          </a:blip>
          <a:stretch>
            <a:fillRect/>
          </a:stretch>
        </p:blipFill>
        <p:spPr>
          <a:xfrm>
            <a:off x="0" y="0"/>
            <a:ext cx="12192000" cy="457200"/>
          </a:xfrm>
          <a:prstGeom prst="rect">
            <a:avLst/>
          </a:prstGeom>
        </p:spPr>
      </p:pic>
    </p:spTree>
    <p:extLst>
      <p:ext uri="{BB962C8B-B14F-4D97-AF65-F5344CB8AC3E}">
        <p14:creationId xmlns:p14="http://schemas.microsoft.com/office/powerpoint/2010/main" val="27047165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defTabSz="457200" rtl="0" eaLnBrk="1" fontAlgn="base" hangingPunct="1">
        <a:spcBef>
          <a:spcPct val="0"/>
        </a:spcBef>
        <a:spcAft>
          <a:spcPct val="0"/>
        </a:spcAft>
        <a:defRPr sz="3200" b="1" kern="1200">
          <a:solidFill>
            <a:schemeClr val="tx1"/>
          </a:solidFill>
          <a:latin typeface="Arial"/>
          <a:ea typeface="ＭＳ Ｐゴシック" charset="0"/>
          <a:cs typeface="Arial"/>
        </a:defRPr>
      </a:lvl1pPr>
      <a:lvl2pPr algn="ctr" defTabSz="457200" rtl="0" eaLnBrk="1" fontAlgn="base" hangingPunct="1">
        <a:spcBef>
          <a:spcPct val="0"/>
        </a:spcBef>
        <a:spcAft>
          <a:spcPct val="0"/>
        </a:spcAft>
        <a:defRPr sz="3200" b="1">
          <a:solidFill>
            <a:schemeClr val="tx1"/>
          </a:solidFill>
          <a:latin typeface="Arial" charset="0"/>
          <a:ea typeface="ＭＳ Ｐゴシック" charset="0"/>
        </a:defRPr>
      </a:lvl2pPr>
      <a:lvl3pPr algn="ctr" defTabSz="457200" rtl="0" eaLnBrk="1" fontAlgn="base" hangingPunct="1">
        <a:spcBef>
          <a:spcPct val="0"/>
        </a:spcBef>
        <a:spcAft>
          <a:spcPct val="0"/>
        </a:spcAft>
        <a:defRPr sz="3200" b="1">
          <a:solidFill>
            <a:schemeClr val="tx1"/>
          </a:solidFill>
          <a:latin typeface="Arial" charset="0"/>
          <a:ea typeface="ＭＳ Ｐゴシック" charset="0"/>
        </a:defRPr>
      </a:lvl3pPr>
      <a:lvl4pPr algn="ctr" defTabSz="457200" rtl="0" eaLnBrk="1" fontAlgn="base" hangingPunct="1">
        <a:spcBef>
          <a:spcPct val="0"/>
        </a:spcBef>
        <a:spcAft>
          <a:spcPct val="0"/>
        </a:spcAft>
        <a:defRPr sz="3200" b="1">
          <a:solidFill>
            <a:schemeClr val="tx1"/>
          </a:solidFill>
          <a:latin typeface="Arial" charset="0"/>
          <a:ea typeface="ＭＳ Ｐゴシック" charset="0"/>
        </a:defRPr>
      </a:lvl4pPr>
      <a:lvl5pPr algn="ctr" defTabSz="457200" rtl="0" eaLnBrk="1" fontAlgn="base" hangingPunct="1">
        <a:spcBef>
          <a:spcPct val="0"/>
        </a:spcBef>
        <a:spcAft>
          <a:spcPct val="0"/>
        </a:spcAft>
        <a:defRPr sz="3200" b="1">
          <a:solidFill>
            <a:schemeClr val="tx1"/>
          </a:solidFill>
          <a:latin typeface="Arial" charset="0"/>
          <a:ea typeface="ＭＳ Ｐゴシック" charset="0"/>
        </a:defRPr>
      </a:lvl5pPr>
      <a:lvl6pPr marL="457200" algn="ctr" defTabSz="457200" rtl="0" eaLnBrk="1" fontAlgn="base" hangingPunct="1">
        <a:spcBef>
          <a:spcPct val="0"/>
        </a:spcBef>
        <a:spcAft>
          <a:spcPct val="0"/>
        </a:spcAft>
        <a:defRPr sz="3200" b="1">
          <a:solidFill>
            <a:schemeClr val="tx1"/>
          </a:solidFill>
          <a:latin typeface="Arial" charset="0"/>
          <a:ea typeface="ＭＳ Ｐゴシック" charset="0"/>
        </a:defRPr>
      </a:lvl6pPr>
      <a:lvl7pPr marL="914400" algn="ctr" defTabSz="457200" rtl="0" eaLnBrk="1" fontAlgn="base" hangingPunct="1">
        <a:spcBef>
          <a:spcPct val="0"/>
        </a:spcBef>
        <a:spcAft>
          <a:spcPct val="0"/>
        </a:spcAft>
        <a:defRPr sz="3200" b="1">
          <a:solidFill>
            <a:schemeClr val="tx1"/>
          </a:solidFill>
          <a:latin typeface="Arial" charset="0"/>
          <a:ea typeface="ＭＳ Ｐゴシック" charset="0"/>
        </a:defRPr>
      </a:lvl7pPr>
      <a:lvl8pPr marL="1371600" algn="ctr" defTabSz="457200" rtl="0" eaLnBrk="1" fontAlgn="base" hangingPunct="1">
        <a:spcBef>
          <a:spcPct val="0"/>
        </a:spcBef>
        <a:spcAft>
          <a:spcPct val="0"/>
        </a:spcAft>
        <a:defRPr sz="3200" b="1">
          <a:solidFill>
            <a:schemeClr val="tx1"/>
          </a:solidFill>
          <a:latin typeface="Arial" charset="0"/>
          <a:ea typeface="ＭＳ Ｐゴシック" charset="0"/>
        </a:defRPr>
      </a:lvl8pPr>
      <a:lvl9pPr marL="1828800" algn="ctr" defTabSz="457200" rtl="0" eaLnBrk="1" fontAlgn="base" hangingPunct="1">
        <a:spcBef>
          <a:spcPct val="0"/>
        </a:spcBef>
        <a:spcAft>
          <a:spcPct val="0"/>
        </a:spcAft>
        <a:defRPr sz="3200" b="1">
          <a:solidFill>
            <a:schemeClr val="tx1"/>
          </a:solidFill>
          <a:latin typeface="Arial" charset="0"/>
          <a:ea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1pPr>
      <a:lvl2pPr marL="742950" indent="-285750" algn="l" defTabSz="457200" rtl="0" eaLnBrk="1" fontAlgn="base" hangingPunct="1">
        <a:spcBef>
          <a:spcPct val="20000"/>
        </a:spcBef>
        <a:spcAft>
          <a:spcPct val="0"/>
        </a:spcAft>
        <a:buFont typeface="Arial" charset="0"/>
        <a:buChar char="–"/>
        <a:defRPr sz="2400" kern="1200">
          <a:solidFill>
            <a:schemeClr val="tx1"/>
          </a:solidFill>
          <a:latin typeface="Arial"/>
          <a:ea typeface="ＭＳ Ｐゴシック" charset="0"/>
          <a:cs typeface="Arial"/>
        </a:defRPr>
      </a:lvl2pPr>
      <a:lvl3pPr marL="1143000" indent="-228600" algn="l" defTabSz="457200"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1600200" indent="-228600" algn="l" defTabSz="457200" rtl="0" eaLnBrk="1" fontAlgn="base" hangingPunct="1">
        <a:spcBef>
          <a:spcPct val="20000"/>
        </a:spcBef>
        <a:spcAft>
          <a:spcPct val="0"/>
        </a:spcAft>
        <a:buFont typeface="Arial" charset="0"/>
        <a:buChar char="–"/>
        <a:defRPr sz="1400" kern="1200">
          <a:solidFill>
            <a:schemeClr val="tx1"/>
          </a:solidFill>
          <a:latin typeface="Arial"/>
          <a:ea typeface="ＭＳ Ｐゴシック" charset="0"/>
          <a:cs typeface="Arial"/>
        </a:defRPr>
      </a:lvl4pPr>
      <a:lvl5pPr marL="2057400" indent="-228600" algn="l" defTabSz="457200" rtl="0" eaLnBrk="1" fontAlgn="base" hangingPunct="1">
        <a:spcBef>
          <a:spcPct val="20000"/>
        </a:spcBef>
        <a:spcAft>
          <a:spcPct val="0"/>
        </a:spcAft>
        <a:buFont typeface="Arial" charset="0"/>
        <a:buChar char="»"/>
        <a:defRPr sz="1000" kern="1200">
          <a:solidFill>
            <a:schemeClr val="tx1"/>
          </a:solidFill>
          <a:latin typeface="Arial"/>
          <a:ea typeface="ＭＳ Ｐゴシック" charset="0"/>
          <a:cs typeface="Arial"/>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tif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1A1AB4-6496-0D46-9C3B-B71641B90165}"/>
              </a:ext>
            </a:extLst>
          </p:cNvPr>
          <p:cNvSpPr>
            <a:spLocks noGrp="1"/>
          </p:cNvSpPr>
          <p:nvPr>
            <p:ph type="ctrTitle"/>
          </p:nvPr>
        </p:nvSpPr>
        <p:spPr/>
        <p:txBody>
          <a:bodyPr/>
          <a:lstStyle/>
          <a:p>
            <a:r>
              <a:rPr lang="en-US" sz="4000" dirty="0"/>
              <a:t>Nuclear Fuel Performance</a:t>
            </a:r>
          </a:p>
        </p:txBody>
      </p:sp>
      <p:sp>
        <p:nvSpPr>
          <p:cNvPr id="3" name="Subtitle 2">
            <a:extLst>
              <a:ext uri="{FF2B5EF4-FFF2-40B4-BE49-F238E27FC236}">
                <a16:creationId xmlns:a16="http://schemas.microsoft.com/office/drawing/2014/main" id="{D4E102A4-1D26-9E41-904A-5C94FEB21AD8}"/>
              </a:ext>
            </a:extLst>
          </p:cNvPr>
          <p:cNvSpPr>
            <a:spLocks noGrp="1"/>
          </p:cNvSpPr>
          <p:nvPr>
            <p:ph type="subTitle" idx="1"/>
          </p:nvPr>
        </p:nvSpPr>
        <p:spPr/>
        <p:txBody>
          <a:bodyPr/>
          <a:lstStyle/>
          <a:p>
            <a:r>
              <a:rPr lang="en-US" dirty="0"/>
              <a:t>NE-533</a:t>
            </a:r>
          </a:p>
          <a:p>
            <a:r>
              <a:rPr lang="en-US" dirty="0"/>
              <a:t>Spring 2026</a:t>
            </a:r>
          </a:p>
        </p:txBody>
      </p:sp>
      <p:sp>
        <p:nvSpPr>
          <p:cNvPr id="4" name="Slide Number Placeholder 3">
            <a:extLst>
              <a:ext uri="{FF2B5EF4-FFF2-40B4-BE49-F238E27FC236}">
                <a16:creationId xmlns:a16="http://schemas.microsoft.com/office/drawing/2014/main" id="{8ED6DA87-5AA8-004F-861E-B1E0BAA302DE}"/>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698762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3E88C-583B-EB4F-3FEB-0F5DF73729C0}"/>
              </a:ext>
            </a:extLst>
          </p:cNvPr>
          <p:cNvSpPr>
            <a:spLocks noGrp="1"/>
          </p:cNvSpPr>
          <p:nvPr>
            <p:ph type="title"/>
          </p:nvPr>
        </p:nvSpPr>
        <p:spPr/>
        <p:txBody>
          <a:bodyPr/>
          <a:lstStyle/>
          <a:p>
            <a:r>
              <a:rPr lang="en-US" dirty="0"/>
              <a:t>Housekeeping</a:t>
            </a:r>
          </a:p>
        </p:txBody>
      </p:sp>
      <p:sp>
        <p:nvSpPr>
          <p:cNvPr id="3" name="Content Placeholder 2">
            <a:extLst>
              <a:ext uri="{FF2B5EF4-FFF2-40B4-BE49-F238E27FC236}">
                <a16:creationId xmlns:a16="http://schemas.microsoft.com/office/drawing/2014/main" id="{B4FB761B-DEF7-9388-1FF2-976C1C69796C}"/>
              </a:ext>
            </a:extLst>
          </p:cNvPr>
          <p:cNvSpPr>
            <a:spLocks noGrp="1"/>
          </p:cNvSpPr>
          <p:nvPr>
            <p:ph idx="1"/>
          </p:nvPr>
        </p:nvSpPr>
        <p:spPr/>
        <p:txBody>
          <a:bodyPr/>
          <a:lstStyle/>
          <a:p>
            <a:r>
              <a:rPr lang="en-US" sz="2100" dirty="0"/>
              <a:t>Exam 3 stats:</a:t>
            </a:r>
          </a:p>
          <a:p>
            <a:pPr lvl="1"/>
            <a:r>
              <a:rPr lang="en-US" sz="2100" dirty="0"/>
              <a:t>Avg: 84</a:t>
            </a:r>
          </a:p>
          <a:p>
            <a:pPr lvl="1"/>
            <a:r>
              <a:rPr lang="en-US" sz="2100" dirty="0"/>
              <a:t>Curve of 6 points applied</a:t>
            </a:r>
          </a:p>
          <a:p>
            <a:r>
              <a:rPr lang="en-US" sz="2100" dirty="0"/>
              <a:t>Presentation and MOOSE part 2 grades out this week</a:t>
            </a:r>
          </a:p>
          <a:p>
            <a:endParaRPr lang="en-US" sz="2100" dirty="0"/>
          </a:p>
          <a:p>
            <a:r>
              <a:rPr lang="en-US" sz="2100" dirty="0"/>
              <a:t>Plan is for the last exam to be on April 23 (week from today)</a:t>
            </a:r>
          </a:p>
          <a:p>
            <a:r>
              <a:rPr lang="en-US" sz="2100" dirty="0"/>
              <a:t>Last partial lecture and problem session next Tuesday</a:t>
            </a:r>
          </a:p>
          <a:p>
            <a:r>
              <a:rPr lang="en-US" sz="2100" dirty="0"/>
              <a:t>Reminder MOOSE part 3 is due April 28</a:t>
            </a:r>
          </a:p>
          <a:p>
            <a:endParaRPr lang="en-US" sz="2100" dirty="0"/>
          </a:p>
          <a:p>
            <a:r>
              <a:rPr lang="en-US" sz="2100" dirty="0" err="1"/>
              <a:t>ClassEval</a:t>
            </a:r>
            <a:r>
              <a:rPr lang="en-US" sz="2100" dirty="0"/>
              <a:t> is active, please everyone fill this out</a:t>
            </a:r>
          </a:p>
          <a:p>
            <a:r>
              <a:rPr lang="en-US" sz="2100" dirty="0"/>
              <a:t>Send me the confirmation that you completed this, and you get +3 onto exam 4</a:t>
            </a:r>
          </a:p>
          <a:p>
            <a:r>
              <a:rPr lang="en-US" sz="2100" dirty="0"/>
              <a:t>Will also send out a link to my own personal survey (this is also anonymous), send me the confirmation you completed this, get another +3 onto exam 4</a:t>
            </a:r>
          </a:p>
        </p:txBody>
      </p:sp>
      <p:sp>
        <p:nvSpPr>
          <p:cNvPr id="4" name="Slide Number Placeholder 3">
            <a:extLst>
              <a:ext uri="{FF2B5EF4-FFF2-40B4-BE49-F238E27FC236}">
                <a16:creationId xmlns:a16="http://schemas.microsoft.com/office/drawing/2014/main" id="{31E4A3B8-A88E-4C87-31A3-9B41C6B2EF8F}"/>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2262670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D58655-7C4C-EA26-5D9F-DCBD2E336A4F}"/>
              </a:ext>
            </a:extLst>
          </p:cNvPr>
          <p:cNvSpPr>
            <a:spLocks noGrp="1"/>
          </p:cNvSpPr>
          <p:nvPr>
            <p:ph type="title"/>
          </p:nvPr>
        </p:nvSpPr>
        <p:spPr/>
        <p:txBody>
          <a:bodyPr/>
          <a:lstStyle/>
          <a:p>
            <a:r>
              <a:rPr lang="en-US" dirty="0"/>
              <a:t>Last Time</a:t>
            </a:r>
          </a:p>
        </p:txBody>
      </p:sp>
      <p:sp>
        <p:nvSpPr>
          <p:cNvPr id="3" name="Content Placeholder 2">
            <a:extLst>
              <a:ext uri="{FF2B5EF4-FFF2-40B4-BE49-F238E27FC236}">
                <a16:creationId xmlns:a16="http://schemas.microsoft.com/office/drawing/2014/main" id="{6EB4D738-92B5-4FF0-6ED4-0C0E774ACB5D}"/>
              </a:ext>
            </a:extLst>
          </p:cNvPr>
          <p:cNvSpPr>
            <a:spLocks noGrp="1"/>
          </p:cNvSpPr>
          <p:nvPr>
            <p:ph idx="1"/>
          </p:nvPr>
        </p:nvSpPr>
        <p:spPr>
          <a:xfrm>
            <a:off x="609600" y="1397876"/>
            <a:ext cx="10972800" cy="4728289"/>
          </a:xfrm>
        </p:spPr>
        <p:txBody>
          <a:bodyPr/>
          <a:lstStyle/>
          <a:p>
            <a:r>
              <a:rPr lang="en-US" sz="2100" dirty="0"/>
              <a:t>Steam kinetics</a:t>
            </a:r>
          </a:p>
          <a:p>
            <a:pPr lvl="1"/>
            <a:r>
              <a:rPr lang="en-US" sz="2100" dirty="0"/>
              <a:t>Beyond 800 C oxidation is too rapid, above 1200 C, entire cladding gets consumed</a:t>
            </a:r>
          </a:p>
          <a:p>
            <a:pPr lvl="1"/>
            <a:r>
              <a:rPr lang="en-US" sz="2100" dirty="0"/>
              <a:t>Zr phase transformation at 863 C, leads to beta and O-stabilized alpha (which is more brittle)</a:t>
            </a:r>
          </a:p>
          <a:p>
            <a:r>
              <a:rPr lang="en-US" sz="2100" dirty="0"/>
              <a:t>ATF</a:t>
            </a:r>
          </a:p>
          <a:p>
            <a:pPr lvl="1"/>
            <a:r>
              <a:rPr lang="en-US" sz="2100" dirty="0"/>
              <a:t>improved cladding properties, improved steam corrosion, improved fuel properties, improved fission product retention</a:t>
            </a:r>
          </a:p>
          <a:p>
            <a:pPr lvl="1"/>
            <a:r>
              <a:rPr lang="en-US" sz="2100" dirty="0"/>
              <a:t>Near term improvements: coatings, fuel additives</a:t>
            </a:r>
          </a:p>
          <a:p>
            <a:pPr lvl="1"/>
            <a:r>
              <a:rPr lang="en-US" sz="2100" dirty="0"/>
              <a:t>Novel fuel/cladding: U3Si2/UN fuels, </a:t>
            </a:r>
            <a:r>
              <a:rPr lang="en-US" sz="2100" dirty="0" err="1"/>
              <a:t>FeCrAl</a:t>
            </a:r>
            <a:r>
              <a:rPr lang="en-US" sz="2100" dirty="0"/>
              <a:t> cladding</a:t>
            </a:r>
          </a:p>
          <a:p>
            <a:pPr lvl="1"/>
            <a:r>
              <a:rPr lang="en-US" sz="2100" dirty="0"/>
              <a:t>Transformative fuel/cladding: FCM, </a:t>
            </a:r>
            <a:r>
              <a:rPr lang="en-US" sz="2100" dirty="0" err="1"/>
              <a:t>SiC</a:t>
            </a:r>
            <a:r>
              <a:rPr lang="en-US" sz="2100" dirty="0"/>
              <a:t>/</a:t>
            </a:r>
            <a:r>
              <a:rPr lang="en-US" sz="2100" dirty="0" err="1"/>
              <a:t>SiC</a:t>
            </a:r>
            <a:r>
              <a:rPr lang="en-US" sz="2100" dirty="0"/>
              <a:t>, etc.</a:t>
            </a:r>
          </a:p>
          <a:p>
            <a:r>
              <a:rPr lang="en-US" sz="2100" dirty="0"/>
              <a:t>Limiting phenomena: Pellet-clad mechanical interaction; Cladding elongation and assembly bow; Cladding oxidation and hydrogen pickup; Cladding wear; Power to melt; Fuel rod internal pressure; Departure from nucleate boiling; Normal operation limits</a:t>
            </a:r>
          </a:p>
          <a:p>
            <a:endParaRPr lang="en-US" sz="2100" dirty="0"/>
          </a:p>
          <a:p>
            <a:endParaRPr lang="en-US" sz="2100" dirty="0"/>
          </a:p>
        </p:txBody>
      </p:sp>
      <p:sp>
        <p:nvSpPr>
          <p:cNvPr id="4" name="Slide Number Placeholder 3">
            <a:extLst>
              <a:ext uri="{FF2B5EF4-FFF2-40B4-BE49-F238E27FC236}">
                <a16:creationId xmlns:a16="http://schemas.microsoft.com/office/drawing/2014/main" id="{4934AA36-BFA5-D05C-3A17-FEEF310E3CF2}"/>
              </a:ext>
            </a:extLst>
          </p:cNvPr>
          <p:cNvSpPr>
            <a:spLocks noGrp="1"/>
          </p:cNvSpPr>
          <p:nvPr>
            <p:ph type="sldNum" sz="quarter" idx="12"/>
          </p:nvPr>
        </p:nvSpPr>
        <p:spPr/>
        <p:txBody>
          <a:bodyPr/>
          <a:lstStyle/>
          <a:p>
            <a:pPr>
              <a:defRPr/>
            </a:pPr>
            <a:fld id="{3FF2C605-4958-CF43-AA48-80339EFDB0AF}" type="slidenum">
              <a:rPr lang="en-US" smtClean="0"/>
              <a:pPr>
                <a:defRPr/>
              </a:pPr>
              <a:t>3</a:t>
            </a:fld>
            <a:endParaRPr lang="en-US"/>
          </a:p>
        </p:txBody>
      </p:sp>
    </p:spTree>
    <p:extLst>
      <p:ext uri="{BB962C8B-B14F-4D97-AF65-F5344CB8AC3E}">
        <p14:creationId xmlns:p14="http://schemas.microsoft.com/office/powerpoint/2010/main" val="16456842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29CC1-34E4-A34F-8621-801D8886CE7C}"/>
              </a:ext>
            </a:extLst>
          </p:cNvPr>
          <p:cNvSpPr>
            <a:spLocks noGrp="1"/>
          </p:cNvSpPr>
          <p:nvPr>
            <p:ph type="title"/>
          </p:nvPr>
        </p:nvSpPr>
        <p:spPr>
          <a:xfrm>
            <a:off x="963084" y="1234721"/>
            <a:ext cx="10363200" cy="1362075"/>
          </a:xfrm>
        </p:spPr>
        <p:txBody>
          <a:bodyPr/>
          <a:lstStyle/>
          <a:p>
            <a:r>
              <a:rPr lang="en-US" dirty="0"/>
              <a:t>water chemistry</a:t>
            </a:r>
          </a:p>
        </p:txBody>
      </p:sp>
      <p:sp>
        <p:nvSpPr>
          <p:cNvPr id="4" name="Slide Number Placeholder 3">
            <a:extLst>
              <a:ext uri="{FF2B5EF4-FFF2-40B4-BE49-F238E27FC236}">
                <a16:creationId xmlns:a16="http://schemas.microsoft.com/office/drawing/2014/main" id="{2BFF06B0-02C9-F34D-82A4-D2D5BBAF6842}"/>
              </a:ext>
            </a:extLst>
          </p:cNvPr>
          <p:cNvSpPr>
            <a:spLocks noGrp="1"/>
          </p:cNvSpPr>
          <p:nvPr>
            <p:ph type="sldNum" sz="quarter" idx="12"/>
          </p:nvPr>
        </p:nvSpPr>
        <p:spPr/>
        <p:txBody>
          <a:bodyPr/>
          <a:lstStyle/>
          <a:p>
            <a:pPr>
              <a:defRPr/>
            </a:pPr>
            <a:fld id="{0DA6BD0F-ABBC-C14D-BC96-77BE126A748B}" type="slidenum">
              <a:rPr lang="en-US" smtClean="0"/>
              <a:pPr>
                <a:defRPr/>
              </a:pPr>
              <a:t>4</a:t>
            </a:fld>
            <a:endParaRPr lang="en-US"/>
          </a:p>
        </p:txBody>
      </p:sp>
    </p:spTree>
    <p:extLst>
      <p:ext uri="{BB962C8B-B14F-4D97-AF65-F5344CB8AC3E}">
        <p14:creationId xmlns:p14="http://schemas.microsoft.com/office/powerpoint/2010/main" val="6319126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52E77-31AB-F546-9341-5E688A3FEC64}"/>
              </a:ext>
            </a:extLst>
          </p:cNvPr>
          <p:cNvSpPr>
            <a:spLocks noGrp="1"/>
          </p:cNvSpPr>
          <p:nvPr>
            <p:ph type="title"/>
          </p:nvPr>
        </p:nvSpPr>
        <p:spPr/>
        <p:txBody>
          <a:bodyPr/>
          <a:lstStyle/>
          <a:p>
            <a:r>
              <a:rPr lang="en-US" dirty="0"/>
              <a:t>Water Chemistry</a:t>
            </a:r>
          </a:p>
        </p:txBody>
      </p:sp>
      <p:sp>
        <p:nvSpPr>
          <p:cNvPr id="3" name="Content Placeholder 2">
            <a:extLst>
              <a:ext uri="{FF2B5EF4-FFF2-40B4-BE49-F238E27FC236}">
                <a16:creationId xmlns:a16="http://schemas.microsoft.com/office/drawing/2014/main" id="{7C7F56AD-1ED8-C841-913F-284D136CDA16}"/>
              </a:ext>
            </a:extLst>
          </p:cNvPr>
          <p:cNvSpPr>
            <a:spLocks noGrp="1"/>
          </p:cNvSpPr>
          <p:nvPr>
            <p:ph idx="1"/>
          </p:nvPr>
        </p:nvSpPr>
        <p:spPr/>
        <p:txBody>
          <a:bodyPr/>
          <a:lstStyle/>
          <a:p>
            <a:r>
              <a:rPr lang="en-US" dirty="0"/>
              <a:t>Excellent water quality is essential if material degradation is to be controlled</a:t>
            </a:r>
          </a:p>
          <a:p>
            <a:r>
              <a:rPr lang="en-US" dirty="0"/>
              <a:t>Primary system water chemistry affects fuel performance through the deposition of corrosion products on fuel pin surfaces</a:t>
            </a:r>
          </a:p>
          <a:p>
            <a:r>
              <a:rPr lang="en-US" dirty="0"/>
              <a:t>In the early days of nuclear power plant operation, impurities in the coolant water were a major factor in causing excessive corrosion</a:t>
            </a:r>
          </a:p>
          <a:p>
            <a:r>
              <a:rPr lang="en-US" dirty="0"/>
              <a:t>Chlorides and sulfates are particularly aggressive in increasing intergranular stress corrosion cracking (IGSCC) and other corrosion processes</a:t>
            </a:r>
          </a:p>
          <a:p>
            <a:r>
              <a:rPr lang="en-US" dirty="0"/>
              <a:t>Initial efforts to improve water quality brought about a slow but steady reduction in impurities through improved design and operation of purification systems</a:t>
            </a:r>
          </a:p>
          <a:p>
            <a:endParaRPr lang="en-US" dirty="0"/>
          </a:p>
        </p:txBody>
      </p:sp>
      <p:sp>
        <p:nvSpPr>
          <p:cNvPr id="4" name="Slide Number Placeholder 3">
            <a:extLst>
              <a:ext uri="{FF2B5EF4-FFF2-40B4-BE49-F238E27FC236}">
                <a16:creationId xmlns:a16="http://schemas.microsoft.com/office/drawing/2014/main" id="{99AC9B1E-E8C9-7143-98CB-9210C6D04189}"/>
              </a:ext>
            </a:extLst>
          </p:cNvPr>
          <p:cNvSpPr>
            <a:spLocks noGrp="1"/>
          </p:cNvSpPr>
          <p:nvPr>
            <p:ph type="sldNum" sz="quarter" idx="12"/>
          </p:nvPr>
        </p:nvSpPr>
        <p:spPr/>
        <p:txBody>
          <a:bodyPr/>
          <a:lstStyle/>
          <a:p>
            <a:pPr>
              <a:defRPr/>
            </a:pPr>
            <a:fld id="{3FF2C605-4958-CF43-AA48-80339EFDB0AF}" type="slidenum">
              <a:rPr lang="en-US" smtClean="0"/>
              <a:pPr>
                <a:defRPr/>
              </a:pPr>
              <a:t>5</a:t>
            </a:fld>
            <a:endParaRPr lang="en-US"/>
          </a:p>
        </p:txBody>
      </p:sp>
    </p:spTree>
    <p:extLst>
      <p:ext uri="{BB962C8B-B14F-4D97-AF65-F5344CB8AC3E}">
        <p14:creationId xmlns:p14="http://schemas.microsoft.com/office/powerpoint/2010/main" val="20014523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C7DB5-8C9F-9272-DF93-739A40E25745}"/>
              </a:ext>
            </a:extLst>
          </p:cNvPr>
          <p:cNvSpPr>
            <a:spLocks noGrp="1"/>
          </p:cNvSpPr>
          <p:nvPr>
            <p:ph type="title"/>
          </p:nvPr>
        </p:nvSpPr>
        <p:spPr/>
        <p:txBody>
          <a:bodyPr/>
          <a:lstStyle/>
          <a:p>
            <a:r>
              <a:rPr lang="en-US" dirty="0"/>
              <a:t>Water Chemistry</a:t>
            </a:r>
          </a:p>
        </p:txBody>
      </p:sp>
      <p:sp>
        <p:nvSpPr>
          <p:cNvPr id="3" name="Content Placeholder 2">
            <a:extLst>
              <a:ext uri="{FF2B5EF4-FFF2-40B4-BE49-F238E27FC236}">
                <a16:creationId xmlns:a16="http://schemas.microsoft.com/office/drawing/2014/main" id="{329644BD-EDB8-9CB0-DEBB-F80F7AF8E06B}"/>
              </a:ext>
            </a:extLst>
          </p:cNvPr>
          <p:cNvSpPr>
            <a:spLocks noGrp="1"/>
          </p:cNvSpPr>
          <p:nvPr>
            <p:ph idx="1"/>
          </p:nvPr>
        </p:nvSpPr>
        <p:spPr/>
        <p:txBody>
          <a:bodyPr/>
          <a:lstStyle/>
          <a:p>
            <a:r>
              <a:rPr lang="en-US" sz="2400" dirty="0"/>
              <a:t>Excellent water chemistry alone is not sufficient to control corrosion, thus programs to modify water chemistry, including minimizing oxygen to reduce the electrochemical corrosion potential (ECP) in BWRs, and oxygen and pH control in PWRs, have been implemented </a:t>
            </a:r>
          </a:p>
          <a:p>
            <a:r>
              <a:rPr lang="en-US" sz="2400" dirty="0"/>
              <a:t>Additives to further inhibit the corrosion process have been developed and are now in widespread use</a:t>
            </a:r>
          </a:p>
          <a:p>
            <a:r>
              <a:rPr lang="en-US" sz="2400" dirty="0"/>
              <a:t>Water chemistry advances are now an important part of the overall operating strategy to control material degradation</a:t>
            </a:r>
          </a:p>
          <a:p>
            <a:endParaRPr lang="en-US" dirty="0"/>
          </a:p>
        </p:txBody>
      </p:sp>
      <p:sp>
        <p:nvSpPr>
          <p:cNvPr id="4" name="Slide Number Placeholder 3">
            <a:extLst>
              <a:ext uri="{FF2B5EF4-FFF2-40B4-BE49-F238E27FC236}">
                <a16:creationId xmlns:a16="http://schemas.microsoft.com/office/drawing/2014/main" id="{2BBBF92D-7B6E-5B6B-CFEF-769C07D52DFD}"/>
              </a:ext>
            </a:extLst>
          </p:cNvPr>
          <p:cNvSpPr>
            <a:spLocks noGrp="1"/>
          </p:cNvSpPr>
          <p:nvPr>
            <p:ph type="sldNum" sz="quarter" idx="12"/>
          </p:nvPr>
        </p:nvSpPr>
        <p:spPr/>
        <p:txBody>
          <a:bodyPr/>
          <a:lstStyle/>
          <a:p>
            <a:pPr>
              <a:defRPr/>
            </a:pPr>
            <a:fld id="{3FF2C605-4958-CF43-AA48-80339EFDB0AF}" type="slidenum">
              <a:rPr lang="en-US" smtClean="0"/>
              <a:pPr>
                <a:defRPr/>
              </a:pPr>
              <a:t>6</a:t>
            </a:fld>
            <a:endParaRPr lang="en-US"/>
          </a:p>
        </p:txBody>
      </p:sp>
    </p:spTree>
    <p:extLst>
      <p:ext uri="{BB962C8B-B14F-4D97-AF65-F5344CB8AC3E}">
        <p14:creationId xmlns:p14="http://schemas.microsoft.com/office/powerpoint/2010/main" val="25791691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B63320-2ECA-1E43-BDFF-1C32856B8FEE}"/>
              </a:ext>
            </a:extLst>
          </p:cNvPr>
          <p:cNvSpPr>
            <a:spLocks noGrp="1"/>
          </p:cNvSpPr>
          <p:nvPr>
            <p:ph type="title"/>
          </p:nvPr>
        </p:nvSpPr>
        <p:spPr/>
        <p:txBody>
          <a:bodyPr/>
          <a:lstStyle/>
          <a:p>
            <a:r>
              <a:rPr lang="en-US" dirty="0"/>
              <a:t>PWR Water Chemistry</a:t>
            </a:r>
          </a:p>
        </p:txBody>
      </p:sp>
      <p:sp>
        <p:nvSpPr>
          <p:cNvPr id="3" name="Content Placeholder 2">
            <a:extLst>
              <a:ext uri="{FF2B5EF4-FFF2-40B4-BE49-F238E27FC236}">
                <a16:creationId xmlns:a16="http://schemas.microsoft.com/office/drawing/2014/main" id="{4CC80E29-EDF9-0543-8546-62EDFAF23A66}"/>
              </a:ext>
            </a:extLst>
          </p:cNvPr>
          <p:cNvSpPr>
            <a:spLocks noGrp="1"/>
          </p:cNvSpPr>
          <p:nvPr>
            <p:ph idx="1"/>
          </p:nvPr>
        </p:nvSpPr>
        <p:spPr>
          <a:xfrm>
            <a:off x="609600" y="2160495"/>
            <a:ext cx="5486400" cy="3965670"/>
          </a:xfrm>
        </p:spPr>
        <p:txBody>
          <a:bodyPr/>
          <a:lstStyle/>
          <a:p>
            <a:r>
              <a:rPr lang="en-US" sz="2000" dirty="0"/>
              <a:t>In the very early days of PWR operation, heavy crud buildup on fuel cladding surfaces was caused by the transport of corrosion products from the steam generators into the reactor core</a:t>
            </a:r>
          </a:p>
          <a:p>
            <a:r>
              <a:rPr lang="en-US" sz="2000" dirty="0"/>
              <a:t>Activated corrosion products caused high-radiation fields on out-of-core surfaces</a:t>
            </a:r>
          </a:p>
          <a:p>
            <a:r>
              <a:rPr lang="en-US" sz="2000" dirty="0"/>
              <a:t>Fuel performance was compromised, and even coolant flow issues were observed</a:t>
            </a:r>
          </a:p>
          <a:p>
            <a:endParaRPr lang="en-US" sz="2000" dirty="0"/>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220672EE-E4FF-464D-87CA-23D31AAFB0E2}"/>
              </a:ext>
            </a:extLst>
          </p:cNvPr>
          <p:cNvSpPr>
            <a:spLocks noGrp="1"/>
          </p:cNvSpPr>
          <p:nvPr>
            <p:ph type="sldNum" sz="quarter" idx="12"/>
          </p:nvPr>
        </p:nvSpPr>
        <p:spPr/>
        <p:txBody>
          <a:bodyPr/>
          <a:lstStyle/>
          <a:p>
            <a:pPr>
              <a:defRPr/>
            </a:pPr>
            <a:fld id="{3FF2C605-4958-CF43-AA48-80339EFDB0AF}" type="slidenum">
              <a:rPr lang="en-US" smtClean="0"/>
              <a:pPr>
                <a:defRPr/>
              </a:pPr>
              <a:t>7</a:t>
            </a:fld>
            <a:endParaRPr lang="en-US"/>
          </a:p>
        </p:txBody>
      </p:sp>
      <p:pic>
        <p:nvPicPr>
          <p:cNvPr id="5" name="Picture 4">
            <a:extLst>
              <a:ext uri="{FF2B5EF4-FFF2-40B4-BE49-F238E27FC236}">
                <a16:creationId xmlns:a16="http://schemas.microsoft.com/office/drawing/2014/main" id="{38D9087E-3AB1-2E4C-82A4-B17FFD078179}"/>
              </a:ext>
            </a:extLst>
          </p:cNvPr>
          <p:cNvPicPr>
            <a:picLocks noChangeAspect="1"/>
          </p:cNvPicPr>
          <p:nvPr/>
        </p:nvPicPr>
        <p:blipFill>
          <a:blip r:embed="rId2"/>
          <a:stretch>
            <a:fillRect/>
          </a:stretch>
        </p:blipFill>
        <p:spPr>
          <a:xfrm>
            <a:off x="6320332" y="2174143"/>
            <a:ext cx="5871668" cy="2975212"/>
          </a:xfrm>
          <a:prstGeom prst="rect">
            <a:avLst/>
          </a:prstGeom>
        </p:spPr>
      </p:pic>
    </p:spTree>
    <p:extLst>
      <p:ext uri="{BB962C8B-B14F-4D97-AF65-F5344CB8AC3E}">
        <p14:creationId xmlns:p14="http://schemas.microsoft.com/office/powerpoint/2010/main" val="39582628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AC8147-EFBE-954A-A3F0-4A5820900ADC}"/>
              </a:ext>
            </a:extLst>
          </p:cNvPr>
          <p:cNvSpPr>
            <a:spLocks noGrp="1"/>
          </p:cNvSpPr>
          <p:nvPr>
            <p:ph type="title"/>
          </p:nvPr>
        </p:nvSpPr>
        <p:spPr/>
        <p:txBody>
          <a:bodyPr/>
          <a:lstStyle/>
          <a:p>
            <a:r>
              <a:rPr lang="en-US" dirty="0"/>
              <a:t>CRUD</a:t>
            </a:r>
          </a:p>
        </p:txBody>
      </p:sp>
      <p:sp>
        <p:nvSpPr>
          <p:cNvPr id="3" name="Content Placeholder 2">
            <a:extLst>
              <a:ext uri="{FF2B5EF4-FFF2-40B4-BE49-F238E27FC236}">
                <a16:creationId xmlns:a16="http://schemas.microsoft.com/office/drawing/2014/main" id="{7011F2F3-4EEC-1444-9406-6886637FC502}"/>
              </a:ext>
            </a:extLst>
          </p:cNvPr>
          <p:cNvSpPr>
            <a:spLocks noGrp="1"/>
          </p:cNvSpPr>
          <p:nvPr>
            <p:ph idx="1"/>
          </p:nvPr>
        </p:nvSpPr>
        <p:spPr>
          <a:xfrm>
            <a:off x="609601" y="1702676"/>
            <a:ext cx="7693572" cy="4423489"/>
          </a:xfrm>
        </p:spPr>
        <p:txBody>
          <a:bodyPr/>
          <a:lstStyle/>
          <a:p>
            <a:r>
              <a:rPr lang="en-US" sz="2000" dirty="0"/>
              <a:t>A corrosion product called Chalk River unidentified deposit (CRUD) accumulates on the Ni alloy and stainless-steel surfaces</a:t>
            </a:r>
          </a:p>
          <a:p>
            <a:r>
              <a:rPr lang="en-US" sz="2000" dirty="0"/>
              <a:t>CRUD is an accumulation of materials and corrosion products that is composed of either dissolved ions or solid particles such as Ni, Fe, and Co on fuel rod cladding surfaces </a:t>
            </a:r>
          </a:p>
          <a:p>
            <a:r>
              <a:rPr lang="en-US" sz="2000" dirty="0"/>
              <a:t>CRUD degrades heat production by nuclear fuel because the constituents are slowly eroded by the circulation of the hot pressurized water and later deposited on the cladding</a:t>
            </a:r>
          </a:p>
          <a:p>
            <a:r>
              <a:rPr lang="en-US" sz="2000" dirty="0"/>
              <a:t>The chemical composition of CRUD varies depending on the types of refueling cycles and the constituents of the basic metal material</a:t>
            </a:r>
          </a:p>
        </p:txBody>
      </p:sp>
      <p:sp>
        <p:nvSpPr>
          <p:cNvPr id="4" name="Slide Number Placeholder 3">
            <a:extLst>
              <a:ext uri="{FF2B5EF4-FFF2-40B4-BE49-F238E27FC236}">
                <a16:creationId xmlns:a16="http://schemas.microsoft.com/office/drawing/2014/main" id="{A2295A89-B649-1C45-A313-3F355BD15582}"/>
              </a:ext>
            </a:extLst>
          </p:cNvPr>
          <p:cNvSpPr>
            <a:spLocks noGrp="1"/>
          </p:cNvSpPr>
          <p:nvPr>
            <p:ph type="sldNum" sz="quarter" idx="12"/>
          </p:nvPr>
        </p:nvSpPr>
        <p:spPr/>
        <p:txBody>
          <a:bodyPr/>
          <a:lstStyle/>
          <a:p>
            <a:pPr>
              <a:defRPr/>
            </a:pPr>
            <a:fld id="{3FF2C605-4958-CF43-AA48-80339EFDB0AF}" type="slidenum">
              <a:rPr lang="en-US" smtClean="0"/>
              <a:pPr>
                <a:defRPr/>
              </a:pPr>
              <a:t>8</a:t>
            </a:fld>
            <a:endParaRPr lang="en-US" dirty="0"/>
          </a:p>
        </p:txBody>
      </p:sp>
      <p:pic>
        <p:nvPicPr>
          <p:cNvPr id="1026" name="Picture 2" descr="Heavy CRUD deposition on fuel rods at the Palo Verde Nuclear Generating...  | Download Scientific Diagram">
            <a:extLst>
              <a:ext uri="{FF2B5EF4-FFF2-40B4-BE49-F238E27FC236}">
                <a16:creationId xmlns:a16="http://schemas.microsoft.com/office/drawing/2014/main" id="{8398156C-CEE2-F42C-D0E8-81B7FE874D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05371" y="2358343"/>
            <a:ext cx="3604261" cy="33022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843458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03DB6E-6236-DE0D-5E7F-983DCFB629AA}"/>
              </a:ext>
            </a:extLst>
          </p:cNvPr>
          <p:cNvSpPr>
            <a:spLocks noGrp="1"/>
          </p:cNvSpPr>
          <p:nvPr>
            <p:ph type="title"/>
          </p:nvPr>
        </p:nvSpPr>
        <p:spPr/>
        <p:txBody>
          <a:bodyPr/>
          <a:lstStyle/>
          <a:p>
            <a:r>
              <a:rPr lang="en-US" dirty="0"/>
              <a:t>CRUD Cycle</a:t>
            </a:r>
          </a:p>
        </p:txBody>
      </p:sp>
      <p:sp>
        <p:nvSpPr>
          <p:cNvPr id="3" name="Content Placeholder 2">
            <a:extLst>
              <a:ext uri="{FF2B5EF4-FFF2-40B4-BE49-F238E27FC236}">
                <a16:creationId xmlns:a16="http://schemas.microsoft.com/office/drawing/2014/main" id="{FA5D788F-0BCE-8A8D-BBE6-5055369FFF4F}"/>
              </a:ext>
            </a:extLst>
          </p:cNvPr>
          <p:cNvSpPr>
            <a:spLocks noGrp="1"/>
          </p:cNvSpPr>
          <p:nvPr>
            <p:ph idx="1"/>
          </p:nvPr>
        </p:nvSpPr>
        <p:spPr/>
        <p:txBody>
          <a:bodyPr/>
          <a:lstStyle/>
          <a:p>
            <a:r>
              <a:rPr lang="en-US" sz="2200" dirty="0"/>
              <a:t>First, metallic constituents from core internals or heat exchangers are dissolved in the high T water</a:t>
            </a:r>
          </a:p>
          <a:p>
            <a:r>
              <a:rPr lang="en-US" sz="2200" dirty="0"/>
              <a:t>Those constituents get deposited on the surface of the cladding, often in a spinel-type structure (AB2O4), with Fe, Ni, and Co some of the primary species</a:t>
            </a:r>
          </a:p>
          <a:p>
            <a:r>
              <a:rPr lang="en-US" sz="2200" dirty="0"/>
              <a:t>Proximity to the fuel leads to activation of these species, producing radionuclides in the CRUD, such as 60Co and 63Ni</a:t>
            </a:r>
          </a:p>
          <a:p>
            <a:r>
              <a:rPr lang="en-US" sz="2200" dirty="0"/>
              <a:t>CRUD can flake off, chip, or species can dissolve into the water and then collect on the out-of-core surfaces</a:t>
            </a:r>
          </a:p>
          <a:p>
            <a:endParaRPr lang="en-US" sz="2200" dirty="0"/>
          </a:p>
          <a:p>
            <a:endParaRPr lang="en-US" sz="2200" dirty="0"/>
          </a:p>
        </p:txBody>
      </p:sp>
      <p:sp>
        <p:nvSpPr>
          <p:cNvPr id="4" name="Slide Number Placeholder 3">
            <a:extLst>
              <a:ext uri="{FF2B5EF4-FFF2-40B4-BE49-F238E27FC236}">
                <a16:creationId xmlns:a16="http://schemas.microsoft.com/office/drawing/2014/main" id="{00D7D0BE-349E-4BA5-07C1-532E93608356}"/>
              </a:ext>
            </a:extLst>
          </p:cNvPr>
          <p:cNvSpPr>
            <a:spLocks noGrp="1"/>
          </p:cNvSpPr>
          <p:nvPr>
            <p:ph type="sldNum" sz="quarter" idx="12"/>
          </p:nvPr>
        </p:nvSpPr>
        <p:spPr/>
        <p:txBody>
          <a:bodyPr/>
          <a:lstStyle/>
          <a:p>
            <a:pPr>
              <a:defRPr/>
            </a:pPr>
            <a:fld id="{3FF2C605-4958-CF43-AA48-80339EFDB0AF}" type="slidenum">
              <a:rPr lang="en-US" smtClean="0"/>
              <a:pPr>
                <a:defRPr/>
              </a:pPr>
              <a:t>9</a:t>
            </a:fld>
            <a:endParaRPr lang="en-US"/>
          </a:p>
        </p:txBody>
      </p:sp>
    </p:spTree>
    <p:extLst>
      <p:ext uri="{BB962C8B-B14F-4D97-AF65-F5344CB8AC3E}">
        <p14:creationId xmlns:p14="http://schemas.microsoft.com/office/powerpoint/2010/main" val="33645696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3748FC-36C3-5C4F-941A-D87FB9DED5C1}"/>
              </a:ext>
            </a:extLst>
          </p:cNvPr>
          <p:cNvSpPr>
            <a:spLocks noGrp="1"/>
          </p:cNvSpPr>
          <p:nvPr>
            <p:ph type="title"/>
          </p:nvPr>
        </p:nvSpPr>
        <p:spPr/>
        <p:txBody>
          <a:bodyPr/>
          <a:lstStyle/>
          <a:p>
            <a:r>
              <a:rPr lang="en-US" dirty="0"/>
              <a:t>PWR Water Chemistry</a:t>
            </a:r>
          </a:p>
        </p:txBody>
      </p:sp>
      <p:sp>
        <p:nvSpPr>
          <p:cNvPr id="3" name="Content Placeholder 2">
            <a:extLst>
              <a:ext uri="{FF2B5EF4-FFF2-40B4-BE49-F238E27FC236}">
                <a16:creationId xmlns:a16="http://schemas.microsoft.com/office/drawing/2014/main" id="{28D3FEC1-F7DC-0244-B126-8B006EC8A4BF}"/>
              </a:ext>
            </a:extLst>
          </p:cNvPr>
          <p:cNvSpPr>
            <a:spLocks noGrp="1"/>
          </p:cNvSpPr>
          <p:nvPr>
            <p:ph idx="1"/>
          </p:nvPr>
        </p:nvSpPr>
        <p:spPr/>
        <p:txBody>
          <a:bodyPr/>
          <a:lstStyle/>
          <a:p>
            <a:r>
              <a:rPr lang="en-US" sz="2000" dirty="0"/>
              <a:t>PWR problems were initially mitigated by imposing a hydrogen overpressure on the primary system, reducing the corrosion/oxygen potential, and raising the primary chemistry pH</a:t>
            </a:r>
          </a:p>
          <a:p>
            <a:r>
              <a:rPr lang="en-US" sz="2000" dirty="0"/>
              <a:t>Commercial PWR power plants use a steadily decreasing concentration of boric acid as a chemical shim for reactivity control throughout the fuel cycle, which results in the use of lithium hydroxide to control pH</a:t>
            </a:r>
          </a:p>
          <a:p>
            <a:r>
              <a:rPr lang="en-US" sz="2000" dirty="0"/>
              <a:t>The concept of ‘coordinated boron and lithium’ was developed, whereby the concentration of </a:t>
            </a:r>
            <a:r>
              <a:rPr lang="en-US" sz="2000" dirty="0" err="1"/>
              <a:t>LiOH</a:t>
            </a:r>
            <a:r>
              <a:rPr lang="en-US" sz="2000" dirty="0"/>
              <a:t> was gradually reduced in line with the boric acid reduction to maintain a constant pH</a:t>
            </a:r>
          </a:p>
          <a:p>
            <a:r>
              <a:rPr lang="en-US" sz="2000" dirty="0"/>
              <a:t>It was determined that heavy fuel crud buildup was avoided if a constant pH of &gt; 6.9 was maintained, as the solubility of Ni and Fe is dependent on pH</a:t>
            </a:r>
          </a:p>
          <a:p>
            <a:r>
              <a:rPr lang="en-US" sz="2000" dirty="0"/>
              <a:t>Zinc injection is utilized to reduce radiation fields, and also inhibits SCC</a:t>
            </a:r>
          </a:p>
          <a:p>
            <a:endParaRPr lang="en-US" sz="2000" dirty="0"/>
          </a:p>
          <a:p>
            <a:endParaRPr lang="en-US" sz="2000" dirty="0"/>
          </a:p>
        </p:txBody>
      </p:sp>
      <p:sp>
        <p:nvSpPr>
          <p:cNvPr id="4" name="Slide Number Placeholder 3">
            <a:extLst>
              <a:ext uri="{FF2B5EF4-FFF2-40B4-BE49-F238E27FC236}">
                <a16:creationId xmlns:a16="http://schemas.microsoft.com/office/drawing/2014/main" id="{19113E70-3461-2748-91F6-6B737FEEDF89}"/>
              </a:ext>
            </a:extLst>
          </p:cNvPr>
          <p:cNvSpPr>
            <a:spLocks noGrp="1"/>
          </p:cNvSpPr>
          <p:nvPr>
            <p:ph type="sldNum" sz="quarter" idx="12"/>
          </p:nvPr>
        </p:nvSpPr>
        <p:spPr/>
        <p:txBody>
          <a:bodyPr/>
          <a:lstStyle/>
          <a:p>
            <a:pPr>
              <a:defRPr/>
            </a:pPr>
            <a:fld id="{3FF2C605-4958-CF43-AA48-80339EFDB0AF}" type="slidenum">
              <a:rPr lang="en-US" smtClean="0"/>
              <a:pPr>
                <a:defRPr/>
              </a:pPr>
              <a:t>10</a:t>
            </a:fld>
            <a:endParaRPr lang="en-US"/>
          </a:p>
        </p:txBody>
      </p:sp>
    </p:spTree>
    <p:extLst>
      <p:ext uri="{BB962C8B-B14F-4D97-AF65-F5344CB8AC3E}">
        <p14:creationId xmlns:p14="http://schemas.microsoft.com/office/powerpoint/2010/main" val="32414200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DD9220-1256-004D-A46A-860F4CCF4AD8}"/>
              </a:ext>
            </a:extLst>
          </p:cNvPr>
          <p:cNvSpPr>
            <a:spLocks noGrp="1"/>
          </p:cNvSpPr>
          <p:nvPr>
            <p:ph type="title"/>
          </p:nvPr>
        </p:nvSpPr>
        <p:spPr/>
        <p:txBody>
          <a:bodyPr/>
          <a:lstStyle/>
          <a:p>
            <a:r>
              <a:rPr lang="en-US" dirty="0"/>
              <a:t>Radiation Control</a:t>
            </a:r>
          </a:p>
        </p:txBody>
      </p:sp>
      <p:sp>
        <p:nvSpPr>
          <p:cNvPr id="3" name="Content Placeholder 2">
            <a:extLst>
              <a:ext uri="{FF2B5EF4-FFF2-40B4-BE49-F238E27FC236}">
                <a16:creationId xmlns:a16="http://schemas.microsoft.com/office/drawing/2014/main" id="{E92720F9-E029-CA4F-905B-409E6DEB0733}"/>
              </a:ext>
            </a:extLst>
          </p:cNvPr>
          <p:cNvSpPr>
            <a:spLocks noGrp="1"/>
          </p:cNvSpPr>
          <p:nvPr>
            <p:ph idx="1"/>
          </p:nvPr>
        </p:nvSpPr>
        <p:spPr/>
        <p:txBody>
          <a:bodyPr/>
          <a:lstStyle/>
          <a:p>
            <a:r>
              <a:rPr lang="en-US" sz="2000" dirty="0"/>
              <a:t>Corrosion products deposited on the fuel become activated, are released back into the coolant, and may be deposited on out-of-core surfaces</a:t>
            </a:r>
          </a:p>
          <a:p>
            <a:r>
              <a:rPr lang="en-US" sz="2000" dirty="0"/>
              <a:t>During shutdowns, the major radiation source for personnel exposure is activated corrosion products, deposited on primary system surfaces</a:t>
            </a:r>
          </a:p>
          <a:p>
            <a:r>
              <a:rPr lang="en-US" sz="2000" dirty="0"/>
              <a:t>The mechanism of the zinc ion effect is complex, as release of </a:t>
            </a:r>
            <a:r>
              <a:rPr lang="en-US" sz="2000" baseline="30000" dirty="0"/>
              <a:t>60</a:t>
            </a:r>
            <a:r>
              <a:rPr lang="en-US" sz="2000" dirty="0"/>
              <a:t>Co from fuel crud is reduced, and deposition out-core is also reduced</a:t>
            </a:r>
          </a:p>
          <a:p>
            <a:r>
              <a:rPr lang="en-US" sz="2000" dirty="0"/>
              <a:t>Aqueous zinc ion promotes the formation of a more protective spinel-structured corrosion film on stainless steel, especially when reducing conditions are present</a:t>
            </a:r>
          </a:p>
          <a:p>
            <a:r>
              <a:rPr lang="en-US" sz="2000" dirty="0"/>
              <a:t>Both cobalt and zinc favor tetrahedral sites in the spinel structure, but the site preference energy favors zinc incorporation</a:t>
            </a:r>
          </a:p>
          <a:p>
            <a:r>
              <a:rPr lang="en-US" sz="2000" dirty="0"/>
              <a:t>The </a:t>
            </a:r>
            <a:r>
              <a:rPr lang="en-US" sz="2000" baseline="30000" dirty="0"/>
              <a:t>60</a:t>
            </a:r>
            <a:r>
              <a:rPr lang="en-US" sz="2000" dirty="0"/>
              <a:t>Co remains longer in the water and is eventually removed by the cleanup system</a:t>
            </a:r>
          </a:p>
          <a:p>
            <a:endParaRPr lang="en-US" sz="2000" dirty="0"/>
          </a:p>
        </p:txBody>
      </p:sp>
      <p:sp>
        <p:nvSpPr>
          <p:cNvPr id="4" name="Slide Number Placeholder 3">
            <a:extLst>
              <a:ext uri="{FF2B5EF4-FFF2-40B4-BE49-F238E27FC236}">
                <a16:creationId xmlns:a16="http://schemas.microsoft.com/office/drawing/2014/main" id="{B161F9CF-48AB-2543-8AD6-EE3D9FF6F362}"/>
              </a:ext>
            </a:extLst>
          </p:cNvPr>
          <p:cNvSpPr>
            <a:spLocks noGrp="1"/>
          </p:cNvSpPr>
          <p:nvPr>
            <p:ph type="sldNum" sz="quarter" idx="12"/>
          </p:nvPr>
        </p:nvSpPr>
        <p:spPr/>
        <p:txBody>
          <a:bodyPr/>
          <a:lstStyle/>
          <a:p>
            <a:pPr>
              <a:defRPr/>
            </a:pPr>
            <a:fld id="{3FF2C605-4958-CF43-AA48-80339EFDB0AF}" type="slidenum">
              <a:rPr lang="en-US" smtClean="0"/>
              <a:pPr>
                <a:defRPr/>
              </a:pPr>
              <a:t>11</a:t>
            </a:fld>
            <a:endParaRPr lang="en-US"/>
          </a:p>
        </p:txBody>
      </p:sp>
    </p:spTree>
    <p:extLst>
      <p:ext uri="{BB962C8B-B14F-4D97-AF65-F5344CB8AC3E}">
        <p14:creationId xmlns:p14="http://schemas.microsoft.com/office/powerpoint/2010/main" val="35098471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C3F2F-49AA-C446-870B-C96ED33952B4}"/>
              </a:ext>
            </a:extLst>
          </p:cNvPr>
          <p:cNvSpPr>
            <a:spLocks noGrp="1"/>
          </p:cNvSpPr>
          <p:nvPr>
            <p:ph type="title"/>
          </p:nvPr>
        </p:nvSpPr>
        <p:spPr/>
        <p:txBody>
          <a:bodyPr/>
          <a:lstStyle/>
          <a:p>
            <a:r>
              <a:rPr lang="en-US" dirty="0"/>
              <a:t>PWR Water Chemistry</a:t>
            </a:r>
          </a:p>
        </p:txBody>
      </p:sp>
      <p:sp>
        <p:nvSpPr>
          <p:cNvPr id="4" name="Slide Number Placeholder 3">
            <a:extLst>
              <a:ext uri="{FF2B5EF4-FFF2-40B4-BE49-F238E27FC236}">
                <a16:creationId xmlns:a16="http://schemas.microsoft.com/office/drawing/2014/main" id="{A46367C6-E053-0442-B281-D57772FF1362}"/>
              </a:ext>
            </a:extLst>
          </p:cNvPr>
          <p:cNvSpPr>
            <a:spLocks noGrp="1"/>
          </p:cNvSpPr>
          <p:nvPr>
            <p:ph type="sldNum" sz="quarter" idx="12"/>
          </p:nvPr>
        </p:nvSpPr>
        <p:spPr/>
        <p:txBody>
          <a:bodyPr/>
          <a:lstStyle/>
          <a:p>
            <a:pPr>
              <a:defRPr/>
            </a:pPr>
            <a:fld id="{3FF2C605-4958-CF43-AA48-80339EFDB0AF}" type="slidenum">
              <a:rPr lang="en-US" smtClean="0"/>
              <a:pPr>
                <a:defRPr/>
              </a:pPr>
              <a:t>12</a:t>
            </a:fld>
            <a:endParaRPr lang="en-US"/>
          </a:p>
        </p:txBody>
      </p:sp>
      <p:pic>
        <p:nvPicPr>
          <p:cNvPr id="5" name="Picture 4">
            <a:extLst>
              <a:ext uri="{FF2B5EF4-FFF2-40B4-BE49-F238E27FC236}">
                <a16:creationId xmlns:a16="http://schemas.microsoft.com/office/drawing/2014/main" id="{F2E66B19-9605-A24C-A925-111391E636CA}"/>
              </a:ext>
            </a:extLst>
          </p:cNvPr>
          <p:cNvPicPr>
            <a:picLocks noChangeAspect="1"/>
          </p:cNvPicPr>
          <p:nvPr/>
        </p:nvPicPr>
        <p:blipFill>
          <a:blip r:embed="rId2"/>
          <a:stretch>
            <a:fillRect/>
          </a:stretch>
        </p:blipFill>
        <p:spPr>
          <a:xfrm>
            <a:off x="4940489" y="2198687"/>
            <a:ext cx="7057409" cy="4220140"/>
          </a:xfrm>
          <a:prstGeom prst="rect">
            <a:avLst/>
          </a:prstGeom>
        </p:spPr>
      </p:pic>
      <p:pic>
        <p:nvPicPr>
          <p:cNvPr id="6" name="Picture 5">
            <a:extLst>
              <a:ext uri="{FF2B5EF4-FFF2-40B4-BE49-F238E27FC236}">
                <a16:creationId xmlns:a16="http://schemas.microsoft.com/office/drawing/2014/main" id="{0C721905-C656-AE49-800D-0371F73CE6DD}"/>
              </a:ext>
            </a:extLst>
          </p:cNvPr>
          <p:cNvPicPr>
            <a:picLocks noChangeAspect="1"/>
          </p:cNvPicPr>
          <p:nvPr/>
        </p:nvPicPr>
        <p:blipFill>
          <a:blip r:embed="rId3"/>
          <a:stretch>
            <a:fillRect/>
          </a:stretch>
        </p:blipFill>
        <p:spPr>
          <a:xfrm>
            <a:off x="382801" y="2579686"/>
            <a:ext cx="4711700" cy="3378200"/>
          </a:xfrm>
          <a:prstGeom prst="rect">
            <a:avLst/>
          </a:prstGeom>
        </p:spPr>
      </p:pic>
    </p:spTree>
    <p:extLst>
      <p:ext uri="{BB962C8B-B14F-4D97-AF65-F5344CB8AC3E}">
        <p14:creationId xmlns:p14="http://schemas.microsoft.com/office/powerpoint/2010/main" val="309276437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85FC24-2EBA-A09B-C24A-74219BD03C53}"/>
              </a:ext>
            </a:extLst>
          </p:cNvPr>
          <p:cNvSpPr>
            <a:spLocks noGrp="1"/>
          </p:cNvSpPr>
          <p:nvPr>
            <p:ph type="title"/>
          </p:nvPr>
        </p:nvSpPr>
        <p:spPr/>
        <p:txBody>
          <a:bodyPr/>
          <a:lstStyle/>
          <a:p>
            <a:r>
              <a:rPr lang="en-US" dirty="0"/>
              <a:t>BWR Water Chemistry</a:t>
            </a:r>
          </a:p>
        </p:txBody>
      </p:sp>
      <p:sp>
        <p:nvSpPr>
          <p:cNvPr id="3" name="Content Placeholder 2">
            <a:extLst>
              <a:ext uri="{FF2B5EF4-FFF2-40B4-BE49-F238E27FC236}">
                <a16:creationId xmlns:a16="http://schemas.microsoft.com/office/drawing/2014/main" id="{8FE8D090-DEFE-6C39-DF07-955626F08728}"/>
              </a:ext>
            </a:extLst>
          </p:cNvPr>
          <p:cNvSpPr>
            <a:spLocks noGrp="1"/>
          </p:cNvSpPr>
          <p:nvPr>
            <p:ph idx="1"/>
          </p:nvPr>
        </p:nvSpPr>
        <p:spPr>
          <a:xfrm>
            <a:off x="609600" y="2160495"/>
            <a:ext cx="5486400" cy="3965670"/>
          </a:xfrm>
        </p:spPr>
        <p:txBody>
          <a:bodyPr/>
          <a:lstStyle/>
          <a:p>
            <a:r>
              <a:rPr lang="en-US" dirty="0"/>
              <a:t>Similarly, BWR water chemistry has to be optimized to meet requirements on material degradation, fuel performance, and control of radiation fields</a:t>
            </a:r>
          </a:p>
          <a:p>
            <a:r>
              <a:rPr lang="en-US" dirty="0"/>
              <a:t>BWR chemistry strategies have changed over time, focusing on purity, limiting SCC, and control of radiation fields</a:t>
            </a:r>
          </a:p>
        </p:txBody>
      </p:sp>
      <p:sp>
        <p:nvSpPr>
          <p:cNvPr id="4" name="Slide Number Placeholder 3">
            <a:extLst>
              <a:ext uri="{FF2B5EF4-FFF2-40B4-BE49-F238E27FC236}">
                <a16:creationId xmlns:a16="http://schemas.microsoft.com/office/drawing/2014/main" id="{F17178F3-F12D-C831-FCB6-59A1A0A534D5}"/>
              </a:ext>
            </a:extLst>
          </p:cNvPr>
          <p:cNvSpPr>
            <a:spLocks noGrp="1"/>
          </p:cNvSpPr>
          <p:nvPr>
            <p:ph type="sldNum" sz="quarter" idx="12"/>
          </p:nvPr>
        </p:nvSpPr>
        <p:spPr/>
        <p:txBody>
          <a:bodyPr/>
          <a:lstStyle/>
          <a:p>
            <a:pPr>
              <a:defRPr/>
            </a:pPr>
            <a:fld id="{3FF2C605-4958-CF43-AA48-80339EFDB0AF}" type="slidenum">
              <a:rPr lang="en-US" smtClean="0"/>
              <a:pPr>
                <a:defRPr/>
              </a:pPr>
              <a:t>13</a:t>
            </a:fld>
            <a:endParaRPr lang="en-US"/>
          </a:p>
        </p:txBody>
      </p:sp>
      <p:pic>
        <p:nvPicPr>
          <p:cNvPr id="5" name="Picture 4">
            <a:extLst>
              <a:ext uri="{FF2B5EF4-FFF2-40B4-BE49-F238E27FC236}">
                <a16:creationId xmlns:a16="http://schemas.microsoft.com/office/drawing/2014/main" id="{2D592F25-5B3B-84CF-4F64-47206818B7DF}"/>
              </a:ext>
            </a:extLst>
          </p:cNvPr>
          <p:cNvPicPr>
            <a:picLocks noChangeAspect="1"/>
          </p:cNvPicPr>
          <p:nvPr/>
        </p:nvPicPr>
        <p:blipFill>
          <a:blip r:embed="rId2"/>
          <a:stretch>
            <a:fillRect/>
          </a:stretch>
        </p:blipFill>
        <p:spPr>
          <a:xfrm>
            <a:off x="5889876" y="1460641"/>
            <a:ext cx="6196521" cy="2799052"/>
          </a:xfrm>
          <a:prstGeom prst="rect">
            <a:avLst/>
          </a:prstGeom>
        </p:spPr>
      </p:pic>
      <p:pic>
        <p:nvPicPr>
          <p:cNvPr id="6" name="Picture 5">
            <a:extLst>
              <a:ext uri="{FF2B5EF4-FFF2-40B4-BE49-F238E27FC236}">
                <a16:creationId xmlns:a16="http://schemas.microsoft.com/office/drawing/2014/main" id="{009DD2BD-A69A-E017-DC13-7B27DC080E54}"/>
              </a:ext>
            </a:extLst>
          </p:cNvPr>
          <p:cNvPicPr>
            <a:picLocks noChangeAspect="1"/>
          </p:cNvPicPr>
          <p:nvPr/>
        </p:nvPicPr>
        <p:blipFill>
          <a:blip r:embed="rId3"/>
          <a:stretch>
            <a:fillRect/>
          </a:stretch>
        </p:blipFill>
        <p:spPr>
          <a:xfrm>
            <a:off x="7373257" y="4385975"/>
            <a:ext cx="3417207" cy="2335501"/>
          </a:xfrm>
          <a:prstGeom prst="rect">
            <a:avLst/>
          </a:prstGeom>
        </p:spPr>
      </p:pic>
    </p:spTree>
    <p:extLst>
      <p:ext uri="{BB962C8B-B14F-4D97-AF65-F5344CB8AC3E}">
        <p14:creationId xmlns:p14="http://schemas.microsoft.com/office/powerpoint/2010/main" val="21034408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BDDA82-5869-7FBE-87D9-EAD25B16D2D8}"/>
              </a:ext>
            </a:extLst>
          </p:cNvPr>
          <p:cNvSpPr>
            <a:spLocks noGrp="1"/>
          </p:cNvSpPr>
          <p:nvPr>
            <p:ph type="title"/>
          </p:nvPr>
        </p:nvSpPr>
        <p:spPr/>
        <p:txBody>
          <a:bodyPr/>
          <a:lstStyle/>
          <a:p>
            <a:r>
              <a:rPr lang="en-US" dirty="0"/>
              <a:t>IGSCC Mitigation</a:t>
            </a:r>
          </a:p>
        </p:txBody>
      </p:sp>
      <p:sp>
        <p:nvSpPr>
          <p:cNvPr id="3" name="Content Placeholder 2">
            <a:extLst>
              <a:ext uri="{FF2B5EF4-FFF2-40B4-BE49-F238E27FC236}">
                <a16:creationId xmlns:a16="http://schemas.microsoft.com/office/drawing/2014/main" id="{F21C536B-EEF7-C80A-B3F4-F689DDBB32F3}"/>
              </a:ext>
            </a:extLst>
          </p:cNvPr>
          <p:cNvSpPr>
            <a:spLocks noGrp="1"/>
          </p:cNvSpPr>
          <p:nvPr>
            <p:ph idx="1"/>
          </p:nvPr>
        </p:nvSpPr>
        <p:spPr/>
        <p:txBody>
          <a:bodyPr/>
          <a:lstStyle/>
          <a:p>
            <a:r>
              <a:rPr lang="en-US" dirty="0"/>
              <a:t>Intergranular SCC (IGSCC) of 304 stainless steel core internals (and other materials) is one of the key chemistry control issues in BWRs</a:t>
            </a:r>
          </a:p>
          <a:p>
            <a:r>
              <a:rPr lang="en-US" dirty="0"/>
              <a:t>The control of the electrochemical potential (Redox potential) by hydrogen injection was effective at reducing IGSCC</a:t>
            </a:r>
          </a:p>
          <a:p>
            <a:r>
              <a:rPr lang="en-US" dirty="0"/>
              <a:t>Move from normal water chemistry (NWC) to hydrogen water chemistry (HWC) limits crack growth</a:t>
            </a:r>
          </a:p>
          <a:p>
            <a:r>
              <a:rPr lang="en-US" dirty="0"/>
              <a:t>Added noble metals (such as Pt) as coating on surfaces, or injection into water to increase efficiency of HWC</a:t>
            </a:r>
          </a:p>
          <a:p>
            <a:endParaRPr lang="en-US" dirty="0"/>
          </a:p>
        </p:txBody>
      </p:sp>
      <p:sp>
        <p:nvSpPr>
          <p:cNvPr id="4" name="Slide Number Placeholder 3">
            <a:extLst>
              <a:ext uri="{FF2B5EF4-FFF2-40B4-BE49-F238E27FC236}">
                <a16:creationId xmlns:a16="http://schemas.microsoft.com/office/drawing/2014/main" id="{A1FB336E-AFB3-8CFE-6666-317CC409A1A6}"/>
              </a:ext>
            </a:extLst>
          </p:cNvPr>
          <p:cNvSpPr>
            <a:spLocks noGrp="1"/>
          </p:cNvSpPr>
          <p:nvPr>
            <p:ph type="sldNum" sz="quarter" idx="12"/>
          </p:nvPr>
        </p:nvSpPr>
        <p:spPr/>
        <p:txBody>
          <a:bodyPr/>
          <a:lstStyle/>
          <a:p>
            <a:pPr>
              <a:defRPr/>
            </a:pPr>
            <a:fld id="{3FF2C605-4958-CF43-AA48-80339EFDB0AF}" type="slidenum">
              <a:rPr lang="en-US" smtClean="0"/>
              <a:pPr>
                <a:defRPr/>
              </a:pPr>
              <a:t>14</a:t>
            </a:fld>
            <a:endParaRPr lang="en-US"/>
          </a:p>
        </p:txBody>
      </p:sp>
    </p:spTree>
    <p:extLst>
      <p:ext uri="{BB962C8B-B14F-4D97-AF65-F5344CB8AC3E}">
        <p14:creationId xmlns:p14="http://schemas.microsoft.com/office/powerpoint/2010/main" val="15826319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67AE1E-3F09-3329-B656-855C48A08C64}"/>
              </a:ext>
            </a:extLst>
          </p:cNvPr>
          <p:cNvSpPr>
            <a:spLocks noGrp="1"/>
          </p:cNvSpPr>
          <p:nvPr>
            <p:ph type="title"/>
          </p:nvPr>
        </p:nvSpPr>
        <p:spPr/>
        <p:txBody>
          <a:bodyPr/>
          <a:lstStyle/>
          <a:p>
            <a:r>
              <a:rPr lang="en-US" dirty="0"/>
              <a:t>IGSCC Mitigation</a:t>
            </a:r>
          </a:p>
        </p:txBody>
      </p:sp>
      <p:sp>
        <p:nvSpPr>
          <p:cNvPr id="3" name="Content Placeholder 2">
            <a:extLst>
              <a:ext uri="{FF2B5EF4-FFF2-40B4-BE49-F238E27FC236}">
                <a16:creationId xmlns:a16="http://schemas.microsoft.com/office/drawing/2014/main" id="{5CCF6747-E57A-1ACD-5808-FA6030AFC528}"/>
              </a:ext>
            </a:extLst>
          </p:cNvPr>
          <p:cNvSpPr>
            <a:spLocks noGrp="1"/>
          </p:cNvSpPr>
          <p:nvPr>
            <p:ph idx="1"/>
          </p:nvPr>
        </p:nvSpPr>
        <p:spPr/>
        <p:txBody>
          <a:bodyPr/>
          <a:lstStyle/>
          <a:p>
            <a:r>
              <a:rPr lang="en-US" dirty="0"/>
              <a:t>Noble metal addition had previously only been conducted during outages, but changed to online addition to prevent ‘crack flanking’</a:t>
            </a:r>
          </a:p>
          <a:p>
            <a:r>
              <a:rPr lang="en-US" dirty="0"/>
              <a:t>Areas in the core are protected by different mitigation strategies, based on temperatures and two-phase flow</a:t>
            </a:r>
          </a:p>
          <a:p>
            <a:endParaRPr lang="en-US" dirty="0"/>
          </a:p>
          <a:p>
            <a:r>
              <a:rPr lang="en-US" dirty="0"/>
              <a:t>Radiation control: Zn injection also used in BWRs</a:t>
            </a:r>
          </a:p>
          <a:p>
            <a:endParaRPr lang="en-US" dirty="0"/>
          </a:p>
        </p:txBody>
      </p:sp>
      <p:sp>
        <p:nvSpPr>
          <p:cNvPr id="4" name="Slide Number Placeholder 3">
            <a:extLst>
              <a:ext uri="{FF2B5EF4-FFF2-40B4-BE49-F238E27FC236}">
                <a16:creationId xmlns:a16="http://schemas.microsoft.com/office/drawing/2014/main" id="{E24BDF3A-1A97-5400-29FC-0AEE56472885}"/>
              </a:ext>
            </a:extLst>
          </p:cNvPr>
          <p:cNvSpPr>
            <a:spLocks noGrp="1"/>
          </p:cNvSpPr>
          <p:nvPr>
            <p:ph type="sldNum" sz="quarter" idx="12"/>
          </p:nvPr>
        </p:nvSpPr>
        <p:spPr/>
        <p:txBody>
          <a:bodyPr/>
          <a:lstStyle/>
          <a:p>
            <a:pPr>
              <a:defRPr/>
            </a:pPr>
            <a:fld id="{3FF2C605-4958-CF43-AA48-80339EFDB0AF}" type="slidenum">
              <a:rPr lang="en-US" smtClean="0"/>
              <a:pPr>
                <a:defRPr/>
              </a:pPr>
              <a:t>15</a:t>
            </a:fld>
            <a:endParaRPr lang="en-US"/>
          </a:p>
        </p:txBody>
      </p:sp>
    </p:spTree>
    <p:extLst>
      <p:ext uri="{BB962C8B-B14F-4D97-AF65-F5344CB8AC3E}">
        <p14:creationId xmlns:p14="http://schemas.microsoft.com/office/powerpoint/2010/main" val="16905727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9658B-33B9-E822-6E99-661B220ED172}"/>
              </a:ext>
            </a:extLst>
          </p:cNvPr>
          <p:cNvSpPr>
            <a:spLocks noGrp="1"/>
          </p:cNvSpPr>
          <p:nvPr>
            <p:ph type="title"/>
          </p:nvPr>
        </p:nvSpPr>
        <p:spPr/>
        <p:txBody>
          <a:bodyPr/>
          <a:lstStyle/>
          <a:p>
            <a:r>
              <a:rPr lang="en-US" dirty="0"/>
              <a:t>Fuel Performance Concerns</a:t>
            </a:r>
          </a:p>
        </p:txBody>
      </p:sp>
      <p:sp>
        <p:nvSpPr>
          <p:cNvPr id="3" name="Content Placeholder 2">
            <a:extLst>
              <a:ext uri="{FF2B5EF4-FFF2-40B4-BE49-F238E27FC236}">
                <a16:creationId xmlns:a16="http://schemas.microsoft.com/office/drawing/2014/main" id="{A555A769-8950-755F-FC45-CF5CE864CC75}"/>
              </a:ext>
            </a:extLst>
          </p:cNvPr>
          <p:cNvSpPr>
            <a:spLocks noGrp="1"/>
          </p:cNvSpPr>
          <p:nvPr>
            <p:ph idx="1"/>
          </p:nvPr>
        </p:nvSpPr>
        <p:spPr>
          <a:xfrm>
            <a:off x="609600" y="1968501"/>
            <a:ext cx="10972800" cy="4157664"/>
          </a:xfrm>
        </p:spPr>
        <p:txBody>
          <a:bodyPr/>
          <a:lstStyle/>
          <a:p>
            <a:r>
              <a:rPr lang="en-US" sz="2200" dirty="0"/>
              <a:t>CRUD deposition on the cladding surface can reduce heat transfer, increasing fuel temperatures, which also increases oxidation rates</a:t>
            </a:r>
          </a:p>
          <a:p>
            <a:r>
              <a:rPr lang="en-US" sz="2200" dirty="0"/>
              <a:t>Addition of Zn and noble metals can increase the adherence of CRUD deposits on the cladding</a:t>
            </a:r>
          </a:p>
          <a:p>
            <a:r>
              <a:rPr lang="en-US" sz="2200" dirty="0"/>
              <a:t>Zn/noble metals also can cause a failure/cracking of the oxide layer, promoting further corrosion</a:t>
            </a:r>
          </a:p>
          <a:p>
            <a:r>
              <a:rPr lang="en-US" sz="2200" dirty="0"/>
              <a:t>There are concentration limits on Zn and noble metals to limit CRUD formation</a:t>
            </a:r>
          </a:p>
          <a:p>
            <a:r>
              <a:rPr lang="en-US" sz="2200" dirty="0"/>
              <a:t>In PWRs, CRUD-induced power shifts (CRIPs/CIPS) can occur by trapping boron in the CRUD, changing the power distribution</a:t>
            </a:r>
          </a:p>
          <a:p>
            <a:r>
              <a:rPr lang="en-US" sz="2200" dirty="0"/>
              <a:t>CRUD-related failures have been eliminated since about 2005</a:t>
            </a:r>
          </a:p>
        </p:txBody>
      </p:sp>
      <p:sp>
        <p:nvSpPr>
          <p:cNvPr id="4" name="Slide Number Placeholder 3">
            <a:extLst>
              <a:ext uri="{FF2B5EF4-FFF2-40B4-BE49-F238E27FC236}">
                <a16:creationId xmlns:a16="http://schemas.microsoft.com/office/drawing/2014/main" id="{DEE5DD47-C1C0-3C20-896F-35F39A343017}"/>
              </a:ext>
            </a:extLst>
          </p:cNvPr>
          <p:cNvSpPr>
            <a:spLocks noGrp="1"/>
          </p:cNvSpPr>
          <p:nvPr>
            <p:ph type="sldNum" sz="quarter" idx="12"/>
          </p:nvPr>
        </p:nvSpPr>
        <p:spPr/>
        <p:txBody>
          <a:bodyPr/>
          <a:lstStyle/>
          <a:p>
            <a:pPr>
              <a:defRPr/>
            </a:pPr>
            <a:fld id="{3FF2C605-4958-CF43-AA48-80339EFDB0AF}" type="slidenum">
              <a:rPr lang="en-US" smtClean="0"/>
              <a:pPr>
                <a:defRPr/>
              </a:pPr>
              <a:t>16</a:t>
            </a:fld>
            <a:endParaRPr lang="en-US"/>
          </a:p>
        </p:txBody>
      </p:sp>
    </p:spTree>
    <p:extLst>
      <p:ext uri="{BB962C8B-B14F-4D97-AF65-F5344CB8AC3E}">
        <p14:creationId xmlns:p14="http://schemas.microsoft.com/office/powerpoint/2010/main" val="9473502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72ED49-9229-774F-532E-A2198BDEE4C1}"/>
              </a:ext>
            </a:extLst>
          </p:cNvPr>
          <p:cNvSpPr>
            <a:spLocks noGrp="1"/>
          </p:cNvSpPr>
          <p:nvPr>
            <p:ph type="title"/>
          </p:nvPr>
        </p:nvSpPr>
        <p:spPr/>
        <p:txBody>
          <a:bodyPr/>
          <a:lstStyle/>
          <a:p>
            <a:r>
              <a:rPr lang="en-US" dirty="0"/>
              <a:t>Key Themes Over Time</a:t>
            </a:r>
          </a:p>
        </p:txBody>
      </p:sp>
      <p:sp>
        <p:nvSpPr>
          <p:cNvPr id="3" name="Content Placeholder 2">
            <a:extLst>
              <a:ext uri="{FF2B5EF4-FFF2-40B4-BE49-F238E27FC236}">
                <a16:creationId xmlns:a16="http://schemas.microsoft.com/office/drawing/2014/main" id="{98408B1D-0F92-E112-393A-469F6BD69ECB}"/>
              </a:ext>
            </a:extLst>
          </p:cNvPr>
          <p:cNvSpPr>
            <a:spLocks noGrp="1"/>
          </p:cNvSpPr>
          <p:nvPr>
            <p:ph idx="1"/>
          </p:nvPr>
        </p:nvSpPr>
        <p:spPr/>
        <p:txBody>
          <a:bodyPr>
            <a:noAutofit/>
          </a:bodyPr>
          <a:lstStyle/>
          <a:p>
            <a:pPr defTabSz="914400"/>
            <a:r>
              <a:rPr lang="en-US" altLang="en-US" sz="2100" dirty="0">
                <a:solidFill>
                  <a:srgbClr val="000000"/>
                </a:solidFill>
                <a:latin typeface="Arial" panose="020B0604020202020204" pitchFamily="34" charset="0"/>
              </a:rPr>
              <a:t>Increasing Chemical Precision</a:t>
            </a:r>
          </a:p>
          <a:p>
            <a:pPr lvl="1" defTabSz="914400"/>
            <a:r>
              <a:rPr lang="en-US" altLang="en-US" sz="2100" dirty="0">
                <a:solidFill>
                  <a:srgbClr val="000000"/>
                </a:solidFill>
                <a:latin typeface="Arial" panose="020B0604020202020204" pitchFamily="34" charset="0"/>
              </a:rPr>
              <a:t>From simple purity control to tightly optimized ppm/ppb-level adjustments</a:t>
            </a:r>
          </a:p>
          <a:p>
            <a:pPr defTabSz="914400"/>
            <a:r>
              <a:rPr lang="en-US" altLang="en-US" sz="2100" dirty="0">
                <a:solidFill>
                  <a:srgbClr val="000000"/>
                </a:solidFill>
                <a:latin typeface="Arial" panose="020B0604020202020204" pitchFamily="34" charset="0"/>
              </a:rPr>
              <a:t>Shift from Reactive to Predictive</a:t>
            </a:r>
          </a:p>
          <a:p>
            <a:pPr lvl="1" defTabSz="914400"/>
            <a:r>
              <a:rPr lang="en-US" altLang="en-US" sz="2100" dirty="0">
                <a:solidFill>
                  <a:srgbClr val="000000"/>
                </a:solidFill>
                <a:latin typeface="Arial" panose="020B0604020202020204" pitchFamily="34" charset="0"/>
              </a:rPr>
              <a:t>Early chemistry responded to problems; modern chemistry anticipates them via modeling</a:t>
            </a:r>
          </a:p>
          <a:p>
            <a:pPr defTabSz="914400"/>
            <a:r>
              <a:rPr lang="en-US" altLang="en-US" sz="2100" dirty="0">
                <a:solidFill>
                  <a:srgbClr val="000000"/>
                </a:solidFill>
                <a:latin typeface="Arial" panose="020B0604020202020204" pitchFamily="34" charset="0"/>
              </a:rPr>
              <a:t>Tradeoff Management</a:t>
            </a:r>
          </a:p>
          <a:p>
            <a:pPr lvl="1" defTabSz="914400"/>
            <a:r>
              <a:rPr lang="en-US" altLang="en-US" sz="2100" dirty="0">
                <a:solidFill>
                  <a:srgbClr val="000000"/>
                </a:solidFill>
                <a:latin typeface="Arial" panose="020B0604020202020204" pitchFamily="34" charset="0"/>
              </a:rPr>
              <a:t>Every chemistry choice affects multiple outcomes:</a:t>
            </a:r>
            <a:endParaRPr lang="en-US" altLang="en-US" sz="2100" dirty="0"/>
          </a:p>
          <a:p>
            <a:pPr lvl="2" defTabSz="914400"/>
            <a:r>
              <a:rPr lang="en-US" altLang="en-US" sz="2100" dirty="0">
                <a:solidFill>
                  <a:srgbClr val="000000"/>
                </a:solidFill>
                <a:latin typeface="Arial" panose="020B0604020202020204" pitchFamily="34" charset="0"/>
              </a:rPr>
              <a:t>Higher pH leads to less corrosion, but possible fuel issues</a:t>
            </a:r>
          </a:p>
          <a:p>
            <a:pPr lvl="2" defTabSz="914400"/>
            <a:r>
              <a:rPr lang="en-US" altLang="en-US" sz="2100" dirty="0">
                <a:solidFill>
                  <a:srgbClr val="000000"/>
                </a:solidFill>
                <a:latin typeface="Arial" panose="020B0604020202020204" pitchFamily="34" charset="0"/>
              </a:rPr>
              <a:t>Hydrogen injection → less SCC, but higher dose rates (BWRs)</a:t>
            </a:r>
          </a:p>
          <a:p>
            <a:pPr defTabSz="914400"/>
            <a:r>
              <a:rPr lang="en-US" altLang="en-US" sz="2100" dirty="0">
                <a:solidFill>
                  <a:srgbClr val="000000"/>
                </a:solidFill>
                <a:latin typeface="Arial" panose="020B0604020202020204" pitchFamily="34" charset="0"/>
              </a:rPr>
              <a:t>Materials–Chemistry Coupling</a:t>
            </a:r>
          </a:p>
          <a:p>
            <a:pPr lvl="1" defTabSz="914400"/>
            <a:r>
              <a:rPr lang="en-US" altLang="en-US" sz="2100" dirty="0">
                <a:solidFill>
                  <a:srgbClr val="000000"/>
                </a:solidFill>
                <a:latin typeface="Arial" panose="020B0604020202020204" pitchFamily="34" charset="0"/>
              </a:rPr>
              <a:t>Water chemistry evolution closely tracks:</a:t>
            </a:r>
            <a:endParaRPr lang="en-US" altLang="en-US" sz="2100" dirty="0"/>
          </a:p>
          <a:p>
            <a:pPr lvl="2" defTabSz="914400"/>
            <a:r>
              <a:rPr lang="en-US" altLang="en-US" sz="2100" dirty="0">
                <a:solidFill>
                  <a:srgbClr val="000000"/>
                </a:solidFill>
                <a:latin typeface="Arial" panose="020B0604020202020204" pitchFamily="34" charset="0"/>
              </a:rPr>
              <a:t>Alloy development (e.g., Inconel, stainless steels, Zircaloy)</a:t>
            </a:r>
          </a:p>
          <a:p>
            <a:pPr lvl="2" defTabSz="914400"/>
            <a:r>
              <a:rPr lang="en-US" altLang="en-US" sz="2100" dirty="0">
                <a:solidFill>
                  <a:srgbClr val="000000"/>
                </a:solidFill>
                <a:latin typeface="Arial" panose="020B0604020202020204" pitchFamily="34" charset="0"/>
              </a:rPr>
              <a:t>Fuel design changes (higher burnup, different claddings)</a:t>
            </a:r>
          </a:p>
          <a:p>
            <a:endParaRPr lang="en-US" sz="2100" dirty="0"/>
          </a:p>
        </p:txBody>
      </p:sp>
      <p:sp>
        <p:nvSpPr>
          <p:cNvPr id="4" name="Slide Number Placeholder 3">
            <a:extLst>
              <a:ext uri="{FF2B5EF4-FFF2-40B4-BE49-F238E27FC236}">
                <a16:creationId xmlns:a16="http://schemas.microsoft.com/office/drawing/2014/main" id="{685EBD2F-262E-2772-288A-F16C4C351441}"/>
              </a:ext>
            </a:extLst>
          </p:cNvPr>
          <p:cNvSpPr>
            <a:spLocks noGrp="1"/>
          </p:cNvSpPr>
          <p:nvPr>
            <p:ph type="sldNum" sz="quarter" idx="12"/>
          </p:nvPr>
        </p:nvSpPr>
        <p:spPr/>
        <p:txBody>
          <a:bodyPr/>
          <a:lstStyle/>
          <a:p>
            <a:pPr>
              <a:defRPr/>
            </a:pPr>
            <a:fld id="{3FF2C605-4958-CF43-AA48-80339EFDB0AF}" type="slidenum">
              <a:rPr lang="en-US" smtClean="0"/>
              <a:pPr>
                <a:defRPr/>
              </a:pPr>
              <a:t>17</a:t>
            </a:fld>
            <a:endParaRPr lang="en-US"/>
          </a:p>
        </p:txBody>
      </p:sp>
    </p:spTree>
    <p:extLst>
      <p:ext uri="{BB962C8B-B14F-4D97-AF65-F5344CB8AC3E}">
        <p14:creationId xmlns:p14="http://schemas.microsoft.com/office/powerpoint/2010/main" val="22193246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94E803-125B-E348-B0C9-85977B7214E8}"/>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DF19A972-2863-5A46-B96A-18CA22718CD8}"/>
              </a:ext>
            </a:extLst>
          </p:cNvPr>
          <p:cNvSpPr>
            <a:spLocks noGrp="1"/>
          </p:cNvSpPr>
          <p:nvPr>
            <p:ph idx="1"/>
          </p:nvPr>
        </p:nvSpPr>
        <p:spPr/>
        <p:txBody>
          <a:bodyPr/>
          <a:lstStyle/>
          <a:p>
            <a:r>
              <a:rPr lang="en-US" dirty="0"/>
              <a:t>Primary system water chemistry affects fuel performance through the deposition of corrosion products on fuel pin surfaces</a:t>
            </a:r>
          </a:p>
          <a:p>
            <a:r>
              <a:rPr lang="en-US" dirty="0"/>
              <a:t>Control measures such as dissolved H2 and balancing </a:t>
            </a:r>
            <a:r>
              <a:rPr lang="en-US" dirty="0" err="1"/>
              <a:t>LiOH</a:t>
            </a:r>
            <a:r>
              <a:rPr lang="en-US" dirty="0"/>
              <a:t> to boron content are utilized to control the pH</a:t>
            </a:r>
          </a:p>
          <a:p>
            <a:r>
              <a:rPr lang="en-US" dirty="0"/>
              <a:t>Zinc injection is utilized to control radiation fields</a:t>
            </a:r>
          </a:p>
          <a:p>
            <a:r>
              <a:rPr lang="en-US" dirty="0"/>
              <a:t>CRUD can cause failures or CRIPs, affecting the performance of the fuel</a:t>
            </a:r>
          </a:p>
          <a:p>
            <a:r>
              <a:rPr lang="en-US" dirty="0"/>
              <a:t>Water chemistry is an evolving balancing act between corrosion of the core internals, radiation fields, CRUD development, pH, and reactivity</a:t>
            </a:r>
          </a:p>
        </p:txBody>
      </p:sp>
      <p:sp>
        <p:nvSpPr>
          <p:cNvPr id="4" name="Slide Number Placeholder 3">
            <a:extLst>
              <a:ext uri="{FF2B5EF4-FFF2-40B4-BE49-F238E27FC236}">
                <a16:creationId xmlns:a16="http://schemas.microsoft.com/office/drawing/2014/main" id="{55CA28B6-0FE4-1743-B12F-A0D6C68DB76F}"/>
              </a:ext>
            </a:extLst>
          </p:cNvPr>
          <p:cNvSpPr>
            <a:spLocks noGrp="1"/>
          </p:cNvSpPr>
          <p:nvPr>
            <p:ph type="sldNum" sz="quarter" idx="12"/>
          </p:nvPr>
        </p:nvSpPr>
        <p:spPr/>
        <p:txBody>
          <a:bodyPr/>
          <a:lstStyle/>
          <a:p>
            <a:pPr>
              <a:defRPr/>
            </a:pPr>
            <a:fld id="{3FF2C605-4958-CF43-AA48-80339EFDB0AF}" type="slidenum">
              <a:rPr lang="en-US" smtClean="0"/>
              <a:pPr>
                <a:defRPr/>
              </a:pPr>
              <a:t>18</a:t>
            </a:fld>
            <a:endParaRPr lang="en-US"/>
          </a:p>
        </p:txBody>
      </p:sp>
    </p:spTree>
    <p:extLst>
      <p:ext uri="{BB962C8B-B14F-4D97-AF65-F5344CB8AC3E}">
        <p14:creationId xmlns:p14="http://schemas.microsoft.com/office/powerpoint/2010/main" val="3385080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29CC1-34E4-A34F-8621-801D8886CE7C}"/>
              </a:ext>
            </a:extLst>
          </p:cNvPr>
          <p:cNvSpPr>
            <a:spLocks noGrp="1"/>
          </p:cNvSpPr>
          <p:nvPr>
            <p:ph type="title"/>
          </p:nvPr>
        </p:nvSpPr>
        <p:spPr>
          <a:xfrm>
            <a:off x="963084" y="1234721"/>
            <a:ext cx="10363200" cy="1362075"/>
          </a:xfrm>
        </p:spPr>
        <p:txBody>
          <a:bodyPr/>
          <a:lstStyle/>
          <a:p>
            <a:r>
              <a:rPr lang="en-US" dirty="0"/>
              <a:t>Mixed oxide (MOX) fuels</a:t>
            </a:r>
          </a:p>
        </p:txBody>
      </p:sp>
      <p:sp>
        <p:nvSpPr>
          <p:cNvPr id="4" name="Slide Number Placeholder 3">
            <a:extLst>
              <a:ext uri="{FF2B5EF4-FFF2-40B4-BE49-F238E27FC236}">
                <a16:creationId xmlns:a16="http://schemas.microsoft.com/office/drawing/2014/main" id="{2BFF06B0-02C9-F34D-82A4-D2D5BBAF6842}"/>
              </a:ext>
            </a:extLst>
          </p:cNvPr>
          <p:cNvSpPr>
            <a:spLocks noGrp="1"/>
          </p:cNvSpPr>
          <p:nvPr>
            <p:ph type="sldNum" sz="quarter" idx="12"/>
          </p:nvPr>
        </p:nvSpPr>
        <p:spPr/>
        <p:txBody>
          <a:bodyPr/>
          <a:lstStyle/>
          <a:p>
            <a:pPr>
              <a:defRPr/>
            </a:pPr>
            <a:fld id="{0DA6BD0F-ABBC-C14D-BC96-77BE126A748B}" type="slidenum">
              <a:rPr lang="en-US" smtClean="0"/>
              <a:pPr>
                <a:defRPr/>
              </a:pPr>
              <a:t>19</a:t>
            </a:fld>
            <a:endParaRPr lang="en-US"/>
          </a:p>
        </p:txBody>
      </p:sp>
    </p:spTree>
    <p:extLst>
      <p:ext uri="{BB962C8B-B14F-4D97-AF65-F5344CB8AC3E}">
        <p14:creationId xmlns:p14="http://schemas.microsoft.com/office/powerpoint/2010/main" val="286032411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0DD18-4F2E-A146-8EF0-3C72A8EBF496}"/>
              </a:ext>
            </a:extLst>
          </p:cNvPr>
          <p:cNvSpPr>
            <a:spLocks noGrp="1"/>
          </p:cNvSpPr>
          <p:nvPr>
            <p:ph type="title"/>
          </p:nvPr>
        </p:nvSpPr>
        <p:spPr/>
        <p:txBody>
          <a:bodyPr/>
          <a:lstStyle/>
          <a:p>
            <a:r>
              <a:rPr lang="en-US" dirty="0"/>
              <a:t>Why MOX?</a:t>
            </a:r>
          </a:p>
        </p:txBody>
      </p:sp>
      <p:sp>
        <p:nvSpPr>
          <p:cNvPr id="3" name="Content Placeholder 2">
            <a:extLst>
              <a:ext uri="{FF2B5EF4-FFF2-40B4-BE49-F238E27FC236}">
                <a16:creationId xmlns:a16="http://schemas.microsoft.com/office/drawing/2014/main" id="{6A1A7F89-9DAD-8E47-ACCD-CE027EA50B54}"/>
              </a:ext>
            </a:extLst>
          </p:cNvPr>
          <p:cNvSpPr>
            <a:spLocks noGrp="1"/>
          </p:cNvSpPr>
          <p:nvPr>
            <p:ph idx="1"/>
          </p:nvPr>
        </p:nvSpPr>
        <p:spPr>
          <a:xfrm>
            <a:off x="609600" y="2160495"/>
            <a:ext cx="6109252" cy="3965670"/>
          </a:xfrm>
        </p:spPr>
        <p:txBody>
          <a:bodyPr/>
          <a:lstStyle/>
          <a:p>
            <a:r>
              <a:rPr lang="en-US" sz="2000" dirty="0"/>
              <a:t>The first fast breeder reactors built in the 1950s used metallic fuel (plutonium and uranium), as metals offer the highest heavy metal density and therefore the highest breeding ratio</a:t>
            </a:r>
          </a:p>
          <a:p>
            <a:r>
              <a:rPr lang="en-US" sz="2000" dirty="0"/>
              <a:t>Because of dimensional instability due to swelling and growth, metal fuels couldn’t achieve high burnup</a:t>
            </a:r>
          </a:p>
          <a:p>
            <a:r>
              <a:rPr lang="en-US" sz="2000" dirty="0"/>
              <a:t>By the 1960s, mixed uranium and plutonium oxide (</a:t>
            </a:r>
            <a:r>
              <a:rPr lang="en-US" sz="2000" dirty="0" err="1"/>
              <a:t>U,Pu</a:t>
            </a:r>
            <a:r>
              <a:rPr lang="en-US" sz="2000" dirty="0"/>
              <a:t>)O2=MOX was known to be highly radiation tolerant and began to be considered as a reference fuel for fast reactors</a:t>
            </a:r>
          </a:p>
          <a:p>
            <a:endParaRPr lang="en-US" sz="2000" dirty="0"/>
          </a:p>
        </p:txBody>
      </p:sp>
      <p:sp>
        <p:nvSpPr>
          <p:cNvPr id="4" name="Slide Number Placeholder 3">
            <a:extLst>
              <a:ext uri="{FF2B5EF4-FFF2-40B4-BE49-F238E27FC236}">
                <a16:creationId xmlns:a16="http://schemas.microsoft.com/office/drawing/2014/main" id="{F6C9D5C9-C143-C54E-8198-74512773E92E}"/>
              </a:ext>
            </a:extLst>
          </p:cNvPr>
          <p:cNvSpPr>
            <a:spLocks noGrp="1"/>
          </p:cNvSpPr>
          <p:nvPr>
            <p:ph type="sldNum" sz="quarter" idx="12"/>
          </p:nvPr>
        </p:nvSpPr>
        <p:spPr/>
        <p:txBody>
          <a:bodyPr/>
          <a:lstStyle/>
          <a:p>
            <a:pPr>
              <a:defRPr/>
            </a:pPr>
            <a:fld id="{3FF2C605-4958-CF43-AA48-80339EFDB0AF}" type="slidenum">
              <a:rPr lang="en-US" smtClean="0"/>
              <a:pPr>
                <a:defRPr/>
              </a:pPr>
              <a:t>20</a:t>
            </a:fld>
            <a:endParaRPr lang="en-US"/>
          </a:p>
        </p:txBody>
      </p:sp>
      <p:pic>
        <p:nvPicPr>
          <p:cNvPr id="1026" name="Picture 2" descr="Uranium dioxide - Wikipedia">
            <a:extLst>
              <a:ext uri="{FF2B5EF4-FFF2-40B4-BE49-F238E27FC236}">
                <a16:creationId xmlns:a16="http://schemas.microsoft.com/office/drawing/2014/main" id="{7F746083-8293-0142-8CB9-CD3598C8FB2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42472" y="776756"/>
            <a:ext cx="3058319" cy="2767477"/>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27: A fragment of the U-Pu-O phase diagram, with the bi-phasic MO 2+x +...  | Download Scientific Diagram">
            <a:extLst>
              <a:ext uri="{FF2B5EF4-FFF2-40B4-BE49-F238E27FC236}">
                <a16:creationId xmlns:a16="http://schemas.microsoft.com/office/drawing/2014/main" id="{8B14696A-6336-B54B-979F-2548EC69E2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06478" y="3632149"/>
            <a:ext cx="5009874" cy="28408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763193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308B5B-C3C6-0046-A7FC-AC7B4BC52204}"/>
              </a:ext>
            </a:extLst>
          </p:cNvPr>
          <p:cNvSpPr>
            <a:spLocks noGrp="1"/>
          </p:cNvSpPr>
          <p:nvPr>
            <p:ph type="title"/>
          </p:nvPr>
        </p:nvSpPr>
        <p:spPr/>
        <p:txBody>
          <a:bodyPr/>
          <a:lstStyle/>
          <a:p>
            <a:r>
              <a:rPr lang="en-US" dirty="0"/>
              <a:t>Mixed Oxides</a:t>
            </a:r>
          </a:p>
        </p:txBody>
      </p:sp>
      <p:sp>
        <p:nvSpPr>
          <p:cNvPr id="3" name="Content Placeholder 2">
            <a:extLst>
              <a:ext uri="{FF2B5EF4-FFF2-40B4-BE49-F238E27FC236}">
                <a16:creationId xmlns:a16="http://schemas.microsoft.com/office/drawing/2014/main" id="{EBC0CE87-399D-1641-BB35-A0279B0AE612}"/>
              </a:ext>
            </a:extLst>
          </p:cNvPr>
          <p:cNvSpPr>
            <a:spLocks noGrp="1"/>
          </p:cNvSpPr>
          <p:nvPr>
            <p:ph idx="1"/>
          </p:nvPr>
        </p:nvSpPr>
        <p:spPr>
          <a:xfrm>
            <a:off x="609601" y="2160495"/>
            <a:ext cx="5721625" cy="3965670"/>
          </a:xfrm>
        </p:spPr>
        <p:txBody>
          <a:bodyPr/>
          <a:lstStyle/>
          <a:p>
            <a:r>
              <a:rPr lang="en-US" sz="2000" dirty="0"/>
              <a:t>MOX fuel allows to burn excess weapons grade plutonium</a:t>
            </a:r>
          </a:p>
          <a:p>
            <a:r>
              <a:rPr lang="en-US" sz="2000" dirty="0"/>
              <a:t>About 30 LWRs in Europe currently utilize a partial MOX core</a:t>
            </a:r>
          </a:p>
          <a:p>
            <a:r>
              <a:rPr lang="en-US" sz="2000" dirty="0"/>
              <a:t>Similar behavior to UO2, but different neutronics, fission gas release, thermal conductivity, etc.</a:t>
            </a:r>
          </a:p>
          <a:p>
            <a:r>
              <a:rPr lang="en-US" sz="2000" dirty="0"/>
              <a:t>Less common is inclusion of minor actinides in MOX to burn waste</a:t>
            </a:r>
          </a:p>
          <a:p>
            <a:r>
              <a:rPr lang="en-US" sz="2000" dirty="0"/>
              <a:t>Can also serve as a breeder</a:t>
            </a:r>
          </a:p>
          <a:p>
            <a:r>
              <a:rPr lang="en-US" sz="2000" dirty="0"/>
              <a:t>Also a fuel concept for SFRs</a:t>
            </a:r>
          </a:p>
          <a:p>
            <a:endParaRPr lang="en-US" sz="2000" dirty="0"/>
          </a:p>
        </p:txBody>
      </p:sp>
      <p:sp>
        <p:nvSpPr>
          <p:cNvPr id="4" name="Slide Number Placeholder 3">
            <a:extLst>
              <a:ext uri="{FF2B5EF4-FFF2-40B4-BE49-F238E27FC236}">
                <a16:creationId xmlns:a16="http://schemas.microsoft.com/office/drawing/2014/main" id="{A3E645FF-8447-7742-9B0B-E489B4B6C19A}"/>
              </a:ext>
            </a:extLst>
          </p:cNvPr>
          <p:cNvSpPr>
            <a:spLocks noGrp="1"/>
          </p:cNvSpPr>
          <p:nvPr>
            <p:ph type="sldNum" sz="quarter" idx="12"/>
          </p:nvPr>
        </p:nvSpPr>
        <p:spPr/>
        <p:txBody>
          <a:bodyPr/>
          <a:lstStyle/>
          <a:p>
            <a:pPr>
              <a:defRPr/>
            </a:pPr>
            <a:fld id="{3FF2C605-4958-CF43-AA48-80339EFDB0AF}" type="slidenum">
              <a:rPr lang="en-US" smtClean="0"/>
              <a:pPr>
                <a:defRPr/>
              </a:pPr>
              <a:t>21</a:t>
            </a:fld>
            <a:endParaRPr lang="en-US" dirty="0"/>
          </a:p>
        </p:txBody>
      </p:sp>
      <p:pic>
        <p:nvPicPr>
          <p:cNvPr id="6" name="Picture 5">
            <a:extLst>
              <a:ext uri="{FF2B5EF4-FFF2-40B4-BE49-F238E27FC236}">
                <a16:creationId xmlns:a16="http://schemas.microsoft.com/office/drawing/2014/main" id="{CC4DE424-C2E4-3744-8F0D-5F70CC36A2CD}"/>
              </a:ext>
            </a:extLst>
          </p:cNvPr>
          <p:cNvPicPr>
            <a:picLocks noChangeAspect="1"/>
          </p:cNvPicPr>
          <p:nvPr/>
        </p:nvPicPr>
        <p:blipFill>
          <a:blip r:embed="rId2"/>
          <a:stretch>
            <a:fillRect/>
          </a:stretch>
        </p:blipFill>
        <p:spPr>
          <a:xfrm>
            <a:off x="6331226" y="1800740"/>
            <a:ext cx="5553507" cy="4555611"/>
          </a:xfrm>
          <a:prstGeom prst="rect">
            <a:avLst/>
          </a:prstGeom>
        </p:spPr>
      </p:pic>
    </p:spTree>
    <p:extLst>
      <p:ext uri="{BB962C8B-B14F-4D97-AF65-F5344CB8AC3E}">
        <p14:creationId xmlns:p14="http://schemas.microsoft.com/office/powerpoint/2010/main" val="19914880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60DCAE-14DB-2B48-8B3D-B6DAA1827465}"/>
              </a:ext>
            </a:extLst>
          </p:cNvPr>
          <p:cNvSpPr>
            <a:spLocks noGrp="1"/>
          </p:cNvSpPr>
          <p:nvPr>
            <p:ph type="title"/>
          </p:nvPr>
        </p:nvSpPr>
        <p:spPr/>
        <p:txBody>
          <a:bodyPr/>
          <a:lstStyle/>
          <a:p>
            <a:r>
              <a:rPr lang="en-US" dirty="0"/>
              <a:t>MOX Designs</a:t>
            </a:r>
          </a:p>
        </p:txBody>
      </p:sp>
      <p:sp>
        <p:nvSpPr>
          <p:cNvPr id="3" name="Content Placeholder 2">
            <a:extLst>
              <a:ext uri="{FF2B5EF4-FFF2-40B4-BE49-F238E27FC236}">
                <a16:creationId xmlns:a16="http://schemas.microsoft.com/office/drawing/2014/main" id="{AD192575-0962-C845-8F0E-046BA845867F}"/>
              </a:ext>
            </a:extLst>
          </p:cNvPr>
          <p:cNvSpPr>
            <a:spLocks noGrp="1"/>
          </p:cNvSpPr>
          <p:nvPr>
            <p:ph idx="1"/>
          </p:nvPr>
        </p:nvSpPr>
        <p:spPr/>
        <p:txBody>
          <a:bodyPr/>
          <a:lstStyle/>
          <a:p>
            <a:r>
              <a:rPr lang="en-US" sz="2000" dirty="0"/>
              <a:t>The fuel pin is a long cylinder (2–3m long, 5–10mm diameter), clad in a steel tube (0.4–0.6mm thick) closed in both ends by welded plugs, preventing direct contact between the radioactive material and the sodium coolant (or water coolant, in LWR concepts)</a:t>
            </a:r>
          </a:p>
          <a:p>
            <a:r>
              <a:rPr lang="en-US" sz="2000" dirty="0"/>
              <a:t>The oxide fissile column (~1 m long) consists of a stack of conventionally pressed and sintered pellets with an outer diameter slightly smaller than the inner diameter of the clad, providing a gap ~100 micron gap</a:t>
            </a:r>
          </a:p>
          <a:p>
            <a:r>
              <a:rPr lang="en-US" sz="2000" dirty="0"/>
              <a:t>Both full pellets and annular pellets have been used</a:t>
            </a:r>
          </a:p>
          <a:p>
            <a:r>
              <a:rPr lang="en-US" sz="2000" dirty="0"/>
              <a:t>A He gap with a pressure ~1 atm is used</a:t>
            </a:r>
          </a:p>
          <a:p>
            <a:r>
              <a:rPr lang="en-US" sz="2000" dirty="0"/>
              <a:t>Fuel pins of fast reactors are designed to operate at a high linear heat generation rate: between 400 and 500 W/cm, about 2x-3x higher than standard linear power in light water reactors (LWRs)</a:t>
            </a:r>
          </a:p>
          <a:p>
            <a:endParaRPr lang="en-US" sz="2000" dirty="0"/>
          </a:p>
          <a:p>
            <a:endParaRPr lang="en-US" sz="2000" dirty="0"/>
          </a:p>
        </p:txBody>
      </p:sp>
      <p:sp>
        <p:nvSpPr>
          <p:cNvPr id="4" name="Slide Number Placeholder 3">
            <a:extLst>
              <a:ext uri="{FF2B5EF4-FFF2-40B4-BE49-F238E27FC236}">
                <a16:creationId xmlns:a16="http://schemas.microsoft.com/office/drawing/2014/main" id="{D8C73ED7-9750-7F47-8188-F1A42F8CE67D}"/>
              </a:ext>
            </a:extLst>
          </p:cNvPr>
          <p:cNvSpPr>
            <a:spLocks noGrp="1"/>
          </p:cNvSpPr>
          <p:nvPr>
            <p:ph type="sldNum" sz="quarter" idx="12"/>
          </p:nvPr>
        </p:nvSpPr>
        <p:spPr/>
        <p:txBody>
          <a:bodyPr/>
          <a:lstStyle/>
          <a:p>
            <a:pPr>
              <a:defRPr/>
            </a:pPr>
            <a:fld id="{3FF2C605-4958-CF43-AA48-80339EFDB0AF}" type="slidenum">
              <a:rPr lang="en-US" smtClean="0"/>
              <a:pPr>
                <a:defRPr/>
              </a:pPr>
              <a:t>22</a:t>
            </a:fld>
            <a:endParaRPr lang="en-US"/>
          </a:p>
        </p:txBody>
      </p:sp>
    </p:spTree>
    <p:extLst>
      <p:ext uri="{BB962C8B-B14F-4D97-AF65-F5344CB8AC3E}">
        <p14:creationId xmlns:p14="http://schemas.microsoft.com/office/powerpoint/2010/main" val="6351359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805FF-1059-7A43-99FA-56CBBBC7480C}"/>
              </a:ext>
            </a:extLst>
          </p:cNvPr>
          <p:cNvSpPr>
            <a:spLocks noGrp="1"/>
          </p:cNvSpPr>
          <p:nvPr>
            <p:ph type="title"/>
          </p:nvPr>
        </p:nvSpPr>
        <p:spPr/>
        <p:txBody>
          <a:bodyPr/>
          <a:lstStyle/>
          <a:p>
            <a:r>
              <a:rPr lang="en-US" dirty="0"/>
              <a:t>MOX Fuel</a:t>
            </a:r>
          </a:p>
        </p:txBody>
      </p:sp>
      <p:sp>
        <p:nvSpPr>
          <p:cNvPr id="3" name="Content Placeholder 2">
            <a:extLst>
              <a:ext uri="{FF2B5EF4-FFF2-40B4-BE49-F238E27FC236}">
                <a16:creationId xmlns:a16="http://schemas.microsoft.com/office/drawing/2014/main" id="{F758C20A-4B5A-0C4C-88BE-DC90DFD9FB0E}"/>
              </a:ext>
            </a:extLst>
          </p:cNvPr>
          <p:cNvSpPr>
            <a:spLocks noGrp="1"/>
          </p:cNvSpPr>
          <p:nvPr>
            <p:ph idx="1"/>
          </p:nvPr>
        </p:nvSpPr>
        <p:spPr/>
        <p:txBody>
          <a:bodyPr/>
          <a:lstStyle/>
          <a:p>
            <a:r>
              <a:rPr lang="en-US" sz="2000" dirty="0"/>
              <a:t>As the fast reactor fuel pin diameters are generally smaller than classical rod diameters of LWRs, the power density and heat fluxes are much higher in SFRs than in LWRs</a:t>
            </a:r>
          </a:p>
          <a:p>
            <a:r>
              <a:rPr lang="en-US" sz="2000" dirty="0"/>
              <a:t>For example, in a Phenix fuel pin at 450 W/cm, the power density in the pellet reaches almost 2000 W/cc</a:t>
            </a:r>
          </a:p>
          <a:p>
            <a:r>
              <a:rPr lang="en-US" sz="2000" dirty="0"/>
              <a:t>Sodium enters the bottom part of the core at about 400 C and the average coolant temperature above the core is typically about 550 C</a:t>
            </a:r>
          </a:p>
          <a:p>
            <a:r>
              <a:rPr lang="en-US" sz="2000" dirty="0"/>
              <a:t>The neutron flux is very intense (~7x10</a:t>
            </a:r>
            <a:r>
              <a:rPr lang="en-US" sz="2000" baseline="30000" dirty="0"/>
              <a:t>15</a:t>
            </a:r>
            <a:r>
              <a:rPr lang="en-US" sz="2000" dirty="0"/>
              <a:t> n/cm</a:t>
            </a:r>
            <a:r>
              <a:rPr lang="en-US" sz="2000" baseline="30000" dirty="0"/>
              <a:t>2</a:t>
            </a:r>
            <a:r>
              <a:rPr lang="en-US" sz="2000" dirty="0"/>
              <a:t>/s in the core center) and the assembly materials suffer high damage, more than 100 dpa, at high burnup</a:t>
            </a:r>
          </a:p>
          <a:p>
            <a:r>
              <a:rPr lang="en-US" sz="2000" dirty="0"/>
              <a:t>Qualifying metallic materials able to withstand such high damage while keeping their shape and mechanical properties was/is one of the key challenges for fast reactors</a:t>
            </a:r>
          </a:p>
          <a:p>
            <a:r>
              <a:rPr lang="en-US" sz="2000" dirty="0"/>
              <a:t>In order to reduce fuel cycle costs, the main objective of oxide fuels R&amp;D for fast reactors has been to reach high burnup, typically around 150 </a:t>
            </a:r>
            <a:r>
              <a:rPr lang="en-US" sz="2000" dirty="0" err="1"/>
              <a:t>GWd</a:t>
            </a:r>
            <a:r>
              <a:rPr lang="en-US" sz="2000" dirty="0"/>
              <a:t>/ton, about twice the burnup achieved in LWRs</a:t>
            </a:r>
          </a:p>
          <a:p>
            <a:endParaRPr lang="en-US" sz="2000" dirty="0"/>
          </a:p>
          <a:p>
            <a:endParaRPr lang="en-US" sz="2000" dirty="0"/>
          </a:p>
          <a:p>
            <a:endParaRPr lang="en-US" sz="2000" dirty="0"/>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9EE9D9E6-514C-B44D-A33C-6991E66219A8}"/>
              </a:ext>
            </a:extLst>
          </p:cNvPr>
          <p:cNvSpPr>
            <a:spLocks noGrp="1"/>
          </p:cNvSpPr>
          <p:nvPr>
            <p:ph type="sldNum" sz="quarter" idx="12"/>
          </p:nvPr>
        </p:nvSpPr>
        <p:spPr/>
        <p:txBody>
          <a:bodyPr/>
          <a:lstStyle/>
          <a:p>
            <a:pPr>
              <a:defRPr/>
            </a:pPr>
            <a:fld id="{3FF2C605-4958-CF43-AA48-80339EFDB0AF}" type="slidenum">
              <a:rPr lang="en-US" smtClean="0"/>
              <a:pPr>
                <a:defRPr/>
              </a:pPr>
              <a:t>23</a:t>
            </a:fld>
            <a:endParaRPr lang="en-US"/>
          </a:p>
        </p:txBody>
      </p:sp>
    </p:spTree>
    <p:extLst>
      <p:ext uri="{BB962C8B-B14F-4D97-AF65-F5344CB8AC3E}">
        <p14:creationId xmlns:p14="http://schemas.microsoft.com/office/powerpoint/2010/main" val="35991192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46F75-1C11-77FF-5DBD-5B1D4E59B2E9}"/>
              </a:ext>
            </a:extLst>
          </p:cNvPr>
          <p:cNvSpPr>
            <a:spLocks noGrp="1"/>
          </p:cNvSpPr>
          <p:nvPr>
            <p:ph type="title"/>
          </p:nvPr>
        </p:nvSpPr>
        <p:spPr/>
        <p:txBody>
          <a:bodyPr/>
          <a:lstStyle/>
          <a:p>
            <a:r>
              <a:rPr lang="en-US" dirty="0"/>
              <a:t>UO2 to MOX Design Differences</a:t>
            </a:r>
          </a:p>
        </p:txBody>
      </p:sp>
      <p:sp>
        <p:nvSpPr>
          <p:cNvPr id="3" name="Content Placeholder 2">
            <a:extLst>
              <a:ext uri="{FF2B5EF4-FFF2-40B4-BE49-F238E27FC236}">
                <a16:creationId xmlns:a16="http://schemas.microsoft.com/office/drawing/2014/main" id="{854859AB-DA71-551A-DCDA-0B929A35CD4D}"/>
              </a:ext>
            </a:extLst>
          </p:cNvPr>
          <p:cNvSpPr>
            <a:spLocks noGrp="1"/>
          </p:cNvSpPr>
          <p:nvPr>
            <p:ph idx="1"/>
          </p:nvPr>
        </p:nvSpPr>
        <p:spPr/>
        <p:txBody>
          <a:bodyPr/>
          <a:lstStyle/>
          <a:p>
            <a:r>
              <a:rPr lang="en-US" dirty="0"/>
              <a:t>Shorter fuel column/rod in MOX</a:t>
            </a:r>
          </a:p>
          <a:p>
            <a:r>
              <a:rPr lang="en-US" dirty="0"/>
              <a:t>Smaller fuel diameter in MOX</a:t>
            </a:r>
          </a:p>
          <a:p>
            <a:r>
              <a:rPr lang="en-US" dirty="0"/>
              <a:t>Steel cladding vs. zircaloy cladding</a:t>
            </a:r>
          </a:p>
          <a:p>
            <a:r>
              <a:rPr lang="en-US" dirty="0"/>
              <a:t>Much higher heating rates in MOX</a:t>
            </a:r>
          </a:p>
          <a:p>
            <a:r>
              <a:rPr lang="en-US" dirty="0"/>
              <a:t>Larger gas plenum</a:t>
            </a:r>
          </a:p>
          <a:p>
            <a:r>
              <a:rPr lang="en-US" dirty="0"/>
              <a:t>Sodium coolant in SFRs</a:t>
            </a:r>
          </a:p>
          <a:p>
            <a:r>
              <a:rPr lang="en-US" dirty="0"/>
              <a:t>Extended burnup for MOX</a:t>
            </a:r>
          </a:p>
          <a:p>
            <a:r>
              <a:rPr lang="en-US" dirty="0"/>
              <a:t>Hexagonal packing of fuel pins</a:t>
            </a:r>
          </a:p>
          <a:p>
            <a:endParaRPr lang="en-US" dirty="0"/>
          </a:p>
        </p:txBody>
      </p:sp>
      <p:sp>
        <p:nvSpPr>
          <p:cNvPr id="4" name="Slide Number Placeholder 3">
            <a:extLst>
              <a:ext uri="{FF2B5EF4-FFF2-40B4-BE49-F238E27FC236}">
                <a16:creationId xmlns:a16="http://schemas.microsoft.com/office/drawing/2014/main" id="{8C07EF39-A4E7-AF65-987B-1F687A945F36}"/>
              </a:ext>
            </a:extLst>
          </p:cNvPr>
          <p:cNvSpPr>
            <a:spLocks noGrp="1"/>
          </p:cNvSpPr>
          <p:nvPr>
            <p:ph type="sldNum" sz="quarter" idx="12"/>
          </p:nvPr>
        </p:nvSpPr>
        <p:spPr/>
        <p:txBody>
          <a:bodyPr/>
          <a:lstStyle/>
          <a:p>
            <a:pPr>
              <a:defRPr/>
            </a:pPr>
            <a:fld id="{3FF2C605-4958-CF43-AA48-80339EFDB0AF}" type="slidenum">
              <a:rPr lang="en-US" smtClean="0"/>
              <a:pPr>
                <a:defRPr/>
              </a:pPr>
              <a:t>24</a:t>
            </a:fld>
            <a:endParaRPr lang="en-US"/>
          </a:p>
        </p:txBody>
      </p:sp>
      <p:pic>
        <p:nvPicPr>
          <p:cNvPr id="1026" name="Picture 2" descr="Horizontal and vertical views of an FFTF fuel assembly. | Download  Scientific Diagram">
            <a:extLst>
              <a:ext uri="{FF2B5EF4-FFF2-40B4-BE49-F238E27FC236}">
                <a16:creationId xmlns:a16="http://schemas.microsoft.com/office/drawing/2014/main" id="{63B194F1-8131-9A91-414A-0B14800503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987740" y="2198687"/>
            <a:ext cx="4139004" cy="263988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18ACDEE-AB77-ED44-16C0-147B569AD3D6}"/>
              </a:ext>
            </a:extLst>
          </p:cNvPr>
          <p:cNvSpPr txBox="1"/>
          <p:nvPr/>
        </p:nvSpPr>
        <p:spPr>
          <a:xfrm>
            <a:off x="7920681" y="5140411"/>
            <a:ext cx="2239319" cy="383059"/>
          </a:xfrm>
          <a:prstGeom prst="rect">
            <a:avLst/>
          </a:prstGeom>
          <a:noFill/>
        </p:spPr>
        <p:txBody>
          <a:bodyPr wrap="square" rtlCol="0">
            <a:spAutoFit/>
          </a:bodyPr>
          <a:lstStyle/>
          <a:p>
            <a:pPr algn="ctr"/>
            <a:r>
              <a:rPr lang="en-US" dirty="0"/>
              <a:t>FFTF Assembly</a:t>
            </a:r>
          </a:p>
        </p:txBody>
      </p:sp>
    </p:spTree>
    <p:extLst>
      <p:ext uri="{BB962C8B-B14F-4D97-AF65-F5344CB8AC3E}">
        <p14:creationId xmlns:p14="http://schemas.microsoft.com/office/powerpoint/2010/main" val="34643374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4D3B70-35DC-544B-9F51-A27245C5B4AC}"/>
              </a:ext>
            </a:extLst>
          </p:cNvPr>
          <p:cNvSpPr>
            <a:spLocks noGrp="1"/>
          </p:cNvSpPr>
          <p:nvPr>
            <p:ph type="title"/>
          </p:nvPr>
        </p:nvSpPr>
        <p:spPr/>
        <p:txBody>
          <a:bodyPr/>
          <a:lstStyle/>
          <a:p>
            <a:r>
              <a:rPr lang="en-US" dirty="0"/>
              <a:t>MOX Fuel</a:t>
            </a:r>
          </a:p>
        </p:txBody>
      </p:sp>
      <p:sp>
        <p:nvSpPr>
          <p:cNvPr id="3" name="Content Placeholder 2">
            <a:extLst>
              <a:ext uri="{FF2B5EF4-FFF2-40B4-BE49-F238E27FC236}">
                <a16:creationId xmlns:a16="http://schemas.microsoft.com/office/drawing/2014/main" id="{E41A27E7-F2F0-D147-BB03-265E116408EB}"/>
              </a:ext>
            </a:extLst>
          </p:cNvPr>
          <p:cNvSpPr>
            <a:spLocks noGrp="1"/>
          </p:cNvSpPr>
          <p:nvPr>
            <p:ph idx="1"/>
          </p:nvPr>
        </p:nvSpPr>
        <p:spPr/>
        <p:txBody>
          <a:bodyPr/>
          <a:lstStyle/>
          <a:p>
            <a:r>
              <a:rPr lang="en-US" sz="2000" dirty="0"/>
              <a:t>The main requirements and design criteria are the following:</a:t>
            </a:r>
          </a:p>
          <a:p>
            <a:pPr lvl="1"/>
            <a:r>
              <a:rPr lang="en-US" sz="2000" dirty="0"/>
              <a:t>Guaranteeing the absence of fuel melting, both in nominal conditions and during off-normal events</a:t>
            </a:r>
          </a:p>
          <a:p>
            <a:pPr lvl="1"/>
            <a:r>
              <a:rPr lang="en-US" sz="2000" dirty="0"/>
              <a:t>Keeping cladding integrity and fuel pin tightness</a:t>
            </a:r>
          </a:p>
          <a:p>
            <a:pPr lvl="1"/>
            <a:r>
              <a:rPr lang="en-US" sz="2000" dirty="0"/>
              <a:t>Cooling of the fuel pin bundle must be ensured up to high burnup in all operating conditions</a:t>
            </a:r>
          </a:p>
          <a:p>
            <a:pPr lvl="1"/>
            <a:r>
              <a:rPr lang="en-US" sz="2000" dirty="0"/>
              <a:t>Loading and unloading of subassemblies have to be guaranteed, which induces a limitation on the deformation of the hexagonal wrapper tubes</a:t>
            </a:r>
          </a:p>
          <a:p>
            <a:endParaRPr lang="en-US" sz="2000" dirty="0"/>
          </a:p>
          <a:p>
            <a:endParaRPr lang="en-US" sz="2000" dirty="0"/>
          </a:p>
          <a:p>
            <a:endParaRPr lang="en-US" sz="2000" dirty="0"/>
          </a:p>
          <a:p>
            <a:endParaRPr lang="en-US" sz="2000" dirty="0"/>
          </a:p>
          <a:p>
            <a:endParaRPr lang="en-US" sz="2000" dirty="0"/>
          </a:p>
        </p:txBody>
      </p:sp>
      <p:sp>
        <p:nvSpPr>
          <p:cNvPr id="4" name="Slide Number Placeholder 3">
            <a:extLst>
              <a:ext uri="{FF2B5EF4-FFF2-40B4-BE49-F238E27FC236}">
                <a16:creationId xmlns:a16="http://schemas.microsoft.com/office/drawing/2014/main" id="{EC10D385-6F7F-9042-93AC-80FA1AE70165}"/>
              </a:ext>
            </a:extLst>
          </p:cNvPr>
          <p:cNvSpPr>
            <a:spLocks noGrp="1"/>
          </p:cNvSpPr>
          <p:nvPr>
            <p:ph type="sldNum" sz="quarter" idx="12"/>
          </p:nvPr>
        </p:nvSpPr>
        <p:spPr/>
        <p:txBody>
          <a:bodyPr/>
          <a:lstStyle/>
          <a:p>
            <a:pPr>
              <a:defRPr/>
            </a:pPr>
            <a:fld id="{3FF2C605-4958-CF43-AA48-80339EFDB0AF}" type="slidenum">
              <a:rPr lang="en-US" smtClean="0"/>
              <a:pPr>
                <a:defRPr/>
              </a:pPr>
              <a:t>25</a:t>
            </a:fld>
            <a:endParaRPr lang="en-US"/>
          </a:p>
        </p:txBody>
      </p:sp>
    </p:spTree>
    <p:extLst>
      <p:ext uri="{BB962C8B-B14F-4D97-AF65-F5344CB8AC3E}">
        <p14:creationId xmlns:p14="http://schemas.microsoft.com/office/powerpoint/2010/main" val="660684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79D8F0-6373-E345-8C4D-00903DBA0CE7}"/>
              </a:ext>
            </a:extLst>
          </p:cNvPr>
          <p:cNvSpPr>
            <a:spLocks noGrp="1"/>
          </p:cNvSpPr>
          <p:nvPr>
            <p:ph type="title"/>
          </p:nvPr>
        </p:nvSpPr>
        <p:spPr/>
        <p:txBody>
          <a:bodyPr/>
          <a:lstStyle/>
          <a:p>
            <a:r>
              <a:rPr lang="en-US" dirty="0"/>
              <a:t>MOX Fuels</a:t>
            </a:r>
          </a:p>
        </p:txBody>
      </p:sp>
      <p:sp>
        <p:nvSpPr>
          <p:cNvPr id="3" name="Content Placeholder 2">
            <a:extLst>
              <a:ext uri="{FF2B5EF4-FFF2-40B4-BE49-F238E27FC236}">
                <a16:creationId xmlns:a16="http://schemas.microsoft.com/office/drawing/2014/main" id="{AEF6B378-35F8-3242-BD7F-AA5805B45888}"/>
              </a:ext>
            </a:extLst>
          </p:cNvPr>
          <p:cNvSpPr>
            <a:spLocks noGrp="1"/>
          </p:cNvSpPr>
          <p:nvPr>
            <p:ph idx="1"/>
          </p:nvPr>
        </p:nvSpPr>
        <p:spPr>
          <a:xfrm>
            <a:off x="609600" y="1870841"/>
            <a:ext cx="7082274" cy="4255323"/>
          </a:xfrm>
        </p:spPr>
        <p:txBody>
          <a:bodyPr>
            <a:noAutofit/>
          </a:bodyPr>
          <a:lstStyle/>
          <a:p>
            <a:r>
              <a:rPr lang="en-US" sz="2000" dirty="0"/>
              <a:t>Most phenomena occurring inside oxide fuel pellets are thermally activated, and a good knowledge of the thermal field inside the fuel stack is key</a:t>
            </a:r>
          </a:p>
          <a:p>
            <a:r>
              <a:rPr lang="en-US" sz="2000" dirty="0"/>
              <a:t>Centerline temperatures can reach above 2000C, significantly higher than thermal LWRs</a:t>
            </a:r>
          </a:p>
          <a:p>
            <a:r>
              <a:rPr lang="en-US" sz="2000" dirty="0"/>
              <a:t>Thermal conductivity is low and degrades with irradiation</a:t>
            </a:r>
          </a:p>
          <a:p>
            <a:r>
              <a:rPr lang="en-US" sz="2000" dirty="0"/>
              <a:t>Due to the steep thermal gradient, thermal stress cracks form </a:t>
            </a:r>
          </a:p>
          <a:p>
            <a:r>
              <a:rPr lang="en-US" sz="2000" dirty="0"/>
              <a:t>Restructuring takes place due to the high temperatures, leading to distinct regions in the fuel</a:t>
            </a:r>
          </a:p>
          <a:p>
            <a:endParaRPr lang="en-US" sz="2000" dirty="0"/>
          </a:p>
        </p:txBody>
      </p:sp>
      <p:sp>
        <p:nvSpPr>
          <p:cNvPr id="5" name="Slide Number Placeholder 4">
            <a:extLst>
              <a:ext uri="{FF2B5EF4-FFF2-40B4-BE49-F238E27FC236}">
                <a16:creationId xmlns:a16="http://schemas.microsoft.com/office/drawing/2014/main" id="{D33C6E57-90AD-1244-B19C-60B5F752F204}"/>
              </a:ext>
            </a:extLst>
          </p:cNvPr>
          <p:cNvSpPr>
            <a:spLocks noGrp="1"/>
          </p:cNvSpPr>
          <p:nvPr>
            <p:ph type="sldNum" sz="quarter" idx="12"/>
          </p:nvPr>
        </p:nvSpPr>
        <p:spPr/>
        <p:txBody>
          <a:bodyPr/>
          <a:lstStyle/>
          <a:p>
            <a:pPr>
              <a:defRPr/>
            </a:pPr>
            <a:fld id="{3FF2C605-4958-CF43-AA48-80339EFDB0AF}" type="slidenum">
              <a:rPr lang="en-US" smtClean="0"/>
              <a:pPr>
                <a:defRPr/>
              </a:pPr>
              <a:t>26</a:t>
            </a:fld>
            <a:endParaRPr lang="en-US"/>
          </a:p>
        </p:txBody>
      </p:sp>
      <p:pic>
        <p:nvPicPr>
          <p:cNvPr id="7" name="Picture 6">
            <a:extLst>
              <a:ext uri="{FF2B5EF4-FFF2-40B4-BE49-F238E27FC236}">
                <a16:creationId xmlns:a16="http://schemas.microsoft.com/office/drawing/2014/main" id="{A1AC2DEA-7714-0B45-8BC1-8D4FD34F3E51}"/>
              </a:ext>
            </a:extLst>
          </p:cNvPr>
          <p:cNvPicPr>
            <a:picLocks noChangeAspect="1"/>
          </p:cNvPicPr>
          <p:nvPr/>
        </p:nvPicPr>
        <p:blipFill>
          <a:blip r:embed="rId2"/>
          <a:stretch>
            <a:fillRect/>
          </a:stretch>
        </p:blipFill>
        <p:spPr>
          <a:xfrm>
            <a:off x="8209998" y="1405493"/>
            <a:ext cx="2844800" cy="2387191"/>
          </a:xfrm>
          <a:prstGeom prst="rect">
            <a:avLst/>
          </a:prstGeom>
        </p:spPr>
      </p:pic>
      <p:pic>
        <p:nvPicPr>
          <p:cNvPr id="8" name="Picture 7">
            <a:extLst>
              <a:ext uri="{FF2B5EF4-FFF2-40B4-BE49-F238E27FC236}">
                <a16:creationId xmlns:a16="http://schemas.microsoft.com/office/drawing/2014/main" id="{6377BF14-4331-0444-A21A-5DE2FD89FAA0}"/>
              </a:ext>
            </a:extLst>
          </p:cNvPr>
          <p:cNvPicPr>
            <a:picLocks noChangeAspect="1"/>
          </p:cNvPicPr>
          <p:nvPr/>
        </p:nvPicPr>
        <p:blipFill>
          <a:blip r:embed="rId3"/>
          <a:stretch>
            <a:fillRect/>
          </a:stretch>
        </p:blipFill>
        <p:spPr>
          <a:xfrm>
            <a:off x="8140976" y="4004853"/>
            <a:ext cx="3384824" cy="2387191"/>
          </a:xfrm>
          <a:prstGeom prst="rect">
            <a:avLst/>
          </a:prstGeom>
        </p:spPr>
      </p:pic>
    </p:spTree>
    <p:extLst>
      <p:ext uri="{BB962C8B-B14F-4D97-AF65-F5344CB8AC3E}">
        <p14:creationId xmlns:p14="http://schemas.microsoft.com/office/powerpoint/2010/main" val="27360215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251A8-BC3E-754A-B33C-F5252F2440B6}"/>
              </a:ext>
            </a:extLst>
          </p:cNvPr>
          <p:cNvSpPr>
            <a:spLocks noGrp="1"/>
          </p:cNvSpPr>
          <p:nvPr>
            <p:ph type="title"/>
          </p:nvPr>
        </p:nvSpPr>
        <p:spPr/>
        <p:txBody>
          <a:bodyPr/>
          <a:lstStyle/>
          <a:p>
            <a:r>
              <a:rPr lang="en-US" dirty="0"/>
              <a:t>MOX Restructuring</a:t>
            </a:r>
          </a:p>
        </p:txBody>
      </p:sp>
      <p:sp>
        <p:nvSpPr>
          <p:cNvPr id="3" name="Content Placeholder 2">
            <a:extLst>
              <a:ext uri="{FF2B5EF4-FFF2-40B4-BE49-F238E27FC236}">
                <a16:creationId xmlns:a16="http://schemas.microsoft.com/office/drawing/2014/main" id="{5C4ABDE3-8DD9-544F-A3F2-B54E2F4CA12A}"/>
              </a:ext>
            </a:extLst>
          </p:cNvPr>
          <p:cNvSpPr>
            <a:spLocks noGrp="1"/>
          </p:cNvSpPr>
          <p:nvPr>
            <p:ph idx="1"/>
          </p:nvPr>
        </p:nvSpPr>
        <p:spPr>
          <a:xfrm>
            <a:off x="609600" y="1731279"/>
            <a:ext cx="7470913" cy="4449027"/>
          </a:xfrm>
        </p:spPr>
        <p:txBody>
          <a:bodyPr/>
          <a:lstStyle/>
          <a:p>
            <a:r>
              <a:rPr lang="en-US" sz="2000" dirty="0"/>
              <a:t>Pu bearing fast reactor oxide fuels display four defining regions of a restructured pellet:</a:t>
            </a:r>
          </a:p>
          <a:p>
            <a:pPr lvl="1"/>
            <a:r>
              <a:rPr lang="en-US" sz="2000" dirty="0"/>
              <a:t>the central void, the columnar grain growth region, the equiaxed grain growth region, and the as-sintered region</a:t>
            </a:r>
          </a:p>
          <a:p>
            <a:endParaRPr lang="en-US" sz="2000" dirty="0"/>
          </a:p>
          <a:p>
            <a:endParaRPr lang="en-US" sz="2000" dirty="0"/>
          </a:p>
        </p:txBody>
      </p:sp>
      <p:sp>
        <p:nvSpPr>
          <p:cNvPr id="4" name="Slide Number Placeholder 3">
            <a:extLst>
              <a:ext uri="{FF2B5EF4-FFF2-40B4-BE49-F238E27FC236}">
                <a16:creationId xmlns:a16="http://schemas.microsoft.com/office/drawing/2014/main" id="{94770477-52D8-0A4A-9AA5-684FADF01FB4}"/>
              </a:ext>
            </a:extLst>
          </p:cNvPr>
          <p:cNvSpPr>
            <a:spLocks noGrp="1"/>
          </p:cNvSpPr>
          <p:nvPr>
            <p:ph type="sldNum" sz="quarter" idx="12"/>
          </p:nvPr>
        </p:nvSpPr>
        <p:spPr/>
        <p:txBody>
          <a:bodyPr/>
          <a:lstStyle/>
          <a:p>
            <a:pPr>
              <a:defRPr/>
            </a:pPr>
            <a:fld id="{3FF2C605-4958-CF43-AA48-80339EFDB0AF}" type="slidenum">
              <a:rPr lang="en-US" smtClean="0"/>
              <a:pPr>
                <a:defRPr/>
              </a:pPr>
              <a:t>27</a:t>
            </a:fld>
            <a:endParaRPr lang="en-US"/>
          </a:p>
        </p:txBody>
      </p:sp>
      <p:pic>
        <p:nvPicPr>
          <p:cNvPr id="5" name="Picture 4">
            <a:extLst>
              <a:ext uri="{FF2B5EF4-FFF2-40B4-BE49-F238E27FC236}">
                <a16:creationId xmlns:a16="http://schemas.microsoft.com/office/drawing/2014/main" id="{6921BB5A-21DE-9744-978F-A4F9A10AE32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7864232" y="2601646"/>
            <a:ext cx="3536119" cy="3529679"/>
          </a:xfrm>
          <a:prstGeom prst="rect">
            <a:avLst/>
          </a:prstGeom>
        </p:spPr>
      </p:pic>
      <p:pic>
        <p:nvPicPr>
          <p:cNvPr id="6" name="Content Placeholder 5">
            <a:extLst>
              <a:ext uri="{FF2B5EF4-FFF2-40B4-BE49-F238E27FC236}">
                <a16:creationId xmlns:a16="http://schemas.microsoft.com/office/drawing/2014/main" id="{AF3B7627-7C5D-9E46-86D4-BFB79D96273F}"/>
              </a:ext>
            </a:extLst>
          </p:cNvPr>
          <p:cNvPicPr>
            <a:picLocks noChangeAspect="1"/>
          </p:cNvPicPr>
          <p:nvPr/>
        </p:nvPicPr>
        <p:blipFill>
          <a:blip r:embed="rId3"/>
          <a:stretch>
            <a:fillRect/>
          </a:stretch>
        </p:blipFill>
        <p:spPr>
          <a:xfrm>
            <a:off x="2073262" y="3294936"/>
            <a:ext cx="4129326" cy="3243977"/>
          </a:xfrm>
          <a:prstGeom prst="rect">
            <a:avLst/>
          </a:prstGeom>
        </p:spPr>
      </p:pic>
    </p:spTree>
    <p:extLst>
      <p:ext uri="{BB962C8B-B14F-4D97-AF65-F5344CB8AC3E}">
        <p14:creationId xmlns:p14="http://schemas.microsoft.com/office/powerpoint/2010/main" val="293312973"/>
      </p:ext>
    </p:extLst>
  </p:cSld>
  <p:clrMapOvr>
    <a:masterClrMapping/>
  </p:clrMapOvr>
</p:sld>
</file>

<file path=ppt/theme/theme1.xml><?xml version="1.0" encoding="utf-8"?>
<a:theme xmlns:a="http://schemas.openxmlformats.org/drawingml/2006/main" name="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23033</TotalTime>
  <Words>2167</Words>
  <Application>Microsoft Macintosh PowerPoint</Application>
  <PresentationFormat>Widescreen</PresentationFormat>
  <Paragraphs>190</Paragraphs>
  <Slides>27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NCStateU-horizontal-left-logo</vt:lpstr>
      <vt:lpstr>Nuclear Fuel Performance</vt:lpstr>
      <vt:lpstr>Housekeeping</vt:lpstr>
      <vt:lpstr>Last Time</vt:lpstr>
      <vt:lpstr>water chemistry</vt:lpstr>
      <vt:lpstr>Water Chemistry</vt:lpstr>
      <vt:lpstr>Water Chemistry</vt:lpstr>
      <vt:lpstr>PWR Water Chemistry</vt:lpstr>
      <vt:lpstr>CRUD</vt:lpstr>
      <vt:lpstr>CRUD Cycle</vt:lpstr>
      <vt:lpstr>PWR Water Chemistry</vt:lpstr>
      <vt:lpstr>Radiation Control</vt:lpstr>
      <vt:lpstr>PWR Water Chemistry</vt:lpstr>
      <vt:lpstr>BWR Water Chemistry</vt:lpstr>
      <vt:lpstr>IGSCC Mitigation</vt:lpstr>
      <vt:lpstr>IGSCC Mitigation</vt:lpstr>
      <vt:lpstr>Fuel Performance Concerns</vt:lpstr>
      <vt:lpstr>Key Themes Over Time</vt:lpstr>
      <vt:lpstr>Summary</vt:lpstr>
      <vt:lpstr>Mixed oxide (MOX) fuels</vt:lpstr>
      <vt:lpstr>Why MOX?</vt:lpstr>
      <vt:lpstr>Mixed Oxides</vt:lpstr>
      <vt:lpstr>MOX Designs</vt:lpstr>
      <vt:lpstr>MOX Fuel</vt:lpstr>
      <vt:lpstr>UO2 to MOX Design Differences</vt:lpstr>
      <vt:lpstr>MOX Fuel</vt:lpstr>
      <vt:lpstr>MOX Fuels</vt:lpstr>
      <vt:lpstr>MOX Restructuring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Fission Products</dc:title>
  <dc:creator>Benjamin Beeler</dc:creator>
  <cp:lastModifiedBy>Benjamin Beeler</cp:lastModifiedBy>
  <cp:revision>172</cp:revision>
  <dcterms:created xsi:type="dcterms:W3CDTF">2020-02-19T20:03:05Z</dcterms:created>
  <dcterms:modified xsi:type="dcterms:W3CDTF">2026-04-16T20:28:42Z</dcterms:modified>
</cp:coreProperties>
</file>
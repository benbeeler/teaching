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537" r:id="rId2"/>
    <p:sldId id="342" r:id="rId3"/>
    <p:sldId id="560" r:id="rId4"/>
    <p:sldId id="561" r:id="rId5"/>
    <p:sldId id="548" r:id="rId6"/>
    <p:sldId id="553" r:id="rId7"/>
    <p:sldId id="554" r:id="rId8"/>
    <p:sldId id="555" r:id="rId9"/>
    <p:sldId id="562" r:id="rId10"/>
    <p:sldId id="558" r:id="rId11"/>
    <p:sldId id="563" r:id="rId12"/>
    <p:sldId id="557" r:id="rId13"/>
    <p:sldId id="545" r:id="rId14"/>
    <p:sldId id="543" r:id="rId15"/>
    <p:sldId id="544" r:id="rId16"/>
    <p:sldId id="546" r:id="rId17"/>
    <p:sldId id="565" r:id="rId18"/>
    <p:sldId id="566" r:id="rId19"/>
    <p:sldId id="55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1"/>
    <p:restoredTop sz="96654"/>
  </p:normalViewPr>
  <p:slideViewPr>
    <p:cSldViewPr snapToGrid="0" snapToObjects="1">
      <p:cViewPr varScale="1">
        <p:scale>
          <a:sx n="128" d="100"/>
          <a:sy n="128" d="100"/>
        </p:scale>
        <p:origin x="1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6F3A803-A045-354B-887A-01433CE46FC2}" type="datetime1">
              <a:rPr lang="en-US" smtClean="0"/>
              <a:t>4/16/26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295013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86847"/>
            <a:ext cx="10972800" cy="1068387"/>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1555234"/>
            <a:ext cx="10972800" cy="45709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5BD04BF-9DC2-6341-92B2-BD109A2EF3B1}" type="datetime1">
              <a:rPr lang="en-US" smtClean="0"/>
              <a:t>4/16/26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229882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519101"/>
            <a:ext cx="103632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B0FFBC7-3028-644D-986B-D9855CB74B38}" type="datetime1">
              <a:rPr lang="en-US" smtClean="0"/>
              <a:t>4/16/26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737796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72731"/>
            <a:ext cx="10972800" cy="1068387"/>
          </a:xfrm>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541119"/>
            <a:ext cx="5384800" cy="45850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541119"/>
            <a:ext cx="5384800" cy="458504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C3B8AE4-01F5-CC42-9C62-61BC6528368B}" type="datetime1">
              <a:rPr lang="en-US" smtClean="0"/>
              <a:t>4/16/26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734614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1"/>
            <a:ext cx="10972800" cy="1068387"/>
          </a:xfrm>
        </p:spPr>
        <p:txBody>
          <a:bodyPr/>
          <a:lstStyle>
            <a:lvl1pPr algn="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7E49314-4A78-2444-9569-44EB70168344}" type="datetime1">
              <a:rPr lang="en-US" smtClean="0"/>
              <a:t>4/16/26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3266914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82670"/>
            <a:ext cx="10972800" cy="1068387"/>
          </a:xfrm>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5BC22837-4683-B242-B000-BCEE30621787}" type="datetime1">
              <a:rPr lang="en-US" smtClean="0"/>
              <a:t>4/16/26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3602526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DAE926-7EF1-0B40-B57E-417D188A609C}" type="datetime1">
              <a:rPr lang="en-US" smtClean="0"/>
              <a:t>4/16/26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545074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18D107B-B9C7-5B41-A168-55258AB95F52}" type="datetime1">
              <a:rPr lang="en-US" smtClean="0"/>
              <a:t>4/16/26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1206424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AD92D36-EE82-3142-B011-9831FB5E702F}" type="datetime1">
              <a:rPr lang="en-US" smtClean="0"/>
              <a:t>4/16/26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3141968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8B33C1D-C2E2-1049-AA3F-CD6E91052752}" type="datetime1">
              <a:rPr lang="en-US" smtClean="0"/>
              <a:t>4/16/26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414562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91AD68-B60C-4542-BDDD-2074DE6DE828}" type="datetime1">
              <a:rPr lang="en-US" smtClean="0"/>
              <a:t>4/16/26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1038893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4"/>
            <a:ext cx="109728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1"/>
            <a:ext cx="109728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3EE08B4B-7256-494F-A90D-3891BD685F4A}" type="datetime1">
              <a:rPr lang="en-US" smtClean="0"/>
              <a:t>4/16/26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3" name="Picture 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133255449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1AB4-6496-0D46-9C3B-B71641B90165}"/>
              </a:ext>
            </a:extLst>
          </p:cNvPr>
          <p:cNvSpPr>
            <a:spLocks noGrp="1"/>
          </p:cNvSpPr>
          <p:nvPr>
            <p:ph type="ctrTitle"/>
          </p:nvPr>
        </p:nvSpPr>
        <p:spPr/>
        <p:txBody>
          <a:bodyPr/>
          <a:lstStyle/>
          <a:p>
            <a:r>
              <a:rPr lang="en-US" sz="4000" dirty="0"/>
              <a:t>Nuclear Fuel Performance</a:t>
            </a:r>
          </a:p>
        </p:txBody>
      </p:sp>
      <p:sp>
        <p:nvSpPr>
          <p:cNvPr id="3" name="Subtitle 2">
            <a:extLst>
              <a:ext uri="{FF2B5EF4-FFF2-40B4-BE49-F238E27FC236}">
                <a16:creationId xmlns:a16="http://schemas.microsoft.com/office/drawing/2014/main" id="{D4E102A4-1D26-9E41-904A-5C94FEB21AD8}"/>
              </a:ext>
            </a:extLst>
          </p:cNvPr>
          <p:cNvSpPr>
            <a:spLocks noGrp="1"/>
          </p:cNvSpPr>
          <p:nvPr>
            <p:ph type="subTitle" idx="1"/>
          </p:nvPr>
        </p:nvSpPr>
        <p:spPr/>
        <p:txBody>
          <a:bodyPr/>
          <a:lstStyle/>
          <a:p>
            <a:r>
              <a:rPr lang="en-US" dirty="0"/>
              <a:t>NE-533</a:t>
            </a:r>
          </a:p>
          <a:p>
            <a:r>
              <a:rPr lang="en-US" dirty="0"/>
              <a:t>Spring 2026</a:t>
            </a:r>
          </a:p>
        </p:txBody>
      </p:sp>
      <p:sp>
        <p:nvSpPr>
          <p:cNvPr id="4" name="Slide Number Placeholder 3">
            <a:extLst>
              <a:ext uri="{FF2B5EF4-FFF2-40B4-BE49-F238E27FC236}">
                <a16:creationId xmlns:a16="http://schemas.microsoft.com/office/drawing/2014/main" id="{8ED6DA87-5AA8-004F-861E-B1E0BAA302DE}"/>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31497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7F9D4-0F15-494A-8A03-7B2BEF622501}"/>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AD990818-DA66-6342-A279-238CB42FAE7F}"/>
              </a:ext>
            </a:extLst>
          </p:cNvPr>
          <p:cNvSpPr>
            <a:spLocks noGrp="1"/>
          </p:cNvSpPr>
          <p:nvPr>
            <p:ph idx="1"/>
          </p:nvPr>
        </p:nvSpPr>
        <p:spPr/>
        <p:txBody>
          <a:bodyPr/>
          <a:lstStyle/>
          <a:p>
            <a:r>
              <a:rPr lang="en-US" sz="2000" dirty="0"/>
              <a:t>Steam oxidation can lead to breakaway oxidation, leading to thick, cracked oxides and high H generation</a:t>
            </a:r>
          </a:p>
          <a:p>
            <a:r>
              <a:rPr lang="en-US" sz="2000" dirty="0"/>
              <a:t>Advanced cladding materials and coatings are being explored to improve accident tolerance</a:t>
            </a:r>
          </a:p>
          <a:p>
            <a:r>
              <a:rPr lang="en-US" sz="2000" dirty="0"/>
              <a:t>There are a variety of limiting phenomena in LWR fuel systems that provide the boundaries of operation and lifetime</a:t>
            </a:r>
          </a:p>
          <a:p>
            <a:r>
              <a:rPr lang="en-US" sz="2000" dirty="0"/>
              <a:t>These limits include phenomena in the fuel, gap, cladding, corrosion, and assembly levels</a:t>
            </a:r>
          </a:p>
          <a:p>
            <a:r>
              <a:rPr lang="en-US" sz="2000" dirty="0"/>
              <a:t>Primary system water chemistry affects fuel performance through the deposition of corrosion products on fuel pin surfaces, primary control through addition of hydrogen</a:t>
            </a:r>
          </a:p>
        </p:txBody>
      </p:sp>
      <p:sp>
        <p:nvSpPr>
          <p:cNvPr id="4" name="Slide Number Placeholder 3">
            <a:extLst>
              <a:ext uri="{FF2B5EF4-FFF2-40B4-BE49-F238E27FC236}">
                <a16:creationId xmlns:a16="http://schemas.microsoft.com/office/drawing/2014/main" id="{23AD3154-795D-804F-9AA3-4214339C0AEF}"/>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140436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0EE1E-F53A-98F3-67A1-37EDB8B73A51}"/>
              </a:ext>
            </a:extLst>
          </p:cNvPr>
          <p:cNvSpPr>
            <a:spLocks noGrp="1"/>
          </p:cNvSpPr>
          <p:nvPr>
            <p:ph type="title"/>
          </p:nvPr>
        </p:nvSpPr>
        <p:spPr/>
        <p:txBody>
          <a:bodyPr/>
          <a:lstStyle/>
          <a:p>
            <a:r>
              <a:rPr lang="en-US" dirty="0"/>
              <a:t>MOX Restructuring</a:t>
            </a:r>
          </a:p>
        </p:txBody>
      </p:sp>
      <p:sp>
        <p:nvSpPr>
          <p:cNvPr id="3" name="Content Placeholder 2">
            <a:extLst>
              <a:ext uri="{FF2B5EF4-FFF2-40B4-BE49-F238E27FC236}">
                <a16:creationId xmlns:a16="http://schemas.microsoft.com/office/drawing/2014/main" id="{F0367ABB-D700-37D0-7A73-930E2DA43C85}"/>
              </a:ext>
            </a:extLst>
          </p:cNvPr>
          <p:cNvSpPr>
            <a:spLocks noGrp="1"/>
          </p:cNvSpPr>
          <p:nvPr>
            <p:ph idx="1"/>
          </p:nvPr>
        </p:nvSpPr>
        <p:spPr>
          <a:xfrm>
            <a:off x="609599" y="1847952"/>
            <a:ext cx="7849231" cy="3965670"/>
          </a:xfrm>
        </p:spPr>
        <p:txBody>
          <a:bodyPr/>
          <a:lstStyle/>
          <a:p>
            <a:r>
              <a:rPr lang="en-US" sz="2000" dirty="0"/>
              <a:t>The central void forms from the accumulation of voids and pores present in the fuel along a thermal gradient</a:t>
            </a:r>
          </a:p>
          <a:p>
            <a:r>
              <a:rPr lang="en-US" sz="2000" dirty="0"/>
              <a:t>The pores orient in a lenticular shape normal to the temperature gradient</a:t>
            </a:r>
          </a:p>
          <a:p>
            <a:r>
              <a:rPr lang="en-US" sz="2000" dirty="0"/>
              <a:t>The pores are filled with gas, and thus have a higher temperature gradient than that across the fuel</a:t>
            </a:r>
          </a:p>
          <a:p>
            <a:r>
              <a:rPr lang="en-US" sz="2000" dirty="0"/>
              <a:t>The difference in fuel vapor pressures from hot to cold induces an evaporation–condensation mechanism: fuel evaporating from the hot face and condensing on the cold face travels down the thermal gradient</a:t>
            </a:r>
          </a:p>
          <a:p>
            <a:r>
              <a:rPr lang="en-US" sz="2000" dirty="0"/>
              <a:t>This induces an inverse displacement of the lenticular pores that climb the thermal gradient toward the center of the pellet</a:t>
            </a:r>
          </a:p>
          <a:p>
            <a:r>
              <a:rPr lang="en-US" sz="2000" dirty="0"/>
              <a:t>Vapor transport requires T~1800C</a:t>
            </a:r>
          </a:p>
          <a:p>
            <a:endParaRPr lang="en-US" sz="2000" dirty="0"/>
          </a:p>
        </p:txBody>
      </p:sp>
      <p:sp>
        <p:nvSpPr>
          <p:cNvPr id="4" name="Slide Number Placeholder 3">
            <a:extLst>
              <a:ext uri="{FF2B5EF4-FFF2-40B4-BE49-F238E27FC236}">
                <a16:creationId xmlns:a16="http://schemas.microsoft.com/office/drawing/2014/main" id="{DD86FBD6-9C0E-5E73-E9FA-535A80155B9E}"/>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dirty="0"/>
          </a:p>
        </p:txBody>
      </p:sp>
      <p:pic>
        <p:nvPicPr>
          <p:cNvPr id="5" name="Picture 4">
            <a:extLst>
              <a:ext uri="{FF2B5EF4-FFF2-40B4-BE49-F238E27FC236}">
                <a16:creationId xmlns:a16="http://schemas.microsoft.com/office/drawing/2014/main" id="{BDDB3D6C-3CD0-2624-308A-9879BB576FCB}"/>
              </a:ext>
            </a:extLst>
          </p:cNvPr>
          <p:cNvPicPr>
            <a:picLocks noChangeAspect="1"/>
          </p:cNvPicPr>
          <p:nvPr/>
        </p:nvPicPr>
        <p:blipFill>
          <a:blip r:embed="rId2"/>
          <a:stretch>
            <a:fillRect/>
          </a:stretch>
        </p:blipFill>
        <p:spPr>
          <a:xfrm>
            <a:off x="8760282" y="1615725"/>
            <a:ext cx="2702325" cy="2677980"/>
          </a:xfrm>
          <a:prstGeom prst="rect">
            <a:avLst/>
          </a:prstGeom>
        </p:spPr>
      </p:pic>
      <p:pic>
        <p:nvPicPr>
          <p:cNvPr id="2050" name="Picture 2" descr="Computer Simulation of Pore Migration Due to Temperature Gradients in  Nuclear Oxide Fuel | Semantic Scholar">
            <a:extLst>
              <a:ext uri="{FF2B5EF4-FFF2-40B4-BE49-F238E27FC236}">
                <a16:creationId xmlns:a16="http://schemas.microsoft.com/office/drawing/2014/main" id="{B525902F-5D64-9091-5556-2578BE09C8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1939" y="4382467"/>
            <a:ext cx="2339009" cy="2339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338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C0B3C-37F3-37B2-11BB-1D85E20D3AB9}"/>
              </a:ext>
            </a:extLst>
          </p:cNvPr>
          <p:cNvSpPr>
            <a:spLocks noGrp="1"/>
          </p:cNvSpPr>
          <p:nvPr>
            <p:ph type="title"/>
          </p:nvPr>
        </p:nvSpPr>
        <p:spPr/>
        <p:txBody>
          <a:bodyPr/>
          <a:lstStyle/>
          <a:p>
            <a:r>
              <a:rPr lang="en-US" dirty="0"/>
              <a:t>MOX Restructuring</a:t>
            </a:r>
          </a:p>
        </p:txBody>
      </p:sp>
      <p:sp>
        <p:nvSpPr>
          <p:cNvPr id="3" name="Content Placeholder 2">
            <a:extLst>
              <a:ext uri="{FF2B5EF4-FFF2-40B4-BE49-F238E27FC236}">
                <a16:creationId xmlns:a16="http://schemas.microsoft.com/office/drawing/2014/main" id="{BCA63B21-E91C-ABC6-08B2-C9EFB31C6C4B}"/>
              </a:ext>
            </a:extLst>
          </p:cNvPr>
          <p:cNvSpPr>
            <a:spLocks noGrp="1"/>
          </p:cNvSpPr>
          <p:nvPr>
            <p:ph idx="1"/>
          </p:nvPr>
        </p:nvSpPr>
        <p:spPr>
          <a:xfrm>
            <a:off x="609600" y="1848678"/>
            <a:ext cx="7371522" cy="4277487"/>
          </a:xfrm>
        </p:spPr>
        <p:txBody>
          <a:bodyPr/>
          <a:lstStyle/>
          <a:p>
            <a:pPr algn="l"/>
            <a:r>
              <a:rPr lang="en-US" sz="2000" b="0" i="0" u="none" strike="noStrike" baseline="0" dirty="0">
                <a:latin typeface=""/>
              </a:rPr>
              <a:t>While moving toward the pellet center, the lenticular pores destroy the initial fuel microstructure and leave behind them a dense fuel in elongated ‘columnar grains’ that appear clearly in micrographs</a:t>
            </a:r>
            <a:endParaRPr lang="en-US" sz="2000" dirty="0"/>
          </a:p>
          <a:p>
            <a:r>
              <a:rPr lang="en-US" sz="2000" dirty="0"/>
              <a:t>The velocity of the pores varies rapidly with temperature, and the columnar grains only form at temperatures above ~1800C</a:t>
            </a:r>
          </a:p>
          <a:p>
            <a:r>
              <a:rPr lang="en-US" sz="2000" dirty="0"/>
              <a:t>Below 1800C, an equiaxed region consists of grains that have undergone significant growth when compared to the un-irradiated samples</a:t>
            </a:r>
          </a:p>
          <a:p>
            <a:r>
              <a:rPr lang="en-US" sz="2000" dirty="0"/>
              <a:t>At the periphery of the fuel pellet, temperatures are sufficiently low to limit grain growth, and thus the microstructure doesn’t undergo rapid changes</a:t>
            </a:r>
          </a:p>
          <a:p>
            <a:endParaRPr lang="en-US" sz="2000" dirty="0"/>
          </a:p>
        </p:txBody>
      </p:sp>
      <p:sp>
        <p:nvSpPr>
          <p:cNvPr id="4" name="Slide Number Placeholder 3">
            <a:extLst>
              <a:ext uri="{FF2B5EF4-FFF2-40B4-BE49-F238E27FC236}">
                <a16:creationId xmlns:a16="http://schemas.microsoft.com/office/drawing/2014/main" id="{280A6695-828F-9C0B-5300-B7BBE639FC0F}"/>
              </a:ext>
            </a:extLst>
          </p:cNvPr>
          <p:cNvSpPr>
            <a:spLocks noGrp="1"/>
          </p:cNvSpPr>
          <p:nvPr>
            <p:ph type="sldNum" sz="quarter" idx="12"/>
          </p:nvPr>
        </p:nvSpPr>
        <p:spPr/>
        <p:txBody>
          <a:bodyPr/>
          <a:lstStyle/>
          <a:p>
            <a:pPr>
              <a:defRPr/>
            </a:pPr>
            <a:fld id="{3FF2C605-4958-CF43-AA48-80339EFDB0AF}" type="slidenum">
              <a:rPr lang="en-US" smtClean="0"/>
              <a:pPr>
                <a:defRPr/>
              </a:pPr>
              <a:t>4</a:t>
            </a:fld>
            <a:endParaRPr lang="en-US"/>
          </a:p>
        </p:txBody>
      </p:sp>
      <p:pic>
        <p:nvPicPr>
          <p:cNvPr id="5" name="Picture 4">
            <a:extLst>
              <a:ext uri="{FF2B5EF4-FFF2-40B4-BE49-F238E27FC236}">
                <a16:creationId xmlns:a16="http://schemas.microsoft.com/office/drawing/2014/main" id="{BC0A7F5D-B578-0502-933B-091F0FC65B83}"/>
              </a:ext>
            </a:extLst>
          </p:cNvPr>
          <p:cNvPicPr>
            <a:picLocks noChangeAspect="1"/>
          </p:cNvPicPr>
          <p:nvPr/>
        </p:nvPicPr>
        <p:blipFill>
          <a:blip r:embed="rId2"/>
          <a:stretch>
            <a:fillRect/>
          </a:stretch>
        </p:blipFill>
        <p:spPr>
          <a:xfrm>
            <a:off x="8440254" y="3530580"/>
            <a:ext cx="2844800" cy="2825771"/>
          </a:xfrm>
          <a:prstGeom prst="rect">
            <a:avLst/>
          </a:prstGeom>
        </p:spPr>
      </p:pic>
      <p:pic>
        <p:nvPicPr>
          <p:cNvPr id="6" name="Picture 5">
            <a:extLst>
              <a:ext uri="{FF2B5EF4-FFF2-40B4-BE49-F238E27FC236}">
                <a16:creationId xmlns:a16="http://schemas.microsoft.com/office/drawing/2014/main" id="{4838A8AD-805D-F904-A9AD-99E6F65BE513}"/>
              </a:ext>
            </a:extLst>
          </p:cNvPr>
          <p:cNvPicPr>
            <a:picLocks noChangeAspect="1"/>
          </p:cNvPicPr>
          <p:nvPr/>
        </p:nvPicPr>
        <p:blipFill>
          <a:blip r:embed="rId3"/>
          <a:stretch>
            <a:fillRect/>
          </a:stretch>
        </p:blipFill>
        <p:spPr>
          <a:xfrm>
            <a:off x="8587410" y="495032"/>
            <a:ext cx="2496716" cy="2928840"/>
          </a:xfrm>
          <a:prstGeom prst="rect">
            <a:avLst/>
          </a:prstGeom>
        </p:spPr>
      </p:pic>
    </p:spTree>
    <p:extLst>
      <p:ext uri="{BB962C8B-B14F-4D97-AF65-F5344CB8AC3E}">
        <p14:creationId xmlns:p14="http://schemas.microsoft.com/office/powerpoint/2010/main" val="412898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D3C82-28E3-6F4A-A8E0-F5F3E6376070}"/>
              </a:ext>
            </a:extLst>
          </p:cNvPr>
          <p:cNvSpPr>
            <a:spLocks noGrp="1"/>
          </p:cNvSpPr>
          <p:nvPr>
            <p:ph type="title"/>
          </p:nvPr>
        </p:nvSpPr>
        <p:spPr/>
        <p:txBody>
          <a:bodyPr/>
          <a:lstStyle/>
          <a:p>
            <a:r>
              <a:rPr lang="en-US" dirty="0"/>
              <a:t>Constituent Redistribution</a:t>
            </a:r>
          </a:p>
        </p:txBody>
      </p:sp>
      <p:sp>
        <p:nvSpPr>
          <p:cNvPr id="3" name="Content Placeholder 2">
            <a:extLst>
              <a:ext uri="{FF2B5EF4-FFF2-40B4-BE49-F238E27FC236}">
                <a16:creationId xmlns:a16="http://schemas.microsoft.com/office/drawing/2014/main" id="{47429497-8FD0-9641-9C2C-58FA1A2D2007}"/>
              </a:ext>
            </a:extLst>
          </p:cNvPr>
          <p:cNvSpPr>
            <a:spLocks noGrp="1"/>
          </p:cNvSpPr>
          <p:nvPr>
            <p:ph idx="1"/>
          </p:nvPr>
        </p:nvSpPr>
        <p:spPr>
          <a:xfrm>
            <a:off x="609600" y="2160495"/>
            <a:ext cx="6367670" cy="3965670"/>
          </a:xfrm>
        </p:spPr>
        <p:txBody>
          <a:bodyPr/>
          <a:lstStyle/>
          <a:p>
            <a:r>
              <a:rPr lang="en-US" sz="2000" dirty="0"/>
              <a:t>The as-fabricated oxide pellets used as fuel in fast reactors are always </a:t>
            </a:r>
            <a:r>
              <a:rPr lang="en-US" sz="2000" dirty="0" err="1"/>
              <a:t>hypostoichiometric</a:t>
            </a:r>
            <a:r>
              <a:rPr lang="en-US" sz="2000" dirty="0"/>
              <a:t> with an initial O/M typically in the range 1.93–2.00</a:t>
            </a:r>
          </a:p>
          <a:p>
            <a:r>
              <a:rPr lang="en-US" sz="2000" dirty="0"/>
              <a:t>Oxygen is redistributed radially, migrating down the thermal gradient, thus bringing the composition close to stoichiometry near the periphery, whereas the O/M ratio becomes very low in the hottest area</a:t>
            </a:r>
          </a:p>
          <a:p>
            <a:r>
              <a:rPr lang="en-US" sz="2000" dirty="0"/>
              <a:t>Irradiated oxide pellets generally exhibit a plutonium enrichment in the central area near the central hole, and a slight plutonium depletion in a ring located near the periphery of columnar grains</a:t>
            </a:r>
          </a:p>
          <a:p>
            <a:r>
              <a:rPr lang="en-US" sz="2000" dirty="0"/>
              <a:t>Oxygen and plutonium transport may be either via vapor transport, or </a:t>
            </a:r>
            <a:r>
              <a:rPr lang="en-US" sz="2000" dirty="0" err="1"/>
              <a:t>Soret</a:t>
            </a:r>
            <a:r>
              <a:rPr lang="en-US" sz="2000" dirty="0"/>
              <a:t> diffusion – not known</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B7EB8CC0-5C99-E343-A4F4-D02031B2BFF1}"/>
              </a:ext>
            </a:extLst>
          </p:cNvPr>
          <p:cNvSpPr>
            <a:spLocks noGrp="1"/>
          </p:cNvSpPr>
          <p:nvPr>
            <p:ph type="sldNum" sz="quarter" idx="12"/>
          </p:nvPr>
        </p:nvSpPr>
        <p:spPr/>
        <p:txBody>
          <a:bodyPr/>
          <a:lstStyle/>
          <a:p>
            <a:pPr>
              <a:defRPr/>
            </a:pPr>
            <a:fld id="{3FF2C605-4958-CF43-AA48-80339EFDB0AF}" type="slidenum">
              <a:rPr lang="en-US" smtClean="0"/>
              <a:pPr>
                <a:defRPr/>
              </a:pPr>
              <a:t>5</a:t>
            </a:fld>
            <a:endParaRPr lang="en-US"/>
          </a:p>
        </p:txBody>
      </p:sp>
      <p:pic>
        <p:nvPicPr>
          <p:cNvPr id="5" name="Picture 4">
            <a:extLst>
              <a:ext uri="{FF2B5EF4-FFF2-40B4-BE49-F238E27FC236}">
                <a16:creationId xmlns:a16="http://schemas.microsoft.com/office/drawing/2014/main" id="{A2801EC0-FB79-D947-BF26-81BB5C306BA3}"/>
              </a:ext>
            </a:extLst>
          </p:cNvPr>
          <p:cNvPicPr>
            <a:picLocks noChangeAspect="1"/>
          </p:cNvPicPr>
          <p:nvPr/>
        </p:nvPicPr>
        <p:blipFill>
          <a:blip r:embed="rId2"/>
          <a:stretch>
            <a:fillRect/>
          </a:stretch>
        </p:blipFill>
        <p:spPr>
          <a:xfrm>
            <a:off x="7504044" y="4402393"/>
            <a:ext cx="3435350" cy="2211545"/>
          </a:xfrm>
          <a:prstGeom prst="rect">
            <a:avLst/>
          </a:prstGeom>
        </p:spPr>
      </p:pic>
      <p:pic>
        <p:nvPicPr>
          <p:cNvPr id="6" name="Picture 5">
            <a:extLst>
              <a:ext uri="{FF2B5EF4-FFF2-40B4-BE49-F238E27FC236}">
                <a16:creationId xmlns:a16="http://schemas.microsoft.com/office/drawing/2014/main" id="{6D2C2416-B0CB-3E44-9103-448561FE0B7B}"/>
              </a:ext>
            </a:extLst>
          </p:cNvPr>
          <p:cNvPicPr>
            <a:picLocks noChangeAspect="1"/>
          </p:cNvPicPr>
          <p:nvPr/>
        </p:nvPicPr>
        <p:blipFill>
          <a:blip r:embed="rId3"/>
          <a:stretch>
            <a:fillRect/>
          </a:stretch>
        </p:blipFill>
        <p:spPr>
          <a:xfrm>
            <a:off x="7504044" y="1968501"/>
            <a:ext cx="3221575" cy="2469874"/>
          </a:xfrm>
          <a:prstGeom prst="rect">
            <a:avLst/>
          </a:prstGeom>
        </p:spPr>
      </p:pic>
    </p:spTree>
    <p:extLst>
      <p:ext uri="{BB962C8B-B14F-4D97-AF65-F5344CB8AC3E}">
        <p14:creationId xmlns:p14="http://schemas.microsoft.com/office/powerpoint/2010/main" val="3900317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26425-1975-D04D-B9CC-0CC53FDC91C0}"/>
              </a:ext>
            </a:extLst>
          </p:cNvPr>
          <p:cNvSpPr>
            <a:spLocks noGrp="1"/>
          </p:cNvSpPr>
          <p:nvPr>
            <p:ph type="title"/>
          </p:nvPr>
        </p:nvSpPr>
        <p:spPr/>
        <p:txBody>
          <a:bodyPr/>
          <a:lstStyle/>
          <a:p>
            <a:r>
              <a:rPr lang="en-US" dirty="0"/>
              <a:t>Gap Closure</a:t>
            </a:r>
          </a:p>
        </p:txBody>
      </p:sp>
      <p:sp>
        <p:nvSpPr>
          <p:cNvPr id="3" name="Content Placeholder 2">
            <a:extLst>
              <a:ext uri="{FF2B5EF4-FFF2-40B4-BE49-F238E27FC236}">
                <a16:creationId xmlns:a16="http://schemas.microsoft.com/office/drawing/2014/main" id="{05F664B4-0B38-0648-A64D-9A2A43A43F42}"/>
              </a:ext>
            </a:extLst>
          </p:cNvPr>
          <p:cNvSpPr>
            <a:spLocks noGrp="1"/>
          </p:cNvSpPr>
          <p:nvPr>
            <p:ph idx="1"/>
          </p:nvPr>
        </p:nvSpPr>
        <p:spPr/>
        <p:txBody>
          <a:bodyPr/>
          <a:lstStyle/>
          <a:p>
            <a:r>
              <a:rPr lang="en-US" sz="2000" dirty="0"/>
              <a:t>Although the thermal expansion coefficient is lower in oxide fuel than in austenitic SS cladding, the temperatures in the fuel pellets are much higher than in the cladding and induce a higher thermal expansion in the fuel pellet</a:t>
            </a:r>
          </a:p>
          <a:p>
            <a:r>
              <a:rPr lang="en-US" sz="2000" dirty="0"/>
              <a:t>At high linear powers gap closure is completed after a burnup of about 1% or even less</a:t>
            </a:r>
          </a:p>
          <a:p>
            <a:r>
              <a:rPr lang="en-US" sz="2000" dirty="0"/>
              <a:t>Fuel pellets are broken into several fragments at the end of first rise to power, resulting in a small average displacement of matter toward the cladding</a:t>
            </a:r>
          </a:p>
          <a:p>
            <a:r>
              <a:rPr lang="en-US" sz="2000" dirty="0"/>
              <a:t>Cladding creep down occurs relatively quickly</a:t>
            </a:r>
          </a:p>
          <a:p>
            <a:r>
              <a:rPr lang="en-US" sz="2000" dirty="0"/>
              <a:t>The force exerted on the fuel column by the spring located in the upper rod (in addition to the weight of the fuel column) of causes an axial compression creep outwards of the fuel</a:t>
            </a:r>
          </a:p>
          <a:p>
            <a:r>
              <a:rPr lang="en-US" sz="2000" dirty="0"/>
              <a:t>The main cause of swelling and gap closure is the fission product swelling of the fuel </a:t>
            </a:r>
          </a:p>
          <a:p>
            <a:endParaRPr lang="en-US" sz="2000" dirty="0"/>
          </a:p>
        </p:txBody>
      </p:sp>
      <p:sp>
        <p:nvSpPr>
          <p:cNvPr id="4" name="Slide Number Placeholder 3">
            <a:extLst>
              <a:ext uri="{FF2B5EF4-FFF2-40B4-BE49-F238E27FC236}">
                <a16:creationId xmlns:a16="http://schemas.microsoft.com/office/drawing/2014/main" id="{7AB73653-CD57-884E-A065-63F212B07577}"/>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spTree>
    <p:extLst>
      <p:ext uri="{BB962C8B-B14F-4D97-AF65-F5344CB8AC3E}">
        <p14:creationId xmlns:p14="http://schemas.microsoft.com/office/powerpoint/2010/main" val="2284134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19E5-DA94-F94C-AD25-4FBEC1006151}"/>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9B3E3842-85CB-E14B-AA13-1ECCB597D916}"/>
              </a:ext>
            </a:extLst>
          </p:cNvPr>
          <p:cNvSpPr>
            <a:spLocks noGrp="1"/>
          </p:cNvSpPr>
          <p:nvPr>
            <p:ph idx="1"/>
          </p:nvPr>
        </p:nvSpPr>
        <p:spPr/>
        <p:txBody>
          <a:bodyPr/>
          <a:lstStyle/>
          <a:p>
            <a:r>
              <a:rPr lang="en-US" sz="2000" dirty="0"/>
              <a:t>The main objective of oxide fuels in fast reactors is to achieve very high burnup; 15 at.% or even more is typically considered as a reference target</a:t>
            </a:r>
          </a:p>
          <a:p>
            <a:r>
              <a:rPr lang="en-US" sz="2000" dirty="0"/>
              <a:t>This means that at the end of irradiation, 15% of the initial actinide atoms (U and Pu) have disappeared and ~26% atoms present in the fuel are FPs</a:t>
            </a:r>
          </a:p>
          <a:p>
            <a:r>
              <a:rPr lang="en-US" sz="2000" dirty="0"/>
              <a:t>All physical and chemical properties of oxide fuel will continuously evolve during its lifetime in the reactor; in particular, fission products will decrease the thermal conductivity and the melting point, thus reducing the margin to fuel melting</a:t>
            </a:r>
          </a:p>
          <a:p>
            <a:r>
              <a:rPr lang="en-US" sz="2000" dirty="0"/>
              <a:t>Most phenomena occurring in the fuel pins will be a direct consequence of these fission products</a:t>
            </a:r>
          </a:p>
          <a:p>
            <a:r>
              <a:rPr lang="en-US" sz="2000" dirty="0"/>
              <a:t>This large amount of fission products is one of the specificities of fast oxide fuel</a:t>
            </a:r>
          </a:p>
          <a:p>
            <a:r>
              <a:rPr lang="en-US" sz="2000" dirty="0"/>
              <a:t>The fission products effects depend upon the chemical state of the fission product, which is influenced by the oxygen potential of the fuel</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64F273F9-D0F0-2C41-9811-22B9889ACA3C}"/>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spTree>
    <p:extLst>
      <p:ext uri="{BB962C8B-B14F-4D97-AF65-F5344CB8AC3E}">
        <p14:creationId xmlns:p14="http://schemas.microsoft.com/office/powerpoint/2010/main" val="3986632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76C62-1E50-BE44-8E45-171B5AE49206}"/>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69B28602-5037-9F4A-838A-EAE9F1C17120}"/>
              </a:ext>
            </a:extLst>
          </p:cNvPr>
          <p:cNvSpPr>
            <a:spLocks noGrp="1"/>
          </p:cNvSpPr>
          <p:nvPr>
            <p:ph idx="1"/>
          </p:nvPr>
        </p:nvSpPr>
        <p:spPr>
          <a:xfrm>
            <a:off x="609600" y="2160495"/>
            <a:ext cx="6795052" cy="3965670"/>
          </a:xfrm>
        </p:spPr>
        <p:txBody>
          <a:bodyPr/>
          <a:lstStyle/>
          <a:p>
            <a:r>
              <a:rPr lang="en-US" sz="2000" dirty="0"/>
              <a:t>Fission products lie in the main five families:</a:t>
            </a:r>
          </a:p>
          <a:p>
            <a:pPr lvl="1"/>
            <a:r>
              <a:rPr lang="en-US" sz="2000" dirty="0"/>
              <a:t>solid solution, oxide precipitates, metallic precipitates, volatile gases, noble gases</a:t>
            </a:r>
          </a:p>
          <a:p>
            <a:r>
              <a:rPr lang="en-US" sz="2000" dirty="0"/>
              <a:t>On the metallographs of fuel irradiated at high burnup, white inclusions are systematically observed</a:t>
            </a:r>
          </a:p>
          <a:p>
            <a:r>
              <a:rPr lang="en-US" sz="2000" dirty="0"/>
              <a:t>The higher the burnup and the temperature, the larger these precipitates</a:t>
            </a:r>
          </a:p>
          <a:p>
            <a:r>
              <a:rPr lang="en-US" sz="2000" dirty="0"/>
              <a:t>In most cases, EPMA on these precipitates shows essentially five elements: Mo, Ru, Tc, Rh, and Pd.</a:t>
            </a:r>
          </a:p>
          <a:p>
            <a:r>
              <a:rPr lang="en-US" sz="2000" dirty="0"/>
              <a:t>They are the five ‘noble metal’ fission products with the highest yield</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6CEE671A-0BB3-5A45-AC52-4A8C32461201}"/>
              </a:ext>
            </a:extLst>
          </p:cNvPr>
          <p:cNvSpPr>
            <a:spLocks noGrp="1"/>
          </p:cNvSpPr>
          <p:nvPr>
            <p:ph type="sldNum" sz="quarter" idx="12"/>
          </p:nvPr>
        </p:nvSpPr>
        <p:spPr/>
        <p:txBody>
          <a:bodyPr/>
          <a:lstStyle/>
          <a:p>
            <a:pPr>
              <a:defRPr/>
            </a:pPr>
            <a:fld id="{3FF2C605-4958-CF43-AA48-80339EFDB0AF}" type="slidenum">
              <a:rPr lang="en-US" smtClean="0"/>
              <a:pPr>
                <a:defRPr/>
              </a:pPr>
              <a:t>8</a:t>
            </a:fld>
            <a:endParaRPr lang="en-US"/>
          </a:p>
        </p:txBody>
      </p:sp>
      <p:pic>
        <p:nvPicPr>
          <p:cNvPr id="5" name="Picture 4">
            <a:extLst>
              <a:ext uri="{FF2B5EF4-FFF2-40B4-BE49-F238E27FC236}">
                <a16:creationId xmlns:a16="http://schemas.microsoft.com/office/drawing/2014/main" id="{8254FDFA-843B-C94A-BE7F-B0E0193FF467}"/>
              </a:ext>
            </a:extLst>
          </p:cNvPr>
          <p:cNvPicPr>
            <a:picLocks noChangeAspect="1"/>
          </p:cNvPicPr>
          <p:nvPr/>
        </p:nvPicPr>
        <p:blipFill>
          <a:blip r:embed="rId2"/>
          <a:stretch>
            <a:fillRect/>
          </a:stretch>
        </p:blipFill>
        <p:spPr>
          <a:xfrm>
            <a:off x="8056217" y="2188725"/>
            <a:ext cx="2997200" cy="3048000"/>
          </a:xfrm>
          <a:prstGeom prst="rect">
            <a:avLst/>
          </a:prstGeom>
        </p:spPr>
      </p:pic>
    </p:spTree>
    <p:extLst>
      <p:ext uri="{BB962C8B-B14F-4D97-AF65-F5344CB8AC3E}">
        <p14:creationId xmlns:p14="http://schemas.microsoft.com/office/powerpoint/2010/main" val="240196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4B22D-5AD2-0C01-57FF-9D8E0229C6FE}"/>
              </a:ext>
            </a:extLst>
          </p:cNvPr>
          <p:cNvSpPr>
            <a:spLocks noGrp="1"/>
          </p:cNvSpPr>
          <p:nvPr>
            <p:ph type="title"/>
          </p:nvPr>
        </p:nvSpPr>
        <p:spPr/>
        <p:txBody>
          <a:bodyPr/>
          <a:lstStyle/>
          <a:p>
            <a:r>
              <a:rPr lang="en-US" dirty="0"/>
              <a:t>O/M Ratio</a:t>
            </a:r>
          </a:p>
        </p:txBody>
      </p:sp>
      <p:sp>
        <p:nvSpPr>
          <p:cNvPr id="3" name="Content Placeholder 2">
            <a:extLst>
              <a:ext uri="{FF2B5EF4-FFF2-40B4-BE49-F238E27FC236}">
                <a16:creationId xmlns:a16="http://schemas.microsoft.com/office/drawing/2014/main" id="{BB118308-AF23-B971-2B1A-ECBD5680B7C1}"/>
              </a:ext>
            </a:extLst>
          </p:cNvPr>
          <p:cNvSpPr>
            <a:spLocks noGrp="1"/>
          </p:cNvSpPr>
          <p:nvPr>
            <p:ph idx="1"/>
          </p:nvPr>
        </p:nvSpPr>
        <p:spPr>
          <a:xfrm>
            <a:off x="609600" y="2160495"/>
            <a:ext cx="5862638" cy="3965670"/>
          </a:xfrm>
        </p:spPr>
        <p:txBody>
          <a:bodyPr/>
          <a:lstStyle/>
          <a:p>
            <a:r>
              <a:rPr lang="en-US" dirty="0"/>
              <a:t>Fission releases two oxygen atoms, which cannot be fully bound by the fission products, this increases the O potential in the fuel as dissolved O</a:t>
            </a:r>
          </a:p>
          <a:p>
            <a:r>
              <a:rPr lang="en-US" dirty="0"/>
              <a:t>The O potential increases until the point where Mo starts to oxidize, leaving the metallic inclusions</a:t>
            </a:r>
          </a:p>
          <a:p>
            <a:r>
              <a:rPr lang="en-US" dirty="0"/>
              <a:t>The O/M ratio increases until Mo starts to oxidize, then maintains at approximately 2.0 or thereabouts</a:t>
            </a:r>
          </a:p>
        </p:txBody>
      </p:sp>
      <p:sp>
        <p:nvSpPr>
          <p:cNvPr id="4" name="Slide Number Placeholder 3">
            <a:extLst>
              <a:ext uri="{FF2B5EF4-FFF2-40B4-BE49-F238E27FC236}">
                <a16:creationId xmlns:a16="http://schemas.microsoft.com/office/drawing/2014/main" id="{09AFC33D-A569-C085-55CF-C662BA30B006}"/>
              </a:ext>
            </a:extLst>
          </p:cNvPr>
          <p:cNvSpPr>
            <a:spLocks noGrp="1"/>
          </p:cNvSpPr>
          <p:nvPr>
            <p:ph type="sldNum" sz="quarter" idx="12"/>
          </p:nvPr>
        </p:nvSpPr>
        <p:spPr/>
        <p:txBody>
          <a:bodyPr/>
          <a:lstStyle/>
          <a:p>
            <a:pPr>
              <a:defRPr/>
            </a:pPr>
            <a:fld id="{3FF2C605-4958-CF43-AA48-80339EFDB0AF}" type="slidenum">
              <a:rPr lang="en-US" smtClean="0"/>
              <a:pPr>
                <a:defRPr/>
              </a:pPr>
              <a:t>9</a:t>
            </a:fld>
            <a:endParaRPr lang="en-US"/>
          </a:p>
        </p:txBody>
      </p:sp>
      <p:pic>
        <p:nvPicPr>
          <p:cNvPr id="5" name="Picture 4">
            <a:extLst>
              <a:ext uri="{FF2B5EF4-FFF2-40B4-BE49-F238E27FC236}">
                <a16:creationId xmlns:a16="http://schemas.microsoft.com/office/drawing/2014/main" id="{A9E9DAD9-5332-5810-12F7-17AE61FDF0E7}"/>
              </a:ext>
            </a:extLst>
          </p:cNvPr>
          <p:cNvPicPr>
            <a:picLocks noChangeAspect="1"/>
          </p:cNvPicPr>
          <p:nvPr/>
        </p:nvPicPr>
        <p:blipFill>
          <a:blip r:embed="rId2"/>
          <a:stretch>
            <a:fillRect/>
          </a:stretch>
        </p:blipFill>
        <p:spPr>
          <a:xfrm>
            <a:off x="6654680" y="3822701"/>
            <a:ext cx="5327769" cy="2533650"/>
          </a:xfrm>
          <a:prstGeom prst="rect">
            <a:avLst/>
          </a:prstGeom>
        </p:spPr>
      </p:pic>
      <p:pic>
        <p:nvPicPr>
          <p:cNvPr id="6" name="Picture 5">
            <a:extLst>
              <a:ext uri="{FF2B5EF4-FFF2-40B4-BE49-F238E27FC236}">
                <a16:creationId xmlns:a16="http://schemas.microsoft.com/office/drawing/2014/main" id="{ABB42B93-F59E-5375-D773-FDC1EDAFFA1F}"/>
              </a:ext>
            </a:extLst>
          </p:cNvPr>
          <p:cNvPicPr>
            <a:picLocks noChangeAspect="1"/>
          </p:cNvPicPr>
          <p:nvPr/>
        </p:nvPicPr>
        <p:blipFill>
          <a:blip r:embed="rId3"/>
          <a:stretch>
            <a:fillRect/>
          </a:stretch>
        </p:blipFill>
        <p:spPr>
          <a:xfrm>
            <a:off x="7184964" y="1122363"/>
            <a:ext cx="4267200" cy="2569803"/>
          </a:xfrm>
          <a:prstGeom prst="rect">
            <a:avLst/>
          </a:prstGeom>
        </p:spPr>
      </p:pic>
    </p:spTree>
    <p:extLst>
      <p:ext uri="{BB962C8B-B14F-4D97-AF65-F5344CB8AC3E}">
        <p14:creationId xmlns:p14="http://schemas.microsoft.com/office/powerpoint/2010/main" val="109773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64EAE-20B9-B549-A7DA-DFD62A7D100E}"/>
              </a:ext>
            </a:extLst>
          </p:cNvPr>
          <p:cNvSpPr>
            <a:spLocks noGrp="1"/>
          </p:cNvSpPr>
          <p:nvPr>
            <p:ph type="title"/>
          </p:nvPr>
        </p:nvSpPr>
        <p:spPr/>
        <p:txBody>
          <a:bodyPr/>
          <a:lstStyle/>
          <a:p>
            <a:r>
              <a:rPr lang="en-US" dirty="0"/>
              <a:t>Joint </a:t>
            </a:r>
            <a:r>
              <a:rPr lang="en-US" dirty="0" err="1"/>
              <a:t>Oxyde</a:t>
            </a:r>
            <a:r>
              <a:rPr lang="en-US" dirty="0"/>
              <a:t> </a:t>
            </a:r>
            <a:r>
              <a:rPr lang="en-US" dirty="0" err="1"/>
              <a:t>Gaine</a:t>
            </a:r>
            <a:r>
              <a:rPr lang="en-US" dirty="0"/>
              <a:t> (JOG)</a:t>
            </a:r>
          </a:p>
        </p:txBody>
      </p:sp>
      <p:sp>
        <p:nvSpPr>
          <p:cNvPr id="3" name="Content Placeholder 2">
            <a:extLst>
              <a:ext uri="{FF2B5EF4-FFF2-40B4-BE49-F238E27FC236}">
                <a16:creationId xmlns:a16="http://schemas.microsoft.com/office/drawing/2014/main" id="{6E1B5793-A97F-AE43-BC07-8A2030D4978B}"/>
              </a:ext>
            </a:extLst>
          </p:cNvPr>
          <p:cNvSpPr>
            <a:spLocks noGrp="1"/>
          </p:cNvSpPr>
          <p:nvPr>
            <p:ph idx="1"/>
          </p:nvPr>
        </p:nvSpPr>
        <p:spPr>
          <a:xfrm>
            <a:off x="609599" y="2160495"/>
            <a:ext cx="7580243" cy="3965670"/>
          </a:xfrm>
        </p:spPr>
        <p:txBody>
          <a:bodyPr/>
          <a:lstStyle/>
          <a:p>
            <a:r>
              <a:rPr lang="en-US" sz="2000" dirty="0"/>
              <a:t>Even after gap closure, there remains a residual gap a couple of micrometers wide due to surface roughness</a:t>
            </a:r>
          </a:p>
          <a:p>
            <a:r>
              <a:rPr lang="en-US" sz="2000" dirty="0"/>
              <a:t>At high burnup, radial micrographs show a reopening of the gap, however, this gap is no longer filled with gas, but with fission product compounds</a:t>
            </a:r>
          </a:p>
          <a:p>
            <a:r>
              <a:rPr lang="en-US" sz="2000" dirty="0"/>
              <a:t>JOG is probably Cs2MoO4, but includes lots of other fission product species</a:t>
            </a:r>
          </a:p>
          <a:p>
            <a:r>
              <a:rPr lang="en-US" sz="2000" dirty="0"/>
              <a:t>All the fission products migrating toward the cold region of the pellet accumulate first in the oxide fuel, and then escape the fuel and accumulate between the fuel and the cladding where they form a bonding layer</a:t>
            </a:r>
          </a:p>
          <a:p>
            <a:r>
              <a:rPr lang="en-US" sz="2000" dirty="0"/>
              <a:t>At high burnup, this JOG reaches a diameter width of about 150 </a:t>
            </a:r>
            <a:r>
              <a:rPr lang="en-US" sz="2000" dirty="0">
                <a:latin typeface="Symbol" pitchFamily="2" charset="2"/>
              </a:rPr>
              <a:t>m</a:t>
            </a:r>
            <a:r>
              <a:rPr lang="en-US" sz="2000" dirty="0"/>
              <a:t>m</a:t>
            </a:r>
          </a:p>
          <a:p>
            <a:endParaRPr lang="en-US" sz="2000" dirty="0"/>
          </a:p>
        </p:txBody>
      </p:sp>
      <p:sp>
        <p:nvSpPr>
          <p:cNvPr id="4" name="Slide Number Placeholder 3">
            <a:extLst>
              <a:ext uri="{FF2B5EF4-FFF2-40B4-BE49-F238E27FC236}">
                <a16:creationId xmlns:a16="http://schemas.microsoft.com/office/drawing/2014/main" id="{54B54CAC-E961-8D43-96B3-D1725D0220DF}"/>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pic>
        <p:nvPicPr>
          <p:cNvPr id="5" name="Picture 4">
            <a:extLst>
              <a:ext uri="{FF2B5EF4-FFF2-40B4-BE49-F238E27FC236}">
                <a16:creationId xmlns:a16="http://schemas.microsoft.com/office/drawing/2014/main" id="{5ED57291-A718-BE4E-863D-892B3CB62D53}"/>
              </a:ext>
            </a:extLst>
          </p:cNvPr>
          <p:cNvPicPr>
            <a:picLocks noChangeAspect="1"/>
          </p:cNvPicPr>
          <p:nvPr/>
        </p:nvPicPr>
        <p:blipFill>
          <a:blip r:embed="rId2"/>
          <a:stretch>
            <a:fillRect/>
          </a:stretch>
        </p:blipFill>
        <p:spPr>
          <a:xfrm>
            <a:off x="8270842" y="2160495"/>
            <a:ext cx="3778316" cy="3965670"/>
          </a:xfrm>
          <a:prstGeom prst="rect">
            <a:avLst/>
          </a:prstGeom>
        </p:spPr>
      </p:pic>
    </p:spTree>
    <p:extLst>
      <p:ext uri="{BB962C8B-B14F-4D97-AF65-F5344CB8AC3E}">
        <p14:creationId xmlns:p14="http://schemas.microsoft.com/office/powerpoint/2010/main" val="3006181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A425F-8E9C-D30D-1FE5-BC108D251A71}"/>
              </a:ext>
            </a:extLst>
          </p:cNvPr>
          <p:cNvSpPr>
            <a:spLocks noGrp="1"/>
          </p:cNvSpPr>
          <p:nvPr>
            <p:ph type="title"/>
          </p:nvPr>
        </p:nvSpPr>
        <p:spPr/>
        <p:txBody>
          <a:bodyPr/>
          <a:lstStyle/>
          <a:p>
            <a:r>
              <a:rPr lang="en-US" dirty="0"/>
              <a:t>JOG Effects</a:t>
            </a:r>
          </a:p>
        </p:txBody>
      </p:sp>
      <p:sp>
        <p:nvSpPr>
          <p:cNvPr id="3" name="Content Placeholder 2">
            <a:extLst>
              <a:ext uri="{FF2B5EF4-FFF2-40B4-BE49-F238E27FC236}">
                <a16:creationId xmlns:a16="http://schemas.microsoft.com/office/drawing/2014/main" id="{FC20B2AA-377A-232F-6AB3-1D169B593F17}"/>
              </a:ext>
            </a:extLst>
          </p:cNvPr>
          <p:cNvSpPr>
            <a:spLocks noGrp="1"/>
          </p:cNvSpPr>
          <p:nvPr>
            <p:ph idx="1"/>
          </p:nvPr>
        </p:nvSpPr>
        <p:spPr/>
        <p:txBody>
          <a:bodyPr/>
          <a:lstStyle/>
          <a:p>
            <a:r>
              <a:rPr lang="en-US" dirty="0"/>
              <a:t>The thermal conductivity of Cs2MoO4 is about 10x lower than MOX fuel, but much higher than gases</a:t>
            </a:r>
          </a:p>
          <a:p>
            <a:r>
              <a:rPr lang="en-US" dirty="0"/>
              <a:t>JOG acts as a mechanical buffer, limiting the amount of PCMI, or stresses in the cladding</a:t>
            </a:r>
          </a:p>
          <a:p>
            <a:r>
              <a:rPr lang="en-US" dirty="0"/>
              <a:t>JOG reduces fuel swelling, by allowing fission products to leave the fuel into a preferable chemical state</a:t>
            </a:r>
          </a:p>
          <a:p>
            <a:r>
              <a:rPr lang="en-US" sz="2400" dirty="0"/>
              <a:t>Fission products in the JOG play a predominant role on FCCI and on the resulting strong corrosion</a:t>
            </a:r>
          </a:p>
          <a:p>
            <a:endParaRPr lang="en-US" dirty="0"/>
          </a:p>
        </p:txBody>
      </p:sp>
      <p:sp>
        <p:nvSpPr>
          <p:cNvPr id="4" name="Slide Number Placeholder 3">
            <a:extLst>
              <a:ext uri="{FF2B5EF4-FFF2-40B4-BE49-F238E27FC236}">
                <a16:creationId xmlns:a16="http://schemas.microsoft.com/office/drawing/2014/main" id="{10990C67-4165-EC70-CB6D-FBF4AF1831FD}"/>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spTree>
    <p:extLst>
      <p:ext uri="{BB962C8B-B14F-4D97-AF65-F5344CB8AC3E}">
        <p14:creationId xmlns:p14="http://schemas.microsoft.com/office/powerpoint/2010/main" val="2992103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A47C-C694-DA43-8432-71F3AF7F6282}"/>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9FC294B9-479B-F34A-8CBE-9E4E07028E82}"/>
              </a:ext>
            </a:extLst>
          </p:cNvPr>
          <p:cNvSpPr>
            <a:spLocks noGrp="1"/>
          </p:cNvSpPr>
          <p:nvPr>
            <p:ph idx="1"/>
          </p:nvPr>
        </p:nvSpPr>
        <p:spPr/>
        <p:txBody>
          <a:bodyPr/>
          <a:lstStyle/>
          <a:p>
            <a:r>
              <a:rPr lang="en-US" sz="2000" dirty="0"/>
              <a:t>FCCI appears as one of the potential life-limiting factors for high burnup fuel elements</a:t>
            </a:r>
          </a:p>
          <a:p>
            <a:r>
              <a:rPr lang="en-US" sz="2000" dirty="0"/>
              <a:t>The (</a:t>
            </a:r>
            <a:r>
              <a:rPr lang="en-US" sz="2000" dirty="0" err="1"/>
              <a:t>U,Pu</a:t>
            </a:r>
            <a:r>
              <a:rPr lang="en-US" sz="2000" dirty="0"/>
              <a:t>)O2 fuel itself does not directly react with the cladding, but it provides the oxygen needed for some of the reactions</a:t>
            </a:r>
          </a:p>
          <a:p>
            <a:r>
              <a:rPr lang="en-US" sz="2000" dirty="0"/>
              <a:t>Volatile fission products, tellurium and cesium, are the corrosive species able to overcome the passivation of stainless steel and therefore to induce clad corrosion</a:t>
            </a:r>
          </a:p>
          <a:p>
            <a:r>
              <a:rPr lang="en-US" sz="2000" dirty="0"/>
              <a:t>Several types of corrosion reactions and mechanisms are possible, occurring at different stages of irradiation, sometimes successively in the same pin, and resulting in different attack features</a:t>
            </a:r>
          </a:p>
          <a:p>
            <a:r>
              <a:rPr lang="en-US" sz="2000" dirty="0"/>
              <a:t>Thus, a qualitative understanding of corrosion mechanisms has been achieved, but it is not yet possible to give a complete physical description of FCCI and to predict corrosion depths</a:t>
            </a:r>
          </a:p>
        </p:txBody>
      </p:sp>
      <p:sp>
        <p:nvSpPr>
          <p:cNvPr id="4" name="Slide Number Placeholder 3">
            <a:extLst>
              <a:ext uri="{FF2B5EF4-FFF2-40B4-BE49-F238E27FC236}">
                <a16:creationId xmlns:a16="http://schemas.microsoft.com/office/drawing/2014/main" id="{5E085311-B9B6-DD4E-83E1-FD3CD6A5F343}"/>
              </a:ext>
            </a:extLst>
          </p:cNvPr>
          <p:cNvSpPr>
            <a:spLocks noGrp="1"/>
          </p:cNvSpPr>
          <p:nvPr>
            <p:ph type="sldNum" sz="quarter" idx="12"/>
          </p:nvPr>
        </p:nvSpPr>
        <p:spPr/>
        <p:txBody>
          <a:bodyPr/>
          <a:lstStyle/>
          <a:p>
            <a:pPr>
              <a:defRPr/>
            </a:pPr>
            <a:fld id="{3FF2C605-4958-CF43-AA48-80339EFDB0AF}" type="slidenum">
              <a:rPr lang="en-US" smtClean="0"/>
              <a:pPr>
                <a:defRPr/>
              </a:pPr>
              <a:t>12</a:t>
            </a:fld>
            <a:endParaRPr lang="en-US"/>
          </a:p>
        </p:txBody>
      </p:sp>
    </p:spTree>
    <p:extLst>
      <p:ext uri="{BB962C8B-B14F-4D97-AF65-F5344CB8AC3E}">
        <p14:creationId xmlns:p14="http://schemas.microsoft.com/office/powerpoint/2010/main" val="268364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591DB-2E4B-6AF8-FF23-B9CF67F0B134}"/>
              </a:ext>
            </a:extLst>
          </p:cNvPr>
          <p:cNvSpPr>
            <a:spLocks noGrp="1"/>
          </p:cNvSpPr>
          <p:nvPr>
            <p:ph type="title"/>
          </p:nvPr>
        </p:nvSpPr>
        <p:spPr/>
        <p:txBody>
          <a:bodyPr/>
          <a:lstStyle/>
          <a:p>
            <a:r>
              <a:rPr lang="en-US" dirty="0"/>
              <a:t>Accidents/Transients in MOX SFRs</a:t>
            </a:r>
          </a:p>
        </p:txBody>
      </p:sp>
      <p:sp>
        <p:nvSpPr>
          <p:cNvPr id="3" name="Content Placeholder 2">
            <a:extLst>
              <a:ext uri="{FF2B5EF4-FFF2-40B4-BE49-F238E27FC236}">
                <a16:creationId xmlns:a16="http://schemas.microsoft.com/office/drawing/2014/main" id="{08F1445C-EEAA-B0B4-3C59-44C62E3954E4}"/>
              </a:ext>
            </a:extLst>
          </p:cNvPr>
          <p:cNvSpPr>
            <a:spLocks noGrp="1"/>
          </p:cNvSpPr>
          <p:nvPr>
            <p:ph idx="1"/>
          </p:nvPr>
        </p:nvSpPr>
        <p:spPr/>
        <p:txBody>
          <a:bodyPr/>
          <a:lstStyle/>
          <a:p>
            <a:r>
              <a:rPr lang="en-US" dirty="0"/>
              <a:t>For sodium fast reactors three main types of transient and accident scenarios are considered as references for the study of fuel transient and accident behavior:</a:t>
            </a:r>
          </a:p>
          <a:p>
            <a:pPr lvl="1"/>
            <a:r>
              <a:rPr lang="en-US" dirty="0"/>
              <a:t>the slow power transient representative of one control-rod withdrawal</a:t>
            </a:r>
          </a:p>
          <a:p>
            <a:pPr lvl="1"/>
            <a:r>
              <a:rPr lang="en-US" dirty="0"/>
              <a:t>the loss of cooling due to blockage of a subassembly</a:t>
            </a:r>
          </a:p>
          <a:p>
            <a:pPr lvl="1"/>
            <a:r>
              <a:rPr lang="en-US" dirty="0"/>
              <a:t>the unprotected loss of flow (ULOF) accident that might lead to a core disruptive accident</a:t>
            </a:r>
          </a:p>
          <a:p>
            <a:pPr lvl="1"/>
            <a:endParaRPr lang="en-US" dirty="0"/>
          </a:p>
          <a:p>
            <a:endParaRPr lang="en-US" dirty="0"/>
          </a:p>
        </p:txBody>
      </p:sp>
      <p:sp>
        <p:nvSpPr>
          <p:cNvPr id="4" name="Slide Number Placeholder 3">
            <a:extLst>
              <a:ext uri="{FF2B5EF4-FFF2-40B4-BE49-F238E27FC236}">
                <a16:creationId xmlns:a16="http://schemas.microsoft.com/office/drawing/2014/main" id="{39CE3405-7C0B-F41F-1F55-5F2AFE449F8E}"/>
              </a:ext>
            </a:extLst>
          </p:cNvPr>
          <p:cNvSpPr>
            <a:spLocks noGrp="1"/>
          </p:cNvSpPr>
          <p:nvPr>
            <p:ph type="sldNum" sz="quarter" idx="12"/>
          </p:nvPr>
        </p:nvSpPr>
        <p:spPr/>
        <p:txBody>
          <a:bodyPr/>
          <a:lstStyle/>
          <a:p>
            <a:pPr>
              <a:defRPr/>
            </a:pPr>
            <a:fld id="{3FF2C605-4958-CF43-AA48-80339EFDB0AF}" type="slidenum">
              <a:rPr lang="en-US" smtClean="0"/>
              <a:pPr>
                <a:defRPr/>
              </a:pPr>
              <a:t>13</a:t>
            </a:fld>
            <a:endParaRPr lang="en-US"/>
          </a:p>
        </p:txBody>
      </p:sp>
    </p:spTree>
    <p:extLst>
      <p:ext uri="{BB962C8B-B14F-4D97-AF65-F5344CB8AC3E}">
        <p14:creationId xmlns:p14="http://schemas.microsoft.com/office/powerpoint/2010/main" val="2940466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EA03C-268C-9934-0DFE-4D72965F46D9}"/>
              </a:ext>
            </a:extLst>
          </p:cNvPr>
          <p:cNvSpPr>
            <a:spLocks noGrp="1"/>
          </p:cNvSpPr>
          <p:nvPr>
            <p:ph type="title"/>
          </p:nvPr>
        </p:nvSpPr>
        <p:spPr/>
        <p:txBody>
          <a:bodyPr/>
          <a:lstStyle/>
          <a:p>
            <a:r>
              <a:rPr lang="en-US" dirty="0"/>
              <a:t>Control Rod Withdrawal Accident (CRWA)</a:t>
            </a:r>
          </a:p>
        </p:txBody>
      </p:sp>
      <p:sp>
        <p:nvSpPr>
          <p:cNvPr id="3" name="Content Placeholder 2">
            <a:extLst>
              <a:ext uri="{FF2B5EF4-FFF2-40B4-BE49-F238E27FC236}">
                <a16:creationId xmlns:a16="http://schemas.microsoft.com/office/drawing/2014/main" id="{1F686EE3-A36A-0C68-65B3-3D442FE1EC5F}"/>
              </a:ext>
            </a:extLst>
          </p:cNvPr>
          <p:cNvSpPr>
            <a:spLocks noGrp="1"/>
          </p:cNvSpPr>
          <p:nvPr>
            <p:ph idx="1"/>
          </p:nvPr>
        </p:nvSpPr>
        <p:spPr/>
        <p:txBody>
          <a:bodyPr/>
          <a:lstStyle/>
          <a:p>
            <a:r>
              <a:rPr lang="en-US" sz="2000" dirty="0"/>
              <a:t>Slow power transients due to control-rod withdrawal are the most common transients occurring during reactor operation as they are used for regulation of the core power</a:t>
            </a:r>
          </a:p>
          <a:p>
            <a:r>
              <a:rPr lang="en-US" sz="2000" dirty="0"/>
              <a:t>In case of an inadvertent control-rod withdrawal due to operator action together with a failure of various protection systems, this transient might lead to severe consequences</a:t>
            </a:r>
          </a:p>
          <a:p>
            <a:r>
              <a:rPr lang="en-US" sz="2000" dirty="0"/>
              <a:t>During such a transient, nominal power can increase by 1-3% per second, and may lead to partial fuel melting inside the pins of the subassemblies surrounding the control rod</a:t>
            </a:r>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3D652275-E112-394A-DEC9-C5AB7905C93E}"/>
              </a:ext>
            </a:extLst>
          </p:cNvPr>
          <p:cNvSpPr>
            <a:spLocks noGrp="1"/>
          </p:cNvSpPr>
          <p:nvPr>
            <p:ph type="sldNum" sz="quarter" idx="12"/>
          </p:nvPr>
        </p:nvSpPr>
        <p:spPr/>
        <p:txBody>
          <a:bodyPr/>
          <a:lstStyle/>
          <a:p>
            <a:pPr>
              <a:defRPr/>
            </a:pPr>
            <a:fld id="{3FF2C605-4958-CF43-AA48-80339EFDB0AF}" type="slidenum">
              <a:rPr lang="en-US" smtClean="0"/>
              <a:pPr>
                <a:defRPr/>
              </a:pPr>
              <a:t>14</a:t>
            </a:fld>
            <a:endParaRPr lang="en-US"/>
          </a:p>
        </p:txBody>
      </p:sp>
    </p:spTree>
    <p:extLst>
      <p:ext uri="{BB962C8B-B14F-4D97-AF65-F5344CB8AC3E}">
        <p14:creationId xmlns:p14="http://schemas.microsoft.com/office/powerpoint/2010/main" val="3012690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E08A4-B0B7-0016-F47E-D21F9BC3CAAC}"/>
              </a:ext>
            </a:extLst>
          </p:cNvPr>
          <p:cNvSpPr>
            <a:spLocks noGrp="1"/>
          </p:cNvSpPr>
          <p:nvPr>
            <p:ph type="title"/>
          </p:nvPr>
        </p:nvSpPr>
        <p:spPr/>
        <p:txBody>
          <a:bodyPr/>
          <a:lstStyle/>
          <a:p>
            <a:r>
              <a:rPr lang="en-US" dirty="0"/>
              <a:t>Local blockage of a subassembly</a:t>
            </a:r>
          </a:p>
        </p:txBody>
      </p:sp>
      <p:sp>
        <p:nvSpPr>
          <p:cNvPr id="3" name="Content Placeholder 2">
            <a:extLst>
              <a:ext uri="{FF2B5EF4-FFF2-40B4-BE49-F238E27FC236}">
                <a16:creationId xmlns:a16="http://schemas.microsoft.com/office/drawing/2014/main" id="{E85947DC-B6F1-43EB-0104-D3C0D6515249}"/>
              </a:ext>
            </a:extLst>
          </p:cNvPr>
          <p:cNvSpPr>
            <a:spLocks noGrp="1"/>
          </p:cNvSpPr>
          <p:nvPr>
            <p:ph idx="1"/>
          </p:nvPr>
        </p:nvSpPr>
        <p:spPr/>
        <p:txBody>
          <a:bodyPr/>
          <a:lstStyle/>
          <a:p>
            <a:r>
              <a:rPr lang="en-US" sz="2000" dirty="0"/>
              <a:t>Local blockage formation in a fuel assembly due to ingression of some external material into the bundle may lead to pin failure with subassembly degradation and melting</a:t>
            </a:r>
          </a:p>
          <a:p>
            <a:r>
              <a:rPr lang="en-US" sz="2000" dirty="0"/>
              <a:t>The hypothetical total instantaneous inlet blockage (TIB) of a subassembly at nominal power has been suggested as a potential initiator for a core melt accident</a:t>
            </a:r>
          </a:p>
          <a:p>
            <a:r>
              <a:rPr lang="en-US" sz="2000" dirty="0"/>
              <a:t>Owing to the rapid and complete loss of flow in the faulted subassembly, the usual detection systems are not operating, so core power can not be shut down in time</a:t>
            </a:r>
          </a:p>
          <a:p>
            <a:r>
              <a:rPr lang="en-US" sz="2000" dirty="0"/>
              <a:t>The accident is characterized by overheating and melting of the fuel pins, degradation of the subassembly, wall failure, and possible propagation of molten materials into neighboring subassemblies</a:t>
            </a:r>
          </a:p>
          <a:p>
            <a:r>
              <a:rPr lang="en-US" sz="2000" dirty="0"/>
              <a:t>The main safety issue is the risk of propagation of the accident beyond the neighboring subassemblies that might lead to critical events and generalized core melting</a:t>
            </a:r>
          </a:p>
          <a:p>
            <a:r>
              <a:rPr lang="en-US" sz="2000" dirty="0"/>
              <a:t>Such an accident caused the Fermi-1 core meltdown in 1966</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81007B0E-6334-1487-B178-E6A040E4A12E}"/>
              </a:ext>
            </a:extLst>
          </p:cNvPr>
          <p:cNvSpPr>
            <a:spLocks noGrp="1"/>
          </p:cNvSpPr>
          <p:nvPr>
            <p:ph type="sldNum" sz="quarter" idx="12"/>
          </p:nvPr>
        </p:nvSpPr>
        <p:spPr/>
        <p:txBody>
          <a:bodyPr/>
          <a:lstStyle/>
          <a:p>
            <a:pPr>
              <a:defRPr/>
            </a:pPr>
            <a:fld id="{3FF2C605-4958-CF43-AA48-80339EFDB0AF}" type="slidenum">
              <a:rPr lang="en-US" smtClean="0"/>
              <a:pPr>
                <a:defRPr/>
              </a:pPr>
              <a:t>15</a:t>
            </a:fld>
            <a:endParaRPr lang="en-US"/>
          </a:p>
        </p:txBody>
      </p:sp>
    </p:spTree>
    <p:extLst>
      <p:ext uri="{BB962C8B-B14F-4D97-AF65-F5344CB8AC3E}">
        <p14:creationId xmlns:p14="http://schemas.microsoft.com/office/powerpoint/2010/main" val="891162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7B8A-4E6F-61D0-261F-EF0AFA457849}"/>
              </a:ext>
            </a:extLst>
          </p:cNvPr>
          <p:cNvSpPr>
            <a:spLocks noGrp="1"/>
          </p:cNvSpPr>
          <p:nvPr>
            <p:ph type="title"/>
          </p:nvPr>
        </p:nvSpPr>
        <p:spPr/>
        <p:txBody>
          <a:bodyPr/>
          <a:lstStyle/>
          <a:p>
            <a:r>
              <a:rPr lang="en-US" dirty="0"/>
              <a:t>Unprotected loss of flow accident (ULOF)</a:t>
            </a:r>
          </a:p>
        </p:txBody>
      </p:sp>
      <p:sp>
        <p:nvSpPr>
          <p:cNvPr id="3" name="Content Placeholder 2">
            <a:extLst>
              <a:ext uri="{FF2B5EF4-FFF2-40B4-BE49-F238E27FC236}">
                <a16:creationId xmlns:a16="http://schemas.microsoft.com/office/drawing/2014/main" id="{59B42870-DF72-3249-AB3C-0C7EFA37B212}"/>
              </a:ext>
            </a:extLst>
          </p:cNvPr>
          <p:cNvSpPr>
            <a:spLocks noGrp="1"/>
          </p:cNvSpPr>
          <p:nvPr>
            <p:ph idx="1"/>
          </p:nvPr>
        </p:nvSpPr>
        <p:spPr/>
        <p:txBody>
          <a:bodyPr/>
          <a:lstStyle/>
          <a:p>
            <a:r>
              <a:rPr lang="en-US" sz="2000" dirty="0"/>
              <a:t>The ULOF accident is the result of loss of primary pump flow due to an initiating event such as electrical break-down without reactor scram</a:t>
            </a:r>
          </a:p>
          <a:p>
            <a:r>
              <a:rPr lang="en-US" sz="2000" dirty="0"/>
              <a:t>The first phase leads to sodium flow reduction and to associated power reduction linked to reactivity feedback</a:t>
            </a:r>
          </a:p>
          <a:p>
            <a:r>
              <a:rPr lang="en-US" sz="2000" dirty="0"/>
              <a:t>The power to flow ratio increases so that the temperature causes sodium boiling</a:t>
            </a:r>
          </a:p>
          <a:p>
            <a:r>
              <a:rPr lang="en-US" sz="2000" dirty="0"/>
              <a:t>Due to the positive ‘sodium void effect’ in the central core regions, the ULOF leads to sodium boiling and channel voiding and may result in a core disruptive accident (CDA)</a:t>
            </a:r>
          </a:p>
          <a:p>
            <a:r>
              <a:rPr lang="en-US" sz="2000" dirty="0"/>
              <a:t>This can lead to generalized core degradation: fuel melting, clad failure and/or melting, fuel ejection into coolant, fuel dispersal and relocation into the channels, and possible mechanical energy release</a:t>
            </a:r>
          </a:p>
          <a:p>
            <a:r>
              <a:rPr lang="en-US" sz="2000" dirty="0"/>
              <a:t>Although this accident is initiated by a loss of coolant flow, it may rapidly evolve toward a fast reactivity insertion accident</a:t>
            </a:r>
          </a:p>
          <a:p>
            <a:endParaRPr lang="en-US" sz="2000" dirty="0"/>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BF558D7C-DAB6-0433-6A33-D33594684E3E}"/>
              </a:ext>
            </a:extLst>
          </p:cNvPr>
          <p:cNvSpPr>
            <a:spLocks noGrp="1"/>
          </p:cNvSpPr>
          <p:nvPr>
            <p:ph type="sldNum" sz="quarter" idx="12"/>
          </p:nvPr>
        </p:nvSpPr>
        <p:spPr/>
        <p:txBody>
          <a:bodyPr/>
          <a:lstStyle/>
          <a:p>
            <a:pPr>
              <a:defRPr/>
            </a:pPr>
            <a:fld id="{3FF2C605-4958-CF43-AA48-80339EFDB0AF}" type="slidenum">
              <a:rPr lang="en-US" smtClean="0"/>
              <a:pPr>
                <a:defRPr/>
              </a:pPr>
              <a:t>16</a:t>
            </a:fld>
            <a:endParaRPr lang="en-US"/>
          </a:p>
        </p:txBody>
      </p:sp>
    </p:spTree>
    <p:extLst>
      <p:ext uri="{BB962C8B-B14F-4D97-AF65-F5344CB8AC3E}">
        <p14:creationId xmlns:p14="http://schemas.microsoft.com/office/powerpoint/2010/main" val="2697475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F2303-ED75-9638-B8BB-47F00634ED28}"/>
              </a:ext>
            </a:extLst>
          </p:cNvPr>
          <p:cNvSpPr>
            <a:spLocks noGrp="1"/>
          </p:cNvSpPr>
          <p:nvPr>
            <p:ph type="title"/>
          </p:nvPr>
        </p:nvSpPr>
        <p:spPr/>
        <p:txBody>
          <a:bodyPr/>
          <a:lstStyle/>
          <a:p>
            <a:r>
              <a:rPr lang="en-US" dirty="0"/>
              <a:t>Fuel Behavior Under Slow Power Transients</a:t>
            </a:r>
          </a:p>
        </p:txBody>
      </p:sp>
      <p:sp>
        <p:nvSpPr>
          <p:cNvPr id="3" name="Content Placeholder 2">
            <a:extLst>
              <a:ext uri="{FF2B5EF4-FFF2-40B4-BE49-F238E27FC236}">
                <a16:creationId xmlns:a16="http://schemas.microsoft.com/office/drawing/2014/main" id="{46C0E8D4-174A-95F9-A09F-4DC56B52D429}"/>
              </a:ext>
            </a:extLst>
          </p:cNvPr>
          <p:cNvSpPr>
            <a:spLocks noGrp="1"/>
          </p:cNvSpPr>
          <p:nvPr>
            <p:ph idx="1"/>
          </p:nvPr>
        </p:nvSpPr>
        <p:spPr/>
        <p:txBody>
          <a:bodyPr/>
          <a:lstStyle/>
          <a:p>
            <a:r>
              <a:rPr lang="en-US" sz="2000" dirty="0"/>
              <a:t>Despite high fission gas release rate in MOX fuel due to high operation temperature (60-80% release), power increases resulting in higher temperatures also activate fission gas-related phenomena that influence thermal and mechanical pin behavior</a:t>
            </a:r>
          </a:p>
          <a:p>
            <a:r>
              <a:rPr lang="en-US" sz="2000" dirty="0"/>
              <a:t>Intragranular gas migration toward grain boundary related to the thermal gradient</a:t>
            </a:r>
          </a:p>
          <a:p>
            <a:r>
              <a:rPr lang="en-US" sz="2000" dirty="0"/>
              <a:t>Gas bubble growth due to coalescence via vacancy diffusion</a:t>
            </a:r>
          </a:p>
          <a:p>
            <a:r>
              <a:rPr lang="en-US" sz="2000" dirty="0"/>
              <a:t>Fission gas-induced fuel swelling driven by an increase in the bubble pressure</a:t>
            </a:r>
          </a:p>
          <a:p>
            <a:r>
              <a:rPr lang="en-US" sz="2000" dirty="0"/>
              <a:t>Saturation and interconnection of grain boundary bubbles leading to additional gas release</a:t>
            </a:r>
          </a:p>
          <a:p>
            <a:r>
              <a:rPr lang="en-US" sz="2000" dirty="0"/>
              <a:t>Under slow power transients, fuel heat generation and heat removal by the sodium coolant are almost in thermal equilibrium, and these ‘quasi’ steady-state conditions allow the evaluation of the power level at which fuel melting occurs, providing operating limits</a:t>
            </a:r>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FA2E0889-DC8D-292D-815B-A5B6F87756F1}"/>
              </a:ext>
            </a:extLst>
          </p:cNvPr>
          <p:cNvSpPr>
            <a:spLocks noGrp="1"/>
          </p:cNvSpPr>
          <p:nvPr>
            <p:ph type="sldNum" sz="quarter" idx="12"/>
          </p:nvPr>
        </p:nvSpPr>
        <p:spPr/>
        <p:txBody>
          <a:bodyPr/>
          <a:lstStyle/>
          <a:p>
            <a:pPr>
              <a:defRPr/>
            </a:pPr>
            <a:fld id="{3FF2C605-4958-CF43-AA48-80339EFDB0AF}" type="slidenum">
              <a:rPr lang="en-US" smtClean="0"/>
              <a:pPr>
                <a:defRPr/>
              </a:pPr>
              <a:t>17</a:t>
            </a:fld>
            <a:endParaRPr lang="en-US"/>
          </a:p>
        </p:txBody>
      </p:sp>
    </p:spTree>
    <p:extLst>
      <p:ext uri="{BB962C8B-B14F-4D97-AF65-F5344CB8AC3E}">
        <p14:creationId xmlns:p14="http://schemas.microsoft.com/office/powerpoint/2010/main" val="1213699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A9720-F78D-4E3B-EEA0-BB0C2F336AAD}"/>
              </a:ext>
            </a:extLst>
          </p:cNvPr>
          <p:cNvSpPr>
            <a:spLocks noGrp="1"/>
          </p:cNvSpPr>
          <p:nvPr>
            <p:ph type="title"/>
          </p:nvPr>
        </p:nvSpPr>
        <p:spPr/>
        <p:txBody>
          <a:bodyPr/>
          <a:lstStyle/>
          <a:p>
            <a:r>
              <a:rPr lang="en-US" dirty="0"/>
              <a:t>Fuel Melting</a:t>
            </a:r>
          </a:p>
        </p:txBody>
      </p:sp>
      <p:sp>
        <p:nvSpPr>
          <p:cNvPr id="3" name="Content Placeholder 2">
            <a:extLst>
              <a:ext uri="{FF2B5EF4-FFF2-40B4-BE49-F238E27FC236}">
                <a16:creationId xmlns:a16="http://schemas.microsoft.com/office/drawing/2014/main" id="{DA254697-C9C4-7A4D-E635-1C855356D9F3}"/>
              </a:ext>
            </a:extLst>
          </p:cNvPr>
          <p:cNvSpPr>
            <a:spLocks noGrp="1"/>
          </p:cNvSpPr>
          <p:nvPr>
            <p:ph idx="1"/>
          </p:nvPr>
        </p:nvSpPr>
        <p:spPr>
          <a:xfrm>
            <a:off x="609600" y="1968501"/>
            <a:ext cx="10972800" cy="4157664"/>
          </a:xfrm>
        </p:spPr>
        <p:txBody>
          <a:bodyPr/>
          <a:lstStyle/>
          <a:p>
            <a:r>
              <a:rPr lang="en-US" sz="2000" dirty="0"/>
              <a:t>SFRs with MOX are sensitive to any fuel compaction effect that might result from fuel motion (for instance, due to melting) with the potential risk of prompt-critical events and mechanical energy release to the vessel structure</a:t>
            </a:r>
          </a:p>
          <a:p>
            <a:r>
              <a:rPr lang="en-US" sz="2000" dirty="0"/>
              <a:t>Fuel-melting occurrence depends on pin thermal behavior that is governed by thermal conductivity, heat exchange between fuel and clad through the pellet–clad gap, and melting temperature</a:t>
            </a:r>
          </a:p>
          <a:p>
            <a:r>
              <a:rPr lang="en-US" sz="2000" dirty="0"/>
              <a:t>Melting temperature and thermal conductivity depend on stoichiometry and burnup</a:t>
            </a:r>
          </a:p>
          <a:p>
            <a:r>
              <a:rPr lang="en-US" sz="2000" dirty="0"/>
              <a:t>Heat exchange in the fuel system is governed by evolution of gap thickness and composition</a:t>
            </a:r>
          </a:p>
          <a:p>
            <a:r>
              <a:rPr lang="en-US" sz="2000" dirty="0"/>
              <a:t>High T plastic fuel creep may lead to central hole reduction and to increase of the macroscopic fuel porosity with subsequent reduction of the thermal conductivity and thus higher fuel temperature in the center that results in a lower power at melting onset</a:t>
            </a:r>
          </a:p>
          <a:p>
            <a:r>
              <a:rPr lang="en-US" sz="2000" dirty="0"/>
              <a:t>High peaking factors (~1.3, compared to ~1.1 in LWRs), can increase the local temperatures in high power regions and increase probability of fuel melting</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B8BA4DDF-D969-B07B-E689-810E07F7F103}"/>
              </a:ext>
            </a:extLst>
          </p:cNvPr>
          <p:cNvSpPr>
            <a:spLocks noGrp="1"/>
          </p:cNvSpPr>
          <p:nvPr>
            <p:ph type="sldNum" sz="quarter" idx="12"/>
          </p:nvPr>
        </p:nvSpPr>
        <p:spPr/>
        <p:txBody>
          <a:bodyPr/>
          <a:lstStyle/>
          <a:p>
            <a:pPr>
              <a:defRPr/>
            </a:pPr>
            <a:fld id="{3FF2C605-4958-CF43-AA48-80339EFDB0AF}" type="slidenum">
              <a:rPr lang="en-US" smtClean="0"/>
              <a:pPr>
                <a:defRPr/>
              </a:pPr>
              <a:t>18</a:t>
            </a:fld>
            <a:endParaRPr lang="en-US"/>
          </a:p>
        </p:txBody>
      </p:sp>
    </p:spTree>
    <p:extLst>
      <p:ext uri="{BB962C8B-B14F-4D97-AF65-F5344CB8AC3E}">
        <p14:creationId xmlns:p14="http://schemas.microsoft.com/office/powerpoint/2010/main" val="3778953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E6733-5FD5-3F4E-AD04-D4DFBFAD5B3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BCBD647-185F-ED40-B4B3-5DE021720570}"/>
              </a:ext>
            </a:extLst>
          </p:cNvPr>
          <p:cNvSpPr>
            <a:spLocks noGrp="1"/>
          </p:cNvSpPr>
          <p:nvPr>
            <p:ph idx="1"/>
          </p:nvPr>
        </p:nvSpPr>
        <p:spPr/>
        <p:txBody>
          <a:bodyPr/>
          <a:lstStyle/>
          <a:p>
            <a:r>
              <a:rPr lang="en-US" sz="2000" dirty="0"/>
              <a:t>Oxide fuel for fast reactors has proved to be a mature, quite reliable, and very robust fuel concept</a:t>
            </a:r>
          </a:p>
          <a:p>
            <a:r>
              <a:rPr lang="en-US" sz="2000" dirty="0"/>
              <a:t>SFRs with MOX operate at much higher power and temperature than LWRs</a:t>
            </a:r>
          </a:p>
          <a:p>
            <a:r>
              <a:rPr lang="en-US" sz="2000" dirty="0"/>
              <a:t>Despite the low thermal conductivity, fuel loadings to the cladding remain low, and oxide fuel pins have demonstrated an ability to reach extremely high burnup (&gt;15 at%)</a:t>
            </a:r>
          </a:p>
          <a:p>
            <a:r>
              <a:rPr lang="en-US" sz="2000" dirty="0"/>
              <a:t>O/M ratio is one of the most significant factors in determining the nature of actinide redistribution, fission product precipitate chemistries, and FCCI formation</a:t>
            </a:r>
          </a:p>
          <a:p>
            <a:r>
              <a:rPr lang="en-US" sz="2000" dirty="0"/>
              <a:t>Unique features include restructuring, central pore formation, and JOG formation</a:t>
            </a:r>
          </a:p>
          <a:p>
            <a:r>
              <a:rPr lang="en-US" sz="2000" dirty="0"/>
              <a:t>Three main types of transient of interest in MOX SFRs</a:t>
            </a:r>
          </a:p>
          <a:p>
            <a:pPr lvl="1"/>
            <a:r>
              <a:rPr lang="en-US" sz="2000" dirty="0"/>
              <a:t>slow power transient (CRWA); blockage of a subassembly; unprotected loss of flow accident</a:t>
            </a:r>
          </a:p>
          <a:p>
            <a:r>
              <a:rPr lang="en-US" sz="2000" dirty="0"/>
              <a:t>Fuel melting is one of the most critical concerns</a:t>
            </a:r>
          </a:p>
          <a:p>
            <a:endParaRPr lang="en-US" sz="2000" dirty="0"/>
          </a:p>
          <a:p>
            <a:endParaRPr lang="en-US" sz="2000" dirty="0"/>
          </a:p>
        </p:txBody>
      </p:sp>
      <p:sp>
        <p:nvSpPr>
          <p:cNvPr id="4" name="Slide Number Placeholder 3">
            <a:extLst>
              <a:ext uri="{FF2B5EF4-FFF2-40B4-BE49-F238E27FC236}">
                <a16:creationId xmlns:a16="http://schemas.microsoft.com/office/drawing/2014/main" id="{83CA775A-65BE-DB4F-80DA-8CC498AA243A}"/>
              </a:ext>
            </a:extLst>
          </p:cNvPr>
          <p:cNvSpPr>
            <a:spLocks noGrp="1"/>
          </p:cNvSpPr>
          <p:nvPr>
            <p:ph type="sldNum" sz="quarter" idx="12"/>
          </p:nvPr>
        </p:nvSpPr>
        <p:spPr/>
        <p:txBody>
          <a:bodyPr/>
          <a:lstStyle/>
          <a:p>
            <a:pPr>
              <a:defRPr/>
            </a:pPr>
            <a:fld id="{3FF2C605-4958-CF43-AA48-80339EFDB0AF}" type="slidenum">
              <a:rPr lang="en-US" smtClean="0"/>
              <a:pPr>
                <a:defRPr/>
              </a:pPr>
              <a:t>19</a:t>
            </a:fld>
            <a:endParaRPr lang="en-US"/>
          </a:p>
        </p:txBody>
      </p:sp>
    </p:spTree>
    <p:extLst>
      <p:ext uri="{BB962C8B-B14F-4D97-AF65-F5344CB8AC3E}">
        <p14:creationId xmlns:p14="http://schemas.microsoft.com/office/powerpoint/2010/main" val="4004939698"/>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11193</TotalTime>
  <Words>2131</Words>
  <Application>Microsoft Macintosh PowerPoint</Application>
  <PresentationFormat>Widescreen</PresentationFormat>
  <Paragraphs>145</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Symbol</vt:lpstr>
      <vt:lpstr>1_NCStateU-horizontal-left-logo</vt:lpstr>
      <vt:lpstr>Nuclear Fuel Performance</vt:lpstr>
      <vt:lpstr>Last Time</vt:lpstr>
      <vt:lpstr>MOX Restructuring</vt:lpstr>
      <vt:lpstr>MOX Restructuring</vt:lpstr>
      <vt:lpstr>Constituent Redistribution</vt:lpstr>
      <vt:lpstr>Gap Closure</vt:lpstr>
      <vt:lpstr>Fission Products</vt:lpstr>
      <vt:lpstr>Fission Products</vt:lpstr>
      <vt:lpstr>O/M Ratio</vt:lpstr>
      <vt:lpstr>Joint Oxyde Gaine (JOG)</vt:lpstr>
      <vt:lpstr>JOG Effects</vt:lpstr>
      <vt:lpstr>FCCI</vt:lpstr>
      <vt:lpstr>Accidents/Transients in MOX SFRs</vt:lpstr>
      <vt:lpstr>Control Rod Withdrawal Accident (CRWA)</vt:lpstr>
      <vt:lpstr>Local blockage of a subassembly</vt:lpstr>
      <vt:lpstr>Unprotected loss of flow accident (ULOF)</vt:lpstr>
      <vt:lpstr>Fuel Behavior Under Slow Power Transients</vt:lpstr>
      <vt:lpstr>Fuel Melting</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Nuclear Fuel Performance</dc:title>
  <dc:creator>Benjamin W. Beeler</dc:creator>
  <cp:lastModifiedBy>Benjamin Beeler</cp:lastModifiedBy>
  <cp:revision>55</cp:revision>
  <dcterms:created xsi:type="dcterms:W3CDTF">2021-03-25T14:16:40Z</dcterms:created>
  <dcterms:modified xsi:type="dcterms:W3CDTF">2026-04-16T20:28:39Z</dcterms:modified>
</cp:coreProperties>
</file>
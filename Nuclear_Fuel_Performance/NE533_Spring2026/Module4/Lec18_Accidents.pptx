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4"/>
  </p:notesMasterIdLst>
  <p:sldIdLst>
    <p:sldId id="537" r:id="rId2"/>
    <p:sldId id="605" r:id="rId3"/>
    <p:sldId id="328" r:id="rId4"/>
    <p:sldId id="407" r:id="rId5"/>
    <p:sldId id="344" r:id="rId6"/>
    <p:sldId id="538" r:id="rId7"/>
    <p:sldId id="541" r:id="rId8"/>
    <p:sldId id="539" r:id="rId9"/>
    <p:sldId id="542" r:id="rId10"/>
    <p:sldId id="540" r:id="rId11"/>
    <p:sldId id="543" r:id="rId12"/>
    <p:sldId id="544" r:id="rId13"/>
    <p:sldId id="548" r:id="rId14"/>
    <p:sldId id="545" r:id="rId15"/>
    <p:sldId id="546" r:id="rId16"/>
    <p:sldId id="547" r:id="rId17"/>
    <p:sldId id="559" r:id="rId18"/>
    <p:sldId id="549" r:id="rId19"/>
    <p:sldId id="550" r:id="rId20"/>
    <p:sldId id="551" r:id="rId21"/>
    <p:sldId id="552" r:id="rId22"/>
    <p:sldId id="553" r:id="rId23"/>
    <p:sldId id="583" r:id="rId24"/>
    <p:sldId id="582" r:id="rId25"/>
    <p:sldId id="554" r:id="rId26"/>
    <p:sldId id="555" r:id="rId27"/>
    <p:sldId id="584" r:id="rId28"/>
    <p:sldId id="600" r:id="rId29"/>
    <p:sldId id="604" r:id="rId30"/>
    <p:sldId id="590" r:id="rId31"/>
    <p:sldId id="588" r:id="rId32"/>
    <p:sldId id="58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417"/>
    <p:restoredTop sz="96327"/>
  </p:normalViewPr>
  <p:slideViewPr>
    <p:cSldViewPr snapToGrid="0" snapToObjects="1">
      <p:cViewPr varScale="1">
        <p:scale>
          <a:sx n="123" d="100"/>
          <a:sy n="123" d="100"/>
        </p:scale>
        <p:origin x="1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90BC3A-953C-654D-BC1C-D0CE62D49644}" type="datetimeFigureOut">
              <a:rPr lang="en-US" smtClean="0"/>
              <a:t>4/2/26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FD7D17-6095-D940-89AB-64358FB46A57}" type="slidenum">
              <a:rPr lang="en-US" smtClean="0"/>
              <a:t>‹#›</a:t>
            </a:fld>
            <a:endParaRPr lang="en-US"/>
          </a:p>
        </p:txBody>
      </p:sp>
    </p:spTree>
    <p:extLst>
      <p:ext uri="{BB962C8B-B14F-4D97-AF65-F5344CB8AC3E}">
        <p14:creationId xmlns:p14="http://schemas.microsoft.com/office/powerpoint/2010/main" val="398763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lgn="ctr">
              <a:defRPr/>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D6F3A803-A045-354B-887A-01433CE46FC2}" type="datetime1">
              <a:rPr lang="en-US" smtClean="0"/>
              <a:t>4/2/26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2121112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609600" y="1525587"/>
            <a:ext cx="10972800" cy="46005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5BD04BF-9DC2-6341-92B2-BD109A2EF3B1}" type="datetime1">
              <a:rPr lang="en-US" smtClean="0"/>
              <a:t>4/2/26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127434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526131"/>
            <a:ext cx="103632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B0FFBC7-3028-644D-986B-D9855CB74B38}" type="datetime1">
              <a:rPr lang="en-US" smtClean="0"/>
              <a:t>4/2/26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1478566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609600" y="1525587"/>
            <a:ext cx="5384800" cy="46005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525587"/>
            <a:ext cx="5384800" cy="46005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C3B8AE4-01F5-CC42-9C62-61BC6528368B}" type="datetime1">
              <a:rPr lang="en-US" smtClean="0"/>
              <a:t>4/2/26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4272431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7E49314-4A78-2444-9569-44EB70168344}" type="datetime1">
              <a:rPr lang="en-US" smtClean="0"/>
              <a:t>4/2/26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2655934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Date Placeholder 3"/>
          <p:cNvSpPr>
            <a:spLocks noGrp="1"/>
          </p:cNvSpPr>
          <p:nvPr>
            <p:ph type="dt" sz="half" idx="10"/>
          </p:nvPr>
        </p:nvSpPr>
        <p:spPr/>
        <p:txBody>
          <a:bodyPr/>
          <a:lstStyle>
            <a:lvl1pPr>
              <a:defRPr/>
            </a:lvl1pPr>
          </a:lstStyle>
          <a:p>
            <a:pPr>
              <a:defRPr/>
            </a:pPr>
            <a:fld id="{5BC22837-4683-B242-B000-BCEE30621787}" type="datetime1">
              <a:rPr lang="en-US" smtClean="0"/>
              <a:t>4/2/26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435588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CDAE926-7EF1-0B40-B57E-417D188A609C}" type="datetime1">
              <a:rPr lang="en-US" smtClean="0"/>
              <a:t>4/2/26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320968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518D107B-B9C7-5B41-A168-55258AB95F52}" type="datetime1">
              <a:rPr lang="en-US" smtClean="0"/>
              <a:t>4/2/26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829063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3AD92D36-EE82-3142-B011-9831FB5E702F}" type="datetime1">
              <a:rPr lang="en-US" smtClean="0"/>
              <a:t>4/2/26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2035589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8B33C1D-C2E2-1049-AA3F-CD6E91052752}" type="datetime1">
              <a:rPr lang="en-US" smtClean="0"/>
              <a:t>4/2/26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625712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791AD68-B60C-4542-BDDD-2074DE6DE828}" type="datetime1">
              <a:rPr lang="en-US" smtClean="0"/>
              <a:t>4/2/26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981048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57200"/>
            <a:ext cx="10972800"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1525587"/>
            <a:ext cx="10972800" cy="4600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3EE08B4B-7256-494F-A90D-3891BD685F4A}" type="datetime1">
              <a:rPr lang="en-US" smtClean="0"/>
              <a:t>4/2/26</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3" name="Picture 2"/>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0" y="0"/>
            <a:ext cx="12192000" cy="457200"/>
          </a:xfrm>
          <a:prstGeom prst="rect">
            <a:avLst/>
          </a:prstGeom>
        </p:spPr>
      </p:pic>
    </p:spTree>
    <p:extLst>
      <p:ext uri="{BB962C8B-B14F-4D97-AF65-F5344CB8AC3E}">
        <p14:creationId xmlns:p14="http://schemas.microsoft.com/office/powerpoint/2010/main" val="2704716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A1AB4-6496-0D46-9C3B-B71641B90165}"/>
              </a:ext>
            </a:extLst>
          </p:cNvPr>
          <p:cNvSpPr>
            <a:spLocks noGrp="1"/>
          </p:cNvSpPr>
          <p:nvPr>
            <p:ph type="ctrTitle"/>
          </p:nvPr>
        </p:nvSpPr>
        <p:spPr/>
        <p:txBody>
          <a:bodyPr/>
          <a:lstStyle/>
          <a:p>
            <a:r>
              <a:rPr lang="en-US" sz="4000" dirty="0"/>
              <a:t>Nuclear Fuel Performance</a:t>
            </a:r>
          </a:p>
        </p:txBody>
      </p:sp>
      <p:sp>
        <p:nvSpPr>
          <p:cNvPr id="3" name="Subtitle 2">
            <a:extLst>
              <a:ext uri="{FF2B5EF4-FFF2-40B4-BE49-F238E27FC236}">
                <a16:creationId xmlns:a16="http://schemas.microsoft.com/office/drawing/2014/main" id="{D4E102A4-1D26-9E41-904A-5C94FEB21AD8}"/>
              </a:ext>
            </a:extLst>
          </p:cNvPr>
          <p:cNvSpPr>
            <a:spLocks noGrp="1"/>
          </p:cNvSpPr>
          <p:nvPr>
            <p:ph type="subTitle" idx="1"/>
          </p:nvPr>
        </p:nvSpPr>
        <p:spPr/>
        <p:txBody>
          <a:bodyPr/>
          <a:lstStyle/>
          <a:p>
            <a:r>
              <a:rPr lang="en-US" dirty="0"/>
              <a:t>NE-533</a:t>
            </a:r>
          </a:p>
          <a:p>
            <a:r>
              <a:rPr lang="en-US" dirty="0"/>
              <a:t>Spring 2026</a:t>
            </a:r>
          </a:p>
        </p:txBody>
      </p:sp>
      <p:sp>
        <p:nvSpPr>
          <p:cNvPr id="4" name="Slide Number Placeholder 3">
            <a:extLst>
              <a:ext uri="{FF2B5EF4-FFF2-40B4-BE49-F238E27FC236}">
                <a16:creationId xmlns:a16="http://schemas.microsoft.com/office/drawing/2014/main" id="{8ED6DA87-5AA8-004F-861E-B1E0BAA302DE}"/>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698762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955A2-9BE3-56BC-E25C-AF615CEE9A6F}"/>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E9251107-55E9-BF46-9CFB-97869CB57261}"/>
              </a:ext>
            </a:extLst>
          </p:cNvPr>
          <p:cNvSpPr>
            <a:spLocks noGrp="1"/>
          </p:cNvSpPr>
          <p:nvPr>
            <p:ph idx="1"/>
          </p:nvPr>
        </p:nvSpPr>
        <p:spPr/>
        <p:txBody>
          <a:bodyPr/>
          <a:lstStyle/>
          <a:p>
            <a:r>
              <a:rPr lang="en-US" dirty="0"/>
              <a:t>Presentations due on Friday (April 3) by midnight</a:t>
            </a:r>
          </a:p>
          <a:p>
            <a:r>
              <a:rPr lang="en-US" dirty="0"/>
              <a:t>Sent out an email about in-class presentations schedule</a:t>
            </a:r>
          </a:p>
          <a:p>
            <a:endParaRPr lang="en-US" dirty="0"/>
          </a:p>
          <a:p>
            <a:r>
              <a:rPr lang="en-US" dirty="0"/>
              <a:t>MOOSE part 3 has been assigned/uploaded to </a:t>
            </a:r>
            <a:r>
              <a:rPr lang="en-US" dirty="0" err="1"/>
              <a:t>moodle</a:t>
            </a:r>
            <a:r>
              <a:rPr lang="en-US" dirty="0"/>
              <a:t>, due April 28</a:t>
            </a:r>
          </a:p>
          <a:p>
            <a:endParaRPr lang="en-US" dirty="0"/>
          </a:p>
          <a:p>
            <a:endParaRPr lang="en-US" dirty="0"/>
          </a:p>
        </p:txBody>
      </p:sp>
      <p:sp>
        <p:nvSpPr>
          <p:cNvPr id="4" name="Slide Number Placeholder 3">
            <a:extLst>
              <a:ext uri="{FF2B5EF4-FFF2-40B4-BE49-F238E27FC236}">
                <a16:creationId xmlns:a16="http://schemas.microsoft.com/office/drawing/2014/main" id="{08E92B91-215A-F9A3-1481-C585CD3FCDB0}"/>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1076540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A0498-2A4F-B74D-8028-BAA9D90834A2}"/>
              </a:ext>
            </a:extLst>
          </p:cNvPr>
          <p:cNvSpPr>
            <a:spLocks noGrp="1"/>
          </p:cNvSpPr>
          <p:nvPr>
            <p:ph type="title"/>
          </p:nvPr>
        </p:nvSpPr>
        <p:spPr>
          <a:xfrm>
            <a:off x="609600" y="769122"/>
            <a:ext cx="10972800" cy="1068387"/>
          </a:xfrm>
        </p:spPr>
        <p:txBody>
          <a:bodyPr/>
          <a:lstStyle/>
          <a:p>
            <a:r>
              <a:rPr lang="en-US" dirty="0"/>
              <a:t>Last time</a:t>
            </a:r>
          </a:p>
        </p:txBody>
      </p:sp>
      <p:sp>
        <p:nvSpPr>
          <p:cNvPr id="3" name="Content Placeholder 2">
            <a:extLst>
              <a:ext uri="{FF2B5EF4-FFF2-40B4-BE49-F238E27FC236}">
                <a16:creationId xmlns:a16="http://schemas.microsoft.com/office/drawing/2014/main" id="{FF6B63D9-BC6B-A04D-B33E-8FE503E7A219}"/>
              </a:ext>
            </a:extLst>
          </p:cNvPr>
          <p:cNvSpPr>
            <a:spLocks noGrp="1"/>
          </p:cNvSpPr>
          <p:nvPr>
            <p:ph idx="1"/>
          </p:nvPr>
        </p:nvSpPr>
        <p:spPr>
          <a:xfrm>
            <a:off x="609600" y="1837509"/>
            <a:ext cx="10972800" cy="4433982"/>
          </a:xfrm>
        </p:spPr>
        <p:txBody>
          <a:bodyPr>
            <a:normAutofit fontScale="92500" lnSpcReduction="20000"/>
          </a:bodyPr>
          <a:lstStyle/>
          <a:p>
            <a:r>
              <a:rPr lang="en-US" sz="2300" dirty="0"/>
              <a:t>Cladding oxidizes, forming ZrO</a:t>
            </a:r>
            <a:r>
              <a:rPr lang="en-US" sz="2300" baseline="-25000" dirty="0"/>
              <a:t>2</a:t>
            </a:r>
          </a:p>
          <a:p>
            <a:r>
              <a:rPr lang="en-US" sz="2300" dirty="0"/>
              <a:t>The limiting step for oxidation is </a:t>
            </a:r>
          </a:p>
          <a:p>
            <a:pPr lvl="1"/>
            <a:r>
              <a:rPr lang="en-US" sz="2300" dirty="0"/>
              <a:t>the oxygen transport through the oxide layer</a:t>
            </a:r>
          </a:p>
          <a:p>
            <a:r>
              <a:rPr lang="en-US" sz="2300" dirty="0"/>
              <a:t>Relationships for oxide thickness based on weight gain and for prediction of oxide layer growth based upon power law kinetics</a:t>
            </a:r>
          </a:p>
          <a:p>
            <a:r>
              <a:rPr lang="en-US" sz="2300" dirty="0"/>
              <a:t>Hydrogen released by oxidation enters the cladding</a:t>
            </a:r>
          </a:p>
          <a:p>
            <a:r>
              <a:rPr lang="en-US" sz="2300" dirty="0"/>
              <a:t>Hydrides preferentially form:</a:t>
            </a:r>
          </a:p>
          <a:p>
            <a:pPr lvl="1"/>
            <a:r>
              <a:rPr lang="en-US" sz="2300" dirty="0"/>
              <a:t>in areas of tensile stress and lower temperature (solubility and </a:t>
            </a:r>
            <a:r>
              <a:rPr lang="en-US" sz="2300" dirty="0" err="1"/>
              <a:t>Soret</a:t>
            </a:r>
            <a:r>
              <a:rPr lang="en-US" sz="2300" dirty="0"/>
              <a:t> effect)</a:t>
            </a:r>
          </a:p>
          <a:p>
            <a:r>
              <a:rPr lang="en-US" sz="2300" dirty="0"/>
              <a:t>Mechanical effect of hydrides:</a:t>
            </a:r>
          </a:p>
          <a:p>
            <a:pPr lvl="1"/>
            <a:r>
              <a:rPr lang="en-US" sz="2300" dirty="0"/>
              <a:t>hydrides are brittle, and so reduce the ductility of the cladding</a:t>
            </a:r>
          </a:p>
          <a:p>
            <a:r>
              <a:rPr lang="en-US" sz="2300" dirty="0"/>
              <a:t>DHC is a phenomenon based upon increased solubility of hydrogen in the high tensile stress around a crack tip</a:t>
            </a:r>
          </a:p>
          <a:p>
            <a:r>
              <a:rPr lang="en-US" sz="2300" dirty="0"/>
              <a:t>Have the ability to predict hydrogen pickup in oxidized Zr cladding</a:t>
            </a:r>
          </a:p>
          <a:p>
            <a:pPr lvl="1"/>
            <a:endParaRPr lang="en-US" dirty="0"/>
          </a:p>
          <a:p>
            <a:endParaRPr lang="en-US" dirty="0"/>
          </a:p>
        </p:txBody>
      </p:sp>
      <p:sp>
        <p:nvSpPr>
          <p:cNvPr id="4" name="Slide Number Placeholder 3">
            <a:extLst>
              <a:ext uri="{FF2B5EF4-FFF2-40B4-BE49-F238E27FC236}">
                <a16:creationId xmlns:a16="http://schemas.microsoft.com/office/drawing/2014/main" id="{1E8B09ED-F306-194F-939A-1C3DA497894F}"/>
              </a:ext>
            </a:extLst>
          </p:cNvPr>
          <p:cNvSpPr>
            <a:spLocks noGrp="1"/>
          </p:cNvSpPr>
          <p:nvPr>
            <p:ph type="sldNum" sz="quarter" idx="12"/>
          </p:nvPr>
        </p:nvSpPr>
        <p:spPr/>
        <p:txBody>
          <a:bodyPr/>
          <a:lstStyle/>
          <a:p>
            <a:pPr>
              <a:defRPr/>
            </a:pPr>
            <a:fld id="{3FF2C605-4958-CF43-AA48-80339EFDB0AF}" type="slidenum">
              <a:rPr lang="en-US" smtClean="0"/>
              <a:pPr>
                <a:defRPr/>
              </a:pPr>
              <a:t>3</a:t>
            </a:fld>
            <a:endParaRPr lang="en-US"/>
          </a:p>
        </p:txBody>
      </p:sp>
    </p:spTree>
    <p:extLst>
      <p:ext uri="{BB962C8B-B14F-4D97-AF65-F5344CB8AC3E}">
        <p14:creationId xmlns:p14="http://schemas.microsoft.com/office/powerpoint/2010/main" val="385615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29CC1-34E4-A34F-8621-801D8886CE7C}"/>
              </a:ext>
            </a:extLst>
          </p:cNvPr>
          <p:cNvSpPr>
            <a:spLocks noGrp="1"/>
          </p:cNvSpPr>
          <p:nvPr>
            <p:ph type="title"/>
          </p:nvPr>
        </p:nvSpPr>
        <p:spPr>
          <a:xfrm>
            <a:off x="963084" y="1234721"/>
            <a:ext cx="10363200" cy="1362075"/>
          </a:xfrm>
        </p:spPr>
        <p:txBody>
          <a:bodyPr/>
          <a:lstStyle/>
          <a:p>
            <a:r>
              <a:rPr lang="en-US" dirty="0"/>
              <a:t>ACCIDENT SCENARIOS</a:t>
            </a:r>
          </a:p>
        </p:txBody>
      </p:sp>
      <p:sp>
        <p:nvSpPr>
          <p:cNvPr id="4" name="Slide Number Placeholder 3">
            <a:extLst>
              <a:ext uri="{FF2B5EF4-FFF2-40B4-BE49-F238E27FC236}">
                <a16:creationId xmlns:a16="http://schemas.microsoft.com/office/drawing/2014/main" id="{2BFF06B0-02C9-F34D-82A4-D2D5BBAF6842}"/>
              </a:ext>
            </a:extLst>
          </p:cNvPr>
          <p:cNvSpPr>
            <a:spLocks noGrp="1"/>
          </p:cNvSpPr>
          <p:nvPr>
            <p:ph type="sldNum" sz="quarter" idx="12"/>
          </p:nvPr>
        </p:nvSpPr>
        <p:spPr/>
        <p:txBody>
          <a:bodyPr/>
          <a:lstStyle/>
          <a:p>
            <a:pPr>
              <a:defRPr/>
            </a:pPr>
            <a:fld id="{0DA6BD0F-ABBC-C14D-BC96-77BE126A748B}" type="slidenum">
              <a:rPr lang="en-US" smtClean="0"/>
              <a:pPr>
                <a:defRPr/>
              </a:pPr>
              <a:t>4</a:t>
            </a:fld>
            <a:endParaRPr lang="en-US"/>
          </a:p>
        </p:txBody>
      </p:sp>
    </p:spTree>
    <p:extLst>
      <p:ext uri="{BB962C8B-B14F-4D97-AF65-F5344CB8AC3E}">
        <p14:creationId xmlns:p14="http://schemas.microsoft.com/office/powerpoint/2010/main" val="1665408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CCFA2-07CC-A44C-9A2F-9D1F7CED09F1}"/>
              </a:ext>
            </a:extLst>
          </p:cNvPr>
          <p:cNvSpPr>
            <a:spLocks noGrp="1"/>
          </p:cNvSpPr>
          <p:nvPr>
            <p:ph type="title"/>
          </p:nvPr>
        </p:nvSpPr>
        <p:spPr/>
        <p:txBody>
          <a:bodyPr/>
          <a:lstStyle/>
          <a:p>
            <a:r>
              <a:rPr lang="en-US" dirty="0"/>
              <a:t>Kinds of Accidents</a:t>
            </a:r>
          </a:p>
        </p:txBody>
      </p:sp>
      <p:sp>
        <p:nvSpPr>
          <p:cNvPr id="4" name="Slide Number Placeholder 3">
            <a:extLst>
              <a:ext uri="{FF2B5EF4-FFF2-40B4-BE49-F238E27FC236}">
                <a16:creationId xmlns:a16="http://schemas.microsoft.com/office/drawing/2014/main" id="{0DC281B2-42F7-A44F-A4AE-25BA37A597DD}"/>
              </a:ext>
            </a:extLst>
          </p:cNvPr>
          <p:cNvSpPr>
            <a:spLocks noGrp="1"/>
          </p:cNvSpPr>
          <p:nvPr>
            <p:ph type="sldNum" sz="quarter" idx="12"/>
          </p:nvPr>
        </p:nvSpPr>
        <p:spPr/>
        <p:txBody>
          <a:bodyPr/>
          <a:lstStyle/>
          <a:p>
            <a:pPr>
              <a:defRPr/>
            </a:pPr>
            <a:fld id="{3FF2C605-4958-CF43-AA48-80339EFDB0AF}" type="slidenum">
              <a:rPr lang="en-US" smtClean="0"/>
              <a:pPr>
                <a:defRPr/>
              </a:pPr>
              <a:t>5</a:t>
            </a:fld>
            <a:endParaRPr lang="en-US"/>
          </a:p>
        </p:txBody>
      </p:sp>
      <p:sp>
        <p:nvSpPr>
          <p:cNvPr id="8" name="Content Placeholder 2">
            <a:extLst>
              <a:ext uri="{FF2B5EF4-FFF2-40B4-BE49-F238E27FC236}">
                <a16:creationId xmlns:a16="http://schemas.microsoft.com/office/drawing/2014/main" id="{42661F88-4389-DF43-9195-B3BC4EDB785A}"/>
              </a:ext>
            </a:extLst>
          </p:cNvPr>
          <p:cNvSpPr txBox="1">
            <a:spLocks/>
          </p:cNvSpPr>
          <p:nvPr/>
        </p:nvSpPr>
        <p:spPr bwMode="auto">
          <a:xfrm>
            <a:off x="609600" y="2160495"/>
            <a:ext cx="7277100" cy="3965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3" name="Content Placeholder 2">
            <a:extLst>
              <a:ext uri="{FF2B5EF4-FFF2-40B4-BE49-F238E27FC236}">
                <a16:creationId xmlns:a16="http://schemas.microsoft.com/office/drawing/2014/main" id="{6D5C2E7D-3AA7-3948-B77B-F0D9D380FB88}"/>
              </a:ext>
            </a:extLst>
          </p:cNvPr>
          <p:cNvSpPr>
            <a:spLocks noGrp="1"/>
          </p:cNvSpPr>
          <p:nvPr>
            <p:ph idx="1"/>
          </p:nvPr>
        </p:nvSpPr>
        <p:spPr>
          <a:xfrm>
            <a:off x="609600" y="2160495"/>
            <a:ext cx="10972800" cy="3965670"/>
          </a:xfrm>
        </p:spPr>
        <p:txBody>
          <a:bodyPr/>
          <a:lstStyle/>
          <a:p>
            <a:r>
              <a:rPr lang="en-US" sz="2000" dirty="0"/>
              <a:t>Design basis accident: DBA</a:t>
            </a:r>
          </a:p>
          <a:p>
            <a:pPr lvl="1"/>
            <a:r>
              <a:rPr lang="en-US" sz="2000" dirty="0"/>
              <a:t>are postulated, credible accidents with low probability that are used to establish the design basis for the reactor and to define safety limits for its operation</a:t>
            </a:r>
          </a:p>
          <a:p>
            <a:pPr lvl="1"/>
            <a:r>
              <a:rPr lang="en-US" sz="2000" dirty="0"/>
              <a:t>two main kinds are RIA and LOCA</a:t>
            </a:r>
          </a:p>
          <a:p>
            <a:r>
              <a:rPr lang="en-US" sz="2000" dirty="0"/>
              <a:t>Beyond design basis accident: BDBA</a:t>
            </a:r>
          </a:p>
          <a:p>
            <a:pPr lvl="1"/>
            <a:r>
              <a:rPr lang="en-US" sz="2000" dirty="0"/>
              <a:t>accidents that fall outside of what is designed for, because they are deemed too unlikely to be included in design</a:t>
            </a:r>
          </a:p>
          <a:p>
            <a:endParaRPr lang="en-US" sz="2000" dirty="0"/>
          </a:p>
        </p:txBody>
      </p:sp>
    </p:spTree>
    <p:extLst>
      <p:ext uri="{BB962C8B-B14F-4D97-AF65-F5344CB8AC3E}">
        <p14:creationId xmlns:p14="http://schemas.microsoft.com/office/powerpoint/2010/main" val="3790310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36ED-EA6F-254E-9AD9-1F258743D104}"/>
              </a:ext>
            </a:extLst>
          </p:cNvPr>
          <p:cNvSpPr>
            <a:spLocks noGrp="1"/>
          </p:cNvSpPr>
          <p:nvPr>
            <p:ph type="title"/>
          </p:nvPr>
        </p:nvSpPr>
        <p:spPr/>
        <p:txBody>
          <a:bodyPr/>
          <a:lstStyle/>
          <a:p>
            <a:r>
              <a:rPr lang="en-US" dirty="0"/>
              <a:t>Reactivity Initiated Accident (RIA)</a:t>
            </a:r>
          </a:p>
        </p:txBody>
      </p:sp>
      <p:sp>
        <p:nvSpPr>
          <p:cNvPr id="3" name="Content Placeholder 2">
            <a:extLst>
              <a:ext uri="{FF2B5EF4-FFF2-40B4-BE49-F238E27FC236}">
                <a16:creationId xmlns:a16="http://schemas.microsoft.com/office/drawing/2014/main" id="{408B3F47-D7DB-EE41-B7E2-D4023A487D90}"/>
              </a:ext>
            </a:extLst>
          </p:cNvPr>
          <p:cNvSpPr>
            <a:spLocks noGrp="1"/>
          </p:cNvSpPr>
          <p:nvPr>
            <p:ph idx="1"/>
          </p:nvPr>
        </p:nvSpPr>
        <p:spPr>
          <a:xfrm>
            <a:off x="609600" y="1872343"/>
            <a:ext cx="10972800" cy="4253822"/>
          </a:xfrm>
        </p:spPr>
        <p:txBody>
          <a:bodyPr/>
          <a:lstStyle/>
          <a:p>
            <a:r>
              <a:rPr lang="en-US" sz="2000" dirty="0"/>
              <a:t>Reactivity is the fractional departure from criticality: </a:t>
            </a:r>
            <a:r>
              <a:rPr lang="en-US" sz="2000" dirty="0">
                <a:latin typeface="Symbol" pitchFamily="2" charset="2"/>
              </a:rPr>
              <a:t>d</a:t>
            </a:r>
            <a:r>
              <a:rPr lang="en-US" sz="2000" dirty="0"/>
              <a:t>k = (k − 1)/k</a:t>
            </a:r>
          </a:p>
          <a:p>
            <a:pPr marL="0" indent="0">
              <a:buNone/>
            </a:pPr>
            <a:r>
              <a:rPr lang="en-US" sz="2000" dirty="0"/>
              <a:t>	where k is your effective multiplication factor</a:t>
            </a:r>
          </a:p>
          <a:p>
            <a:pPr lvl="1"/>
            <a:r>
              <a:rPr lang="en-US" sz="2000" dirty="0"/>
              <a:t>k = (Neutrons produced in one generation)/(Neutrons produced in the previous generation)</a:t>
            </a:r>
          </a:p>
          <a:p>
            <a:pPr lvl="1"/>
            <a:r>
              <a:rPr lang="en-US" sz="2000" dirty="0"/>
              <a:t>k = </a:t>
            </a:r>
            <a:r>
              <a:rPr lang="en-US" sz="2000" dirty="0">
                <a:latin typeface="Symbol" pitchFamily="2" charset="2"/>
              </a:rPr>
              <a:t>e</a:t>
            </a:r>
            <a:r>
              <a:rPr lang="en-US" sz="2000" dirty="0"/>
              <a:t> </a:t>
            </a:r>
            <a:r>
              <a:rPr lang="en-US" sz="2000" dirty="0" err="1"/>
              <a:t>L</a:t>
            </a:r>
            <a:r>
              <a:rPr lang="en-US" sz="2000" baseline="-25000" dirty="0" err="1"/>
              <a:t>f</a:t>
            </a:r>
            <a:r>
              <a:rPr lang="en-US" sz="2000" dirty="0"/>
              <a:t> p L</a:t>
            </a:r>
            <a:r>
              <a:rPr lang="en-US" sz="2000" baseline="-25000" dirty="0"/>
              <a:t>th</a:t>
            </a:r>
            <a:r>
              <a:rPr lang="en-US" sz="2000" dirty="0"/>
              <a:t> </a:t>
            </a:r>
            <a:r>
              <a:rPr lang="en-US" sz="2000" i="1" dirty="0"/>
              <a:t>f</a:t>
            </a:r>
            <a:r>
              <a:rPr lang="en-US" sz="2000" dirty="0"/>
              <a:t> </a:t>
            </a:r>
            <a:r>
              <a:rPr lang="el-GR" sz="2000" dirty="0"/>
              <a:t>η – </a:t>
            </a:r>
            <a:r>
              <a:rPr lang="en-US" sz="2000" dirty="0"/>
              <a:t>this is your six-factor formula</a:t>
            </a:r>
          </a:p>
          <a:p>
            <a:pPr lvl="1"/>
            <a:r>
              <a:rPr lang="en-US" sz="2000" dirty="0">
                <a:latin typeface="Symbol" pitchFamily="2" charset="2"/>
              </a:rPr>
              <a:t>e</a:t>
            </a:r>
            <a:r>
              <a:rPr lang="en-US" sz="2000" dirty="0"/>
              <a:t> = fast fission factor</a:t>
            </a:r>
          </a:p>
          <a:p>
            <a:pPr lvl="1"/>
            <a:r>
              <a:rPr lang="en-US" sz="2000" dirty="0" err="1"/>
              <a:t>L</a:t>
            </a:r>
            <a:r>
              <a:rPr lang="en-US" sz="2000" baseline="-25000" dirty="0" err="1"/>
              <a:t>f</a:t>
            </a:r>
            <a:r>
              <a:rPr lang="en-US" sz="2000" dirty="0"/>
              <a:t> = fast non-leakage factor</a:t>
            </a:r>
          </a:p>
          <a:p>
            <a:pPr lvl="1"/>
            <a:r>
              <a:rPr lang="en-US" sz="2000" dirty="0"/>
              <a:t>p = resonance escape probability</a:t>
            </a:r>
          </a:p>
          <a:p>
            <a:pPr lvl="1"/>
            <a:r>
              <a:rPr lang="en-US" sz="2000" dirty="0"/>
              <a:t>L</a:t>
            </a:r>
            <a:r>
              <a:rPr lang="en-US" sz="2000" baseline="-25000" dirty="0"/>
              <a:t>th</a:t>
            </a:r>
            <a:r>
              <a:rPr lang="en-US" sz="2000" dirty="0"/>
              <a:t> = thermal non-leakage factor</a:t>
            </a:r>
          </a:p>
          <a:p>
            <a:pPr lvl="1"/>
            <a:r>
              <a:rPr lang="en-US" sz="2000" i="1" dirty="0"/>
              <a:t>f</a:t>
            </a:r>
            <a:r>
              <a:rPr lang="en-US" sz="2000" dirty="0"/>
              <a:t> = thermal fuel utilization factor</a:t>
            </a:r>
          </a:p>
          <a:p>
            <a:pPr lvl="1"/>
            <a:r>
              <a:rPr lang="el-GR" sz="2000" dirty="0"/>
              <a:t>η = </a:t>
            </a:r>
            <a:r>
              <a:rPr lang="en-US" sz="2000" dirty="0"/>
              <a:t>reproduction factor</a:t>
            </a:r>
          </a:p>
          <a:p>
            <a:endParaRPr lang="en-US" sz="2000" dirty="0"/>
          </a:p>
        </p:txBody>
      </p:sp>
      <p:sp>
        <p:nvSpPr>
          <p:cNvPr id="4" name="Slide Number Placeholder 3">
            <a:extLst>
              <a:ext uri="{FF2B5EF4-FFF2-40B4-BE49-F238E27FC236}">
                <a16:creationId xmlns:a16="http://schemas.microsoft.com/office/drawing/2014/main" id="{5240C3AD-6917-F543-919D-AC35C64697F8}"/>
              </a:ext>
            </a:extLst>
          </p:cNvPr>
          <p:cNvSpPr>
            <a:spLocks noGrp="1"/>
          </p:cNvSpPr>
          <p:nvPr>
            <p:ph type="sldNum" sz="quarter" idx="12"/>
          </p:nvPr>
        </p:nvSpPr>
        <p:spPr/>
        <p:txBody>
          <a:bodyPr/>
          <a:lstStyle/>
          <a:p>
            <a:pPr>
              <a:defRPr/>
            </a:pPr>
            <a:fld id="{3FF2C605-4958-CF43-AA48-80339EFDB0AF}" type="slidenum">
              <a:rPr lang="en-US" smtClean="0"/>
              <a:pPr>
                <a:defRPr/>
              </a:pPr>
              <a:t>6</a:t>
            </a:fld>
            <a:endParaRPr lang="en-US"/>
          </a:p>
        </p:txBody>
      </p:sp>
    </p:spTree>
    <p:extLst>
      <p:ext uri="{BB962C8B-B14F-4D97-AF65-F5344CB8AC3E}">
        <p14:creationId xmlns:p14="http://schemas.microsoft.com/office/powerpoint/2010/main" val="2518211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C002-F3A4-7E4B-A183-4AC88081A2C8}"/>
              </a:ext>
            </a:extLst>
          </p:cNvPr>
          <p:cNvSpPr>
            <a:spLocks noGrp="1"/>
          </p:cNvSpPr>
          <p:nvPr>
            <p:ph type="title"/>
          </p:nvPr>
        </p:nvSpPr>
        <p:spPr/>
        <p:txBody>
          <a:bodyPr/>
          <a:lstStyle/>
          <a:p>
            <a:r>
              <a:rPr lang="en-US" dirty="0"/>
              <a:t>Reactivity</a:t>
            </a:r>
          </a:p>
        </p:txBody>
      </p:sp>
      <p:sp>
        <p:nvSpPr>
          <p:cNvPr id="3" name="Content Placeholder 2">
            <a:extLst>
              <a:ext uri="{FF2B5EF4-FFF2-40B4-BE49-F238E27FC236}">
                <a16:creationId xmlns:a16="http://schemas.microsoft.com/office/drawing/2014/main" id="{25C6B2CB-BDC3-7246-9D6D-531456FCDC96}"/>
              </a:ext>
            </a:extLst>
          </p:cNvPr>
          <p:cNvSpPr>
            <a:spLocks noGrp="1"/>
          </p:cNvSpPr>
          <p:nvPr>
            <p:ph idx="1"/>
          </p:nvPr>
        </p:nvSpPr>
        <p:spPr/>
        <p:txBody>
          <a:bodyPr/>
          <a:lstStyle/>
          <a:p>
            <a:r>
              <a:rPr lang="en-US" sz="2000" dirty="0"/>
              <a:t>Reactivity = rho = r = </a:t>
            </a:r>
            <a:r>
              <a:rPr lang="en-US" sz="2000" dirty="0">
                <a:latin typeface="Symbol" pitchFamily="2" charset="2"/>
              </a:rPr>
              <a:t>d</a:t>
            </a:r>
            <a:r>
              <a:rPr lang="en-US" sz="2000" dirty="0"/>
              <a:t>k = (k − 1)/k</a:t>
            </a:r>
          </a:p>
          <a:p>
            <a:r>
              <a:rPr lang="en-US" sz="2000" dirty="0"/>
              <a:t>At steady state, k=1, rho=0</a:t>
            </a:r>
          </a:p>
          <a:p>
            <a:r>
              <a:rPr lang="en-US" sz="2000" dirty="0"/>
              <a:t>Reactivity is affected by the temperature and density of coolant, moderator, and fuel</a:t>
            </a:r>
          </a:p>
          <a:p>
            <a:r>
              <a:rPr lang="en-US" sz="2000" dirty="0"/>
              <a:t>Ideally, nuclear reactors are designed so that a power increase will generate negative reactivity feedback</a:t>
            </a:r>
          </a:p>
          <a:p>
            <a:pPr lvl="1"/>
            <a:r>
              <a:rPr lang="en-US" sz="2000" dirty="0"/>
              <a:t>an increase in the reactivity (higher k) leads to material changes, which in turn force a negative reactivity (lower k)</a:t>
            </a:r>
          </a:p>
          <a:p>
            <a:endParaRPr lang="en-US" sz="2000" dirty="0"/>
          </a:p>
        </p:txBody>
      </p:sp>
      <p:sp>
        <p:nvSpPr>
          <p:cNvPr id="4" name="Slide Number Placeholder 3">
            <a:extLst>
              <a:ext uri="{FF2B5EF4-FFF2-40B4-BE49-F238E27FC236}">
                <a16:creationId xmlns:a16="http://schemas.microsoft.com/office/drawing/2014/main" id="{6166EF61-472D-8D44-9BD3-DC12336976AE}"/>
              </a:ext>
            </a:extLst>
          </p:cNvPr>
          <p:cNvSpPr>
            <a:spLocks noGrp="1"/>
          </p:cNvSpPr>
          <p:nvPr>
            <p:ph type="sldNum" sz="quarter" idx="12"/>
          </p:nvPr>
        </p:nvSpPr>
        <p:spPr/>
        <p:txBody>
          <a:bodyPr/>
          <a:lstStyle/>
          <a:p>
            <a:pPr>
              <a:defRPr/>
            </a:pPr>
            <a:fld id="{3FF2C605-4958-CF43-AA48-80339EFDB0AF}" type="slidenum">
              <a:rPr lang="en-US" smtClean="0"/>
              <a:pPr>
                <a:defRPr/>
              </a:pPr>
              <a:t>7</a:t>
            </a:fld>
            <a:endParaRPr lang="en-US"/>
          </a:p>
        </p:txBody>
      </p:sp>
    </p:spTree>
    <p:extLst>
      <p:ext uri="{BB962C8B-B14F-4D97-AF65-F5344CB8AC3E}">
        <p14:creationId xmlns:p14="http://schemas.microsoft.com/office/powerpoint/2010/main" val="429699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25AE0-ACC7-0247-A44F-971F693CDD1B}"/>
              </a:ext>
            </a:extLst>
          </p:cNvPr>
          <p:cNvSpPr>
            <a:spLocks noGrp="1"/>
          </p:cNvSpPr>
          <p:nvPr>
            <p:ph type="title"/>
          </p:nvPr>
        </p:nvSpPr>
        <p:spPr/>
        <p:txBody>
          <a:bodyPr/>
          <a:lstStyle/>
          <a:p>
            <a:r>
              <a:rPr lang="en-US" dirty="0"/>
              <a:t>RIA-PWR</a:t>
            </a:r>
          </a:p>
        </p:txBody>
      </p:sp>
      <p:sp>
        <p:nvSpPr>
          <p:cNvPr id="3" name="Content Placeholder 2">
            <a:extLst>
              <a:ext uri="{FF2B5EF4-FFF2-40B4-BE49-F238E27FC236}">
                <a16:creationId xmlns:a16="http://schemas.microsoft.com/office/drawing/2014/main" id="{3C8B6E58-C316-B040-9A34-116893F4C837}"/>
              </a:ext>
            </a:extLst>
          </p:cNvPr>
          <p:cNvSpPr>
            <a:spLocks noGrp="1"/>
          </p:cNvSpPr>
          <p:nvPr>
            <p:ph idx="1"/>
          </p:nvPr>
        </p:nvSpPr>
        <p:spPr/>
        <p:txBody>
          <a:bodyPr/>
          <a:lstStyle/>
          <a:p>
            <a:r>
              <a:rPr lang="en-US" sz="2000" dirty="0"/>
              <a:t>Design Basis Accident: Large and rapid insertion of reactivity caused by inadvertent ejection (PWR) or drop (BWR) of a control rod</a:t>
            </a:r>
          </a:p>
          <a:p>
            <a:r>
              <a:rPr lang="en-US" sz="2000" dirty="0"/>
              <a:t>A control rod ejection or drop can occur by mechanical failure of the control rod drive mechanism or its housing, and the reactivity of the core can rapidly increase due to decreasing neutron absorption of non-fuel</a:t>
            </a:r>
          </a:p>
          <a:p>
            <a:r>
              <a:rPr lang="en-US" sz="2000" dirty="0"/>
              <a:t>PWR</a:t>
            </a:r>
          </a:p>
          <a:p>
            <a:pPr lvl="1"/>
            <a:r>
              <a:rPr lang="en-US" sz="2000" dirty="0"/>
              <a:t>Control rod ejection accident (CREA)</a:t>
            </a:r>
          </a:p>
          <a:p>
            <a:pPr lvl="1"/>
            <a:r>
              <a:rPr lang="en-US" sz="2000" dirty="0"/>
              <a:t>Caused by mechanical failure of a control rod mechanism housing, such that the coolant pressure ejects a control rod assembly completely out of the core</a:t>
            </a:r>
          </a:p>
          <a:p>
            <a:pPr lvl="1"/>
            <a:r>
              <a:rPr lang="en-US" sz="2000" dirty="0"/>
              <a:t>Reactivity increase to the core occurs within about 0.1 s in the worst possible scenario</a:t>
            </a:r>
          </a:p>
          <a:p>
            <a:pPr lvl="1"/>
            <a:r>
              <a:rPr lang="en-US" sz="2000" dirty="0"/>
              <a:t>The most severe CREA would occur at normal coolant temperature and pressure, but with nearly zero reactor power</a:t>
            </a:r>
          </a:p>
        </p:txBody>
      </p:sp>
      <p:sp>
        <p:nvSpPr>
          <p:cNvPr id="4" name="Slide Number Placeholder 3">
            <a:extLst>
              <a:ext uri="{FF2B5EF4-FFF2-40B4-BE49-F238E27FC236}">
                <a16:creationId xmlns:a16="http://schemas.microsoft.com/office/drawing/2014/main" id="{7EEA2FF9-C34F-4E49-A9AD-4F9EFC7470AD}"/>
              </a:ext>
            </a:extLst>
          </p:cNvPr>
          <p:cNvSpPr>
            <a:spLocks noGrp="1"/>
          </p:cNvSpPr>
          <p:nvPr>
            <p:ph type="sldNum" sz="quarter" idx="12"/>
          </p:nvPr>
        </p:nvSpPr>
        <p:spPr/>
        <p:txBody>
          <a:bodyPr/>
          <a:lstStyle/>
          <a:p>
            <a:pPr>
              <a:defRPr/>
            </a:pPr>
            <a:fld id="{3FF2C605-4958-CF43-AA48-80339EFDB0AF}" type="slidenum">
              <a:rPr lang="en-US" smtClean="0"/>
              <a:pPr>
                <a:defRPr/>
              </a:pPr>
              <a:t>8</a:t>
            </a:fld>
            <a:endParaRPr lang="en-US"/>
          </a:p>
        </p:txBody>
      </p:sp>
    </p:spTree>
    <p:extLst>
      <p:ext uri="{BB962C8B-B14F-4D97-AF65-F5344CB8AC3E}">
        <p14:creationId xmlns:p14="http://schemas.microsoft.com/office/powerpoint/2010/main" val="1137828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25AE0-ACC7-0247-A44F-971F693CDD1B}"/>
              </a:ext>
            </a:extLst>
          </p:cNvPr>
          <p:cNvSpPr>
            <a:spLocks noGrp="1"/>
          </p:cNvSpPr>
          <p:nvPr>
            <p:ph type="title"/>
          </p:nvPr>
        </p:nvSpPr>
        <p:spPr/>
        <p:txBody>
          <a:bodyPr/>
          <a:lstStyle/>
          <a:p>
            <a:r>
              <a:rPr lang="en-US" dirty="0"/>
              <a:t>RIA-BWR</a:t>
            </a:r>
          </a:p>
        </p:txBody>
      </p:sp>
      <p:sp>
        <p:nvSpPr>
          <p:cNvPr id="3" name="Content Placeholder 2">
            <a:extLst>
              <a:ext uri="{FF2B5EF4-FFF2-40B4-BE49-F238E27FC236}">
                <a16:creationId xmlns:a16="http://schemas.microsoft.com/office/drawing/2014/main" id="{3C8B6E58-C316-B040-9A34-116893F4C837}"/>
              </a:ext>
            </a:extLst>
          </p:cNvPr>
          <p:cNvSpPr>
            <a:spLocks noGrp="1"/>
          </p:cNvSpPr>
          <p:nvPr>
            <p:ph idx="1"/>
          </p:nvPr>
        </p:nvSpPr>
        <p:spPr/>
        <p:txBody>
          <a:bodyPr/>
          <a:lstStyle/>
          <a:p>
            <a:r>
              <a:rPr lang="en-US" sz="2000" dirty="0"/>
              <a:t>BWR</a:t>
            </a:r>
          </a:p>
          <a:p>
            <a:pPr lvl="1"/>
            <a:r>
              <a:rPr lang="en-US" sz="2000" dirty="0"/>
              <a:t>Control rod drop accident (CRDA)</a:t>
            </a:r>
          </a:p>
          <a:p>
            <a:pPr lvl="1"/>
            <a:r>
              <a:rPr lang="en-US" sz="2000" dirty="0"/>
              <a:t>Initiated by the separation of a control rod blade from its drive mechanism</a:t>
            </a:r>
          </a:p>
          <a:p>
            <a:pPr lvl="1"/>
            <a:r>
              <a:rPr lang="en-US" sz="2000" dirty="0"/>
              <a:t>Detached blade remains stuck in position until it suddenly becomes loose and drops out of the core in free fall</a:t>
            </a:r>
          </a:p>
          <a:p>
            <a:pPr lvl="1"/>
            <a:r>
              <a:rPr lang="en-US" sz="2000" dirty="0"/>
              <a:t>Most severe CRDA would occur at with the coolant close to room temperature and atmospheric pressure, and the reactor at nearly zero power</a:t>
            </a:r>
          </a:p>
          <a:p>
            <a:r>
              <a:rPr lang="en-US" sz="2000" dirty="0"/>
              <a:t>Other RIAs</a:t>
            </a:r>
          </a:p>
          <a:p>
            <a:pPr lvl="1"/>
            <a:r>
              <a:rPr lang="en-US" sz="2000" dirty="0"/>
              <a:t>inadvertent changes in coolant/moderator temperature and/or void fraction may add reactivity to the core</a:t>
            </a:r>
          </a:p>
          <a:p>
            <a:endParaRPr lang="en-US" sz="2000" dirty="0"/>
          </a:p>
          <a:p>
            <a:endParaRPr lang="en-US" sz="2000" dirty="0"/>
          </a:p>
        </p:txBody>
      </p:sp>
      <p:sp>
        <p:nvSpPr>
          <p:cNvPr id="4" name="Slide Number Placeholder 3">
            <a:extLst>
              <a:ext uri="{FF2B5EF4-FFF2-40B4-BE49-F238E27FC236}">
                <a16:creationId xmlns:a16="http://schemas.microsoft.com/office/drawing/2014/main" id="{7EEA2FF9-C34F-4E49-A9AD-4F9EFC7470AD}"/>
              </a:ext>
            </a:extLst>
          </p:cNvPr>
          <p:cNvSpPr>
            <a:spLocks noGrp="1"/>
          </p:cNvSpPr>
          <p:nvPr>
            <p:ph type="sldNum" sz="quarter" idx="12"/>
          </p:nvPr>
        </p:nvSpPr>
        <p:spPr/>
        <p:txBody>
          <a:bodyPr/>
          <a:lstStyle/>
          <a:p>
            <a:pPr>
              <a:defRPr/>
            </a:pPr>
            <a:fld id="{3FF2C605-4958-CF43-AA48-80339EFDB0AF}" type="slidenum">
              <a:rPr lang="en-US" smtClean="0"/>
              <a:pPr>
                <a:defRPr/>
              </a:pPr>
              <a:t>9</a:t>
            </a:fld>
            <a:endParaRPr lang="en-US"/>
          </a:p>
        </p:txBody>
      </p:sp>
    </p:spTree>
    <p:extLst>
      <p:ext uri="{BB962C8B-B14F-4D97-AF65-F5344CB8AC3E}">
        <p14:creationId xmlns:p14="http://schemas.microsoft.com/office/powerpoint/2010/main" val="3997323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739FB-479A-4A49-9B9D-6CBF934F9579}"/>
              </a:ext>
            </a:extLst>
          </p:cNvPr>
          <p:cNvSpPr>
            <a:spLocks noGrp="1"/>
          </p:cNvSpPr>
          <p:nvPr>
            <p:ph type="title"/>
          </p:nvPr>
        </p:nvSpPr>
        <p:spPr/>
        <p:txBody>
          <a:bodyPr/>
          <a:lstStyle/>
          <a:p>
            <a:r>
              <a:rPr lang="en-US" dirty="0"/>
              <a:t>RIA</a:t>
            </a:r>
          </a:p>
        </p:txBody>
      </p:sp>
      <p:sp>
        <p:nvSpPr>
          <p:cNvPr id="3" name="Content Placeholder 2">
            <a:extLst>
              <a:ext uri="{FF2B5EF4-FFF2-40B4-BE49-F238E27FC236}">
                <a16:creationId xmlns:a16="http://schemas.microsoft.com/office/drawing/2014/main" id="{6140F8CB-F71F-724C-B7B1-FDEF939AF291}"/>
              </a:ext>
            </a:extLst>
          </p:cNvPr>
          <p:cNvSpPr>
            <a:spLocks noGrp="1"/>
          </p:cNvSpPr>
          <p:nvPr>
            <p:ph idx="1"/>
          </p:nvPr>
        </p:nvSpPr>
        <p:spPr/>
        <p:txBody>
          <a:bodyPr/>
          <a:lstStyle/>
          <a:p>
            <a:r>
              <a:rPr lang="en-US" sz="2000" dirty="0"/>
              <a:t>RIA leads to a fast rise in fuel power and temperature</a:t>
            </a:r>
          </a:p>
          <a:p>
            <a:r>
              <a:rPr lang="en-US" sz="2000" dirty="0"/>
              <a:t>This power ramp can lead to failure of fuel rods and release of radioactive material (or potentially fuel) into coolant</a:t>
            </a:r>
          </a:p>
          <a:p>
            <a:r>
              <a:rPr lang="en-US" sz="2000" dirty="0"/>
              <a:t>Release of hot fuel into water can cause rapid steam generation and pressure pulses, damaging other core internals</a:t>
            </a:r>
          </a:p>
          <a:p>
            <a:r>
              <a:rPr lang="en-US" sz="2000" dirty="0"/>
              <a:t>Coolant pressure pulse could break the reactor coolant pressure boundary or damage the fuel and other core internals so that long-term cooling of the core would be impaired</a:t>
            </a:r>
          </a:p>
          <a:p>
            <a:r>
              <a:rPr lang="en-US" sz="2000" dirty="0"/>
              <a:t>To prevent such consequences, safety criteria are set up to limit energy injection into the fuel</a:t>
            </a:r>
          </a:p>
          <a:p>
            <a:endParaRPr lang="en-US" sz="2000" dirty="0"/>
          </a:p>
        </p:txBody>
      </p:sp>
      <p:sp>
        <p:nvSpPr>
          <p:cNvPr id="4" name="Slide Number Placeholder 3">
            <a:extLst>
              <a:ext uri="{FF2B5EF4-FFF2-40B4-BE49-F238E27FC236}">
                <a16:creationId xmlns:a16="http://schemas.microsoft.com/office/drawing/2014/main" id="{4C2B1351-B6CE-F54E-8667-A8E7E3A5D31C}"/>
              </a:ext>
            </a:extLst>
          </p:cNvPr>
          <p:cNvSpPr>
            <a:spLocks noGrp="1"/>
          </p:cNvSpPr>
          <p:nvPr>
            <p:ph type="sldNum" sz="quarter" idx="12"/>
          </p:nvPr>
        </p:nvSpPr>
        <p:spPr/>
        <p:txBody>
          <a:bodyPr/>
          <a:lstStyle/>
          <a:p>
            <a:pPr>
              <a:defRPr/>
            </a:pPr>
            <a:fld id="{3FF2C605-4958-CF43-AA48-80339EFDB0AF}" type="slidenum">
              <a:rPr lang="en-US" smtClean="0"/>
              <a:pPr>
                <a:defRPr/>
              </a:pPr>
              <a:t>10</a:t>
            </a:fld>
            <a:endParaRPr lang="en-US"/>
          </a:p>
        </p:txBody>
      </p:sp>
    </p:spTree>
    <p:extLst>
      <p:ext uri="{BB962C8B-B14F-4D97-AF65-F5344CB8AC3E}">
        <p14:creationId xmlns:p14="http://schemas.microsoft.com/office/powerpoint/2010/main" val="334387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319B-1AEC-EB40-94D1-4683596236BF}"/>
              </a:ext>
            </a:extLst>
          </p:cNvPr>
          <p:cNvSpPr>
            <a:spLocks noGrp="1"/>
          </p:cNvSpPr>
          <p:nvPr>
            <p:ph type="title"/>
          </p:nvPr>
        </p:nvSpPr>
        <p:spPr/>
        <p:txBody>
          <a:bodyPr/>
          <a:lstStyle/>
          <a:p>
            <a:r>
              <a:rPr lang="en-US" dirty="0"/>
              <a:t>History of RIA</a:t>
            </a:r>
          </a:p>
        </p:txBody>
      </p:sp>
      <p:sp>
        <p:nvSpPr>
          <p:cNvPr id="3" name="Content Placeholder 2">
            <a:extLst>
              <a:ext uri="{FF2B5EF4-FFF2-40B4-BE49-F238E27FC236}">
                <a16:creationId xmlns:a16="http://schemas.microsoft.com/office/drawing/2014/main" id="{76C865C9-CADD-4A42-ADC8-18D13B8C3B02}"/>
              </a:ext>
            </a:extLst>
          </p:cNvPr>
          <p:cNvSpPr>
            <a:spLocks noGrp="1"/>
          </p:cNvSpPr>
          <p:nvPr>
            <p:ph idx="1"/>
          </p:nvPr>
        </p:nvSpPr>
        <p:spPr/>
        <p:txBody>
          <a:bodyPr/>
          <a:lstStyle/>
          <a:p>
            <a:r>
              <a:rPr lang="en-US" sz="2000" dirty="0"/>
              <a:t>No RIA with severe consequences has occurred in PWRs or BWRs</a:t>
            </a:r>
          </a:p>
          <a:p>
            <a:r>
              <a:rPr lang="en-US" sz="2000" dirty="0"/>
              <a:t>The first reactivity-initiated accidents occurred in the 1950s and 1960s and concerned the first generation of research reactors</a:t>
            </a:r>
          </a:p>
          <a:p>
            <a:pPr lvl="1"/>
            <a:r>
              <a:rPr lang="en-US" sz="2000" dirty="0"/>
              <a:t>1952 accident in the NRX reactor at Chalk River</a:t>
            </a:r>
          </a:p>
          <a:p>
            <a:pPr lvl="1"/>
            <a:r>
              <a:rPr lang="en-US" sz="2000" dirty="0"/>
              <a:t>1961 SL-1 accident in Idaho Falls</a:t>
            </a:r>
          </a:p>
          <a:p>
            <a:r>
              <a:rPr lang="en-US" sz="2000" dirty="0"/>
              <a:t>Both resulted in severe damage and disruption of the reactor, and led to design improvements for later generations of RRs and commercial reactors</a:t>
            </a:r>
          </a:p>
          <a:p>
            <a:r>
              <a:rPr lang="en-US" sz="2000" dirty="0"/>
              <a:t>Did not eliminate RIAs</a:t>
            </a:r>
          </a:p>
          <a:p>
            <a:pPr lvl="1"/>
            <a:r>
              <a:rPr lang="en-US" sz="2000" dirty="0"/>
              <a:t>K-431 Russian Echo-II nuclear powered submarine in 1985</a:t>
            </a:r>
          </a:p>
          <a:p>
            <a:pPr lvl="1"/>
            <a:r>
              <a:rPr lang="en-US" sz="2000" dirty="0"/>
              <a:t>Chernobyl nuclear power plant, Ukraine, in 1986</a:t>
            </a:r>
          </a:p>
          <a:p>
            <a:endParaRPr lang="en-US" sz="2000" dirty="0"/>
          </a:p>
        </p:txBody>
      </p:sp>
      <p:sp>
        <p:nvSpPr>
          <p:cNvPr id="4" name="Slide Number Placeholder 3">
            <a:extLst>
              <a:ext uri="{FF2B5EF4-FFF2-40B4-BE49-F238E27FC236}">
                <a16:creationId xmlns:a16="http://schemas.microsoft.com/office/drawing/2014/main" id="{EFF6048F-D064-F148-A7EA-2A40372FF421}"/>
              </a:ext>
            </a:extLst>
          </p:cNvPr>
          <p:cNvSpPr>
            <a:spLocks noGrp="1"/>
          </p:cNvSpPr>
          <p:nvPr>
            <p:ph type="sldNum" sz="quarter" idx="12"/>
          </p:nvPr>
        </p:nvSpPr>
        <p:spPr/>
        <p:txBody>
          <a:bodyPr/>
          <a:lstStyle/>
          <a:p>
            <a:pPr>
              <a:defRPr/>
            </a:pPr>
            <a:fld id="{3FF2C605-4958-CF43-AA48-80339EFDB0AF}" type="slidenum">
              <a:rPr lang="en-US" smtClean="0"/>
              <a:pPr>
                <a:defRPr/>
              </a:pPr>
              <a:t>11</a:t>
            </a:fld>
            <a:endParaRPr lang="en-US"/>
          </a:p>
        </p:txBody>
      </p:sp>
    </p:spTree>
    <p:extLst>
      <p:ext uri="{BB962C8B-B14F-4D97-AF65-F5344CB8AC3E}">
        <p14:creationId xmlns:p14="http://schemas.microsoft.com/office/powerpoint/2010/main" val="892533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7992F-17D1-7340-A77E-15B323DE3723}"/>
              </a:ext>
            </a:extLst>
          </p:cNvPr>
          <p:cNvSpPr>
            <a:spLocks noGrp="1"/>
          </p:cNvSpPr>
          <p:nvPr>
            <p:ph type="title"/>
          </p:nvPr>
        </p:nvSpPr>
        <p:spPr/>
        <p:txBody>
          <a:bodyPr/>
          <a:lstStyle/>
          <a:p>
            <a:r>
              <a:rPr lang="en-US" dirty="0"/>
              <a:t>Chernobyl RIA</a:t>
            </a:r>
          </a:p>
        </p:txBody>
      </p:sp>
      <p:sp>
        <p:nvSpPr>
          <p:cNvPr id="3" name="Content Placeholder 2">
            <a:extLst>
              <a:ext uri="{FF2B5EF4-FFF2-40B4-BE49-F238E27FC236}">
                <a16:creationId xmlns:a16="http://schemas.microsoft.com/office/drawing/2014/main" id="{473BCB4B-052A-FC4E-B94B-40F4A317AE72}"/>
              </a:ext>
            </a:extLst>
          </p:cNvPr>
          <p:cNvSpPr>
            <a:spLocks noGrp="1"/>
          </p:cNvSpPr>
          <p:nvPr>
            <p:ph idx="1"/>
          </p:nvPr>
        </p:nvSpPr>
        <p:spPr/>
        <p:txBody>
          <a:bodyPr/>
          <a:lstStyle/>
          <a:p>
            <a:r>
              <a:rPr lang="en-US" sz="2000" dirty="0"/>
              <a:t>Light water graphite moderated pressure tube design (RBMK)</a:t>
            </a:r>
          </a:p>
          <a:p>
            <a:r>
              <a:rPr lang="en-US" sz="2000" dirty="0"/>
              <a:t>Severe consequences of the Chernobyl accident were due to the fact that RBMKs lack not only a reactor containment, but also some of the inherent feedback mechanisms</a:t>
            </a:r>
          </a:p>
          <a:p>
            <a:r>
              <a:rPr lang="en-US" sz="2000" dirty="0"/>
              <a:t>Accident occurred under a reactor test, where normal operating guidelines were ignored and safety systems were shut off</a:t>
            </a:r>
          </a:p>
          <a:p>
            <a:r>
              <a:rPr lang="en-US" sz="2000" dirty="0"/>
              <a:t>Chernobyl accident prompted new research into reactivity-initiated accidents</a:t>
            </a:r>
          </a:p>
          <a:p>
            <a:pPr lvl="1"/>
            <a:r>
              <a:rPr lang="en-US" sz="2000" dirty="0"/>
              <a:t>focused on high burnup fuel, where previous safety standards had largely been on fresh fuel or low BU</a:t>
            </a:r>
          </a:p>
          <a:p>
            <a:endParaRPr lang="en-US" sz="2000" dirty="0"/>
          </a:p>
        </p:txBody>
      </p:sp>
      <p:sp>
        <p:nvSpPr>
          <p:cNvPr id="4" name="Slide Number Placeholder 3">
            <a:extLst>
              <a:ext uri="{FF2B5EF4-FFF2-40B4-BE49-F238E27FC236}">
                <a16:creationId xmlns:a16="http://schemas.microsoft.com/office/drawing/2014/main" id="{0F16E056-E0CA-624A-89A8-70F4B479B4DF}"/>
              </a:ext>
            </a:extLst>
          </p:cNvPr>
          <p:cNvSpPr>
            <a:spLocks noGrp="1"/>
          </p:cNvSpPr>
          <p:nvPr>
            <p:ph type="sldNum" sz="quarter" idx="12"/>
          </p:nvPr>
        </p:nvSpPr>
        <p:spPr/>
        <p:txBody>
          <a:bodyPr/>
          <a:lstStyle/>
          <a:p>
            <a:pPr>
              <a:defRPr/>
            </a:pPr>
            <a:fld id="{3FF2C605-4958-CF43-AA48-80339EFDB0AF}" type="slidenum">
              <a:rPr lang="en-US" smtClean="0"/>
              <a:pPr>
                <a:defRPr/>
              </a:pPr>
              <a:t>12</a:t>
            </a:fld>
            <a:endParaRPr lang="en-US"/>
          </a:p>
        </p:txBody>
      </p:sp>
    </p:spTree>
    <p:extLst>
      <p:ext uri="{BB962C8B-B14F-4D97-AF65-F5344CB8AC3E}">
        <p14:creationId xmlns:p14="http://schemas.microsoft.com/office/powerpoint/2010/main" val="38388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A77E2-B7A8-8641-AD0F-91144D036312}"/>
              </a:ext>
            </a:extLst>
          </p:cNvPr>
          <p:cNvSpPr>
            <a:spLocks noGrp="1"/>
          </p:cNvSpPr>
          <p:nvPr>
            <p:ph type="title"/>
          </p:nvPr>
        </p:nvSpPr>
        <p:spPr/>
        <p:txBody>
          <a:bodyPr/>
          <a:lstStyle/>
          <a:p>
            <a:r>
              <a:rPr lang="en-US" dirty="0"/>
              <a:t>Sequence of RIA</a:t>
            </a:r>
          </a:p>
        </p:txBody>
      </p:sp>
      <p:sp>
        <p:nvSpPr>
          <p:cNvPr id="4" name="Slide Number Placeholder 3">
            <a:extLst>
              <a:ext uri="{FF2B5EF4-FFF2-40B4-BE49-F238E27FC236}">
                <a16:creationId xmlns:a16="http://schemas.microsoft.com/office/drawing/2014/main" id="{92F71E2B-1EDD-3C4F-A8B9-A0B9FA55DF47}"/>
              </a:ext>
            </a:extLst>
          </p:cNvPr>
          <p:cNvSpPr>
            <a:spLocks noGrp="1"/>
          </p:cNvSpPr>
          <p:nvPr>
            <p:ph type="sldNum" sz="quarter" idx="12"/>
          </p:nvPr>
        </p:nvSpPr>
        <p:spPr/>
        <p:txBody>
          <a:bodyPr/>
          <a:lstStyle/>
          <a:p>
            <a:pPr>
              <a:defRPr/>
            </a:pPr>
            <a:fld id="{3FF2C605-4958-CF43-AA48-80339EFDB0AF}" type="slidenum">
              <a:rPr lang="en-US" smtClean="0"/>
              <a:pPr>
                <a:defRPr/>
              </a:pPr>
              <a:t>13</a:t>
            </a:fld>
            <a:endParaRPr lang="en-US"/>
          </a:p>
        </p:txBody>
      </p:sp>
      <p:pic>
        <p:nvPicPr>
          <p:cNvPr id="6" name="Picture 5">
            <a:extLst>
              <a:ext uri="{FF2B5EF4-FFF2-40B4-BE49-F238E27FC236}">
                <a16:creationId xmlns:a16="http://schemas.microsoft.com/office/drawing/2014/main" id="{FEB2DFFA-F443-1D32-EDCF-6D1DF3A1A62F}"/>
              </a:ext>
            </a:extLst>
          </p:cNvPr>
          <p:cNvPicPr>
            <a:picLocks noChangeAspect="1"/>
          </p:cNvPicPr>
          <p:nvPr/>
        </p:nvPicPr>
        <p:blipFill>
          <a:blip r:embed="rId2"/>
          <a:stretch>
            <a:fillRect/>
          </a:stretch>
        </p:blipFill>
        <p:spPr>
          <a:xfrm>
            <a:off x="2424793" y="1538490"/>
            <a:ext cx="7342414" cy="4862310"/>
          </a:xfrm>
          <a:prstGeom prst="rect">
            <a:avLst/>
          </a:prstGeom>
        </p:spPr>
      </p:pic>
    </p:spTree>
    <p:extLst>
      <p:ext uri="{BB962C8B-B14F-4D97-AF65-F5344CB8AC3E}">
        <p14:creationId xmlns:p14="http://schemas.microsoft.com/office/powerpoint/2010/main" val="3778564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6F393-3204-1140-BB44-38FA1D5006BE}"/>
              </a:ext>
            </a:extLst>
          </p:cNvPr>
          <p:cNvSpPr>
            <a:spLocks noGrp="1"/>
          </p:cNvSpPr>
          <p:nvPr>
            <p:ph type="title"/>
          </p:nvPr>
        </p:nvSpPr>
        <p:spPr/>
        <p:txBody>
          <a:bodyPr/>
          <a:lstStyle/>
          <a:p>
            <a:r>
              <a:rPr lang="en-US" dirty="0"/>
              <a:t>Departure from Nucleate Boiling</a:t>
            </a:r>
          </a:p>
        </p:txBody>
      </p:sp>
      <p:sp>
        <p:nvSpPr>
          <p:cNvPr id="3" name="Content Placeholder 2">
            <a:extLst>
              <a:ext uri="{FF2B5EF4-FFF2-40B4-BE49-F238E27FC236}">
                <a16:creationId xmlns:a16="http://schemas.microsoft.com/office/drawing/2014/main" id="{E2A5D48F-8978-CE4F-AEF2-32B6E33FC481}"/>
              </a:ext>
            </a:extLst>
          </p:cNvPr>
          <p:cNvSpPr>
            <a:spLocks noGrp="1"/>
          </p:cNvSpPr>
          <p:nvPr>
            <p:ph idx="1"/>
          </p:nvPr>
        </p:nvSpPr>
        <p:spPr>
          <a:xfrm>
            <a:off x="609600" y="2160495"/>
            <a:ext cx="8808720" cy="3965670"/>
          </a:xfrm>
        </p:spPr>
        <p:txBody>
          <a:bodyPr/>
          <a:lstStyle/>
          <a:p>
            <a:r>
              <a:rPr lang="en-US" sz="2000" dirty="0"/>
              <a:t>If the heat flux of a boiling system is higher than the critical heat flux (CHF) of the system, the bulk fluid may boil, or in some cases, regions of the bulk fluid may boil where the fluid travels in small channels</a:t>
            </a:r>
          </a:p>
          <a:p>
            <a:r>
              <a:rPr lang="en-US" sz="2000" dirty="0"/>
              <a:t>Large bubbles form, sometimes blocking the passage of the fluid</a:t>
            </a:r>
          </a:p>
          <a:p>
            <a:r>
              <a:rPr lang="en-US" sz="2000" dirty="0"/>
              <a:t>This results in a departure from nucleate boiling (DNB) in which steam bubbles no longer break away from the solid surface of the channel, bubbles dominate the channel or surface, and the heat flux dramatically decreases</a:t>
            </a:r>
          </a:p>
          <a:p>
            <a:r>
              <a:rPr lang="en-US" sz="2000" dirty="0"/>
              <a:t>Vapor essentially insulates the bulk liquid from the hot surface, increasing surface temperatures</a:t>
            </a:r>
          </a:p>
          <a:p>
            <a:endParaRPr lang="en-US" sz="2000" dirty="0"/>
          </a:p>
        </p:txBody>
      </p:sp>
      <p:sp>
        <p:nvSpPr>
          <p:cNvPr id="4" name="Slide Number Placeholder 3">
            <a:extLst>
              <a:ext uri="{FF2B5EF4-FFF2-40B4-BE49-F238E27FC236}">
                <a16:creationId xmlns:a16="http://schemas.microsoft.com/office/drawing/2014/main" id="{53BA8822-AD43-DF42-99AE-ABA07FE29266}"/>
              </a:ext>
            </a:extLst>
          </p:cNvPr>
          <p:cNvSpPr>
            <a:spLocks noGrp="1"/>
          </p:cNvSpPr>
          <p:nvPr>
            <p:ph type="sldNum" sz="quarter" idx="12"/>
          </p:nvPr>
        </p:nvSpPr>
        <p:spPr/>
        <p:txBody>
          <a:bodyPr/>
          <a:lstStyle/>
          <a:p>
            <a:pPr>
              <a:defRPr/>
            </a:pPr>
            <a:fld id="{3FF2C605-4958-CF43-AA48-80339EFDB0AF}" type="slidenum">
              <a:rPr lang="en-US" smtClean="0"/>
              <a:pPr>
                <a:defRPr/>
              </a:pPr>
              <a:t>14</a:t>
            </a:fld>
            <a:endParaRPr lang="en-US" dirty="0"/>
          </a:p>
        </p:txBody>
      </p:sp>
      <p:pic>
        <p:nvPicPr>
          <p:cNvPr id="5" name="Picture 4">
            <a:extLst>
              <a:ext uri="{FF2B5EF4-FFF2-40B4-BE49-F238E27FC236}">
                <a16:creationId xmlns:a16="http://schemas.microsoft.com/office/drawing/2014/main" id="{7D5CF72F-70AA-A743-9534-7319A12CAC6A}"/>
              </a:ext>
            </a:extLst>
          </p:cNvPr>
          <p:cNvPicPr>
            <a:picLocks noChangeAspect="1"/>
          </p:cNvPicPr>
          <p:nvPr/>
        </p:nvPicPr>
        <p:blipFill>
          <a:blip r:embed="rId2"/>
          <a:stretch>
            <a:fillRect/>
          </a:stretch>
        </p:blipFill>
        <p:spPr>
          <a:xfrm>
            <a:off x="9743444" y="1135961"/>
            <a:ext cx="1981196" cy="5220390"/>
          </a:xfrm>
          <a:prstGeom prst="rect">
            <a:avLst/>
          </a:prstGeom>
        </p:spPr>
      </p:pic>
    </p:spTree>
    <p:extLst>
      <p:ext uri="{BB962C8B-B14F-4D97-AF65-F5344CB8AC3E}">
        <p14:creationId xmlns:p14="http://schemas.microsoft.com/office/powerpoint/2010/main" val="1984870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BBBA5-0D4A-7340-8BF5-46957F3A4CEC}"/>
              </a:ext>
            </a:extLst>
          </p:cNvPr>
          <p:cNvSpPr>
            <a:spLocks noGrp="1"/>
          </p:cNvSpPr>
          <p:nvPr>
            <p:ph type="title"/>
          </p:nvPr>
        </p:nvSpPr>
        <p:spPr/>
        <p:txBody>
          <a:bodyPr/>
          <a:lstStyle/>
          <a:p>
            <a:r>
              <a:rPr lang="en-US" dirty="0"/>
              <a:t>Microstructural Effects</a:t>
            </a:r>
          </a:p>
        </p:txBody>
      </p:sp>
      <p:sp>
        <p:nvSpPr>
          <p:cNvPr id="3" name="Content Placeholder 2">
            <a:extLst>
              <a:ext uri="{FF2B5EF4-FFF2-40B4-BE49-F238E27FC236}">
                <a16:creationId xmlns:a16="http://schemas.microsoft.com/office/drawing/2014/main" id="{6F7A941F-8C00-2B4B-AE79-8A085D6FE77E}"/>
              </a:ext>
            </a:extLst>
          </p:cNvPr>
          <p:cNvSpPr>
            <a:spLocks noGrp="1"/>
          </p:cNvSpPr>
          <p:nvPr>
            <p:ph idx="1"/>
          </p:nvPr>
        </p:nvSpPr>
        <p:spPr>
          <a:xfrm>
            <a:off x="568960" y="1525587"/>
            <a:ext cx="8128000" cy="3965670"/>
          </a:xfrm>
        </p:spPr>
        <p:txBody>
          <a:bodyPr/>
          <a:lstStyle/>
          <a:p>
            <a:r>
              <a:rPr lang="en-US" sz="2000" dirty="0"/>
              <a:t>Rapid increase in temperature increases pressure of bubbles</a:t>
            </a:r>
          </a:p>
          <a:p>
            <a:r>
              <a:rPr lang="en-US" sz="2000" dirty="0"/>
              <a:t>PV = </a:t>
            </a:r>
            <a:r>
              <a:rPr lang="en-US" sz="2000" dirty="0" err="1"/>
              <a:t>nRT</a:t>
            </a:r>
            <a:endParaRPr lang="en-US" sz="2000" dirty="0"/>
          </a:p>
          <a:p>
            <a:r>
              <a:rPr lang="en-US" sz="2000" dirty="0"/>
              <a:t>Rapid pressure increase leads to cracking in fuel</a:t>
            </a:r>
          </a:p>
          <a:p>
            <a:endParaRPr lang="en-US" sz="2000" dirty="0"/>
          </a:p>
        </p:txBody>
      </p:sp>
      <p:sp>
        <p:nvSpPr>
          <p:cNvPr id="4" name="Slide Number Placeholder 3">
            <a:extLst>
              <a:ext uri="{FF2B5EF4-FFF2-40B4-BE49-F238E27FC236}">
                <a16:creationId xmlns:a16="http://schemas.microsoft.com/office/drawing/2014/main" id="{ECF418A8-D18C-CC4D-84B1-386CF5E442CD}"/>
              </a:ext>
            </a:extLst>
          </p:cNvPr>
          <p:cNvSpPr>
            <a:spLocks noGrp="1"/>
          </p:cNvSpPr>
          <p:nvPr>
            <p:ph type="sldNum" sz="quarter" idx="12"/>
          </p:nvPr>
        </p:nvSpPr>
        <p:spPr/>
        <p:txBody>
          <a:bodyPr/>
          <a:lstStyle/>
          <a:p>
            <a:pPr>
              <a:defRPr/>
            </a:pPr>
            <a:fld id="{3FF2C605-4958-CF43-AA48-80339EFDB0AF}" type="slidenum">
              <a:rPr lang="en-US" smtClean="0"/>
              <a:pPr>
                <a:defRPr/>
              </a:pPr>
              <a:t>15</a:t>
            </a:fld>
            <a:endParaRPr lang="en-US"/>
          </a:p>
        </p:txBody>
      </p:sp>
      <p:pic>
        <p:nvPicPr>
          <p:cNvPr id="5" name="Picture 4">
            <a:extLst>
              <a:ext uri="{FF2B5EF4-FFF2-40B4-BE49-F238E27FC236}">
                <a16:creationId xmlns:a16="http://schemas.microsoft.com/office/drawing/2014/main" id="{C96107AF-CA0A-AC43-8C6F-188266AEC59B}"/>
              </a:ext>
            </a:extLst>
          </p:cNvPr>
          <p:cNvPicPr>
            <a:picLocks noChangeAspect="1"/>
          </p:cNvPicPr>
          <p:nvPr/>
        </p:nvPicPr>
        <p:blipFill>
          <a:blip r:embed="rId2"/>
          <a:stretch>
            <a:fillRect/>
          </a:stretch>
        </p:blipFill>
        <p:spPr>
          <a:xfrm>
            <a:off x="8656320" y="1376306"/>
            <a:ext cx="3362960" cy="4688743"/>
          </a:xfrm>
          <a:prstGeom prst="rect">
            <a:avLst/>
          </a:prstGeom>
        </p:spPr>
      </p:pic>
      <p:pic>
        <p:nvPicPr>
          <p:cNvPr id="6" name="Picture 5">
            <a:extLst>
              <a:ext uri="{FF2B5EF4-FFF2-40B4-BE49-F238E27FC236}">
                <a16:creationId xmlns:a16="http://schemas.microsoft.com/office/drawing/2014/main" id="{57226146-9B3A-0141-96AA-D9167394CB51}"/>
              </a:ext>
            </a:extLst>
          </p:cNvPr>
          <p:cNvPicPr>
            <a:picLocks noChangeAspect="1"/>
          </p:cNvPicPr>
          <p:nvPr/>
        </p:nvPicPr>
        <p:blipFill>
          <a:blip r:embed="rId3"/>
          <a:stretch>
            <a:fillRect/>
          </a:stretch>
        </p:blipFill>
        <p:spPr>
          <a:xfrm>
            <a:off x="1674379" y="3429000"/>
            <a:ext cx="5794543" cy="3220720"/>
          </a:xfrm>
          <a:prstGeom prst="rect">
            <a:avLst/>
          </a:prstGeom>
        </p:spPr>
      </p:pic>
    </p:spTree>
    <p:extLst>
      <p:ext uri="{BB962C8B-B14F-4D97-AF65-F5344CB8AC3E}">
        <p14:creationId xmlns:p14="http://schemas.microsoft.com/office/powerpoint/2010/main" val="3587396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6311B-4E34-9D4D-97F3-4CA5577098E2}"/>
              </a:ext>
            </a:extLst>
          </p:cNvPr>
          <p:cNvSpPr>
            <a:spLocks noGrp="1"/>
          </p:cNvSpPr>
          <p:nvPr>
            <p:ph type="title"/>
          </p:nvPr>
        </p:nvSpPr>
        <p:spPr/>
        <p:txBody>
          <a:bodyPr/>
          <a:lstStyle/>
          <a:p>
            <a:r>
              <a:rPr lang="en-US" dirty="0"/>
              <a:t>Cladding Response</a:t>
            </a:r>
          </a:p>
        </p:txBody>
      </p:sp>
      <p:sp>
        <p:nvSpPr>
          <p:cNvPr id="3" name="Content Placeholder 2">
            <a:extLst>
              <a:ext uri="{FF2B5EF4-FFF2-40B4-BE49-F238E27FC236}">
                <a16:creationId xmlns:a16="http://schemas.microsoft.com/office/drawing/2014/main" id="{B383638A-BDF7-CF42-96B8-DF42F5FFEADB}"/>
              </a:ext>
            </a:extLst>
          </p:cNvPr>
          <p:cNvSpPr>
            <a:spLocks noGrp="1"/>
          </p:cNvSpPr>
          <p:nvPr>
            <p:ph idx="1"/>
          </p:nvPr>
        </p:nvSpPr>
        <p:spPr>
          <a:xfrm>
            <a:off x="609600" y="1734014"/>
            <a:ext cx="4663440" cy="4392151"/>
          </a:xfrm>
        </p:spPr>
        <p:txBody>
          <a:bodyPr/>
          <a:lstStyle/>
          <a:p>
            <a:r>
              <a:rPr lang="en-US" sz="2000" dirty="0"/>
              <a:t>Take into account burnup, corrosion (oxide layer and hydrides), damage accumulation, PCMI, internal pressure, etc. to properly evaluate strain in cladding</a:t>
            </a:r>
          </a:p>
          <a:p>
            <a:r>
              <a:rPr lang="en-US" sz="2000" dirty="0"/>
              <a:t>Temperature spike leads to a stress spike, and higher likelihood of cladding failure</a:t>
            </a:r>
          </a:p>
          <a:p>
            <a:r>
              <a:rPr lang="en-US" sz="2000" dirty="0"/>
              <a:t>Cladding fails either due to PCMI, ballooning/burst, severe oxidation, or partial melting</a:t>
            </a:r>
          </a:p>
          <a:p>
            <a:endParaRPr lang="en-US" sz="2000" dirty="0"/>
          </a:p>
        </p:txBody>
      </p:sp>
      <p:sp>
        <p:nvSpPr>
          <p:cNvPr id="4" name="Slide Number Placeholder 3">
            <a:extLst>
              <a:ext uri="{FF2B5EF4-FFF2-40B4-BE49-F238E27FC236}">
                <a16:creationId xmlns:a16="http://schemas.microsoft.com/office/drawing/2014/main" id="{59E87D78-1768-7349-94EC-F166C1FFBEA4}"/>
              </a:ext>
            </a:extLst>
          </p:cNvPr>
          <p:cNvSpPr>
            <a:spLocks noGrp="1"/>
          </p:cNvSpPr>
          <p:nvPr>
            <p:ph type="sldNum" sz="quarter" idx="12"/>
          </p:nvPr>
        </p:nvSpPr>
        <p:spPr/>
        <p:txBody>
          <a:bodyPr/>
          <a:lstStyle/>
          <a:p>
            <a:pPr>
              <a:defRPr/>
            </a:pPr>
            <a:fld id="{3FF2C605-4958-CF43-AA48-80339EFDB0AF}" type="slidenum">
              <a:rPr lang="en-US" smtClean="0"/>
              <a:pPr>
                <a:defRPr/>
              </a:pPr>
              <a:t>16</a:t>
            </a:fld>
            <a:endParaRPr lang="en-US"/>
          </a:p>
        </p:txBody>
      </p:sp>
      <p:pic>
        <p:nvPicPr>
          <p:cNvPr id="5" name="Picture 4">
            <a:extLst>
              <a:ext uri="{FF2B5EF4-FFF2-40B4-BE49-F238E27FC236}">
                <a16:creationId xmlns:a16="http://schemas.microsoft.com/office/drawing/2014/main" id="{E47C6594-19D3-C942-A164-C05A5C4D384A}"/>
              </a:ext>
            </a:extLst>
          </p:cNvPr>
          <p:cNvPicPr>
            <a:picLocks noChangeAspect="1"/>
          </p:cNvPicPr>
          <p:nvPr/>
        </p:nvPicPr>
        <p:blipFill>
          <a:blip r:embed="rId2"/>
          <a:stretch>
            <a:fillRect/>
          </a:stretch>
        </p:blipFill>
        <p:spPr>
          <a:xfrm>
            <a:off x="5893190" y="1368889"/>
            <a:ext cx="5171743" cy="4987462"/>
          </a:xfrm>
          <a:prstGeom prst="rect">
            <a:avLst/>
          </a:prstGeom>
        </p:spPr>
      </p:pic>
    </p:spTree>
    <p:extLst>
      <p:ext uri="{BB962C8B-B14F-4D97-AF65-F5344CB8AC3E}">
        <p14:creationId xmlns:p14="http://schemas.microsoft.com/office/powerpoint/2010/main" val="3730294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38F2B-E300-0B43-A050-C495E9460FD9}"/>
              </a:ext>
            </a:extLst>
          </p:cNvPr>
          <p:cNvSpPr>
            <a:spLocks noGrp="1"/>
          </p:cNvSpPr>
          <p:nvPr>
            <p:ph type="title"/>
          </p:nvPr>
        </p:nvSpPr>
        <p:spPr/>
        <p:txBody>
          <a:bodyPr/>
          <a:lstStyle/>
          <a:p>
            <a:r>
              <a:rPr lang="en-US" dirty="0"/>
              <a:t>Cladding Response</a:t>
            </a:r>
          </a:p>
        </p:txBody>
      </p:sp>
      <p:sp>
        <p:nvSpPr>
          <p:cNvPr id="3" name="Content Placeholder 2">
            <a:extLst>
              <a:ext uri="{FF2B5EF4-FFF2-40B4-BE49-F238E27FC236}">
                <a16:creationId xmlns:a16="http://schemas.microsoft.com/office/drawing/2014/main" id="{48B89B9C-03AF-9443-8E05-016A097A30D6}"/>
              </a:ext>
            </a:extLst>
          </p:cNvPr>
          <p:cNvSpPr>
            <a:spLocks noGrp="1"/>
          </p:cNvSpPr>
          <p:nvPr>
            <p:ph idx="1"/>
          </p:nvPr>
        </p:nvSpPr>
        <p:spPr/>
        <p:txBody>
          <a:bodyPr/>
          <a:lstStyle/>
          <a:p>
            <a:r>
              <a:rPr lang="en-US" sz="2000" dirty="0"/>
              <a:t>PCMI failures results from the fuel pushing out on the cladding, causing it to break</a:t>
            </a:r>
          </a:p>
          <a:p>
            <a:endParaRPr lang="en-US" sz="2000" dirty="0"/>
          </a:p>
        </p:txBody>
      </p:sp>
      <p:sp>
        <p:nvSpPr>
          <p:cNvPr id="4" name="Slide Number Placeholder 3">
            <a:extLst>
              <a:ext uri="{FF2B5EF4-FFF2-40B4-BE49-F238E27FC236}">
                <a16:creationId xmlns:a16="http://schemas.microsoft.com/office/drawing/2014/main" id="{F7CF4F50-93F2-E94E-A0FA-AB0F40866E4A}"/>
              </a:ext>
            </a:extLst>
          </p:cNvPr>
          <p:cNvSpPr>
            <a:spLocks noGrp="1"/>
          </p:cNvSpPr>
          <p:nvPr>
            <p:ph type="sldNum" sz="quarter" idx="12"/>
          </p:nvPr>
        </p:nvSpPr>
        <p:spPr/>
        <p:txBody>
          <a:bodyPr/>
          <a:lstStyle/>
          <a:p>
            <a:pPr>
              <a:defRPr/>
            </a:pPr>
            <a:fld id="{3FF2C605-4958-CF43-AA48-80339EFDB0AF}" type="slidenum">
              <a:rPr lang="en-US" smtClean="0"/>
              <a:pPr>
                <a:defRPr/>
              </a:pPr>
              <a:t>17</a:t>
            </a:fld>
            <a:endParaRPr lang="en-US"/>
          </a:p>
        </p:txBody>
      </p:sp>
      <p:pic>
        <p:nvPicPr>
          <p:cNvPr id="5" name="Picture 4">
            <a:extLst>
              <a:ext uri="{FF2B5EF4-FFF2-40B4-BE49-F238E27FC236}">
                <a16:creationId xmlns:a16="http://schemas.microsoft.com/office/drawing/2014/main" id="{7FB27449-6289-2C42-9FE2-D04E115E2521}"/>
              </a:ext>
            </a:extLst>
          </p:cNvPr>
          <p:cNvPicPr>
            <a:picLocks noChangeAspect="1"/>
          </p:cNvPicPr>
          <p:nvPr/>
        </p:nvPicPr>
        <p:blipFill>
          <a:blip r:embed="rId2"/>
          <a:stretch>
            <a:fillRect/>
          </a:stretch>
        </p:blipFill>
        <p:spPr>
          <a:xfrm>
            <a:off x="2118360" y="2329094"/>
            <a:ext cx="7955280" cy="4071706"/>
          </a:xfrm>
          <a:prstGeom prst="rect">
            <a:avLst/>
          </a:prstGeom>
        </p:spPr>
      </p:pic>
    </p:spTree>
    <p:extLst>
      <p:ext uri="{BB962C8B-B14F-4D97-AF65-F5344CB8AC3E}">
        <p14:creationId xmlns:p14="http://schemas.microsoft.com/office/powerpoint/2010/main" val="2431761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3087F-DD84-F547-ACDF-F2BC35D3F8C5}"/>
              </a:ext>
            </a:extLst>
          </p:cNvPr>
          <p:cNvSpPr>
            <a:spLocks noGrp="1"/>
          </p:cNvSpPr>
          <p:nvPr>
            <p:ph type="title"/>
          </p:nvPr>
        </p:nvSpPr>
        <p:spPr/>
        <p:txBody>
          <a:bodyPr/>
          <a:lstStyle/>
          <a:p>
            <a:r>
              <a:rPr lang="en-US" dirty="0"/>
              <a:t>Pulse Width</a:t>
            </a:r>
          </a:p>
        </p:txBody>
      </p:sp>
      <p:sp>
        <p:nvSpPr>
          <p:cNvPr id="3" name="Content Placeholder 2">
            <a:extLst>
              <a:ext uri="{FF2B5EF4-FFF2-40B4-BE49-F238E27FC236}">
                <a16:creationId xmlns:a16="http://schemas.microsoft.com/office/drawing/2014/main" id="{DB15A594-9D00-E042-B1FF-9C4FB3EE3A7D}"/>
              </a:ext>
            </a:extLst>
          </p:cNvPr>
          <p:cNvSpPr>
            <a:spLocks noGrp="1"/>
          </p:cNvSpPr>
          <p:nvPr>
            <p:ph idx="1"/>
          </p:nvPr>
        </p:nvSpPr>
        <p:spPr>
          <a:xfrm>
            <a:off x="609600" y="2160495"/>
            <a:ext cx="4541520" cy="3965670"/>
          </a:xfrm>
        </p:spPr>
        <p:txBody>
          <a:bodyPr/>
          <a:lstStyle/>
          <a:p>
            <a:r>
              <a:rPr lang="en-US" sz="2000" dirty="0"/>
              <a:t>The amplitude and width of the power pulse can have dramatic impacts on the effects of the RIA</a:t>
            </a:r>
          </a:p>
          <a:p>
            <a:r>
              <a:rPr lang="en-US" sz="2000" dirty="0"/>
              <a:t>Pulse is typically defined by FWHM, and by total energy deposition (integration of pulse)</a:t>
            </a:r>
          </a:p>
          <a:p>
            <a:r>
              <a:rPr lang="en-US" sz="2000" dirty="0"/>
              <a:t>More rapid temperature spike is more damaging</a:t>
            </a:r>
          </a:p>
          <a:p>
            <a:r>
              <a:rPr lang="en-US" sz="2000" dirty="0"/>
              <a:t>Reactor state and type during typical accident scenarios determine pulse width</a:t>
            </a:r>
          </a:p>
          <a:p>
            <a:endParaRPr lang="en-US" sz="2000" dirty="0"/>
          </a:p>
        </p:txBody>
      </p:sp>
      <p:sp>
        <p:nvSpPr>
          <p:cNvPr id="4" name="Slide Number Placeholder 3">
            <a:extLst>
              <a:ext uri="{FF2B5EF4-FFF2-40B4-BE49-F238E27FC236}">
                <a16:creationId xmlns:a16="http://schemas.microsoft.com/office/drawing/2014/main" id="{D76A4AA3-56D6-DC48-B166-F3FD9640B221}"/>
              </a:ext>
            </a:extLst>
          </p:cNvPr>
          <p:cNvSpPr>
            <a:spLocks noGrp="1"/>
          </p:cNvSpPr>
          <p:nvPr>
            <p:ph type="sldNum" sz="quarter" idx="12"/>
          </p:nvPr>
        </p:nvSpPr>
        <p:spPr/>
        <p:txBody>
          <a:bodyPr/>
          <a:lstStyle/>
          <a:p>
            <a:pPr>
              <a:defRPr/>
            </a:pPr>
            <a:fld id="{3FF2C605-4958-CF43-AA48-80339EFDB0AF}" type="slidenum">
              <a:rPr lang="en-US" smtClean="0"/>
              <a:pPr>
                <a:defRPr/>
              </a:pPr>
              <a:t>18</a:t>
            </a:fld>
            <a:endParaRPr lang="en-US"/>
          </a:p>
        </p:txBody>
      </p:sp>
      <p:pic>
        <p:nvPicPr>
          <p:cNvPr id="5" name="Picture 4">
            <a:extLst>
              <a:ext uri="{FF2B5EF4-FFF2-40B4-BE49-F238E27FC236}">
                <a16:creationId xmlns:a16="http://schemas.microsoft.com/office/drawing/2014/main" id="{A2800EB6-AA4A-8644-98B0-13FF7B937488}"/>
              </a:ext>
            </a:extLst>
          </p:cNvPr>
          <p:cNvPicPr>
            <a:picLocks noChangeAspect="1"/>
          </p:cNvPicPr>
          <p:nvPr/>
        </p:nvPicPr>
        <p:blipFill>
          <a:blip r:embed="rId2"/>
          <a:stretch>
            <a:fillRect/>
          </a:stretch>
        </p:blipFill>
        <p:spPr>
          <a:xfrm>
            <a:off x="6477000" y="1764237"/>
            <a:ext cx="4008120" cy="1992408"/>
          </a:xfrm>
          <a:prstGeom prst="rect">
            <a:avLst/>
          </a:prstGeom>
        </p:spPr>
      </p:pic>
      <p:pic>
        <p:nvPicPr>
          <p:cNvPr id="6" name="Picture 5">
            <a:extLst>
              <a:ext uri="{FF2B5EF4-FFF2-40B4-BE49-F238E27FC236}">
                <a16:creationId xmlns:a16="http://schemas.microsoft.com/office/drawing/2014/main" id="{39F210D8-FB83-284B-B1E0-744E0EEE4C43}"/>
              </a:ext>
            </a:extLst>
          </p:cNvPr>
          <p:cNvPicPr>
            <a:picLocks noChangeAspect="1"/>
          </p:cNvPicPr>
          <p:nvPr/>
        </p:nvPicPr>
        <p:blipFill>
          <a:blip r:embed="rId3"/>
          <a:stretch>
            <a:fillRect/>
          </a:stretch>
        </p:blipFill>
        <p:spPr>
          <a:xfrm>
            <a:off x="5151120" y="3988618"/>
            <a:ext cx="3787432" cy="2329541"/>
          </a:xfrm>
          <a:prstGeom prst="rect">
            <a:avLst/>
          </a:prstGeom>
        </p:spPr>
      </p:pic>
      <p:pic>
        <p:nvPicPr>
          <p:cNvPr id="7" name="Picture 6">
            <a:extLst>
              <a:ext uri="{FF2B5EF4-FFF2-40B4-BE49-F238E27FC236}">
                <a16:creationId xmlns:a16="http://schemas.microsoft.com/office/drawing/2014/main" id="{1500DDE0-FA4B-5E49-9B9E-96B100F7BDC6}"/>
              </a:ext>
            </a:extLst>
          </p:cNvPr>
          <p:cNvPicPr>
            <a:picLocks noChangeAspect="1"/>
          </p:cNvPicPr>
          <p:nvPr/>
        </p:nvPicPr>
        <p:blipFill>
          <a:blip r:embed="rId4"/>
          <a:stretch>
            <a:fillRect/>
          </a:stretch>
        </p:blipFill>
        <p:spPr>
          <a:xfrm>
            <a:off x="8910320" y="3937087"/>
            <a:ext cx="3116580" cy="2475913"/>
          </a:xfrm>
          <a:prstGeom prst="rect">
            <a:avLst/>
          </a:prstGeom>
        </p:spPr>
      </p:pic>
    </p:spTree>
    <p:extLst>
      <p:ext uri="{BB962C8B-B14F-4D97-AF65-F5344CB8AC3E}">
        <p14:creationId xmlns:p14="http://schemas.microsoft.com/office/powerpoint/2010/main" val="3770153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9EE7E-3D95-6240-8204-F61F399E4AE4}"/>
              </a:ext>
            </a:extLst>
          </p:cNvPr>
          <p:cNvSpPr>
            <a:spLocks noGrp="1"/>
          </p:cNvSpPr>
          <p:nvPr>
            <p:ph type="title"/>
          </p:nvPr>
        </p:nvSpPr>
        <p:spPr/>
        <p:txBody>
          <a:bodyPr/>
          <a:lstStyle/>
          <a:p>
            <a:r>
              <a:rPr lang="en-US" dirty="0"/>
              <a:t>Effect of Burnup</a:t>
            </a:r>
          </a:p>
        </p:txBody>
      </p:sp>
      <p:sp>
        <p:nvSpPr>
          <p:cNvPr id="3" name="Content Placeholder 2">
            <a:extLst>
              <a:ext uri="{FF2B5EF4-FFF2-40B4-BE49-F238E27FC236}">
                <a16:creationId xmlns:a16="http://schemas.microsoft.com/office/drawing/2014/main" id="{7809D228-F15D-5D4D-B2C4-D3F76616598A}"/>
              </a:ext>
            </a:extLst>
          </p:cNvPr>
          <p:cNvSpPr>
            <a:spLocks noGrp="1"/>
          </p:cNvSpPr>
          <p:nvPr>
            <p:ph idx="1"/>
          </p:nvPr>
        </p:nvSpPr>
        <p:spPr>
          <a:xfrm>
            <a:off x="609600" y="1968501"/>
            <a:ext cx="6301839" cy="3965670"/>
          </a:xfrm>
        </p:spPr>
        <p:txBody>
          <a:bodyPr/>
          <a:lstStyle/>
          <a:p>
            <a:r>
              <a:rPr lang="en-US" sz="2000" dirty="0"/>
              <a:t>Fuel rod damage correlates with the peak value of fuel pellet specific enthalpy; the higher the enthalpy increase, the more extensive is the damage</a:t>
            </a:r>
          </a:p>
          <a:p>
            <a:r>
              <a:rPr lang="en-US" sz="2000" dirty="0"/>
              <a:t>Fuel enthalpy increases are higher in fresh fuel</a:t>
            </a:r>
          </a:p>
          <a:p>
            <a:r>
              <a:rPr lang="en-US" sz="2000" dirty="0"/>
              <a:t>Cladding failure occurs at lower fuel enthalpy increases for irradiated than for fresh fuel rods, thus, the susceptibility to failure increases with increasing fuel burnup</a:t>
            </a:r>
          </a:p>
          <a:p>
            <a:r>
              <a:rPr lang="en-US" sz="2000" dirty="0"/>
              <a:t>The degree of cladding waterside corrosion is very important for survivability of preirradiated fuel rods</a:t>
            </a:r>
          </a:p>
          <a:p>
            <a:r>
              <a:rPr lang="en-US" sz="2000" dirty="0"/>
              <a:t>Safety criteria are defined in terms of limits on the radially averaged fuel pellet specific enthalpy, or the increase of this property during the accident</a:t>
            </a:r>
          </a:p>
          <a:p>
            <a:endParaRPr lang="en-US" sz="2000" dirty="0"/>
          </a:p>
        </p:txBody>
      </p:sp>
      <p:sp>
        <p:nvSpPr>
          <p:cNvPr id="4" name="Slide Number Placeholder 3">
            <a:extLst>
              <a:ext uri="{FF2B5EF4-FFF2-40B4-BE49-F238E27FC236}">
                <a16:creationId xmlns:a16="http://schemas.microsoft.com/office/drawing/2014/main" id="{9AFFD1F2-02EE-0E47-91EF-308FEE6F65F2}"/>
              </a:ext>
            </a:extLst>
          </p:cNvPr>
          <p:cNvSpPr>
            <a:spLocks noGrp="1"/>
          </p:cNvSpPr>
          <p:nvPr>
            <p:ph type="sldNum" sz="quarter" idx="12"/>
          </p:nvPr>
        </p:nvSpPr>
        <p:spPr/>
        <p:txBody>
          <a:bodyPr/>
          <a:lstStyle/>
          <a:p>
            <a:pPr>
              <a:defRPr/>
            </a:pPr>
            <a:fld id="{3FF2C605-4958-CF43-AA48-80339EFDB0AF}" type="slidenum">
              <a:rPr lang="en-US" smtClean="0"/>
              <a:pPr>
                <a:defRPr/>
              </a:pPr>
              <a:t>19</a:t>
            </a:fld>
            <a:endParaRPr lang="en-US"/>
          </a:p>
        </p:txBody>
      </p:sp>
      <p:pic>
        <p:nvPicPr>
          <p:cNvPr id="5" name="Picture 4">
            <a:extLst>
              <a:ext uri="{FF2B5EF4-FFF2-40B4-BE49-F238E27FC236}">
                <a16:creationId xmlns:a16="http://schemas.microsoft.com/office/drawing/2014/main" id="{1F36DD49-6605-0B44-8B4B-AB86BDEE5B7E}"/>
              </a:ext>
            </a:extLst>
          </p:cNvPr>
          <p:cNvPicPr>
            <a:picLocks noChangeAspect="1"/>
          </p:cNvPicPr>
          <p:nvPr/>
        </p:nvPicPr>
        <p:blipFill>
          <a:blip r:embed="rId2"/>
          <a:stretch>
            <a:fillRect/>
          </a:stretch>
        </p:blipFill>
        <p:spPr>
          <a:xfrm>
            <a:off x="8145630" y="1294860"/>
            <a:ext cx="2195830" cy="506730"/>
          </a:xfrm>
          <a:prstGeom prst="rect">
            <a:avLst/>
          </a:prstGeom>
        </p:spPr>
      </p:pic>
      <p:pic>
        <p:nvPicPr>
          <p:cNvPr id="6" name="Picture 5">
            <a:extLst>
              <a:ext uri="{FF2B5EF4-FFF2-40B4-BE49-F238E27FC236}">
                <a16:creationId xmlns:a16="http://schemas.microsoft.com/office/drawing/2014/main" id="{5A156C1D-319A-3148-A75C-995532F3C160}"/>
              </a:ext>
            </a:extLst>
          </p:cNvPr>
          <p:cNvPicPr>
            <a:picLocks noChangeAspect="1"/>
          </p:cNvPicPr>
          <p:nvPr/>
        </p:nvPicPr>
        <p:blipFill>
          <a:blip r:embed="rId3"/>
          <a:stretch>
            <a:fillRect/>
          </a:stretch>
        </p:blipFill>
        <p:spPr>
          <a:xfrm>
            <a:off x="7076688" y="1805629"/>
            <a:ext cx="4340462" cy="2151994"/>
          </a:xfrm>
          <a:prstGeom prst="rect">
            <a:avLst/>
          </a:prstGeom>
        </p:spPr>
      </p:pic>
      <p:pic>
        <p:nvPicPr>
          <p:cNvPr id="7" name="Picture 6">
            <a:extLst>
              <a:ext uri="{FF2B5EF4-FFF2-40B4-BE49-F238E27FC236}">
                <a16:creationId xmlns:a16="http://schemas.microsoft.com/office/drawing/2014/main" id="{233A1028-2CA1-0546-9AF9-FE8DB47006D1}"/>
              </a:ext>
            </a:extLst>
          </p:cNvPr>
          <p:cNvPicPr>
            <a:picLocks noChangeAspect="1"/>
          </p:cNvPicPr>
          <p:nvPr/>
        </p:nvPicPr>
        <p:blipFill>
          <a:blip r:embed="rId4"/>
          <a:stretch>
            <a:fillRect/>
          </a:stretch>
        </p:blipFill>
        <p:spPr>
          <a:xfrm>
            <a:off x="7076688" y="3988637"/>
            <a:ext cx="4340462" cy="2269287"/>
          </a:xfrm>
          <a:prstGeom prst="rect">
            <a:avLst/>
          </a:prstGeom>
        </p:spPr>
      </p:pic>
    </p:spTree>
    <p:extLst>
      <p:ext uri="{BB962C8B-B14F-4D97-AF65-F5344CB8AC3E}">
        <p14:creationId xmlns:p14="http://schemas.microsoft.com/office/powerpoint/2010/main" val="2034981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79052-4B77-EB40-85EF-F4AD972B4526}"/>
              </a:ext>
            </a:extLst>
          </p:cNvPr>
          <p:cNvSpPr>
            <a:spLocks noGrp="1"/>
          </p:cNvSpPr>
          <p:nvPr>
            <p:ph type="title"/>
          </p:nvPr>
        </p:nvSpPr>
        <p:spPr/>
        <p:txBody>
          <a:bodyPr/>
          <a:lstStyle/>
          <a:p>
            <a:r>
              <a:rPr lang="en-US" dirty="0"/>
              <a:t>RIA Summary</a:t>
            </a:r>
          </a:p>
        </p:txBody>
      </p:sp>
      <p:sp>
        <p:nvSpPr>
          <p:cNvPr id="3" name="Content Placeholder 2">
            <a:extLst>
              <a:ext uri="{FF2B5EF4-FFF2-40B4-BE49-F238E27FC236}">
                <a16:creationId xmlns:a16="http://schemas.microsoft.com/office/drawing/2014/main" id="{4C2CE09C-CFB2-C046-8B25-94C9B1E3D53A}"/>
              </a:ext>
            </a:extLst>
          </p:cNvPr>
          <p:cNvSpPr>
            <a:spLocks noGrp="1"/>
          </p:cNvSpPr>
          <p:nvPr>
            <p:ph idx="1"/>
          </p:nvPr>
        </p:nvSpPr>
        <p:spPr/>
        <p:txBody>
          <a:bodyPr/>
          <a:lstStyle/>
          <a:p>
            <a:r>
              <a:rPr lang="en-US" dirty="0"/>
              <a:t>Reactivity insertion accident</a:t>
            </a:r>
          </a:p>
          <a:p>
            <a:pPr lvl="1"/>
            <a:r>
              <a:rPr lang="en-US" dirty="0"/>
              <a:t>In PWR/BWR often initiated by control rod ejection/drop</a:t>
            </a:r>
          </a:p>
          <a:p>
            <a:r>
              <a:rPr lang="en-US" dirty="0"/>
              <a:t>Shorter pulses have greater impact than longer pulses (given same energy deposition)</a:t>
            </a:r>
          </a:p>
          <a:p>
            <a:r>
              <a:rPr lang="en-US" dirty="0"/>
              <a:t>Fast accident, causing temperature spike, pellet expansion, gas expansion</a:t>
            </a:r>
          </a:p>
          <a:p>
            <a:r>
              <a:rPr lang="en-US" dirty="0"/>
              <a:t>Can lead to PCMI or DNB failure events, and in worst case fuel ejection</a:t>
            </a:r>
          </a:p>
          <a:p>
            <a:r>
              <a:rPr lang="en-US" dirty="0"/>
              <a:t>Effects of RIA depend on burnup</a:t>
            </a:r>
          </a:p>
          <a:p>
            <a:pPr lvl="1"/>
            <a:r>
              <a:rPr lang="en-US" dirty="0"/>
              <a:t>fission gas, PCMI, oxide layer, hydrides, cladding pressure, etc.</a:t>
            </a:r>
          </a:p>
          <a:p>
            <a:endParaRPr lang="en-US" dirty="0"/>
          </a:p>
        </p:txBody>
      </p:sp>
      <p:sp>
        <p:nvSpPr>
          <p:cNvPr id="4" name="Slide Number Placeholder 3">
            <a:extLst>
              <a:ext uri="{FF2B5EF4-FFF2-40B4-BE49-F238E27FC236}">
                <a16:creationId xmlns:a16="http://schemas.microsoft.com/office/drawing/2014/main" id="{2E77C21D-4691-594D-B222-FF31B0FAC8AE}"/>
              </a:ext>
            </a:extLst>
          </p:cNvPr>
          <p:cNvSpPr>
            <a:spLocks noGrp="1"/>
          </p:cNvSpPr>
          <p:nvPr>
            <p:ph type="sldNum" sz="quarter" idx="12"/>
          </p:nvPr>
        </p:nvSpPr>
        <p:spPr/>
        <p:txBody>
          <a:bodyPr/>
          <a:lstStyle/>
          <a:p>
            <a:pPr>
              <a:defRPr/>
            </a:pPr>
            <a:fld id="{3FF2C605-4958-CF43-AA48-80339EFDB0AF}" type="slidenum">
              <a:rPr lang="en-US" smtClean="0"/>
              <a:pPr>
                <a:defRPr/>
              </a:pPr>
              <a:t>20</a:t>
            </a:fld>
            <a:endParaRPr lang="en-US"/>
          </a:p>
        </p:txBody>
      </p:sp>
    </p:spTree>
    <p:extLst>
      <p:ext uri="{BB962C8B-B14F-4D97-AF65-F5344CB8AC3E}">
        <p14:creationId xmlns:p14="http://schemas.microsoft.com/office/powerpoint/2010/main" val="2824893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94898-7971-864E-BAC2-6F6C43297F63}"/>
              </a:ext>
            </a:extLst>
          </p:cNvPr>
          <p:cNvSpPr>
            <a:spLocks noGrp="1"/>
          </p:cNvSpPr>
          <p:nvPr>
            <p:ph type="title"/>
          </p:nvPr>
        </p:nvSpPr>
        <p:spPr/>
        <p:txBody>
          <a:bodyPr/>
          <a:lstStyle/>
          <a:p>
            <a:r>
              <a:rPr lang="en-US" dirty="0"/>
              <a:t>Loss of Coolant Accident (LOCA)</a:t>
            </a:r>
          </a:p>
        </p:txBody>
      </p:sp>
      <p:sp>
        <p:nvSpPr>
          <p:cNvPr id="3" name="Content Placeholder 2">
            <a:extLst>
              <a:ext uri="{FF2B5EF4-FFF2-40B4-BE49-F238E27FC236}">
                <a16:creationId xmlns:a16="http://schemas.microsoft.com/office/drawing/2014/main" id="{56BD2A26-2234-1841-9D48-D67796C69442}"/>
              </a:ext>
            </a:extLst>
          </p:cNvPr>
          <p:cNvSpPr>
            <a:spLocks noGrp="1"/>
          </p:cNvSpPr>
          <p:nvPr>
            <p:ph idx="1"/>
          </p:nvPr>
        </p:nvSpPr>
        <p:spPr>
          <a:xfrm>
            <a:off x="609600" y="1818409"/>
            <a:ext cx="6482080" cy="4307756"/>
          </a:xfrm>
        </p:spPr>
        <p:txBody>
          <a:bodyPr/>
          <a:lstStyle/>
          <a:p>
            <a:r>
              <a:rPr lang="en-US" sz="2000" dirty="0"/>
              <a:t>Design basis accident for LWRs</a:t>
            </a:r>
          </a:p>
          <a:p>
            <a:r>
              <a:rPr lang="en-US" sz="2000" dirty="0"/>
              <a:t>In a LOCA, the coolant flow is reduced or lost altogether (e.g., coolant pipe break)</a:t>
            </a:r>
          </a:p>
          <a:p>
            <a:r>
              <a:rPr lang="en-US" sz="2000" dirty="0"/>
              <a:t>When this occurs, pressure drops, engaging the emergency shutdown system</a:t>
            </a:r>
          </a:p>
          <a:p>
            <a:r>
              <a:rPr lang="en-US" sz="2000" dirty="0"/>
              <a:t>SCRAMS the reactor, stopping the fission chain reaction</a:t>
            </a:r>
          </a:p>
          <a:p>
            <a:r>
              <a:rPr lang="en-US" sz="2000" dirty="0"/>
              <a:t>The reactor water is expelled into the containment</a:t>
            </a:r>
          </a:p>
          <a:p>
            <a:r>
              <a:rPr lang="en-US" sz="2000" dirty="0"/>
              <a:t>The emergency core cooling system (ECCS) begins to remove heat</a:t>
            </a:r>
          </a:p>
          <a:p>
            <a:r>
              <a:rPr lang="en-US" sz="2000" dirty="0"/>
              <a:t>Safety requirement is to maintain a coolable geometry</a:t>
            </a:r>
          </a:p>
          <a:p>
            <a:endParaRPr lang="en-US" sz="2000" dirty="0"/>
          </a:p>
        </p:txBody>
      </p:sp>
      <p:sp>
        <p:nvSpPr>
          <p:cNvPr id="4" name="Slide Number Placeholder 3">
            <a:extLst>
              <a:ext uri="{FF2B5EF4-FFF2-40B4-BE49-F238E27FC236}">
                <a16:creationId xmlns:a16="http://schemas.microsoft.com/office/drawing/2014/main" id="{334EE156-C438-7344-95FC-2D0560EC5870}"/>
              </a:ext>
            </a:extLst>
          </p:cNvPr>
          <p:cNvSpPr>
            <a:spLocks noGrp="1"/>
          </p:cNvSpPr>
          <p:nvPr>
            <p:ph type="sldNum" sz="quarter" idx="12"/>
          </p:nvPr>
        </p:nvSpPr>
        <p:spPr/>
        <p:txBody>
          <a:bodyPr/>
          <a:lstStyle/>
          <a:p>
            <a:pPr>
              <a:defRPr/>
            </a:pPr>
            <a:fld id="{3FF2C605-4958-CF43-AA48-80339EFDB0AF}" type="slidenum">
              <a:rPr lang="en-US" smtClean="0"/>
              <a:pPr>
                <a:defRPr/>
              </a:pPr>
              <a:t>21</a:t>
            </a:fld>
            <a:endParaRPr lang="en-US"/>
          </a:p>
        </p:txBody>
      </p:sp>
      <p:pic>
        <p:nvPicPr>
          <p:cNvPr id="5" name="Picture 4">
            <a:extLst>
              <a:ext uri="{FF2B5EF4-FFF2-40B4-BE49-F238E27FC236}">
                <a16:creationId xmlns:a16="http://schemas.microsoft.com/office/drawing/2014/main" id="{404A53FD-88D6-B649-B046-825F1E66E594}"/>
              </a:ext>
            </a:extLst>
          </p:cNvPr>
          <p:cNvPicPr>
            <a:picLocks noChangeAspect="1"/>
          </p:cNvPicPr>
          <p:nvPr/>
        </p:nvPicPr>
        <p:blipFill>
          <a:blip r:embed="rId2"/>
          <a:stretch>
            <a:fillRect/>
          </a:stretch>
        </p:blipFill>
        <p:spPr>
          <a:xfrm>
            <a:off x="6929582" y="1818409"/>
            <a:ext cx="4819595" cy="4100518"/>
          </a:xfrm>
          <a:prstGeom prst="rect">
            <a:avLst/>
          </a:prstGeom>
        </p:spPr>
      </p:pic>
    </p:spTree>
    <p:extLst>
      <p:ext uri="{BB962C8B-B14F-4D97-AF65-F5344CB8AC3E}">
        <p14:creationId xmlns:p14="http://schemas.microsoft.com/office/powerpoint/2010/main" val="2242272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D35A6-2E7D-FC4D-80ED-1FA227547B09}"/>
              </a:ext>
            </a:extLst>
          </p:cNvPr>
          <p:cNvSpPr>
            <a:spLocks noGrp="1"/>
          </p:cNvSpPr>
          <p:nvPr>
            <p:ph type="title"/>
          </p:nvPr>
        </p:nvSpPr>
        <p:spPr/>
        <p:txBody>
          <a:bodyPr/>
          <a:lstStyle/>
          <a:p>
            <a:r>
              <a:rPr lang="en-US" dirty="0"/>
              <a:t>Loss of Coolant Accident (LOCA)</a:t>
            </a:r>
          </a:p>
        </p:txBody>
      </p:sp>
      <p:sp>
        <p:nvSpPr>
          <p:cNvPr id="3" name="Content Placeholder 2">
            <a:extLst>
              <a:ext uri="{FF2B5EF4-FFF2-40B4-BE49-F238E27FC236}">
                <a16:creationId xmlns:a16="http://schemas.microsoft.com/office/drawing/2014/main" id="{B59E38E1-2618-4544-B561-6945C194DF8C}"/>
              </a:ext>
            </a:extLst>
          </p:cNvPr>
          <p:cNvSpPr>
            <a:spLocks noGrp="1"/>
          </p:cNvSpPr>
          <p:nvPr>
            <p:ph idx="1"/>
          </p:nvPr>
        </p:nvSpPr>
        <p:spPr>
          <a:xfrm>
            <a:off x="609600" y="1756064"/>
            <a:ext cx="4878422" cy="4370101"/>
          </a:xfrm>
        </p:spPr>
        <p:txBody>
          <a:bodyPr/>
          <a:lstStyle/>
          <a:p>
            <a:r>
              <a:rPr lang="en-US" sz="2000" dirty="0"/>
              <a:t>The average temperature of the reactor continues to rise due to radioactive decay in the fuel and the lower cooling</a:t>
            </a:r>
          </a:p>
          <a:p>
            <a:r>
              <a:rPr lang="en-US" sz="2000" dirty="0"/>
              <a:t>Decrease in coolant pressure and increase in internal pressure causes large plastic deformation</a:t>
            </a:r>
          </a:p>
          <a:p>
            <a:r>
              <a:rPr lang="en-US" sz="2000" dirty="0"/>
              <a:t>Causes the cladding to balloon out and potentially burst</a:t>
            </a:r>
          </a:p>
          <a:p>
            <a:r>
              <a:rPr lang="en-US" sz="2000" dirty="0"/>
              <a:t>Ballooning blocks coolant flow</a:t>
            </a:r>
          </a:p>
          <a:p>
            <a:r>
              <a:rPr lang="en-US" sz="2000" dirty="0"/>
              <a:t>Cladding burst is significantly impacted by oxidation and hydride embrittlement</a:t>
            </a:r>
          </a:p>
        </p:txBody>
      </p:sp>
      <p:sp>
        <p:nvSpPr>
          <p:cNvPr id="4" name="Slide Number Placeholder 3">
            <a:extLst>
              <a:ext uri="{FF2B5EF4-FFF2-40B4-BE49-F238E27FC236}">
                <a16:creationId xmlns:a16="http://schemas.microsoft.com/office/drawing/2014/main" id="{649603D8-349D-AD4C-9916-AC2100C46A11}"/>
              </a:ext>
            </a:extLst>
          </p:cNvPr>
          <p:cNvSpPr>
            <a:spLocks noGrp="1"/>
          </p:cNvSpPr>
          <p:nvPr>
            <p:ph type="sldNum" sz="quarter" idx="12"/>
          </p:nvPr>
        </p:nvSpPr>
        <p:spPr/>
        <p:txBody>
          <a:bodyPr/>
          <a:lstStyle/>
          <a:p>
            <a:pPr>
              <a:defRPr/>
            </a:pPr>
            <a:fld id="{3FF2C605-4958-CF43-AA48-80339EFDB0AF}" type="slidenum">
              <a:rPr lang="en-US" smtClean="0"/>
              <a:pPr>
                <a:defRPr/>
              </a:pPr>
              <a:t>22</a:t>
            </a:fld>
            <a:endParaRPr lang="en-US"/>
          </a:p>
        </p:txBody>
      </p:sp>
      <p:pic>
        <p:nvPicPr>
          <p:cNvPr id="5" name="Picture 4">
            <a:extLst>
              <a:ext uri="{FF2B5EF4-FFF2-40B4-BE49-F238E27FC236}">
                <a16:creationId xmlns:a16="http://schemas.microsoft.com/office/drawing/2014/main" id="{3539B92F-A9E4-7E4D-BC8C-A58F51760B5D}"/>
              </a:ext>
            </a:extLst>
          </p:cNvPr>
          <p:cNvPicPr>
            <a:picLocks noChangeAspect="1"/>
          </p:cNvPicPr>
          <p:nvPr/>
        </p:nvPicPr>
        <p:blipFill>
          <a:blip r:embed="rId2"/>
          <a:stretch>
            <a:fillRect/>
          </a:stretch>
        </p:blipFill>
        <p:spPr>
          <a:xfrm>
            <a:off x="5488022" y="1844452"/>
            <a:ext cx="6419498" cy="4281713"/>
          </a:xfrm>
          <a:prstGeom prst="rect">
            <a:avLst/>
          </a:prstGeom>
        </p:spPr>
      </p:pic>
    </p:spTree>
    <p:extLst>
      <p:ext uri="{BB962C8B-B14F-4D97-AF65-F5344CB8AC3E}">
        <p14:creationId xmlns:p14="http://schemas.microsoft.com/office/powerpoint/2010/main" val="3195881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F629-B059-8F43-9499-1ECA859EA8F2}"/>
              </a:ext>
            </a:extLst>
          </p:cNvPr>
          <p:cNvSpPr>
            <a:spLocks noGrp="1"/>
          </p:cNvSpPr>
          <p:nvPr>
            <p:ph type="title"/>
          </p:nvPr>
        </p:nvSpPr>
        <p:spPr>
          <a:xfrm>
            <a:off x="609600" y="751704"/>
            <a:ext cx="10972800" cy="1068387"/>
          </a:xfrm>
        </p:spPr>
        <p:txBody>
          <a:bodyPr/>
          <a:lstStyle/>
          <a:p>
            <a:r>
              <a:rPr lang="en-US" dirty="0"/>
              <a:t>LOCA Blockages</a:t>
            </a:r>
          </a:p>
        </p:txBody>
      </p:sp>
      <p:sp>
        <p:nvSpPr>
          <p:cNvPr id="3" name="Content Placeholder 2">
            <a:extLst>
              <a:ext uri="{FF2B5EF4-FFF2-40B4-BE49-F238E27FC236}">
                <a16:creationId xmlns:a16="http://schemas.microsoft.com/office/drawing/2014/main" id="{D0E29AE0-5904-F445-94F9-FF7BCC05CDDC}"/>
              </a:ext>
            </a:extLst>
          </p:cNvPr>
          <p:cNvSpPr>
            <a:spLocks noGrp="1"/>
          </p:cNvSpPr>
          <p:nvPr>
            <p:ph idx="1"/>
          </p:nvPr>
        </p:nvSpPr>
        <p:spPr>
          <a:xfrm>
            <a:off x="609600" y="1820091"/>
            <a:ext cx="7010400" cy="4306074"/>
          </a:xfrm>
        </p:spPr>
        <p:txBody>
          <a:bodyPr/>
          <a:lstStyle/>
          <a:p>
            <a:r>
              <a:rPr lang="en-US" sz="2000" dirty="0"/>
              <a:t>During the heat-up, the cladding plastically deforms (balloon and rupture) due to decrease of the system pressure outside the fuel rod and decrease in cladding strength - rod pressure becomes higher than the system pressure </a:t>
            </a:r>
          </a:p>
          <a:p>
            <a:r>
              <a:rPr lang="en-US" sz="2000" dirty="0"/>
              <a:t>Creep strength of Zircaloy rapidly falls with the temperature</a:t>
            </a:r>
          </a:p>
          <a:p>
            <a:r>
              <a:rPr lang="en-US" sz="2000" dirty="0"/>
              <a:t>The beta phase has different creep properties than the alpha phase, and </a:t>
            </a:r>
            <a:r>
              <a:rPr lang="en-US" sz="2000" dirty="0" err="1"/>
              <a:t>alpha+beta</a:t>
            </a:r>
            <a:r>
              <a:rPr lang="en-US" sz="2000" dirty="0"/>
              <a:t> phase can exhibit superplastic behavior</a:t>
            </a:r>
          </a:p>
          <a:p>
            <a:r>
              <a:rPr lang="en-US" sz="2000" dirty="0"/>
              <a:t>Large plastic deformation of the cladding in the radial direction results in blockage of the coolant channels between fuel rods</a:t>
            </a:r>
          </a:p>
          <a:p>
            <a:pPr marL="0" indent="0">
              <a:buNone/>
            </a:pPr>
            <a:endParaRPr lang="en-US" sz="2000" dirty="0"/>
          </a:p>
        </p:txBody>
      </p:sp>
      <p:sp>
        <p:nvSpPr>
          <p:cNvPr id="4" name="Slide Number Placeholder 3">
            <a:extLst>
              <a:ext uri="{FF2B5EF4-FFF2-40B4-BE49-F238E27FC236}">
                <a16:creationId xmlns:a16="http://schemas.microsoft.com/office/drawing/2014/main" id="{20A1AD15-D5E3-8447-83B4-EA6A14F5D603}"/>
              </a:ext>
            </a:extLst>
          </p:cNvPr>
          <p:cNvSpPr>
            <a:spLocks noGrp="1"/>
          </p:cNvSpPr>
          <p:nvPr>
            <p:ph type="sldNum" sz="quarter" idx="12"/>
          </p:nvPr>
        </p:nvSpPr>
        <p:spPr/>
        <p:txBody>
          <a:bodyPr/>
          <a:lstStyle/>
          <a:p>
            <a:pPr>
              <a:defRPr/>
            </a:pPr>
            <a:fld id="{3FF2C605-4958-CF43-AA48-80339EFDB0AF}" type="slidenum">
              <a:rPr lang="en-US" smtClean="0"/>
              <a:pPr>
                <a:defRPr/>
              </a:pPr>
              <a:t>23</a:t>
            </a:fld>
            <a:endParaRPr lang="en-US" dirty="0"/>
          </a:p>
        </p:txBody>
      </p:sp>
      <p:pic>
        <p:nvPicPr>
          <p:cNvPr id="5" name="Picture 4">
            <a:extLst>
              <a:ext uri="{FF2B5EF4-FFF2-40B4-BE49-F238E27FC236}">
                <a16:creationId xmlns:a16="http://schemas.microsoft.com/office/drawing/2014/main" id="{77AC15B0-1CCC-D142-848F-70EC8DBAD472}"/>
              </a:ext>
            </a:extLst>
          </p:cNvPr>
          <p:cNvPicPr>
            <a:picLocks noChangeAspect="1"/>
          </p:cNvPicPr>
          <p:nvPr/>
        </p:nvPicPr>
        <p:blipFill>
          <a:blip r:embed="rId2"/>
          <a:stretch>
            <a:fillRect/>
          </a:stretch>
        </p:blipFill>
        <p:spPr>
          <a:xfrm>
            <a:off x="7366000" y="1725614"/>
            <a:ext cx="4812846" cy="4510086"/>
          </a:xfrm>
          <a:prstGeom prst="rect">
            <a:avLst/>
          </a:prstGeom>
        </p:spPr>
      </p:pic>
    </p:spTree>
    <p:extLst>
      <p:ext uri="{BB962C8B-B14F-4D97-AF65-F5344CB8AC3E}">
        <p14:creationId xmlns:p14="http://schemas.microsoft.com/office/powerpoint/2010/main" val="450447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C50DD-D796-5047-9B4D-ACD77425AF27}"/>
              </a:ext>
            </a:extLst>
          </p:cNvPr>
          <p:cNvSpPr>
            <a:spLocks noGrp="1"/>
          </p:cNvSpPr>
          <p:nvPr>
            <p:ph type="title"/>
          </p:nvPr>
        </p:nvSpPr>
        <p:spPr/>
        <p:txBody>
          <a:bodyPr/>
          <a:lstStyle/>
          <a:p>
            <a:r>
              <a:rPr lang="en-US" dirty="0"/>
              <a:t>LOCA Phase Transformations</a:t>
            </a:r>
          </a:p>
        </p:txBody>
      </p:sp>
      <p:sp>
        <p:nvSpPr>
          <p:cNvPr id="3" name="Content Placeholder 2">
            <a:extLst>
              <a:ext uri="{FF2B5EF4-FFF2-40B4-BE49-F238E27FC236}">
                <a16:creationId xmlns:a16="http://schemas.microsoft.com/office/drawing/2014/main" id="{54FDEF99-61F0-DA4F-BF2E-CCB4A1365B5B}"/>
              </a:ext>
            </a:extLst>
          </p:cNvPr>
          <p:cNvSpPr>
            <a:spLocks noGrp="1"/>
          </p:cNvSpPr>
          <p:nvPr>
            <p:ph idx="1"/>
          </p:nvPr>
        </p:nvSpPr>
        <p:spPr>
          <a:xfrm>
            <a:off x="609600" y="1766455"/>
            <a:ext cx="6662057" cy="4359710"/>
          </a:xfrm>
        </p:spPr>
        <p:txBody>
          <a:bodyPr/>
          <a:lstStyle/>
          <a:p>
            <a:r>
              <a:rPr lang="en-US" sz="2000" dirty="0"/>
              <a:t>The phase structure of Zircaloy transforms from alpha to </a:t>
            </a:r>
            <a:r>
              <a:rPr lang="en-US" sz="2000" dirty="0" err="1"/>
              <a:t>alpha+beta</a:t>
            </a:r>
            <a:r>
              <a:rPr lang="en-US" sz="2000" dirty="0"/>
              <a:t> above about 800C, and to beta above about 1000C</a:t>
            </a:r>
          </a:p>
          <a:p>
            <a:r>
              <a:rPr lang="en-US" sz="2000" dirty="0"/>
              <a:t>The cladding reacts with steam or coolant at high temperatures, and an oxide (ZrO2) layer is formed on the surface of the cladding</a:t>
            </a:r>
          </a:p>
          <a:p>
            <a:r>
              <a:rPr lang="en-US" sz="2000" dirty="0"/>
              <a:t>In addition, absorbed oxygen stabilizes the alpha-phase and a layer of alpha-phase with a high content of oxygen begins to grow on the beta-phase, and the beta-phase becomes less ductile by the oxygen absorption</a:t>
            </a:r>
          </a:p>
        </p:txBody>
      </p:sp>
      <p:sp>
        <p:nvSpPr>
          <p:cNvPr id="4" name="Slide Number Placeholder 3">
            <a:extLst>
              <a:ext uri="{FF2B5EF4-FFF2-40B4-BE49-F238E27FC236}">
                <a16:creationId xmlns:a16="http://schemas.microsoft.com/office/drawing/2014/main" id="{944E6555-C190-E24F-8D33-D4837DD2026D}"/>
              </a:ext>
            </a:extLst>
          </p:cNvPr>
          <p:cNvSpPr>
            <a:spLocks noGrp="1"/>
          </p:cNvSpPr>
          <p:nvPr>
            <p:ph type="sldNum" sz="quarter" idx="12"/>
          </p:nvPr>
        </p:nvSpPr>
        <p:spPr/>
        <p:txBody>
          <a:bodyPr/>
          <a:lstStyle/>
          <a:p>
            <a:pPr>
              <a:defRPr/>
            </a:pPr>
            <a:fld id="{3FF2C605-4958-CF43-AA48-80339EFDB0AF}" type="slidenum">
              <a:rPr lang="en-US" smtClean="0"/>
              <a:pPr>
                <a:defRPr/>
              </a:pPr>
              <a:t>24</a:t>
            </a:fld>
            <a:endParaRPr lang="en-US"/>
          </a:p>
        </p:txBody>
      </p:sp>
      <p:pic>
        <p:nvPicPr>
          <p:cNvPr id="5" name="Picture 4">
            <a:extLst>
              <a:ext uri="{FF2B5EF4-FFF2-40B4-BE49-F238E27FC236}">
                <a16:creationId xmlns:a16="http://schemas.microsoft.com/office/drawing/2014/main" id="{371E509A-552B-6F4D-B735-940625D67BD7}"/>
              </a:ext>
            </a:extLst>
          </p:cNvPr>
          <p:cNvPicPr>
            <a:picLocks noChangeAspect="1"/>
          </p:cNvPicPr>
          <p:nvPr/>
        </p:nvPicPr>
        <p:blipFill>
          <a:blip r:embed="rId2"/>
          <a:stretch>
            <a:fillRect/>
          </a:stretch>
        </p:blipFill>
        <p:spPr>
          <a:xfrm>
            <a:off x="7512369" y="1656773"/>
            <a:ext cx="4070031" cy="3965671"/>
          </a:xfrm>
          <a:prstGeom prst="rect">
            <a:avLst/>
          </a:prstGeom>
        </p:spPr>
      </p:pic>
    </p:spTree>
    <p:extLst>
      <p:ext uri="{BB962C8B-B14F-4D97-AF65-F5344CB8AC3E}">
        <p14:creationId xmlns:p14="http://schemas.microsoft.com/office/powerpoint/2010/main" val="3034313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1186D00-FB48-8A48-A540-B089E3E7AB04}"/>
              </a:ext>
            </a:extLst>
          </p:cNvPr>
          <p:cNvPicPr>
            <a:picLocks noChangeAspect="1"/>
          </p:cNvPicPr>
          <p:nvPr/>
        </p:nvPicPr>
        <p:blipFill rotWithShape="1">
          <a:blip r:embed="rId2"/>
          <a:srcRect b="50000"/>
          <a:stretch/>
        </p:blipFill>
        <p:spPr>
          <a:xfrm>
            <a:off x="8371761" y="4118759"/>
            <a:ext cx="3670151" cy="2558077"/>
          </a:xfrm>
          <a:prstGeom prst="rect">
            <a:avLst/>
          </a:prstGeom>
        </p:spPr>
      </p:pic>
      <p:sp>
        <p:nvSpPr>
          <p:cNvPr id="2" name="Title 1">
            <a:extLst>
              <a:ext uri="{FF2B5EF4-FFF2-40B4-BE49-F238E27FC236}">
                <a16:creationId xmlns:a16="http://schemas.microsoft.com/office/drawing/2014/main" id="{6B2F5F2D-3E4C-6E4B-9A14-4B7F796A9842}"/>
              </a:ext>
            </a:extLst>
          </p:cNvPr>
          <p:cNvSpPr>
            <a:spLocks noGrp="1"/>
          </p:cNvSpPr>
          <p:nvPr>
            <p:ph type="title"/>
          </p:nvPr>
        </p:nvSpPr>
        <p:spPr>
          <a:xfrm>
            <a:off x="608511" y="589933"/>
            <a:ext cx="10972800" cy="1068387"/>
          </a:xfrm>
        </p:spPr>
        <p:txBody>
          <a:bodyPr/>
          <a:lstStyle/>
          <a:p>
            <a:r>
              <a:rPr lang="en-US" dirty="0"/>
              <a:t>LOCA Oxidation</a:t>
            </a:r>
          </a:p>
        </p:txBody>
      </p:sp>
      <p:sp>
        <p:nvSpPr>
          <p:cNvPr id="3" name="Content Placeholder 2">
            <a:extLst>
              <a:ext uri="{FF2B5EF4-FFF2-40B4-BE49-F238E27FC236}">
                <a16:creationId xmlns:a16="http://schemas.microsoft.com/office/drawing/2014/main" id="{A6512610-8D58-684D-A882-F8F85A09401B}"/>
              </a:ext>
            </a:extLst>
          </p:cNvPr>
          <p:cNvSpPr>
            <a:spLocks noGrp="1"/>
          </p:cNvSpPr>
          <p:nvPr>
            <p:ph idx="1"/>
          </p:nvPr>
        </p:nvSpPr>
        <p:spPr>
          <a:xfrm>
            <a:off x="608511" y="1658320"/>
            <a:ext cx="10972800" cy="4075553"/>
          </a:xfrm>
        </p:spPr>
        <p:txBody>
          <a:bodyPr/>
          <a:lstStyle/>
          <a:p>
            <a:r>
              <a:rPr lang="en-US" sz="2000" dirty="0"/>
              <a:t>Oxidation significantly increases at high temperatures</a:t>
            </a:r>
          </a:p>
          <a:p>
            <a:r>
              <a:rPr lang="en-US" sz="2000" dirty="0"/>
              <a:t>Due to exothermic heat generated during oxidation of the cladding, at high enough temperatures, the rate of oxidation is so high that the heat can no longer be dissipated by cooling, leading to run-away oxidation (Three Mile Island)</a:t>
            </a:r>
          </a:p>
          <a:p>
            <a:r>
              <a:rPr lang="en-US" sz="2000" dirty="0"/>
              <a:t>Breakaway oxidation results in increased hydrogen pickup, embrittling the cladding</a:t>
            </a:r>
          </a:p>
          <a:p>
            <a:r>
              <a:rPr lang="en-US" sz="2000" dirty="0"/>
              <a:t>Excess H generation can lead to H2 gas accumulation inside the containment</a:t>
            </a:r>
          </a:p>
          <a:p>
            <a:endParaRPr lang="en-US" sz="2000" dirty="0"/>
          </a:p>
        </p:txBody>
      </p:sp>
      <p:sp>
        <p:nvSpPr>
          <p:cNvPr id="4" name="Slide Number Placeholder 3">
            <a:extLst>
              <a:ext uri="{FF2B5EF4-FFF2-40B4-BE49-F238E27FC236}">
                <a16:creationId xmlns:a16="http://schemas.microsoft.com/office/drawing/2014/main" id="{CC3D089C-6A18-CA42-937B-AF4A0A3E00AE}"/>
              </a:ext>
            </a:extLst>
          </p:cNvPr>
          <p:cNvSpPr>
            <a:spLocks noGrp="1"/>
          </p:cNvSpPr>
          <p:nvPr>
            <p:ph type="sldNum" sz="quarter" idx="12"/>
          </p:nvPr>
        </p:nvSpPr>
        <p:spPr/>
        <p:txBody>
          <a:bodyPr/>
          <a:lstStyle/>
          <a:p>
            <a:pPr>
              <a:defRPr/>
            </a:pPr>
            <a:fld id="{3FF2C605-4958-CF43-AA48-80339EFDB0AF}" type="slidenum">
              <a:rPr lang="en-US" smtClean="0"/>
              <a:pPr>
                <a:defRPr/>
              </a:pPr>
              <a:t>25</a:t>
            </a:fld>
            <a:endParaRPr lang="en-US"/>
          </a:p>
        </p:txBody>
      </p:sp>
      <p:pic>
        <p:nvPicPr>
          <p:cNvPr id="5" name="Picture 4">
            <a:extLst>
              <a:ext uri="{FF2B5EF4-FFF2-40B4-BE49-F238E27FC236}">
                <a16:creationId xmlns:a16="http://schemas.microsoft.com/office/drawing/2014/main" id="{09EA21FA-EA4C-B949-8ECD-BF2B78CAB3A9}"/>
              </a:ext>
            </a:extLst>
          </p:cNvPr>
          <p:cNvPicPr>
            <a:picLocks noChangeAspect="1"/>
          </p:cNvPicPr>
          <p:nvPr/>
        </p:nvPicPr>
        <p:blipFill>
          <a:blip r:embed="rId3"/>
          <a:stretch>
            <a:fillRect/>
          </a:stretch>
        </p:blipFill>
        <p:spPr>
          <a:xfrm>
            <a:off x="116840" y="4187970"/>
            <a:ext cx="4048760" cy="2533506"/>
          </a:xfrm>
          <a:prstGeom prst="rect">
            <a:avLst/>
          </a:prstGeom>
        </p:spPr>
      </p:pic>
      <p:pic>
        <p:nvPicPr>
          <p:cNvPr id="6" name="Picture 5">
            <a:extLst>
              <a:ext uri="{FF2B5EF4-FFF2-40B4-BE49-F238E27FC236}">
                <a16:creationId xmlns:a16="http://schemas.microsoft.com/office/drawing/2014/main" id="{0FA9ED7C-3773-1E45-8889-6918D3524310}"/>
              </a:ext>
            </a:extLst>
          </p:cNvPr>
          <p:cNvPicPr>
            <a:picLocks noChangeAspect="1"/>
          </p:cNvPicPr>
          <p:nvPr/>
        </p:nvPicPr>
        <p:blipFill>
          <a:blip r:embed="rId4"/>
          <a:stretch>
            <a:fillRect/>
          </a:stretch>
        </p:blipFill>
        <p:spPr>
          <a:xfrm>
            <a:off x="4318000" y="4143330"/>
            <a:ext cx="3901361" cy="2533506"/>
          </a:xfrm>
          <a:prstGeom prst="rect">
            <a:avLst/>
          </a:prstGeom>
        </p:spPr>
      </p:pic>
    </p:spTree>
    <p:extLst>
      <p:ext uri="{BB962C8B-B14F-4D97-AF65-F5344CB8AC3E}">
        <p14:creationId xmlns:p14="http://schemas.microsoft.com/office/powerpoint/2010/main" val="1279843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8F39D3-BF5F-EA4C-8160-7D9FD52FFF46}"/>
              </a:ext>
            </a:extLst>
          </p:cNvPr>
          <p:cNvPicPr>
            <a:picLocks noChangeAspect="1"/>
          </p:cNvPicPr>
          <p:nvPr/>
        </p:nvPicPr>
        <p:blipFill>
          <a:blip r:embed="rId2"/>
          <a:stretch>
            <a:fillRect/>
          </a:stretch>
        </p:blipFill>
        <p:spPr>
          <a:xfrm>
            <a:off x="7731760" y="4143364"/>
            <a:ext cx="3850640" cy="2578111"/>
          </a:xfrm>
          <a:prstGeom prst="rect">
            <a:avLst/>
          </a:prstGeom>
        </p:spPr>
      </p:pic>
      <p:sp>
        <p:nvSpPr>
          <p:cNvPr id="2" name="Title 1">
            <a:extLst>
              <a:ext uri="{FF2B5EF4-FFF2-40B4-BE49-F238E27FC236}">
                <a16:creationId xmlns:a16="http://schemas.microsoft.com/office/drawing/2014/main" id="{3C860A96-B36E-2C46-B37F-77BB0A82C390}"/>
              </a:ext>
            </a:extLst>
          </p:cNvPr>
          <p:cNvSpPr>
            <a:spLocks noGrp="1"/>
          </p:cNvSpPr>
          <p:nvPr>
            <p:ph type="title"/>
          </p:nvPr>
        </p:nvSpPr>
        <p:spPr/>
        <p:txBody>
          <a:bodyPr/>
          <a:lstStyle/>
          <a:p>
            <a:r>
              <a:rPr lang="en-US" dirty="0"/>
              <a:t>Effect of Burnup</a:t>
            </a:r>
          </a:p>
        </p:txBody>
      </p:sp>
      <p:sp>
        <p:nvSpPr>
          <p:cNvPr id="3" name="Content Placeholder 2">
            <a:extLst>
              <a:ext uri="{FF2B5EF4-FFF2-40B4-BE49-F238E27FC236}">
                <a16:creationId xmlns:a16="http://schemas.microsoft.com/office/drawing/2014/main" id="{683085C2-4B7F-B24A-BDD7-914D9B301038}"/>
              </a:ext>
            </a:extLst>
          </p:cNvPr>
          <p:cNvSpPr>
            <a:spLocks noGrp="1"/>
          </p:cNvSpPr>
          <p:nvPr>
            <p:ph idx="1"/>
          </p:nvPr>
        </p:nvSpPr>
        <p:spPr>
          <a:xfrm>
            <a:off x="609600" y="1766455"/>
            <a:ext cx="6096000" cy="4359710"/>
          </a:xfrm>
        </p:spPr>
        <p:txBody>
          <a:bodyPr/>
          <a:lstStyle/>
          <a:p>
            <a:r>
              <a:rPr lang="en-US" sz="2000" dirty="0"/>
              <a:t>At high burnup, ductility of the cladding is significantly reduced due to existing corrosion, hydrogen embrittlement, and irradiation hardening</a:t>
            </a:r>
          </a:p>
          <a:p>
            <a:r>
              <a:rPr lang="en-US" sz="2000" dirty="0"/>
              <a:t>This leads to higher likelihood of failure for higher burnup conditions</a:t>
            </a:r>
          </a:p>
          <a:p>
            <a:r>
              <a:rPr lang="en-US" sz="2000" dirty="0"/>
              <a:t>Alloys with lower corrosion could potentially go to higher burnup, and retain ductility under a LOCA</a:t>
            </a:r>
          </a:p>
          <a:p>
            <a:r>
              <a:rPr lang="en-US" sz="2000" dirty="0"/>
              <a:t>Similar to RIA (but more slow), temperature increases can lead to gas bubble pressure increases, fuel fragmentation, increased thermal expansion, PCMI, etc.</a:t>
            </a:r>
          </a:p>
          <a:p>
            <a:endParaRPr lang="en-US" sz="2000" dirty="0"/>
          </a:p>
        </p:txBody>
      </p:sp>
      <p:sp>
        <p:nvSpPr>
          <p:cNvPr id="4" name="Slide Number Placeholder 3">
            <a:extLst>
              <a:ext uri="{FF2B5EF4-FFF2-40B4-BE49-F238E27FC236}">
                <a16:creationId xmlns:a16="http://schemas.microsoft.com/office/drawing/2014/main" id="{C0C50EE7-BB85-BF46-A064-03B2D863F232}"/>
              </a:ext>
            </a:extLst>
          </p:cNvPr>
          <p:cNvSpPr>
            <a:spLocks noGrp="1"/>
          </p:cNvSpPr>
          <p:nvPr>
            <p:ph type="sldNum" sz="quarter" idx="12"/>
          </p:nvPr>
        </p:nvSpPr>
        <p:spPr/>
        <p:txBody>
          <a:bodyPr/>
          <a:lstStyle/>
          <a:p>
            <a:pPr>
              <a:defRPr/>
            </a:pPr>
            <a:fld id="{3FF2C605-4958-CF43-AA48-80339EFDB0AF}" type="slidenum">
              <a:rPr lang="en-US" smtClean="0"/>
              <a:pPr>
                <a:defRPr/>
              </a:pPr>
              <a:t>26</a:t>
            </a:fld>
            <a:endParaRPr lang="en-US"/>
          </a:p>
        </p:txBody>
      </p:sp>
      <p:pic>
        <p:nvPicPr>
          <p:cNvPr id="6" name="Picture 5">
            <a:extLst>
              <a:ext uri="{FF2B5EF4-FFF2-40B4-BE49-F238E27FC236}">
                <a16:creationId xmlns:a16="http://schemas.microsoft.com/office/drawing/2014/main" id="{AB2A2820-35D9-0C4D-A260-30821E0242EE}"/>
              </a:ext>
            </a:extLst>
          </p:cNvPr>
          <p:cNvPicPr>
            <a:picLocks noChangeAspect="1"/>
          </p:cNvPicPr>
          <p:nvPr/>
        </p:nvPicPr>
        <p:blipFill>
          <a:blip r:embed="rId3"/>
          <a:stretch>
            <a:fillRect/>
          </a:stretch>
        </p:blipFill>
        <p:spPr>
          <a:xfrm>
            <a:off x="7834630" y="1672212"/>
            <a:ext cx="3644900" cy="2471118"/>
          </a:xfrm>
          <a:prstGeom prst="rect">
            <a:avLst/>
          </a:prstGeom>
        </p:spPr>
      </p:pic>
    </p:spTree>
    <p:extLst>
      <p:ext uri="{BB962C8B-B14F-4D97-AF65-F5344CB8AC3E}">
        <p14:creationId xmlns:p14="http://schemas.microsoft.com/office/powerpoint/2010/main" val="2807001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06F10-4F25-65EE-FC15-0F64A885D227}"/>
              </a:ext>
            </a:extLst>
          </p:cNvPr>
          <p:cNvSpPr>
            <a:spLocks noGrp="1"/>
          </p:cNvSpPr>
          <p:nvPr>
            <p:ph type="title"/>
          </p:nvPr>
        </p:nvSpPr>
        <p:spPr/>
        <p:txBody>
          <a:bodyPr/>
          <a:lstStyle/>
          <a:p>
            <a:r>
              <a:rPr lang="en-US" dirty="0"/>
              <a:t>Embrittlement</a:t>
            </a:r>
          </a:p>
        </p:txBody>
      </p:sp>
      <p:sp>
        <p:nvSpPr>
          <p:cNvPr id="3" name="Content Placeholder 2">
            <a:extLst>
              <a:ext uri="{FF2B5EF4-FFF2-40B4-BE49-F238E27FC236}">
                <a16:creationId xmlns:a16="http://schemas.microsoft.com/office/drawing/2014/main" id="{16A1A9C7-9E90-85F7-5C97-1DD89F256A5A}"/>
              </a:ext>
            </a:extLst>
          </p:cNvPr>
          <p:cNvSpPr>
            <a:spLocks noGrp="1"/>
          </p:cNvSpPr>
          <p:nvPr>
            <p:ph idx="1"/>
          </p:nvPr>
        </p:nvSpPr>
        <p:spPr>
          <a:xfrm>
            <a:off x="609600" y="1714500"/>
            <a:ext cx="6509657" cy="4411665"/>
          </a:xfrm>
        </p:spPr>
        <p:txBody>
          <a:bodyPr/>
          <a:lstStyle/>
          <a:p>
            <a:r>
              <a:rPr lang="en-US" sz="2200" dirty="0"/>
              <a:t>On rewetting of the cladding by ECCS water, a thermal shock by quenching is induced</a:t>
            </a:r>
          </a:p>
          <a:p>
            <a:r>
              <a:rPr lang="en-US" sz="2200" dirty="0"/>
              <a:t>If the cladding is severely oxidized at temperatures above 1000C, the embrittled cladding may be fragmented by the quenching</a:t>
            </a:r>
          </a:p>
          <a:p>
            <a:r>
              <a:rPr lang="en-US" sz="2200" dirty="0"/>
              <a:t>The ductility decreases as the fraction of the unoxidized layer decreases</a:t>
            </a:r>
          </a:p>
          <a:p>
            <a:r>
              <a:rPr lang="en-US" sz="2200" dirty="0"/>
              <a:t>There are limits imposed on the amount of oxidation to limit brittle failure on ECCS quenching</a:t>
            </a:r>
          </a:p>
        </p:txBody>
      </p:sp>
      <p:sp>
        <p:nvSpPr>
          <p:cNvPr id="4" name="Slide Number Placeholder 3">
            <a:extLst>
              <a:ext uri="{FF2B5EF4-FFF2-40B4-BE49-F238E27FC236}">
                <a16:creationId xmlns:a16="http://schemas.microsoft.com/office/drawing/2014/main" id="{E8764809-B630-5426-40E8-292FE141CF6D}"/>
              </a:ext>
            </a:extLst>
          </p:cNvPr>
          <p:cNvSpPr>
            <a:spLocks noGrp="1"/>
          </p:cNvSpPr>
          <p:nvPr>
            <p:ph type="sldNum" sz="quarter" idx="12"/>
          </p:nvPr>
        </p:nvSpPr>
        <p:spPr/>
        <p:txBody>
          <a:bodyPr/>
          <a:lstStyle/>
          <a:p>
            <a:pPr>
              <a:defRPr/>
            </a:pPr>
            <a:fld id="{3FF2C605-4958-CF43-AA48-80339EFDB0AF}" type="slidenum">
              <a:rPr lang="en-US" smtClean="0"/>
              <a:pPr>
                <a:defRPr/>
              </a:pPr>
              <a:t>27</a:t>
            </a:fld>
            <a:endParaRPr lang="en-US"/>
          </a:p>
        </p:txBody>
      </p:sp>
      <p:pic>
        <p:nvPicPr>
          <p:cNvPr id="5" name="Picture 4">
            <a:extLst>
              <a:ext uri="{FF2B5EF4-FFF2-40B4-BE49-F238E27FC236}">
                <a16:creationId xmlns:a16="http://schemas.microsoft.com/office/drawing/2014/main" id="{2A6438D8-1361-673E-137C-CDDCDDE3623D}"/>
              </a:ext>
            </a:extLst>
          </p:cNvPr>
          <p:cNvPicPr>
            <a:picLocks noChangeAspect="1"/>
          </p:cNvPicPr>
          <p:nvPr/>
        </p:nvPicPr>
        <p:blipFill>
          <a:blip r:embed="rId2"/>
          <a:stretch>
            <a:fillRect/>
          </a:stretch>
        </p:blipFill>
        <p:spPr>
          <a:xfrm>
            <a:off x="7173452" y="2073276"/>
            <a:ext cx="4717377" cy="3206647"/>
          </a:xfrm>
          <a:prstGeom prst="rect">
            <a:avLst/>
          </a:prstGeom>
        </p:spPr>
      </p:pic>
    </p:spTree>
    <p:extLst>
      <p:ext uri="{BB962C8B-B14F-4D97-AF65-F5344CB8AC3E}">
        <p14:creationId xmlns:p14="http://schemas.microsoft.com/office/powerpoint/2010/main" val="1015022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1C427-2607-B114-3E11-A758EF41AE0B}"/>
              </a:ext>
            </a:extLst>
          </p:cNvPr>
          <p:cNvSpPr>
            <a:spLocks noGrp="1"/>
          </p:cNvSpPr>
          <p:nvPr>
            <p:ph type="title"/>
          </p:nvPr>
        </p:nvSpPr>
        <p:spPr/>
        <p:txBody>
          <a:bodyPr/>
          <a:lstStyle/>
          <a:p>
            <a:r>
              <a:rPr lang="en-US" dirty="0"/>
              <a:t>LOCA Summary</a:t>
            </a:r>
          </a:p>
        </p:txBody>
      </p:sp>
      <p:sp>
        <p:nvSpPr>
          <p:cNvPr id="3" name="Content Placeholder 2">
            <a:extLst>
              <a:ext uri="{FF2B5EF4-FFF2-40B4-BE49-F238E27FC236}">
                <a16:creationId xmlns:a16="http://schemas.microsoft.com/office/drawing/2014/main" id="{9C635AAB-7499-3072-496C-01F0CFDE2050}"/>
              </a:ext>
            </a:extLst>
          </p:cNvPr>
          <p:cNvSpPr>
            <a:spLocks noGrp="1"/>
          </p:cNvSpPr>
          <p:nvPr>
            <p:ph idx="1"/>
          </p:nvPr>
        </p:nvSpPr>
        <p:spPr/>
        <p:txBody>
          <a:bodyPr/>
          <a:lstStyle/>
          <a:p>
            <a:r>
              <a:rPr lang="en-US" dirty="0"/>
              <a:t>LOCA, pipe break resulting in loss of coolant/flow</a:t>
            </a:r>
          </a:p>
          <a:p>
            <a:pPr lvl="1"/>
            <a:r>
              <a:rPr lang="en-US" dirty="0"/>
              <a:t>Increase in temperature, decrease in coolant pressure</a:t>
            </a:r>
          </a:p>
          <a:p>
            <a:pPr lvl="1"/>
            <a:r>
              <a:rPr lang="en-US" dirty="0"/>
              <a:t>High temperatures lead to increased oxidation, producing additional hydrogen, this can lead to embrittlement, ballooning, and burst of the cladding</a:t>
            </a:r>
          </a:p>
          <a:p>
            <a:pPr lvl="1"/>
            <a:r>
              <a:rPr lang="en-US" dirty="0"/>
              <a:t>LOCA occurs over a timescale of minutes, much longer than a RIA</a:t>
            </a:r>
          </a:p>
          <a:p>
            <a:pPr lvl="1"/>
            <a:endParaRPr lang="en-US" sz="2800" dirty="0"/>
          </a:p>
        </p:txBody>
      </p:sp>
      <p:sp>
        <p:nvSpPr>
          <p:cNvPr id="4" name="Slide Number Placeholder 3">
            <a:extLst>
              <a:ext uri="{FF2B5EF4-FFF2-40B4-BE49-F238E27FC236}">
                <a16:creationId xmlns:a16="http://schemas.microsoft.com/office/drawing/2014/main" id="{5F931953-4628-A1EE-E431-65E55A80783F}"/>
              </a:ext>
            </a:extLst>
          </p:cNvPr>
          <p:cNvSpPr>
            <a:spLocks noGrp="1"/>
          </p:cNvSpPr>
          <p:nvPr>
            <p:ph type="sldNum" sz="quarter" idx="12"/>
          </p:nvPr>
        </p:nvSpPr>
        <p:spPr/>
        <p:txBody>
          <a:bodyPr/>
          <a:lstStyle/>
          <a:p>
            <a:pPr>
              <a:defRPr/>
            </a:pPr>
            <a:fld id="{3FF2C605-4958-CF43-AA48-80339EFDB0AF}" type="slidenum">
              <a:rPr lang="en-US" smtClean="0"/>
              <a:pPr>
                <a:defRPr/>
              </a:pPr>
              <a:t>28</a:t>
            </a:fld>
            <a:endParaRPr lang="en-US"/>
          </a:p>
        </p:txBody>
      </p:sp>
    </p:spTree>
    <p:extLst>
      <p:ext uri="{BB962C8B-B14F-4D97-AF65-F5344CB8AC3E}">
        <p14:creationId xmlns:p14="http://schemas.microsoft.com/office/powerpoint/2010/main" val="35195077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F9338-AA0B-F88F-4001-3825DDCB4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9942F-14DA-E421-DDEA-80C99D493ABF}"/>
              </a:ext>
            </a:extLst>
          </p:cNvPr>
          <p:cNvSpPr>
            <a:spLocks noGrp="1"/>
          </p:cNvSpPr>
          <p:nvPr>
            <p:ph type="title"/>
          </p:nvPr>
        </p:nvSpPr>
        <p:spPr/>
        <p:txBody>
          <a:bodyPr/>
          <a:lstStyle/>
          <a:p>
            <a:r>
              <a:rPr lang="en-US" dirty="0"/>
              <a:t>Accident Safety Limits</a:t>
            </a:r>
          </a:p>
        </p:txBody>
      </p:sp>
      <p:sp>
        <p:nvSpPr>
          <p:cNvPr id="3" name="Text Placeholder 2">
            <a:extLst>
              <a:ext uri="{FF2B5EF4-FFF2-40B4-BE49-F238E27FC236}">
                <a16:creationId xmlns:a16="http://schemas.microsoft.com/office/drawing/2014/main" id="{5A5DD5E7-7A4C-3926-7489-D8DE4AC5CB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D00FFF-8C40-CDC9-2F65-EB260F2821B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6BD0F-ABBC-C14D-BC96-77BE126A748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2556033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6F29A-CCC1-A8E2-E38F-4E5C92BBB7AC}"/>
              </a:ext>
            </a:extLst>
          </p:cNvPr>
          <p:cNvSpPr>
            <a:spLocks noGrp="1"/>
          </p:cNvSpPr>
          <p:nvPr>
            <p:ph type="title"/>
          </p:nvPr>
        </p:nvSpPr>
        <p:spPr/>
        <p:txBody>
          <a:bodyPr/>
          <a:lstStyle/>
          <a:p>
            <a:r>
              <a:rPr lang="en-US" dirty="0"/>
              <a:t>Accident Safety Limits</a:t>
            </a:r>
          </a:p>
        </p:txBody>
      </p:sp>
      <p:sp>
        <p:nvSpPr>
          <p:cNvPr id="3" name="Content Placeholder 2">
            <a:extLst>
              <a:ext uri="{FF2B5EF4-FFF2-40B4-BE49-F238E27FC236}">
                <a16:creationId xmlns:a16="http://schemas.microsoft.com/office/drawing/2014/main" id="{5E2FE1F6-CBDB-B78A-3F88-969ECEAFAFA1}"/>
              </a:ext>
            </a:extLst>
          </p:cNvPr>
          <p:cNvSpPr>
            <a:spLocks noGrp="1"/>
          </p:cNvSpPr>
          <p:nvPr>
            <p:ph idx="1"/>
          </p:nvPr>
        </p:nvSpPr>
        <p:spPr/>
        <p:txBody>
          <a:bodyPr/>
          <a:lstStyle/>
          <a:p>
            <a:r>
              <a:rPr lang="en-US" dirty="0"/>
              <a:t>Fuel cladding temperature cannot exceed 1204 C</a:t>
            </a:r>
          </a:p>
          <a:p>
            <a:r>
              <a:rPr lang="en-US" dirty="0"/>
              <a:t>Local cladding oxidation cannot exceed 17% of wall thickness</a:t>
            </a:r>
          </a:p>
          <a:p>
            <a:r>
              <a:rPr lang="en-US" dirty="0"/>
              <a:t>H generated must be less than 1% of the total amount that could be generated if all Zr were oxidized</a:t>
            </a:r>
          </a:p>
          <a:p>
            <a:r>
              <a:rPr lang="en-US" dirty="0"/>
              <a:t>Limits on radiation dose to staff</a:t>
            </a:r>
          </a:p>
          <a:p>
            <a:endParaRPr lang="en-US" dirty="0"/>
          </a:p>
          <a:p>
            <a:r>
              <a:rPr lang="en-US" dirty="0"/>
              <a:t>The response to steam oxidation, specifically on oxide growth and H generation is critical to evaluate safe performance (and potentially qualify new materials)</a:t>
            </a:r>
          </a:p>
        </p:txBody>
      </p:sp>
      <p:sp>
        <p:nvSpPr>
          <p:cNvPr id="4" name="Slide Number Placeholder 3">
            <a:extLst>
              <a:ext uri="{FF2B5EF4-FFF2-40B4-BE49-F238E27FC236}">
                <a16:creationId xmlns:a16="http://schemas.microsoft.com/office/drawing/2014/main" id="{F82D7DC4-01DC-0E65-DA78-8F7AF3F82AE3}"/>
              </a:ext>
            </a:extLst>
          </p:cNvPr>
          <p:cNvSpPr>
            <a:spLocks noGrp="1"/>
          </p:cNvSpPr>
          <p:nvPr>
            <p:ph type="sldNum" sz="quarter" idx="12"/>
          </p:nvPr>
        </p:nvSpPr>
        <p:spPr/>
        <p:txBody>
          <a:bodyPr/>
          <a:lstStyle/>
          <a:p>
            <a:pPr>
              <a:defRPr/>
            </a:pPr>
            <a:fld id="{3FF2C605-4958-CF43-AA48-80339EFDB0AF}" type="slidenum">
              <a:rPr lang="en-US" smtClean="0"/>
              <a:pPr>
                <a:defRPr/>
              </a:pPr>
              <a:t>30</a:t>
            </a:fld>
            <a:endParaRPr lang="en-US"/>
          </a:p>
        </p:txBody>
      </p:sp>
    </p:spTree>
    <p:extLst>
      <p:ext uri="{BB962C8B-B14F-4D97-AF65-F5344CB8AC3E}">
        <p14:creationId xmlns:p14="http://schemas.microsoft.com/office/powerpoint/2010/main" val="24705297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CFB5B-42C7-AE03-7C61-6ECFD252E26D}"/>
              </a:ext>
            </a:extLst>
          </p:cNvPr>
          <p:cNvSpPr>
            <a:spLocks noGrp="1"/>
          </p:cNvSpPr>
          <p:nvPr>
            <p:ph type="title"/>
          </p:nvPr>
        </p:nvSpPr>
        <p:spPr/>
        <p:txBody>
          <a:bodyPr/>
          <a:lstStyle/>
          <a:p>
            <a:r>
              <a:rPr lang="en-US" dirty="0"/>
              <a:t>Steam Oxidation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F9FF1A-BE45-CD6F-BEC3-24BA3F815448}"/>
                  </a:ext>
                </a:extLst>
              </p:cNvPr>
              <p:cNvSpPr>
                <a:spLocks noGrp="1"/>
              </p:cNvSpPr>
              <p:nvPr>
                <p:ph idx="1"/>
              </p:nvPr>
            </p:nvSpPr>
            <p:spPr/>
            <p:txBody>
              <a:bodyPr/>
              <a:lstStyle/>
              <a:p>
                <a:r>
                  <a:rPr lang="en-US" dirty="0"/>
                  <a:t>High temperature steam oxidation will follow defined kinetic theory</a:t>
                </a:r>
              </a:p>
              <a:p>
                <a:r>
                  <a:rPr lang="en-US" dirty="0"/>
                  <a:t>Linear kinetics are followed with a thin oxidation layer, and parabolic kinetics are followed when the oxide layer is sufficiently thick to slow diffusive processes: Linear: </a:t>
                </a:r>
                <a14:m>
                  <m:oMath xmlns:m="http://schemas.openxmlformats.org/officeDocument/2006/math">
                    <m:r>
                      <a:rPr lang="en-US" i="1" smtClean="0">
                        <a:latin typeface="Cambria Math" panose="02040503050406030204" pitchFamily="18" charset="0"/>
                        <a:ea typeface="Cambria Math" panose="02040503050406030204" pitchFamily="18" charset="0"/>
                      </a:rPr>
                      <m:t>𝛿</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𝐾𝑡</m:t>
                    </m:r>
                  </m:oMath>
                </a14:m>
                <a:r>
                  <a:rPr lang="en-US" dirty="0"/>
                  <a:t> ; Parabolic: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𝛿</m:t>
                        </m:r>
                      </m:e>
                      <m:sup>
                        <m:r>
                          <a:rPr lang="en-US" b="0" i="1" smtClean="0">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i="1">
                        <a:latin typeface="Cambria Math" panose="02040503050406030204" pitchFamily="18" charset="0"/>
                        <a:ea typeface="Cambria Math" panose="02040503050406030204" pitchFamily="18" charset="0"/>
                      </a:rPr>
                      <m:t>𝑡</m:t>
                    </m:r>
                  </m:oMath>
                </a14:m>
                <a:r>
                  <a:rPr lang="en-US" dirty="0"/>
                  <a:t> </a:t>
                </a:r>
              </a:p>
              <a:p>
                <a:r>
                  <a:rPr lang="en-US" dirty="0" err="1"/>
                  <a:t>Paralinear</a:t>
                </a:r>
                <a:r>
                  <a:rPr lang="en-US" dirty="0"/>
                  <a:t> or sigmoidal kinetics can be followed for systems which can develop volatile oxides or intermediate oxides, respectively</a:t>
                </a:r>
              </a:p>
              <a:p>
                <a:r>
                  <a:rPr lang="en-US" dirty="0"/>
                  <a:t>Breakaway or accelerated oxidation can result from sustained exposure to high T steam; include the failure of the oxide layer, exposing the bare material, and increasing the oxidation rate</a:t>
                </a:r>
              </a:p>
            </p:txBody>
          </p:sp>
        </mc:Choice>
        <mc:Fallback xmlns="">
          <p:sp>
            <p:nvSpPr>
              <p:cNvPr id="3" name="Content Placeholder 2">
                <a:extLst>
                  <a:ext uri="{FF2B5EF4-FFF2-40B4-BE49-F238E27FC236}">
                    <a16:creationId xmlns:a16="http://schemas.microsoft.com/office/drawing/2014/main" id="{91F9FF1A-BE45-CD6F-BEC3-24BA3F815448}"/>
                  </a:ext>
                </a:extLst>
              </p:cNvPr>
              <p:cNvSpPr>
                <a:spLocks noGrp="1" noRot="1" noChangeAspect="1" noMove="1" noResize="1" noEditPoints="1" noAdjustHandles="1" noChangeArrowheads="1" noChangeShapeType="1" noTextEdit="1"/>
              </p:cNvSpPr>
              <p:nvPr>
                <p:ph idx="1"/>
              </p:nvPr>
            </p:nvSpPr>
            <p:spPr>
              <a:blipFill>
                <a:blip r:embed="rId2"/>
                <a:stretch>
                  <a:fillRect l="-809" t="-95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5EE5262-2430-8B29-4F79-51519089D6D3}"/>
              </a:ext>
            </a:extLst>
          </p:cNvPr>
          <p:cNvSpPr>
            <a:spLocks noGrp="1"/>
          </p:cNvSpPr>
          <p:nvPr>
            <p:ph type="sldNum" sz="quarter" idx="12"/>
          </p:nvPr>
        </p:nvSpPr>
        <p:spPr/>
        <p:txBody>
          <a:bodyPr/>
          <a:lstStyle/>
          <a:p>
            <a:pPr>
              <a:defRPr/>
            </a:pPr>
            <a:fld id="{3FF2C605-4958-CF43-AA48-80339EFDB0AF}" type="slidenum">
              <a:rPr lang="en-US" smtClean="0"/>
              <a:pPr>
                <a:defRPr/>
              </a:pPr>
              <a:t>31</a:t>
            </a:fld>
            <a:endParaRPr lang="en-US"/>
          </a:p>
        </p:txBody>
      </p:sp>
    </p:spTree>
    <p:extLst>
      <p:ext uri="{BB962C8B-B14F-4D97-AF65-F5344CB8AC3E}">
        <p14:creationId xmlns:p14="http://schemas.microsoft.com/office/powerpoint/2010/main" val="11040298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CC416-9C67-FE14-AA2C-6C59A876336B}"/>
              </a:ext>
            </a:extLst>
          </p:cNvPr>
          <p:cNvSpPr>
            <a:spLocks noGrp="1"/>
          </p:cNvSpPr>
          <p:nvPr>
            <p:ph type="title"/>
          </p:nvPr>
        </p:nvSpPr>
        <p:spPr/>
        <p:txBody>
          <a:bodyPr/>
          <a:lstStyle/>
          <a:p>
            <a:r>
              <a:rPr lang="en-US" dirty="0"/>
              <a:t>Steam Oxidation</a:t>
            </a:r>
          </a:p>
        </p:txBody>
      </p:sp>
      <p:sp>
        <p:nvSpPr>
          <p:cNvPr id="3" name="Content Placeholder 2">
            <a:extLst>
              <a:ext uri="{FF2B5EF4-FFF2-40B4-BE49-F238E27FC236}">
                <a16:creationId xmlns:a16="http://schemas.microsoft.com/office/drawing/2014/main" id="{EC57FB20-BF20-E237-2071-9201F86B12AE}"/>
              </a:ext>
            </a:extLst>
          </p:cNvPr>
          <p:cNvSpPr>
            <a:spLocks noGrp="1"/>
          </p:cNvSpPr>
          <p:nvPr>
            <p:ph idx="1"/>
          </p:nvPr>
        </p:nvSpPr>
        <p:spPr>
          <a:xfrm>
            <a:off x="609600" y="2160495"/>
            <a:ext cx="6727113" cy="3965670"/>
          </a:xfrm>
        </p:spPr>
        <p:txBody>
          <a:bodyPr/>
          <a:lstStyle/>
          <a:p>
            <a:r>
              <a:rPr lang="en-US" dirty="0"/>
              <a:t>Zr oxidizes with an exothermic reaction</a:t>
            </a:r>
          </a:p>
          <a:p>
            <a:r>
              <a:rPr lang="en-US" dirty="0"/>
              <a:t>Below 600C, the reaction follow a parabolic or cubic rate law resulting in a uniform and passivating oxide layer</a:t>
            </a:r>
          </a:p>
          <a:p>
            <a:r>
              <a:rPr lang="en-US" dirty="0"/>
              <a:t>At higher T, the oxide layer can crack due to surface stresses, resulting in breakaway oxidation</a:t>
            </a:r>
          </a:p>
          <a:p>
            <a:r>
              <a:rPr lang="en-US" dirty="0"/>
              <a:t>At loss of passivation, the oxidation rate can become linear and localized</a:t>
            </a:r>
          </a:p>
        </p:txBody>
      </p:sp>
      <p:sp>
        <p:nvSpPr>
          <p:cNvPr id="4" name="Slide Number Placeholder 3">
            <a:extLst>
              <a:ext uri="{FF2B5EF4-FFF2-40B4-BE49-F238E27FC236}">
                <a16:creationId xmlns:a16="http://schemas.microsoft.com/office/drawing/2014/main" id="{FA4B2700-FC0C-E594-70CE-9E1714D718B6}"/>
              </a:ext>
            </a:extLst>
          </p:cNvPr>
          <p:cNvSpPr>
            <a:spLocks noGrp="1"/>
          </p:cNvSpPr>
          <p:nvPr>
            <p:ph type="sldNum" sz="quarter" idx="12"/>
          </p:nvPr>
        </p:nvSpPr>
        <p:spPr/>
        <p:txBody>
          <a:bodyPr/>
          <a:lstStyle/>
          <a:p>
            <a:pPr>
              <a:defRPr/>
            </a:pPr>
            <a:fld id="{3FF2C605-4958-CF43-AA48-80339EFDB0AF}" type="slidenum">
              <a:rPr lang="en-US" smtClean="0"/>
              <a:pPr>
                <a:defRPr/>
              </a:pPr>
              <a:t>32</a:t>
            </a:fld>
            <a:endParaRPr lang="en-US"/>
          </a:p>
        </p:txBody>
      </p:sp>
      <p:pic>
        <p:nvPicPr>
          <p:cNvPr id="5" name="Picture 4">
            <a:extLst>
              <a:ext uri="{FF2B5EF4-FFF2-40B4-BE49-F238E27FC236}">
                <a16:creationId xmlns:a16="http://schemas.microsoft.com/office/drawing/2014/main" id="{CAAB5EF1-9B58-EAB3-A4CA-6035DCDE6D03}"/>
              </a:ext>
            </a:extLst>
          </p:cNvPr>
          <p:cNvPicPr>
            <a:picLocks noChangeAspect="1"/>
          </p:cNvPicPr>
          <p:nvPr/>
        </p:nvPicPr>
        <p:blipFill>
          <a:blip r:embed="rId2"/>
          <a:stretch>
            <a:fillRect/>
          </a:stretch>
        </p:blipFill>
        <p:spPr>
          <a:xfrm>
            <a:off x="7336713" y="2198687"/>
            <a:ext cx="3940553" cy="421683"/>
          </a:xfrm>
          <a:prstGeom prst="rect">
            <a:avLst/>
          </a:prstGeom>
        </p:spPr>
      </p:pic>
      <p:pic>
        <p:nvPicPr>
          <p:cNvPr id="6" name="Picture 5">
            <a:extLst>
              <a:ext uri="{FF2B5EF4-FFF2-40B4-BE49-F238E27FC236}">
                <a16:creationId xmlns:a16="http://schemas.microsoft.com/office/drawing/2014/main" id="{5BF8272A-720F-B15A-0209-3487DF34AB1F}"/>
              </a:ext>
            </a:extLst>
          </p:cNvPr>
          <p:cNvPicPr>
            <a:picLocks noChangeAspect="1"/>
          </p:cNvPicPr>
          <p:nvPr/>
        </p:nvPicPr>
        <p:blipFill>
          <a:blip r:embed="rId3"/>
          <a:stretch>
            <a:fillRect/>
          </a:stretch>
        </p:blipFill>
        <p:spPr>
          <a:xfrm>
            <a:off x="7192440" y="2709567"/>
            <a:ext cx="4229100" cy="3327400"/>
          </a:xfrm>
          <a:prstGeom prst="rect">
            <a:avLst/>
          </a:prstGeom>
        </p:spPr>
      </p:pic>
      <p:sp>
        <p:nvSpPr>
          <p:cNvPr id="8" name="TextBox 7">
            <a:extLst>
              <a:ext uri="{FF2B5EF4-FFF2-40B4-BE49-F238E27FC236}">
                <a16:creationId xmlns:a16="http://schemas.microsoft.com/office/drawing/2014/main" id="{033C0134-683F-876E-8913-91B7DB7959B6}"/>
              </a:ext>
            </a:extLst>
          </p:cNvPr>
          <p:cNvSpPr txBox="1"/>
          <p:nvPr/>
        </p:nvSpPr>
        <p:spPr>
          <a:xfrm>
            <a:off x="7989792" y="4977994"/>
            <a:ext cx="3287474" cy="369332"/>
          </a:xfrm>
          <a:prstGeom prst="rect">
            <a:avLst/>
          </a:prstGeom>
          <a:noFill/>
        </p:spPr>
        <p:txBody>
          <a:bodyPr wrap="square">
            <a:spAutoFit/>
          </a:bodyPr>
          <a:lstStyle/>
          <a:p>
            <a:pPr algn="ctr"/>
            <a:r>
              <a:rPr lang="en-US" dirty="0" err="1">
                <a:effectLst/>
                <a:latin typeface="Helvetica" pitchFamily="2" charset="0"/>
              </a:rPr>
              <a:t>Zirlo</a:t>
            </a:r>
            <a:r>
              <a:rPr lang="en-US" dirty="0">
                <a:effectLst/>
                <a:latin typeface="Helvetica" pitchFamily="2" charset="0"/>
              </a:rPr>
              <a:t> at 1000C in steam</a:t>
            </a:r>
          </a:p>
        </p:txBody>
      </p:sp>
    </p:spTree>
    <p:extLst>
      <p:ext uri="{BB962C8B-B14F-4D97-AF65-F5344CB8AC3E}">
        <p14:creationId xmlns:p14="http://schemas.microsoft.com/office/powerpoint/2010/main" val="2848600397"/>
      </p:ext>
    </p:extLst>
  </p:cSld>
  <p:clrMapOvr>
    <a:masterClrMapping/>
  </p:clrMapOvr>
</p:sld>
</file>

<file path=ppt/theme/theme1.xml><?xml version="1.0" encoding="utf-8"?>
<a:theme xmlns:a="http://schemas.openxmlformats.org/drawingml/2006/main" name="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20020</TotalTime>
  <Words>2218</Words>
  <Application>Microsoft Macintosh PowerPoint</Application>
  <PresentationFormat>Widescreen</PresentationFormat>
  <Paragraphs>210</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Cambria Math</vt:lpstr>
      <vt:lpstr>Helvetica</vt:lpstr>
      <vt:lpstr>Symbol</vt:lpstr>
      <vt:lpstr>NCStateU-horizontal-left-logo</vt:lpstr>
      <vt:lpstr>Nuclear Fuel Performance</vt:lpstr>
      <vt:lpstr>Housekeeping</vt:lpstr>
      <vt:lpstr>Last time</vt:lpstr>
      <vt:lpstr>ACCIDENT SCENARIOS</vt:lpstr>
      <vt:lpstr>Kinds of Accidents</vt:lpstr>
      <vt:lpstr>Reactivity Initiated Accident (RIA)</vt:lpstr>
      <vt:lpstr>Reactivity</vt:lpstr>
      <vt:lpstr>RIA-PWR</vt:lpstr>
      <vt:lpstr>RIA-BWR</vt:lpstr>
      <vt:lpstr>RIA</vt:lpstr>
      <vt:lpstr>History of RIA</vt:lpstr>
      <vt:lpstr>Chernobyl RIA</vt:lpstr>
      <vt:lpstr>Sequence of RIA</vt:lpstr>
      <vt:lpstr>Departure from Nucleate Boiling</vt:lpstr>
      <vt:lpstr>Microstructural Effects</vt:lpstr>
      <vt:lpstr>Cladding Response</vt:lpstr>
      <vt:lpstr>Cladding Response</vt:lpstr>
      <vt:lpstr>Pulse Width</vt:lpstr>
      <vt:lpstr>Effect of Burnup</vt:lpstr>
      <vt:lpstr>RIA Summary</vt:lpstr>
      <vt:lpstr>Loss of Coolant Accident (LOCA)</vt:lpstr>
      <vt:lpstr>Loss of Coolant Accident (LOCA)</vt:lpstr>
      <vt:lpstr>LOCA Blockages</vt:lpstr>
      <vt:lpstr>LOCA Phase Transformations</vt:lpstr>
      <vt:lpstr>LOCA Oxidation</vt:lpstr>
      <vt:lpstr>Effect of Burnup</vt:lpstr>
      <vt:lpstr>Embrittlement</vt:lpstr>
      <vt:lpstr>LOCA Summary</vt:lpstr>
      <vt:lpstr>Accident Safety Limits</vt:lpstr>
      <vt:lpstr>Accident Safety Limits</vt:lpstr>
      <vt:lpstr>Steam Oxidation</vt:lpstr>
      <vt:lpstr>Steam Oxidation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Fission Products</dc:title>
  <dc:creator>Benjamin Beeler</dc:creator>
  <cp:lastModifiedBy>Benjamin Beeler</cp:lastModifiedBy>
  <cp:revision>160</cp:revision>
  <cp:lastPrinted>2025-04-09T19:41:56Z</cp:lastPrinted>
  <dcterms:created xsi:type="dcterms:W3CDTF">2020-02-19T20:03:05Z</dcterms:created>
  <dcterms:modified xsi:type="dcterms:W3CDTF">2026-04-02T15:41:37Z</dcterms:modified>
</cp:coreProperties>
</file>
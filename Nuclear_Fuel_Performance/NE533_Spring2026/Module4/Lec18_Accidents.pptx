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sldIdLst>
    <p:sldId id="537" r:id="rId2"/>
    <p:sldId id="328" r:id="rId3"/>
    <p:sldId id="604" r:id="rId4"/>
    <p:sldId id="590" r:id="rId5"/>
    <p:sldId id="588" r:id="rId6"/>
    <p:sldId id="589" r:id="rId7"/>
    <p:sldId id="591" r:id="rId8"/>
    <p:sldId id="592" r:id="rId9"/>
    <p:sldId id="593" r:id="rId10"/>
    <p:sldId id="594" r:id="rId11"/>
    <p:sldId id="595" r:id="rId12"/>
    <p:sldId id="596" r:id="rId13"/>
    <p:sldId id="599" r:id="rId14"/>
    <p:sldId id="601" r:id="rId15"/>
    <p:sldId id="556" r:id="rId16"/>
    <p:sldId id="557" r:id="rId17"/>
    <p:sldId id="602" r:id="rId18"/>
    <p:sldId id="603" r:id="rId19"/>
    <p:sldId id="56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668"/>
    <p:restoredTop sz="94672"/>
  </p:normalViewPr>
  <p:slideViewPr>
    <p:cSldViewPr snapToGrid="0" snapToObjects="1">
      <p:cViewPr varScale="1">
        <p:scale>
          <a:sx n="122" d="100"/>
          <a:sy n="122" d="100"/>
        </p:scale>
        <p:origin x="22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0BC3A-953C-654D-BC1C-D0CE62D4964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FD7D17-6095-D940-89AB-64358FB46A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3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F3A803-A045-354B-887A-01433CE46FC2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112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86847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55234"/>
            <a:ext cx="10972800" cy="457093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BD04BF-9DC2-6341-92B2-BD109A2EF3B1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3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5191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0FFBC7-3028-644D-986B-D9855CB74B38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6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72731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541119"/>
            <a:ext cx="5384800" cy="45850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541119"/>
            <a:ext cx="5384800" cy="45850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3B8AE4-01F5-CC42-9C62-61BC6528368B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3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1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E49314-4A78-2444-9569-44EB70168344}" type="datetime1">
              <a:rPr lang="en-US" smtClean="0"/>
              <a:t>3/26/26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934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82670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C22837-4683-B242-B000-BCEE30621787}" type="datetime1">
              <a:rPr lang="en-US" smtClean="0"/>
              <a:t>3/26/26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588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DAE926-7EF1-0B40-B57E-417D188A609C}" type="datetime1">
              <a:rPr lang="en-US" smtClean="0"/>
              <a:t>3/26/26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68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8D107B-B9C7-5B41-A168-55258AB95F52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063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D92D36-EE82-3142-B011-9831FB5E702F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589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B33C1D-C2E2-1049-AA3F-CD6E91052752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712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91AD68-B60C-4542-BDDD-2074DE6DE828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048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4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1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3EE08B4B-7256-494F-A90D-3891BD685F4A}" type="datetime1">
              <a:rPr lang="en-US" smtClean="0"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716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400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000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A1AB4-6496-0D46-9C3B-B71641B901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Nuclear Fuel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102A4-1D26-9E41-904A-5C94FEB21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NE-533</a:t>
            </a:r>
          </a:p>
          <a:p>
            <a:r>
              <a:rPr lang="en-US" dirty="0"/>
              <a:t>Spring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6DA87-5AA8-004F-861E-B1E0BAA3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762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A0498-2A4F-B74D-8028-BAA9D9083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B63D9-BC6B-A04D-B33E-8FE503E7A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10972800" cy="4110996"/>
          </a:xfrm>
        </p:spPr>
        <p:txBody>
          <a:bodyPr>
            <a:noAutofit/>
          </a:bodyPr>
          <a:lstStyle/>
          <a:p>
            <a:r>
              <a:rPr lang="en-US" sz="2000" dirty="0"/>
              <a:t>Radial hydrides can form in used fuel after drying, and reduce ductility much more than circumferential hydrides</a:t>
            </a:r>
          </a:p>
          <a:p>
            <a:r>
              <a:rPr lang="en-US" sz="2000" dirty="0"/>
              <a:t>DHC is a phenomenon based upon increased solubility of hydrogen in the high tensile stress around a crack tip</a:t>
            </a:r>
          </a:p>
          <a:p>
            <a:r>
              <a:rPr lang="en-US" sz="2000" dirty="0"/>
              <a:t>Have the ability to predict hydrogen pickup in oxidized Zr cladding</a:t>
            </a:r>
          </a:p>
          <a:p>
            <a:r>
              <a:rPr lang="en-US" sz="2000" dirty="0"/>
              <a:t>Defined RIA/LOCA</a:t>
            </a:r>
          </a:p>
          <a:p>
            <a:r>
              <a:rPr lang="en-US" sz="2000" dirty="0"/>
              <a:t>RIA is often caused in PWR/BWR by control rod ejection/drop</a:t>
            </a:r>
          </a:p>
          <a:p>
            <a:pPr lvl="1"/>
            <a:r>
              <a:rPr lang="en-US" sz="2000" dirty="0"/>
              <a:t>RIA is a fast event, can lead to PCMI failures, ballooning, and in worst case scenarios, fuel dispersal</a:t>
            </a:r>
          </a:p>
          <a:p>
            <a:pPr lvl="1"/>
            <a:r>
              <a:rPr lang="en-US" sz="2000" dirty="0"/>
              <a:t>Effects of RIA depend on burnup include fission gas, FCMI, oxide layer, hydrides, cladding pressure, </a:t>
            </a:r>
            <a:r>
              <a:rPr lang="en-US" sz="2000" dirty="0" err="1"/>
              <a:t>etc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B09ED-F306-194F-939A-1C3DA4978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2082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F9338-AA0B-F88F-4001-3825DDCB4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9942F-14DA-E421-DDEA-80C99D493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 Safety Limits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5DD5E7-7A4C-3926-7489-D8DE4AC5C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00FFF-8C40-CDC9-2F65-EB260F2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A6BD0F-ABBC-C14D-BC96-77BE126A748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5603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6F29A-CCC1-A8E2-E38F-4E5C92BBB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 Safety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FE1F6-CBDB-B78A-3F88-969ECEAFA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Fuel cladding temperature cannot exceed 1204 C</a:t>
            </a:r>
          </a:p>
          <a:p>
            <a:r>
              <a:rPr lang="en-US" dirty="0"/>
              <a:t>Local cladding oxidation cannot exceed 17% of wall thickness</a:t>
            </a:r>
          </a:p>
          <a:p>
            <a:r>
              <a:rPr lang="en-US" dirty="0"/>
              <a:t>H generated must be less than 1% of the total amount that could be generated if all Zr were oxidized</a:t>
            </a:r>
          </a:p>
          <a:p>
            <a:r>
              <a:rPr lang="en-US" dirty="0"/>
              <a:t>Limits on radiation dose to staff</a:t>
            </a:r>
          </a:p>
          <a:p>
            <a:endParaRPr lang="en-US" dirty="0"/>
          </a:p>
          <a:p>
            <a:r>
              <a:rPr lang="en-US" dirty="0"/>
              <a:t>The response to steam oxidation, specifically on oxide growth and H generation is critical to evaluate safe performance (and potentially qualify new materials)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2D7DC4-01DC-0E65-DA78-8F7AF3F82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529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CFB5B-42C7-AE03-7C61-6ECFD252E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Steam Oxidation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F9FF1A-BE45-CD6F-BEC3-24BA3F81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High temperature steam oxidation will follow defined kinetic theory</a:t>
                </a:r>
              </a:p>
              <a:p>
                <a:r>
                  <a:rPr lang="en-US" dirty="0"/>
                  <a:t>Linear kinetics are followed with a thin oxidation layer, and parabolic kinetics are followed when the oxide layer is sufficiently thick to slow diffusive processes: Linear: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𝐾𝑡</m:t>
                    </m:r>
                  </m:oMath>
                </a14:m>
                <a:r>
                  <a:rPr lang="en-US" dirty="0"/>
                  <a:t> ; Parabolic: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 err="1"/>
                  <a:t>Paralinear</a:t>
                </a:r>
                <a:r>
                  <a:rPr lang="en-US" dirty="0"/>
                  <a:t> or sigmoidal kinetics can be followed for systems which can develop volatile oxides or intermediate oxides, respectively</a:t>
                </a:r>
              </a:p>
              <a:p>
                <a:r>
                  <a:rPr lang="en-US" dirty="0"/>
                  <a:t>Breakaway or accelerated oxidation can result from sustained exposure to high T steam; include the failure of the oxide layer, exposing the bare material, and increasing the oxidation rate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F9FF1A-BE45-CD6F-BEC3-24BA3F81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09" t="-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EE5262-2430-8B29-4F79-51519089D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029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CC416-9C67-FE14-AA2C-6C59A8763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Steam Oxidation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7FB20-BF20-E237-2071-9201F86B1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727113" cy="3965670"/>
          </a:xfrm>
        </p:spPr>
        <p:txBody>
          <a:bodyPr/>
          <a:lstStyle/>
          <a:p>
            <a:r>
              <a:rPr lang="en-US" dirty="0"/>
              <a:t>Zr oxidizes with an exothermic reaction</a:t>
            </a:r>
          </a:p>
          <a:p>
            <a:r>
              <a:rPr lang="en-US" dirty="0"/>
              <a:t>Below 600C, the reaction follow a parabolic or cubic rate law resulting in a uniform and passivating oxide layer</a:t>
            </a:r>
          </a:p>
          <a:p>
            <a:r>
              <a:rPr lang="en-US" dirty="0"/>
              <a:t>At higher T, the oxide layer can crack due to surface stresses, resulting in breakaway oxidation</a:t>
            </a:r>
          </a:p>
          <a:p>
            <a:r>
              <a:rPr lang="en-US" dirty="0"/>
              <a:t>At loss of passivation, the oxidation rate can become linear and localized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B2700-FC0C-E594-70CE-9E1714D71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AB5EF1-9B58-EAB3-A4CA-6035DCDE6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713" y="2198687"/>
            <a:ext cx="3940553" cy="4216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F8272A-720F-B15A-0209-3487DF34A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440" y="2709567"/>
            <a:ext cx="4229100" cy="3327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3C0134-683F-876E-8913-91B7DB7959B6}"/>
              </a:ext>
            </a:extLst>
          </p:cNvPr>
          <p:cNvSpPr txBox="1"/>
          <p:nvPr/>
        </p:nvSpPr>
        <p:spPr>
          <a:xfrm>
            <a:off x="7989792" y="4977994"/>
            <a:ext cx="3287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effectLst/>
                <a:latin typeface="Helvetica" pitchFamily="2" charset="0"/>
              </a:rPr>
              <a:t>Zirlo</a:t>
            </a:r>
            <a:r>
              <a:rPr lang="en-US" dirty="0">
                <a:effectLst/>
                <a:latin typeface="Helvetica" pitchFamily="2" charset="0"/>
              </a:rPr>
              <a:t> at 1000C in steam</a:t>
            </a:r>
          </a:p>
        </p:txBody>
      </p:sp>
    </p:spTree>
    <p:extLst>
      <p:ext uri="{BB962C8B-B14F-4D97-AF65-F5344CB8AC3E}">
        <p14:creationId xmlns:p14="http://schemas.microsoft.com/office/powerpoint/2010/main" val="2848600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6A7C9-5774-0FFC-D341-F1C13912E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Steam Oxidation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46124-2D5B-F44A-CE6B-FED4DD34C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149755" cy="3965670"/>
          </a:xfrm>
        </p:spPr>
        <p:txBody>
          <a:bodyPr/>
          <a:lstStyle/>
          <a:p>
            <a:r>
              <a:rPr lang="en-US" dirty="0"/>
              <a:t>Right is an image of Zircaloy-2 after steam oxidation for 8 hours at a) 800 C, b) 1000 C, c) 1200 C</a:t>
            </a:r>
          </a:p>
          <a:p>
            <a:r>
              <a:rPr lang="en-US" dirty="0"/>
              <a:t>At 800C, the oxide layer is intact and passivating</a:t>
            </a:r>
          </a:p>
          <a:p>
            <a:r>
              <a:rPr lang="en-US" dirty="0"/>
              <a:t>At higher temperatures, the oxide layer is thicker and cracked</a:t>
            </a:r>
          </a:p>
          <a:p>
            <a:r>
              <a:rPr lang="en-US" dirty="0"/>
              <a:t>At 1200C, everything has been oxidized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9512F-7F3D-232B-A457-962236D9A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1B1FA7-966A-A1E4-78A4-73C413126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400" y="2068513"/>
            <a:ext cx="5715000" cy="447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362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BCA8-F92A-2C6B-8B14-73A851AB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Phase Transition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8D3E1-9828-F91F-01C7-B68928342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160495"/>
            <a:ext cx="5968621" cy="3965670"/>
          </a:xfrm>
        </p:spPr>
        <p:txBody>
          <a:bodyPr/>
          <a:lstStyle/>
          <a:p>
            <a:r>
              <a:rPr lang="en-US" dirty="0"/>
              <a:t>alpha Zr can phase transform to beta Zr at 863 C</a:t>
            </a:r>
          </a:p>
          <a:p>
            <a:r>
              <a:rPr lang="en-US" dirty="0"/>
              <a:t>With high O content, this leads to a beta phase matrix with oxygen-stabilized alpha Zr closest to the oxide/metal interface</a:t>
            </a:r>
          </a:p>
          <a:p>
            <a:r>
              <a:rPr lang="en-US" dirty="0"/>
              <a:t>This stabilized alpha phase contributes to the brittle failure behavior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589AA-3B37-9246-BC8E-58C39B0F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00E9D5-C4E5-72A0-647F-268CD0E17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290" y="2523047"/>
            <a:ext cx="4666110" cy="2861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959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F87AF-DD05-8155-7A4A-EB108C439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Hydride Embrittlement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F6A6E-2DB7-E8B4-5166-391E2AB2E7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already covered this</a:t>
            </a:r>
          </a:p>
          <a:p>
            <a:r>
              <a:rPr lang="en-US" dirty="0"/>
              <a:t>Hydrogen produced in oxidation and radiolysis can be picked up by the cladding, producing hydrides which can embrittle the cladding</a:t>
            </a:r>
          </a:p>
          <a:p>
            <a:r>
              <a:rPr lang="en-US" dirty="0"/>
              <a:t>More oxidation = more hydrogen = more embrittlement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AD97D-1F3D-EA7B-48AB-8D5810D70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08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52F39-4228-3CE0-A3FD-E7ED7BD4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oxidation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35EF6-1D85-682D-CB00-A8A6CC723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337110" cy="3965670"/>
          </a:xfrm>
        </p:spPr>
        <p:txBody>
          <a:bodyPr/>
          <a:lstStyle/>
          <a:p>
            <a:r>
              <a:rPr lang="en-US" dirty="0"/>
              <a:t>UO2 is chemically inert in water, with a positive Gibbs free energy to form U3O8 or U4O9 compounds</a:t>
            </a:r>
          </a:p>
          <a:p>
            <a:r>
              <a:rPr lang="en-US" dirty="0"/>
              <a:t>The oxidation of UO2 is a dissolution reaction of water on the surface, freeing O to diffuse into UO2, making UO2+x, and producing H in the coolant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0A29E-9314-62B2-1354-D4A0FDC71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00486-63FD-0B25-75EF-3FF4A4A0D8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8712"/>
          <a:stretch/>
        </p:blipFill>
        <p:spPr>
          <a:xfrm>
            <a:off x="7413199" y="2160495"/>
            <a:ext cx="3986284" cy="3680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792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C7B35-CA49-36A4-B5F1-E2028001F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Cladding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34BD-080C-F9A6-A29E-16BE882B7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712415" cy="3965670"/>
          </a:xfrm>
        </p:spPr>
        <p:txBody>
          <a:bodyPr/>
          <a:lstStyle/>
          <a:p>
            <a:r>
              <a:rPr lang="en-US" dirty="0"/>
              <a:t>Fe-Cr or Fe-Cr-Al alloys display significantly improved oxidation resistance compared to Zr alloys</a:t>
            </a:r>
          </a:p>
          <a:p>
            <a:r>
              <a:rPr lang="en-US" dirty="0"/>
              <a:t>Fe-Cr can still form oxides which are not protective at 1200 C</a:t>
            </a:r>
          </a:p>
          <a:p>
            <a:r>
              <a:rPr lang="en-US" dirty="0"/>
              <a:t>Fe-Cr-Al alloys form an Al2O3 layer with enhanced stability compared to ZrO2, FeO2, or Cr2O3</a:t>
            </a:r>
          </a:p>
          <a:p>
            <a:r>
              <a:rPr lang="en-US" dirty="0" err="1"/>
              <a:t>SiC</a:t>
            </a:r>
            <a:r>
              <a:rPr lang="en-US" dirty="0"/>
              <a:t> cladding can display even better oxidation resistance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FEF94-DDFC-82AE-3E9F-928539576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6B94FE-701B-AC5D-0A8D-021970EE1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015" y="2367037"/>
            <a:ext cx="5761940" cy="3078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75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8233B-8793-89DD-B2A6-4E044A513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Coatings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C9612-7395-853B-FB7B-02906DA92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20000"/>
            <a:ext cx="6432645" cy="3965670"/>
          </a:xfrm>
        </p:spPr>
        <p:txBody>
          <a:bodyPr/>
          <a:lstStyle/>
          <a:p>
            <a:r>
              <a:rPr lang="en-US" dirty="0"/>
              <a:t>The development of advanced coatings to enhance the accident tolerance by providing a barrier to steam attack of the underlying Zr</a:t>
            </a:r>
          </a:p>
          <a:p>
            <a:r>
              <a:rPr lang="en-US" dirty="0"/>
              <a:t>Different coatings with different fabrication methods have been explored</a:t>
            </a:r>
          </a:p>
          <a:p>
            <a:r>
              <a:rPr lang="en-US" dirty="0"/>
              <a:t>Cr coating has shown success in improving Zr cladding performance up to 1000 C</a:t>
            </a:r>
          </a:p>
          <a:p>
            <a:r>
              <a:rPr lang="en-US" dirty="0"/>
              <a:t>Behavior under 1200 C steam has shown little improvement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28F12-E8E6-C82A-7D63-32E21B37F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AD0155-0091-215A-E021-6808AC6EED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8778"/>
          <a:stretch/>
        </p:blipFill>
        <p:spPr>
          <a:xfrm>
            <a:off x="7778085" y="1221457"/>
            <a:ext cx="3522261" cy="25813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DA6B95-DBA5-BABD-795C-482F21DBB3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4683"/>
          <a:stretch/>
        </p:blipFill>
        <p:spPr>
          <a:xfrm>
            <a:off x="7778086" y="3802835"/>
            <a:ext cx="3522260" cy="2736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432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4D308-8BEA-BA31-34EC-A16D9E24C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AAC7C-3B83-1581-234D-22AA194D1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Steam oxidation behavior is critical for safe operation during an accident</a:t>
            </a:r>
          </a:p>
          <a:p>
            <a:r>
              <a:rPr lang="en-US" dirty="0"/>
              <a:t>Breakaway oxidation can occur, leading to thick, cracked oxides and high H generation</a:t>
            </a:r>
          </a:p>
          <a:p>
            <a:r>
              <a:rPr lang="en-US" dirty="0"/>
              <a:t>Zr phase transformations are indicative of high temperatures, and lead to further embrittlement of the cladding</a:t>
            </a:r>
          </a:p>
          <a:p>
            <a:r>
              <a:rPr lang="en-US" dirty="0"/>
              <a:t>Fuel oxidation of UO2 is largely not a concern, but can have deviations in stoichiometry, affecting fuel properties</a:t>
            </a:r>
          </a:p>
          <a:p>
            <a:r>
              <a:rPr lang="en-US" dirty="0"/>
              <a:t>Advanced cladding materials and coatings are being explored to improve accident tolerance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E211E-86C6-F62E-39C1-28D6F7590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394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6B3E1-ED35-27EF-6429-761DF27C2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 tolerant fuels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6B23E-5676-3E4E-815A-518EF023A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0657A-BF0B-8545-CD19-0A8AD48FA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A6BD0F-ABBC-C14D-BC96-77BE126A748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50942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8D2DD-3654-5343-9E3C-EDBE0172E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Mitigation through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0D503-8ED7-034F-9922-68402E97E6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Accident tolerant fuels aim to provide additional coping time</a:t>
            </a:r>
          </a:p>
          <a:p>
            <a:pPr lvl="1"/>
            <a:r>
              <a:rPr lang="en-US" sz="2000" dirty="0"/>
              <a:t>The time required for the water to boil away</a:t>
            </a:r>
          </a:p>
          <a:p>
            <a:pPr lvl="1"/>
            <a:r>
              <a:rPr lang="en-US" sz="2000" dirty="0"/>
              <a:t>The time required for the fuel to melt</a:t>
            </a:r>
          </a:p>
          <a:p>
            <a:pPr lvl="1"/>
            <a:r>
              <a:rPr lang="en-US" sz="2000" dirty="0"/>
              <a:t>The time required for the molten fuel to breach the primary pressure boundary</a:t>
            </a:r>
          </a:p>
          <a:p>
            <a:r>
              <a:rPr lang="en-US" sz="2000" dirty="0"/>
              <a:t>Fuels with enhanced tolerance can tolerate loss of active cooling for a considerably longer period, while maintaining or improving performance during normal operation</a:t>
            </a:r>
          </a:p>
          <a:p>
            <a:r>
              <a:rPr lang="en-US" sz="2000" dirty="0"/>
              <a:t>Can also widen the existing safety margin for nuclear plants and improve nuclear plant performance with fuel that lasts longer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A308A-A89C-EC44-B4F2-428879733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379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06CB-BF0D-E949-91A9-4B27C458B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 Tolerance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00612C-A859-E74D-80C7-C3286825FA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4318" y="1968501"/>
            <a:ext cx="9243363" cy="445992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1AE35-ED3B-9245-ACB6-76F20243C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4290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4FC5-2ACE-C40F-F6C9-3D095E757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Categories of ATF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4D3F1-CEE4-03F9-A2BE-2B333CEE3B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610693"/>
            <a:ext cx="10972799" cy="2530383"/>
          </a:xfrm>
        </p:spPr>
        <p:txBody>
          <a:bodyPr/>
          <a:lstStyle/>
          <a:p>
            <a:r>
              <a:rPr lang="en-US" sz="2000" dirty="0"/>
              <a:t>ATF can be divided into three main categories</a:t>
            </a:r>
          </a:p>
          <a:p>
            <a:pPr lvl="1"/>
            <a:r>
              <a:rPr lang="en-US" sz="2000" dirty="0"/>
              <a:t>near-term ATF improvements</a:t>
            </a:r>
          </a:p>
          <a:p>
            <a:pPr lvl="1"/>
            <a:r>
              <a:rPr lang="en-US" sz="2000" dirty="0"/>
              <a:t>novel fuel and cladding materials</a:t>
            </a:r>
          </a:p>
          <a:p>
            <a:pPr lvl="1"/>
            <a:r>
              <a:rPr lang="en-US" sz="2000" dirty="0"/>
              <a:t>transformational fuel and cladding concepts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C4FA07-C6D4-41BC-2E70-C1E35AC755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599" y="3756393"/>
            <a:ext cx="10972801" cy="2369772"/>
          </a:xfrm>
        </p:spPr>
        <p:txBody>
          <a:bodyPr/>
          <a:lstStyle/>
          <a:p>
            <a:r>
              <a:rPr lang="en-US" sz="2000" dirty="0"/>
              <a:t>Near-term ATF improvements</a:t>
            </a:r>
          </a:p>
          <a:p>
            <a:r>
              <a:rPr lang="en-US" sz="2000" dirty="0"/>
              <a:t>Zirconium-based cladding</a:t>
            </a:r>
          </a:p>
          <a:p>
            <a:pPr lvl="1"/>
            <a:r>
              <a:rPr lang="en-US" sz="2000" dirty="0"/>
              <a:t>coatings to improve corrosion resistance, especially under high T steam</a:t>
            </a:r>
          </a:p>
          <a:p>
            <a:r>
              <a:rPr lang="en-US" sz="2000" dirty="0"/>
              <a:t>Urania-based fuel</a:t>
            </a:r>
          </a:p>
          <a:p>
            <a:pPr lvl="1"/>
            <a:r>
              <a:rPr lang="en-US" sz="2000" dirty="0"/>
              <a:t>additives to increase thermal conductivity</a:t>
            </a:r>
          </a:p>
          <a:p>
            <a:r>
              <a:rPr lang="en-US" sz="2000" dirty="0"/>
              <a:t>These changes are mean to be drop-in replacements that are compatible with existing systems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B80E4-C5EC-7FFF-F9C7-24990513D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68506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26E66-8FDA-B32F-4FAA-874877401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AB5A7-46D9-09D8-5CCF-73B950D2E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Categories of ATF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278A7-C377-CE8C-A804-1DD4139352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610693"/>
            <a:ext cx="10972799" cy="2530383"/>
          </a:xfrm>
        </p:spPr>
        <p:txBody>
          <a:bodyPr/>
          <a:lstStyle/>
          <a:p>
            <a:r>
              <a:rPr lang="en-US" sz="2000" dirty="0"/>
              <a:t>Novel fuel and cladding materials</a:t>
            </a:r>
          </a:p>
          <a:p>
            <a:pPr lvl="1"/>
            <a:r>
              <a:rPr lang="en-US" sz="2000" dirty="0"/>
              <a:t>U3Si2 fuels</a:t>
            </a:r>
          </a:p>
          <a:p>
            <a:pPr lvl="1"/>
            <a:r>
              <a:rPr lang="en-US" sz="2000" dirty="0" err="1"/>
              <a:t>FeCrAl</a:t>
            </a:r>
            <a:r>
              <a:rPr lang="en-US" sz="2000" dirty="0"/>
              <a:t> alloys for cladding</a:t>
            </a:r>
          </a:p>
          <a:p>
            <a:pPr lvl="1"/>
            <a:r>
              <a:rPr lang="en-US" sz="2000" dirty="0"/>
              <a:t>Minimal changes needed for LWR designs, could be deployed in 10ish years</a:t>
            </a:r>
          </a:p>
          <a:p>
            <a:pPr marL="457200" lvl="1" indent="0">
              <a:buNone/>
            </a:pPr>
            <a:endParaRPr lang="en-US" sz="2000" dirty="0"/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000" dirty="0"/>
              <a:t>Transformational fuel and cladding concepts</a:t>
            </a:r>
          </a:p>
          <a:p>
            <a:pPr lvl="1"/>
            <a:r>
              <a:rPr lang="en-US" sz="2000" dirty="0"/>
              <a:t>fully ceramic micro-encapsulated (FCM) fuels</a:t>
            </a:r>
          </a:p>
          <a:p>
            <a:pPr lvl="1"/>
            <a:r>
              <a:rPr lang="en-US" sz="2000" dirty="0" err="1"/>
              <a:t>SiC</a:t>
            </a:r>
            <a:r>
              <a:rPr lang="en-US" sz="2000" dirty="0"/>
              <a:t>/</a:t>
            </a:r>
            <a:r>
              <a:rPr lang="en-US" sz="2000" dirty="0" err="1"/>
              <a:t>SiC</a:t>
            </a:r>
            <a:r>
              <a:rPr lang="en-US" sz="2000" dirty="0"/>
              <a:t> composite cladding</a:t>
            </a:r>
          </a:p>
          <a:p>
            <a:pPr lvl="1"/>
            <a:r>
              <a:rPr lang="en-US" sz="2000" dirty="0"/>
              <a:t>drastically differ from traditional LWR fuel systems</a:t>
            </a:r>
          </a:p>
          <a:p>
            <a:pPr lvl="1"/>
            <a:r>
              <a:rPr lang="en-US" sz="2000" dirty="0"/>
              <a:t>may require significant modifications to reactor design and operation, but offer potentially large benefits to performance and/or safety</a:t>
            </a:r>
          </a:p>
          <a:p>
            <a:pPr lvl="1"/>
            <a:endParaRPr lang="en-US" sz="16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4D58E8-F560-2D2A-65EA-ED5EABE9D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7310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C0800-CA37-F149-B314-FABD83856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2C609-316C-4D41-876D-4B0F60978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In loss of coolant accidents (LOCA), the fuel and cladding experience</a:t>
            </a:r>
          </a:p>
          <a:p>
            <a:pPr lvl="1"/>
            <a:r>
              <a:rPr lang="en-US" sz="2000" dirty="0"/>
              <a:t>increases temperature</a:t>
            </a:r>
          </a:p>
          <a:p>
            <a:pPr lvl="1"/>
            <a:r>
              <a:rPr lang="en-US" sz="2000" dirty="0"/>
              <a:t>decrease in coolant pressure</a:t>
            </a:r>
          </a:p>
          <a:p>
            <a:r>
              <a:rPr lang="en-US" sz="2000" dirty="0"/>
              <a:t>High temperatures lead to increased oxidation, producing additional hydrogen</a:t>
            </a:r>
          </a:p>
          <a:p>
            <a:r>
              <a:rPr lang="en-US" sz="2000" dirty="0"/>
              <a:t>This can lead to embrittlement, ballooning, and burst of the cladding</a:t>
            </a:r>
          </a:p>
          <a:p>
            <a:pPr lvl="1"/>
            <a:r>
              <a:rPr lang="en-US" sz="2000" dirty="0"/>
              <a:t>Fuel relocation and fission gas release in the fuel</a:t>
            </a:r>
          </a:p>
          <a:p>
            <a:r>
              <a:rPr lang="en-US" sz="2000" dirty="0"/>
              <a:t>Accident tolerant fuel includes different fuel and cladding materials to increase time before catastrophic behavior during an accident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86358-6F54-044D-A5D2-54B398F66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967613"/>
      </p:ext>
    </p:extLst>
  </p:cSld>
  <p:clrMapOvr>
    <a:masterClrMapping/>
  </p:clrMapOvr>
</p:sld>
</file>

<file path=ppt/theme/theme1.xml><?xml version="1.0" encoding="utf-8"?>
<a:theme xmlns:a="http://schemas.openxmlformats.org/drawing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18456</TotalTime>
  <Words>1049</Words>
  <Application>Microsoft Macintosh PowerPoint</Application>
  <PresentationFormat>Widescreen</PresentationFormat>
  <Paragraphs>121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 Math</vt:lpstr>
      <vt:lpstr>Helvetica</vt:lpstr>
      <vt:lpstr>NCStateU-horizontal-left-logo</vt:lpstr>
      <vt:lpstr>Nuclear Fuel Performance</vt:lpstr>
      <vt:lpstr>Last time</vt:lpstr>
      <vt:lpstr>Accident Safety Limits</vt:lpstr>
      <vt:lpstr>Accident Safety Limits</vt:lpstr>
      <vt:lpstr>Steam Oxidation</vt:lpstr>
      <vt:lpstr>Steam Oxidation</vt:lpstr>
      <vt:lpstr>Steam Oxidation</vt:lpstr>
      <vt:lpstr>High T Phase Transition</vt:lpstr>
      <vt:lpstr>Hydride Embrittlement</vt:lpstr>
      <vt:lpstr>Fuel oxidation</vt:lpstr>
      <vt:lpstr>Advanced Cladding Materials</vt:lpstr>
      <vt:lpstr>Coatings</vt:lpstr>
      <vt:lpstr>Summary</vt:lpstr>
      <vt:lpstr>Accident tolerant fuels</vt:lpstr>
      <vt:lpstr>Mitigation through design</vt:lpstr>
      <vt:lpstr>Accident Tolerance</vt:lpstr>
      <vt:lpstr>Categories of ATF Concepts</vt:lpstr>
      <vt:lpstr>Categories of ATF Concepts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Fission Products</dc:title>
  <dc:creator>Benjamin Beeler</dc:creator>
  <cp:lastModifiedBy>Benjamin Beeler</cp:lastModifiedBy>
  <cp:revision>159</cp:revision>
  <dcterms:created xsi:type="dcterms:W3CDTF">2020-02-19T20:03:05Z</dcterms:created>
  <dcterms:modified xsi:type="dcterms:W3CDTF">2026-03-26T12:32:10Z</dcterms:modified>
</cp:coreProperties>
</file>
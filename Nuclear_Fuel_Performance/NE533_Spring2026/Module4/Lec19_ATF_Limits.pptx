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537" r:id="rId2"/>
    <p:sldId id="328" r:id="rId3"/>
    <p:sldId id="591" r:id="rId4"/>
    <p:sldId id="592" r:id="rId5"/>
    <p:sldId id="593" r:id="rId6"/>
    <p:sldId id="594" r:id="rId7"/>
    <p:sldId id="599" r:id="rId8"/>
    <p:sldId id="601" r:id="rId9"/>
    <p:sldId id="556" r:id="rId10"/>
    <p:sldId id="605" r:id="rId11"/>
    <p:sldId id="557" r:id="rId12"/>
    <p:sldId id="602" r:id="rId13"/>
    <p:sldId id="604" r:id="rId14"/>
    <p:sldId id="596" r:id="rId15"/>
    <p:sldId id="606" r:id="rId16"/>
    <p:sldId id="603" r:id="rId17"/>
    <p:sldId id="595" r:id="rId18"/>
    <p:sldId id="560" r:id="rId19"/>
    <p:sldId id="407" r:id="rId20"/>
    <p:sldId id="561" r:id="rId21"/>
    <p:sldId id="562" r:id="rId22"/>
    <p:sldId id="563" r:id="rId23"/>
    <p:sldId id="564" r:id="rId24"/>
    <p:sldId id="565" r:id="rId25"/>
    <p:sldId id="566" r:id="rId26"/>
    <p:sldId id="567" r:id="rId27"/>
    <p:sldId id="568" r:id="rId28"/>
    <p:sldId id="569" r:id="rId29"/>
    <p:sldId id="57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14"/>
    <p:restoredTop sz="96327"/>
  </p:normalViewPr>
  <p:slideViewPr>
    <p:cSldViewPr snapToGrid="0" snapToObjects="1">
      <p:cViewPr varScale="1">
        <p:scale>
          <a:sx n="99" d="100"/>
          <a:sy n="99" d="100"/>
        </p:scale>
        <p:origin x="192"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0BC3A-953C-654D-BC1C-D0CE62D49644}" type="datetimeFigureOut">
              <a:rPr lang="en-US" smtClean="0"/>
              <a:t>4/14/26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D7D17-6095-D940-89AB-64358FB46A57}" type="slidenum">
              <a:rPr lang="en-US" smtClean="0"/>
              <a:t>‹#›</a:t>
            </a:fld>
            <a:endParaRPr lang="en-US"/>
          </a:p>
        </p:txBody>
      </p:sp>
    </p:spTree>
    <p:extLst>
      <p:ext uri="{BB962C8B-B14F-4D97-AF65-F5344CB8AC3E}">
        <p14:creationId xmlns:p14="http://schemas.microsoft.com/office/powerpoint/2010/main" val="398763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4/14/26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2121112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86847"/>
            <a:ext cx="10972800" cy="1068387"/>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1555234"/>
            <a:ext cx="10972800" cy="45709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4/14/26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12743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519101"/>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4/14/26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47856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72731"/>
            <a:ext cx="10972800" cy="1068387"/>
          </a:xfrm>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541119"/>
            <a:ext cx="5384800" cy="45850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541119"/>
            <a:ext cx="5384800" cy="45850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4/14/26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427243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1"/>
            <a:ext cx="10972800" cy="1068387"/>
          </a:xfrm>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4/14/26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65593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82670"/>
            <a:ext cx="10972800" cy="1068387"/>
          </a:xfrm>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4/14/26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3558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4/14/26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32096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4/14/26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82906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4/14/26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03558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4/14/26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62571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4/14/26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98104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4"/>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1"/>
            <a:ext cx="109728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4/14/26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704716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2026</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698762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A0498-2A4F-B74D-8028-BAA9D90834A2}"/>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FF6B63D9-BC6B-A04D-B33E-8FE503E7A219}"/>
              </a:ext>
            </a:extLst>
          </p:cNvPr>
          <p:cNvSpPr>
            <a:spLocks noGrp="1"/>
          </p:cNvSpPr>
          <p:nvPr>
            <p:ph idx="1"/>
          </p:nvPr>
        </p:nvSpPr>
        <p:spPr>
          <a:xfrm>
            <a:off x="609600" y="1555234"/>
            <a:ext cx="10972800" cy="4716257"/>
          </a:xfrm>
        </p:spPr>
        <p:txBody>
          <a:bodyPr>
            <a:noAutofit/>
          </a:bodyPr>
          <a:lstStyle/>
          <a:p>
            <a:r>
              <a:rPr lang="en-US" sz="2000" dirty="0"/>
              <a:t>RIA</a:t>
            </a:r>
          </a:p>
          <a:p>
            <a:pPr lvl="1"/>
            <a:r>
              <a:rPr lang="en-US" sz="2000" dirty="0"/>
              <a:t>control rod ejection/drop</a:t>
            </a:r>
          </a:p>
          <a:p>
            <a:pPr lvl="1"/>
            <a:r>
              <a:rPr lang="en-US" sz="2000" dirty="0"/>
              <a:t>fast rise in temperature/power</a:t>
            </a:r>
          </a:p>
          <a:p>
            <a:pPr lvl="1"/>
            <a:r>
              <a:rPr lang="en-US" sz="2000" dirty="0"/>
              <a:t>causes pellet expansion and gas bubble expansion</a:t>
            </a:r>
          </a:p>
          <a:p>
            <a:pPr lvl="1"/>
            <a:r>
              <a:rPr lang="en-US" sz="2000" dirty="0"/>
              <a:t>can lead to either PCMI-based failure of DNB-based failure</a:t>
            </a:r>
          </a:p>
          <a:p>
            <a:r>
              <a:rPr lang="en-US" sz="2000" dirty="0"/>
              <a:t>LOCA</a:t>
            </a:r>
          </a:p>
          <a:p>
            <a:pPr lvl="1"/>
            <a:r>
              <a:rPr lang="en-US" sz="2000" dirty="0"/>
              <a:t>pipe burst</a:t>
            </a:r>
          </a:p>
          <a:p>
            <a:pPr lvl="1"/>
            <a:r>
              <a:rPr lang="en-US" sz="2000" dirty="0"/>
              <a:t>rise in temperature from decay heat without cooling</a:t>
            </a:r>
          </a:p>
          <a:p>
            <a:pPr lvl="1"/>
            <a:r>
              <a:rPr lang="en-US" sz="2000" dirty="0"/>
              <a:t>much slower than RIA</a:t>
            </a:r>
          </a:p>
          <a:p>
            <a:pPr lvl="1"/>
            <a:r>
              <a:rPr lang="en-US" sz="2000" dirty="0"/>
              <a:t>leads to high oxidation, high T, high </a:t>
            </a:r>
            <a:r>
              <a:rPr lang="en-US" sz="2000" dirty="0" err="1"/>
              <a:t>hydriding</a:t>
            </a:r>
            <a:r>
              <a:rPr lang="en-US" sz="2000" dirty="0"/>
              <a:t>, ballooning and burst</a:t>
            </a:r>
          </a:p>
          <a:p>
            <a:r>
              <a:rPr lang="en-US" sz="2000" dirty="0"/>
              <a:t>Started on accident safety limits, talking through steam oxidation</a:t>
            </a:r>
          </a:p>
        </p:txBody>
      </p:sp>
      <p:sp>
        <p:nvSpPr>
          <p:cNvPr id="4" name="Slide Number Placeholder 3">
            <a:extLst>
              <a:ext uri="{FF2B5EF4-FFF2-40B4-BE49-F238E27FC236}">
                <a16:creationId xmlns:a16="http://schemas.microsoft.com/office/drawing/2014/main" id="{1E8B09ED-F306-194F-939A-1C3DA497894F}"/>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235920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6A7C9-5774-0FFC-D341-F1C13912EA01}"/>
              </a:ext>
            </a:extLst>
          </p:cNvPr>
          <p:cNvSpPr>
            <a:spLocks noGrp="1"/>
          </p:cNvSpPr>
          <p:nvPr>
            <p:ph type="title"/>
          </p:nvPr>
        </p:nvSpPr>
        <p:spPr/>
        <p:txBody>
          <a:bodyPr/>
          <a:lstStyle/>
          <a:p>
            <a:r>
              <a:rPr lang="en-US" dirty="0"/>
              <a:t>Steam Oxidation</a:t>
            </a:r>
          </a:p>
        </p:txBody>
      </p:sp>
      <p:sp>
        <p:nvSpPr>
          <p:cNvPr id="3" name="Content Placeholder 2">
            <a:extLst>
              <a:ext uri="{FF2B5EF4-FFF2-40B4-BE49-F238E27FC236}">
                <a16:creationId xmlns:a16="http://schemas.microsoft.com/office/drawing/2014/main" id="{9A546124-2D5B-F44A-CE6B-FED4DD34C7ED}"/>
              </a:ext>
            </a:extLst>
          </p:cNvPr>
          <p:cNvSpPr>
            <a:spLocks noGrp="1"/>
          </p:cNvSpPr>
          <p:nvPr>
            <p:ph idx="1"/>
          </p:nvPr>
        </p:nvSpPr>
        <p:spPr>
          <a:xfrm>
            <a:off x="609600" y="2160495"/>
            <a:ext cx="5149755" cy="3965670"/>
          </a:xfrm>
        </p:spPr>
        <p:txBody>
          <a:bodyPr/>
          <a:lstStyle/>
          <a:p>
            <a:r>
              <a:rPr lang="en-US" dirty="0"/>
              <a:t>Right is an image of Zircaloy-2 after steam oxidation for 8 hours at a) 800 C, b) 1000 C, c) 1200 C</a:t>
            </a:r>
          </a:p>
          <a:p>
            <a:r>
              <a:rPr lang="en-US" dirty="0"/>
              <a:t>At 800C, the oxide layer is intact and passivating</a:t>
            </a:r>
          </a:p>
          <a:p>
            <a:r>
              <a:rPr lang="en-US" dirty="0"/>
              <a:t>At higher temperatures, the oxide layer is thicker and cracked</a:t>
            </a:r>
          </a:p>
          <a:p>
            <a:r>
              <a:rPr lang="en-US" dirty="0"/>
              <a:t>At 1200C, everything has been oxidized</a:t>
            </a:r>
          </a:p>
        </p:txBody>
      </p:sp>
      <p:sp>
        <p:nvSpPr>
          <p:cNvPr id="4" name="Slide Number Placeholder 3">
            <a:extLst>
              <a:ext uri="{FF2B5EF4-FFF2-40B4-BE49-F238E27FC236}">
                <a16:creationId xmlns:a16="http://schemas.microsoft.com/office/drawing/2014/main" id="{1EE9512F-7F3D-232B-A457-962236D9A032}"/>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pic>
        <p:nvPicPr>
          <p:cNvPr id="5" name="Picture 4">
            <a:extLst>
              <a:ext uri="{FF2B5EF4-FFF2-40B4-BE49-F238E27FC236}">
                <a16:creationId xmlns:a16="http://schemas.microsoft.com/office/drawing/2014/main" id="{601B1FA7-966A-A1E4-78A4-73C4131265AB}"/>
              </a:ext>
            </a:extLst>
          </p:cNvPr>
          <p:cNvPicPr>
            <a:picLocks noChangeAspect="1"/>
          </p:cNvPicPr>
          <p:nvPr/>
        </p:nvPicPr>
        <p:blipFill>
          <a:blip r:embed="rId2"/>
          <a:stretch>
            <a:fillRect/>
          </a:stretch>
        </p:blipFill>
        <p:spPr>
          <a:xfrm>
            <a:off x="5867400" y="2068513"/>
            <a:ext cx="5715000" cy="4470400"/>
          </a:xfrm>
          <a:prstGeom prst="rect">
            <a:avLst/>
          </a:prstGeom>
        </p:spPr>
      </p:pic>
    </p:spTree>
    <p:extLst>
      <p:ext uri="{BB962C8B-B14F-4D97-AF65-F5344CB8AC3E}">
        <p14:creationId xmlns:p14="http://schemas.microsoft.com/office/powerpoint/2010/main" val="1191362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FBCA8-F92A-2C6B-8B14-73A851ABC268}"/>
              </a:ext>
            </a:extLst>
          </p:cNvPr>
          <p:cNvSpPr>
            <a:spLocks noGrp="1"/>
          </p:cNvSpPr>
          <p:nvPr>
            <p:ph type="title"/>
          </p:nvPr>
        </p:nvSpPr>
        <p:spPr/>
        <p:txBody>
          <a:bodyPr/>
          <a:lstStyle/>
          <a:p>
            <a:r>
              <a:rPr lang="en-US" dirty="0"/>
              <a:t>High T Phase Transition</a:t>
            </a:r>
          </a:p>
        </p:txBody>
      </p:sp>
      <p:sp>
        <p:nvSpPr>
          <p:cNvPr id="3" name="Content Placeholder 2">
            <a:extLst>
              <a:ext uri="{FF2B5EF4-FFF2-40B4-BE49-F238E27FC236}">
                <a16:creationId xmlns:a16="http://schemas.microsoft.com/office/drawing/2014/main" id="{ADB8D3E1-9828-F91F-01C7-B689283429CB}"/>
              </a:ext>
            </a:extLst>
          </p:cNvPr>
          <p:cNvSpPr>
            <a:spLocks noGrp="1"/>
          </p:cNvSpPr>
          <p:nvPr>
            <p:ph idx="1"/>
          </p:nvPr>
        </p:nvSpPr>
        <p:spPr>
          <a:xfrm>
            <a:off x="609599" y="2160495"/>
            <a:ext cx="5968621" cy="3965670"/>
          </a:xfrm>
        </p:spPr>
        <p:txBody>
          <a:bodyPr/>
          <a:lstStyle/>
          <a:p>
            <a:r>
              <a:rPr lang="en-US" dirty="0"/>
              <a:t>alpha Zr can phase transform to beta Zr at 863 C</a:t>
            </a:r>
          </a:p>
          <a:p>
            <a:r>
              <a:rPr lang="en-US" dirty="0"/>
              <a:t>With high O content, this leads to a beta phase matrix with oxygen-stabilized alpha Zr closest to the oxide/metal interface</a:t>
            </a:r>
          </a:p>
          <a:p>
            <a:r>
              <a:rPr lang="en-US" dirty="0"/>
              <a:t>This stabilized alpha phase contributes to the brittle failure behavior</a:t>
            </a:r>
          </a:p>
          <a:p>
            <a:endParaRPr lang="en-US" dirty="0"/>
          </a:p>
        </p:txBody>
      </p:sp>
      <p:sp>
        <p:nvSpPr>
          <p:cNvPr id="4" name="Slide Number Placeholder 3">
            <a:extLst>
              <a:ext uri="{FF2B5EF4-FFF2-40B4-BE49-F238E27FC236}">
                <a16:creationId xmlns:a16="http://schemas.microsoft.com/office/drawing/2014/main" id="{829589AA-3B37-9246-BC8E-58C39B0FEF0E}"/>
              </a:ext>
            </a:extLst>
          </p:cNvPr>
          <p:cNvSpPr>
            <a:spLocks noGrp="1"/>
          </p:cNvSpPr>
          <p:nvPr>
            <p:ph type="sldNum" sz="quarter" idx="12"/>
          </p:nvPr>
        </p:nvSpPr>
        <p:spPr/>
        <p:txBody>
          <a:bodyPr/>
          <a:lstStyle/>
          <a:p>
            <a:pPr>
              <a:defRPr/>
            </a:pPr>
            <a:fld id="{3FF2C605-4958-CF43-AA48-80339EFDB0AF}" type="slidenum">
              <a:rPr lang="en-US" smtClean="0"/>
              <a:pPr>
                <a:defRPr/>
              </a:pPr>
              <a:t>4</a:t>
            </a:fld>
            <a:endParaRPr lang="en-US"/>
          </a:p>
        </p:txBody>
      </p:sp>
      <p:pic>
        <p:nvPicPr>
          <p:cNvPr id="5" name="Picture 4">
            <a:extLst>
              <a:ext uri="{FF2B5EF4-FFF2-40B4-BE49-F238E27FC236}">
                <a16:creationId xmlns:a16="http://schemas.microsoft.com/office/drawing/2014/main" id="{3A00E9D5-C4E5-72A0-647F-268CD0E179A2}"/>
              </a:ext>
            </a:extLst>
          </p:cNvPr>
          <p:cNvPicPr>
            <a:picLocks noChangeAspect="1"/>
          </p:cNvPicPr>
          <p:nvPr/>
        </p:nvPicPr>
        <p:blipFill>
          <a:blip r:embed="rId2"/>
          <a:stretch>
            <a:fillRect/>
          </a:stretch>
        </p:blipFill>
        <p:spPr>
          <a:xfrm>
            <a:off x="6916290" y="2523047"/>
            <a:ext cx="4666110" cy="2861881"/>
          </a:xfrm>
          <a:prstGeom prst="rect">
            <a:avLst/>
          </a:prstGeom>
        </p:spPr>
      </p:pic>
    </p:spTree>
    <p:extLst>
      <p:ext uri="{BB962C8B-B14F-4D97-AF65-F5344CB8AC3E}">
        <p14:creationId xmlns:p14="http://schemas.microsoft.com/office/powerpoint/2010/main" val="2765959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F87AF-DD05-8155-7A4A-EB108C439912}"/>
              </a:ext>
            </a:extLst>
          </p:cNvPr>
          <p:cNvSpPr>
            <a:spLocks noGrp="1"/>
          </p:cNvSpPr>
          <p:nvPr>
            <p:ph type="title"/>
          </p:nvPr>
        </p:nvSpPr>
        <p:spPr/>
        <p:txBody>
          <a:bodyPr/>
          <a:lstStyle/>
          <a:p>
            <a:r>
              <a:rPr lang="en-US" dirty="0"/>
              <a:t>Hydride Embrittlement</a:t>
            </a:r>
          </a:p>
        </p:txBody>
      </p:sp>
      <p:sp>
        <p:nvSpPr>
          <p:cNvPr id="3" name="Content Placeholder 2">
            <a:extLst>
              <a:ext uri="{FF2B5EF4-FFF2-40B4-BE49-F238E27FC236}">
                <a16:creationId xmlns:a16="http://schemas.microsoft.com/office/drawing/2014/main" id="{DA7F6A6E-2DB7-E8B4-5166-391E2AB2E7F3}"/>
              </a:ext>
            </a:extLst>
          </p:cNvPr>
          <p:cNvSpPr>
            <a:spLocks noGrp="1"/>
          </p:cNvSpPr>
          <p:nvPr>
            <p:ph idx="1"/>
          </p:nvPr>
        </p:nvSpPr>
        <p:spPr/>
        <p:txBody>
          <a:bodyPr/>
          <a:lstStyle/>
          <a:p>
            <a:r>
              <a:rPr lang="en-US" dirty="0"/>
              <a:t>We have already covered this</a:t>
            </a:r>
          </a:p>
          <a:p>
            <a:r>
              <a:rPr lang="en-US" dirty="0"/>
              <a:t>Hydrogen produced in oxidation and radiolysis can be picked up by the cladding, producing hydrides which can embrittle the cladding</a:t>
            </a:r>
          </a:p>
          <a:p>
            <a:r>
              <a:rPr lang="en-US" dirty="0"/>
              <a:t>More oxidation = more hydrogen = more embrittlement</a:t>
            </a:r>
          </a:p>
        </p:txBody>
      </p:sp>
      <p:sp>
        <p:nvSpPr>
          <p:cNvPr id="4" name="Slide Number Placeholder 3">
            <a:extLst>
              <a:ext uri="{FF2B5EF4-FFF2-40B4-BE49-F238E27FC236}">
                <a16:creationId xmlns:a16="http://schemas.microsoft.com/office/drawing/2014/main" id="{E11AD97D-1F3D-EA7B-48AB-8D5810D701F1}"/>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spTree>
    <p:extLst>
      <p:ext uri="{BB962C8B-B14F-4D97-AF65-F5344CB8AC3E}">
        <p14:creationId xmlns:p14="http://schemas.microsoft.com/office/powerpoint/2010/main" val="60408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2F39-4228-3CE0-A3FD-E7ED7BD42054}"/>
              </a:ext>
            </a:extLst>
          </p:cNvPr>
          <p:cNvSpPr>
            <a:spLocks noGrp="1"/>
          </p:cNvSpPr>
          <p:nvPr>
            <p:ph type="title"/>
          </p:nvPr>
        </p:nvSpPr>
        <p:spPr/>
        <p:txBody>
          <a:bodyPr/>
          <a:lstStyle/>
          <a:p>
            <a:r>
              <a:rPr lang="en-US" dirty="0"/>
              <a:t>Fuel oxidation</a:t>
            </a:r>
          </a:p>
        </p:txBody>
      </p:sp>
      <p:sp>
        <p:nvSpPr>
          <p:cNvPr id="3" name="Content Placeholder 2">
            <a:extLst>
              <a:ext uri="{FF2B5EF4-FFF2-40B4-BE49-F238E27FC236}">
                <a16:creationId xmlns:a16="http://schemas.microsoft.com/office/drawing/2014/main" id="{66C35EF6-1D85-682D-CB00-A8A6CC723F8A}"/>
              </a:ext>
            </a:extLst>
          </p:cNvPr>
          <p:cNvSpPr>
            <a:spLocks noGrp="1"/>
          </p:cNvSpPr>
          <p:nvPr>
            <p:ph idx="1"/>
          </p:nvPr>
        </p:nvSpPr>
        <p:spPr>
          <a:xfrm>
            <a:off x="609600" y="2160495"/>
            <a:ext cx="6337110" cy="3965670"/>
          </a:xfrm>
        </p:spPr>
        <p:txBody>
          <a:bodyPr/>
          <a:lstStyle/>
          <a:p>
            <a:r>
              <a:rPr lang="en-US" dirty="0"/>
              <a:t>UO2 is chemically inert in water, with a positive Gibbs free energy to form U3O8 or U4O9 compounds</a:t>
            </a:r>
          </a:p>
          <a:p>
            <a:r>
              <a:rPr lang="en-US" dirty="0"/>
              <a:t>The oxidation of UO2 is a dissolution reaction of water on the surface, freeing O to diffuse into UO2, making UO2+x, and producing H in the coolant</a:t>
            </a:r>
          </a:p>
          <a:p>
            <a:endParaRPr lang="en-US" dirty="0"/>
          </a:p>
        </p:txBody>
      </p:sp>
      <p:sp>
        <p:nvSpPr>
          <p:cNvPr id="4" name="Slide Number Placeholder 3">
            <a:extLst>
              <a:ext uri="{FF2B5EF4-FFF2-40B4-BE49-F238E27FC236}">
                <a16:creationId xmlns:a16="http://schemas.microsoft.com/office/drawing/2014/main" id="{7080A29E-9314-62B2-1354-D4A0FDC71204}"/>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pic>
        <p:nvPicPr>
          <p:cNvPr id="5" name="Picture 4">
            <a:extLst>
              <a:ext uri="{FF2B5EF4-FFF2-40B4-BE49-F238E27FC236}">
                <a16:creationId xmlns:a16="http://schemas.microsoft.com/office/drawing/2014/main" id="{A9000486-63FD-0B25-75EF-3FF4A4A0D8D5}"/>
              </a:ext>
            </a:extLst>
          </p:cNvPr>
          <p:cNvPicPr>
            <a:picLocks noChangeAspect="1"/>
          </p:cNvPicPr>
          <p:nvPr/>
        </p:nvPicPr>
        <p:blipFill rotWithShape="1">
          <a:blip r:embed="rId2"/>
          <a:srcRect r="48712"/>
          <a:stretch/>
        </p:blipFill>
        <p:spPr>
          <a:xfrm>
            <a:off x="7413199" y="2160495"/>
            <a:ext cx="3986284" cy="3680388"/>
          </a:xfrm>
          <a:prstGeom prst="rect">
            <a:avLst/>
          </a:prstGeom>
        </p:spPr>
      </p:pic>
    </p:spTree>
    <p:extLst>
      <p:ext uri="{BB962C8B-B14F-4D97-AF65-F5344CB8AC3E}">
        <p14:creationId xmlns:p14="http://schemas.microsoft.com/office/powerpoint/2010/main" val="777792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4D308-8BEA-BA31-34EC-A16D9E24C282}"/>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402AAC7C-3B83-1581-234D-22AA194D1371}"/>
              </a:ext>
            </a:extLst>
          </p:cNvPr>
          <p:cNvSpPr>
            <a:spLocks noGrp="1"/>
          </p:cNvSpPr>
          <p:nvPr>
            <p:ph idx="1"/>
          </p:nvPr>
        </p:nvSpPr>
        <p:spPr/>
        <p:txBody>
          <a:bodyPr/>
          <a:lstStyle/>
          <a:p>
            <a:r>
              <a:rPr lang="en-US" dirty="0"/>
              <a:t>Steam oxidation behavior is critical for safe operation during an accident</a:t>
            </a:r>
          </a:p>
          <a:p>
            <a:r>
              <a:rPr lang="en-US" dirty="0"/>
              <a:t>Breakaway oxidation can occur, leading to thick, cracked oxides and high H generation</a:t>
            </a:r>
          </a:p>
          <a:p>
            <a:r>
              <a:rPr lang="en-US" dirty="0"/>
              <a:t>Zr phase transformations are indicative of high temperatures, and lead to further embrittlement of the cladding</a:t>
            </a:r>
          </a:p>
          <a:p>
            <a:r>
              <a:rPr lang="en-US" dirty="0"/>
              <a:t>Fuel oxidation of UO2 is largely not a concern, but can have deviations in stoichiometry, affecting fuel properties</a:t>
            </a:r>
          </a:p>
        </p:txBody>
      </p:sp>
      <p:sp>
        <p:nvSpPr>
          <p:cNvPr id="4" name="Slide Number Placeholder 3">
            <a:extLst>
              <a:ext uri="{FF2B5EF4-FFF2-40B4-BE49-F238E27FC236}">
                <a16:creationId xmlns:a16="http://schemas.microsoft.com/office/drawing/2014/main" id="{B91E211E-86C6-F62E-39C1-28D6F7590247}"/>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773394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6B3E1-ED35-27EF-6429-761DF27C2698}"/>
              </a:ext>
            </a:extLst>
          </p:cNvPr>
          <p:cNvSpPr>
            <a:spLocks noGrp="1"/>
          </p:cNvSpPr>
          <p:nvPr>
            <p:ph type="title"/>
          </p:nvPr>
        </p:nvSpPr>
        <p:spPr/>
        <p:txBody>
          <a:bodyPr/>
          <a:lstStyle/>
          <a:p>
            <a:r>
              <a:rPr lang="en-US" dirty="0"/>
              <a:t>Accident tolerant fuels</a:t>
            </a:r>
          </a:p>
        </p:txBody>
      </p:sp>
      <p:sp>
        <p:nvSpPr>
          <p:cNvPr id="3" name="Text Placeholder 2">
            <a:extLst>
              <a:ext uri="{FF2B5EF4-FFF2-40B4-BE49-F238E27FC236}">
                <a16:creationId xmlns:a16="http://schemas.microsoft.com/office/drawing/2014/main" id="{86D6B23E-5676-3E4E-815A-518EF023AC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80657A-BF0B-8545-CD19-0A8AD48FA0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6BD0F-ABBC-C14D-BC96-77BE126A748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35094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8D2DD-3654-5343-9E3C-EDBE0172E597}"/>
              </a:ext>
            </a:extLst>
          </p:cNvPr>
          <p:cNvSpPr>
            <a:spLocks noGrp="1"/>
          </p:cNvSpPr>
          <p:nvPr>
            <p:ph type="title"/>
          </p:nvPr>
        </p:nvSpPr>
        <p:spPr/>
        <p:txBody>
          <a:bodyPr/>
          <a:lstStyle/>
          <a:p>
            <a:r>
              <a:rPr lang="en-US" dirty="0"/>
              <a:t>Mitigation through design</a:t>
            </a:r>
          </a:p>
        </p:txBody>
      </p:sp>
      <p:sp>
        <p:nvSpPr>
          <p:cNvPr id="3" name="Content Placeholder 2">
            <a:extLst>
              <a:ext uri="{FF2B5EF4-FFF2-40B4-BE49-F238E27FC236}">
                <a16:creationId xmlns:a16="http://schemas.microsoft.com/office/drawing/2014/main" id="{9260D503-8ED7-034F-9922-68402E97E6BF}"/>
              </a:ext>
            </a:extLst>
          </p:cNvPr>
          <p:cNvSpPr>
            <a:spLocks noGrp="1"/>
          </p:cNvSpPr>
          <p:nvPr>
            <p:ph idx="1"/>
          </p:nvPr>
        </p:nvSpPr>
        <p:spPr/>
        <p:txBody>
          <a:bodyPr/>
          <a:lstStyle/>
          <a:p>
            <a:r>
              <a:rPr lang="en-US" sz="2000" dirty="0"/>
              <a:t>Accident tolerant fuels aim to provide additional coping time</a:t>
            </a:r>
          </a:p>
          <a:p>
            <a:pPr lvl="1"/>
            <a:r>
              <a:rPr lang="en-US" sz="2000" dirty="0"/>
              <a:t>The time required for the water to boil away</a:t>
            </a:r>
          </a:p>
          <a:p>
            <a:pPr lvl="1"/>
            <a:r>
              <a:rPr lang="en-US" sz="2000" dirty="0"/>
              <a:t>The time required for the fuel to melt</a:t>
            </a:r>
          </a:p>
          <a:p>
            <a:pPr lvl="1"/>
            <a:r>
              <a:rPr lang="en-US" sz="2000" dirty="0"/>
              <a:t>The time required for the molten fuel to breach the primary pressure boundary</a:t>
            </a:r>
          </a:p>
          <a:p>
            <a:r>
              <a:rPr lang="en-US" sz="2000" dirty="0"/>
              <a:t>Fuels with enhanced tolerance can tolerate loss of active cooling for a considerably longer period, while maintaining or improving performance during normal operation</a:t>
            </a:r>
          </a:p>
          <a:p>
            <a:r>
              <a:rPr lang="en-US" sz="2000" dirty="0"/>
              <a:t>Can also widen the existing safety margin for nuclear plants and improve nuclear plant performance with fuel that lasts longer</a:t>
            </a:r>
          </a:p>
          <a:p>
            <a:endParaRPr lang="en-US" sz="2000" dirty="0"/>
          </a:p>
          <a:p>
            <a:endParaRPr lang="en-US" sz="2000" dirty="0"/>
          </a:p>
        </p:txBody>
      </p:sp>
      <p:sp>
        <p:nvSpPr>
          <p:cNvPr id="4" name="Slide Number Placeholder 3">
            <a:extLst>
              <a:ext uri="{FF2B5EF4-FFF2-40B4-BE49-F238E27FC236}">
                <a16:creationId xmlns:a16="http://schemas.microsoft.com/office/drawing/2014/main" id="{3AEA308A-A89C-EC44-B4F2-428879733F2B}"/>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spTree>
    <p:extLst>
      <p:ext uri="{BB962C8B-B14F-4D97-AF65-F5344CB8AC3E}">
        <p14:creationId xmlns:p14="http://schemas.microsoft.com/office/powerpoint/2010/main" val="1154337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F99B-9D6C-0082-D734-A6C133B49E50}"/>
              </a:ext>
            </a:extLst>
          </p:cNvPr>
          <p:cNvSpPr>
            <a:spLocks noGrp="1"/>
          </p:cNvSpPr>
          <p:nvPr>
            <p:ph type="title"/>
          </p:nvPr>
        </p:nvSpPr>
        <p:spPr/>
        <p:txBody>
          <a:bodyPr/>
          <a:lstStyle/>
          <a:p>
            <a:r>
              <a:rPr lang="en-US" dirty="0"/>
              <a:t>Accident Tolerant Criteria</a:t>
            </a:r>
          </a:p>
        </p:txBody>
      </p:sp>
      <p:sp>
        <p:nvSpPr>
          <p:cNvPr id="3" name="Content Placeholder 2">
            <a:extLst>
              <a:ext uri="{FF2B5EF4-FFF2-40B4-BE49-F238E27FC236}">
                <a16:creationId xmlns:a16="http://schemas.microsoft.com/office/drawing/2014/main" id="{1449E2B6-7488-FE59-0C39-22A8CDC859D4}"/>
              </a:ext>
            </a:extLst>
          </p:cNvPr>
          <p:cNvSpPr>
            <a:spLocks noGrp="1"/>
          </p:cNvSpPr>
          <p:nvPr>
            <p:ph idx="1"/>
          </p:nvPr>
        </p:nvSpPr>
        <p:spPr/>
        <p:txBody>
          <a:bodyPr/>
          <a:lstStyle/>
          <a:p>
            <a:r>
              <a:rPr lang="en-US" sz="2200" dirty="0"/>
              <a:t>﻿The safety margin is increased by reducing the fuel’s centerline temperature relative to its melting temperature or another relevant failure temperature</a:t>
            </a:r>
          </a:p>
          <a:p>
            <a:r>
              <a:rPr lang="en-US" sz="2200" dirty="0"/>
              <a:t>﻿The release of fission products from the fuel matrix is mitigated</a:t>
            </a:r>
          </a:p>
          <a:p>
            <a:r>
              <a:rPr lang="en-US" sz="2200" dirty="0"/>
              <a:t>﻿Uranium density is maximized enabling increased operational flexibility by increasing cycle length, reducing enrichment, etc.</a:t>
            </a:r>
          </a:p>
          <a:p>
            <a:r>
              <a:rPr lang="en-US" sz="2200" dirty="0"/>
              <a:t>﻿The chemical response of the fuel is limited during exposure to the reactor coolant</a:t>
            </a:r>
          </a:p>
          <a:p>
            <a:r>
              <a:rPr lang="en-US" sz="2200" dirty="0"/>
              <a:t>﻿The volumetric heat capacity is minimized so that the fuel tends to transfer energy out of the pellet and into the coolant</a:t>
            </a:r>
          </a:p>
          <a:p>
            <a:r>
              <a:rPr lang="en-US" sz="2200" dirty="0"/>
              <a:t>﻿The potential for fuel, cladding, and coolant interaction – both chemical and mechanical – is minimized</a:t>
            </a:r>
          </a:p>
          <a:p>
            <a:r>
              <a:rPr lang="en-US" sz="2200" dirty="0" err="1"/>
              <a:t>T﻿he</a:t>
            </a:r>
            <a:r>
              <a:rPr lang="en-US" sz="2200" dirty="0"/>
              <a:t> impact of non-fissile fuel constituents on neutronics, fuel cycle, reactor performance, and safety characteristics is minimized</a:t>
            </a:r>
          </a:p>
        </p:txBody>
      </p:sp>
      <p:sp>
        <p:nvSpPr>
          <p:cNvPr id="4" name="Slide Number Placeholder 3">
            <a:extLst>
              <a:ext uri="{FF2B5EF4-FFF2-40B4-BE49-F238E27FC236}">
                <a16:creationId xmlns:a16="http://schemas.microsoft.com/office/drawing/2014/main" id="{A70441E7-0391-9C5A-F314-CFAC9BD42E5B}"/>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spTree>
    <p:extLst>
      <p:ext uri="{BB962C8B-B14F-4D97-AF65-F5344CB8AC3E}">
        <p14:creationId xmlns:p14="http://schemas.microsoft.com/office/powerpoint/2010/main" val="2982824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06CB-BF0D-E949-91A9-4B27C458B501}"/>
              </a:ext>
            </a:extLst>
          </p:cNvPr>
          <p:cNvSpPr>
            <a:spLocks noGrp="1"/>
          </p:cNvSpPr>
          <p:nvPr>
            <p:ph type="title"/>
          </p:nvPr>
        </p:nvSpPr>
        <p:spPr/>
        <p:txBody>
          <a:bodyPr/>
          <a:lstStyle/>
          <a:p>
            <a:r>
              <a:rPr lang="en-US" dirty="0"/>
              <a:t>Accident Tolerance</a:t>
            </a:r>
          </a:p>
        </p:txBody>
      </p:sp>
      <p:pic>
        <p:nvPicPr>
          <p:cNvPr id="5" name="Content Placeholder 4">
            <a:extLst>
              <a:ext uri="{FF2B5EF4-FFF2-40B4-BE49-F238E27FC236}">
                <a16:creationId xmlns:a16="http://schemas.microsoft.com/office/drawing/2014/main" id="{B400612C-A859-E74D-80C7-C3286825FAF7}"/>
              </a:ext>
            </a:extLst>
          </p:cNvPr>
          <p:cNvPicPr>
            <a:picLocks noGrp="1" noChangeAspect="1"/>
          </p:cNvPicPr>
          <p:nvPr>
            <p:ph idx="1"/>
          </p:nvPr>
        </p:nvPicPr>
        <p:blipFill>
          <a:blip r:embed="rId2"/>
          <a:stretch>
            <a:fillRect/>
          </a:stretch>
        </p:blipFill>
        <p:spPr>
          <a:xfrm>
            <a:off x="1474318" y="1968501"/>
            <a:ext cx="9243363" cy="4459923"/>
          </a:xfrm>
          <a:prstGeom prst="rect">
            <a:avLst/>
          </a:prstGeom>
        </p:spPr>
      </p:pic>
      <p:sp>
        <p:nvSpPr>
          <p:cNvPr id="4" name="Slide Number Placeholder 3">
            <a:extLst>
              <a:ext uri="{FF2B5EF4-FFF2-40B4-BE49-F238E27FC236}">
                <a16:creationId xmlns:a16="http://schemas.microsoft.com/office/drawing/2014/main" id="{0891AE35-ED3B-9245-ACB6-76F20243CA67}"/>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spTree>
    <p:extLst>
      <p:ext uri="{BB962C8B-B14F-4D97-AF65-F5344CB8AC3E}">
        <p14:creationId xmlns:p14="http://schemas.microsoft.com/office/powerpoint/2010/main" val="2865429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24FC5-2ACE-C40F-F6C9-3D095E757E08}"/>
              </a:ext>
            </a:extLst>
          </p:cNvPr>
          <p:cNvSpPr>
            <a:spLocks noGrp="1"/>
          </p:cNvSpPr>
          <p:nvPr>
            <p:ph type="title"/>
          </p:nvPr>
        </p:nvSpPr>
        <p:spPr/>
        <p:txBody>
          <a:bodyPr/>
          <a:lstStyle/>
          <a:p>
            <a:r>
              <a:rPr lang="en-US" dirty="0"/>
              <a:t>Categories of ATF Concepts</a:t>
            </a:r>
          </a:p>
        </p:txBody>
      </p:sp>
      <p:sp>
        <p:nvSpPr>
          <p:cNvPr id="3" name="Content Placeholder 2">
            <a:extLst>
              <a:ext uri="{FF2B5EF4-FFF2-40B4-BE49-F238E27FC236}">
                <a16:creationId xmlns:a16="http://schemas.microsoft.com/office/drawing/2014/main" id="{2304D3F1-CEE4-03F9-A2BE-2B333CEE3B6F}"/>
              </a:ext>
            </a:extLst>
          </p:cNvPr>
          <p:cNvSpPr>
            <a:spLocks noGrp="1"/>
          </p:cNvSpPr>
          <p:nvPr>
            <p:ph sz="half" idx="1"/>
          </p:nvPr>
        </p:nvSpPr>
        <p:spPr>
          <a:xfrm>
            <a:off x="609599" y="1610693"/>
            <a:ext cx="10972799" cy="2530383"/>
          </a:xfrm>
        </p:spPr>
        <p:txBody>
          <a:bodyPr/>
          <a:lstStyle/>
          <a:p>
            <a:r>
              <a:rPr lang="en-US" sz="2000" dirty="0"/>
              <a:t>ATF can be divided into three main categories</a:t>
            </a:r>
          </a:p>
          <a:p>
            <a:pPr lvl="1"/>
            <a:r>
              <a:rPr lang="en-US" sz="2000" dirty="0"/>
              <a:t>near-term ATF improvements</a:t>
            </a:r>
          </a:p>
          <a:p>
            <a:pPr lvl="1"/>
            <a:r>
              <a:rPr lang="en-US" sz="2000" dirty="0"/>
              <a:t>novel fuel and cladding materials</a:t>
            </a:r>
          </a:p>
          <a:p>
            <a:pPr lvl="1"/>
            <a:r>
              <a:rPr lang="en-US" sz="2000" dirty="0"/>
              <a:t>transformational fuel and cladding concepts</a:t>
            </a:r>
          </a:p>
        </p:txBody>
      </p:sp>
      <p:sp>
        <p:nvSpPr>
          <p:cNvPr id="4" name="Content Placeholder 3">
            <a:extLst>
              <a:ext uri="{FF2B5EF4-FFF2-40B4-BE49-F238E27FC236}">
                <a16:creationId xmlns:a16="http://schemas.microsoft.com/office/drawing/2014/main" id="{09C4FA07-C6D4-41BC-2E70-C1E35AC75547}"/>
              </a:ext>
            </a:extLst>
          </p:cNvPr>
          <p:cNvSpPr>
            <a:spLocks noGrp="1"/>
          </p:cNvSpPr>
          <p:nvPr>
            <p:ph sz="half" idx="2"/>
          </p:nvPr>
        </p:nvSpPr>
        <p:spPr>
          <a:xfrm>
            <a:off x="609599" y="3756393"/>
            <a:ext cx="10972801" cy="2369772"/>
          </a:xfrm>
        </p:spPr>
        <p:txBody>
          <a:bodyPr/>
          <a:lstStyle/>
          <a:p>
            <a:r>
              <a:rPr lang="en-US" sz="2000" dirty="0"/>
              <a:t>Near-term ATF improvements</a:t>
            </a:r>
          </a:p>
          <a:p>
            <a:pPr lvl="1"/>
            <a:r>
              <a:rPr lang="en-US" sz="2000" dirty="0"/>
              <a:t>Improved Zr alloy cladding</a:t>
            </a:r>
          </a:p>
          <a:p>
            <a:pPr lvl="1"/>
            <a:r>
              <a:rPr lang="en-US" sz="2000" dirty="0"/>
              <a:t>Enhanced UO2</a:t>
            </a:r>
          </a:p>
          <a:p>
            <a:pPr lvl="1"/>
            <a:r>
              <a:rPr lang="en-US" sz="2000" dirty="0"/>
              <a:t>These changes are mean to be drop-in replacements that are compatible with existing systems</a:t>
            </a:r>
          </a:p>
          <a:p>
            <a:endParaRPr lang="en-US" sz="2000" dirty="0"/>
          </a:p>
        </p:txBody>
      </p:sp>
      <p:sp>
        <p:nvSpPr>
          <p:cNvPr id="5" name="Slide Number Placeholder 4">
            <a:extLst>
              <a:ext uri="{FF2B5EF4-FFF2-40B4-BE49-F238E27FC236}">
                <a16:creationId xmlns:a16="http://schemas.microsoft.com/office/drawing/2014/main" id="{70BB80E4-C5EC-7FFF-F9C7-24990513D5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46850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56647-2788-F47E-C73E-89DC4990AA7A}"/>
              </a:ext>
            </a:extLst>
          </p:cNvPr>
          <p:cNvSpPr>
            <a:spLocks noGrp="1"/>
          </p:cNvSpPr>
          <p:nvPr>
            <p:ph type="title"/>
          </p:nvPr>
        </p:nvSpPr>
        <p:spPr/>
        <p:txBody>
          <a:bodyPr/>
          <a:lstStyle/>
          <a:p>
            <a:r>
              <a:rPr lang="en-US" dirty="0"/>
              <a:t>Near-term ATF Coatings</a:t>
            </a:r>
          </a:p>
        </p:txBody>
      </p:sp>
      <p:sp>
        <p:nvSpPr>
          <p:cNvPr id="3" name="Content Placeholder 2">
            <a:extLst>
              <a:ext uri="{FF2B5EF4-FFF2-40B4-BE49-F238E27FC236}">
                <a16:creationId xmlns:a16="http://schemas.microsoft.com/office/drawing/2014/main" id="{0F1518D3-79D0-A944-4979-EBF19CBF54BF}"/>
              </a:ext>
            </a:extLst>
          </p:cNvPr>
          <p:cNvSpPr>
            <a:spLocks noGrp="1"/>
          </p:cNvSpPr>
          <p:nvPr>
            <p:ph sz="half" idx="1"/>
          </p:nvPr>
        </p:nvSpPr>
        <p:spPr>
          <a:xfrm>
            <a:off x="609600" y="1541119"/>
            <a:ext cx="6668530" cy="4585046"/>
          </a:xfrm>
        </p:spPr>
        <p:txBody>
          <a:bodyPr/>
          <a:lstStyle/>
          <a:p>
            <a:r>
              <a:rPr lang="en-US" sz="2000" dirty="0"/>
              <a:t>Improved zirconium-based cladding</a:t>
            </a:r>
          </a:p>
          <a:p>
            <a:pPr lvl="1"/>
            <a:r>
              <a:rPr lang="en-US" sz="2000" dirty="0"/>
              <a:t>coatings to improve corrosion resistance, especially under high T steam</a:t>
            </a:r>
          </a:p>
          <a:p>
            <a:pPr lvl="1"/>
            <a:r>
              <a:rPr lang="en-US" sz="2000" dirty="0"/>
              <a:t>metallic coatings or ceramics nitride or MAX coatings (M=transition metal, A=group 13-16 elements, e.g., Al or Si, X=C/N)</a:t>
            </a:r>
          </a:p>
          <a:p>
            <a:pPr lvl="1"/>
            <a:r>
              <a:rPr lang="en-US" sz="2000" dirty="0"/>
              <a:t>typically contain either Cr, Al, or Si, to ensure a protective oxide coating</a:t>
            </a:r>
          </a:p>
          <a:p>
            <a:r>
              <a:rPr lang="en-US" sz="2000" dirty="0"/>
              <a:t>Mose widely explored are ﻿Cr metal, </a:t>
            </a:r>
            <a:r>
              <a:rPr lang="en-US" sz="2000" dirty="0" err="1"/>
              <a:t>CrAl</a:t>
            </a:r>
            <a:r>
              <a:rPr lang="en-US" sz="2000" dirty="0"/>
              <a:t>, and </a:t>
            </a:r>
            <a:r>
              <a:rPr lang="en-US" sz="2000" dirty="0" err="1"/>
              <a:t>CrN</a:t>
            </a:r>
            <a:r>
              <a:rPr lang="en-US" sz="2000" dirty="0"/>
              <a:t> coatings</a:t>
            </a:r>
          </a:p>
          <a:p>
            <a:r>
              <a:rPr lang="en-US" sz="2000" dirty="0"/>
              <a:t>﻿Cr coatings of 2-10 </a:t>
            </a:r>
            <a:r>
              <a:rPr lang="el-GR" sz="2000" dirty="0"/>
              <a:t>μ</a:t>
            </a:r>
            <a:r>
              <a:rPr lang="en-US" sz="2000" dirty="0"/>
              <a:t>m on Zr-4 resulted in a ~50X reduction in oxidation rate over Zr-4 in a steam environment</a:t>
            </a:r>
          </a:p>
          <a:p>
            <a:r>
              <a:rPr lang="en-US" sz="2000" dirty="0"/>
              <a:t>Less oxidation also yields less H, and thus less embrittlement</a:t>
            </a:r>
          </a:p>
        </p:txBody>
      </p:sp>
      <p:sp>
        <p:nvSpPr>
          <p:cNvPr id="5" name="Slide Number Placeholder 4">
            <a:extLst>
              <a:ext uri="{FF2B5EF4-FFF2-40B4-BE49-F238E27FC236}">
                <a16:creationId xmlns:a16="http://schemas.microsoft.com/office/drawing/2014/main" id="{329BB6C6-159D-A886-3DD8-EBCD26F66EDA}"/>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6" name="Picture 5">
            <a:extLst>
              <a:ext uri="{FF2B5EF4-FFF2-40B4-BE49-F238E27FC236}">
                <a16:creationId xmlns:a16="http://schemas.microsoft.com/office/drawing/2014/main" id="{7B742754-ACBC-0657-4F1F-D90D0CDDA256}"/>
              </a:ext>
            </a:extLst>
          </p:cNvPr>
          <p:cNvPicPr>
            <a:picLocks noChangeAspect="1"/>
          </p:cNvPicPr>
          <p:nvPr/>
        </p:nvPicPr>
        <p:blipFill>
          <a:blip r:embed="rId2"/>
          <a:stretch>
            <a:fillRect/>
          </a:stretch>
        </p:blipFill>
        <p:spPr>
          <a:xfrm>
            <a:off x="7700662" y="592739"/>
            <a:ext cx="3486606" cy="3117716"/>
          </a:xfrm>
          <a:prstGeom prst="rect">
            <a:avLst/>
          </a:prstGeom>
        </p:spPr>
      </p:pic>
      <p:pic>
        <p:nvPicPr>
          <p:cNvPr id="7" name="Picture 6">
            <a:extLst>
              <a:ext uri="{FF2B5EF4-FFF2-40B4-BE49-F238E27FC236}">
                <a16:creationId xmlns:a16="http://schemas.microsoft.com/office/drawing/2014/main" id="{684826E4-B835-415C-0004-EB330C899A5A}"/>
              </a:ext>
            </a:extLst>
          </p:cNvPr>
          <p:cNvPicPr>
            <a:picLocks noChangeAspect="1"/>
          </p:cNvPicPr>
          <p:nvPr/>
        </p:nvPicPr>
        <p:blipFill>
          <a:blip r:embed="rId3"/>
          <a:srcRect r="50274"/>
          <a:stretch>
            <a:fillRect/>
          </a:stretch>
        </p:blipFill>
        <p:spPr>
          <a:xfrm>
            <a:off x="7700662" y="3710455"/>
            <a:ext cx="3486606" cy="2909266"/>
          </a:xfrm>
          <a:prstGeom prst="rect">
            <a:avLst/>
          </a:prstGeom>
        </p:spPr>
      </p:pic>
    </p:spTree>
    <p:extLst>
      <p:ext uri="{BB962C8B-B14F-4D97-AF65-F5344CB8AC3E}">
        <p14:creationId xmlns:p14="http://schemas.microsoft.com/office/powerpoint/2010/main" val="2713712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8233B-8793-89DD-B2A6-4E044A513318}"/>
              </a:ext>
            </a:extLst>
          </p:cNvPr>
          <p:cNvSpPr>
            <a:spLocks noGrp="1"/>
          </p:cNvSpPr>
          <p:nvPr>
            <p:ph type="title"/>
          </p:nvPr>
        </p:nvSpPr>
        <p:spPr/>
        <p:txBody>
          <a:bodyPr/>
          <a:lstStyle/>
          <a:p>
            <a:r>
              <a:rPr lang="en-US" dirty="0"/>
              <a:t>Near-term ATF Coatings</a:t>
            </a:r>
          </a:p>
        </p:txBody>
      </p:sp>
      <p:sp>
        <p:nvSpPr>
          <p:cNvPr id="3" name="Content Placeholder 2">
            <a:extLst>
              <a:ext uri="{FF2B5EF4-FFF2-40B4-BE49-F238E27FC236}">
                <a16:creationId xmlns:a16="http://schemas.microsoft.com/office/drawing/2014/main" id="{03FC9612-7395-853B-FB7B-02906DA92615}"/>
              </a:ext>
            </a:extLst>
          </p:cNvPr>
          <p:cNvSpPr>
            <a:spLocks noGrp="1"/>
          </p:cNvSpPr>
          <p:nvPr>
            <p:ph idx="1"/>
          </p:nvPr>
        </p:nvSpPr>
        <p:spPr>
          <a:xfrm>
            <a:off x="609600" y="1820000"/>
            <a:ext cx="6432645" cy="3965670"/>
          </a:xfrm>
        </p:spPr>
        <p:txBody>
          <a:bodyPr/>
          <a:lstStyle/>
          <a:p>
            <a:r>
              <a:rPr lang="en-US" sz="2200" dirty="0"/>
              <a:t>Ceramic coatings can display excellent oxidation resistance, but can be brittle and displace CTE mismatch</a:t>
            </a:r>
          </a:p>
          <a:p>
            <a:r>
              <a:rPr lang="en-US" sz="2200" dirty="0"/>
              <a:t>Variety of fabrication methods explored for metallic coatings</a:t>
            </a:r>
          </a:p>
          <a:p>
            <a:pPr lvl="1"/>
            <a:r>
              <a:rPr lang="en-US" sz="2200" dirty="0"/>
              <a:t>cold spray, CVD, PVD, sputtering, etc.</a:t>
            </a:r>
          </a:p>
          <a:p>
            <a:r>
              <a:rPr lang="en-US" sz="2200" dirty="0"/>
              <a:t>Mechanical integrity of the coating and adherence to Zr is key</a:t>
            </a:r>
          </a:p>
          <a:p>
            <a:r>
              <a:rPr lang="en-US" sz="2200" dirty="0"/>
              <a:t>Also have the issue of Cr-Zr eutectic reaction at 1332 C deteriorates cladding</a:t>
            </a:r>
          </a:p>
          <a:p>
            <a:r>
              <a:rPr lang="en-US" sz="2200" dirty="0"/>
              <a:t>But, very promising and still being pursued</a:t>
            </a:r>
          </a:p>
          <a:p>
            <a:endParaRPr lang="en-US" sz="2200" dirty="0"/>
          </a:p>
        </p:txBody>
      </p:sp>
      <p:sp>
        <p:nvSpPr>
          <p:cNvPr id="4" name="Slide Number Placeholder 3">
            <a:extLst>
              <a:ext uri="{FF2B5EF4-FFF2-40B4-BE49-F238E27FC236}">
                <a16:creationId xmlns:a16="http://schemas.microsoft.com/office/drawing/2014/main" id="{33B28F12-E8E6-C82A-7D63-32E21B37FFEA}"/>
              </a:ext>
            </a:extLst>
          </p:cNvPr>
          <p:cNvSpPr>
            <a:spLocks noGrp="1"/>
          </p:cNvSpPr>
          <p:nvPr>
            <p:ph type="sldNum" sz="quarter" idx="12"/>
          </p:nvPr>
        </p:nvSpPr>
        <p:spPr/>
        <p:txBody>
          <a:bodyPr/>
          <a:lstStyle/>
          <a:p>
            <a:pPr>
              <a:defRPr/>
            </a:pPr>
            <a:fld id="{3FF2C605-4958-CF43-AA48-80339EFDB0AF}" type="slidenum">
              <a:rPr lang="en-US" smtClean="0"/>
              <a:pPr>
                <a:defRPr/>
              </a:pPr>
              <a:t>14</a:t>
            </a:fld>
            <a:endParaRPr lang="en-US"/>
          </a:p>
        </p:txBody>
      </p:sp>
      <p:pic>
        <p:nvPicPr>
          <p:cNvPr id="5" name="Picture 4">
            <a:extLst>
              <a:ext uri="{FF2B5EF4-FFF2-40B4-BE49-F238E27FC236}">
                <a16:creationId xmlns:a16="http://schemas.microsoft.com/office/drawing/2014/main" id="{1DAD0155-0091-215A-E021-6808AC6EED60}"/>
              </a:ext>
            </a:extLst>
          </p:cNvPr>
          <p:cNvPicPr>
            <a:picLocks noChangeAspect="1"/>
          </p:cNvPicPr>
          <p:nvPr/>
        </p:nvPicPr>
        <p:blipFill rotWithShape="1">
          <a:blip r:embed="rId2"/>
          <a:srcRect r="48778"/>
          <a:stretch/>
        </p:blipFill>
        <p:spPr>
          <a:xfrm>
            <a:off x="7778085" y="1221457"/>
            <a:ext cx="3522261" cy="2581378"/>
          </a:xfrm>
          <a:prstGeom prst="rect">
            <a:avLst/>
          </a:prstGeom>
        </p:spPr>
      </p:pic>
      <p:pic>
        <p:nvPicPr>
          <p:cNvPr id="6" name="Picture 5">
            <a:extLst>
              <a:ext uri="{FF2B5EF4-FFF2-40B4-BE49-F238E27FC236}">
                <a16:creationId xmlns:a16="http://schemas.microsoft.com/office/drawing/2014/main" id="{00DA6B95-DBA5-BABD-795C-482F21DBB3D0}"/>
              </a:ext>
            </a:extLst>
          </p:cNvPr>
          <p:cNvPicPr>
            <a:picLocks noChangeAspect="1"/>
          </p:cNvPicPr>
          <p:nvPr/>
        </p:nvPicPr>
        <p:blipFill rotWithShape="1">
          <a:blip r:embed="rId3"/>
          <a:srcRect r="54683"/>
          <a:stretch/>
        </p:blipFill>
        <p:spPr>
          <a:xfrm>
            <a:off x="7778086" y="3802835"/>
            <a:ext cx="3522260" cy="2736078"/>
          </a:xfrm>
          <a:prstGeom prst="rect">
            <a:avLst/>
          </a:prstGeom>
        </p:spPr>
      </p:pic>
    </p:spTree>
    <p:extLst>
      <p:ext uri="{BB962C8B-B14F-4D97-AF65-F5344CB8AC3E}">
        <p14:creationId xmlns:p14="http://schemas.microsoft.com/office/powerpoint/2010/main" val="1580841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64FAC-71F2-6523-4B6A-80A14D5E1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8106C-0AE3-D43A-940E-4BA6534E77B5}"/>
              </a:ext>
            </a:extLst>
          </p:cNvPr>
          <p:cNvSpPr>
            <a:spLocks noGrp="1"/>
          </p:cNvSpPr>
          <p:nvPr>
            <p:ph type="title"/>
          </p:nvPr>
        </p:nvSpPr>
        <p:spPr/>
        <p:txBody>
          <a:bodyPr/>
          <a:lstStyle/>
          <a:p>
            <a:r>
              <a:rPr lang="en-US" dirty="0"/>
              <a:t>Near-term ATF Fuel</a:t>
            </a:r>
          </a:p>
        </p:txBody>
      </p:sp>
      <p:sp>
        <p:nvSpPr>
          <p:cNvPr id="3" name="Content Placeholder 2">
            <a:extLst>
              <a:ext uri="{FF2B5EF4-FFF2-40B4-BE49-F238E27FC236}">
                <a16:creationId xmlns:a16="http://schemas.microsoft.com/office/drawing/2014/main" id="{9E156FB3-15F9-4B97-C1AA-A0379E7BDEE7}"/>
              </a:ext>
            </a:extLst>
          </p:cNvPr>
          <p:cNvSpPr>
            <a:spLocks noGrp="1"/>
          </p:cNvSpPr>
          <p:nvPr>
            <p:ph sz="half" idx="1"/>
          </p:nvPr>
        </p:nvSpPr>
        <p:spPr>
          <a:xfrm>
            <a:off x="609600" y="1541119"/>
            <a:ext cx="6198974" cy="4585046"/>
          </a:xfrm>
        </p:spPr>
        <p:txBody>
          <a:bodyPr/>
          <a:lstStyle/>
          <a:p>
            <a:r>
              <a:rPr lang="en-US" sz="2000" dirty="0"/>
              <a:t>Enhanced UO2</a:t>
            </a:r>
          </a:p>
          <a:p>
            <a:pPr lvl="1"/>
            <a:r>
              <a:rPr lang="en-US" sz="2000" dirty="0"/>
              <a:t>minor additives to improve UO2 properties</a:t>
            </a:r>
          </a:p>
          <a:p>
            <a:r>
              <a:rPr lang="en-US" sz="2000" dirty="0"/>
              <a:t>Doped UO2 typically includes a transition metal oxide (e.g., Cr2O3, TiO2), that modifies the oxygen potential, subsequently modifying the oxygen kinetics, changing the grain size during sintering</a:t>
            </a:r>
          </a:p>
          <a:p>
            <a:r>
              <a:rPr lang="en-US" sz="2000" dirty="0"/>
              <a:t>Larger grain sizes mean slower/delayed fission gas release (think of the Booth model)</a:t>
            </a:r>
          </a:p>
          <a:p>
            <a:r>
              <a:rPr lang="en-US" sz="2000" dirty="0"/>
              <a:t>Inert secondary inclusions (e.g., Mo, </a:t>
            </a:r>
            <a:r>
              <a:rPr lang="en-US" sz="2000" dirty="0" err="1"/>
              <a:t>SiC</a:t>
            </a:r>
            <a:r>
              <a:rPr lang="en-US" sz="2000" dirty="0"/>
              <a:t>, diamond, </a:t>
            </a:r>
            <a:r>
              <a:rPr lang="en-US" sz="2000" dirty="0" err="1"/>
              <a:t>BeO</a:t>
            </a:r>
            <a:r>
              <a:rPr lang="en-US" sz="2000" dirty="0"/>
              <a:t>) involve higher levels of additives targeted to increase the thermal conductivity</a:t>
            </a:r>
          </a:p>
          <a:p>
            <a:r>
              <a:rPr lang="en-US" sz="2000" dirty="0"/>
              <a:t>Natural development in UO2 fuel, will happen to some degree to gain margins in safety, fuel performance, and economics</a:t>
            </a:r>
          </a:p>
          <a:p>
            <a:endParaRPr lang="en-US" sz="2000" dirty="0"/>
          </a:p>
        </p:txBody>
      </p:sp>
      <p:sp>
        <p:nvSpPr>
          <p:cNvPr id="5" name="Slide Number Placeholder 4">
            <a:extLst>
              <a:ext uri="{FF2B5EF4-FFF2-40B4-BE49-F238E27FC236}">
                <a16:creationId xmlns:a16="http://schemas.microsoft.com/office/drawing/2014/main" id="{A925A420-75AD-5508-C3C1-516294582526}"/>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pic>
        <p:nvPicPr>
          <p:cNvPr id="4" name="Picture 3">
            <a:extLst>
              <a:ext uri="{FF2B5EF4-FFF2-40B4-BE49-F238E27FC236}">
                <a16:creationId xmlns:a16="http://schemas.microsoft.com/office/drawing/2014/main" id="{522CEC8E-6316-DFA7-37C8-BAFE92C22BC3}"/>
              </a:ext>
            </a:extLst>
          </p:cNvPr>
          <p:cNvPicPr>
            <a:picLocks noChangeAspect="1"/>
          </p:cNvPicPr>
          <p:nvPr/>
        </p:nvPicPr>
        <p:blipFill>
          <a:blip r:embed="rId2"/>
          <a:stretch>
            <a:fillRect/>
          </a:stretch>
        </p:blipFill>
        <p:spPr>
          <a:xfrm>
            <a:off x="7817658" y="1006924"/>
            <a:ext cx="3658725" cy="2422076"/>
          </a:xfrm>
          <a:prstGeom prst="rect">
            <a:avLst/>
          </a:prstGeom>
        </p:spPr>
      </p:pic>
      <p:pic>
        <p:nvPicPr>
          <p:cNvPr id="6" name="Picture 5">
            <a:extLst>
              <a:ext uri="{FF2B5EF4-FFF2-40B4-BE49-F238E27FC236}">
                <a16:creationId xmlns:a16="http://schemas.microsoft.com/office/drawing/2014/main" id="{7CE062D9-BD3B-3657-D479-17009A4C5D95}"/>
              </a:ext>
            </a:extLst>
          </p:cNvPr>
          <p:cNvPicPr>
            <a:picLocks noChangeAspect="1"/>
          </p:cNvPicPr>
          <p:nvPr/>
        </p:nvPicPr>
        <p:blipFill>
          <a:blip r:embed="rId3"/>
          <a:stretch>
            <a:fillRect/>
          </a:stretch>
        </p:blipFill>
        <p:spPr>
          <a:xfrm>
            <a:off x="6726962" y="3830595"/>
            <a:ext cx="5387950" cy="2020481"/>
          </a:xfrm>
          <a:prstGeom prst="rect">
            <a:avLst/>
          </a:prstGeom>
        </p:spPr>
      </p:pic>
    </p:spTree>
    <p:extLst>
      <p:ext uri="{BB962C8B-B14F-4D97-AF65-F5344CB8AC3E}">
        <p14:creationId xmlns:p14="http://schemas.microsoft.com/office/powerpoint/2010/main" val="3798017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6E66-8FDA-B32F-4FAA-874877401D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AB5A7-46D9-09D8-5CCF-73B950D2ED7C}"/>
              </a:ext>
            </a:extLst>
          </p:cNvPr>
          <p:cNvSpPr>
            <a:spLocks noGrp="1"/>
          </p:cNvSpPr>
          <p:nvPr>
            <p:ph type="title"/>
          </p:nvPr>
        </p:nvSpPr>
        <p:spPr/>
        <p:txBody>
          <a:bodyPr/>
          <a:lstStyle/>
          <a:p>
            <a:r>
              <a:rPr lang="en-US" dirty="0"/>
              <a:t>Categories of ATF Concepts</a:t>
            </a:r>
          </a:p>
        </p:txBody>
      </p:sp>
      <p:sp>
        <p:nvSpPr>
          <p:cNvPr id="3" name="Content Placeholder 2">
            <a:extLst>
              <a:ext uri="{FF2B5EF4-FFF2-40B4-BE49-F238E27FC236}">
                <a16:creationId xmlns:a16="http://schemas.microsoft.com/office/drawing/2014/main" id="{428278A7-C377-CE8C-A804-1DD41393523D}"/>
              </a:ext>
            </a:extLst>
          </p:cNvPr>
          <p:cNvSpPr>
            <a:spLocks noGrp="1"/>
          </p:cNvSpPr>
          <p:nvPr>
            <p:ph sz="half" idx="1"/>
          </p:nvPr>
        </p:nvSpPr>
        <p:spPr>
          <a:xfrm>
            <a:off x="609599" y="1610693"/>
            <a:ext cx="10972799" cy="2530383"/>
          </a:xfrm>
        </p:spPr>
        <p:txBody>
          <a:bodyPr/>
          <a:lstStyle/>
          <a:p>
            <a:r>
              <a:rPr lang="en-US" sz="2000" dirty="0"/>
              <a:t>Novel fuel and cladding materials</a:t>
            </a:r>
          </a:p>
          <a:p>
            <a:pPr lvl="1"/>
            <a:r>
              <a:rPr lang="en-US" sz="2000" dirty="0"/>
              <a:t>U3Si2 or UN fuels</a:t>
            </a:r>
          </a:p>
          <a:p>
            <a:pPr lvl="1"/>
            <a:r>
              <a:rPr lang="en-US" sz="2000" dirty="0" err="1"/>
              <a:t>FeCrAl</a:t>
            </a:r>
            <a:r>
              <a:rPr lang="en-US" sz="2000" dirty="0"/>
              <a:t> alloys for cladding</a:t>
            </a:r>
          </a:p>
          <a:p>
            <a:pPr lvl="1"/>
            <a:r>
              <a:rPr lang="en-US" sz="2000" dirty="0"/>
              <a:t>Requires additional licensing</a:t>
            </a:r>
          </a:p>
          <a:p>
            <a:pPr lvl="1"/>
            <a:r>
              <a:rPr lang="en-US" sz="2000" dirty="0"/>
              <a:t>Minimal changes needed for LWR designs, could be deployed in 10ish years</a:t>
            </a:r>
          </a:p>
          <a:p>
            <a:pPr marL="457200" lvl="1" indent="0">
              <a:buNone/>
            </a:pPr>
            <a:endParaRPr lang="en-US" sz="2000" dirty="0"/>
          </a:p>
          <a:p>
            <a:r>
              <a:rPr lang="en-US" sz="2000" dirty="0"/>
              <a:t>Transformational fuel and cladding concepts</a:t>
            </a:r>
          </a:p>
          <a:p>
            <a:pPr lvl="1"/>
            <a:r>
              <a:rPr lang="en-US" sz="2000" dirty="0"/>
              <a:t>fully ceramic micro-encapsulated (FCM) fuels, e.g., TRISO</a:t>
            </a:r>
          </a:p>
          <a:p>
            <a:pPr lvl="1"/>
            <a:r>
              <a:rPr lang="en-US" sz="2000" dirty="0" err="1"/>
              <a:t>SiC</a:t>
            </a:r>
            <a:r>
              <a:rPr lang="en-US" sz="2000" dirty="0"/>
              <a:t>/</a:t>
            </a:r>
            <a:r>
              <a:rPr lang="en-US" sz="2000" dirty="0" err="1"/>
              <a:t>SiC</a:t>
            </a:r>
            <a:r>
              <a:rPr lang="en-US" sz="2000" dirty="0"/>
              <a:t> composite cladding</a:t>
            </a:r>
          </a:p>
          <a:p>
            <a:pPr lvl="1"/>
            <a:r>
              <a:rPr lang="en-US" sz="2000" dirty="0"/>
              <a:t>drastically differ from traditional LWR fuel systems</a:t>
            </a:r>
          </a:p>
          <a:p>
            <a:pPr lvl="1"/>
            <a:r>
              <a:rPr lang="en-US" sz="2000" dirty="0"/>
              <a:t>may require significant modifications to reactor design and operation, but offer potentially large benefits to performance and/or safety</a:t>
            </a:r>
          </a:p>
          <a:p>
            <a:pPr lvl="1"/>
            <a:endParaRPr lang="en-US" sz="1600" dirty="0"/>
          </a:p>
          <a:p>
            <a:endParaRPr lang="en-US" sz="2000" dirty="0"/>
          </a:p>
        </p:txBody>
      </p:sp>
      <p:sp>
        <p:nvSpPr>
          <p:cNvPr id="5" name="Slide Number Placeholder 4">
            <a:extLst>
              <a:ext uri="{FF2B5EF4-FFF2-40B4-BE49-F238E27FC236}">
                <a16:creationId xmlns:a16="http://schemas.microsoft.com/office/drawing/2014/main" id="{A04D58E8-F560-2D2A-65EA-ED5EABE9DB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6731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C7B35-CA49-36A4-B5F1-E2028001F7A0}"/>
              </a:ext>
            </a:extLst>
          </p:cNvPr>
          <p:cNvSpPr>
            <a:spLocks noGrp="1"/>
          </p:cNvSpPr>
          <p:nvPr>
            <p:ph type="title"/>
          </p:nvPr>
        </p:nvSpPr>
        <p:spPr/>
        <p:txBody>
          <a:bodyPr/>
          <a:lstStyle/>
          <a:p>
            <a:r>
              <a:rPr lang="en-US" dirty="0"/>
              <a:t>Advanced Cladding Materials</a:t>
            </a:r>
          </a:p>
        </p:txBody>
      </p:sp>
      <p:sp>
        <p:nvSpPr>
          <p:cNvPr id="3" name="Content Placeholder 2">
            <a:extLst>
              <a:ext uri="{FF2B5EF4-FFF2-40B4-BE49-F238E27FC236}">
                <a16:creationId xmlns:a16="http://schemas.microsoft.com/office/drawing/2014/main" id="{86B234BD-080C-F9A6-A29E-16BE882B77E0}"/>
              </a:ext>
            </a:extLst>
          </p:cNvPr>
          <p:cNvSpPr>
            <a:spLocks noGrp="1"/>
          </p:cNvSpPr>
          <p:nvPr>
            <p:ph idx="1"/>
          </p:nvPr>
        </p:nvSpPr>
        <p:spPr>
          <a:xfrm>
            <a:off x="609600" y="1816443"/>
            <a:ext cx="5712415" cy="4309722"/>
          </a:xfrm>
        </p:spPr>
        <p:txBody>
          <a:bodyPr/>
          <a:lstStyle/>
          <a:p>
            <a:r>
              <a:rPr lang="en-US" dirty="0"/>
              <a:t>Fe-Cr or Fe-Cr-Al alloys display significantly improved oxidation resistance compared to Zr alloys</a:t>
            </a:r>
          </a:p>
          <a:p>
            <a:r>
              <a:rPr lang="en-US" dirty="0"/>
              <a:t>Fe-Cr can still form oxides which are not protective at 1200 C</a:t>
            </a:r>
          </a:p>
          <a:p>
            <a:r>
              <a:rPr lang="en-US" dirty="0"/>
              <a:t>Fe-Cr-Al alloys form an Al2O3 layer with enhanced stability compared to ZrO2, FeO2, or Cr2O3</a:t>
            </a:r>
          </a:p>
          <a:p>
            <a:r>
              <a:rPr lang="en-US" dirty="0" err="1"/>
              <a:t>SiC</a:t>
            </a:r>
            <a:r>
              <a:rPr lang="en-US" dirty="0"/>
              <a:t> cladding can display even better oxidation resistance</a:t>
            </a:r>
          </a:p>
        </p:txBody>
      </p:sp>
      <p:sp>
        <p:nvSpPr>
          <p:cNvPr id="4" name="Slide Number Placeholder 3">
            <a:extLst>
              <a:ext uri="{FF2B5EF4-FFF2-40B4-BE49-F238E27FC236}">
                <a16:creationId xmlns:a16="http://schemas.microsoft.com/office/drawing/2014/main" id="{D94FEF94-DDFC-82AE-3E9F-928539576F84}"/>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pic>
        <p:nvPicPr>
          <p:cNvPr id="5" name="Picture 4">
            <a:extLst>
              <a:ext uri="{FF2B5EF4-FFF2-40B4-BE49-F238E27FC236}">
                <a16:creationId xmlns:a16="http://schemas.microsoft.com/office/drawing/2014/main" id="{156B94FE-701B-AC5D-0A8D-021970EE1515}"/>
              </a:ext>
            </a:extLst>
          </p:cNvPr>
          <p:cNvPicPr>
            <a:picLocks noChangeAspect="1"/>
          </p:cNvPicPr>
          <p:nvPr/>
        </p:nvPicPr>
        <p:blipFill>
          <a:blip r:embed="rId2"/>
          <a:stretch>
            <a:fillRect/>
          </a:stretch>
        </p:blipFill>
        <p:spPr>
          <a:xfrm>
            <a:off x="6322015" y="2367037"/>
            <a:ext cx="5761940" cy="3078419"/>
          </a:xfrm>
          <a:prstGeom prst="rect">
            <a:avLst/>
          </a:prstGeom>
        </p:spPr>
      </p:pic>
    </p:spTree>
    <p:extLst>
      <p:ext uri="{BB962C8B-B14F-4D97-AF65-F5344CB8AC3E}">
        <p14:creationId xmlns:p14="http://schemas.microsoft.com/office/powerpoint/2010/main" val="4130759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C0800-CA37-F149-B314-FABD8385617C}"/>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452C609-316C-4D41-876D-4B0F60978F43}"/>
              </a:ext>
            </a:extLst>
          </p:cNvPr>
          <p:cNvSpPr>
            <a:spLocks noGrp="1"/>
          </p:cNvSpPr>
          <p:nvPr>
            <p:ph idx="1"/>
          </p:nvPr>
        </p:nvSpPr>
        <p:spPr/>
        <p:txBody>
          <a:bodyPr/>
          <a:lstStyle/>
          <a:p>
            <a:r>
              <a:rPr lang="en-US" sz="2000" dirty="0"/>
              <a:t>Accident tolerant fuel includes different fuel and cladding materials to increase time before catastrophic behavior during an accident</a:t>
            </a:r>
          </a:p>
          <a:p>
            <a:r>
              <a:rPr lang="en-US" sz="2000" dirty="0"/>
              <a:t>Aim to add coping time, increase safety margin, improve behaviors</a:t>
            </a:r>
          </a:p>
          <a:p>
            <a:r>
              <a:rPr lang="en-US" sz="2000" dirty="0"/>
              <a:t>Four key areas: </a:t>
            </a:r>
          </a:p>
          <a:p>
            <a:pPr lvl="1"/>
            <a:r>
              <a:rPr lang="en-US" sz="2000" dirty="0"/>
              <a:t>improve reaction kinetics with steam, improved cladding properties, improved fuel properties, enhanced fission product retention</a:t>
            </a:r>
          </a:p>
          <a:p>
            <a:r>
              <a:rPr lang="en-US" sz="2000" dirty="0"/>
              <a:t>Near term concepts</a:t>
            </a:r>
          </a:p>
          <a:p>
            <a:pPr lvl="1"/>
            <a:r>
              <a:rPr lang="en-US" sz="2000" dirty="0"/>
              <a:t>cladding coatings (Cr, </a:t>
            </a:r>
            <a:r>
              <a:rPr lang="en-US" sz="2000" dirty="0" err="1"/>
              <a:t>CrAl</a:t>
            </a:r>
            <a:r>
              <a:rPr lang="en-US" sz="2000" dirty="0"/>
              <a:t>, etc.)</a:t>
            </a:r>
          </a:p>
          <a:p>
            <a:pPr lvl="1"/>
            <a:r>
              <a:rPr lang="en-US" sz="2000" dirty="0"/>
              <a:t>enhanced UO2 (dopants, inert additives)</a:t>
            </a:r>
          </a:p>
          <a:p>
            <a:r>
              <a:rPr lang="en-US" sz="2000" dirty="0"/>
              <a:t>Novel fuel and cladding concepts</a:t>
            </a:r>
          </a:p>
          <a:p>
            <a:r>
              <a:rPr lang="en-US" sz="2000" dirty="0"/>
              <a:t>Transformational concepts</a:t>
            </a:r>
          </a:p>
          <a:p>
            <a:endParaRPr lang="en-US" sz="2000" dirty="0"/>
          </a:p>
        </p:txBody>
      </p:sp>
      <p:sp>
        <p:nvSpPr>
          <p:cNvPr id="4" name="Slide Number Placeholder 3">
            <a:extLst>
              <a:ext uri="{FF2B5EF4-FFF2-40B4-BE49-F238E27FC236}">
                <a16:creationId xmlns:a16="http://schemas.microsoft.com/office/drawing/2014/main" id="{3D686358-6F54-044D-A5D2-54B398F6686E}"/>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a:p>
        </p:txBody>
      </p:sp>
    </p:spTree>
    <p:extLst>
      <p:ext uri="{BB962C8B-B14F-4D97-AF65-F5344CB8AC3E}">
        <p14:creationId xmlns:p14="http://schemas.microsoft.com/office/powerpoint/2010/main" val="1612967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9CC1-34E4-A34F-8621-801D8886CE7C}"/>
              </a:ext>
            </a:extLst>
          </p:cNvPr>
          <p:cNvSpPr>
            <a:spLocks noGrp="1"/>
          </p:cNvSpPr>
          <p:nvPr>
            <p:ph type="title"/>
          </p:nvPr>
        </p:nvSpPr>
        <p:spPr>
          <a:xfrm>
            <a:off x="963084" y="1234721"/>
            <a:ext cx="10363200" cy="1362075"/>
          </a:xfrm>
        </p:spPr>
        <p:txBody>
          <a:bodyPr/>
          <a:lstStyle/>
          <a:p>
            <a:r>
              <a:rPr lang="en-US" dirty="0"/>
              <a:t>Limiting phenomena</a:t>
            </a:r>
          </a:p>
        </p:txBody>
      </p:sp>
      <p:sp>
        <p:nvSpPr>
          <p:cNvPr id="4" name="Slide Number Placeholder 3">
            <a:extLst>
              <a:ext uri="{FF2B5EF4-FFF2-40B4-BE49-F238E27FC236}">
                <a16:creationId xmlns:a16="http://schemas.microsoft.com/office/drawing/2014/main" id="{2BFF06B0-02C9-F34D-82A4-D2D5BBAF6842}"/>
              </a:ext>
            </a:extLst>
          </p:cNvPr>
          <p:cNvSpPr>
            <a:spLocks noGrp="1"/>
          </p:cNvSpPr>
          <p:nvPr>
            <p:ph type="sldNum" sz="quarter" idx="12"/>
          </p:nvPr>
        </p:nvSpPr>
        <p:spPr/>
        <p:txBody>
          <a:bodyPr/>
          <a:lstStyle/>
          <a:p>
            <a:pPr>
              <a:defRPr/>
            </a:pPr>
            <a:fld id="{0DA6BD0F-ABBC-C14D-BC96-77BE126A748B}" type="slidenum">
              <a:rPr lang="en-US" smtClean="0"/>
              <a:pPr>
                <a:defRPr/>
              </a:pPr>
              <a:t>19</a:t>
            </a:fld>
            <a:endParaRPr lang="en-US"/>
          </a:p>
        </p:txBody>
      </p:sp>
    </p:spTree>
    <p:extLst>
      <p:ext uri="{BB962C8B-B14F-4D97-AF65-F5344CB8AC3E}">
        <p14:creationId xmlns:p14="http://schemas.microsoft.com/office/powerpoint/2010/main" val="3070132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D4F59-8EC9-F24B-B686-893A7A33EFAA}"/>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1BBBC707-027A-324A-9260-1EA31A3222BA}"/>
              </a:ext>
            </a:extLst>
          </p:cNvPr>
          <p:cNvSpPr>
            <a:spLocks noGrp="1"/>
          </p:cNvSpPr>
          <p:nvPr>
            <p:ph idx="1"/>
          </p:nvPr>
        </p:nvSpPr>
        <p:spPr/>
        <p:txBody>
          <a:bodyPr/>
          <a:lstStyle/>
          <a:p>
            <a:r>
              <a:rPr lang="en-US" sz="2000" dirty="0"/>
              <a:t>Concerning limiting phenomena, some criteria have been established for the UO2 and MOX fuel designs</a:t>
            </a:r>
          </a:p>
          <a:p>
            <a:r>
              <a:rPr lang="en-US" sz="2000" dirty="0"/>
              <a:t>Engineering must demonstrate that all relevant parameters fulfill those criteria at any time from the loading of the fuel to reprocessing, or during long-term storage</a:t>
            </a:r>
          </a:p>
          <a:p>
            <a:r>
              <a:rPr lang="en-US" sz="2000" dirty="0"/>
              <a:t>The key performance limiting phenomena are Pellet-clad mechanical interaction; Cladding elongation and assembly bow; Cladding oxidation and hydrogen pickup; Cladding wear; Power to melt; Fuel rod internal pressure; Departure from nucleate boiling; Normal operation limits</a:t>
            </a:r>
          </a:p>
          <a:p>
            <a:endParaRPr lang="en-US" sz="2000" dirty="0"/>
          </a:p>
        </p:txBody>
      </p:sp>
      <p:sp>
        <p:nvSpPr>
          <p:cNvPr id="4" name="Slide Number Placeholder 3">
            <a:extLst>
              <a:ext uri="{FF2B5EF4-FFF2-40B4-BE49-F238E27FC236}">
                <a16:creationId xmlns:a16="http://schemas.microsoft.com/office/drawing/2014/main" id="{33FFED72-2010-164D-BDF9-2E2B57CD8882}"/>
              </a:ext>
            </a:extLst>
          </p:cNvPr>
          <p:cNvSpPr>
            <a:spLocks noGrp="1"/>
          </p:cNvSpPr>
          <p:nvPr>
            <p:ph type="sldNum" sz="quarter" idx="12"/>
          </p:nvPr>
        </p:nvSpPr>
        <p:spPr/>
        <p:txBody>
          <a:bodyPr/>
          <a:lstStyle/>
          <a:p>
            <a:pPr>
              <a:defRPr/>
            </a:pPr>
            <a:fld id="{3FF2C605-4958-CF43-AA48-80339EFDB0AF}" type="slidenum">
              <a:rPr lang="en-US" smtClean="0"/>
              <a:pPr>
                <a:defRPr/>
              </a:pPr>
              <a:t>20</a:t>
            </a:fld>
            <a:endParaRPr lang="en-US"/>
          </a:p>
        </p:txBody>
      </p:sp>
    </p:spTree>
    <p:extLst>
      <p:ext uri="{BB962C8B-B14F-4D97-AF65-F5344CB8AC3E}">
        <p14:creationId xmlns:p14="http://schemas.microsoft.com/office/powerpoint/2010/main" val="1625269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DF0D-DB2F-514A-B72B-B38EF3C2C194}"/>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B4DEE915-B4F7-1845-86C3-7A16CFD6DEF0}"/>
              </a:ext>
            </a:extLst>
          </p:cNvPr>
          <p:cNvSpPr>
            <a:spLocks noGrp="1"/>
          </p:cNvSpPr>
          <p:nvPr>
            <p:ph idx="1"/>
          </p:nvPr>
        </p:nvSpPr>
        <p:spPr/>
        <p:txBody>
          <a:bodyPr/>
          <a:lstStyle/>
          <a:p>
            <a:r>
              <a:rPr lang="en-US" sz="2000" dirty="0"/>
              <a:t>PCMI</a:t>
            </a:r>
          </a:p>
          <a:p>
            <a:r>
              <a:rPr lang="en-US" sz="2000" dirty="0"/>
              <a:t>PCMI is a complex process with a maximum risk for failure when the fuel pellet to cladding gap closes firmly and the reactivity of the fuel is still high</a:t>
            </a:r>
          </a:p>
          <a:p>
            <a:r>
              <a:rPr lang="en-US" sz="2000" dirty="0"/>
              <a:t>The risk is enhanced by pellet fragments inducing a local shear strain on the cladding, and by the chemical interaction kinetics at the interface</a:t>
            </a:r>
          </a:p>
          <a:p>
            <a:r>
              <a:rPr lang="en-US" sz="2000" dirty="0"/>
              <a:t>In order to prevent SCC, the cladding hoop stress calculated for normal operation and transients is limited</a:t>
            </a:r>
          </a:p>
          <a:p>
            <a:r>
              <a:rPr lang="en-US" sz="2000" dirty="0"/>
              <a:t>The extent of the total permanent hoop strain is limited during the whole lifetime of the fuel rods, typically to 1%</a:t>
            </a:r>
          </a:p>
          <a:p>
            <a:pPr lvl="1"/>
            <a:endParaRPr lang="en-US" sz="2000" dirty="0"/>
          </a:p>
          <a:p>
            <a:pPr lvl="1"/>
            <a:endParaRPr lang="en-US" sz="2000" dirty="0"/>
          </a:p>
        </p:txBody>
      </p:sp>
      <p:sp>
        <p:nvSpPr>
          <p:cNvPr id="4" name="Slide Number Placeholder 3">
            <a:extLst>
              <a:ext uri="{FF2B5EF4-FFF2-40B4-BE49-F238E27FC236}">
                <a16:creationId xmlns:a16="http://schemas.microsoft.com/office/drawing/2014/main" id="{2444743E-315B-9341-978C-27CF805608F9}"/>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spTree>
    <p:extLst>
      <p:ext uri="{BB962C8B-B14F-4D97-AF65-F5344CB8AC3E}">
        <p14:creationId xmlns:p14="http://schemas.microsoft.com/office/powerpoint/2010/main" val="1327727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2E93-2F2C-D943-B574-B8F853919CA4}"/>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DAFD5F6C-95C0-1841-823E-3A3E067D6F52}"/>
              </a:ext>
            </a:extLst>
          </p:cNvPr>
          <p:cNvSpPr>
            <a:spLocks noGrp="1"/>
          </p:cNvSpPr>
          <p:nvPr>
            <p:ph idx="1"/>
          </p:nvPr>
        </p:nvSpPr>
        <p:spPr/>
        <p:txBody>
          <a:bodyPr/>
          <a:lstStyle/>
          <a:p>
            <a:r>
              <a:rPr lang="en-US" sz="2000" dirty="0"/>
              <a:t>Cladding elongation and assembly bow</a:t>
            </a:r>
          </a:p>
          <a:p>
            <a:r>
              <a:rPr lang="en-US" sz="2000" dirty="0"/>
              <a:t>During irradiation, the anisotropic character of the cladding material and the preferential migration of vacancies and interstitials in specific lattice planes drive an overall cladding axial growth, activated by the fast neutron flux</a:t>
            </a:r>
          </a:p>
          <a:p>
            <a:r>
              <a:rPr lang="en-US" sz="2000" dirty="0"/>
              <a:t>When contact is established between the pellet and the cladding, pellet axial elongation causes an additional axial cladding strain</a:t>
            </a:r>
          </a:p>
          <a:p>
            <a:r>
              <a:rPr lang="en-US" sz="2000" dirty="0"/>
              <a:t>This can lead to fuel rod bow with pitch reduction between the rods, reducing thermal margins</a:t>
            </a:r>
          </a:p>
          <a:p>
            <a:r>
              <a:rPr lang="en-US" sz="2000" dirty="0"/>
              <a:t>Differential elongation of guide tubes in a PWR assembly can lead to an overall assembly bow</a:t>
            </a:r>
          </a:p>
          <a:p>
            <a:endParaRPr lang="en-US" sz="2000" dirty="0"/>
          </a:p>
          <a:p>
            <a:endParaRPr lang="en-US" sz="2000" dirty="0"/>
          </a:p>
          <a:p>
            <a:endParaRPr lang="en-US" sz="2000" dirty="0"/>
          </a:p>
          <a:p>
            <a:pPr lvl="1"/>
            <a:endParaRPr lang="en-US" sz="2000" dirty="0"/>
          </a:p>
        </p:txBody>
      </p:sp>
      <p:sp>
        <p:nvSpPr>
          <p:cNvPr id="4" name="Slide Number Placeholder 3">
            <a:extLst>
              <a:ext uri="{FF2B5EF4-FFF2-40B4-BE49-F238E27FC236}">
                <a16:creationId xmlns:a16="http://schemas.microsoft.com/office/drawing/2014/main" id="{E06E5C1D-C6AB-7244-BED5-F5845E129B4F}"/>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spTree>
    <p:extLst>
      <p:ext uri="{BB962C8B-B14F-4D97-AF65-F5344CB8AC3E}">
        <p14:creationId xmlns:p14="http://schemas.microsoft.com/office/powerpoint/2010/main" val="2736685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Cladding oxidation and hydrogen pickup</a:t>
            </a:r>
          </a:p>
          <a:p>
            <a:r>
              <a:rPr lang="en-US" sz="2000" dirty="0"/>
              <a:t>For the ZrO2 formation at the cladding waterside surface, a typical criterion is related to the ASTM criterion of a maximum cladding wall thickness reduction of 10%, which corresponds to an oxide thickness of the order of 100 microns</a:t>
            </a:r>
          </a:p>
          <a:p>
            <a:r>
              <a:rPr lang="en-US" sz="2000" dirty="0"/>
              <a:t>When the hydrogen concentration in the cladding exceeds the solubility limit, 70–100 ppm by weight at operating temperatures, zirconium hydrides will form</a:t>
            </a:r>
          </a:p>
          <a:p>
            <a:r>
              <a:rPr lang="en-US" sz="2000" dirty="0"/>
              <a:t>The impact of hydrides on key mechanical properties depends strongly on hydride distribution and orientation</a:t>
            </a:r>
          </a:p>
          <a:p>
            <a:r>
              <a:rPr lang="en-US" sz="2000" dirty="0"/>
              <a:t>Oxidation and hydrogen pickup are increasingly important at higher exposures, as the dependence on burnup is nonlinear</a:t>
            </a:r>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a:p>
        </p:txBody>
      </p:sp>
    </p:spTree>
    <p:extLst>
      <p:ext uri="{BB962C8B-B14F-4D97-AF65-F5344CB8AC3E}">
        <p14:creationId xmlns:p14="http://schemas.microsoft.com/office/powerpoint/2010/main" val="2336819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Cladding wear</a:t>
            </a:r>
          </a:p>
          <a:p>
            <a:r>
              <a:rPr lang="en-US" sz="2000" dirty="0"/>
              <a:t>The criterion for cladding wear at the contact points between grid spring/dimples and the fuel rod is often also related to the ASTM criterion of a maximum cladding wall thickness reduction of 10%</a:t>
            </a:r>
          </a:p>
          <a:p>
            <a:r>
              <a:rPr lang="en-US" sz="2000" dirty="0"/>
              <a:t>More wear is technically acceptable, as evidenced from operational experience</a:t>
            </a:r>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a:p>
        </p:txBody>
      </p:sp>
    </p:spTree>
    <p:extLst>
      <p:ext uri="{BB962C8B-B14F-4D97-AF65-F5344CB8AC3E}">
        <p14:creationId xmlns:p14="http://schemas.microsoft.com/office/powerpoint/2010/main" val="1060907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Power to melt</a:t>
            </a:r>
          </a:p>
          <a:p>
            <a:r>
              <a:rPr lang="en-US" sz="2000" dirty="0"/>
              <a:t>The use of uranium dioxide or MOX provides a comfortable power to melt margin</a:t>
            </a:r>
          </a:p>
          <a:p>
            <a:r>
              <a:rPr lang="en-US" sz="2000" dirty="0"/>
              <a:t>The melting temperature decreases slightly with burnup, but remains above 2750C</a:t>
            </a:r>
          </a:p>
          <a:p>
            <a:r>
              <a:rPr lang="en-US" sz="2000" dirty="0"/>
              <a:t>At high burnup, above 50 </a:t>
            </a:r>
            <a:r>
              <a:rPr lang="en-US" sz="2000" dirty="0" err="1"/>
              <a:t>MWd</a:t>
            </a:r>
            <a:r>
              <a:rPr lang="en-US" sz="2000" dirty="0"/>
              <a:t>/</a:t>
            </a:r>
            <a:r>
              <a:rPr lang="en-US" sz="2000" dirty="0" err="1"/>
              <a:t>kgU</a:t>
            </a:r>
            <a:r>
              <a:rPr lang="en-US" sz="2000" dirty="0"/>
              <a:t>, considering the fuel thermal conductivity decrease, the power to melt is estimated to be around 600 W/cm, which is an unrealistic high LHR</a:t>
            </a:r>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spTree>
    <p:extLst>
      <p:ext uri="{BB962C8B-B14F-4D97-AF65-F5344CB8AC3E}">
        <p14:creationId xmlns:p14="http://schemas.microsoft.com/office/powerpoint/2010/main" val="3450252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Fuel rod internal pressure</a:t>
            </a:r>
          </a:p>
          <a:p>
            <a:r>
              <a:rPr lang="en-US" sz="2000" dirty="0"/>
              <a:t>Significant reopening of the radial gap between the fuel stack and the cladding must be avoided to ensure the heat transfer to the coolant</a:t>
            </a:r>
          </a:p>
          <a:p>
            <a:r>
              <a:rPr lang="en-US" sz="2000" dirty="0"/>
              <a:t>If a gap opens, fuel overheating and excessive fission gas release can occur, ultimately leading to fuel failure</a:t>
            </a:r>
          </a:p>
          <a:p>
            <a:r>
              <a:rPr lang="en-US" sz="2000" dirty="0"/>
              <a:t>The original criterion required that the rod inner pressure must never exceed the outer coolant pressure</a:t>
            </a:r>
          </a:p>
          <a:p>
            <a:r>
              <a:rPr lang="en-US" sz="2000" dirty="0"/>
              <a:t>This criterion was over-conservative and has been replaced by a ‘</a:t>
            </a:r>
            <a:r>
              <a:rPr lang="en-US" sz="2000" dirty="0" err="1"/>
              <a:t>nonlift</a:t>
            </a:r>
            <a:r>
              <a:rPr lang="en-US" sz="2000" dirty="0"/>
              <a:t>-off’ criterion, where the radial creep-out of the cladding (driven by gas pressure in excess of the system pressure) must never exceed the expansion rate of the pellet</a:t>
            </a:r>
          </a:p>
          <a:p>
            <a:r>
              <a:rPr lang="en-US" sz="2000" dirty="0"/>
              <a:t>Experiments have shown that a large overpressure of the gas (considerably more than 5.0 MPa) is needed to initiate the reopening</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26</a:t>
            </a:fld>
            <a:endParaRPr lang="en-US"/>
          </a:p>
        </p:txBody>
      </p:sp>
    </p:spTree>
    <p:extLst>
      <p:ext uri="{BB962C8B-B14F-4D97-AF65-F5344CB8AC3E}">
        <p14:creationId xmlns:p14="http://schemas.microsoft.com/office/powerpoint/2010/main" val="1393934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Departure from nucleate boiling</a:t>
            </a:r>
          </a:p>
          <a:p>
            <a:r>
              <a:rPr lang="en-US" sz="2000" dirty="0"/>
              <a:t>With increasing heat flux there comes a point at which the heat transfer from a fuel rod rapidly decreases due to the insulating effect of a steam blanket that forms on the rod surface, resulting in a severe increase of cladding temperature and possibly cladding failure</a:t>
            </a:r>
          </a:p>
          <a:p>
            <a:r>
              <a:rPr lang="en-US" sz="2000" dirty="0"/>
              <a:t>The ratio of the heat flux needed to cause departure from nucleate boiling (DNB) at given local coolant properties (pressure, enthalpy, mass flow rate) to the actual local heat flux of a fuel rod is defined as the DNBR</a:t>
            </a:r>
          </a:p>
          <a:p>
            <a:r>
              <a:rPr lang="en-US" sz="2000" dirty="0"/>
              <a:t>This phenomenon may limit the maximum allowed thermal power of a given PWR</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27</a:t>
            </a:fld>
            <a:endParaRPr lang="en-US"/>
          </a:p>
        </p:txBody>
      </p:sp>
    </p:spTree>
    <p:extLst>
      <p:ext uri="{BB962C8B-B14F-4D97-AF65-F5344CB8AC3E}">
        <p14:creationId xmlns:p14="http://schemas.microsoft.com/office/powerpoint/2010/main" val="3606355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Normal operation limits</a:t>
            </a:r>
          </a:p>
          <a:p>
            <a:r>
              <a:rPr lang="en-US" sz="2000" dirty="0"/>
              <a:t>Constraints on the axial LHR distribution are typically applied at the core design level and during normal operation to guarantee that the conditions are never worse than those assumed in scenarios considered in the accident analyses</a:t>
            </a:r>
          </a:p>
          <a:p>
            <a:r>
              <a:rPr lang="en-US" sz="2000" dirty="0"/>
              <a:t>The maximum allowed LHR may depend on the axial position and on burnup, and can be reactor- and even cycle-specific</a:t>
            </a:r>
          </a:p>
          <a:p>
            <a:r>
              <a:rPr lang="en-US" sz="2000" dirty="0"/>
              <a:t>The fulfilment of the constraint is verified during the reload safety evaluation process as well as during plant operation</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28</a:t>
            </a:fld>
            <a:endParaRPr lang="en-US"/>
          </a:p>
        </p:txBody>
      </p:sp>
    </p:spTree>
    <p:extLst>
      <p:ext uri="{BB962C8B-B14F-4D97-AF65-F5344CB8AC3E}">
        <p14:creationId xmlns:p14="http://schemas.microsoft.com/office/powerpoint/2010/main" val="1774682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73D5-9605-154F-8A18-EF6B277587B3}"/>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6EDA549-36CE-4E41-9022-8F43E83AA88A}"/>
              </a:ext>
            </a:extLst>
          </p:cNvPr>
          <p:cNvSpPr>
            <a:spLocks noGrp="1"/>
          </p:cNvSpPr>
          <p:nvPr>
            <p:ph idx="1"/>
          </p:nvPr>
        </p:nvSpPr>
        <p:spPr/>
        <p:txBody>
          <a:bodyPr/>
          <a:lstStyle/>
          <a:p>
            <a:r>
              <a:rPr lang="en-US" dirty="0"/>
              <a:t>There are a variety of limiting phenomena in LWR fuel systems that provide the boundaries of operation and lifetime</a:t>
            </a:r>
          </a:p>
          <a:p>
            <a:r>
              <a:rPr lang="en-US" dirty="0"/>
              <a:t>These limits include phenomena in the fuel, gap, cladding, corrosion, and assembly levels</a:t>
            </a:r>
          </a:p>
          <a:p>
            <a:r>
              <a:rPr lang="en-US" dirty="0"/>
              <a:t>The performance of uranium dioxide and MOX fuels in LWR nuclear reactors is well established</a:t>
            </a:r>
          </a:p>
          <a:p>
            <a:r>
              <a:rPr lang="en-US" dirty="0"/>
              <a:t>These fuels have demonstrated a very good behavior during irradiation, favored by their high melting temperature, providing large operating temperature margins</a:t>
            </a:r>
          </a:p>
          <a:p>
            <a:endParaRPr lang="en-US" dirty="0"/>
          </a:p>
        </p:txBody>
      </p:sp>
      <p:sp>
        <p:nvSpPr>
          <p:cNvPr id="4" name="Slide Number Placeholder 3">
            <a:extLst>
              <a:ext uri="{FF2B5EF4-FFF2-40B4-BE49-F238E27FC236}">
                <a16:creationId xmlns:a16="http://schemas.microsoft.com/office/drawing/2014/main" id="{2EED1C45-8DE4-B148-8306-CEB5503B2503}"/>
              </a:ext>
            </a:extLst>
          </p:cNvPr>
          <p:cNvSpPr>
            <a:spLocks noGrp="1"/>
          </p:cNvSpPr>
          <p:nvPr>
            <p:ph type="sldNum" sz="quarter" idx="12"/>
          </p:nvPr>
        </p:nvSpPr>
        <p:spPr/>
        <p:txBody>
          <a:bodyPr/>
          <a:lstStyle/>
          <a:p>
            <a:pPr>
              <a:defRPr/>
            </a:pPr>
            <a:fld id="{3FF2C605-4958-CF43-AA48-80339EFDB0AF}" type="slidenum">
              <a:rPr lang="en-US" smtClean="0"/>
              <a:pPr>
                <a:defRPr/>
              </a:pPr>
              <a:t>29</a:t>
            </a:fld>
            <a:endParaRPr lang="en-US"/>
          </a:p>
        </p:txBody>
      </p:sp>
    </p:spTree>
    <p:extLst>
      <p:ext uri="{BB962C8B-B14F-4D97-AF65-F5344CB8AC3E}">
        <p14:creationId xmlns:p14="http://schemas.microsoft.com/office/powerpoint/2010/main" val="1719977142"/>
      </p:ext>
    </p:extLst>
  </p:cSld>
  <p:clrMapOvr>
    <a:masterClrMapping/>
  </p:clrMapOvr>
</p:sld>
</file>

<file path=ppt/theme/theme1.xml><?xml version="1.0" encoding="utf-8"?>
<a:theme xmlns:a="http://schemas.openxmlformats.org/drawingml/2006/main" name="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21889</TotalTime>
  <Words>2052</Words>
  <Application>Microsoft Macintosh PowerPoint</Application>
  <PresentationFormat>Widescreen</PresentationFormat>
  <Paragraphs>201</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NCStateU-horizontal-left-logo</vt:lpstr>
      <vt:lpstr>Nuclear Fuel Performance</vt:lpstr>
      <vt:lpstr>Last time</vt:lpstr>
      <vt:lpstr>Steam Oxidation</vt:lpstr>
      <vt:lpstr>High T Phase Transition</vt:lpstr>
      <vt:lpstr>Hydride Embrittlement</vt:lpstr>
      <vt:lpstr>Fuel oxidation</vt:lpstr>
      <vt:lpstr>Summary</vt:lpstr>
      <vt:lpstr>Accident tolerant fuels</vt:lpstr>
      <vt:lpstr>Mitigation through design</vt:lpstr>
      <vt:lpstr>Accident Tolerant Criteria</vt:lpstr>
      <vt:lpstr>Accident Tolerance</vt:lpstr>
      <vt:lpstr>Categories of ATF Concepts</vt:lpstr>
      <vt:lpstr>Near-term ATF Coatings</vt:lpstr>
      <vt:lpstr>Near-term ATF Coatings</vt:lpstr>
      <vt:lpstr>Near-term ATF Fuel</vt:lpstr>
      <vt:lpstr>Categories of ATF Concepts</vt:lpstr>
      <vt:lpstr>Advanced Cladding Materials</vt:lpstr>
      <vt:lpstr>Summary</vt:lpstr>
      <vt:lpstr>Limiting phenomena</vt:lpstr>
      <vt:lpstr>Limiting Phenomena</vt:lpstr>
      <vt:lpstr>Limiting Phenomena</vt:lpstr>
      <vt:lpstr>Limiting Phenomena</vt:lpstr>
      <vt:lpstr>Limiting Phenomena</vt:lpstr>
      <vt:lpstr>Limiting Phenomena</vt:lpstr>
      <vt:lpstr>Limiting Phenomena</vt:lpstr>
      <vt:lpstr>Limiting Phenomena</vt:lpstr>
      <vt:lpstr>Limiting Phenomena</vt:lpstr>
      <vt:lpstr>Limiting Phenomena</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Fission Products</dc:title>
  <dc:creator>Benjamin Beeler</dc:creator>
  <cp:lastModifiedBy>Benjamin Beeler</cp:lastModifiedBy>
  <cp:revision>165</cp:revision>
  <dcterms:created xsi:type="dcterms:W3CDTF">2020-02-19T20:03:05Z</dcterms:created>
  <dcterms:modified xsi:type="dcterms:W3CDTF">2026-04-16T20:28:46Z</dcterms:modified>
</cp:coreProperties>
</file>
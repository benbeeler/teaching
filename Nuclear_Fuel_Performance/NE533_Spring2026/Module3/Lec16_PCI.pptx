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537" r:id="rId2"/>
    <p:sldId id="601" r:id="rId3"/>
    <p:sldId id="279" r:id="rId4"/>
    <p:sldId id="587" r:id="rId5"/>
    <p:sldId id="575" r:id="rId6"/>
    <p:sldId id="588" r:id="rId7"/>
    <p:sldId id="590" r:id="rId8"/>
    <p:sldId id="591" r:id="rId9"/>
    <p:sldId id="592" r:id="rId10"/>
    <p:sldId id="593" r:id="rId11"/>
    <p:sldId id="594" r:id="rId12"/>
    <p:sldId id="595" r:id="rId13"/>
    <p:sldId id="596" r:id="rId14"/>
    <p:sldId id="597" r:id="rId15"/>
    <p:sldId id="598" r:id="rId16"/>
    <p:sldId id="599" r:id="rId17"/>
    <p:sldId id="60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13"/>
    <p:restoredTop sz="94672"/>
  </p:normalViewPr>
  <p:slideViewPr>
    <p:cSldViewPr snapToGrid="0" snapToObjects="1">
      <p:cViewPr varScale="1">
        <p:scale>
          <a:sx n="128" d="100"/>
          <a:sy n="128" d="100"/>
        </p:scale>
        <p:origin x="57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D6F3A803-A045-354B-887A-01433CE46FC2}" type="datetime1">
              <a:rPr lang="en-US" smtClean="0"/>
              <a:t>3/23/26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2121112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Content Placeholder 2"/>
          <p:cNvSpPr>
            <a:spLocks noGrp="1"/>
          </p:cNvSpPr>
          <p:nvPr>
            <p:ph idx="1"/>
          </p:nvPr>
        </p:nvSpPr>
        <p:spPr>
          <a:xfrm>
            <a:off x="609600" y="2160495"/>
            <a:ext cx="10972800" cy="396567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C5BD04BF-9DC2-6341-92B2-BD109A2EF3B1}" type="datetime1">
              <a:rPr lang="en-US" smtClean="0"/>
              <a:t>3/23/26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127434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FB0FFBC7-3028-644D-986B-D9855CB74B38}" type="datetime1">
              <a:rPr lang="en-US" smtClean="0"/>
              <a:t>3/23/26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1478566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Content Placeholder 2"/>
          <p:cNvSpPr>
            <a:spLocks noGrp="1"/>
          </p:cNvSpPr>
          <p:nvPr>
            <p:ph sz="half" idx="1"/>
          </p:nvPr>
        </p:nvSpPr>
        <p:spPr>
          <a:xfrm>
            <a:off x="609600" y="1968501"/>
            <a:ext cx="5384800" cy="41576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968501"/>
            <a:ext cx="5384800" cy="41576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C3B8AE4-01F5-CC42-9C62-61BC6528368B}" type="datetime1">
              <a:rPr lang="en-US" smtClean="0"/>
              <a:t>3/23/26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4272431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77E49314-4A78-2444-9569-44EB70168344}" type="datetime1">
              <a:rPr lang="en-US" smtClean="0"/>
              <a:t>3/23/26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2655934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Date Placeholder 3"/>
          <p:cNvSpPr>
            <a:spLocks noGrp="1"/>
          </p:cNvSpPr>
          <p:nvPr>
            <p:ph type="dt" sz="half" idx="10"/>
          </p:nvPr>
        </p:nvSpPr>
        <p:spPr/>
        <p:txBody>
          <a:bodyPr/>
          <a:lstStyle>
            <a:lvl1pPr>
              <a:defRPr/>
            </a:lvl1pPr>
          </a:lstStyle>
          <a:p>
            <a:pPr>
              <a:defRPr/>
            </a:pPr>
            <a:fld id="{5BC22837-4683-B242-B000-BCEE30621787}" type="datetime1">
              <a:rPr lang="en-US" smtClean="0"/>
              <a:t>3/23/26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435588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CDAE926-7EF1-0B40-B57E-417D188A609C}" type="datetime1">
              <a:rPr lang="en-US" smtClean="0"/>
              <a:t>3/23/26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2320968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518D107B-B9C7-5B41-A168-55258AB95F52}" type="datetime1">
              <a:rPr lang="en-US" smtClean="0"/>
              <a:t>3/23/26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3829063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3AD92D36-EE82-3142-B011-9831FB5E702F}" type="datetime1">
              <a:rPr lang="en-US" smtClean="0"/>
              <a:t>3/23/26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2035589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A8B33C1D-C2E2-1049-AA3F-CD6E91052752}" type="datetime1">
              <a:rPr lang="en-US" smtClean="0"/>
              <a:t>3/23/26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625712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791AD68-B60C-4542-BDDD-2074DE6DE828}" type="datetime1">
              <a:rPr lang="en-US" smtClean="0"/>
              <a:t>3/23/26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981048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4"/>
            <a:ext cx="10972800" cy="1068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1"/>
            <a:ext cx="10972800" cy="310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3EE08B4B-7256-494F-A90D-3891BD685F4A}" type="datetime1">
              <a:rPr lang="en-US" smtClean="0"/>
              <a:t>3/23/26</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3" name="Picture 2"/>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0" y="0"/>
            <a:ext cx="12192000" cy="457200"/>
          </a:xfrm>
          <a:prstGeom prst="rect">
            <a:avLst/>
          </a:prstGeom>
        </p:spPr>
      </p:pic>
    </p:spTree>
    <p:extLst>
      <p:ext uri="{BB962C8B-B14F-4D97-AF65-F5344CB8AC3E}">
        <p14:creationId xmlns:p14="http://schemas.microsoft.com/office/powerpoint/2010/main" val="27047165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457200" rtl="0" eaLnBrk="1" fontAlgn="base" hangingPunct="1">
        <a:spcBef>
          <a:spcPct val="0"/>
        </a:spcBef>
        <a:spcAft>
          <a:spcPct val="0"/>
        </a:spcAft>
        <a:defRPr sz="3200" b="1" kern="1200">
          <a:solidFill>
            <a:schemeClr val="tx1"/>
          </a:solidFill>
          <a:latin typeface="Arial"/>
          <a:ea typeface="ＭＳ Ｐゴシック" charset="0"/>
          <a:cs typeface="Arial"/>
        </a:defRPr>
      </a:lvl1pPr>
      <a:lvl2pPr algn="ctr" defTabSz="457200" rtl="0" eaLnBrk="1" fontAlgn="base" hangingPunct="1">
        <a:spcBef>
          <a:spcPct val="0"/>
        </a:spcBef>
        <a:spcAft>
          <a:spcPct val="0"/>
        </a:spcAft>
        <a:defRPr sz="3200" b="1">
          <a:solidFill>
            <a:schemeClr val="tx1"/>
          </a:solidFill>
          <a:latin typeface="Arial" charset="0"/>
          <a:ea typeface="ＭＳ Ｐゴシック" charset="0"/>
        </a:defRPr>
      </a:lvl2pPr>
      <a:lvl3pPr algn="ctr" defTabSz="457200" rtl="0" eaLnBrk="1" fontAlgn="base" hangingPunct="1">
        <a:spcBef>
          <a:spcPct val="0"/>
        </a:spcBef>
        <a:spcAft>
          <a:spcPct val="0"/>
        </a:spcAft>
        <a:defRPr sz="3200" b="1">
          <a:solidFill>
            <a:schemeClr val="tx1"/>
          </a:solidFill>
          <a:latin typeface="Arial" charset="0"/>
          <a:ea typeface="ＭＳ Ｐゴシック" charset="0"/>
        </a:defRPr>
      </a:lvl3pPr>
      <a:lvl4pPr algn="ctr" defTabSz="457200" rtl="0" eaLnBrk="1" fontAlgn="base" hangingPunct="1">
        <a:spcBef>
          <a:spcPct val="0"/>
        </a:spcBef>
        <a:spcAft>
          <a:spcPct val="0"/>
        </a:spcAft>
        <a:defRPr sz="3200" b="1">
          <a:solidFill>
            <a:schemeClr val="tx1"/>
          </a:solidFill>
          <a:latin typeface="Arial" charset="0"/>
          <a:ea typeface="ＭＳ Ｐゴシック" charset="0"/>
        </a:defRPr>
      </a:lvl4pPr>
      <a:lvl5pPr algn="ctr" defTabSz="457200" rtl="0" eaLnBrk="1" fontAlgn="base" hangingPunct="1">
        <a:spcBef>
          <a:spcPct val="0"/>
        </a:spcBef>
        <a:spcAft>
          <a:spcPct val="0"/>
        </a:spcAft>
        <a:defRPr sz="3200" b="1">
          <a:solidFill>
            <a:schemeClr val="tx1"/>
          </a:solidFill>
          <a:latin typeface="Arial" charset="0"/>
          <a:ea typeface="ＭＳ Ｐゴシック" charset="0"/>
        </a:defRPr>
      </a:lvl5pPr>
      <a:lvl6pPr marL="457200" algn="ctr" defTabSz="457200" rtl="0" eaLnBrk="1" fontAlgn="base" hangingPunct="1">
        <a:spcBef>
          <a:spcPct val="0"/>
        </a:spcBef>
        <a:spcAft>
          <a:spcPct val="0"/>
        </a:spcAft>
        <a:defRPr sz="3200" b="1">
          <a:solidFill>
            <a:schemeClr val="tx1"/>
          </a:solidFill>
          <a:latin typeface="Arial" charset="0"/>
          <a:ea typeface="ＭＳ Ｐゴシック" charset="0"/>
        </a:defRPr>
      </a:lvl6pPr>
      <a:lvl7pPr marL="914400" algn="ctr" defTabSz="457200" rtl="0" eaLnBrk="1" fontAlgn="base" hangingPunct="1">
        <a:spcBef>
          <a:spcPct val="0"/>
        </a:spcBef>
        <a:spcAft>
          <a:spcPct val="0"/>
        </a:spcAft>
        <a:defRPr sz="3200" b="1">
          <a:solidFill>
            <a:schemeClr val="tx1"/>
          </a:solidFill>
          <a:latin typeface="Arial" charset="0"/>
          <a:ea typeface="ＭＳ Ｐゴシック" charset="0"/>
        </a:defRPr>
      </a:lvl7pPr>
      <a:lvl8pPr marL="1371600" algn="ctr" defTabSz="457200" rtl="0" eaLnBrk="1" fontAlgn="base" hangingPunct="1">
        <a:spcBef>
          <a:spcPct val="0"/>
        </a:spcBef>
        <a:spcAft>
          <a:spcPct val="0"/>
        </a:spcAft>
        <a:defRPr sz="3200" b="1">
          <a:solidFill>
            <a:schemeClr val="tx1"/>
          </a:solidFill>
          <a:latin typeface="Arial" charset="0"/>
          <a:ea typeface="ＭＳ Ｐゴシック" charset="0"/>
        </a:defRPr>
      </a:lvl8pPr>
      <a:lvl9pPr marL="1828800" algn="ctr" defTabSz="457200" rtl="0" eaLnBrk="1" fontAlgn="base" hangingPunct="1">
        <a:spcBef>
          <a:spcPct val="0"/>
        </a:spcBef>
        <a:spcAft>
          <a:spcPct val="0"/>
        </a:spcAft>
        <a:defRPr sz="3200" b="1">
          <a:solidFill>
            <a:schemeClr val="tx1"/>
          </a:solidFill>
          <a:latin typeface="Arial" charset="0"/>
          <a:ea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1pPr>
      <a:lvl2pPr marL="742950" indent="-285750" algn="l" defTabSz="457200"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2pPr>
      <a:lvl3pPr marL="1143000" indent="-228600" algn="l" defTabSz="457200"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1600200" indent="-228600" algn="l" defTabSz="457200" rtl="0" eaLnBrk="1" fontAlgn="base" hangingPunct="1">
        <a:spcBef>
          <a:spcPct val="20000"/>
        </a:spcBef>
        <a:spcAft>
          <a:spcPct val="0"/>
        </a:spcAft>
        <a:buFont typeface="Arial" charset="0"/>
        <a:buChar char="–"/>
        <a:defRPr sz="1400" kern="1200">
          <a:solidFill>
            <a:schemeClr val="tx1"/>
          </a:solidFill>
          <a:latin typeface="Arial"/>
          <a:ea typeface="ＭＳ Ｐゴシック" charset="0"/>
          <a:cs typeface="Arial"/>
        </a:defRPr>
      </a:lvl4pPr>
      <a:lvl5pPr marL="2057400" indent="-228600" algn="l" defTabSz="457200" rtl="0" eaLnBrk="1" fontAlgn="base" hangingPunct="1">
        <a:spcBef>
          <a:spcPct val="20000"/>
        </a:spcBef>
        <a:spcAft>
          <a:spcPct val="0"/>
        </a:spcAft>
        <a:buFont typeface="Arial" charset="0"/>
        <a:buChar char="»"/>
        <a:defRPr sz="1000" kern="1200">
          <a:solidFill>
            <a:schemeClr val="tx1"/>
          </a:solidFill>
          <a:latin typeface="Arial"/>
          <a:ea typeface="ＭＳ Ｐゴシック"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A1AB4-6496-0D46-9C3B-B71641B90165}"/>
              </a:ext>
            </a:extLst>
          </p:cNvPr>
          <p:cNvSpPr>
            <a:spLocks noGrp="1"/>
          </p:cNvSpPr>
          <p:nvPr>
            <p:ph type="ctrTitle"/>
          </p:nvPr>
        </p:nvSpPr>
        <p:spPr/>
        <p:txBody>
          <a:bodyPr/>
          <a:lstStyle/>
          <a:p>
            <a:r>
              <a:rPr lang="en-US" sz="4000" dirty="0"/>
              <a:t>Nuclear Fuel Performance</a:t>
            </a:r>
          </a:p>
        </p:txBody>
      </p:sp>
      <p:sp>
        <p:nvSpPr>
          <p:cNvPr id="3" name="Subtitle 2">
            <a:extLst>
              <a:ext uri="{FF2B5EF4-FFF2-40B4-BE49-F238E27FC236}">
                <a16:creationId xmlns:a16="http://schemas.microsoft.com/office/drawing/2014/main" id="{D4E102A4-1D26-9E41-904A-5C94FEB21AD8}"/>
              </a:ext>
            </a:extLst>
          </p:cNvPr>
          <p:cNvSpPr>
            <a:spLocks noGrp="1"/>
          </p:cNvSpPr>
          <p:nvPr>
            <p:ph type="subTitle" idx="1"/>
          </p:nvPr>
        </p:nvSpPr>
        <p:spPr/>
        <p:txBody>
          <a:bodyPr/>
          <a:lstStyle/>
          <a:p>
            <a:r>
              <a:rPr lang="en-US" dirty="0"/>
              <a:t>NE-533</a:t>
            </a:r>
          </a:p>
          <a:p>
            <a:r>
              <a:rPr lang="en-US" dirty="0"/>
              <a:t>Spring 2026</a:t>
            </a:r>
          </a:p>
        </p:txBody>
      </p:sp>
      <p:sp>
        <p:nvSpPr>
          <p:cNvPr id="4" name="Slide Number Placeholder 3">
            <a:extLst>
              <a:ext uri="{FF2B5EF4-FFF2-40B4-BE49-F238E27FC236}">
                <a16:creationId xmlns:a16="http://schemas.microsoft.com/office/drawing/2014/main" id="{8ED6DA87-5AA8-004F-861E-B1E0BAA302DE}"/>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4177644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DA04E-02D3-D51F-FE02-FF50F346B4ED}"/>
              </a:ext>
            </a:extLst>
          </p:cNvPr>
          <p:cNvSpPr>
            <a:spLocks noGrp="1"/>
          </p:cNvSpPr>
          <p:nvPr>
            <p:ph type="title"/>
          </p:nvPr>
        </p:nvSpPr>
        <p:spPr/>
        <p:txBody>
          <a:bodyPr/>
          <a:lstStyle/>
          <a:p>
            <a:r>
              <a:rPr lang="en-US" dirty="0"/>
              <a:t>Housekeeping</a:t>
            </a:r>
          </a:p>
        </p:txBody>
      </p:sp>
      <p:sp>
        <p:nvSpPr>
          <p:cNvPr id="3" name="Content Placeholder 2">
            <a:extLst>
              <a:ext uri="{FF2B5EF4-FFF2-40B4-BE49-F238E27FC236}">
                <a16:creationId xmlns:a16="http://schemas.microsoft.com/office/drawing/2014/main" id="{83C070DE-222B-4F0C-07E5-06A34293D187}"/>
              </a:ext>
            </a:extLst>
          </p:cNvPr>
          <p:cNvSpPr>
            <a:spLocks noGrp="1"/>
          </p:cNvSpPr>
          <p:nvPr>
            <p:ph idx="1"/>
          </p:nvPr>
        </p:nvSpPr>
        <p:spPr/>
        <p:txBody>
          <a:bodyPr/>
          <a:lstStyle/>
          <a:p>
            <a:r>
              <a:rPr lang="en-US" dirty="0"/>
              <a:t>Exam 2 graded</a:t>
            </a:r>
          </a:p>
          <a:p>
            <a:pPr lvl="1"/>
            <a:r>
              <a:rPr lang="en-US" dirty="0"/>
              <a:t>average: 85.5</a:t>
            </a:r>
          </a:p>
          <a:p>
            <a:pPr lvl="1"/>
            <a:r>
              <a:rPr lang="en-US" dirty="0" err="1"/>
              <a:t>stdev</a:t>
            </a:r>
            <a:r>
              <a:rPr lang="en-US" dirty="0"/>
              <a:t>: 18</a:t>
            </a:r>
          </a:p>
          <a:p>
            <a:r>
              <a:rPr lang="en-US" dirty="0"/>
              <a:t>5-point curve</a:t>
            </a:r>
          </a:p>
          <a:p>
            <a:endParaRPr lang="en-US" dirty="0"/>
          </a:p>
          <a:p>
            <a:r>
              <a:rPr lang="en-US" dirty="0"/>
              <a:t>MOOSE feedback will be out by the end of the week</a:t>
            </a:r>
          </a:p>
          <a:p>
            <a:endParaRPr lang="en-US" dirty="0"/>
          </a:p>
        </p:txBody>
      </p:sp>
      <p:sp>
        <p:nvSpPr>
          <p:cNvPr id="4" name="Slide Number Placeholder 3">
            <a:extLst>
              <a:ext uri="{FF2B5EF4-FFF2-40B4-BE49-F238E27FC236}">
                <a16:creationId xmlns:a16="http://schemas.microsoft.com/office/drawing/2014/main" id="{A523958B-E43F-F352-CE89-335692605B0D}"/>
              </a:ext>
            </a:extLst>
          </p:cNvPr>
          <p:cNvSpPr>
            <a:spLocks noGrp="1"/>
          </p:cNvSpPr>
          <p:nvPr>
            <p:ph type="sldNum" sz="quarter" idx="12"/>
          </p:nvPr>
        </p:nvSpPr>
        <p:spPr/>
        <p:txBody>
          <a:bodyPr/>
          <a:lstStyle/>
          <a:p>
            <a:pPr>
              <a:defRPr/>
            </a:pPr>
            <a:fld id="{3FF2C605-4958-CF43-AA48-80339EFDB0AF}" type="slidenum">
              <a:rPr lang="en-US" smtClean="0"/>
              <a:pPr>
                <a:defRPr/>
              </a:pPr>
              <a:t>2</a:t>
            </a:fld>
            <a:endParaRPr lang="en-US"/>
          </a:p>
        </p:txBody>
      </p:sp>
    </p:spTree>
    <p:extLst>
      <p:ext uri="{BB962C8B-B14F-4D97-AF65-F5344CB8AC3E}">
        <p14:creationId xmlns:p14="http://schemas.microsoft.com/office/powerpoint/2010/main" val="1381515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26517-7A8C-6D44-8A80-103F9AD20C90}"/>
              </a:ext>
            </a:extLst>
          </p:cNvPr>
          <p:cNvSpPr>
            <a:spLocks noGrp="1"/>
          </p:cNvSpPr>
          <p:nvPr>
            <p:ph type="title"/>
          </p:nvPr>
        </p:nvSpPr>
        <p:spPr/>
        <p:txBody>
          <a:bodyPr/>
          <a:lstStyle/>
          <a:p>
            <a:pPr algn="l"/>
            <a:r>
              <a:rPr lang="en-US" dirty="0"/>
              <a:t>MOOSE Project Part 2</a:t>
            </a:r>
          </a:p>
        </p:txBody>
      </p:sp>
      <p:sp>
        <p:nvSpPr>
          <p:cNvPr id="4" name="Slide Number Placeholder 3">
            <a:extLst>
              <a:ext uri="{FF2B5EF4-FFF2-40B4-BE49-F238E27FC236}">
                <a16:creationId xmlns:a16="http://schemas.microsoft.com/office/drawing/2014/main" id="{8AF4B4B8-A41F-4142-861A-4CEFCF7BBA6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grpSp>
        <p:nvGrpSpPr>
          <p:cNvPr id="3" name="Group 2">
            <a:extLst>
              <a:ext uri="{FF2B5EF4-FFF2-40B4-BE49-F238E27FC236}">
                <a16:creationId xmlns:a16="http://schemas.microsoft.com/office/drawing/2014/main" id="{DD68B926-310D-134B-9DB8-1679F014C89C}"/>
              </a:ext>
            </a:extLst>
          </p:cNvPr>
          <p:cNvGrpSpPr/>
          <p:nvPr/>
        </p:nvGrpSpPr>
        <p:grpSpPr>
          <a:xfrm>
            <a:off x="9117106" y="900114"/>
            <a:ext cx="2008094" cy="5729286"/>
            <a:chOff x="6651811" y="2122956"/>
            <a:chExt cx="4473388" cy="4078940"/>
          </a:xfrm>
        </p:grpSpPr>
        <p:sp>
          <p:nvSpPr>
            <p:cNvPr id="5" name="Rectangle 4">
              <a:extLst>
                <a:ext uri="{FF2B5EF4-FFF2-40B4-BE49-F238E27FC236}">
                  <a16:creationId xmlns:a16="http://schemas.microsoft.com/office/drawing/2014/main" id="{6A14A53C-B601-344D-BB6C-C144C19C902A}"/>
                </a:ext>
              </a:extLst>
            </p:cNvPr>
            <p:cNvSpPr/>
            <p:nvPr/>
          </p:nvSpPr>
          <p:spPr>
            <a:xfrm>
              <a:off x="6651811" y="2122956"/>
              <a:ext cx="2877672" cy="4078940"/>
            </a:xfrm>
            <a:prstGeom prst="rect">
              <a:avLst/>
            </a:prstGeom>
            <a:solidFill>
              <a:schemeClr val="accent1"/>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B24263C4-2011-2F4C-9640-AC5B4D2FFF98}"/>
                </a:ext>
              </a:extLst>
            </p:cNvPr>
            <p:cNvSpPr/>
            <p:nvPr/>
          </p:nvSpPr>
          <p:spPr>
            <a:xfrm>
              <a:off x="9529483" y="2122956"/>
              <a:ext cx="797858" cy="4078940"/>
            </a:xfrm>
            <a:prstGeom prst="rect">
              <a:avLst/>
            </a:prstGeom>
            <a:solidFill>
              <a:srgbClr val="FFC000"/>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6E1977BC-41AE-5748-982F-B0B0A7CF4573}"/>
                </a:ext>
              </a:extLst>
            </p:cNvPr>
            <p:cNvSpPr/>
            <p:nvPr/>
          </p:nvSpPr>
          <p:spPr>
            <a:xfrm>
              <a:off x="10327341" y="2122956"/>
              <a:ext cx="797858" cy="4078940"/>
            </a:xfrm>
            <a:prstGeom prst="rect">
              <a:avLst/>
            </a:prstGeom>
            <a:solidFill>
              <a:srgbClr val="92D050"/>
            </a:solidFill>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cxnSp>
        <p:nvCxnSpPr>
          <p:cNvPr id="9" name="Straight Arrow Connector 8">
            <a:extLst>
              <a:ext uri="{FF2B5EF4-FFF2-40B4-BE49-F238E27FC236}">
                <a16:creationId xmlns:a16="http://schemas.microsoft.com/office/drawing/2014/main" id="{B4CE7341-0281-C44A-9030-313AEB440CB7}"/>
              </a:ext>
            </a:extLst>
          </p:cNvPr>
          <p:cNvCxnSpPr>
            <a:cxnSpLocks/>
          </p:cNvCxnSpPr>
          <p:nvPr/>
        </p:nvCxnSpPr>
        <p:spPr>
          <a:xfrm>
            <a:off x="9085730" y="775550"/>
            <a:ext cx="1323157"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591A5C7E-91BA-4440-B271-E3AF08120135}"/>
              </a:ext>
            </a:extLst>
          </p:cNvPr>
          <p:cNvCxnSpPr>
            <a:cxnSpLocks/>
          </p:cNvCxnSpPr>
          <p:nvPr/>
        </p:nvCxnSpPr>
        <p:spPr>
          <a:xfrm>
            <a:off x="10408887" y="787825"/>
            <a:ext cx="34698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E7AD19DE-FBC8-8A45-B373-70FA74B6224B}"/>
              </a:ext>
            </a:extLst>
          </p:cNvPr>
          <p:cNvCxnSpPr>
            <a:cxnSpLocks/>
          </p:cNvCxnSpPr>
          <p:nvPr/>
        </p:nvCxnSpPr>
        <p:spPr>
          <a:xfrm>
            <a:off x="10784542" y="787825"/>
            <a:ext cx="355031"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B8F40A3F-E5AC-AA42-BFC3-19A6A409A2EB}"/>
              </a:ext>
            </a:extLst>
          </p:cNvPr>
          <p:cNvCxnSpPr>
            <a:cxnSpLocks/>
          </p:cNvCxnSpPr>
          <p:nvPr/>
        </p:nvCxnSpPr>
        <p:spPr>
          <a:xfrm flipV="1">
            <a:off x="8951500" y="900114"/>
            <a:ext cx="0" cy="5729286"/>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7FC4C34D-9F6B-3A44-A4E8-FDD2910214C5}"/>
              </a:ext>
            </a:extLst>
          </p:cNvPr>
          <p:cNvSpPr txBox="1"/>
          <p:nvPr/>
        </p:nvSpPr>
        <p:spPr>
          <a:xfrm>
            <a:off x="667872" y="1968501"/>
            <a:ext cx="7726433" cy="4247317"/>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Fuel pin dimensions listed – 2D RZ</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Assume reasonable values for thermal conductivities, T dependent</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Utilize axial </a:t>
            </a:r>
            <a:r>
              <a:rPr kumimoji="0" lang="en-US" sz="2400" b="0" i="0" u="none" strike="noStrike" kern="1200" cap="none" spc="0" normalizeH="0" baseline="0" noProof="0" dirty="0" err="1">
                <a:ln>
                  <a:noFill/>
                </a:ln>
                <a:solidFill>
                  <a:prstClr val="black"/>
                </a:solidFill>
                <a:effectLst/>
                <a:uLnTx/>
                <a:uFillTx/>
                <a:latin typeface="Arial" panose="020B0604020202020204" pitchFamily="34" charset="0"/>
                <a:cs typeface="Arial" panose="020B0604020202020204" pitchFamily="34" charset="0"/>
              </a:rPr>
              <a:t>T</a:t>
            </a:r>
            <a:r>
              <a:rPr kumimoji="0" lang="en-US" sz="2400" b="0" i="0" u="none" strike="noStrike" kern="1200" cap="none" spc="0" normalizeH="0" baseline="-25000" noProof="0" dirty="0" err="1">
                <a:ln>
                  <a:noFill/>
                </a:ln>
                <a:solidFill>
                  <a:prstClr val="black"/>
                </a:solidFill>
                <a:effectLst/>
                <a:uLnTx/>
                <a:uFillTx/>
                <a:latin typeface="Arial" panose="020B0604020202020204" pitchFamily="34" charset="0"/>
                <a:cs typeface="Arial" panose="020B0604020202020204" pitchFamily="34" charset="0"/>
              </a:rPr>
              <a:t>cool</a:t>
            </a:r>
            <a:r>
              <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with </a:t>
            </a:r>
            <a:r>
              <a:rPr kumimoji="0" lang="en-US" sz="2400" b="0" i="0" u="none" strike="noStrike" kern="1200" cap="none" spc="0" normalizeH="0" baseline="0" noProof="0" dirty="0" err="1">
                <a:ln>
                  <a:noFill/>
                </a:ln>
                <a:solidFill>
                  <a:prstClr val="black"/>
                </a:solidFill>
                <a:effectLst/>
                <a:uLnTx/>
                <a:uFillTx/>
                <a:latin typeface="Arial" panose="020B0604020202020204" pitchFamily="34" charset="0"/>
                <a:cs typeface="Arial" panose="020B0604020202020204" pitchFamily="34" charset="0"/>
              </a:rPr>
              <a:t>T</a:t>
            </a:r>
            <a:r>
              <a:rPr kumimoji="0" lang="en-US" sz="2400" b="0" i="0" u="none" strike="noStrike" kern="1200" cap="none" spc="0" normalizeH="0" baseline="-25000" noProof="0" dirty="0" err="1">
                <a:ln>
                  <a:noFill/>
                </a:ln>
                <a:solidFill>
                  <a:prstClr val="black"/>
                </a:solidFill>
                <a:effectLst/>
                <a:uLnTx/>
                <a:uFillTx/>
                <a:latin typeface="Arial" panose="020B0604020202020204" pitchFamily="34" charset="0"/>
                <a:cs typeface="Arial" panose="020B0604020202020204" pitchFamily="34" charset="0"/>
              </a:rPr>
              <a:t>cool</a:t>
            </a:r>
            <a:r>
              <a:rPr kumimoji="0" lang="en-US" sz="2400" b="0" i="0" u="none" strike="noStrike" kern="1200" cap="none" spc="0" normalizeH="0" baseline="30000" noProof="0" dirty="0" err="1">
                <a:ln>
                  <a:noFill/>
                </a:ln>
                <a:solidFill>
                  <a:prstClr val="black"/>
                </a:solidFill>
                <a:effectLst/>
                <a:uLnTx/>
                <a:uFillTx/>
                <a:latin typeface="Arial" panose="020B0604020202020204" pitchFamily="34" charset="0"/>
                <a:cs typeface="Arial" panose="020B0604020202020204" pitchFamily="34" charset="0"/>
              </a:rPr>
              <a:t>in</a:t>
            </a:r>
            <a:r>
              <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500 K, reasonable flow rate, heat capacity, etc.</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Utilize axial LHR, with LHR</a:t>
            </a:r>
            <a:r>
              <a:rPr kumimoji="0" lang="en-US" sz="2400" b="0" i="0" u="none" strike="noStrike" kern="1200" cap="none" spc="0" normalizeH="0" baseline="30000" noProof="0" dirty="0">
                <a:ln>
                  <a:noFill/>
                </a:ln>
                <a:solidFill>
                  <a:prstClr val="black"/>
                </a:solidFill>
                <a:effectLst/>
                <a:uLnTx/>
                <a:uFillTx/>
                <a:latin typeface="Arial" panose="020B0604020202020204" pitchFamily="34" charset="0"/>
                <a:cs typeface="Arial" panose="020B0604020202020204" pitchFamily="34" charset="0"/>
              </a:rPr>
              <a:t>0</a:t>
            </a:r>
            <a:r>
              <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=350 W/cm</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Solve temperature profile for cladding surface, fuel surface, fuel centerline</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Find axial location of peak temperatures</a:t>
            </a:r>
          </a:p>
          <a:p>
            <a:pPr marL="285750" marR="0" lvl="0" indent="-28575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lang="en-US" sz="2400" dirty="0">
                <a:solidFill>
                  <a:prstClr val="black"/>
                </a:solidFill>
                <a:latin typeface="Arial" panose="020B0604020202020204" pitchFamily="34" charset="0"/>
                <a:cs typeface="Arial" panose="020B0604020202020204" pitchFamily="34" charset="0"/>
              </a:rPr>
              <a:t>Make sure you are instituting an appropriate mesh!</a:t>
            </a:r>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BF1AC033-6409-0C4A-AA93-30785D045B24}"/>
              </a:ext>
            </a:extLst>
          </p:cNvPr>
          <p:cNvSpPr txBox="1"/>
          <p:nvPr/>
        </p:nvSpPr>
        <p:spPr>
          <a:xfrm>
            <a:off x="8947425" y="3793094"/>
            <a:ext cx="164054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Fuel</a:t>
            </a:r>
          </a:p>
        </p:txBody>
      </p:sp>
      <p:sp>
        <p:nvSpPr>
          <p:cNvPr id="18" name="TextBox 17">
            <a:extLst>
              <a:ext uri="{FF2B5EF4-FFF2-40B4-BE49-F238E27FC236}">
                <a16:creationId xmlns:a16="http://schemas.microsoft.com/office/drawing/2014/main" id="{140AB814-5772-5A48-AA51-C140D737CD00}"/>
              </a:ext>
            </a:extLst>
          </p:cNvPr>
          <p:cNvSpPr txBox="1"/>
          <p:nvPr/>
        </p:nvSpPr>
        <p:spPr>
          <a:xfrm rot="16200000">
            <a:off x="9721334" y="3852362"/>
            <a:ext cx="164054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Gap</a:t>
            </a:r>
          </a:p>
        </p:txBody>
      </p:sp>
      <p:sp>
        <p:nvSpPr>
          <p:cNvPr id="19" name="TextBox 18">
            <a:extLst>
              <a:ext uri="{FF2B5EF4-FFF2-40B4-BE49-F238E27FC236}">
                <a16:creationId xmlns:a16="http://schemas.microsoft.com/office/drawing/2014/main" id="{5120E950-52CE-184A-96FC-2D43E51B266F}"/>
              </a:ext>
            </a:extLst>
          </p:cNvPr>
          <p:cNvSpPr txBox="1"/>
          <p:nvPr/>
        </p:nvSpPr>
        <p:spPr>
          <a:xfrm rot="16200000">
            <a:off x="10134637" y="3893485"/>
            <a:ext cx="164054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Cladding</a:t>
            </a:r>
          </a:p>
        </p:txBody>
      </p:sp>
      <p:sp>
        <p:nvSpPr>
          <p:cNvPr id="20" name="TextBox 19">
            <a:extLst>
              <a:ext uri="{FF2B5EF4-FFF2-40B4-BE49-F238E27FC236}">
                <a16:creationId xmlns:a16="http://schemas.microsoft.com/office/drawing/2014/main" id="{500D7D2B-ACB3-E84C-8015-B6D0EFA467D3}"/>
              </a:ext>
            </a:extLst>
          </p:cNvPr>
          <p:cNvSpPr txBox="1"/>
          <p:nvPr/>
        </p:nvSpPr>
        <p:spPr>
          <a:xfrm>
            <a:off x="8957514" y="451111"/>
            <a:ext cx="164054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0.5 cm</a:t>
            </a:r>
          </a:p>
        </p:txBody>
      </p:sp>
      <p:sp>
        <p:nvSpPr>
          <p:cNvPr id="21" name="TextBox 20">
            <a:extLst>
              <a:ext uri="{FF2B5EF4-FFF2-40B4-BE49-F238E27FC236}">
                <a16:creationId xmlns:a16="http://schemas.microsoft.com/office/drawing/2014/main" id="{B5933A57-5260-6845-8485-AD035242A637}"/>
              </a:ext>
            </a:extLst>
          </p:cNvPr>
          <p:cNvSpPr txBox="1"/>
          <p:nvPr/>
        </p:nvSpPr>
        <p:spPr>
          <a:xfrm>
            <a:off x="9906000" y="841494"/>
            <a:ext cx="164054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0.005 cm</a:t>
            </a:r>
          </a:p>
        </p:txBody>
      </p:sp>
      <p:sp>
        <p:nvSpPr>
          <p:cNvPr id="22" name="TextBox 21">
            <a:extLst>
              <a:ext uri="{FF2B5EF4-FFF2-40B4-BE49-F238E27FC236}">
                <a16:creationId xmlns:a16="http://schemas.microsoft.com/office/drawing/2014/main" id="{94BB60B0-6BC9-B948-BD66-42B123FD7F61}"/>
              </a:ext>
            </a:extLst>
          </p:cNvPr>
          <p:cNvSpPr txBox="1"/>
          <p:nvPr/>
        </p:nvSpPr>
        <p:spPr>
          <a:xfrm>
            <a:off x="10304310" y="426465"/>
            <a:ext cx="164054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0.1 cm</a:t>
            </a:r>
          </a:p>
        </p:txBody>
      </p:sp>
      <p:sp>
        <p:nvSpPr>
          <p:cNvPr id="23" name="TextBox 22">
            <a:extLst>
              <a:ext uri="{FF2B5EF4-FFF2-40B4-BE49-F238E27FC236}">
                <a16:creationId xmlns:a16="http://schemas.microsoft.com/office/drawing/2014/main" id="{9585D5CD-26F8-1C40-B55C-D9B4F132CE15}"/>
              </a:ext>
            </a:extLst>
          </p:cNvPr>
          <p:cNvSpPr txBox="1"/>
          <p:nvPr/>
        </p:nvSpPr>
        <p:spPr>
          <a:xfrm rot="16200000">
            <a:off x="7761900" y="3608428"/>
            <a:ext cx="164054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2 m</a:t>
            </a:r>
          </a:p>
        </p:txBody>
      </p:sp>
    </p:spTree>
    <p:extLst>
      <p:ext uri="{BB962C8B-B14F-4D97-AF65-F5344CB8AC3E}">
        <p14:creationId xmlns:p14="http://schemas.microsoft.com/office/powerpoint/2010/main" val="2003456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8B12A-16A3-771C-F41C-DBC0A5159B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EE8955-F140-772A-3299-79D2581D79AD}"/>
              </a:ext>
            </a:extLst>
          </p:cNvPr>
          <p:cNvSpPr>
            <a:spLocks noGrp="1"/>
          </p:cNvSpPr>
          <p:nvPr>
            <p:ph type="title"/>
          </p:nvPr>
        </p:nvSpPr>
        <p:spPr/>
        <p:txBody>
          <a:bodyPr/>
          <a:lstStyle/>
          <a:p>
            <a:pPr algn="l"/>
            <a:r>
              <a:rPr lang="en-US" dirty="0"/>
              <a:t>MOOSE Part 2 Writeup</a:t>
            </a:r>
          </a:p>
        </p:txBody>
      </p:sp>
      <p:sp>
        <p:nvSpPr>
          <p:cNvPr id="3" name="Content Placeholder 2">
            <a:extLst>
              <a:ext uri="{FF2B5EF4-FFF2-40B4-BE49-F238E27FC236}">
                <a16:creationId xmlns:a16="http://schemas.microsoft.com/office/drawing/2014/main" id="{F3FB7502-5F80-05D6-0320-653A9DFC19C0}"/>
              </a:ext>
            </a:extLst>
          </p:cNvPr>
          <p:cNvSpPr>
            <a:spLocks noGrp="1"/>
          </p:cNvSpPr>
          <p:nvPr>
            <p:ph idx="1"/>
          </p:nvPr>
        </p:nvSpPr>
        <p:spPr/>
        <p:txBody>
          <a:bodyPr/>
          <a:lstStyle/>
          <a:p>
            <a:pPr>
              <a:spcBef>
                <a:spcPts val="600"/>
              </a:spcBef>
            </a:pPr>
            <a:r>
              <a:rPr lang="en-US" dirty="0"/>
              <a:t>Will upload input and output files to Moodle</a:t>
            </a:r>
          </a:p>
          <a:p>
            <a:r>
              <a:rPr lang="en-US" dirty="0"/>
              <a:t>Write up with deliverables from Part 1 &amp; 2, choice of materials, mesh, details therein, etc. </a:t>
            </a:r>
          </a:p>
          <a:p>
            <a:r>
              <a:rPr lang="en-US" dirty="0"/>
              <a:t>Expected to have fixed any issues with Part 1 </a:t>
            </a:r>
          </a:p>
          <a:p>
            <a:r>
              <a:rPr lang="en-US" dirty="0"/>
              <a:t>If any major changes to Part 1 files, include them in submission</a:t>
            </a:r>
          </a:p>
          <a:p>
            <a:r>
              <a:rPr lang="en-US" dirty="0"/>
              <a:t>Part 2 writeup max of 10 pages</a:t>
            </a:r>
          </a:p>
          <a:p>
            <a:r>
              <a:rPr lang="en-US" dirty="0"/>
              <a:t>Due April 7</a:t>
            </a:r>
          </a:p>
          <a:p>
            <a:endParaRPr lang="en-US" dirty="0"/>
          </a:p>
        </p:txBody>
      </p:sp>
      <p:sp>
        <p:nvSpPr>
          <p:cNvPr id="4" name="Slide Number Placeholder 3">
            <a:extLst>
              <a:ext uri="{FF2B5EF4-FFF2-40B4-BE49-F238E27FC236}">
                <a16:creationId xmlns:a16="http://schemas.microsoft.com/office/drawing/2014/main" id="{BBEC51AF-A167-6717-3A24-771809C695D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452201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669C3-7586-8D5D-5213-3EAA1F236DA8}"/>
              </a:ext>
            </a:extLst>
          </p:cNvPr>
          <p:cNvSpPr>
            <a:spLocks noGrp="1"/>
          </p:cNvSpPr>
          <p:nvPr>
            <p:ph type="title"/>
          </p:nvPr>
        </p:nvSpPr>
        <p:spPr>
          <a:xfrm>
            <a:off x="609600" y="538865"/>
            <a:ext cx="10972800" cy="1068387"/>
          </a:xfrm>
        </p:spPr>
        <p:txBody>
          <a:bodyPr/>
          <a:lstStyle/>
          <a:p>
            <a:r>
              <a:rPr lang="en-US" dirty="0"/>
              <a:t>Last Time</a:t>
            </a:r>
          </a:p>
        </p:txBody>
      </p:sp>
      <p:sp>
        <p:nvSpPr>
          <p:cNvPr id="3" name="Content Placeholder 2">
            <a:extLst>
              <a:ext uri="{FF2B5EF4-FFF2-40B4-BE49-F238E27FC236}">
                <a16:creationId xmlns:a16="http://schemas.microsoft.com/office/drawing/2014/main" id="{89B496EA-2615-5D83-73E6-1093C95A8AF1}"/>
              </a:ext>
            </a:extLst>
          </p:cNvPr>
          <p:cNvSpPr>
            <a:spLocks noGrp="1"/>
          </p:cNvSpPr>
          <p:nvPr>
            <p:ph idx="1"/>
          </p:nvPr>
        </p:nvSpPr>
        <p:spPr>
          <a:xfrm>
            <a:off x="609600" y="1607252"/>
            <a:ext cx="10972800" cy="4226813"/>
          </a:xfrm>
        </p:spPr>
        <p:txBody>
          <a:bodyPr/>
          <a:lstStyle/>
          <a:p>
            <a:r>
              <a:rPr lang="en-US" sz="1800" dirty="0"/>
              <a:t>Wrapped up Zr cladding overview</a:t>
            </a:r>
          </a:p>
          <a:p>
            <a:pPr lvl="1"/>
            <a:r>
              <a:rPr lang="en-US" sz="1800" dirty="0"/>
              <a:t>Zr hydrides can form and lead to dimensional change; Zr alloys undergo substantial irradiation hardening; Dislocation channels can extend the ductility of the cladding; Discussed Zr fatigue</a:t>
            </a:r>
          </a:p>
          <a:p>
            <a:r>
              <a:rPr lang="en-US" sz="1800" dirty="0"/>
              <a:t>Pellet cladding interaction (PCI)</a:t>
            </a:r>
          </a:p>
          <a:p>
            <a:pPr lvl="1"/>
            <a:r>
              <a:rPr lang="en-US" sz="1800" dirty="0"/>
              <a:t>Mechanical, chemical, and combined effects</a:t>
            </a:r>
          </a:p>
          <a:p>
            <a:pPr lvl="1"/>
            <a:r>
              <a:rPr lang="en-US" sz="1800" dirty="0"/>
              <a:t>Stress corrosion cracking: cracks only develop with both stress and the corrosive environment </a:t>
            </a:r>
          </a:p>
          <a:p>
            <a:pPr lvl="2"/>
            <a:r>
              <a:rPr lang="en-US" dirty="0"/>
              <a:t>corrosive environment, a susceptible material, sufficient stress, and sufficient time</a:t>
            </a:r>
          </a:p>
          <a:p>
            <a:r>
              <a:rPr lang="en-US" sz="1800" dirty="0"/>
              <a:t>Corrosive environment</a:t>
            </a:r>
          </a:p>
          <a:p>
            <a:pPr lvl="1"/>
            <a:r>
              <a:rPr lang="en-US" sz="1800" dirty="0"/>
              <a:t>iodine liberated from </a:t>
            </a:r>
            <a:r>
              <a:rPr lang="en-US" sz="1800" dirty="0" err="1"/>
              <a:t>CsI</a:t>
            </a:r>
            <a:r>
              <a:rPr lang="en-US" sz="1800" dirty="0"/>
              <a:t> interacts with Zr metal, forms ZrI4, then interacts with O2, forms ZrO2, releases I2 for more corrosion</a:t>
            </a:r>
          </a:p>
          <a:p>
            <a:r>
              <a:rPr lang="en-US" sz="1800" dirty="0"/>
              <a:t>Susceptible materials</a:t>
            </a:r>
          </a:p>
          <a:p>
            <a:pPr lvl="1"/>
            <a:r>
              <a:rPr lang="en-US" sz="1800" dirty="0"/>
              <a:t>all Zr alloys are susceptible, alloying can modify this slightly</a:t>
            </a:r>
          </a:p>
          <a:p>
            <a:r>
              <a:rPr lang="en-US" sz="1800" dirty="0"/>
              <a:t>Sufficient Stress</a:t>
            </a:r>
          </a:p>
          <a:p>
            <a:pPr lvl="1"/>
            <a:r>
              <a:rPr lang="en-US" sz="1800" dirty="0"/>
              <a:t>creep down, fuel </a:t>
            </a:r>
            <a:r>
              <a:rPr lang="en-US" sz="1800" dirty="0" err="1"/>
              <a:t>expansion+swelling</a:t>
            </a:r>
            <a:r>
              <a:rPr lang="en-US" sz="1800" dirty="0"/>
              <a:t>, cracks and defects, etc.</a:t>
            </a:r>
          </a:p>
          <a:p>
            <a:pPr lvl="1"/>
            <a:endParaRPr lang="en-US" sz="1800" dirty="0"/>
          </a:p>
          <a:p>
            <a:endParaRPr lang="en-US" sz="1800" dirty="0"/>
          </a:p>
        </p:txBody>
      </p:sp>
      <p:sp>
        <p:nvSpPr>
          <p:cNvPr id="4" name="Slide Number Placeholder 3">
            <a:extLst>
              <a:ext uri="{FF2B5EF4-FFF2-40B4-BE49-F238E27FC236}">
                <a16:creationId xmlns:a16="http://schemas.microsoft.com/office/drawing/2014/main" id="{3B8FB79D-3C0F-B3AC-A960-0918542F0779}"/>
              </a:ext>
            </a:extLst>
          </p:cNvPr>
          <p:cNvSpPr>
            <a:spLocks noGrp="1"/>
          </p:cNvSpPr>
          <p:nvPr>
            <p:ph type="sldNum" sz="quarter" idx="12"/>
          </p:nvPr>
        </p:nvSpPr>
        <p:spPr/>
        <p:txBody>
          <a:bodyPr/>
          <a:lstStyle/>
          <a:p>
            <a:pPr>
              <a:defRPr/>
            </a:pPr>
            <a:fld id="{3FF2C605-4958-CF43-AA48-80339EFDB0AF}" type="slidenum">
              <a:rPr lang="en-US" smtClean="0"/>
              <a:pPr>
                <a:defRPr/>
              </a:pPr>
              <a:t>5</a:t>
            </a:fld>
            <a:endParaRPr lang="en-US"/>
          </a:p>
        </p:txBody>
      </p:sp>
    </p:spTree>
    <p:extLst>
      <p:ext uri="{BB962C8B-B14F-4D97-AF65-F5344CB8AC3E}">
        <p14:creationId xmlns:p14="http://schemas.microsoft.com/office/powerpoint/2010/main" val="96840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1810E-872A-8442-A155-D866A12AA58F}"/>
              </a:ext>
            </a:extLst>
          </p:cNvPr>
          <p:cNvSpPr>
            <a:spLocks noGrp="1"/>
          </p:cNvSpPr>
          <p:nvPr>
            <p:ph type="title"/>
          </p:nvPr>
        </p:nvSpPr>
        <p:spPr>
          <a:xfrm>
            <a:off x="609600" y="601490"/>
            <a:ext cx="10972800" cy="1068387"/>
          </a:xfrm>
        </p:spPr>
        <p:txBody>
          <a:bodyPr/>
          <a:lstStyle/>
          <a:p>
            <a:r>
              <a:rPr lang="en-US" dirty="0"/>
              <a:t>Rim/HBS Region</a:t>
            </a:r>
          </a:p>
        </p:txBody>
      </p:sp>
      <p:sp>
        <p:nvSpPr>
          <p:cNvPr id="3" name="Content Placeholder 2">
            <a:extLst>
              <a:ext uri="{FF2B5EF4-FFF2-40B4-BE49-F238E27FC236}">
                <a16:creationId xmlns:a16="http://schemas.microsoft.com/office/drawing/2014/main" id="{54966A64-C35B-EB44-9E7E-612E7FC54E1C}"/>
              </a:ext>
            </a:extLst>
          </p:cNvPr>
          <p:cNvSpPr>
            <a:spLocks noGrp="1"/>
          </p:cNvSpPr>
          <p:nvPr>
            <p:ph idx="1"/>
          </p:nvPr>
        </p:nvSpPr>
        <p:spPr>
          <a:xfrm>
            <a:off x="609600" y="2160495"/>
            <a:ext cx="5661991" cy="3965670"/>
          </a:xfrm>
        </p:spPr>
        <p:txBody>
          <a:bodyPr/>
          <a:lstStyle/>
          <a:p>
            <a:r>
              <a:rPr lang="en-US" sz="2000" dirty="0"/>
              <a:t>The HBS region has a much higher porosity (up to 30% locally) than the bulk of the fuel, which affects the mechanical properties</a:t>
            </a:r>
          </a:p>
          <a:p>
            <a:r>
              <a:rPr lang="en-US" sz="2000" dirty="0"/>
              <a:t>Microhardness measurements show a reciprocal trend of the strength with porosity</a:t>
            </a:r>
          </a:p>
          <a:p>
            <a:r>
              <a:rPr lang="en-US" sz="2000" dirty="0"/>
              <a:t>The softening of the fuel surface might be beneficial in reducing mechanical stresses imposed by the fuel on the cladding at the point of contact</a:t>
            </a:r>
          </a:p>
          <a:p>
            <a:endParaRPr lang="en-US" sz="2000" dirty="0"/>
          </a:p>
        </p:txBody>
      </p:sp>
      <p:sp>
        <p:nvSpPr>
          <p:cNvPr id="4" name="Slide Number Placeholder 3">
            <a:extLst>
              <a:ext uri="{FF2B5EF4-FFF2-40B4-BE49-F238E27FC236}">
                <a16:creationId xmlns:a16="http://schemas.microsoft.com/office/drawing/2014/main" id="{8FE7966F-5105-6146-B368-3408D6660A17}"/>
              </a:ext>
            </a:extLst>
          </p:cNvPr>
          <p:cNvSpPr>
            <a:spLocks noGrp="1"/>
          </p:cNvSpPr>
          <p:nvPr>
            <p:ph type="sldNum" sz="quarter" idx="12"/>
          </p:nvPr>
        </p:nvSpPr>
        <p:spPr/>
        <p:txBody>
          <a:bodyPr/>
          <a:lstStyle/>
          <a:p>
            <a:pPr>
              <a:defRPr/>
            </a:pPr>
            <a:fld id="{3FF2C605-4958-CF43-AA48-80339EFDB0AF}" type="slidenum">
              <a:rPr lang="en-US" smtClean="0"/>
              <a:pPr>
                <a:defRPr/>
              </a:pPr>
              <a:t>6</a:t>
            </a:fld>
            <a:endParaRPr lang="en-US"/>
          </a:p>
        </p:txBody>
      </p:sp>
      <p:pic>
        <p:nvPicPr>
          <p:cNvPr id="5" name="Picture 4">
            <a:extLst>
              <a:ext uri="{FF2B5EF4-FFF2-40B4-BE49-F238E27FC236}">
                <a16:creationId xmlns:a16="http://schemas.microsoft.com/office/drawing/2014/main" id="{F79872E4-D76F-ED4C-B38E-B6D74EEFA821}"/>
              </a:ext>
            </a:extLst>
          </p:cNvPr>
          <p:cNvPicPr>
            <a:picLocks noChangeAspect="1"/>
          </p:cNvPicPr>
          <p:nvPr/>
        </p:nvPicPr>
        <p:blipFill>
          <a:blip r:embed="rId2"/>
          <a:stretch>
            <a:fillRect/>
          </a:stretch>
        </p:blipFill>
        <p:spPr>
          <a:xfrm>
            <a:off x="6602773" y="2424111"/>
            <a:ext cx="5371669" cy="3298205"/>
          </a:xfrm>
          <a:prstGeom prst="rect">
            <a:avLst/>
          </a:prstGeom>
        </p:spPr>
      </p:pic>
    </p:spTree>
    <p:extLst>
      <p:ext uri="{BB962C8B-B14F-4D97-AF65-F5344CB8AC3E}">
        <p14:creationId xmlns:p14="http://schemas.microsoft.com/office/powerpoint/2010/main" val="607759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74063-561C-7B43-A6EC-B0A56677ECFB}"/>
              </a:ext>
            </a:extLst>
          </p:cNvPr>
          <p:cNvSpPr>
            <a:spLocks noGrp="1"/>
          </p:cNvSpPr>
          <p:nvPr>
            <p:ph type="title"/>
          </p:nvPr>
        </p:nvSpPr>
        <p:spPr>
          <a:xfrm>
            <a:off x="609600" y="715104"/>
            <a:ext cx="10972800" cy="1068387"/>
          </a:xfrm>
        </p:spPr>
        <p:txBody>
          <a:bodyPr/>
          <a:lstStyle/>
          <a:p>
            <a:r>
              <a:rPr lang="en-US" dirty="0"/>
              <a:t>Incubation Time</a:t>
            </a:r>
          </a:p>
        </p:txBody>
      </p:sp>
      <p:sp>
        <p:nvSpPr>
          <p:cNvPr id="3" name="Content Placeholder 2">
            <a:extLst>
              <a:ext uri="{FF2B5EF4-FFF2-40B4-BE49-F238E27FC236}">
                <a16:creationId xmlns:a16="http://schemas.microsoft.com/office/drawing/2014/main" id="{D3CB08B0-934B-B34B-A890-0A932C4E7E43}"/>
              </a:ext>
            </a:extLst>
          </p:cNvPr>
          <p:cNvSpPr>
            <a:spLocks noGrp="1"/>
          </p:cNvSpPr>
          <p:nvPr>
            <p:ph idx="1"/>
          </p:nvPr>
        </p:nvSpPr>
        <p:spPr>
          <a:xfrm>
            <a:off x="609600" y="2160495"/>
            <a:ext cx="8128000" cy="3965670"/>
          </a:xfrm>
        </p:spPr>
        <p:txBody>
          <a:bodyPr/>
          <a:lstStyle/>
          <a:p>
            <a:r>
              <a:rPr lang="en-US" sz="2000" dirty="0"/>
              <a:t>The corrosive environment, represented by a sufficient inventory of chemically active fission gases in the gap, not only depends on burnup, but the ability of these gases to chemically attack the cladding</a:t>
            </a:r>
          </a:p>
          <a:p>
            <a:r>
              <a:rPr lang="en-US" sz="2000" dirty="0"/>
              <a:t>This environment requires that the normally protective oxide coating on the inner surface of the cladding is breached, thus permitting corrosive species to chemically react with the bare cladding</a:t>
            </a:r>
          </a:p>
          <a:p>
            <a:r>
              <a:rPr lang="en-US" sz="2000" dirty="0"/>
              <a:t>The incubation time reflects the time required for a flaw in the protective oxide to be developed and for sufficient ZrI4 to form in the cladding, resulting in the development of cracks</a:t>
            </a:r>
          </a:p>
          <a:p>
            <a:endParaRPr lang="en-US" sz="2000" dirty="0"/>
          </a:p>
          <a:p>
            <a:endParaRPr lang="en-US" sz="2000" dirty="0"/>
          </a:p>
        </p:txBody>
      </p:sp>
      <p:sp>
        <p:nvSpPr>
          <p:cNvPr id="4" name="Slide Number Placeholder 3">
            <a:extLst>
              <a:ext uri="{FF2B5EF4-FFF2-40B4-BE49-F238E27FC236}">
                <a16:creationId xmlns:a16="http://schemas.microsoft.com/office/drawing/2014/main" id="{475BB7BF-C98F-A743-8620-62B55C63408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5" name="Picture 4">
            <a:extLst>
              <a:ext uri="{FF2B5EF4-FFF2-40B4-BE49-F238E27FC236}">
                <a16:creationId xmlns:a16="http://schemas.microsoft.com/office/drawing/2014/main" id="{5861E6A0-13FC-D44B-8134-B0065CA06AB3}"/>
              </a:ext>
            </a:extLst>
          </p:cNvPr>
          <p:cNvPicPr>
            <a:picLocks noChangeAspect="1"/>
          </p:cNvPicPr>
          <p:nvPr/>
        </p:nvPicPr>
        <p:blipFill>
          <a:blip r:embed="rId2"/>
          <a:stretch>
            <a:fillRect/>
          </a:stretch>
        </p:blipFill>
        <p:spPr>
          <a:xfrm>
            <a:off x="8895354" y="1643031"/>
            <a:ext cx="3296646" cy="3965671"/>
          </a:xfrm>
          <a:prstGeom prst="rect">
            <a:avLst/>
          </a:prstGeom>
        </p:spPr>
      </p:pic>
    </p:spTree>
    <p:extLst>
      <p:ext uri="{BB962C8B-B14F-4D97-AF65-F5344CB8AC3E}">
        <p14:creationId xmlns:p14="http://schemas.microsoft.com/office/powerpoint/2010/main" val="1589883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44BB4-24F5-7949-9004-1EE893D6C526}"/>
              </a:ext>
            </a:extLst>
          </p:cNvPr>
          <p:cNvSpPr>
            <a:spLocks noGrp="1"/>
          </p:cNvSpPr>
          <p:nvPr>
            <p:ph type="title"/>
          </p:nvPr>
        </p:nvSpPr>
        <p:spPr>
          <a:xfrm>
            <a:off x="609600" y="686662"/>
            <a:ext cx="10972800" cy="1068387"/>
          </a:xfrm>
        </p:spPr>
        <p:txBody>
          <a:bodyPr/>
          <a:lstStyle/>
          <a:p>
            <a:r>
              <a:rPr lang="en-US" dirty="0"/>
              <a:t>Crack Propagation</a:t>
            </a:r>
          </a:p>
        </p:txBody>
      </p:sp>
      <p:sp>
        <p:nvSpPr>
          <p:cNvPr id="3" name="Content Placeholder 2">
            <a:extLst>
              <a:ext uri="{FF2B5EF4-FFF2-40B4-BE49-F238E27FC236}">
                <a16:creationId xmlns:a16="http://schemas.microsoft.com/office/drawing/2014/main" id="{CFD54EE0-E9D0-B84C-BFF4-B784E5135CB2}"/>
              </a:ext>
            </a:extLst>
          </p:cNvPr>
          <p:cNvSpPr>
            <a:spLocks noGrp="1"/>
          </p:cNvSpPr>
          <p:nvPr>
            <p:ph idx="1"/>
          </p:nvPr>
        </p:nvSpPr>
        <p:spPr>
          <a:xfrm>
            <a:off x="609600" y="1897878"/>
            <a:ext cx="7152861" cy="3965670"/>
          </a:xfrm>
        </p:spPr>
        <p:txBody>
          <a:bodyPr/>
          <a:lstStyle/>
          <a:p>
            <a:r>
              <a:rPr lang="en-US" sz="2000" dirty="0"/>
              <a:t>Once a crack has initiated, it can propagate through the cladding wall with a sufficiently high applied load</a:t>
            </a:r>
          </a:p>
          <a:p>
            <a:r>
              <a:rPr lang="en-US" sz="2000" dirty="0"/>
              <a:t>Both intergranular and </a:t>
            </a:r>
            <a:r>
              <a:rPr lang="en-US" sz="2000" dirty="0" err="1"/>
              <a:t>transgranular</a:t>
            </a:r>
            <a:r>
              <a:rPr lang="en-US" sz="2000" dirty="0"/>
              <a:t> propagation modes are possible</a:t>
            </a:r>
          </a:p>
          <a:p>
            <a:r>
              <a:rPr lang="en-US" sz="2000" dirty="0"/>
              <a:t>The propagation rate is a linear function of the stress intensity factor, K</a:t>
            </a:r>
            <a:r>
              <a:rPr lang="en-US" sz="2000" baseline="-25000" dirty="0"/>
              <a:t>SCC</a:t>
            </a:r>
            <a:r>
              <a:rPr lang="en-US" sz="2000" dirty="0"/>
              <a:t>, and is independent on the propagation mode for sufficiently high K</a:t>
            </a:r>
            <a:r>
              <a:rPr lang="en-US" sz="2000" baseline="-25000" dirty="0"/>
              <a:t>SCC</a:t>
            </a:r>
            <a:endParaRPr lang="en-US" sz="2000" dirty="0"/>
          </a:p>
          <a:p>
            <a:r>
              <a:rPr lang="en-US" sz="2000" dirty="0"/>
              <a:t>The increase in iodine content generally increases the crack propagation rate</a:t>
            </a:r>
          </a:p>
          <a:p>
            <a:r>
              <a:rPr lang="en-US" sz="2000" dirty="0"/>
              <a:t>Increasing temperature results in decreasing the susceptibility to PCI failure, while neutron irradiation has been found to increase susceptibility</a:t>
            </a:r>
          </a:p>
          <a:p>
            <a:endParaRPr lang="en-US" sz="2000" dirty="0"/>
          </a:p>
          <a:p>
            <a:endParaRPr lang="en-US" sz="2000" dirty="0"/>
          </a:p>
          <a:p>
            <a:endParaRPr lang="en-US" sz="2000" dirty="0"/>
          </a:p>
        </p:txBody>
      </p:sp>
      <p:sp>
        <p:nvSpPr>
          <p:cNvPr id="4" name="Slide Number Placeholder 3">
            <a:extLst>
              <a:ext uri="{FF2B5EF4-FFF2-40B4-BE49-F238E27FC236}">
                <a16:creationId xmlns:a16="http://schemas.microsoft.com/office/drawing/2014/main" id="{574FE000-83A7-814E-8937-7C6C20C52B1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5" name="Picture 4">
            <a:extLst>
              <a:ext uri="{FF2B5EF4-FFF2-40B4-BE49-F238E27FC236}">
                <a16:creationId xmlns:a16="http://schemas.microsoft.com/office/drawing/2014/main" id="{852CF916-F7A8-784A-9DFD-FA3D3F9C07D6}"/>
              </a:ext>
            </a:extLst>
          </p:cNvPr>
          <p:cNvPicPr>
            <a:picLocks noChangeAspect="1"/>
          </p:cNvPicPr>
          <p:nvPr/>
        </p:nvPicPr>
        <p:blipFill>
          <a:blip r:embed="rId2"/>
          <a:stretch>
            <a:fillRect/>
          </a:stretch>
        </p:blipFill>
        <p:spPr>
          <a:xfrm>
            <a:off x="8243491" y="1755049"/>
            <a:ext cx="3246969" cy="2154896"/>
          </a:xfrm>
          <a:prstGeom prst="rect">
            <a:avLst/>
          </a:prstGeom>
        </p:spPr>
      </p:pic>
      <p:pic>
        <p:nvPicPr>
          <p:cNvPr id="6" name="Picture 5">
            <a:extLst>
              <a:ext uri="{FF2B5EF4-FFF2-40B4-BE49-F238E27FC236}">
                <a16:creationId xmlns:a16="http://schemas.microsoft.com/office/drawing/2014/main" id="{A129B5F3-830B-AA4D-B01B-7EA318FE12D8}"/>
              </a:ext>
            </a:extLst>
          </p:cNvPr>
          <p:cNvPicPr>
            <a:picLocks noChangeAspect="1"/>
          </p:cNvPicPr>
          <p:nvPr/>
        </p:nvPicPr>
        <p:blipFill>
          <a:blip r:embed="rId3"/>
          <a:stretch>
            <a:fillRect/>
          </a:stretch>
        </p:blipFill>
        <p:spPr>
          <a:xfrm>
            <a:off x="8243491" y="4226247"/>
            <a:ext cx="3246969" cy="2184147"/>
          </a:xfrm>
          <a:prstGeom prst="rect">
            <a:avLst/>
          </a:prstGeom>
        </p:spPr>
      </p:pic>
      <p:sp>
        <p:nvSpPr>
          <p:cNvPr id="7" name="TextBox 6">
            <a:extLst>
              <a:ext uri="{FF2B5EF4-FFF2-40B4-BE49-F238E27FC236}">
                <a16:creationId xmlns:a16="http://schemas.microsoft.com/office/drawing/2014/main" id="{452F32A7-C558-FD4D-97EB-EA788289C8C5}"/>
              </a:ext>
            </a:extLst>
          </p:cNvPr>
          <p:cNvSpPr txBox="1"/>
          <p:nvPr/>
        </p:nvSpPr>
        <p:spPr>
          <a:xfrm>
            <a:off x="9257887" y="1434307"/>
            <a:ext cx="158032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a:ea typeface="+mn-ea"/>
                <a:cs typeface="+mn-cs"/>
              </a:rPr>
              <a:t>Transgranular</a:t>
            </a: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8" name="TextBox 7">
            <a:extLst>
              <a:ext uri="{FF2B5EF4-FFF2-40B4-BE49-F238E27FC236}">
                <a16:creationId xmlns:a16="http://schemas.microsoft.com/office/drawing/2014/main" id="{D3F0F608-C1C2-B94D-BE74-262B78983CDA}"/>
              </a:ext>
            </a:extLst>
          </p:cNvPr>
          <p:cNvSpPr txBox="1"/>
          <p:nvPr/>
        </p:nvSpPr>
        <p:spPr>
          <a:xfrm>
            <a:off x="9257887" y="3880713"/>
            <a:ext cx="158032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Intergranular</a:t>
            </a:r>
          </a:p>
        </p:txBody>
      </p:sp>
    </p:spTree>
    <p:extLst>
      <p:ext uri="{BB962C8B-B14F-4D97-AF65-F5344CB8AC3E}">
        <p14:creationId xmlns:p14="http://schemas.microsoft.com/office/powerpoint/2010/main" val="1990755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649AA-0316-E54F-A523-93797234130E}"/>
              </a:ext>
            </a:extLst>
          </p:cNvPr>
          <p:cNvSpPr>
            <a:spLocks noGrp="1"/>
          </p:cNvSpPr>
          <p:nvPr>
            <p:ph type="title"/>
          </p:nvPr>
        </p:nvSpPr>
        <p:spPr/>
        <p:txBody>
          <a:bodyPr/>
          <a:lstStyle/>
          <a:p>
            <a:r>
              <a:rPr lang="en-US" dirty="0"/>
              <a:t>Through-Cracks</a:t>
            </a:r>
          </a:p>
        </p:txBody>
      </p:sp>
      <p:sp>
        <p:nvSpPr>
          <p:cNvPr id="3" name="Content Placeholder 2">
            <a:extLst>
              <a:ext uri="{FF2B5EF4-FFF2-40B4-BE49-F238E27FC236}">
                <a16:creationId xmlns:a16="http://schemas.microsoft.com/office/drawing/2014/main" id="{74F6013A-8125-5645-8D9E-38FD4740420A}"/>
              </a:ext>
            </a:extLst>
          </p:cNvPr>
          <p:cNvSpPr>
            <a:spLocks noGrp="1"/>
          </p:cNvSpPr>
          <p:nvPr>
            <p:ph idx="1"/>
          </p:nvPr>
        </p:nvSpPr>
        <p:spPr/>
        <p:txBody>
          <a:bodyPr/>
          <a:lstStyle/>
          <a:p>
            <a:r>
              <a:rPr lang="en-US" sz="2000" dirty="0"/>
              <a:t>Following the formation of a through-wall crack and the ingress of water into the fuel-clad gap, the cracking process is arrested since the corrosive species (notably I, Cs, and Cd) have been discharged</a:t>
            </a:r>
          </a:p>
          <a:p>
            <a:r>
              <a:rPr lang="en-US" sz="2000" dirty="0"/>
              <a:t>The ingress of water in the fuel-clad gap may result in clad </a:t>
            </a:r>
            <a:r>
              <a:rPr lang="en-US" sz="2000" dirty="0" err="1"/>
              <a:t>hydriding</a:t>
            </a:r>
            <a:r>
              <a:rPr lang="en-US" sz="2000" dirty="0"/>
              <a:t> on the inner surface</a:t>
            </a:r>
          </a:p>
          <a:p>
            <a:r>
              <a:rPr lang="en-US" sz="2000" dirty="0"/>
              <a:t>The initial SCC crack can oxidize, and volume expansion may lead to resealing the primary failure</a:t>
            </a:r>
          </a:p>
          <a:p>
            <a:r>
              <a:rPr lang="en-US" sz="2000" dirty="0"/>
              <a:t>All PCI cracks are pin-hole defects, whereas observable cracks are secondary due to clad </a:t>
            </a:r>
            <a:r>
              <a:rPr lang="en-US" sz="2000" dirty="0" err="1"/>
              <a:t>hydriding</a:t>
            </a:r>
            <a:r>
              <a:rPr lang="en-US" sz="2000" dirty="0"/>
              <a:t> or ductile tearing</a:t>
            </a:r>
          </a:p>
          <a:p>
            <a:r>
              <a:rPr lang="en-US" sz="2000" dirty="0"/>
              <a:t>The time to failure depends on many parameters, but is generally determined by the local linear power, the change in linear power, and the local burnup</a:t>
            </a:r>
          </a:p>
          <a:p>
            <a:endParaRPr lang="en-US" sz="2000" dirty="0"/>
          </a:p>
        </p:txBody>
      </p:sp>
      <p:sp>
        <p:nvSpPr>
          <p:cNvPr id="4" name="Slide Number Placeholder 3">
            <a:extLst>
              <a:ext uri="{FF2B5EF4-FFF2-40B4-BE49-F238E27FC236}">
                <a16:creationId xmlns:a16="http://schemas.microsoft.com/office/drawing/2014/main" id="{3A9F73AA-344A-7548-A599-C67A90FDCAC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2873828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A6137-476A-35F1-5EDC-244711AD6A14}"/>
              </a:ext>
            </a:extLst>
          </p:cNvPr>
          <p:cNvSpPr>
            <a:spLocks noGrp="1"/>
          </p:cNvSpPr>
          <p:nvPr>
            <p:ph type="title"/>
          </p:nvPr>
        </p:nvSpPr>
        <p:spPr>
          <a:xfrm>
            <a:off x="609600" y="900114"/>
            <a:ext cx="10972800" cy="1068387"/>
          </a:xfrm>
        </p:spPr>
        <p:txBody>
          <a:bodyPr wrap="square" anchor="ctr">
            <a:normAutofit/>
          </a:bodyPr>
          <a:lstStyle/>
          <a:p>
            <a:r>
              <a:rPr lang="en-US" dirty="0"/>
              <a:t>Reactor Susceptibility</a:t>
            </a:r>
          </a:p>
        </p:txBody>
      </p:sp>
      <p:sp>
        <p:nvSpPr>
          <p:cNvPr id="3" name="Content Placeholder 2">
            <a:extLst>
              <a:ext uri="{FF2B5EF4-FFF2-40B4-BE49-F238E27FC236}">
                <a16:creationId xmlns:a16="http://schemas.microsoft.com/office/drawing/2014/main" id="{67899FF1-6DC6-F80B-3A91-932C12E560E3}"/>
              </a:ext>
            </a:extLst>
          </p:cNvPr>
          <p:cNvSpPr>
            <a:spLocks noGrp="1"/>
          </p:cNvSpPr>
          <p:nvPr>
            <p:ph sz="half" idx="1"/>
          </p:nvPr>
        </p:nvSpPr>
        <p:spPr>
          <a:xfrm>
            <a:off x="609600" y="1968501"/>
            <a:ext cx="5588000" cy="4157663"/>
          </a:xfrm>
        </p:spPr>
        <p:txBody>
          <a:bodyPr wrap="square" anchor="t">
            <a:normAutofit lnSpcReduction="10000"/>
          </a:bodyPr>
          <a:lstStyle/>
          <a:p>
            <a:r>
              <a:rPr lang="en-US" sz="1800" dirty="0"/>
              <a:t>All current PWR, BWR and CANDU reactors utilize UO2 fuel, zirconium alloy cladding, and are water cooled</a:t>
            </a:r>
          </a:p>
          <a:p>
            <a:r>
              <a:rPr lang="en-US" sz="1800" dirty="0"/>
              <a:t>The degree of susceptibility of each reactor and fuel design to PCI rests on numerous design specifications</a:t>
            </a:r>
          </a:p>
          <a:p>
            <a:r>
              <a:rPr lang="en-US" sz="1800" dirty="0"/>
              <a:t>PWRs have smaller fuel diameters, BWRs have the thickest cladding</a:t>
            </a:r>
          </a:p>
          <a:p>
            <a:r>
              <a:rPr lang="en-US" sz="1800" dirty="0"/>
              <a:t>The geometric design has an influence on the stresses in the fuel and cladding</a:t>
            </a:r>
          </a:p>
          <a:p>
            <a:r>
              <a:rPr lang="en-US" sz="1800" dirty="0"/>
              <a:t>Linear power affects the temperature, which impacts a variety of other phenomena</a:t>
            </a:r>
          </a:p>
          <a:p>
            <a:r>
              <a:rPr lang="en-US" sz="1800" dirty="0"/>
              <a:t>Discharge burnup influences the inventory of fission products in the fuel/cladding interface</a:t>
            </a:r>
          </a:p>
        </p:txBody>
      </p:sp>
      <p:pic>
        <p:nvPicPr>
          <p:cNvPr id="5" name="Picture 4">
            <a:extLst>
              <a:ext uri="{FF2B5EF4-FFF2-40B4-BE49-F238E27FC236}">
                <a16:creationId xmlns:a16="http://schemas.microsoft.com/office/drawing/2014/main" id="{31EA8CF3-43C2-874B-9F3E-223061419146}"/>
              </a:ext>
            </a:extLst>
          </p:cNvPr>
          <p:cNvPicPr>
            <a:picLocks noChangeAspect="1"/>
          </p:cNvPicPr>
          <p:nvPr/>
        </p:nvPicPr>
        <p:blipFill>
          <a:blip r:embed="rId2"/>
          <a:stretch>
            <a:fillRect/>
          </a:stretch>
        </p:blipFill>
        <p:spPr>
          <a:xfrm>
            <a:off x="6197600" y="2574037"/>
            <a:ext cx="5987056" cy="2574433"/>
          </a:xfrm>
          <a:prstGeom prst="rect">
            <a:avLst/>
          </a:prstGeom>
          <a:noFill/>
        </p:spPr>
      </p:pic>
      <p:sp>
        <p:nvSpPr>
          <p:cNvPr id="4" name="Slide Number Placeholder 3">
            <a:extLst>
              <a:ext uri="{FF2B5EF4-FFF2-40B4-BE49-F238E27FC236}">
                <a16:creationId xmlns:a16="http://schemas.microsoft.com/office/drawing/2014/main" id="{197DE1D3-18CC-90BA-32F2-D50B58B17206}"/>
              </a:ext>
            </a:extLst>
          </p:cNvPr>
          <p:cNvSpPr>
            <a:spLocks noGrp="1"/>
          </p:cNvSpPr>
          <p:nvPr>
            <p:ph type="sldNum" sz="quarter" idx="12"/>
          </p:nvPr>
        </p:nvSpPr>
        <p:spPr>
          <a:xfrm>
            <a:off x="8737600" y="6356351"/>
            <a:ext cx="2844800" cy="365125"/>
          </a:xfrm>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10</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980613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275EF-D507-1151-E20C-BADE1BA2FEE7}"/>
              </a:ext>
            </a:extLst>
          </p:cNvPr>
          <p:cNvSpPr>
            <a:spLocks noGrp="1"/>
          </p:cNvSpPr>
          <p:nvPr>
            <p:ph type="title"/>
          </p:nvPr>
        </p:nvSpPr>
        <p:spPr/>
        <p:txBody>
          <a:bodyPr/>
          <a:lstStyle/>
          <a:p>
            <a:r>
              <a:rPr lang="en-US" dirty="0"/>
              <a:t>Reactor Susceptibility</a:t>
            </a:r>
          </a:p>
        </p:txBody>
      </p:sp>
      <p:sp>
        <p:nvSpPr>
          <p:cNvPr id="3" name="Content Placeholder 2">
            <a:extLst>
              <a:ext uri="{FF2B5EF4-FFF2-40B4-BE49-F238E27FC236}">
                <a16:creationId xmlns:a16="http://schemas.microsoft.com/office/drawing/2014/main" id="{A97AA86B-72D0-F8D0-5D1E-9498576CCAA8}"/>
              </a:ext>
            </a:extLst>
          </p:cNvPr>
          <p:cNvSpPr>
            <a:spLocks noGrp="1"/>
          </p:cNvSpPr>
          <p:nvPr>
            <p:ph sz="half" idx="1"/>
          </p:nvPr>
        </p:nvSpPr>
        <p:spPr/>
        <p:txBody>
          <a:bodyPr/>
          <a:lstStyle/>
          <a:p>
            <a:r>
              <a:rPr lang="en-US" sz="1800" dirty="0"/>
              <a:t>In general, PCI failures are typically experienced (by any reactor) during a large change in power; thus, the manner in which power changes dictates to a large degree the likelihood of PCI failure</a:t>
            </a:r>
          </a:p>
          <a:p>
            <a:r>
              <a:rPr lang="en-US" sz="1800" dirty="0"/>
              <a:t>Unlike BWRs, the neutron flux in a PWR is not primarily controlled by the insertion and extraction of control rods during operation</a:t>
            </a:r>
          </a:p>
          <a:p>
            <a:r>
              <a:rPr lang="en-US" sz="1800" dirty="0"/>
              <a:t>Due to smoother control of reactivity and a lower linear power, PCI failures are significantly less frequent in PWRs than other major commercial power reactor designs</a:t>
            </a:r>
          </a:p>
          <a:p>
            <a:r>
              <a:rPr lang="en-US" sz="1800" dirty="0"/>
              <a:t>PCI failures are more of a concern in BWRs</a:t>
            </a:r>
          </a:p>
          <a:p>
            <a:endParaRPr lang="en-US" sz="1800" dirty="0"/>
          </a:p>
        </p:txBody>
      </p:sp>
      <p:sp>
        <p:nvSpPr>
          <p:cNvPr id="4" name="Content Placeholder 3">
            <a:extLst>
              <a:ext uri="{FF2B5EF4-FFF2-40B4-BE49-F238E27FC236}">
                <a16:creationId xmlns:a16="http://schemas.microsoft.com/office/drawing/2014/main" id="{26FF7CCE-0AAC-C3AE-5239-3271E47306F9}"/>
              </a:ext>
            </a:extLst>
          </p:cNvPr>
          <p:cNvSpPr>
            <a:spLocks noGrp="1"/>
          </p:cNvSpPr>
          <p:nvPr>
            <p:ph sz="half" idx="2"/>
          </p:nvPr>
        </p:nvSpPr>
        <p:spPr/>
        <p:txBody>
          <a:bodyPr/>
          <a:lstStyle/>
          <a:p>
            <a:r>
              <a:rPr lang="en-US" sz="1800" dirty="0"/>
              <a:t>Control blade maneuvers in BWRs create local power transients that often lead to PCI failures in fuel rods adjacent to these blades</a:t>
            </a:r>
          </a:p>
          <a:p>
            <a:endParaRPr lang="en-US" sz="1800" dirty="0"/>
          </a:p>
        </p:txBody>
      </p:sp>
      <p:sp>
        <p:nvSpPr>
          <p:cNvPr id="5" name="Slide Number Placeholder 4">
            <a:extLst>
              <a:ext uri="{FF2B5EF4-FFF2-40B4-BE49-F238E27FC236}">
                <a16:creationId xmlns:a16="http://schemas.microsoft.com/office/drawing/2014/main" id="{17496774-16C2-A1C1-9C78-3D357E8DB98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35E9FC-F6D5-0349-BBED-EA7D7A9BC49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6" name="Picture 5">
            <a:extLst>
              <a:ext uri="{FF2B5EF4-FFF2-40B4-BE49-F238E27FC236}">
                <a16:creationId xmlns:a16="http://schemas.microsoft.com/office/drawing/2014/main" id="{237996D1-E163-3BAB-1271-B5D301D0F296}"/>
              </a:ext>
            </a:extLst>
          </p:cNvPr>
          <p:cNvPicPr>
            <a:picLocks noChangeAspect="1"/>
          </p:cNvPicPr>
          <p:nvPr/>
        </p:nvPicPr>
        <p:blipFill>
          <a:blip r:embed="rId2"/>
          <a:stretch>
            <a:fillRect/>
          </a:stretch>
        </p:blipFill>
        <p:spPr>
          <a:xfrm>
            <a:off x="6900517" y="3036888"/>
            <a:ext cx="3978965" cy="2917908"/>
          </a:xfrm>
          <a:prstGeom prst="rect">
            <a:avLst/>
          </a:prstGeom>
        </p:spPr>
      </p:pic>
      <p:sp>
        <p:nvSpPr>
          <p:cNvPr id="8" name="TextBox 7">
            <a:extLst>
              <a:ext uri="{FF2B5EF4-FFF2-40B4-BE49-F238E27FC236}">
                <a16:creationId xmlns:a16="http://schemas.microsoft.com/office/drawing/2014/main" id="{AC01F94F-EE6B-3484-AFC7-243D285E1758}"/>
              </a:ext>
            </a:extLst>
          </p:cNvPr>
          <p:cNvSpPr txBox="1"/>
          <p:nvPr/>
        </p:nvSpPr>
        <p:spPr>
          <a:xfrm>
            <a:off x="6197600" y="5954796"/>
            <a:ext cx="5588828" cy="2616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Helvetica" pitchFamily="2" charset="0"/>
                <a:ea typeface="+mn-ea"/>
                <a:cs typeface="+mn-cs"/>
              </a:rPr>
              <a:t>The change in LHR resulting from the successive removal of three control rod blades</a:t>
            </a:r>
          </a:p>
        </p:txBody>
      </p:sp>
    </p:spTree>
    <p:extLst>
      <p:ext uri="{BB962C8B-B14F-4D97-AF65-F5344CB8AC3E}">
        <p14:creationId xmlns:p14="http://schemas.microsoft.com/office/powerpoint/2010/main" val="510275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AAD79-5D47-294E-8347-12E7FA582E89}"/>
              </a:ext>
            </a:extLst>
          </p:cNvPr>
          <p:cNvSpPr>
            <a:spLocks noGrp="1"/>
          </p:cNvSpPr>
          <p:nvPr>
            <p:ph type="title"/>
          </p:nvPr>
        </p:nvSpPr>
        <p:spPr/>
        <p:txBody>
          <a:bodyPr/>
          <a:lstStyle/>
          <a:p>
            <a:r>
              <a:rPr lang="en-US" dirty="0"/>
              <a:t>PCI Mitigation</a:t>
            </a:r>
          </a:p>
        </p:txBody>
      </p:sp>
      <p:sp>
        <p:nvSpPr>
          <p:cNvPr id="3" name="Content Placeholder 2">
            <a:extLst>
              <a:ext uri="{FF2B5EF4-FFF2-40B4-BE49-F238E27FC236}">
                <a16:creationId xmlns:a16="http://schemas.microsoft.com/office/drawing/2014/main" id="{24A15A08-ED25-5C49-AAF1-50993BB389EE}"/>
              </a:ext>
            </a:extLst>
          </p:cNvPr>
          <p:cNvSpPr>
            <a:spLocks noGrp="1"/>
          </p:cNvSpPr>
          <p:nvPr>
            <p:ph idx="1"/>
          </p:nvPr>
        </p:nvSpPr>
        <p:spPr>
          <a:xfrm>
            <a:off x="609600" y="1968501"/>
            <a:ext cx="7371522" cy="3965670"/>
          </a:xfrm>
        </p:spPr>
        <p:txBody>
          <a:bodyPr/>
          <a:lstStyle/>
          <a:p>
            <a:r>
              <a:rPr lang="en-US" sz="1900" dirty="0"/>
              <a:t>There are two primary approaches to mitigate PCI failures: 1) changes in the design of various components – notably, the fuel pellet, fuel cladding, and fuel assembly; 2) the manner in which the reactor is operated can be altered to minimize PCI failures</a:t>
            </a:r>
          </a:p>
          <a:p>
            <a:r>
              <a:rPr lang="en-US" sz="1900" dirty="0"/>
              <a:t>The design of fuel has changed to better optimize performance and reliability, including modifying the fuel pellet geometry, microstructure (i.e., grain size and porosity), and composition (i.e., initial O/M, minor additives)</a:t>
            </a:r>
          </a:p>
          <a:p>
            <a:r>
              <a:rPr lang="en-US" sz="1900" dirty="0"/>
              <a:t>Many design changes of the cladding have been investigated, including the development of small grain sizes and texture control, alloy composition, inclusion of an inner liner and the application of a pellet-clad interlayer </a:t>
            </a:r>
          </a:p>
          <a:p>
            <a:endParaRPr lang="en-US" sz="1900" dirty="0"/>
          </a:p>
        </p:txBody>
      </p:sp>
      <p:sp>
        <p:nvSpPr>
          <p:cNvPr id="4" name="Slide Number Placeholder 3">
            <a:extLst>
              <a:ext uri="{FF2B5EF4-FFF2-40B4-BE49-F238E27FC236}">
                <a16:creationId xmlns:a16="http://schemas.microsoft.com/office/drawing/2014/main" id="{215C8750-2B58-7A4B-84C2-24D693AD193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5" name="Picture 4">
            <a:extLst>
              <a:ext uri="{FF2B5EF4-FFF2-40B4-BE49-F238E27FC236}">
                <a16:creationId xmlns:a16="http://schemas.microsoft.com/office/drawing/2014/main" id="{3232F378-E2B9-C741-9676-623A75DC9D93}"/>
              </a:ext>
            </a:extLst>
          </p:cNvPr>
          <p:cNvPicPr>
            <a:picLocks noChangeAspect="1"/>
          </p:cNvPicPr>
          <p:nvPr/>
        </p:nvPicPr>
        <p:blipFill>
          <a:blip r:embed="rId2"/>
          <a:stretch>
            <a:fillRect/>
          </a:stretch>
        </p:blipFill>
        <p:spPr>
          <a:xfrm>
            <a:off x="8148707" y="4105449"/>
            <a:ext cx="3203713" cy="2135809"/>
          </a:xfrm>
          <a:prstGeom prst="rect">
            <a:avLst/>
          </a:prstGeom>
        </p:spPr>
      </p:pic>
      <p:pic>
        <p:nvPicPr>
          <p:cNvPr id="6" name="Picture 5">
            <a:extLst>
              <a:ext uri="{FF2B5EF4-FFF2-40B4-BE49-F238E27FC236}">
                <a16:creationId xmlns:a16="http://schemas.microsoft.com/office/drawing/2014/main" id="{B140A043-F078-394C-8CF1-C193421F3FAF}"/>
              </a:ext>
            </a:extLst>
          </p:cNvPr>
          <p:cNvPicPr>
            <a:picLocks noChangeAspect="1"/>
          </p:cNvPicPr>
          <p:nvPr/>
        </p:nvPicPr>
        <p:blipFill>
          <a:blip r:embed="rId3"/>
          <a:stretch>
            <a:fillRect/>
          </a:stretch>
        </p:blipFill>
        <p:spPr>
          <a:xfrm>
            <a:off x="8148707" y="1276497"/>
            <a:ext cx="3433693" cy="2713859"/>
          </a:xfrm>
          <a:prstGeom prst="rect">
            <a:avLst/>
          </a:prstGeom>
        </p:spPr>
      </p:pic>
    </p:spTree>
    <p:extLst>
      <p:ext uri="{BB962C8B-B14F-4D97-AF65-F5344CB8AC3E}">
        <p14:creationId xmlns:p14="http://schemas.microsoft.com/office/powerpoint/2010/main" val="10290840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15D64-3215-E80E-D836-1CBA6D9B4ED5}"/>
              </a:ext>
            </a:extLst>
          </p:cNvPr>
          <p:cNvSpPr>
            <a:spLocks noGrp="1"/>
          </p:cNvSpPr>
          <p:nvPr>
            <p:ph type="title"/>
          </p:nvPr>
        </p:nvSpPr>
        <p:spPr/>
        <p:txBody>
          <a:bodyPr/>
          <a:lstStyle/>
          <a:p>
            <a:r>
              <a:rPr lang="en-US" dirty="0"/>
              <a:t>PCI Mitigation</a:t>
            </a:r>
          </a:p>
        </p:txBody>
      </p:sp>
      <p:sp>
        <p:nvSpPr>
          <p:cNvPr id="3" name="Content Placeholder 2">
            <a:extLst>
              <a:ext uri="{FF2B5EF4-FFF2-40B4-BE49-F238E27FC236}">
                <a16:creationId xmlns:a16="http://schemas.microsoft.com/office/drawing/2014/main" id="{86E023A4-BF64-520E-4930-CB2D390D59FA}"/>
              </a:ext>
            </a:extLst>
          </p:cNvPr>
          <p:cNvSpPr>
            <a:spLocks noGrp="1"/>
          </p:cNvSpPr>
          <p:nvPr>
            <p:ph idx="1"/>
          </p:nvPr>
        </p:nvSpPr>
        <p:spPr/>
        <p:txBody>
          <a:bodyPr/>
          <a:lstStyle/>
          <a:p>
            <a:r>
              <a:rPr lang="en-US" sz="2000" dirty="0"/>
              <a:t>Fuel assembly designs for all reactor types are constantly evolving as assemblies/bundles are improved to increase operational economics</a:t>
            </a:r>
          </a:p>
          <a:p>
            <a:r>
              <a:rPr lang="en-US" sz="2000" dirty="0"/>
              <a:t>A continuing trend in design evolution is sub-division of the fuel into smaller diameter elements/rods to increase the total number of elements/rods, which increases assembly/bundle power without a corresponding increase in UO2 temperature, thus mitigating thermally driven fuel failure mechanisms</a:t>
            </a:r>
          </a:p>
          <a:p>
            <a:r>
              <a:rPr lang="en-US" sz="2000" dirty="0"/>
              <a:t>Other changes in general fuel assembly/bundle design include variations on fill gas pressure, presence and design of plenums to collect fission gases, changes to appendage design to improve CHF, general optimization of rod end regions in the reactor to mitigate end-flux-peaking</a:t>
            </a:r>
          </a:p>
          <a:p>
            <a:r>
              <a:rPr lang="en-US" sz="2000" dirty="0"/>
              <a:t>Operational mitigation: The three variables that are controlled from an operational point of view are the linear power, change in linear power, ramp rate and discharge burnup</a:t>
            </a:r>
          </a:p>
          <a:p>
            <a:endParaRPr lang="en-US" sz="2000" dirty="0"/>
          </a:p>
        </p:txBody>
      </p:sp>
      <p:sp>
        <p:nvSpPr>
          <p:cNvPr id="4" name="Slide Number Placeholder 3">
            <a:extLst>
              <a:ext uri="{FF2B5EF4-FFF2-40B4-BE49-F238E27FC236}">
                <a16:creationId xmlns:a16="http://schemas.microsoft.com/office/drawing/2014/main" id="{D6659D06-AAC7-24AB-EDEF-E505FC2448D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F2C605-4958-CF43-AA48-80339EFDB0AF}"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244468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58A14-8248-8B4D-2AB6-E11265A03FF3}"/>
              </a:ext>
            </a:extLst>
          </p:cNvPr>
          <p:cNvSpPr>
            <a:spLocks noGrp="1"/>
          </p:cNvSpPr>
          <p:nvPr>
            <p:ph type="title"/>
          </p:nvPr>
        </p:nvSpPr>
        <p:spPr/>
        <p:txBody>
          <a:bodyPr/>
          <a:lstStyle/>
          <a:p>
            <a:r>
              <a:rPr lang="en-US" dirty="0"/>
              <a:t>End of Module 3</a:t>
            </a:r>
          </a:p>
        </p:txBody>
      </p:sp>
      <p:sp>
        <p:nvSpPr>
          <p:cNvPr id="3" name="Content Placeholder 2">
            <a:extLst>
              <a:ext uri="{FF2B5EF4-FFF2-40B4-BE49-F238E27FC236}">
                <a16:creationId xmlns:a16="http://schemas.microsoft.com/office/drawing/2014/main" id="{A1F3468E-03E5-2D65-E218-6B7B23ABB878}"/>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283F3F89-D7F1-9645-D93C-15C29373B99D}"/>
              </a:ext>
            </a:extLst>
          </p:cNvPr>
          <p:cNvSpPr>
            <a:spLocks noGrp="1"/>
          </p:cNvSpPr>
          <p:nvPr>
            <p:ph type="sldNum" sz="quarter" idx="12"/>
          </p:nvPr>
        </p:nvSpPr>
        <p:spPr/>
        <p:txBody>
          <a:bodyPr/>
          <a:lstStyle/>
          <a:p>
            <a:pPr>
              <a:defRPr/>
            </a:pPr>
            <a:fld id="{3FF2C605-4958-CF43-AA48-80339EFDB0AF}" type="slidenum">
              <a:rPr lang="en-US" smtClean="0"/>
              <a:pPr>
                <a:defRPr/>
              </a:pPr>
              <a:t>14</a:t>
            </a:fld>
            <a:endParaRPr lang="en-US"/>
          </a:p>
        </p:txBody>
      </p:sp>
    </p:spTree>
    <p:extLst>
      <p:ext uri="{BB962C8B-B14F-4D97-AF65-F5344CB8AC3E}">
        <p14:creationId xmlns:p14="http://schemas.microsoft.com/office/powerpoint/2010/main" val="1378488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5AA7F-1509-5B48-E49B-ED1D0F3BA5FE}"/>
              </a:ext>
            </a:extLst>
          </p:cNvPr>
          <p:cNvSpPr>
            <a:spLocks noGrp="1"/>
          </p:cNvSpPr>
          <p:nvPr>
            <p:ph type="title"/>
          </p:nvPr>
        </p:nvSpPr>
        <p:spPr>
          <a:xfrm>
            <a:off x="609600" y="532366"/>
            <a:ext cx="10972800" cy="1068387"/>
          </a:xfrm>
        </p:spPr>
        <p:txBody>
          <a:bodyPr/>
          <a:lstStyle/>
          <a:p>
            <a:r>
              <a:rPr lang="en-US" dirty="0"/>
              <a:t>Module Review</a:t>
            </a:r>
          </a:p>
        </p:txBody>
      </p:sp>
      <p:sp>
        <p:nvSpPr>
          <p:cNvPr id="3" name="Content Placeholder 2">
            <a:extLst>
              <a:ext uri="{FF2B5EF4-FFF2-40B4-BE49-F238E27FC236}">
                <a16:creationId xmlns:a16="http://schemas.microsoft.com/office/drawing/2014/main" id="{525AFF98-0B55-CF4C-3C7A-D1196C5479C9}"/>
              </a:ext>
            </a:extLst>
          </p:cNvPr>
          <p:cNvSpPr>
            <a:spLocks noGrp="1"/>
          </p:cNvSpPr>
          <p:nvPr>
            <p:ph idx="1"/>
          </p:nvPr>
        </p:nvSpPr>
        <p:spPr>
          <a:xfrm>
            <a:off x="609600" y="1600753"/>
            <a:ext cx="10972800" cy="4525412"/>
          </a:xfrm>
        </p:spPr>
        <p:txBody>
          <a:bodyPr/>
          <a:lstStyle/>
          <a:p>
            <a:r>
              <a:rPr lang="en-US" dirty="0"/>
              <a:t>Radiation damage effects in UO2</a:t>
            </a:r>
          </a:p>
          <a:p>
            <a:pPr lvl="1"/>
            <a:r>
              <a:rPr lang="en-US" dirty="0"/>
              <a:t>thermal conductivity degradation, high burnup structure formation, etc. </a:t>
            </a:r>
          </a:p>
          <a:p>
            <a:r>
              <a:rPr lang="en-US" dirty="0"/>
              <a:t>Chemistry of the fuel</a:t>
            </a:r>
          </a:p>
          <a:p>
            <a:pPr lvl="1"/>
            <a:r>
              <a:rPr lang="en-US" dirty="0"/>
              <a:t>charge state, O/M ratio, impact on properties, etc.</a:t>
            </a:r>
          </a:p>
          <a:p>
            <a:r>
              <a:rPr lang="en-US" dirty="0"/>
              <a:t>Fission products</a:t>
            </a:r>
          </a:p>
          <a:p>
            <a:pPr lvl="1"/>
            <a:r>
              <a:rPr lang="en-US" dirty="0"/>
              <a:t>five groups, impact fuel properties, impacted by chemistry</a:t>
            </a:r>
          </a:p>
          <a:p>
            <a:r>
              <a:rPr lang="en-US" dirty="0"/>
              <a:t>Fission gas release</a:t>
            </a:r>
          </a:p>
          <a:p>
            <a:pPr lvl="1"/>
            <a:r>
              <a:rPr lang="en-US" dirty="0"/>
              <a:t>three stages, Booth model, Forsberg-Massih, etc.</a:t>
            </a:r>
          </a:p>
          <a:p>
            <a:pPr lvl="1"/>
            <a:endParaRPr lang="en-US" dirty="0"/>
          </a:p>
        </p:txBody>
      </p:sp>
      <p:sp>
        <p:nvSpPr>
          <p:cNvPr id="4" name="Slide Number Placeholder 3">
            <a:extLst>
              <a:ext uri="{FF2B5EF4-FFF2-40B4-BE49-F238E27FC236}">
                <a16:creationId xmlns:a16="http://schemas.microsoft.com/office/drawing/2014/main" id="{1871A921-3174-0788-90B0-A753155634E6}"/>
              </a:ext>
            </a:extLst>
          </p:cNvPr>
          <p:cNvSpPr>
            <a:spLocks noGrp="1"/>
          </p:cNvSpPr>
          <p:nvPr>
            <p:ph type="sldNum" sz="quarter" idx="12"/>
          </p:nvPr>
        </p:nvSpPr>
        <p:spPr/>
        <p:txBody>
          <a:bodyPr/>
          <a:lstStyle/>
          <a:p>
            <a:pPr>
              <a:defRPr/>
            </a:pPr>
            <a:fld id="{3FF2C605-4958-CF43-AA48-80339EFDB0AF}" type="slidenum">
              <a:rPr lang="en-US" smtClean="0"/>
              <a:pPr>
                <a:defRPr/>
              </a:pPr>
              <a:t>15</a:t>
            </a:fld>
            <a:endParaRPr lang="en-US"/>
          </a:p>
        </p:txBody>
      </p:sp>
    </p:spTree>
    <p:extLst>
      <p:ext uri="{BB962C8B-B14F-4D97-AF65-F5344CB8AC3E}">
        <p14:creationId xmlns:p14="http://schemas.microsoft.com/office/powerpoint/2010/main" val="4104262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C70AF-3FEC-0222-EFB3-1BFD654889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E90BC8-2029-7F80-1AEE-233C71E00AFC}"/>
              </a:ext>
            </a:extLst>
          </p:cNvPr>
          <p:cNvSpPr>
            <a:spLocks noGrp="1"/>
          </p:cNvSpPr>
          <p:nvPr>
            <p:ph type="title"/>
          </p:nvPr>
        </p:nvSpPr>
        <p:spPr>
          <a:xfrm>
            <a:off x="609600" y="532366"/>
            <a:ext cx="10972800" cy="1068387"/>
          </a:xfrm>
        </p:spPr>
        <p:txBody>
          <a:bodyPr/>
          <a:lstStyle/>
          <a:p>
            <a:r>
              <a:rPr lang="en-US" dirty="0"/>
              <a:t>Module Review</a:t>
            </a:r>
          </a:p>
        </p:txBody>
      </p:sp>
      <p:sp>
        <p:nvSpPr>
          <p:cNvPr id="3" name="Content Placeholder 2">
            <a:extLst>
              <a:ext uri="{FF2B5EF4-FFF2-40B4-BE49-F238E27FC236}">
                <a16:creationId xmlns:a16="http://schemas.microsoft.com/office/drawing/2014/main" id="{46D0F5D7-E4FC-70F2-937E-305997B88312}"/>
              </a:ext>
            </a:extLst>
          </p:cNvPr>
          <p:cNvSpPr>
            <a:spLocks noGrp="1"/>
          </p:cNvSpPr>
          <p:nvPr>
            <p:ph idx="1"/>
          </p:nvPr>
        </p:nvSpPr>
        <p:spPr>
          <a:xfrm>
            <a:off x="609600" y="1600753"/>
            <a:ext cx="10972800" cy="4525412"/>
          </a:xfrm>
        </p:spPr>
        <p:txBody>
          <a:bodyPr/>
          <a:lstStyle/>
          <a:p>
            <a:r>
              <a:rPr lang="en-US" dirty="0"/>
              <a:t>Fuel swelling and dimensional change</a:t>
            </a:r>
          </a:p>
          <a:p>
            <a:pPr lvl="1"/>
            <a:r>
              <a:rPr lang="en-US" dirty="0"/>
              <a:t>thermal expansion, fission product swelling, creep, densification</a:t>
            </a:r>
          </a:p>
          <a:p>
            <a:r>
              <a:rPr lang="en-US" dirty="0"/>
              <a:t>Zirconium cladding</a:t>
            </a:r>
          </a:p>
          <a:p>
            <a:pPr lvl="1"/>
            <a:r>
              <a:rPr lang="en-US" dirty="0"/>
              <a:t>processing, irradiation growth, creep, hydrides, hardening, etc.</a:t>
            </a:r>
          </a:p>
          <a:p>
            <a:r>
              <a:rPr lang="en-US" dirty="0"/>
              <a:t>Pellet/Cladding Interaction</a:t>
            </a:r>
          </a:p>
          <a:p>
            <a:pPr lvl="1"/>
            <a:r>
              <a:rPr lang="en-US" dirty="0"/>
              <a:t>SCC</a:t>
            </a:r>
          </a:p>
          <a:p>
            <a:endParaRPr lang="en-US" dirty="0"/>
          </a:p>
          <a:p>
            <a:pPr lvl="1"/>
            <a:endParaRPr lang="en-US" dirty="0"/>
          </a:p>
        </p:txBody>
      </p:sp>
      <p:sp>
        <p:nvSpPr>
          <p:cNvPr id="4" name="Slide Number Placeholder 3">
            <a:extLst>
              <a:ext uri="{FF2B5EF4-FFF2-40B4-BE49-F238E27FC236}">
                <a16:creationId xmlns:a16="http://schemas.microsoft.com/office/drawing/2014/main" id="{78FC6CEE-645D-0DFE-3239-2BC13F21FBAB}"/>
              </a:ext>
            </a:extLst>
          </p:cNvPr>
          <p:cNvSpPr>
            <a:spLocks noGrp="1"/>
          </p:cNvSpPr>
          <p:nvPr>
            <p:ph type="sldNum" sz="quarter" idx="12"/>
          </p:nvPr>
        </p:nvSpPr>
        <p:spPr/>
        <p:txBody>
          <a:bodyPr/>
          <a:lstStyle/>
          <a:p>
            <a:pPr>
              <a:defRPr/>
            </a:pPr>
            <a:fld id="{3FF2C605-4958-CF43-AA48-80339EFDB0AF}" type="slidenum">
              <a:rPr lang="en-US" smtClean="0"/>
              <a:pPr>
                <a:defRPr/>
              </a:pPr>
              <a:t>16</a:t>
            </a:fld>
            <a:endParaRPr lang="en-US"/>
          </a:p>
        </p:txBody>
      </p:sp>
    </p:spTree>
    <p:extLst>
      <p:ext uri="{BB962C8B-B14F-4D97-AF65-F5344CB8AC3E}">
        <p14:creationId xmlns:p14="http://schemas.microsoft.com/office/powerpoint/2010/main" val="12102034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02784-E12D-843C-E794-523F2F503AF8}"/>
              </a:ext>
            </a:extLst>
          </p:cNvPr>
          <p:cNvSpPr>
            <a:spLocks noGrp="1"/>
          </p:cNvSpPr>
          <p:nvPr>
            <p:ph type="title"/>
          </p:nvPr>
        </p:nvSpPr>
        <p:spPr/>
        <p:txBody>
          <a:bodyPr/>
          <a:lstStyle/>
          <a:p>
            <a:r>
              <a:rPr lang="en-US" dirty="0"/>
              <a:t>Problem Session</a:t>
            </a:r>
          </a:p>
        </p:txBody>
      </p:sp>
      <p:sp>
        <p:nvSpPr>
          <p:cNvPr id="3" name="Content Placeholder 2">
            <a:extLst>
              <a:ext uri="{FF2B5EF4-FFF2-40B4-BE49-F238E27FC236}">
                <a16:creationId xmlns:a16="http://schemas.microsoft.com/office/drawing/2014/main" id="{76ED508B-08AC-41A9-6B12-9BE088C05FA4}"/>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C240E768-E852-CF2C-B95D-A17E75086D0C}"/>
              </a:ext>
            </a:extLst>
          </p:cNvPr>
          <p:cNvSpPr>
            <a:spLocks noGrp="1"/>
          </p:cNvSpPr>
          <p:nvPr>
            <p:ph type="sldNum" sz="quarter" idx="12"/>
          </p:nvPr>
        </p:nvSpPr>
        <p:spPr/>
        <p:txBody>
          <a:bodyPr/>
          <a:lstStyle/>
          <a:p>
            <a:pPr>
              <a:defRPr/>
            </a:pPr>
            <a:fld id="{3FF2C605-4958-CF43-AA48-80339EFDB0AF}" type="slidenum">
              <a:rPr lang="en-US" smtClean="0"/>
              <a:pPr>
                <a:defRPr/>
              </a:pPr>
              <a:t>17</a:t>
            </a:fld>
            <a:endParaRPr lang="en-US"/>
          </a:p>
        </p:txBody>
      </p:sp>
    </p:spTree>
    <p:extLst>
      <p:ext uri="{BB962C8B-B14F-4D97-AF65-F5344CB8AC3E}">
        <p14:creationId xmlns:p14="http://schemas.microsoft.com/office/powerpoint/2010/main" val="1942034727"/>
      </p:ext>
    </p:extLst>
  </p:cSld>
  <p:clrMapOvr>
    <a:masterClrMapping/>
  </p:clrMapOvr>
</p:sld>
</file>

<file path=ppt/theme/theme1.xml><?xml version="1.0" encoding="utf-8"?>
<a:theme xmlns:a="http://schemas.openxmlformats.org/drawingml/2006/main" name="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17354</TotalTime>
  <Words>1316</Words>
  <Application>Microsoft Macintosh PowerPoint</Application>
  <PresentationFormat>Widescreen</PresentationFormat>
  <Paragraphs>126</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Helvetica</vt:lpstr>
      <vt:lpstr>NCStateU-horizontal-left-logo</vt:lpstr>
      <vt:lpstr>Nuclear Fuel Performance</vt:lpstr>
      <vt:lpstr>Housekeeping</vt:lpstr>
      <vt:lpstr>MOOSE Project Part 2</vt:lpstr>
      <vt:lpstr>MOOSE Part 2 Writeup</vt:lpstr>
      <vt:lpstr>Last Time</vt:lpstr>
      <vt:lpstr>Rim/HBS Region</vt:lpstr>
      <vt:lpstr>Incubation Time</vt:lpstr>
      <vt:lpstr>Crack Propagation</vt:lpstr>
      <vt:lpstr>Through-Cracks</vt:lpstr>
      <vt:lpstr>Reactor Susceptibility</vt:lpstr>
      <vt:lpstr>Reactor Susceptibility</vt:lpstr>
      <vt:lpstr>PCI Mitigation</vt:lpstr>
      <vt:lpstr>PCI Mitigation</vt:lpstr>
      <vt:lpstr>End of Module 3</vt:lpstr>
      <vt:lpstr>Module Review</vt:lpstr>
      <vt:lpstr>Module Review</vt:lpstr>
      <vt:lpstr>Problem Session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Fission Products</dc:title>
  <dc:creator>Benjamin Beeler</dc:creator>
  <cp:lastModifiedBy>Benjamin Beeler</cp:lastModifiedBy>
  <cp:revision>143</cp:revision>
  <dcterms:created xsi:type="dcterms:W3CDTF">2020-02-19T20:03:05Z</dcterms:created>
  <dcterms:modified xsi:type="dcterms:W3CDTF">2026-03-24T13:56:35Z</dcterms:modified>
</cp:coreProperties>
</file>
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537" r:id="rId2"/>
    <p:sldId id="331" r:id="rId3"/>
    <p:sldId id="332" r:id="rId4"/>
    <p:sldId id="592" r:id="rId5"/>
    <p:sldId id="587" r:id="rId6"/>
    <p:sldId id="574" r:id="rId7"/>
    <p:sldId id="593" r:id="rId8"/>
    <p:sldId id="567" r:id="rId9"/>
    <p:sldId id="594" r:id="rId10"/>
    <p:sldId id="589" r:id="rId11"/>
    <p:sldId id="595" r:id="rId12"/>
    <p:sldId id="596" r:id="rId13"/>
    <p:sldId id="533" r:id="rId14"/>
    <p:sldId id="535" r:id="rId15"/>
    <p:sldId id="534" r:id="rId16"/>
    <p:sldId id="538" r:id="rId17"/>
    <p:sldId id="539" r:id="rId18"/>
    <p:sldId id="540" r:id="rId19"/>
    <p:sldId id="541" r:id="rId20"/>
    <p:sldId id="542" r:id="rId21"/>
    <p:sldId id="543" r:id="rId22"/>
    <p:sldId id="570" r:id="rId23"/>
    <p:sldId id="566" r:id="rId24"/>
    <p:sldId id="283" r:id="rId25"/>
    <p:sldId id="284" r:id="rId26"/>
    <p:sldId id="285" r:id="rId27"/>
    <p:sldId id="577" r:id="rId28"/>
    <p:sldId id="585" r:id="rId29"/>
    <p:sldId id="579" r:id="rId30"/>
    <p:sldId id="586" r:id="rId31"/>
    <p:sldId id="548" r:id="rId32"/>
    <p:sldId id="58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9"/>
    <p:restoredTop sz="96327"/>
  </p:normalViewPr>
  <p:slideViewPr>
    <p:cSldViewPr snapToGrid="0" snapToObjects="1">
      <p:cViewPr varScale="1">
        <p:scale>
          <a:sx n="123" d="100"/>
          <a:sy n="123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4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787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56266"/>
            <a:ext cx="10972800" cy="44698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5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3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442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06137"/>
            <a:ext cx="5384800" cy="44200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26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543" y="554426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5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6557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3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2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8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0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2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52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442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06137"/>
            <a:ext cx="5384800" cy="44200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4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5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72" r:id="rId13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tiff"/><Relationship Id="rId4" Type="http://schemas.openxmlformats.org/officeDocument/2006/relationships/image" Target="../media/image9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mooseframework.inl.gov/bison/source/materials/UO2Thermal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0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2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4273-79E0-2143-B0E7-F1AE74C6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Thermal Conductivity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CA8FA-3700-FA48-9CDB-34677C5BC7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empirical model used in BISON is the NFIR model</a:t>
                </a:r>
              </a:p>
              <a:p>
                <a:r>
                  <a:rPr lang="en-US" dirty="0"/>
                  <a:t>The model is a function of the temperature T (in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C) and the burnup β (in MWD/</a:t>
                </a:r>
                <a:r>
                  <a:rPr lang="en-US" dirty="0" err="1"/>
                  <a:t>kgU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CA8FA-3700-FA48-9CDB-34677C5BC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0064F-A733-8C43-8392-E5E8600C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161884-8184-A446-8369-02FC42382906}"/>
              </a:ext>
            </a:extLst>
          </p:cNvPr>
          <p:cNvGrpSpPr/>
          <p:nvPr/>
        </p:nvGrpSpPr>
        <p:grpSpPr>
          <a:xfrm>
            <a:off x="502731" y="3799145"/>
            <a:ext cx="7320853" cy="2096641"/>
            <a:chOff x="1196982" y="3800021"/>
            <a:chExt cx="8483600" cy="2341639"/>
          </a:xfrm>
        </p:grpSpPr>
        <p:pic>
          <p:nvPicPr>
            <p:cNvPr id="5" name="Picture 4" descr="latex-image-1.pdf">
              <a:extLst>
                <a:ext uri="{FF2B5EF4-FFF2-40B4-BE49-F238E27FC236}">
                  <a16:creationId xmlns:a16="http://schemas.microsoft.com/office/drawing/2014/main" id="{DE478E37-2576-0844-AC97-9EE5E18D5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3800021"/>
              <a:ext cx="5410200" cy="241300"/>
            </a:xfrm>
            <a:prstGeom prst="rect">
              <a:avLst/>
            </a:prstGeom>
          </p:spPr>
        </p:pic>
        <p:pic>
          <p:nvPicPr>
            <p:cNvPr id="6" name="Picture 5" descr="latex-image-1.pdf">
              <a:extLst>
                <a:ext uri="{FF2B5EF4-FFF2-40B4-BE49-F238E27FC236}">
                  <a16:creationId xmlns:a16="http://schemas.microsoft.com/office/drawing/2014/main" id="{B76DE0A9-E0F6-8F41-AD1A-A90FA7792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4168160"/>
              <a:ext cx="3492500" cy="558800"/>
            </a:xfrm>
            <a:prstGeom prst="rect">
              <a:avLst/>
            </a:prstGeom>
          </p:spPr>
        </p:pic>
        <p:pic>
          <p:nvPicPr>
            <p:cNvPr id="7" name="Picture 6" descr="latex-image-1.pdf">
              <a:extLst>
                <a:ext uri="{FF2B5EF4-FFF2-40B4-BE49-F238E27FC236}">
                  <a16:creationId xmlns:a16="http://schemas.microsoft.com/office/drawing/2014/main" id="{07D79B9A-F3D8-CA44-BCDB-D956BDDDE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4726960"/>
              <a:ext cx="8483600" cy="533400"/>
            </a:xfrm>
            <a:prstGeom prst="rect">
              <a:avLst/>
            </a:prstGeom>
          </p:spPr>
        </p:pic>
        <p:pic>
          <p:nvPicPr>
            <p:cNvPr id="8" name="Picture 7" descr="latex-image-1.pdf">
              <a:extLst>
                <a:ext uri="{FF2B5EF4-FFF2-40B4-BE49-F238E27FC236}">
                  <a16:creationId xmlns:a16="http://schemas.microsoft.com/office/drawing/2014/main" id="{D6D82B0A-D859-4C48-9C99-94DDDA26D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5260360"/>
              <a:ext cx="6858000" cy="533400"/>
            </a:xfrm>
            <a:prstGeom prst="rect">
              <a:avLst/>
            </a:prstGeom>
          </p:spPr>
        </p:pic>
        <p:pic>
          <p:nvPicPr>
            <p:cNvPr id="9" name="Picture 8" descr="latex-image-1.pdf">
              <a:extLst>
                <a:ext uri="{FF2B5EF4-FFF2-40B4-BE49-F238E27FC236}">
                  <a16:creationId xmlns:a16="http://schemas.microsoft.com/office/drawing/2014/main" id="{7DB420B2-719A-E644-AD3A-33C902D25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5862260"/>
              <a:ext cx="2857500" cy="2794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C7CCD86-1EDE-D740-B56C-3C28CA570B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239" y="3028901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0A2B-E6A0-8D42-B5CA-06A96433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6D93-A352-E54C-89CD-B17941B5B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95355"/>
            <a:ext cx="7527235" cy="4230810"/>
          </a:xfrm>
        </p:spPr>
        <p:txBody>
          <a:bodyPr/>
          <a:lstStyle/>
          <a:p>
            <a:r>
              <a:rPr lang="en-US" dirty="0"/>
              <a:t>The R</a:t>
            </a:r>
            <a:r>
              <a:rPr lang="en-US" baseline="-25000" dirty="0"/>
              <a:t>f</a:t>
            </a:r>
            <a:r>
              <a:rPr lang="en-US" dirty="0"/>
              <a:t> function switches between two k</a:t>
            </a:r>
            <a:r>
              <a:rPr lang="en-US" baseline="-25000" dirty="0"/>
              <a:t>ph</a:t>
            </a:r>
            <a:r>
              <a:rPr lang="en-US" dirty="0"/>
              <a:t> functions, accounting for thermal recovery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37B61-097A-0F42-8BB5-D4D4A35F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AC627-0B90-284A-8A60-57C40309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655416"/>
            <a:ext cx="2349907" cy="2267585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9E710241-3779-7943-8F38-E1F56D1CE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2176" y="3178832"/>
            <a:ext cx="3013824" cy="500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76AC22-529F-0C45-BB86-FFB77D5CB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8" y="3417921"/>
            <a:ext cx="4191000" cy="307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EA9F60-2980-B048-B5BC-7B5CAA6BF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831" y="3417921"/>
            <a:ext cx="41910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6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F56E-684B-9E46-0184-D937763B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MOOSE/BISON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BB7E-77F3-727B-EAA1-B368F937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685183" cy="3965670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https://mooseframework.inl.gov/bison/source/materials/UO2Thermal.html</a:t>
            </a:r>
            <a:endParaRPr lang="en-US" dirty="0"/>
          </a:p>
          <a:p>
            <a:r>
              <a:rPr lang="en-US" dirty="0"/>
              <a:t>Fink-</a:t>
            </a:r>
            <a:r>
              <a:rPr lang="en-US" dirty="0" err="1"/>
              <a:t>Lucuta</a:t>
            </a:r>
            <a:endParaRPr lang="en-US" dirty="0"/>
          </a:p>
          <a:p>
            <a:r>
              <a:rPr lang="en-US" dirty="0"/>
              <a:t>Halden</a:t>
            </a:r>
          </a:p>
          <a:p>
            <a:r>
              <a:rPr lang="en-US" dirty="0"/>
              <a:t>NFIR</a:t>
            </a:r>
          </a:p>
          <a:p>
            <a:r>
              <a:rPr lang="en-US" dirty="0"/>
              <a:t>NFI</a:t>
            </a:r>
          </a:p>
          <a:p>
            <a:r>
              <a:rPr lang="en-US" dirty="0"/>
              <a:t>Ronchi-</a:t>
            </a:r>
            <a:r>
              <a:rPr lang="en-US" dirty="0" err="1"/>
              <a:t>Staicu</a:t>
            </a:r>
            <a:endParaRPr lang="en-US" dirty="0"/>
          </a:p>
          <a:p>
            <a:r>
              <a:rPr lang="en-US" dirty="0" err="1"/>
              <a:t>Toptan</a:t>
            </a:r>
            <a:r>
              <a:rPr lang="en-US" dirty="0"/>
              <a:t> (NCSU alum)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8E50C-9D8E-C5D2-B0DC-E78DA395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DF0DC7-0811-87A2-B79F-93AA7A530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0749" y="2160495"/>
            <a:ext cx="4681651" cy="37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45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0FE3-9B84-154C-911C-3D55F7F2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Other Physical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3119-4514-4441-BC64-B0004A46E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293360" cy="4157663"/>
          </a:xfrm>
        </p:spPr>
        <p:txBody>
          <a:bodyPr/>
          <a:lstStyle/>
          <a:p>
            <a:r>
              <a:rPr lang="en-US" sz="2000" dirty="0"/>
              <a:t>An important effect of radiation damage is the volume increase of the crystal lattice, leading to macroscopic swelling of the fuel material</a:t>
            </a:r>
          </a:p>
          <a:p>
            <a:r>
              <a:rPr lang="en-US" sz="2000" dirty="0"/>
              <a:t>Alpha particle damage alone can cause approximately 0.4% swelling</a:t>
            </a:r>
          </a:p>
          <a:p>
            <a:r>
              <a:rPr lang="en-US" sz="2000" dirty="0"/>
              <a:t>Mechanical properties also vary with damage</a:t>
            </a:r>
          </a:p>
          <a:p>
            <a:r>
              <a:rPr lang="en-US" sz="2000" dirty="0"/>
              <a:t>Hardness increases as a function of dpa</a:t>
            </a:r>
          </a:p>
          <a:p>
            <a:r>
              <a:rPr lang="en-US" sz="2000" dirty="0"/>
              <a:t>Young’s modulus decreases with dpa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32C78-AEC2-7543-950C-5BE2E21D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F6D67-D098-534E-BE8E-7E834262E02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075" y="3348136"/>
            <a:ext cx="3003815" cy="2236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E15732-A7E7-6540-807F-7F89C46C67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1660" y="857449"/>
            <a:ext cx="2918460" cy="2448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F9D706-B520-DB48-82D5-5F14A99B80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0890" y="3262805"/>
            <a:ext cx="3231109" cy="233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50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E65-EA33-1E27-56CE-E2C2B17D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D6AA5-7E15-D5D2-21E6-D2B97AFB3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95346"/>
            <a:ext cx="6984345" cy="4330819"/>
          </a:xfrm>
        </p:spPr>
        <p:txBody>
          <a:bodyPr/>
          <a:lstStyle/>
          <a:p>
            <a:r>
              <a:rPr lang="en-US" sz="2000" dirty="0"/>
              <a:t>At the beginning of the irradiation, the local power is ~10% higher on the pellet periphery, due to self-shielding effect in 235U fissions driven by neutrons entering the rods after interactions in the water</a:t>
            </a:r>
          </a:p>
          <a:p>
            <a:r>
              <a:rPr lang="en-US" sz="2000" dirty="0"/>
              <a:t>With increasing burnup, a strong capture of neutrons by U-238 in the resonance range occurs at the periphery of the fuel</a:t>
            </a:r>
          </a:p>
          <a:p>
            <a:r>
              <a:rPr lang="en-US" sz="2000" dirty="0"/>
              <a:t>This leads to the production of Pu-239, and leads to a higher fissile density and thus a further increase in the local power/burnup</a:t>
            </a:r>
          </a:p>
          <a:p>
            <a:r>
              <a:rPr lang="en-US" sz="2000" dirty="0"/>
              <a:t>This high local burnup area is on the outer ring of the fuel and is about 200 microns thick, which represents about 8% of the fuel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D40A2-C122-748D-287A-ABF9B301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A6F1C-644B-3526-0AF4-93577663AE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3945" y="2160495"/>
            <a:ext cx="4505289" cy="351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2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CF0A-FB4F-F14A-9D10-B2D7EF59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965F-60E3-9840-A7E1-862600FE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7649"/>
            <a:ext cx="6374295" cy="4308516"/>
          </a:xfrm>
        </p:spPr>
        <p:txBody>
          <a:bodyPr/>
          <a:lstStyle/>
          <a:p>
            <a:r>
              <a:rPr lang="en-US" sz="2000" dirty="0"/>
              <a:t>When thermal recovery is not sufficiently efficient (at lower temperatures), the accumulation of defects at high burnup can lead to the instability of the crystalline structure, initiating a restructuring driven by the energy stored in the material</a:t>
            </a:r>
          </a:p>
          <a:p>
            <a:r>
              <a:rPr lang="en-US" sz="2000" dirty="0"/>
              <a:t>This can be amorphization (not observed in UO2) or recrystallization/polygonization</a:t>
            </a:r>
          </a:p>
          <a:p>
            <a:r>
              <a:rPr lang="en-US" sz="2000" dirty="0"/>
              <a:t>Polygonization is the rearrangement of dislocations into sub-domain walls with slightly misaligned grains</a:t>
            </a:r>
          </a:p>
          <a:p>
            <a:r>
              <a:rPr lang="en-US" sz="2000" dirty="0"/>
              <a:t>In UO2, grains subdivide from 10 microns in size to 100-200 nm size, and a densely porous structure is formed (~20% porosity)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CB2B-E992-4441-95C8-78A017C7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CBAF5-E9B2-7248-9AE1-49352A7604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0598" y="2571267"/>
            <a:ext cx="5081402" cy="262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76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C53A-0044-E74B-AB34-073F5125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DC90-CC3F-2D46-ABBB-956043957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825924" cy="3965670"/>
          </a:xfrm>
        </p:spPr>
        <p:txBody>
          <a:bodyPr/>
          <a:lstStyle/>
          <a:p>
            <a:r>
              <a:rPr lang="en-US" sz="2000" dirty="0"/>
              <a:t>The increase of the relative porosity volume degrades the material conductivity and reduces the mean grain size</a:t>
            </a:r>
          </a:p>
          <a:p>
            <a:r>
              <a:rPr lang="en-US" sz="2000" dirty="0"/>
              <a:t>On the other hand, the intragranular irradiation defect-cleaning improves the fuel intrinsic thermal conductivity</a:t>
            </a:r>
          </a:p>
          <a:p>
            <a:r>
              <a:rPr lang="en-US" sz="2000" dirty="0"/>
              <a:t>Fission gas in HBS bubble is retained, not released</a:t>
            </a:r>
          </a:p>
          <a:p>
            <a:r>
              <a:rPr lang="en-US" sz="2000" dirty="0"/>
              <a:t>Exact mechanism of HBS formation is not fully understood, believe to be polygonization, interacting with fission gas bubbles, dislocation growth, and high levels of energy deposition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D85E4-BA66-354B-9C43-D5865BAE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41BE0-6844-054D-9C3D-11E7D80FAB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69366" y="3270679"/>
            <a:ext cx="4691364" cy="1845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3D81E5-FE66-954A-BF79-8BA494556A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1895" y="2708475"/>
            <a:ext cx="3051205" cy="225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5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1FB7-A422-CC47-3EB9-B1E9E8DE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C1C5-DC4A-95FC-775C-721033291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506817" cy="3965670"/>
          </a:xfrm>
        </p:spPr>
        <p:txBody>
          <a:bodyPr/>
          <a:lstStyle/>
          <a:p>
            <a:r>
              <a:rPr lang="en-US" sz="2000" dirty="0"/>
              <a:t>HBS has a high fission gas retention capacity, and does not evolve toward an open system of interconnected channels, even when porosity reaches very high values</a:t>
            </a:r>
          </a:p>
          <a:p>
            <a:r>
              <a:rPr lang="en-US" sz="2000" dirty="0"/>
              <a:t>Thus, the HBS is a relatively stable structure, limiting pressure increase in the plenum</a:t>
            </a:r>
          </a:p>
          <a:p>
            <a:r>
              <a:rPr lang="en-US" sz="2000" dirty="0"/>
              <a:t>While burnup is higher in the rim region, the HBS polygonization removes/sweeps defects to new grain boundaries, removing some phonon scatterers</a:t>
            </a:r>
          </a:p>
          <a:p>
            <a:r>
              <a:rPr lang="en-US" sz="2000" dirty="0"/>
              <a:t>Despite high porosity, thermal conductivity increases, slightly decreasing centerline temperatures in high burnup fuel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B1FEA-7CDB-4C28-CDE5-8C028979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19B49-BF83-C00D-78FA-752813401A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1111" y="2074829"/>
            <a:ext cx="3821289" cy="2550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6D0638-F448-C209-51D4-B99C2D476A7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8431" y="4625658"/>
            <a:ext cx="2946647" cy="19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51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F886-29FF-7545-BBF9-5A5DD986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7866"/>
            <a:ext cx="10972800" cy="1068387"/>
          </a:xfrm>
        </p:spPr>
        <p:txBody>
          <a:bodyPr/>
          <a:lstStyle/>
          <a:p>
            <a:r>
              <a:rPr lang="en-US" dirty="0"/>
              <a:t>HBS and 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8F3E-0DFC-EE47-AAAC-5F32BE74B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725478" cy="3965670"/>
          </a:xfrm>
        </p:spPr>
        <p:txBody>
          <a:bodyPr/>
          <a:lstStyle/>
          <a:p>
            <a:r>
              <a:rPr lang="en-US" dirty="0"/>
              <a:t>The large increase in porosity within the HBS in high burnup fuel also affects fission gas release, providing local intergranular accommodation for retaining fission gases</a:t>
            </a:r>
          </a:p>
          <a:p>
            <a:r>
              <a:rPr lang="en-US" dirty="0"/>
              <a:t>Although the formation of the HBS promotes local fission gas retention, the absolute amount of fission gases that are released to the gap increases with burnup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C3E58-1917-1447-9D06-A9D9853D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91CD0-F1F0-7B4F-9B77-8511B0997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991" y="2075621"/>
            <a:ext cx="4433018" cy="322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7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7CAA-C15D-A23E-A5D9-0DBFBEF7E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Effects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D1E5-B8B5-EB31-B642-DFCB5E5F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Formation of loops of voids as primary defect clusters</a:t>
            </a:r>
          </a:p>
          <a:p>
            <a:r>
              <a:rPr lang="en-US" dirty="0"/>
              <a:t>Radiation effects include both chemistry and physical property changes</a:t>
            </a:r>
          </a:p>
          <a:p>
            <a:r>
              <a:rPr lang="en-US" dirty="0"/>
              <a:t>One of the key physical properties modified is the thermal conductivity</a:t>
            </a:r>
          </a:p>
          <a:p>
            <a:pPr lvl="1"/>
            <a:r>
              <a:rPr lang="en-US" dirty="0"/>
              <a:t>have several empirical (and mechanistic) models to account for burnup and temperature</a:t>
            </a:r>
          </a:p>
          <a:p>
            <a:r>
              <a:rPr lang="en-US" dirty="0"/>
              <a:t>HBS forms towards the end of life, generating a fine-grained structure with high porosity</a:t>
            </a:r>
          </a:p>
          <a:p>
            <a:r>
              <a:rPr lang="en-US" dirty="0"/>
              <a:t>HBS retains fission gas and slightly increases thermal conductivity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48CE9-A7E5-9148-B3CB-661558CE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87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Fuel chemistry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5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6DFF3-E58B-B146-BCE3-A43817B9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30250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Fuel Chemistry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9C9FA-451C-AC4F-ADF5-351E29B2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577797" cy="396567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UO</a:t>
            </a:r>
            <a:r>
              <a:rPr lang="en-US" baseline="-25000" dirty="0"/>
              <a:t>2</a:t>
            </a:r>
            <a:r>
              <a:rPr lang="en-US" dirty="0"/>
              <a:t> is an ionic compound that must have balanced charges</a:t>
            </a:r>
          </a:p>
          <a:p>
            <a:r>
              <a:rPr lang="en-US" dirty="0"/>
              <a:t>What is the charge of a typical oxygen ion?</a:t>
            </a:r>
          </a:p>
          <a:p>
            <a:pPr lvl="1"/>
            <a:r>
              <a:rPr lang="en-US" dirty="0"/>
              <a:t>O</a:t>
            </a:r>
            <a:r>
              <a:rPr lang="en-US" baseline="30000" dirty="0"/>
              <a:t>2-</a:t>
            </a:r>
          </a:p>
          <a:p>
            <a:r>
              <a:rPr lang="en-US" sz="2200" dirty="0"/>
              <a:t>Uranium valance states</a:t>
            </a:r>
          </a:p>
          <a:p>
            <a:pPr lvl="1"/>
            <a:r>
              <a:rPr lang="en-US" dirty="0"/>
              <a:t>Possible:  U</a:t>
            </a:r>
            <a:r>
              <a:rPr lang="en-US" baseline="30000" dirty="0"/>
              <a:t>3+</a:t>
            </a:r>
            <a:r>
              <a:rPr lang="en-US" dirty="0"/>
              <a:t>, U</a:t>
            </a:r>
            <a:r>
              <a:rPr lang="en-US" baseline="30000" dirty="0"/>
              <a:t>4+</a:t>
            </a:r>
            <a:r>
              <a:rPr lang="en-US" dirty="0"/>
              <a:t>, U</a:t>
            </a:r>
            <a:r>
              <a:rPr lang="en-US" baseline="30000" dirty="0"/>
              <a:t>5+</a:t>
            </a:r>
            <a:r>
              <a:rPr lang="en-US" dirty="0"/>
              <a:t>, U</a:t>
            </a:r>
            <a:r>
              <a:rPr lang="en-US" baseline="30000" dirty="0"/>
              <a:t>6+</a:t>
            </a:r>
            <a:endParaRPr lang="en-US" dirty="0"/>
          </a:p>
          <a:p>
            <a:pPr lvl="1"/>
            <a:r>
              <a:rPr lang="en-US" dirty="0"/>
              <a:t>Most stable:  U</a:t>
            </a:r>
            <a:r>
              <a:rPr lang="en-US" baseline="30000" dirty="0"/>
              <a:t>4+</a:t>
            </a:r>
            <a:r>
              <a:rPr lang="en-US" dirty="0"/>
              <a:t>, U</a:t>
            </a:r>
            <a:r>
              <a:rPr lang="en-US" baseline="30000" dirty="0"/>
              <a:t>5+</a:t>
            </a:r>
            <a:r>
              <a:rPr lang="en-US" dirty="0"/>
              <a:t>, U</a:t>
            </a:r>
            <a:r>
              <a:rPr lang="en-US" baseline="30000" dirty="0"/>
              <a:t>6+</a:t>
            </a:r>
          </a:p>
          <a:p>
            <a:pPr lvl="1"/>
            <a:r>
              <a:rPr lang="en-US" dirty="0"/>
              <a:t>Beyond UO2, can have U4O9, U3O8, UO3</a:t>
            </a:r>
          </a:p>
          <a:p>
            <a:r>
              <a:rPr lang="en-US" dirty="0"/>
              <a:t>The UO2 structure is very stable all the way up to the melting temperature and down to extremely low temperatures, even with irradiation damage</a:t>
            </a:r>
          </a:p>
          <a:p>
            <a:r>
              <a:rPr lang="en-US" dirty="0"/>
              <a:t>There is space in the uranium lattice that can accommodate fission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0EE1F-BA2C-8841-B9B2-3A759C6D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A66D6-9877-C742-9705-99925E3F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15" y="2342234"/>
            <a:ext cx="2942207" cy="27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8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F221F-1537-8F40-9633-747DE954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3636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O/M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2533A-69FC-7A4B-B7C0-5B1BFC16D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355476" cy="3965670"/>
          </a:xfrm>
        </p:spPr>
        <p:txBody>
          <a:bodyPr>
            <a:noAutofit/>
          </a:bodyPr>
          <a:lstStyle/>
          <a:p>
            <a:r>
              <a:rPr lang="en-US" sz="2000" dirty="0"/>
              <a:t>The ratio of oxygen to uranium metal (O/M ratio) can vary</a:t>
            </a:r>
          </a:p>
          <a:p>
            <a:r>
              <a:rPr lang="en-US" sz="2000" dirty="0"/>
              <a:t>This is the stoichiometry</a:t>
            </a:r>
          </a:p>
          <a:p>
            <a:r>
              <a:rPr lang="en-US" sz="2000" dirty="0"/>
              <a:t>The homogeneity range of uranium dioxide extends to both hypo-(UO</a:t>
            </a:r>
            <a:r>
              <a:rPr lang="en-US" sz="2000" baseline="-25000" dirty="0"/>
              <a:t>2-x</a:t>
            </a:r>
            <a:r>
              <a:rPr lang="en-US" sz="2000" dirty="0"/>
              <a:t>) and hyper(UO</a:t>
            </a:r>
            <a:r>
              <a:rPr lang="en-US" sz="2000" baseline="-25000" dirty="0"/>
              <a:t>2+x</a:t>
            </a:r>
            <a:r>
              <a:rPr lang="en-US" sz="2000" dirty="0"/>
              <a:t>)-stoichiometric compositions in oxygen</a:t>
            </a:r>
          </a:p>
          <a:p>
            <a:r>
              <a:rPr lang="en-US" sz="2000" dirty="0"/>
              <a:t>The minimum and maximum oxygen contents in the dioxide correspond to the compounds with the formula of respectively UO</a:t>
            </a:r>
            <a:r>
              <a:rPr lang="en-US" sz="2000" baseline="-25000" dirty="0"/>
              <a:t>1.67</a:t>
            </a:r>
            <a:r>
              <a:rPr lang="en-US" sz="2000" dirty="0"/>
              <a:t> at 2720 K and UO</a:t>
            </a:r>
            <a:r>
              <a:rPr lang="en-US" sz="2000" baseline="-25000" dirty="0"/>
              <a:t>2.25</a:t>
            </a:r>
            <a:r>
              <a:rPr lang="en-US" sz="2000" dirty="0"/>
              <a:t> at approximately 2030 K</a:t>
            </a:r>
          </a:p>
          <a:p>
            <a:r>
              <a:rPr lang="en-US" sz="2000" dirty="0"/>
              <a:t>Will the O/M ratio go up or down during reactor operation?</a:t>
            </a:r>
          </a:p>
          <a:p>
            <a:pPr lvl="1"/>
            <a:r>
              <a:rPr lang="en-US" sz="2000" dirty="0"/>
              <a:t>It is complicated, because of the formation of fission products that also react with the oxygen, and O interaction with Zr cladding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4413-5012-E244-B057-262BEE08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5" name="Picture 1" descr="Figure 3-2 Partial phase diagram of the uranium-oxygen system, NB_Vertical lines represent the UO2 and U4O9 compounds.png">
            <a:extLst>
              <a:ext uri="{FF2B5EF4-FFF2-40B4-BE49-F238E27FC236}">
                <a16:creationId xmlns:a16="http://schemas.microsoft.com/office/drawing/2014/main" id="{9EC57A29-14B2-364D-812E-0E953FF9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5076" y="1798993"/>
            <a:ext cx="3709123" cy="4557358"/>
          </a:xfrm>
          <a:prstGeom prst="rect">
            <a:avLst/>
          </a:prstGeom>
          <a:noFill/>
          <a:ln w="6350">
            <a:solidFill>
              <a:srgbClr val="D4AD6F"/>
            </a:solidFill>
          </a:ln>
        </p:spPr>
      </p:pic>
    </p:spTree>
    <p:extLst>
      <p:ext uri="{BB962C8B-B14F-4D97-AF65-F5344CB8AC3E}">
        <p14:creationId xmlns:p14="http://schemas.microsoft.com/office/powerpoint/2010/main" val="23711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1A80-3A7B-854C-9CB0-FA06D4F0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2323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Excess 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2B08F-5F98-6940-AA96-E5383E87F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070600" cy="3965670"/>
          </a:xfrm>
        </p:spPr>
        <p:txBody>
          <a:bodyPr/>
          <a:lstStyle/>
          <a:p>
            <a:r>
              <a:rPr lang="en-US" sz="2000" dirty="0"/>
              <a:t>The crystal structure of UO</a:t>
            </a:r>
            <a:r>
              <a:rPr lang="en-US" sz="2000" baseline="-25000" dirty="0"/>
              <a:t>2</a:t>
            </a:r>
            <a:r>
              <a:rPr lang="en-US" sz="2000" dirty="0"/>
              <a:t> can accommodate extra oxygen</a:t>
            </a:r>
          </a:p>
          <a:p>
            <a:r>
              <a:rPr lang="en-US" sz="2000" dirty="0"/>
              <a:t>Excess oxygen resides at interstitial locations</a:t>
            </a:r>
          </a:p>
          <a:p>
            <a:r>
              <a:rPr lang="en-US" sz="2000" dirty="0"/>
              <a:t>Oxygen in neighboring sites is displaced</a:t>
            </a:r>
          </a:p>
          <a:p>
            <a:r>
              <a:rPr lang="en-US" sz="2000" dirty="0"/>
              <a:t>Cation valence increases to maintain electrical neutrality</a:t>
            </a:r>
          </a:p>
          <a:p>
            <a:r>
              <a:rPr lang="en-US" sz="2000" dirty="0"/>
              <a:t>Fuel fabricated to be nearly stoichiometric; i.e., UO2.00± because:</a:t>
            </a:r>
          </a:p>
          <a:p>
            <a:pPr lvl="1"/>
            <a:r>
              <a:rPr lang="en-US" sz="2000" dirty="0"/>
              <a:t>It is the most stable</a:t>
            </a:r>
          </a:p>
          <a:p>
            <a:pPr lvl="1"/>
            <a:r>
              <a:rPr lang="en-US" sz="2000" dirty="0"/>
              <a:t>It has the highest melting temperature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DBCF-FCBF-9F42-8DD6-41331E4A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FF67A4-FC9F-8A44-9633-BEE710A4913C}"/>
              </a:ext>
            </a:extLst>
          </p:cNvPr>
          <p:cNvGrpSpPr/>
          <p:nvPr/>
        </p:nvGrpSpPr>
        <p:grpSpPr>
          <a:xfrm>
            <a:off x="6850966" y="2289996"/>
            <a:ext cx="4395779" cy="3836169"/>
            <a:chOff x="2374110" y="764704"/>
            <a:chExt cx="4395779" cy="3836169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78C5330-CDB0-554E-9316-160E846B9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110" y="764704"/>
              <a:ext cx="4395779" cy="3816424"/>
            </a:xfrm>
            <a:prstGeom prst="rect">
              <a:avLst/>
            </a:prstGeom>
            <a:noFill/>
            <a:ln w="6350">
              <a:solidFill>
                <a:srgbClr val="D4AD6F"/>
              </a:solidFill>
              <a:miter lim="800000"/>
              <a:headEnd/>
              <a:tailEnd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0BBCF2-7D74-0D44-892A-9D3002BB1E26}"/>
                </a:ext>
              </a:extLst>
            </p:cNvPr>
            <p:cNvSpPr/>
            <p:nvPr/>
          </p:nvSpPr>
          <p:spPr>
            <a:xfrm>
              <a:off x="5220072" y="4293096"/>
              <a:ext cx="153112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latin typeface="Arial Narrow" pitchFamily="34" charset="0"/>
                </a:rPr>
                <a:t>[after </a:t>
              </a:r>
              <a:r>
                <a:rPr lang="en-GB" sz="1400" dirty="0" err="1">
                  <a:latin typeface="Arial Narrow" pitchFamily="34" charset="0"/>
                </a:rPr>
                <a:t>Olander</a:t>
              </a:r>
              <a:r>
                <a:rPr lang="en-GB" sz="1400" dirty="0">
                  <a:latin typeface="Arial Narrow" pitchFamily="34" charset="0"/>
                </a:rPr>
                <a:t>, 1976]</a:t>
              </a:r>
              <a:endParaRPr lang="en-US" sz="1400" dirty="0">
                <a:latin typeface="Arial Narrow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77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7A47-80DE-E44D-B626-C4652141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1611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Incorporation of Fission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CD49-AC87-ED46-B568-B75047597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001512" cy="3965670"/>
          </a:xfrm>
        </p:spPr>
        <p:txBody>
          <a:bodyPr/>
          <a:lstStyle/>
          <a:p>
            <a:r>
              <a:rPr lang="en-US" sz="2000" dirty="0"/>
              <a:t>As fission products form, the valence state of the uranium can change</a:t>
            </a:r>
          </a:p>
          <a:p>
            <a:r>
              <a:rPr lang="en-US" sz="2000" dirty="0"/>
              <a:t>Typical valence of soluble fission products is M</a:t>
            </a:r>
            <a:r>
              <a:rPr lang="en-US" sz="2000" baseline="30000" dirty="0"/>
              <a:t>3+</a:t>
            </a:r>
            <a:endParaRPr lang="en-US" sz="2000" dirty="0"/>
          </a:p>
          <a:p>
            <a:r>
              <a:rPr lang="en-US" sz="2000" dirty="0"/>
              <a:t>The uranium valence state changes to compensate</a:t>
            </a:r>
          </a:p>
          <a:p>
            <a:pPr lvl="1"/>
            <a:r>
              <a:rPr lang="en-US" sz="2000" dirty="0"/>
              <a:t>Oxygen liberated by fission</a:t>
            </a:r>
          </a:p>
          <a:p>
            <a:pPr lvl="1"/>
            <a:r>
              <a:rPr lang="en-US" sz="2000" dirty="0"/>
              <a:t>Fission products produced with M</a:t>
            </a:r>
            <a:r>
              <a:rPr lang="en-US" sz="2000" baseline="30000" dirty="0"/>
              <a:t>3+</a:t>
            </a:r>
            <a:r>
              <a:rPr lang="en-US" sz="2000" dirty="0"/>
              <a:t> valance state incorporated in fuel lattice</a:t>
            </a:r>
          </a:p>
          <a:p>
            <a:pPr lvl="1"/>
            <a:r>
              <a:rPr lang="en-US" sz="2000" dirty="0"/>
              <a:t>Uranium oxidizes from U</a:t>
            </a:r>
            <a:r>
              <a:rPr lang="en-US" sz="2000" baseline="30000" dirty="0"/>
              <a:t>4+</a:t>
            </a:r>
            <a:r>
              <a:rPr lang="en-US" sz="2000" dirty="0"/>
              <a:t> to U</a:t>
            </a:r>
            <a:r>
              <a:rPr lang="en-US" sz="2000" baseline="30000" dirty="0"/>
              <a:t>5+</a:t>
            </a:r>
            <a:r>
              <a:rPr lang="en-US" sz="2000" dirty="0"/>
              <a:t> or U</a:t>
            </a:r>
            <a:r>
              <a:rPr lang="en-US" sz="2000" baseline="30000" dirty="0"/>
              <a:t>6+</a:t>
            </a:r>
            <a:r>
              <a:rPr lang="en-US" sz="2000" dirty="0"/>
              <a:t> to maintain local electrical neutrality</a:t>
            </a:r>
            <a:endParaRPr lang="en-US" sz="2000" baseline="30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50DBB-6138-104B-B338-05583AEA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9115BEB-7F51-9B4E-B38E-5F7C6396E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52288"/>
          <a:stretch/>
        </p:blipFill>
        <p:spPr bwMode="auto">
          <a:xfrm>
            <a:off x="7360920" y="2321325"/>
            <a:ext cx="3287394" cy="3310870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3680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B9EB-99C8-E94F-BF71-3EC3B752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6741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Oxygen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75D4F-F2E0-0046-9599-A23A6B23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355034" cy="3965670"/>
          </a:xfrm>
        </p:spPr>
        <p:txBody>
          <a:bodyPr/>
          <a:lstStyle/>
          <a:p>
            <a:r>
              <a:rPr lang="en-US" sz="2000" dirty="0"/>
              <a:t>The oxygen potential is a measure of how free the oxygen is to escape/move around </a:t>
            </a:r>
          </a:p>
          <a:p>
            <a:r>
              <a:rPr lang="en-US" sz="2000" dirty="0"/>
              <a:t>Oxygen potential is defined as: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or, equivalently:</a:t>
            </a:r>
          </a:p>
          <a:p>
            <a:pPr lvl="1"/>
            <a:r>
              <a:rPr lang="en-US" sz="2000" dirty="0"/>
              <a:t>With 			= Chemical potential of oxygen</a:t>
            </a:r>
            <a:br>
              <a:rPr lang="en-US" sz="2000" dirty="0"/>
            </a:br>
            <a:r>
              <a:rPr lang="en-US" sz="2000" dirty="0"/>
              <a:t> in solution</a:t>
            </a:r>
          </a:p>
          <a:p>
            <a:pPr lvl="1"/>
            <a:r>
              <a:rPr lang="en-US" sz="2000" dirty="0"/>
              <a:t>        = Gibbs free energy of gaseous oxygen </a:t>
            </a:r>
            <a:br>
              <a:rPr lang="en-US" sz="2000" dirty="0"/>
            </a:br>
            <a:r>
              <a:rPr lang="en-US" sz="2000" dirty="0"/>
              <a:t>at temperature T and a standard pressure</a:t>
            </a:r>
            <a:br>
              <a:rPr lang="en-US" sz="2000" dirty="0"/>
            </a:br>
            <a:r>
              <a:rPr lang="en-US" sz="2000" dirty="0"/>
              <a:t>(1 atm)</a:t>
            </a:r>
          </a:p>
          <a:p>
            <a:r>
              <a:rPr lang="en-US" sz="2000" dirty="0"/>
              <a:t>It is possible to determine the stoichiometry from the oxygen potential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55CAB-9BB6-9648-87B2-A696985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AF6B3-A59E-9A42-9010-0166E00C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3429000"/>
            <a:ext cx="24384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D58F6A-341D-0C42-803C-7FB284B75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52" y="2809166"/>
            <a:ext cx="19558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26AAFA-2CA8-EA4C-B84F-4BC6AB01CF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521" t="10643" r="32188" b="6175"/>
          <a:stretch/>
        </p:blipFill>
        <p:spPr>
          <a:xfrm>
            <a:off x="2177393" y="3889330"/>
            <a:ext cx="689864" cy="348615"/>
          </a:xfrm>
          <a:prstGeom prst="rect">
            <a:avLst/>
          </a:prstGeom>
        </p:spPr>
      </p:pic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CF4791C-FABD-2D42-A67A-3197BF50C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6511" y="4548965"/>
          <a:ext cx="4381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00" imgH="241200" progId="Equation.3">
                  <p:embed/>
                </p:oleObj>
              </mc:Choice>
              <mc:Fallback>
                <p:oleObj name="Equation" r:id="rId4" imgW="253800" imgH="241200" progId="Equation.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CF4791C-FABD-2D42-A67A-3197BF50C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511" y="4548965"/>
                        <a:ext cx="43815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>
            <a:extLst>
              <a:ext uri="{FF2B5EF4-FFF2-40B4-BE49-F238E27FC236}">
                <a16:creationId xmlns:a16="http://schemas.microsoft.com/office/drawing/2014/main" id="{12915240-DE6E-D741-9C68-ECB2FA89B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737600" y="1468796"/>
            <a:ext cx="2360378" cy="1985770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0D644A-683F-7545-B09B-3CE615114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3522768"/>
            <a:ext cx="2773732" cy="319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4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B694-9015-F84F-8417-10D0CD5E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81470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Oxygen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0DF66-E678-5246-AC6E-1C4D1BC7E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7805411" cy="3965670"/>
          </a:xfrm>
        </p:spPr>
        <p:txBody>
          <a:bodyPr>
            <a:noAutofit/>
          </a:bodyPr>
          <a:lstStyle/>
          <a:p>
            <a:r>
              <a:rPr lang="en-US" sz="2000" dirty="0"/>
              <a:t>The oxygen potential  changes during irradiation, indicating change in the O/M ratio</a:t>
            </a:r>
          </a:p>
          <a:p>
            <a:r>
              <a:rPr lang="en-US" sz="2000" dirty="0"/>
              <a:t>Oxygen potential changes during irradiation due to</a:t>
            </a:r>
          </a:p>
          <a:p>
            <a:pPr lvl="1"/>
            <a:r>
              <a:rPr lang="en-US" sz="2000" dirty="0"/>
              <a:t>Liberation of oxygen by fission; Generation of fission products; Conversion of uranium to plutonium; Reaction of oxygen with U, Pu, fission products, and cladding</a:t>
            </a:r>
          </a:p>
          <a:p>
            <a:pPr marL="287338" indent="-287338"/>
            <a:r>
              <a:rPr lang="en-US" sz="2000" dirty="0"/>
              <a:t>Oxygen potential across pellet radius observed to be constant at the approximate value of Mo/MoO</a:t>
            </a:r>
            <a:r>
              <a:rPr lang="en-US" sz="2000" baseline="-25000" dirty="0"/>
              <a:t>2</a:t>
            </a:r>
            <a:r>
              <a:rPr lang="en-US" sz="2000" dirty="0"/>
              <a:t> reaction (from calculations)</a:t>
            </a:r>
          </a:p>
          <a:p>
            <a:pPr marL="287338" indent="-287338"/>
            <a:r>
              <a:rPr lang="en-US" sz="2000" dirty="0"/>
              <a:t>Mo serves as a buffer to the O potential, or a means of inferring what the oxygen potential may have been in the fuel from PIE</a:t>
            </a:r>
          </a:p>
          <a:p>
            <a:pPr marL="287338" indent="-287338"/>
            <a:r>
              <a:rPr lang="en-US" sz="2000" dirty="0"/>
              <a:t>Oxygen potential is low near the cladding, because the oxygen enters the cladding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D079C-530D-4C48-8411-6AD35E09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7E2458E-21E7-4345-83A7-BFAE64495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15011" y="1789050"/>
            <a:ext cx="3295462" cy="2148952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6136698C-69CF-FD41-A2BD-EBD03F129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4646" y="4077195"/>
            <a:ext cx="2330952" cy="2461718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2154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D91D1-3705-BC45-87CC-824DAD20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1860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Fuel Stoichiometry/Properties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F825-4486-AE4E-AB9D-B8CA685DF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138672" cy="39656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stoichiometry of the fuel directly impacts the fuel performance</a:t>
            </a:r>
          </a:p>
          <a:p>
            <a:r>
              <a:rPr lang="en-US" dirty="0"/>
              <a:t>Stoichiometry impacts</a:t>
            </a:r>
          </a:p>
          <a:p>
            <a:pPr lvl="1"/>
            <a:r>
              <a:rPr lang="en-US" dirty="0"/>
              <a:t>Melting temperature</a:t>
            </a:r>
          </a:p>
          <a:p>
            <a:pPr lvl="1"/>
            <a:r>
              <a:rPr lang="en-US" dirty="0"/>
              <a:t>Thermal conductivity</a:t>
            </a:r>
          </a:p>
          <a:p>
            <a:pPr lvl="1"/>
            <a:r>
              <a:rPr lang="en-US" dirty="0"/>
              <a:t>Processes dependent on diffusion</a:t>
            </a:r>
          </a:p>
          <a:p>
            <a:pPr lvl="2"/>
            <a:r>
              <a:rPr lang="en-US" dirty="0"/>
              <a:t>Grain growth</a:t>
            </a:r>
          </a:p>
          <a:p>
            <a:pPr lvl="2"/>
            <a:r>
              <a:rPr lang="en-US" dirty="0"/>
              <a:t>Fission gas release</a:t>
            </a:r>
          </a:p>
          <a:p>
            <a:pPr lvl="2"/>
            <a:r>
              <a:rPr lang="en-US" dirty="0"/>
              <a:t>Creep</a:t>
            </a:r>
          </a:p>
          <a:p>
            <a:pPr lvl="1"/>
            <a:r>
              <a:rPr lang="en-US" dirty="0"/>
              <a:t>Chemical state and behavior of fission </a:t>
            </a:r>
            <a:br>
              <a:rPr lang="en-US" dirty="0"/>
            </a:br>
            <a:r>
              <a:rPr lang="en-US" dirty="0"/>
              <a:t>products</a:t>
            </a:r>
          </a:p>
          <a:p>
            <a:pPr lvl="1"/>
            <a:r>
              <a:rPr lang="en-US" dirty="0"/>
              <a:t>Chemical reactions at inner cladding </a:t>
            </a:r>
            <a:br>
              <a:rPr lang="en-US" dirty="0"/>
            </a:br>
            <a:r>
              <a:rPr lang="en-US" dirty="0"/>
              <a:t>surface</a:t>
            </a:r>
          </a:p>
          <a:p>
            <a:r>
              <a:rPr lang="en-US" dirty="0"/>
              <a:t>Thermal conductivity is highest for stoichiometric UO2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6B594-04A1-F043-83F5-8E1D0B2F7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6CEBC-8651-444E-8BC0-7C4C5CA1C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161" y="2160495"/>
            <a:ext cx="4311861" cy="365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98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0C4FD-F937-754B-8383-70787061F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Stoichiometry/Properties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3FA9E-2E59-2C44-AC35-A0BD64E9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868" y="1968501"/>
            <a:ext cx="4428744" cy="1789713"/>
          </a:xfrm>
        </p:spPr>
        <p:txBody>
          <a:bodyPr/>
          <a:lstStyle/>
          <a:p>
            <a:r>
              <a:rPr lang="en-US" dirty="0"/>
              <a:t>The lattice constant of the material decreases with increasing stoichiometry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95A9B-83C2-8E4B-9945-A4E47048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859BE-A775-4D41-8A57-57BFAFFF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869" y="3298191"/>
            <a:ext cx="3603565" cy="3058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0B158E-2E7C-DC40-88BF-2D1CFD9A0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240" y="3440923"/>
            <a:ext cx="3954719" cy="261971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739E5E-24A8-A043-AAA9-3F9EE8CC55CB}"/>
              </a:ext>
            </a:extLst>
          </p:cNvPr>
          <p:cNvSpPr txBox="1">
            <a:spLocks/>
          </p:cNvSpPr>
          <p:nvPr/>
        </p:nvSpPr>
        <p:spPr bwMode="auto">
          <a:xfrm>
            <a:off x="6677867" y="1968501"/>
            <a:ext cx="4428744" cy="1713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vacancy formation energy also changes with stoichiometry</a:t>
            </a:r>
          </a:p>
        </p:txBody>
      </p:sp>
    </p:spTree>
    <p:extLst>
      <p:ext uri="{BB962C8B-B14F-4D97-AF65-F5344CB8AC3E}">
        <p14:creationId xmlns:p14="http://schemas.microsoft.com/office/powerpoint/2010/main" val="256744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D173F-DAEB-E047-AD05-7B099426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Stoichiometry/Properties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B781-B711-F044-9871-B17B514C2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013960" cy="3965670"/>
          </a:xfrm>
        </p:spPr>
        <p:txBody>
          <a:bodyPr>
            <a:normAutofit fontScale="92500"/>
          </a:bodyPr>
          <a:lstStyle/>
          <a:p>
            <a:r>
              <a:rPr lang="en-US" dirty="0"/>
              <a:t>The solution energy of Xe, Cs, and Sr in UO</a:t>
            </a:r>
            <a:r>
              <a:rPr lang="en-US" baseline="-25000" dirty="0"/>
              <a:t>2</a:t>
            </a:r>
            <a:r>
              <a:rPr lang="en-US" dirty="0"/>
              <a:t> depends on stoichiometry as well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coefficient defining Xe diffusion also changes with stoichiometry</a:t>
            </a:r>
          </a:p>
          <a:p>
            <a:endParaRPr lang="en-US" dirty="0"/>
          </a:p>
          <a:p>
            <a:r>
              <a:rPr lang="en-US" b="1" dirty="0"/>
              <a:t>Though stoichiometry matters, most fuel performance codes ignore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0C8E1-8555-E445-9776-8F3E4104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DAB46A-5DC9-FF43-A0D8-75B9A21297B8}"/>
              </a:ext>
            </a:extLst>
          </p:cNvPr>
          <p:cNvGraphicFramePr>
            <a:graphicFrameLocks noGrp="1"/>
          </p:cNvGraphicFramePr>
          <p:nvPr/>
        </p:nvGraphicFramePr>
        <p:xfrm>
          <a:off x="5934456" y="1968501"/>
          <a:ext cx="591361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Fission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UO</a:t>
                      </a:r>
                      <a:r>
                        <a:rPr lang="en-US" sz="1400" baseline="-25000" dirty="0"/>
                        <a:t>1.97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UO</a:t>
                      </a:r>
                      <a:r>
                        <a:rPr lang="en-US" sz="14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UO</a:t>
                      </a:r>
                      <a:r>
                        <a:rPr lang="en-US" sz="1400" baseline="-25000" dirty="0"/>
                        <a:t>2.03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Xe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3.88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3.88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2.61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1.7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-0.04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-3.29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-3.71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-6.03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-9.55 </a:t>
                      </a:r>
                      <a:r>
                        <a:rPr lang="en-US" sz="1400" dirty="0" err="1"/>
                        <a:t>eV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D9EEEA7-BA8F-8548-B57A-EFBDA480F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69" y="3231939"/>
            <a:ext cx="2939220" cy="362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1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710C-EE46-8A42-B724-2D2F363D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Chemistry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A87D1-93DD-B140-9A7D-83D33DBCD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UO</a:t>
            </a:r>
            <a:r>
              <a:rPr lang="en-US" baseline="-25000" dirty="0"/>
              <a:t>2</a:t>
            </a:r>
            <a:r>
              <a:rPr lang="en-US" dirty="0"/>
              <a:t> has a cubic fluorite structure that is very stable</a:t>
            </a:r>
          </a:p>
          <a:p>
            <a:r>
              <a:rPr lang="en-US" dirty="0"/>
              <a:t>The charges are balanced with a U</a:t>
            </a:r>
            <a:r>
              <a:rPr lang="en-US" baseline="30000" dirty="0"/>
              <a:t>4+</a:t>
            </a:r>
            <a:r>
              <a:rPr lang="en-US" dirty="0"/>
              <a:t> valence state</a:t>
            </a:r>
          </a:p>
          <a:p>
            <a:r>
              <a:rPr lang="en-US" dirty="0"/>
              <a:t>However, the ratio of oxygen to uranium can change. We call this the stoichiometry and abbreviate it as O/M ratio</a:t>
            </a:r>
          </a:p>
          <a:p>
            <a:r>
              <a:rPr lang="en-US" dirty="0"/>
              <a:t>The O/M ratio changes during reactor operation, but it is complicated </a:t>
            </a:r>
          </a:p>
          <a:p>
            <a:r>
              <a:rPr lang="en-US" dirty="0"/>
              <a:t>The O/M ratio impacts many properties of the fuel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84089-A150-1645-8FDB-27306B8C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40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Fission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54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3E4E-F695-7E42-BDF9-91C6ADF6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Product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FAD4-123E-7E46-8981-E976FE262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329082" cy="39656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Fission releases around 200 MeV</a:t>
            </a:r>
          </a:p>
          <a:p>
            <a:pPr lvl="1"/>
            <a:r>
              <a:rPr lang="en-US" dirty="0"/>
              <a:t>The fission fragments have 169 MeV of kinetic energy</a:t>
            </a:r>
          </a:p>
          <a:p>
            <a:pPr lvl="1"/>
            <a:r>
              <a:rPr lang="en-US" dirty="0"/>
              <a:t>2 to 3 neutrons with an average energy of 2 MeV</a:t>
            </a:r>
          </a:p>
          <a:p>
            <a:pPr lvl="1"/>
            <a:r>
              <a:rPr lang="en-US" dirty="0"/>
              <a:t>7 MeV of prompt gamma ray photons</a:t>
            </a:r>
          </a:p>
          <a:p>
            <a:pPr lvl="1"/>
            <a:r>
              <a:rPr lang="en-US" dirty="0"/>
              <a:t>The remaining energy is released by beta decay</a:t>
            </a:r>
          </a:p>
          <a:p>
            <a:r>
              <a:rPr lang="en-US" dirty="0"/>
              <a:t>Every fission product that is produced is now in the crystal lattice of the fuel, changing the chemistry/microstructure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23E69-16C5-9341-9688-F0D86DBE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AB0F4-19ED-9B42-A625-7C6C9A8BC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270" y="1968501"/>
            <a:ext cx="3089836" cy="1939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B828C5-F72E-2D4D-924D-60F59918E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70" y="4143330"/>
            <a:ext cx="2662432" cy="212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48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A781-7ECE-6641-88BB-68160FD7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various types of fission products that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3BFFA-532D-A248-A8F3-258A2234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B16C56-AB5E-3345-B5D1-C17ED6ED40EF}"/>
              </a:ext>
            </a:extLst>
          </p:cNvPr>
          <p:cNvGrpSpPr/>
          <p:nvPr/>
        </p:nvGrpSpPr>
        <p:grpSpPr>
          <a:xfrm>
            <a:off x="2307822" y="2151063"/>
            <a:ext cx="7576356" cy="4387850"/>
            <a:chOff x="1782797" y="1146678"/>
            <a:chExt cx="8720221" cy="52096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CA30CB-24D3-9D42-9B49-6FF3DE94B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2797" y="2202246"/>
              <a:ext cx="3550899" cy="3017788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0E71837-A94D-674A-B3E4-EBEE788289C3}"/>
                </a:ext>
              </a:extLst>
            </p:cNvPr>
            <p:cNvGrpSpPr/>
            <p:nvPr/>
          </p:nvGrpSpPr>
          <p:grpSpPr>
            <a:xfrm>
              <a:off x="3344229" y="4631825"/>
              <a:ext cx="7158789" cy="1724526"/>
              <a:chOff x="1838158" y="5013158"/>
              <a:chExt cx="7158789" cy="1724526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79510D7-9F25-DE47-BCC2-A743D4394290}"/>
                  </a:ext>
                </a:extLst>
              </p:cNvPr>
              <p:cNvSpPr/>
              <p:nvPr/>
            </p:nvSpPr>
            <p:spPr>
              <a:xfrm>
                <a:off x="3903579" y="5434263"/>
                <a:ext cx="5093368" cy="130342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Noble gases (</a:t>
                </a:r>
                <a:r>
                  <a:rPr lang="en-US" sz="1400" b="1" dirty="0" err="1"/>
                  <a:t>Xe</a:t>
                </a:r>
                <a:r>
                  <a:rPr lang="en-US" sz="1400" b="1" dirty="0"/>
                  <a:t>, Kr)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Essentially insoluble in the fuel matrix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Form either </a:t>
                </a:r>
                <a:r>
                  <a:rPr lang="en-US" sz="1400" dirty="0" err="1"/>
                  <a:t>intragranular</a:t>
                </a:r>
                <a:r>
                  <a:rPr lang="en-US" sz="1400" dirty="0"/>
                  <a:t> (within grain) voids or bubbles or </a:t>
                </a:r>
                <a:r>
                  <a:rPr lang="en-US" sz="1400" dirty="0" err="1"/>
                  <a:t>intergranular</a:t>
                </a:r>
                <a:r>
                  <a:rPr lang="en-US" sz="1400" dirty="0"/>
                  <a:t> (grain boundary) bubbles </a:t>
                </a:r>
              </a:p>
              <a:p>
                <a:pPr marL="173038" indent="-173038">
                  <a:buFont typeface="Arial"/>
                  <a:buChar char="•"/>
                </a:pPr>
                <a:endParaRPr lang="en-US" sz="1400" dirty="0"/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CEE9338-FC9E-844D-B777-ACB4548A3797}"/>
                  </a:ext>
                </a:extLst>
              </p:cNvPr>
              <p:cNvCxnSpPr>
                <a:stCxn id="7" idx="1"/>
              </p:cNvCxnSpPr>
              <p:nvPr/>
            </p:nvCxnSpPr>
            <p:spPr>
              <a:xfrm flipH="1" flipV="1">
                <a:off x="1838158" y="5013158"/>
                <a:ext cx="2065421" cy="10728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24C206-EA46-0741-9CB4-505637424DA3}"/>
                </a:ext>
              </a:extLst>
            </p:cNvPr>
            <p:cNvGrpSpPr/>
            <p:nvPr/>
          </p:nvGrpSpPr>
          <p:grpSpPr>
            <a:xfrm>
              <a:off x="3344229" y="3667961"/>
              <a:ext cx="7158789" cy="1303421"/>
              <a:chOff x="1838158" y="4049294"/>
              <a:chExt cx="7158789" cy="1303421"/>
            </a:xfrm>
          </p:grpSpPr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0776D69-9FD5-1547-B265-F1E13ED02C3E}"/>
                  </a:ext>
                </a:extLst>
              </p:cNvPr>
              <p:cNvSpPr/>
              <p:nvPr/>
            </p:nvSpPr>
            <p:spPr>
              <a:xfrm>
                <a:off x="3903579" y="4049294"/>
                <a:ext cx="5093368" cy="130342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Volatiles (Br, </a:t>
                </a:r>
                <a:r>
                  <a:rPr lang="en-US" sz="1400" b="1" dirty="0" err="1"/>
                  <a:t>Rb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Te</a:t>
                </a:r>
                <a:r>
                  <a:rPr lang="en-US" sz="1400" b="1" dirty="0"/>
                  <a:t>, I and Cs)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Exist as gases at high temperatures of the pellet interior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Also exist as solids at the cooler pellet exterior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0BB876E-2031-AE4C-8420-2C7E0A495BC0}"/>
                  </a:ext>
                </a:extLst>
              </p:cNvPr>
              <p:cNvCxnSpPr>
                <a:stCxn id="10" idx="1"/>
              </p:cNvCxnSpPr>
              <p:nvPr/>
            </p:nvCxnSpPr>
            <p:spPr>
              <a:xfrm flipH="1">
                <a:off x="1838158" y="4701005"/>
                <a:ext cx="2065421" cy="31215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BDDD7F-BCCE-FD46-9E84-0A204250B574}"/>
                </a:ext>
              </a:extLst>
            </p:cNvPr>
            <p:cNvGrpSpPr/>
            <p:nvPr/>
          </p:nvGrpSpPr>
          <p:grpSpPr>
            <a:xfrm>
              <a:off x="3885650" y="2827088"/>
              <a:ext cx="6617368" cy="755316"/>
              <a:chOff x="2379579" y="3208421"/>
              <a:chExt cx="6617368" cy="755316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53FD2B6-2B0A-1246-9EC9-3EB0EDFD65A4}"/>
                  </a:ext>
                </a:extLst>
              </p:cNvPr>
              <p:cNvSpPr/>
              <p:nvPr/>
            </p:nvSpPr>
            <p:spPr>
              <a:xfrm>
                <a:off x="3903579" y="3208421"/>
                <a:ext cx="5093368" cy="75531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Metals (Mo, </a:t>
                </a:r>
                <a:r>
                  <a:rPr lang="en-US" sz="1400" b="1" dirty="0" err="1"/>
                  <a:t>Ru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Pd</a:t>
                </a:r>
                <a:r>
                  <a:rPr lang="en-US" sz="1400" b="1" dirty="0"/>
                  <a:t>, and </a:t>
                </a:r>
                <a:r>
                  <a:rPr lang="en-US" sz="1400" b="1" dirty="0" err="1"/>
                  <a:t>Tc</a:t>
                </a:r>
                <a:r>
                  <a:rPr lang="en-US" sz="1400" b="1" dirty="0"/>
                  <a:t>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Form metallic precipitates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9EE72CD-82B6-284E-909E-18E4D3BB98EF}"/>
                  </a:ext>
                </a:extLst>
              </p:cNvPr>
              <p:cNvCxnSpPr>
                <a:stCxn id="13" idx="1"/>
              </p:cNvCxnSpPr>
              <p:nvPr/>
            </p:nvCxnSpPr>
            <p:spPr>
              <a:xfrm flipH="1" flipV="1">
                <a:off x="2379579" y="3208421"/>
                <a:ext cx="1524000" cy="377658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566A03F-3F0F-9C4C-824F-17969C31C307}"/>
                </a:ext>
              </a:extLst>
            </p:cNvPr>
            <p:cNvGrpSpPr/>
            <p:nvPr/>
          </p:nvGrpSpPr>
          <p:grpSpPr>
            <a:xfrm>
              <a:off x="4340176" y="1996909"/>
              <a:ext cx="6162842" cy="755316"/>
              <a:chOff x="2834105" y="2378242"/>
              <a:chExt cx="6162842" cy="755316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B9CC1C6-BE85-CD49-A288-086BFB5FE403}"/>
                  </a:ext>
                </a:extLst>
              </p:cNvPr>
              <p:cNvSpPr/>
              <p:nvPr/>
            </p:nvSpPr>
            <p:spPr>
              <a:xfrm>
                <a:off x="3903579" y="2378242"/>
                <a:ext cx="5093368" cy="75531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Insoluble oxides (</a:t>
                </a:r>
                <a:r>
                  <a:rPr lang="en-US" sz="1400" b="1" dirty="0" err="1"/>
                  <a:t>Zr</a:t>
                </a:r>
                <a:r>
                  <a:rPr lang="en-US" sz="1400" b="1" dirty="0"/>
                  <a:t>, Ba and </a:t>
                </a:r>
                <a:r>
                  <a:rPr lang="en-US" sz="1400" b="1" dirty="0" err="1"/>
                  <a:t>Sr</a:t>
                </a:r>
                <a:r>
                  <a:rPr lang="en-US" sz="1400" b="1" dirty="0"/>
                  <a:t>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Form insoluble oxides in the fluorite lattice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DA1B70E-5C6D-DE45-A2B5-BE638A5A33D6}"/>
                  </a:ext>
                </a:extLst>
              </p:cNvPr>
              <p:cNvCxnSpPr>
                <a:stCxn id="16" idx="1"/>
              </p:cNvCxnSpPr>
              <p:nvPr/>
            </p:nvCxnSpPr>
            <p:spPr>
              <a:xfrm flipH="1">
                <a:off x="2834105" y="2755900"/>
                <a:ext cx="1069474" cy="10494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7D186B-09FE-5445-812E-A8F63FB322B3}"/>
                </a:ext>
              </a:extLst>
            </p:cNvPr>
            <p:cNvGrpSpPr/>
            <p:nvPr/>
          </p:nvGrpSpPr>
          <p:grpSpPr>
            <a:xfrm>
              <a:off x="3411071" y="1146678"/>
              <a:ext cx="7091947" cy="1332831"/>
              <a:chOff x="1905000" y="1528011"/>
              <a:chExt cx="7091947" cy="1332831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F5E3AD6-3FB0-8546-833C-D67488532FF1}"/>
                  </a:ext>
                </a:extLst>
              </p:cNvPr>
              <p:cNvSpPr/>
              <p:nvPr/>
            </p:nvSpPr>
            <p:spPr>
              <a:xfrm>
                <a:off x="3903579" y="1528011"/>
                <a:ext cx="5093368" cy="75531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Soluble oxides (Y, La and the rare earths)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Dissolved in the </a:t>
                </a:r>
                <a:r>
                  <a:rPr lang="en-US" sz="1400" dirty="0" err="1"/>
                  <a:t>cation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sublattice</a:t>
                </a:r>
                <a:endParaRPr lang="en-US" sz="1400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176EAFF-45AE-3447-82D4-2D53B9799433}"/>
                  </a:ext>
                </a:extLst>
              </p:cNvPr>
              <p:cNvCxnSpPr>
                <a:stCxn id="19" idx="1"/>
              </p:cNvCxnSpPr>
              <p:nvPr/>
            </p:nvCxnSpPr>
            <p:spPr>
              <a:xfrm flipH="1">
                <a:off x="1905000" y="1905669"/>
                <a:ext cx="1998579" cy="95517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0197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29A2-EAD2-8C44-994E-CAB0E9BF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fission products impact the behavior of the fuel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5737-F925-9D41-944D-E3BFC88E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F4896-DF3F-754B-8F1E-F4527D59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59" y="1988111"/>
            <a:ext cx="7702882" cy="473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43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8D2D-14D3-3C2E-E772-9EA625F5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Product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E4472-204B-906F-E0EB-9C1C9AAF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1"/>
            <a:ext cx="7056474" cy="4157664"/>
          </a:xfrm>
        </p:spPr>
        <p:txBody>
          <a:bodyPr/>
          <a:lstStyle/>
          <a:p>
            <a:r>
              <a:rPr lang="en-US" sz="2000" dirty="0"/>
              <a:t>Not only are the absolute proportion of fission products accumulating with time, but the relative proportions are changing with respect to one another</a:t>
            </a:r>
          </a:p>
          <a:p>
            <a:r>
              <a:rPr lang="en-US" sz="2000" dirty="0"/>
              <a:t>There are continuous transitions between the groups as the critical concentration conditions for new phase development are surpassed because of increased burnup</a:t>
            </a:r>
          </a:p>
          <a:p>
            <a:r>
              <a:rPr lang="en-US" sz="2000" dirty="0"/>
              <a:t>Since fission releases two oxygen but only one metal atom, and not all metal atoms will react to bond the oxygen, the O/M ratio of the fuel slowly increases during burnup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C4E0-051C-AEAD-CCF3-E39AF51C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21439-DC94-1D1F-F3A4-A05B2497A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726" y="1968501"/>
            <a:ext cx="3939473" cy="43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58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3AF4-EB5E-7840-BE23-81DAA2FC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Oxide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1AD57-D5D9-DB47-9E6A-2307D48DB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247888" cy="3965670"/>
          </a:xfrm>
        </p:spPr>
        <p:txBody>
          <a:bodyPr/>
          <a:lstStyle/>
          <a:p>
            <a:r>
              <a:rPr lang="en-US" sz="2000" dirty="0"/>
              <a:t>With burnup, the liberated oxygen will associate with U, Pu, and La but may not be in sufficient supply to combine with Pd and other less oxidizing elements</a:t>
            </a:r>
          </a:p>
          <a:p>
            <a:r>
              <a:rPr lang="en-US" sz="2000" dirty="0"/>
              <a:t>If the Gibbs energy of formation of the given fission product lies below the fuel oxygen potential, the element will be capable of forming an oxide (Ce, Sr, Ba)</a:t>
            </a:r>
          </a:p>
          <a:p>
            <a:r>
              <a:rPr lang="en-US" sz="2000" dirty="0"/>
              <a:t>If the reaction line is above the oxygen potential in the fuel, the fission product will exist as an element in the fuel (in a separate metallic phase) (Ru, Pd, Tc)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F6E32-B3C0-D541-BD27-9EBAEB21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580D5-3653-D04B-8C0E-AD7F33AD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488" y="1674806"/>
            <a:ext cx="4324034" cy="505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01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044D-FC32-A046-9A5D-DB6E25CE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Soluble/Insoluble Fission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04E85-7BB8-334C-8368-9836E6D1C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049931" cy="3965670"/>
          </a:xfrm>
        </p:spPr>
        <p:txBody>
          <a:bodyPr/>
          <a:lstStyle/>
          <a:p>
            <a:r>
              <a:rPr lang="en-US" sz="2000" dirty="0"/>
              <a:t>When a 4+ valence fission product (e.g.,Zr4+) enters the lattice, there is no change in the electrical neutrality</a:t>
            </a:r>
          </a:p>
          <a:p>
            <a:r>
              <a:rPr lang="en-US" sz="2000" dirty="0"/>
              <a:t>If the charge of the fission-product cation is lower than U+4, the site occupancy of the lattice is altered to achieve electrical neutrality</a:t>
            </a:r>
          </a:p>
          <a:p>
            <a:r>
              <a:rPr lang="en-US" sz="2000" dirty="0"/>
              <a:t>The alkaline earth cations Ba+ and Sr2+ have large ionic radii and form a separate oxide phase</a:t>
            </a:r>
          </a:p>
          <a:p>
            <a:r>
              <a:rPr lang="en-US" sz="2000" dirty="0"/>
              <a:t>Fission products that have limited solubility in UO2 will segregate to the grain boundaries and voids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E8F5B-82E8-7943-8390-95FB3271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606B6-B48E-664C-AAE4-F9AFAC5B4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531" y="2160495"/>
            <a:ext cx="6332582" cy="1497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BC4C1A-24A1-784F-8DA5-926A7746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808" y="3846887"/>
            <a:ext cx="5147365" cy="250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23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4137-2FA5-1F48-812B-C159F973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Product Segregation/Precipitation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A2455-2421-D246-AEC9-2FF827FE6D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Fission products can be segregated because of their migration to specific locations such as intragranular segregations, grain boundaries, or pellet surfaces</a:t>
            </a:r>
          </a:p>
          <a:p>
            <a:r>
              <a:rPr lang="en-US" sz="2000" dirty="0"/>
              <a:t>Metallic inclusions are commonly observed in </a:t>
            </a:r>
            <a:r>
              <a:rPr lang="en-US" sz="2000" dirty="0" err="1"/>
              <a:t>ceramographs</a:t>
            </a:r>
            <a:r>
              <a:rPr lang="en-US" sz="2000" dirty="0"/>
              <a:t> from irradiated samples</a:t>
            </a:r>
          </a:p>
          <a:p>
            <a:r>
              <a:rPr lang="en-US" sz="2000" dirty="0"/>
              <a:t>They are formed by isotopes of Mo, Tc, Ru, Rh, Pd, Ag, Cd, In, Sn, Sb, and </a:t>
            </a:r>
            <a:r>
              <a:rPr lang="en-US" sz="2000" dirty="0" err="1"/>
              <a:t>Te</a:t>
            </a:r>
            <a:endParaRPr lang="en-US" sz="2000" dirty="0"/>
          </a:p>
          <a:p>
            <a:r>
              <a:rPr lang="en-US" sz="2000" dirty="0"/>
              <a:t>These inclusions are found at the surface of the grain boundaries and are associated, in general, with grain boundaries and intragranular bubbles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15A0E-6DAE-0843-A920-8EDE866A95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Some of the components of these precipitates can be oxidized or reduced forming other compounds that can be released from the fuel matrix</a:t>
            </a:r>
          </a:p>
          <a:p>
            <a:r>
              <a:rPr lang="en-US" sz="2000" dirty="0"/>
              <a:t>Cs, Ru, </a:t>
            </a:r>
            <a:r>
              <a:rPr lang="en-US" sz="2000" dirty="0" err="1"/>
              <a:t>Te</a:t>
            </a:r>
            <a:r>
              <a:rPr lang="en-US" sz="2000" dirty="0"/>
              <a:t>, and Ba have been consistently found at the cracks in the pellet and on the clad inner surface</a:t>
            </a:r>
          </a:p>
          <a:p>
            <a:r>
              <a:rPr lang="en-US" sz="2000" dirty="0"/>
              <a:t>The white inclusions are metallic precipitates, which are composed of Mo, Tc, Rh, Ru, and Pd, form a quinary alloy in an hcp structure</a:t>
            </a:r>
          </a:p>
          <a:p>
            <a:r>
              <a:rPr lang="en-US" sz="2000" dirty="0"/>
              <a:t>A “gray oxide phase” perovskite structure containing different combinations of Ba, Cs, Zr, Mo, and U can also form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B936A-4A3D-5240-8E54-0520C8FA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5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88C2-6F0F-D741-96F8-E12A2EB0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Volatile/Gaseous Fission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CD458-28E9-6B4D-BA5F-1C2FBD28E3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Xe release occurs at the central region of the pellet where the highest temperatures were achieved during irradiation</a:t>
            </a:r>
          </a:p>
          <a:p>
            <a:r>
              <a:rPr lang="en-US" sz="2000" dirty="0"/>
              <a:t>Volatile FPs are released from the fuel matrix similar to that of the noble gases</a:t>
            </a:r>
          </a:p>
          <a:p>
            <a:r>
              <a:rPr lang="en-US" sz="2000" dirty="0"/>
              <a:t>Volatile fission products in the gap can react among themselves, resulting in a changing chemical speciation</a:t>
            </a:r>
          </a:p>
          <a:p>
            <a:r>
              <a:rPr lang="en-US" sz="2000" dirty="0"/>
              <a:t>The kinetics of formation/decomposition of </a:t>
            </a:r>
            <a:r>
              <a:rPr lang="en-US" sz="2000" dirty="0" err="1"/>
              <a:t>CsI</a:t>
            </a:r>
            <a:r>
              <a:rPr lang="en-US" sz="2000" dirty="0"/>
              <a:t> and Zr iodides are possible factors in the mechanism of SCC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E91A8-80B2-504D-A4D1-919FE735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24489-6030-554B-9FF1-0A31882ED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038" y="2198688"/>
            <a:ext cx="6329962" cy="317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99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7590-2875-4049-ADF3-6ADCF07B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Interaction with Zr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7D8D9-540A-644B-869B-A782454B08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Fission fragments will deposit on the inner surface of the cladding</a:t>
            </a:r>
          </a:p>
          <a:p>
            <a:r>
              <a:rPr lang="en-US" sz="2000" dirty="0"/>
              <a:t>Some of these species can diffuse into the cladding, while others can attack the cladding thereby initiating cracks that can later progress with the formation of through-wall cracks</a:t>
            </a:r>
          </a:p>
          <a:p>
            <a:r>
              <a:rPr lang="en-US" sz="2000" dirty="0"/>
              <a:t>Oxygen will diffuse into the cladding and contribute to its oxidation state</a:t>
            </a:r>
          </a:p>
          <a:p>
            <a:r>
              <a:rPr lang="en-US" sz="2000" dirty="0"/>
              <a:t>Measurements have shown deposits of Sr, Cs, Pu, and Am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A0382-82F4-AC4C-B83F-0CD592D8FF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The corrosion behavior of zirconium by </a:t>
            </a:r>
            <a:r>
              <a:rPr lang="en-US" sz="2000" dirty="0" err="1"/>
              <a:t>Te</a:t>
            </a:r>
            <a:r>
              <a:rPr lang="en-US" sz="2000" dirty="0"/>
              <a:t> has been reported </a:t>
            </a:r>
          </a:p>
          <a:p>
            <a:r>
              <a:rPr lang="en-US" sz="2000" dirty="0"/>
              <a:t>The chemical reaction between some corrosive fission products and the cladding can lead to PCI</a:t>
            </a:r>
          </a:p>
          <a:p>
            <a:r>
              <a:rPr lang="en-US" sz="2000" dirty="0"/>
              <a:t>Fission products such as Cs, Cd, or I can attack the cladding inducing crack initiation, which then progress through the cladding by intragranular and </a:t>
            </a:r>
            <a:r>
              <a:rPr lang="en-US" sz="2000" dirty="0" err="1"/>
              <a:t>transgranular</a:t>
            </a:r>
            <a:r>
              <a:rPr lang="en-US" sz="2000" dirty="0"/>
              <a:t> cracking modes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2F79E-24F4-C845-A1A0-75956FDF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628786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9335</TotalTime>
  <Words>2298</Words>
  <Application>Microsoft Macintosh PowerPoint</Application>
  <PresentationFormat>Widescreen</PresentationFormat>
  <Paragraphs>234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Narrow</vt:lpstr>
      <vt:lpstr>Calibri</vt:lpstr>
      <vt:lpstr>Cambria Math</vt:lpstr>
      <vt:lpstr>1_NCStateU-horizontal-left-logo</vt:lpstr>
      <vt:lpstr>Equation</vt:lpstr>
      <vt:lpstr>Nuclear Fuel Performance</vt:lpstr>
      <vt:lpstr>UO2 Thermal Conductivity</vt:lpstr>
      <vt:lpstr>UO2 Thermal Conductivity</vt:lpstr>
      <vt:lpstr>MOOSE/BISON Models</vt:lpstr>
      <vt:lpstr>Other Physical Changes</vt:lpstr>
      <vt:lpstr>High Burnup Structure (HBS)</vt:lpstr>
      <vt:lpstr>High Burnup Structure (HBS)</vt:lpstr>
      <vt:lpstr>High Burnup Structure (HBS)</vt:lpstr>
      <vt:lpstr>High Burnup Structure (HBS)</vt:lpstr>
      <vt:lpstr>HBS and Fission Gas Release</vt:lpstr>
      <vt:lpstr>Radiation Effects Summary</vt:lpstr>
      <vt:lpstr>Fuel chemistry</vt:lpstr>
      <vt:lpstr>Fuel Chemistry</vt:lpstr>
      <vt:lpstr>O/M ratio</vt:lpstr>
      <vt:lpstr>Excess O</vt:lpstr>
      <vt:lpstr>Incorporation of Fission Products</vt:lpstr>
      <vt:lpstr>Oxygen potential</vt:lpstr>
      <vt:lpstr>Oxygen potential</vt:lpstr>
      <vt:lpstr>Fuel Stoichiometry/Properties</vt:lpstr>
      <vt:lpstr>Fuel Stoichiometry/Properties</vt:lpstr>
      <vt:lpstr>Fuel Stoichiometry/Properties</vt:lpstr>
      <vt:lpstr>Fuel Chemistry Summary</vt:lpstr>
      <vt:lpstr>Fission products</vt:lpstr>
      <vt:lpstr>Fission Product Generation</vt:lpstr>
      <vt:lpstr>There are various types of fission products that form</vt:lpstr>
      <vt:lpstr>All fission products impact the behavior of the fuel</vt:lpstr>
      <vt:lpstr>Fission Product Evolution</vt:lpstr>
      <vt:lpstr>Oxide Formation</vt:lpstr>
      <vt:lpstr>Soluble/Insoluble Fission Products</vt:lpstr>
      <vt:lpstr>Fission Product Segregation/Precipitation</vt:lpstr>
      <vt:lpstr>Volatile/Gaseous Fission Products</vt:lpstr>
      <vt:lpstr>FP Interaction with Zr Cladding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Property Evolution</dc:title>
  <dc:creator>Benjamin Beeler</dc:creator>
  <cp:lastModifiedBy>Benjamin Beeler</cp:lastModifiedBy>
  <cp:revision>97</cp:revision>
  <dcterms:created xsi:type="dcterms:W3CDTF">2020-02-11T17:45:48Z</dcterms:created>
  <dcterms:modified xsi:type="dcterms:W3CDTF">2026-03-24T13:46:17Z</dcterms:modified>
</cp:coreProperties>
</file>
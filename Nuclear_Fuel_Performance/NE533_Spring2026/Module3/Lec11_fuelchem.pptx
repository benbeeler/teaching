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537" r:id="rId2"/>
    <p:sldId id="516" r:id="rId3"/>
    <p:sldId id="547" r:id="rId4"/>
    <p:sldId id="577" r:id="rId5"/>
    <p:sldId id="591" r:id="rId6"/>
    <p:sldId id="578" r:id="rId7"/>
    <p:sldId id="579" r:id="rId8"/>
    <p:sldId id="580" r:id="rId9"/>
    <p:sldId id="571" r:id="rId10"/>
    <p:sldId id="575" r:id="rId11"/>
    <p:sldId id="329" r:id="rId12"/>
    <p:sldId id="330" r:id="rId13"/>
    <p:sldId id="331" r:id="rId14"/>
    <p:sldId id="332" r:id="rId15"/>
    <p:sldId id="581" r:id="rId16"/>
    <p:sldId id="587" r:id="rId17"/>
    <p:sldId id="574" r:id="rId18"/>
    <p:sldId id="566" r:id="rId19"/>
    <p:sldId id="567" r:id="rId20"/>
    <p:sldId id="588" r:id="rId21"/>
    <p:sldId id="585" r:id="rId22"/>
    <p:sldId id="576" r:id="rId23"/>
    <p:sldId id="533" r:id="rId24"/>
    <p:sldId id="535" r:id="rId25"/>
    <p:sldId id="534" r:id="rId26"/>
    <p:sldId id="538" r:id="rId27"/>
    <p:sldId id="53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962"/>
    <p:restoredTop sz="94672"/>
  </p:normalViewPr>
  <p:slideViewPr>
    <p:cSldViewPr snapToGrid="0" snapToObjects="1">
      <p:cViewPr varScale="1">
        <p:scale>
          <a:sx n="115" d="100"/>
          <a:sy n="115" d="100"/>
        </p:scale>
        <p:origin x="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01C14-5F1F-C546-9E46-5B7427D2AE22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3A2F6-A1EE-CF47-987A-7DD0E5623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7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3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39656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8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2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61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5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3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8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71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1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3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4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tiff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mooseframework.inl.gov/bison/source/materials/UO2Thermal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7" Type="http://schemas.openxmlformats.org/officeDocument/2006/relationships/image" Target="../media/image35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AB4-6496-0D46-9C3B-B71641B90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102A4-1D26-9E41-904A-5C94FEB2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NE-533</a:t>
            </a:r>
          </a:p>
          <a:p>
            <a:r>
              <a:rPr lang="en-US" dirty="0"/>
              <a:t>Spring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6DA87-5AA8-004F-861E-B1E0BAA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2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4C15-A2F2-8C48-AA72-13D294E4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1333"/>
            <a:ext cx="10972800" cy="1068387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D4801-0739-BD4F-9675-172A3E9F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89720"/>
            <a:ext cx="10972800" cy="3965670"/>
          </a:xfrm>
        </p:spPr>
        <p:txBody>
          <a:bodyPr/>
          <a:lstStyle/>
          <a:p>
            <a:r>
              <a:rPr lang="en-US" dirty="0"/>
              <a:t>Ended the last module going through some UO2 radiation effects</a:t>
            </a:r>
          </a:p>
          <a:p>
            <a:r>
              <a:rPr lang="en-US" dirty="0"/>
              <a:t>Will continue microstructural effects, burnup effects, different phenomena</a:t>
            </a:r>
          </a:p>
          <a:p>
            <a:r>
              <a:rPr lang="en-US" dirty="0"/>
              <a:t>Start with the fuel, and work our way into cladding in this module</a:t>
            </a:r>
          </a:p>
          <a:p>
            <a:endParaRPr lang="en-US" dirty="0"/>
          </a:p>
          <a:p>
            <a:r>
              <a:rPr lang="en-US" dirty="0"/>
              <a:t>MOOSE projects due tomorrow night</a:t>
            </a:r>
          </a:p>
          <a:p>
            <a:r>
              <a:rPr lang="en-US" dirty="0"/>
              <a:t>Next week is paper presentation week, slides due Monday night</a:t>
            </a:r>
          </a:p>
          <a:p>
            <a:r>
              <a:rPr lang="en-US" dirty="0"/>
              <a:t>Meet the submission deadlines on </a:t>
            </a:r>
            <a:r>
              <a:rPr lang="en-US" dirty="0" err="1"/>
              <a:t>moodle</a:t>
            </a:r>
            <a:r>
              <a:rPr lang="en-US" dirty="0"/>
              <a:t>, I do not have them set up to receive late submissions!</a:t>
            </a:r>
          </a:p>
          <a:p>
            <a:endParaRPr lang="en-US" dirty="0"/>
          </a:p>
          <a:p>
            <a:r>
              <a:rPr lang="en-US" dirty="0"/>
              <a:t>Relevant seminar speaker today, NCSU alum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92E4C-F6EE-9B4F-9ADF-A2A09B94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0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UO2 Radiation effects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0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6515-BEE7-E61D-D574-934E56A6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F58E3-1D21-8DA5-12FE-4E373BF908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macroscopic and observable results of exposure of solids to energetic particles are collectively known as radiation effects 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Heat production from the nuclear fuel to generate electricity ensues mostly from the slow down of the fission products by nuclear or electronic interactions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a direct consequence, there are also defects created along the path of the fission fragments leading to modification of the physical properties of the fuel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C5CF6-4F66-D006-A3AC-7CEE537014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Most Frenkel defects (interstitial-vacancy pair) are produced by secondary collision cascades</a:t>
            </a:r>
          </a:p>
          <a:p>
            <a:r>
              <a:rPr lang="en-US" sz="2000" dirty="0"/>
              <a:t>The dominant defect type is anion Frenkel pairs</a:t>
            </a:r>
          </a:p>
          <a:p>
            <a:r>
              <a:rPr lang="en-US" sz="2000" dirty="0"/>
              <a:t>Local charge neutrality prevents/inhibits the formation of interstitials and vacancies as independent processes, as the cations and anions are charged species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F2CAA-FBA3-C1AB-9867-CCCF4331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83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2ADB-92F0-3FB5-27FE-F36042FA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4"/>
            <a:ext cx="10972800" cy="1990231"/>
          </a:xfrm>
        </p:spPr>
        <p:txBody>
          <a:bodyPr/>
          <a:lstStyle/>
          <a:p>
            <a:r>
              <a:rPr lang="en-US" dirty="0"/>
              <a:t>To balance charge, how many oxygen vacancies need to be created for every uranium vacancy?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BE9B1-4C85-C42D-A79B-6DC29064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E402BF-3657-27A7-4D81-0BA2D65D61D8}"/>
              </a:ext>
            </a:extLst>
          </p:cNvPr>
          <p:cNvSpPr txBox="1">
            <a:spLocks/>
          </p:cNvSpPr>
          <p:nvPr/>
        </p:nvSpPr>
        <p:spPr bwMode="auto">
          <a:xfrm>
            <a:off x="609600" y="2972540"/>
            <a:ext cx="10972800" cy="199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/>
              <a:t>Two</a:t>
            </a:r>
          </a:p>
          <a:p>
            <a:endParaRPr lang="en-US" dirty="0"/>
          </a:p>
          <a:p>
            <a:r>
              <a:rPr lang="en-US" dirty="0"/>
              <a:t>U+4, O-2</a:t>
            </a:r>
          </a:p>
          <a:p>
            <a:r>
              <a:rPr lang="en-US" dirty="0"/>
              <a:t>This forms a Schottky trio defect</a:t>
            </a:r>
          </a:p>
        </p:txBody>
      </p:sp>
    </p:spTree>
    <p:extLst>
      <p:ext uri="{BB962C8B-B14F-4D97-AF65-F5344CB8AC3E}">
        <p14:creationId xmlns:p14="http://schemas.microsoft.com/office/powerpoint/2010/main" val="227151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C1F2-7559-F046-AEB2-DD5A8F43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A014-154F-2EAE-BC21-FD60C215F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6432331" cy="4157663"/>
          </a:xfrm>
        </p:spPr>
        <p:txBody>
          <a:bodyPr/>
          <a:lstStyle/>
          <a:p>
            <a:r>
              <a:rPr lang="en-US" sz="2000" dirty="0"/>
              <a:t>Dislocations are generally a mixture of screw and edge components in the shape of a loop</a:t>
            </a:r>
          </a:p>
          <a:p>
            <a:r>
              <a:rPr lang="en-US" sz="2000" dirty="0"/>
              <a:t>The most important slip system in UO2 is the one which minimizes the electrostatic energy, the easy slip along {100}&lt;110&gt; tends to minimize the repulsive force between cations</a:t>
            </a:r>
          </a:p>
          <a:p>
            <a:r>
              <a:rPr lang="en-US" sz="2000" dirty="0"/>
              <a:t>Prismatic loops are of interstitial type and consist of a disc-shaped layer of defects in a cluster</a:t>
            </a:r>
          </a:p>
          <a:p>
            <a:r>
              <a:rPr lang="en-US" sz="2000" dirty="0"/>
              <a:t>This defect cluster is more energetically favorable than dispersed defects in the bulk</a:t>
            </a:r>
          </a:p>
          <a:p>
            <a:r>
              <a:rPr lang="en-US" sz="2000" dirty="0"/>
              <a:t>Vacancies will cluster and form into voids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E98DB-EAC8-56C8-3D71-E066248E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0179B-6939-8C7E-38AE-53CBEB90A37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8352" y="1999457"/>
            <a:ext cx="4012120" cy="36473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62B38B-17FA-52BB-A120-396A20C36614}"/>
              </a:ext>
            </a:extLst>
          </p:cNvPr>
          <p:cNvSpPr txBox="1"/>
          <p:nvPr/>
        </p:nvSpPr>
        <p:spPr>
          <a:xfrm>
            <a:off x="7571708" y="5710020"/>
            <a:ext cx="3645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Prismatic loops in UO2 from alpha particle irradiation</a:t>
            </a:r>
          </a:p>
        </p:txBody>
      </p:sp>
    </p:spTree>
    <p:extLst>
      <p:ext uri="{BB962C8B-B14F-4D97-AF65-F5344CB8AC3E}">
        <p14:creationId xmlns:p14="http://schemas.microsoft.com/office/powerpoint/2010/main" val="2394273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4654-70BB-5C96-CD96-1898405F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4BDC9-1BC2-32B6-D8CC-E769F9FDA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6266688" cy="4157663"/>
          </a:xfrm>
        </p:spPr>
        <p:txBody>
          <a:bodyPr/>
          <a:lstStyle/>
          <a:p>
            <a:r>
              <a:rPr lang="en-US" sz="2000" dirty="0"/>
              <a:t>Due to preferential absorption of interstitials at dislocations, we are left with a slight excess of vacancies in the bulk to nucleate and grow voids</a:t>
            </a:r>
          </a:p>
          <a:p>
            <a:r>
              <a:rPr lang="en-US" sz="2000" dirty="0"/>
              <a:t>Void nucleation can occur homogeneously by the collection of vacancies in the matrix, or heterogeneously at structural features (precipitates, grain boundaries, etc.)</a:t>
            </a:r>
          </a:p>
          <a:p>
            <a:r>
              <a:rPr lang="en-US" sz="2000" dirty="0"/>
              <a:t>The vacancy-rich radiation damage core is considered to be an important void nucleation mechanism in UO2</a:t>
            </a:r>
          </a:p>
          <a:p>
            <a:r>
              <a:rPr lang="en-US" sz="2000" dirty="0"/>
              <a:t>Vacancy diffusion then allows void growth</a:t>
            </a:r>
          </a:p>
          <a:p>
            <a:r>
              <a:rPr lang="en-US" sz="2000" dirty="0"/>
              <a:t>Gas atoms can often serve to stabilize small voids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F4351-AC68-5583-AC05-78E4C7A9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FC4BD-4C0E-0249-1802-00868D88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4" y="1511808"/>
            <a:ext cx="3231162" cy="4446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512FFB-9548-BE8B-2E0F-4B35DF2300B2}"/>
              </a:ext>
            </a:extLst>
          </p:cNvPr>
          <p:cNvSpPr txBox="1"/>
          <p:nvPr/>
        </p:nvSpPr>
        <p:spPr>
          <a:xfrm>
            <a:off x="7924800" y="6098189"/>
            <a:ext cx="3328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Voids (bright spots) from alpha irradiation in UO2</a:t>
            </a:r>
          </a:p>
        </p:txBody>
      </p:sp>
    </p:spTree>
    <p:extLst>
      <p:ext uri="{BB962C8B-B14F-4D97-AF65-F5344CB8AC3E}">
        <p14:creationId xmlns:p14="http://schemas.microsoft.com/office/powerpoint/2010/main" val="101570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CC82-F9DF-CB15-CAB6-FED72213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Radiation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6B8F-0187-AB0D-2481-305E53349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10972800" cy="4157663"/>
          </a:xfrm>
        </p:spPr>
        <p:txBody>
          <a:bodyPr/>
          <a:lstStyle/>
          <a:p>
            <a:r>
              <a:rPr lang="en-US" sz="2400" dirty="0"/>
              <a:t>Chemistry changes</a:t>
            </a:r>
          </a:p>
          <a:p>
            <a:pPr lvl="1"/>
            <a:r>
              <a:rPr lang="en-US" sz="2200" dirty="0"/>
              <a:t>two fission products are generated from each fission, resulting up to about 3% of the chemical species present at the end of life for commercial fuel</a:t>
            </a:r>
          </a:p>
          <a:p>
            <a:pPr lvl="1"/>
            <a:r>
              <a:rPr lang="en-US" sz="2200" dirty="0"/>
              <a:t>the amount of fission products change both chemical and physical properties</a:t>
            </a:r>
          </a:p>
          <a:p>
            <a:r>
              <a:rPr lang="en-US" sz="2400" dirty="0"/>
              <a:t>Physical property changes</a:t>
            </a:r>
          </a:p>
          <a:p>
            <a:pPr lvl="1"/>
            <a:r>
              <a:rPr lang="en-US" sz="2200" dirty="0"/>
              <a:t>The physical effects caused by atomic displacements are rather complex and depend on the relative sink strengths of a given material for interstitials and vacancies and on the temperature</a:t>
            </a:r>
          </a:p>
          <a:p>
            <a:pPr lvl="1"/>
            <a:r>
              <a:rPr lang="en-US" sz="2200" dirty="0"/>
              <a:t>lattice parameter, thermal conductivity, elasticity, formation of the high burnup structure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43944-0C64-C1DA-82C8-E55D6301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3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1DCF-FF43-6E4B-899D-1CE8D743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Conductivity Degradation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91DB-6CF3-9842-AAFF-C28399332F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One of the major effects of defect formation is the degradation of thermal diffusivity, due to phonon scattering</a:t>
            </a:r>
          </a:p>
          <a:p>
            <a:r>
              <a:rPr lang="en-US" sz="2000" dirty="0"/>
              <a:t>Results obtained on irradiated UO2 show that the thermal conductivity is decreasing with increasing burn-up, and that at equal burn-up, samples with higher irradiation temperatures have higher thermal conductivity</a:t>
            </a:r>
          </a:p>
          <a:p>
            <a:r>
              <a:rPr lang="en-US" sz="2000" dirty="0"/>
              <a:t>There are mesoscopic and atomistic features that affect the thermal conductivity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98778-6F0D-EB45-9BF1-9CCD7207EC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The porosity existing in fresh fuels evolves during irradiation and has a strong impact on heat transport, because voids/bubbles have significantly lower kth than the lattice</a:t>
            </a:r>
          </a:p>
          <a:p>
            <a:r>
              <a:rPr lang="en-US" sz="2000" dirty="0"/>
              <a:t>Precipitates are formed by fission products that are insoluble in the UO2 lattice, forming oxide or metallic inclusions: can use composite theory to get effective thermal conductivities; typically, these precipitates INCREASE the thermal conductivity of the fuel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14E0E-4828-424C-95DA-D7DCB622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DAB2-D749-9663-7099-561E5DE2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Conductivity Degradation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7A200-9A4A-0E24-F655-7F5C7B512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6072554" cy="4157663"/>
          </a:xfrm>
        </p:spPr>
        <p:txBody>
          <a:bodyPr/>
          <a:lstStyle/>
          <a:p>
            <a:r>
              <a:rPr lang="en-US" sz="2000" dirty="0"/>
              <a:t>Actinides, rare earths, and transition metals can form mixed oxides with UO2 (soluble fission products): these atoms act as phonon scattering centers as a result of the differences in bonding, radii, or mass, and thus decrease kth</a:t>
            </a:r>
          </a:p>
          <a:p>
            <a:r>
              <a:rPr lang="en-US" sz="2000" dirty="0"/>
              <a:t>Volatile fission products/gases are partially in solution and partially in bubbles, where they act as phonon scatterers or as low kth composite fractions</a:t>
            </a:r>
          </a:p>
          <a:p>
            <a:r>
              <a:rPr lang="en-US" sz="2000" dirty="0"/>
              <a:t>Point defects and extended defects contribute to the degradation of the thermal conductivity by scattering or limiting the mean free path of the phonons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67119-D937-88AE-31AB-D5B7BC81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3B2148-EA4C-9BEC-B447-E5D49BFA4E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4709" y="2417631"/>
            <a:ext cx="4735952" cy="305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84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23BC-AB13-A049-9D14-F8095262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Thermal Conductivity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44FB-A261-1C43-A834-D547BBBE1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589853" cy="3965670"/>
          </a:xfrm>
        </p:spPr>
        <p:txBody>
          <a:bodyPr>
            <a:normAutofit/>
          </a:bodyPr>
          <a:lstStyle/>
          <a:p>
            <a:r>
              <a:rPr lang="en-US" sz="2000" dirty="0"/>
              <a:t>We have established correlations for thermal conductivity of fresh UO2 fuel as a function of temperature</a:t>
            </a:r>
          </a:p>
          <a:p>
            <a:endParaRPr lang="en-US" sz="2000" dirty="0"/>
          </a:p>
          <a:p>
            <a:endParaRPr lang="en-US" sz="2000" dirty="0"/>
          </a:p>
          <a:p>
            <a:pPr lvl="1"/>
            <a:r>
              <a:rPr lang="en-US" sz="2000" dirty="0"/>
              <a:t>Where t = T/1000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The first part of the equation describes the phonon interactions </a:t>
            </a:r>
          </a:p>
          <a:p>
            <a:pPr lvl="1"/>
            <a:r>
              <a:rPr lang="en-US" sz="2000" dirty="0">
                <a:solidFill>
                  <a:srgbClr val="23FF05"/>
                </a:solidFill>
              </a:rPr>
              <a:t>The second part describes electronic transport which becomes significant at high temperature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E69F8-8412-8D46-AF22-F204AFA4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4B99836D-CC45-E14D-8D83-831325CBE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6226" y="3240267"/>
            <a:ext cx="4849774" cy="488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C1B3D7-16AF-A240-A2E2-E785C25B216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99453" y="2403563"/>
            <a:ext cx="4735952" cy="305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79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7F66-8667-9747-AC98-5386FCEFE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Thermal Conductivity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7C28B-56E0-5643-A058-7EC11CFED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531980" cy="3965670"/>
          </a:xfrm>
        </p:spPr>
        <p:txBody>
          <a:bodyPr/>
          <a:lstStyle/>
          <a:p>
            <a:r>
              <a:rPr lang="en-US" dirty="0">
                <a:latin typeface="Arial" charset="0"/>
                <a:ea typeface="MS PGothic" charset="0"/>
              </a:rPr>
              <a:t>UO</a:t>
            </a:r>
            <a:r>
              <a:rPr lang="en-US" baseline="-25000" dirty="0">
                <a:latin typeface="Arial" charset="0"/>
                <a:ea typeface="MS PGothic" charset="0"/>
              </a:rPr>
              <a:t>2</a:t>
            </a:r>
            <a:r>
              <a:rPr lang="en-US" dirty="0">
                <a:latin typeface="Arial" charset="0"/>
                <a:ea typeface="MS PGothic" charset="0"/>
              </a:rPr>
              <a:t> thermal conductivity is low and decreases more during reactor operation</a:t>
            </a:r>
          </a:p>
          <a:p>
            <a:r>
              <a:rPr lang="en-US" dirty="0"/>
              <a:t>The thermal conductivity has been collected after various amounts of burnup to make empirical fits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9F6CF-A206-C74A-AB6F-5210D000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1357D662-8961-1D47-A056-3FDBF40D9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052" y="4651821"/>
          <a:ext cx="6705076" cy="651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78160" imgH="406080" progId="Equation.3">
                  <p:embed/>
                </p:oleObj>
              </mc:Choice>
              <mc:Fallback>
                <p:oleObj name="Equation" r:id="rId2" imgW="4178160" imgH="40608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1357D662-8961-1D47-A056-3FDBF40D9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52" y="4651821"/>
                        <a:ext cx="6705076" cy="651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">
            <a:extLst>
              <a:ext uri="{FF2B5EF4-FFF2-40B4-BE49-F238E27FC236}">
                <a16:creationId xmlns:a16="http://schemas.microsoft.com/office/drawing/2014/main" id="{6ABB3B95-D499-CA42-9672-690C3008C8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95978" y="1967299"/>
          <a:ext cx="4558934" cy="3902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203952" imgH="4402938" progId="">
                  <p:embed/>
                </p:oleObj>
              </mc:Choice>
              <mc:Fallback>
                <p:oleObj r:id="rId4" imgW="5203952" imgH="4402938" progId="">
                  <p:embed/>
                  <p:pic>
                    <p:nvPicPr>
                      <p:cNvPr id="7" name="Object 1">
                        <a:extLst>
                          <a:ext uri="{FF2B5EF4-FFF2-40B4-BE49-F238E27FC236}">
                            <a16:creationId xmlns:a16="http://schemas.microsoft.com/office/drawing/2014/main" id="{6ABB3B95-D499-CA42-9672-690C3008C8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978" y="1967299"/>
                        <a:ext cx="4558934" cy="39022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367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4273-79E0-2143-B0E7-F1AE74C6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Thermal Conductivity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CA8FA-3700-FA48-9CDB-34677C5BC7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 empirical model used in BISON is the NFIR model</a:t>
                </a:r>
              </a:p>
              <a:p>
                <a:r>
                  <a:rPr lang="en-US" dirty="0"/>
                  <a:t>The model is a function of the temperature T (in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C) and the burnup β (in MWD/</a:t>
                </a:r>
                <a:r>
                  <a:rPr lang="en-US" dirty="0" err="1"/>
                  <a:t>kgU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CA8FA-3700-FA48-9CDB-34677C5BC7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9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0064F-A733-8C43-8392-E5E8600C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2161884-8184-A446-8369-02FC42382906}"/>
              </a:ext>
            </a:extLst>
          </p:cNvPr>
          <p:cNvGrpSpPr/>
          <p:nvPr/>
        </p:nvGrpSpPr>
        <p:grpSpPr>
          <a:xfrm>
            <a:off x="502731" y="3799145"/>
            <a:ext cx="7320853" cy="2096641"/>
            <a:chOff x="1196982" y="3800021"/>
            <a:chExt cx="8483600" cy="2341639"/>
          </a:xfrm>
        </p:grpSpPr>
        <p:pic>
          <p:nvPicPr>
            <p:cNvPr id="5" name="Picture 4" descr="latex-image-1.pdf">
              <a:extLst>
                <a:ext uri="{FF2B5EF4-FFF2-40B4-BE49-F238E27FC236}">
                  <a16:creationId xmlns:a16="http://schemas.microsoft.com/office/drawing/2014/main" id="{DE478E37-2576-0844-AC97-9EE5E18D5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3800021"/>
              <a:ext cx="5410200" cy="241300"/>
            </a:xfrm>
            <a:prstGeom prst="rect">
              <a:avLst/>
            </a:prstGeom>
          </p:spPr>
        </p:pic>
        <p:pic>
          <p:nvPicPr>
            <p:cNvPr id="6" name="Picture 5" descr="latex-image-1.pdf">
              <a:extLst>
                <a:ext uri="{FF2B5EF4-FFF2-40B4-BE49-F238E27FC236}">
                  <a16:creationId xmlns:a16="http://schemas.microsoft.com/office/drawing/2014/main" id="{B76DE0A9-E0F6-8F41-AD1A-A90FA7792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4168160"/>
              <a:ext cx="3492500" cy="558800"/>
            </a:xfrm>
            <a:prstGeom prst="rect">
              <a:avLst/>
            </a:prstGeom>
          </p:spPr>
        </p:pic>
        <p:pic>
          <p:nvPicPr>
            <p:cNvPr id="7" name="Picture 6" descr="latex-image-1.pdf">
              <a:extLst>
                <a:ext uri="{FF2B5EF4-FFF2-40B4-BE49-F238E27FC236}">
                  <a16:creationId xmlns:a16="http://schemas.microsoft.com/office/drawing/2014/main" id="{07D79B9A-F3D8-CA44-BCDB-D956BDDDE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4726960"/>
              <a:ext cx="8483600" cy="533400"/>
            </a:xfrm>
            <a:prstGeom prst="rect">
              <a:avLst/>
            </a:prstGeom>
          </p:spPr>
        </p:pic>
        <p:pic>
          <p:nvPicPr>
            <p:cNvPr id="8" name="Picture 7" descr="latex-image-1.pdf">
              <a:extLst>
                <a:ext uri="{FF2B5EF4-FFF2-40B4-BE49-F238E27FC236}">
                  <a16:creationId xmlns:a16="http://schemas.microsoft.com/office/drawing/2014/main" id="{D6D82B0A-D859-4C48-9C99-94DDDA26D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5260360"/>
              <a:ext cx="6858000" cy="533400"/>
            </a:xfrm>
            <a:prstGeom prst="rect">
              <a:avLst/>
            </a:prstGeom>
          </p:spPr>
        </p:pic>
        <p:pic>
          <p:nvPicPr>
            <p:cNvPr id="9" name="Picture 8" descr="latex-image-1.pdf">
              <a:extLst>
                <a:ext uri="{FF2B5EF4-FFF2-40B4-BE49-F238E27FC236}">
                  <a16:creationId xmlns:a16="http://schemas.microsoft.com/office/drawing/2014/main" id="{7DB420B2-719A-E644-AD3A-33C902D25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96982" y="5862260"/>
              <a:ext cx="2857500" cy="27940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C7CCD86-1EDE-D740-B56C-3C28CA570B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239" y="3028901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9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0A2B-E6A0-8D42-B5CA-06A96433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Thermal Conductivity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6D93-A352-E54C-89CD-B17941B5B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527235" cy="3965670"/>
          </a:xfrm>
        </p:spPr>
        <p:txBody>
          <a:bodyPr/>
          <a:lstStyle/>
          <a:p>
            <a:r>
              <a:rPr lang="en-US" dirty="0"/>
              <a:t>The R</a:t>
            </a:r>
            <a:r>
              <a:rPr lang="en-US" baseline="-25000" dirty="0"/>
              <a:t>f</a:t>
            </a:r>
            <a:r>
              <a:rPr lang="en-US" dirty="0"/>
              <a:t> function switches between two k</a:t>
            </a:r>
            <a:r>
              <a:rPr lang="en-US" baseline="-25000" dirty="0"/>
              <a:t>ph</a:t>
            </a:r>
            <a:r>
              <a:rPr lang="en-US" dirty="0"/>
              <a:t> functions, accounting for thermal recovery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37B61-097A-0F42-8BB5-D4D4A35F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AC627-0B90-284A-8A60-57C403099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1655416"/>
            <a:ext cx="2349907" cy="2267585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9E710241-3779-7943-8F38-E1F56D1CE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2176" y="3178832"/>
            <a:ext cx="3013824" cy="500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76AC22-529F-0C45-BB86-FFB77D5CB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38" y="3417921"/>
            <a:ext cx="4191000" cy="307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EA9F60-2980-B048-B5BC-7B5CAA6BF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831" y="3417921"/>
            <a:ext cx="41910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64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F56E-684B-9E46-0184-D937763B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MOOSE/BISON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8BB7E-77F3-727B-EAA1-B368F937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685183" cy="3965670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https://mooseframework.inl.gov/bison/source/materials/UO2Thermal.html</a:t>
            </a:r>
            <a:endParaRPr lang="en-US" dirty="0"/>
          </a:p>
          <a:p>
            <a:r>
              <a:rPr lang="en-US" dirty="0"/>
              <a:t>Fink-</a:t>
            </a:r>
            <a:r>
              <a:rPr lang="en-US" dirty="0" err="1"/>
              <a:t>Lucuta</a:t>
            </a:r>
            <a:endParaRPr lang="en-US" dirty="0"/>
          </a:p>
          <a:p>
            <a:r>
              <a:rPr lang="en-US" dirty="0"/>
              <a:t>Halden</a:t>
            </a:r>
          </a:p>
          <a:p>
            <a:r>
              <a:rPr lang="en-US" dirty="0"/>
              <a:t>NFIR</a:t>
            </a:r>
          </a:p>
          <a:p>
            <a:r>
              <a:rPr lang="en-US" dirty="0"/>
              <a:t>NFI</a:t>
            </a:r>
          </a:p>
          <a:p>
            <a:r>
              <a:rPr lang="en-US" dirty="0"/>
              <a:t>Ronchi-</a:t>
            </a:r>
            <a:r>
              <a:rPr lang="en-US" dirty="0" err="1"/>
              <a:t>Staicu</a:t>
            </a:r>
            <a:endParaRPr lang="en-US" dirty="0"/>
          </a:p>
          <a:p>
            <a:r>
              <a:rPr lang="en-US" dirty="0" err="1"/>
              <a:t>Toptan</a:t>
            </a:r>
            <a:r>
              <a:rPr lang="en-US" dirty="0"/>
              <a:t> (NCSU alum)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8E50C-9D8E-C5D2-B0DC-E78DA395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DF0DC7-0811-87A2-B79F-93AA7A530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00749" y="2160495"/>
            <a:ext cx="4681651" cy="37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452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0FE3-9B84-154C-911C-3D55F7F2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Other Physical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3119-4514-4441-BC64-B0004A46E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293360" cy="4157663"/>
          </a:xfrm>
        </p:spPr>
        <p:txBody>
          <a:bodyPr/>
          <a:lstStyle/>
          <a:p>
            <a:r>
              <a:rPr lang="en-US" sz="2000" dirty="0"/>
              <a:t>An important effect of radiation damage is the volume increase of the crystal lattice, leading to macroscopic swelling of the fuel material</a:t>
            </a:r>
          </a:p>
          <a:p>
            <a:r>
              <a:rPr lang="en-US" sz="2000" dirty="0"/>
              <a:t>Alpha particle damage alone can cause approximately 0.4% swelling</a:t>
            </a:r>
          </a:p>
          <a:p>
            <a:r>
              <a:rPr lang="en-US" sz="2000" dirty="0"/>
              <a:t>Mechanical properties also vary with damage</a:t>
            </a:r>
          </a:p>
          <a:p>
            <a:r>
              <a:rPr lang="en-US" sz="2000" dirty="0"/>
              <a:t>Hardness increases as a function of dpa</a:t>
            </a:r>
          </a:p>
          <a:p>
            <a:r>
              <a:rPr lang="en-US" sz="2000" dirty="0"/>
              <a:t>Young’s modulus decreases with dpa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32C78-AEC2-7543-950C-5BE2E21D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F6D67-D098-534E-BE8E-7E834262E02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075" y="3348136"/>
            <a:ext cx="3003815" cy="2236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E15732-A7E7-6540-807F-7F89C46C67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1660" y="857449"/>
            <a:ext cx="2918460" cy="2448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F9D706-B520-DB48-82D5-5F14A99B804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0890" y="3262805"/>
            <a:ext cx="3231109" cy="233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50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E65-EA33-1E27-56CE-E2C2B17D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D6AA5-7E15-D5D2-21E6-D2B97AFB3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6984345" cy="3965670"/>
          </a:xfrm>
        </p:spPr>
        <p:txBody>
          <a:bodyPr/>
          <a:lstStyle/>
          <a:p>
            <a:r>
              <a:rPr lang="en-US" sz="2000" dirty="0"/>
              <a:t>At the beginning of the irradiation, the local power is ~10% higher on the pellet periphery, due to self-shielding effect in 235U fissions driven by neutrons entering the rods after interactions in the water</a:t>
            </a:r>
          </a:p>
          <a:p>
            <a:r>
              <a:rPr lang="en-US" sz="2000" dirty="0"/>
              <a:t>With increasing burnup, a strong capture of neutrons by U-238 in the resonance range occurs at the periphery of the fuel</a:t>
            </a:r>
          </a:p>
          <a:p>
            <a:r>
              <a:rPr lang="en-US" sz="2000" dirty="0"/>
              <a:t>This leads to the production of Pu-239, and leads to a higher fissile density and thus a further increase in the local power/burnup</a:t>
            </a:r>
          </a:p>
          <a:p>
            <a:r>
              <a:rPr lang="en-US" sz="2000" dirty="0"/>
              <a:t>This high local burnup area is on the outer ring of the fuel and is about 200 microns thick, which represents about 8% of the fuel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D40A2-C122-748D-287A-ABF9B301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A6F1C-644B-3526-0AF4-93577663AE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3945" y="2160495"/>
            <a:ext cx="4505289" cy="351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25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CF0A-FB4F-F14A-9D10-B2D7EF59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965F-60E3-9840-A7E1-862600FE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374295" cy="3965670"/>
          </a:xfrm>
        </p:spPr>
        <p:txBody>
          <a:bodyPr/>
          <a:lstStyle/>
          <a:p>
            <a:r>
              <a:rPr lang="en-US" sz="2000" dirty="0"/>
              <a:t>When thermal recovery is not sufficiently efficient (at lower temperatures), the accumulation of defects at high burnup can lead to the instability of the crystalline structure, initiating a restructuring driven by the energy stored in the material</a:t>
            </a:r>
          </a:p>
          <a:p>
            <a:r>
              <a:rPr lang="en-US" sz="2000" dirty="0"/>
              <a:t>This can be amorphization (not observed in UO2) or recrystallization/polygonization</a:t>
            </a:r>
          </a:p>
          <a:p>
            <a:r>
              <a:rPr lang="en-US" sz="2000" dirty="0"/>
              <a:t>Polygonization is the rearrangement of dislocations into sub-domain walls with slightly misaligned grains</a:t>
            </a:r>
          </a:p>
          <a:p>
            <a:r>
              <a:rPr lang="en-US" sz="2000" dirty="0"/>
              <a:t>In UO2, grains subdivide from 10 microns in size to 100-200 nm size, and a densely porous structure is formed (~20% porosity)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CB2B-E992-4441-95C8-78A017C7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CBAF5-E9B2-7248-9AE1-49352A7604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0598" y="2571267"/>
            <a:ext cx="5081402" cy="262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76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C53A-0044-E74B-AB34-073F5125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DC90-CC3F-2D46-ABBB-956043957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825924" cy="3965670"/>
          </a:xfrm>
        </p:spPr>
        <p:txBody>
          <a:bodyPr/>
          <a:lstStyle/>
          <a:p>
            <a:r>
              <a:rPr lang="en-US" sz="2000" dirty="0"/>
              <a:t>The increase of the relative porosity volume degrades the material conductivity and reduces the mean grain size</a:t>
            </a:r>
          </a:p>
          <a:p>
            <a:r>
              <a:rPr lang="en-US" sz="2000" dirty="0"/>
              <a:t>On the other hand, the intragranular irradiation defect-cleaning improves the fuel intrinsic thermal conductivity</a:t>
            </a:r>
          </a:p>
          <a:p>
            <a:r>
              <a:rPr lang="en-US" sz="2000" dirty="0"/>
              <a:t>Fission gas in HBS bubble is retained, not released</a:t>
            </a:r>
          </a:p>
          <a:p>
            <a:r>
              <a:rPr lang="en-US" sz="2000" dirty="0"/>
              <a:t>Exact mechanism of HBS formation is not fully understood, believe to be polygonization, interacting with fission gas bubbles, dislocation growth, and high levels of energy deposition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D85E4-BA66-354B-9C43-D5865BAE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41BE0-6844-054D-9C3D-11E7D80FAB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469366" y="3270679"/>
            <a:ext cx="4691364" cy="1845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3D81E5-FE66-954A-BF79-8BA494556A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1895" y="2708475"/>
            <a:ext cx="3051205" cy="225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59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1FB7-A422-CC47-3EB9-B1E9E8DE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Burnup Structure (HBS)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C1C5-DC4A-95FC-775C-721033291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506817" cy="3965670"/>
          </a:xfrm>
        </p:spPr>
        <p:txBody>
          <a:bodyPr/>
          <a:lstStyle/>
          <a:p>
            <a:r>
              <a:rPr lang="en-US" sz="2000" dirty="0"/>
              <a:t>HBS has a high fission gas retention capacity, and does not evolve toward an open system of interconnected channels, even when porosity reaches very high values</a:t>
            </a:r>
          </a:p>
          <a:p>
            <a:r>
              <a:rPr lang="en-US" sz="2000" dirty="0"/>
              <a:t>Thus, the HBS is a relatively stable structure, limiting pressure increase in the plenum</a:t>
            </a:r>
          </a:p>
          <a:p>
            <a:r>
              <a:rPr lang="en-US" sz="2000" dirty="0"/>
              <a:t>While burnup is higher in the rim region, the HBS polygonization removes/sweeps defects to new grain boundaries, removing some phonon scatterers</a:t>
            </a:r>
          </a:p>
          <a:p>
            <a:r>
              <a:rPr lang="en-US" sz="2000" dirty="0"/>
              <a:t>Despite high porosity, thermal conductivity increases, slightly decreasing centerline temperatures in high burnup fuel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B1FEA-7CDB-4C28-CDE5-8C028979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19B49-BF83-C00D-78FA-752813401A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1111" y="2074829"/>
            <a:ext cx="3821289" cy="25508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6D0638-F448-C209-51D4-B99C2D476A7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98431" y="4625658"/>
            <a:ext cx="2946647" cy="19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51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7CAA-C15D-A23E-A5D9-0DBFBEF7E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Radiation Effects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9D1E5-B8B5-EB31-B642-DFCB5E5FD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Formation of loops of voids as primary defect clusters</a:t>
            </a:r>
          </a:p>
          <a:p>
            <a:r>
              <a:rPr lang="en-US" dirty="0"/>
              <a:t>Radiation effects include both chemistry and physical property changes</a:t>
            </a:r>
          </a:p>
          <a:p>
            <a:r>
              <a:rPr lang="en-US" dirty="0"/>
              <a:t>One of the key physical properties modified is the thermal conductivity</a:t>
            </a:r>
          </a:p>
          <a:p>
            <a:pPr lvl="1"/>
            <a:r>
              <a:rPr lang="en-US" dirty="0"/>
              <a:t>have several empirical (and mechanistic) models to account for burnup and temperature</a:t>
            </a:r>
          </a:p>
          <a:p>
            <a:r>
              <a:rPr lang="en-US" dirty="0"/>
              <a:t>HBS forms towards the end of life, generating a fine-grained structure with high porosity</a:t>
            </a:r>
          </a:p>
          <a:p>
            <a:r>
              <a:rPr lang="en-US" dirty="0"/>
              <a:t>HBS retains fission gas and slightly increases thermal conductivity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48CE9-A7E5-9148-B3CB-661558CE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87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Fuel chemistry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36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6DFF3-E58B-B146-BCE3-A43817B9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30250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Fuel Chemistry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9C9FA-451C-AC4F-ADF5-351E29B22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577797" cy="396567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UO</a:t>
            </a:r>
            <a:r>
              <a:rPr lang="en-US" baseline="-25000" dirty="0"/>
              <a:t>2</a:t>
            </a:r>
            <a:r>
              <a:rPr lang="en-US" dirty="0"/>
              <a:t> is an ionic compound that must have balanced charges</a:t>
            </a:r>
          </a:p>
          <a:p>
            <a:r>
              <a:rPr lang="en-US" dirty="0"/>
              <a:t>What is the charge of a typical oxygen ion?</a:t>
            </a:r>
          </a:p>
          <a:p>
            <a:pPr lvl="1"/>
            <a:r>
              <a:rPr lang="en-US" dirty="0"/>
              <a:t>O</a:t>
            </a:r>
            <a:r>
              <a:rPr lang="en-US" baseline="30000" dirty="0"/>
              <a:t>2-</a:t>
            </a:r>
          </a:p>
          <a:p>
            <a:r>
              <a:rPr lang="en-US" sz="2200" dirty="0"/>
              <a:t>Uranium valance states</a:t>
            </a:r>
          </a:p>
          <a:p>
            <a:pPr lvl="1"/>
            <a:r>
              <a:rPr lang="en-US" dirty="0"/>
              <a:t>Possible:  U</a:t>
            </a:r>
            <a:r>
              <a:rPr lang="en-US" baseline="30000" dirty="0"/>
              <a:t>3+</a:t>
            </a:r>
            <a:r>
              <a:rPr lang="en-US" dirty="0"/>
              <a:t>, U</a:t>
            </a:r>
            <a:r>
              <a:rPr lang="en-US" baseline="30000" dirty="0"/>
              <a:t>4+</a:t>
            </a:r>
            <a:r>
              <a:rPr lang="en-US" dirty="0"/>
              <a:t>, U</a:t>
            </a:r>
            <a:r>
              <a:rPr lang="en-US" baseline="30000" dirty="0"/>
              <a:t>5+</a:t>
            </a:r>
            <a:r>
              <a:rPr lang="en-US" dirty="0"/>
              <a:t>, U</a:t>
            </a:r>
            <a:r>
              <a:rPr lang="en-US" baseline="30000" dirty="0"/>
              <a:t>6+</a:t>
            </a:r>
            <a:endParaRPr lang="en-US" dirty="0"/>
          </a:p>
          <a:p>
            <a:pPr lvl="1"/>
            <a:r>
              <a:rPr lang="en-US" dirty="0"/>
              <a:t>Most stable:  U</a:t>
            </a:r>
            <a:r>
              <a:rPr lang="en-US" baseline="30000" dirty="0"/>
              <a:t>4+</a:t>
            </a:r>
            <a:r>
              <a:rPr lang="en-US" dirty="0"/>
              <a:t>, U</a:t>
            </a:r>
            <a:r>
              <a:rPr lang="en-US" baseline="30000" dirty="0"/>
              <a:t>5+</a:t>
            </a:r>
            <a:r>
              <a:rPr lang="en-US" dirty="0"/>
              <a:t>, U</a:t>
            </a:r>
            <a:r>
              <a:rPr lang="en-US" baseline="30000" dirty="0"/>
              <a:t>6+</a:t>
            </a:r>
          </a:p>
          <a:p>
            <a:pPr lvl="1"/>
            <a:r>
              <a:rPr lang="en-US" dirty="0"/>
              <a:t>Beyond UO2, can have U4O9, U3O8, UO3</a:t>
            </a:r>
          </a:p>
          <a:p>
            <a:r>
              <a:rPr lang="en-US" dirty="0"/>
              <a:t>The UO2 structure is very stable all the way up to the melting temperature and down to extremely low temperatures, even with irradiation damage</a:t>
            </a:r>
          </a:p>
          <a:p>
            <a:r>
              <a:rPr lang="en-US" dirty="0"/>
              <a:t>There is space in the uranium lattice that can accommodate fission products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0EE1F-BA2C-8841-B9B2-3A759C6D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A66D6-9877-C742-9705-99925E3F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15" y="2342234"/>
            <a:ext cx="2942207" cy="272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81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F221F-1537-8F40-9633-747DE9547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3636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O/M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2533A-69FC-7A4B-B7C0-5B1BFC16D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355476" cy="3965670"/>
          </a:xfrm>
        </p:spPr>
        <p:txBody>
          <a:bodyPr>
            <a:noAutofit/>
          </a:bodyPr>
          <a:lstStyle/>
          <a:p>
            <a:r>
              <a:rPr lang="en-US" sz="2000" dirty="0"/>
              <a:t>The ratio of oxygen to uranium metal (O/M ratio) can vary</a:t>
            </a:r>
          </a:p>
          <a:p>
            <a:r>
              <a:rPr lang="en-US" sz="2000" dirty="0"/>
              <a:t>This is the stoichiometry</a:t>
            </a:r>
          </a:p>
          <a:p>
            <a:r>
              <a:rPr lang="en-US" sz="2000" dirty="0"/>
              <a:t>The homogeneity range of uranium dioxide extends to both hypo-(UO</a:t>
            </a:r>
            <a:r>
              <a:rPr lang="en-US" sz="2000" baseline="-25000" dirty="0"/>
              <a:t>2-x</a:t>
            </a:r>
            <a:r>
              <a:rPr lang="en-US" sz="2000" dirty="0"/>
              <a:t>) and hyper(UO</a:t>
            </a:r>
            <a:r>
              <a:rPr lang="en-US" sz="2000" baseline="-25000" dirty="0"/>
              <a:t>2+x</a:t>
            </a:r>
            <a:r>
              <a:rPr lang="en-US" sz="2000" dirty="0"/>
              <a:t>)-stoichiometric compositions in oxygen</a:t>
            </a:r>
          </a:p>
          <a:p>
            <a:r>
              <a:rPr lang="en-US" sz="2000" dirty="0"/>
              <a:t>The minimum and maximum oxygen contents in the dioxide correspond to the compounds with the formula of respectively UO</a:t>
            </a:r>
            <a:r>
              <a:rPr lang="en-US" sz="2000" baseline="-25000" dirty="0"/>
              <a:t>1.67</a:t>
            </a:r>
            <a:r>
              <a:rPr lang="en-US" sz="2000" dirty="0"/>
              <a:t> at 2720 K and UO</a:t>
            </a:r>
            <a:r>
              <a:rPr lang="en-US" sz="2000" baseline="-25000" dirty="0"/>
              <a:t>2.25</a:t>
            </a:r>
            <a:r>
              <a:rPr lang="en-US" sz="2000" dirty="0"/>
              <a:t> at approximately 2030 K</a:t>
            </a:r>
          </a:p>
          <a:p>
            <a:r>
              <a:rPr lang="en-US" sz="2000" dirty="0"/>
              <a:t>Will the O/M ratio go up or down during reactor operation?</a:t>
            </a:r>
          </a:p>
          <a:p>
            <a:pPr lvl="1"/>
            <a:r>
              <a:rPr lang="en-US" sz="2000" dirty="0"/>
              <a:t>It is complicated, because of the formation of fission products that also react with the oxygen, and O interaction with Zr cladding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C4413-5012-E244-B057-262BEE08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5" name="Picture 1" descr="Figure 3-2 Partial phase diagram of the uranium-oxygen system, NB_Vertical lines represent the UO2 and U4O9 compounds.png">
            <a:extLst>
              <a:ext uri="{FF2B5EF4-FFF2-40B4-BE49-F238E27FC236}">
                <a16:creationId xmlns:a16="http://schemas.microsoft.com/office/drawing/2014/main" id="{9EC57A29-14B2-364D-812E-0E953FF9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5076" y="1798993"/>
            <a:ext cx="3709123" cy="4557358"/>
          </a:xfrm>
          <a:prstGeom prst="rect">
            <a:avLst/>
          </a:prstGeom>
          <a:noFill/>
          <a:ln w="6350">
            <a:solidFill>
              <a:srgbClr val="D4AD6F"/>
            </a:solidFill>
          </a:ln>
        </p:spPr>
      </p:pic>
    </p:spTree>
    <p:extLst>
      <p:ext uri="{BB962C8B-B14F-4D97-AF65-F5344CB8AC3E}">
        <p14:creationId xmlns:p14="http://schemas.microsoft.com/office/powerpoint/2010/main" val="23711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1A80-3A7B-854C-9CB0-FA06D4F0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2323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Excess 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2B08F-5F98-6940-AA96-E5383E87F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070600" cy="3965670"/>
          </a:xfrm>
        </p:spPr>
        <p:txBody>
          <a:bodyPr/>
          <a:lstStyle/>
          <a:p>
            <a:r>
              <a:rPr lang="en-US" sz="2000" dirty="0"/>
              <a:t>The crystal structure of UO</a:t>
            </a:r>
            <a:r>
              <a:rPr lang="en-US" sz="2000" baseline="-25000" dirty="0"/>
              <a:t>2</a:t>
            </a:r>
            <a:r>
              <a:rPr lang="en-US" sz="2000" dirty="0"/>
              <a:t> can accommodate extra oxygen</a:t>
            </a:r>
          </a:p>
          <a:p>
            <a:r>
              <a:rPr lang="en-US" sz="2000" dirty="0"/>
              <a:t>Excess oxygen resides at interstitial locations</a:t>
            </a:r>
          </a:p>
          <a:p>
            <a:r>
              <a:rPr lang="en-US" sz="2000" dirty="0"/>
              <a:t>Oxygen in neighboring sites is displaced</a:t>
            </a:r>
          </a:p>
          <a:p>
            <a:r>
              <a:rPr lang="en-US" sz="2000" dirty="0"/>
              <a:t>Cation valence increases to maintain electrical neutrality</a:t>
            </a:r>
          </a:p>
          <a:p>
            <a:r>
              <a:rPr lang="en-US" sz="2000" dirty="0"/>
              <a:t>Fuel fabricated to be nearly stoichiometric; i.e., UO2.00± because:</a:t>
            </a:r>
          </a:p>
          <a:p>
            <a:pPr lvl="1"/>
            <a:r>
              <a:rPr lang="en-US" sz="2000" dirty="0"/>
              <a:t>It is the most stable</a:t>
            </a:r>
          </a:p>
          <a:p>
            <a:pPr lvl="1"/>
            <a:r>
              <a:rPr lang="en-US" sz="2000" dirty="0"/>
              <a:t>It has the highest melting temperature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8DBCF-FCBF-9F42-8DD6-41331E4A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FF67A4-FC9F-8A44-9633-BEE710A4913C}"/>
              </a:ext>
            </a:extLst>
          </p:cNvPr>
          <p:cNvGrpSpPr/>
          <p:nvPr/>
        </p:nvGrpSpPr>
        <p:grpSpPr>
          <a:xfrm>
            <a:off x="6850966" y="2289996"/>
            <a:ext cx="4395779" cy="3836169"/>
            <a:chOff x="2374110" y="764704"/>
            <a:chExt cx="4395779" cy="3836169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78C5330-CDB0-554E-9316-160E846B95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110" y="764704"/>
              <a:ext cx="4395779" cy="3816424"/>
            </a:xfrm>
            <a:prstGeom prst="rect">
              <a:avLst/>
            </a:prstGeom>
            <a:noFill/>
            <a:ln w="6350">
              <a:solidFill>
                <a:srgbClr val="D4AD6F"/>
              </a:solidFill>
              <a:miter lim="800000"/>
              <a:headEnd/>
              <a:tailEnd/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0BBCF2-7D74-0D44-892A-9D3002BB1E26}"/>
                </a:ext>
              </a:extLst>
            </p:cNvPr>
            <p:cNvSpPr/>
            <p:nvPr/>
          </p:nvSpPr>
          <p:spPr>
            <a:xfrm>
              <a:off x="5220072" y="4293096"/>
              <a:ext cx="153112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latin typeface="Arial Narrow" pitchFamily="34" charset="0"/>
                </a:rPr>
                <a:t>[after </a:t>
              </a:r>
              <a:r>
                <a:rPr lang="en-GB" sz="1400" dirty="0" err="1">
                  <a:latin typeface="Arial Narrow" pitchFamily="34" charset="0"/>
                </a:rPr>
                <a:t>Olander</a:t>
              </a:r>
              <a:r>
                <a:rPr lang="en-GB" sz="1400" dirty="0">
                  <a:latin typeface="Arial Narrow" pitchFamily="34" charset="0"/>
                </a:rPr>
                <a:t>, 1976]</a:t>
              </a:r>
              <a:endParaRPr lang="en-US" sz="1400" dirty="0">
                <a:latin typeface="Arial Narrow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774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7A47-80DE-E44D-B626-C4652141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1611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Incorporation of Fission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CD49-AC87-ED46-B568-B75047597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001512" cy="3965670"/>
          </a:xfrm>
        </p:spPr>
        <p:txBody>
          <a:bodyPr/>
          <a:lstStyle/>
          <a:p>
            <a:r>
              <a:rPr lang="en-US" sz="2000" dirty="0"/>
              <a:t>As fission products form, the valence state of the uranium can change</a:t>
            </a:r>
          </a:p>
          <a:p>
            <a:r>
              <a:rPr lang="en-US" sz="2000" dirty="0"/>
              <a:t>Typical valence of soluble fission products is M</a:t>
            </a:r>
            <a:r>
              <a:rPr lang="en-US" sz="2000" baseline="30000" dirty="0"/>
              <a:t>3+</a:t>
            </a:r>
            <a:endParaRPr lang="en-US" sz="2000" dirty="0"/>
          </a:p>
          <a:p>
            <a:r>
              <a:rPr lang="en-US" sz="2000" dirty="0"/>
              <a:t>The uranium valence state changes to compensate</a:t>
            </a:r>
          </a:p>
          <a:p>
            <a:pPr lvl="1"/>
            <a:r>
              <a:rPr lang="en-US" sz="2000" dirty="0"/>
              <a:t>Oxygen liberated by fission</a:t>
            </a:r>
          </a:p>
          <a:p>
            <a:pPr lvl="1"/>
            <a:r>
              <a:rPr lang="en-US" sz="2000" dirty="0"/>
              <a:t>Fission products produced with M</a:t>
            </a:r>
            <a:r>
              <a:rPr lang="en-US" sz="2000" baseline="30000" dirty="0"/>
              <a:t>3+</a:t>
            </a:r>
            <a:r>
              <a:rPr lang="en-US" sz="2000" dirty="0"/>
              <a:t> valance state incorporated in fuel lattice</a:t>
            </a:r>
          </a:p>
          <a:p>
            <a:pPr lvl="1"/>
            <a:r>
              <a:rPr lang="en-US" sz="2000" dirty="0"/>
              <a:t>Uranium oxidizes from U</a:t>
            </a:r>
            <a:r>
              <a:rPr lang="en-US" sz="2000" baseline="30000" dirty="0"/>
              <a:t>4+</a:t>
            </a:r>
            <a:r>
              <a:rPr lang="en-US" sz="2000" dirty="0"/>
              <a:t> to U</a:t>
            </a:r>
            <a:r>
              <a:rPr lang="en-US" sz="2000" baseline="30000" dirty="0"/>
              <a:t>5+</a:t>
            </a:r>
            <a:r>
              <a:rPr lang="en-US" sz="2000" dirty="0"/>
              <a:t> or U</a:t>
            </a:r>
            <a:r>
              <a:rPr lang="en-US" sz="2000" baseline="30000" dirty="0"/>
              <a:t>6+</a:t>
            </a:r>
            <a:r>
              <a:rPr lang="en-US" sz="2000" dirty="0"/>
              <a:t> to maintain local electrical neutrality</a:t>
            </a:r>
            <a:endParaRPr lang="en-US" sz="2000" baseline="30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50DBB-6138-104B-B338-05583AEA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9115BEB-7F51-9B4E-B38E-5F7C6396E5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52288"/>
          <a:stretch/>
        </p:blipFill>
        <p:spPr bwMode="auto">
          <a:xfrm>
            <a:off x="7360920" y="2321325"/>
            <a:ext cx="3287394" cy="3310870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36804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B9EB-99C8-E94F-BF71-3EC3B752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6741"/>
            <a:ext cx="10972800" cy="1068387"/>
          </a:xfrm>
        </p:spPr>
        <p:txBody>
          <a:bodyPr/>
          <a:lstStyle/>
          <a:p>
            <a:pPr algn="l"/>
            <a:r>
              <a:rPr lang="en-US" dirty="0"/>
              <a:t>Oxygen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75D4F-F2E0-0046-9599-A23A6B23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355034" cy="3965670"/>
          </a:xfrm>
        </p:spPr>
        <p:txBody>
          <a:bodyPr/>
          <a:lstStyle/>
          <a:p>
            <a:r>
              <a:rPr lang="en-US" sz="2000" dirty="0"/>
              <a:t>The oxygen potential is a measure of how free the oxygen is to escape/move around </a:t>
            </a:r>
          </a:p>
          <a:p>
            <a:r>
              <a:rPr lang="en-US" sz="2000" dirty="0"/>
              <a:t>Oxygen potential is defined as: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or, equivalently:</a:t>
            </a:r>
          </a:p>
          <a:p>
            <a:pPr lvl="1"/>
            <a:r>
              <a:rPr lang="en-US" sz="2000" dirty="0"/>
              <a:t>With 			= Chemical potential of oxygen</a:t>
            </a:r>
            <a:br>
              <a:rPr lang="en-US" sz="2000" dirty="0"/>
            </a:br>
            <a:r>
              <a:rPr lang="en-US" sz="2000" dirty="0"/>
              <a:t> in solution</a:t>
            </a:r>
          </a:p>
          <a:p>
            <a:pPr lvl="1"/>
            <a:r>
              <a:rPr lang="en-US" sz="2000" dirty="0"/>
              <a:t>        = Gibbs free energy of gaseous oxygen </a:t>
            </a:r>
            <a:br>
              <a:rPr lang="en-US" sz="2000" dirty="0"/>
            </a:br>
            <a:r>
              <a:rPr lang="en-US" sz="2000" dirty="0"/>
              <a:t>at temperature T and a standard pressure</a:t>
            </a:r>
            <a:br>
              <a:rPr lang="en-US" sz="2000" dirty="0"/>
            </a:br>
            <a:r>
              <a:rPr lang="en-US" sz="2000" dirty="0"/>
              <a:t>(1 atm)</a:t>
            </a:r>
          </a:p>
          <a:p>
            <a:r>
              <a:rPr lang="en-US" sz="2000" dirty="0"/>
              <a:t>It is possible to determine the stoichiometry from the oxygen potential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55CAB-9BB6-9648-87B2-A696985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AF6B3-A59E-9A42-9010-0166E00C6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0" y="3429000"/>
            <a:ext cx="24384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D58F6A-341D-0C42-803C-7FB284B75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452" y="2809166"/>
            <a:ext cx="19558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26AAFA-2CA8-EA4C-B84F-4BC6AB01CF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521" t="10643" r="32188" b="6175"/>
          <a:stretch/>
        </p:blipFill>
        <p:spPr>
          <a:xfrm>
            <a:off x="2177393" y="3889330"/>
            <a:ext cx="689864" cy="348615"/>
          </a:xfrm>
          <a:prstGeom prst="rect">
            <a:avLst/>
          </a:prstGeom>
        </p:spPr>
      </p:pic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CF4791C-FABD-2D42-A67A-3197BF50C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6511" y="4548965"/>
          <a:ext cx="4381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00" imgH="241200" progId="Equation.3">
                  <p:embed/>
                </p:oleObj>
              </mc:Choice>
              <mc:Fallback>
                <p:oleObj name="Equation" r:id="rId4" imgW="253800" imgH="241200" progId="Equation.3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CF4791C-FABD-2D42-A67A-3197BF50C5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511" y="4548965"/>
                        <a:ext cx="43815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>
            <a:extLst>
              <a:ext uri="{FF2B5EF4-FFF2-40B4-BE49-F238E27FC236}">
                <a16:creationId xmlns:a16="http://schemas.microsoft.com/office/drawing/2014/main" id="{12915240-DE6E-D741-9C68-ECB2FA89B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737600" y="1468796"/>
            <a:ext cx="2360378" cy="1985770"/>
          </a:xfrm>
          <a:prstGeom prst="rect">
            <a:avLst/>
          </a:prstGeom>
          <a:noFill/>
          <a:ln w="6350">
            <a:solidFill>
              <a:srgbClr val="D4AD6F"/>
            </a:solidFill>
            <a:miter lim="800000"/>
            <a:headEnd/>
            <a:tailEnd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0D644A-683F-7545-B09B-3CE615114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3522768"/>
            <a:ext cx="2773732" cy="319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4971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7693</TotalTime>
  <Words>1852</Words>
  <Application>Microsoft Macintosh PowerPoint</Application>
  <PresentationFormat>Widescreen</PresentationFormat>
  <Paragraphs>181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Narrow</vt:lpstr>
      <vt:lpstr>Calibri</vt:lpstr>
      <vt:lpstr>Cambria Math</vt:lpstr>
      <vt:lpstr>NCStateU-horizontal-left-logo</vt:lpstr>
      <vt:lpstr>Equation</vt:lpstr>
      <vt:lpstr>Nuclear Fuel Performance</vt:lpstr>
      <vt:lpstr>Last Time</vt:lpstr>
      <vt:lpstr>UO2 Radiation effects</vt:lpstr>
      <vt:lpstr>Radiation Damage</vt:lpstr>
      <vt:lpstr>To balance charge, how many oxygen vacancies need to be created for every uranium vacancy?</vt:lpstr>
      <vt:lpstr>Loop Formation</vt:lpstr>
      <vt:lpstr>Voids</vt:lpstr>
      <vt:lpstr>UO2 Radiation Effects</vt:lpstr>
      <vt:lpstr>Thermal Conductivity Degradation</vt:lpstr>
      <vt:lpstr>Thermal Conductivity Degradation</vt:lpstr>
      <vt:lpstr>UO2 Thermal Conductivity</vt:lpstr>
      <vt:lpstr>UO2 Thermal Conductivity</vt:lpstr>
      <vt:lpstr>UO2 Thermal Conductivity</vt:lpstr>
      <vt:lpstr>UO2 Thermal Conductivity</vt:lpstr>
      <vt:lpstr>MOOSE/BISON Models</vt:lpstr>
      <vt:lpstr>Other Physical Changes</vt:lpstr>
      <vt:lpstr>High Burnup Structure (HBS)</vt:lpstr>
      <vt:lpstr>High Burnup Structure (HBS)</vt:lpstr>
      <vt:lpstr>High Burnup Structure (HBS)</vt:lpstr>
      <vt:lpstr>High Burnup Structure (HBS)</vt:lpstr>
      <vt:lpstr>Radiation Effects Summary</vt:lpstr>
      <vt:lpstr>Fuel chemistry</vt:lpstr>
      <vt:lpstr>Fuel Chemistry</vt:lpstr>
      <vt:lpstr>O/M ratio</vt:lpstr>
      <vt:lpstr>Excess O</vt:lpstr>
      <vt:lpstr>Incorporation of Fission Products</vt:lpstr>
      <vt:lpstr>Oxygen potential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Property Evolution</dc:title>
  <dc:creator>Benjamin Beeler</dc:creator>
  <cp:lastModifiedBy>Benjamin Beeler</cp:lastModifiedBy>
  <cp:revision>71</cp:revision>
  <dcterms:created xsi:type="dcterms:W3CDTF">2020-02-11T17:45:48Z</dcterms:created>
  <dcterms:modified xsi:type="dcterms:W3CDTF">2026-02-19T21:19:01Z</dcterms:modified>
</cp:coreProperties>
</file>
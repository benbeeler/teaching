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3"/>
  </p:notesMasterIdLst>
  <p:sldIdLst>
    <p:sldId id="537" r:id="rId2"/>
    <p:sldId id="547" r:id="rId3"/>
    <p:sldId id="577" r:id="rId4"/>
    <p:sldId id="591" r:id="rId5"/>
    <p:sldId id="578" r:id="rId6"/>
    <p:sldId id="579" r:id="rId7"/>
    <p:sldId id="580" r:id="rId8"/>
    <p:sldId id="571" r:id="rId9"/>
    <p:sldId id="575" r:id="rId10"/>
    <p:sldId id="329" r:id="rId11"/>
    <p:sldId id="330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7962"/>
    <p:restoredTop sz="94672"/>
  </p:normalViewPr>
  <p:slideViewPr>
    <p:cSldViewPr snapToGrid="0" snapToObjects="1">
      <p:cViewPr varScale="1">
        <p:scale>
          <a:sx n="115" d="100"/>
          <a:sy n="115" d="100"/>
        </p:scale>
        <p:origin x="224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F01C14-5F1F-C546-9E46-5B7427D2AE22}" type="datetimeFigureOut">
              <a:rPr lang="en-US" smtClean="0"/>
              <a:t>2/24/26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23A2F6-A1EE-CF47-987A-7DD0E5623F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45728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6F3A803-A045-354B-887A-01433CE46FC2}" type="datetime1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E82176-A547-F94B-AC51-D6E9C882CB8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31340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587879"/>
            <a:ext cx="10972800" cy="1068387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56266"/>
            <a:ext cx="10972800" cy="446989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5BD04BF-9DC2-6341-92B2-BD109A2EF3B1}" type="datetime1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C605-4958-CF43-AA48-80339EFDB0A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75803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0FFBC7-3028-644D-986B-D9855CB74B38}" type="datetime1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A6BD0F-ABBC-C14D-BC96-77BE126A748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4251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554427"/>
            <a:ext cx="10972800" cy="1068387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706137"/>
            <a:ext cx="5384800" cy="442002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C3B8AE4-01F5-CC42-9C62-61BC6528368B}" type="datetime1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C35E9FC-F6D5-0349-BBED-EA7D7A9BC49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2561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8543" y="554426"/>
            <a:ext cx="10972800" cy="1068387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7E49314-4A78-2444-9569-44EB70168344}" type="datetime1">
              <a:rPr lang="en-US" smtClean="0"/>
              <a:t>2/24/26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5B94E0-5E06-6D42-A41D-50D581B4090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3547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565577"/>
            <a:ext cx="10972800" cy="1068387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BC22837-4683-B242-B000-BCEE30621787}" type="datetime1">
              <a:rPr lang="en-US" smtClean="0"/>
              <a:t>2/24/26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2AB7D4D-4E81-5B40-91F6-CF14C25F862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4398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DAE926-7EF1-0B40-B57E-417D188A609C}" type="datetime1">
              <a:rPr lang="en-US" smtClean="0"/>
              <a:t>2/24/26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35B2FA7-4FDB-5643-811E-7991DEE50B0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85827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8D107B-B9C7-5B41-A168-55258AB95F52}" type="datetime1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1DD8B14-AE1E-054C-8668-93D0F0400A1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40713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AD92D36-EE82-3142-B011-9831FB5E702F}" type="datetime1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EF0004-A563-C64B-9FAD-6198662E1BD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99189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8B33C1D-C2E2-1049-AA3F-CD6E91052752}" type="datetime1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9610A8-B29A-B34A-A0B5-3DF26A2EB85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970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791AD68-B60C-4542-BDDD-2074DE6DE828}" type="datetime1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2D0221-73D0-6245-9CCD-73A1D8FCB5E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55350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900114"/>
            <a:ext cx="10972800" cy="1068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Headline Line One</a:t>
            </a:r>
            <a:br>
              <a:rPr lang="en-US" dirty="0"/>
            </a:br>
            <a:r>
              <a:rPr lang="en-US" dirty="0"/>
              <a:t>Headline Line Two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3022601"/>
            <a:ext cx="10972800" cy="3103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3EE08B4B-7256-494F-A90D-3891BD685F4A}" type="datetime1">
              <a:rPr lang="en-US" smtClean="0"/>
              <a:t>2/24/26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0EF7D53D-272A-624E-BE3D-99D13E2B4193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5647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sz="3200" b="1" kern="1200">
          <a:solidFill>
            <a:schemeClr val="tx1"/>
          </a:solidFill>
          <a:latin typeface="Arial"/>
          <a:ea typeface="ＭＳ Ｐゴシック" charset="0"/>
          <a:cs typeface="Arial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Arial"/>
          <a:ea typeface="ＭＳ Ｐゴシック" charset="0"/>
          <a:cs typeface="Arial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400" kern="1200">
          <a:solidFill>
            <a:schemeClr val="tx1"/>
          </a:solidFill>
          <a:latin typeface="Arial"/>
          <a:ea typeface="ＭＳ Ｐゴシック" charset="0"/>
          <a:cs typeface="Arial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Arial"/>
          <a:ea typeface="ＭＳ Ｐゴシック" charset="0"/>
          <a:cs typeface="Arial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1400" kern="1200">
          <a:solidFill>
            <a:schemeClr val="tx1"/>
          </a:solidFill>
          <a:latin typeface="Arial"/>
          <a:ea typeface="ＭＳ Ｐゴシック" charset="0"/>
          <a:cs typeface="Arial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1000" kern="1200">
          <a:solidFill>
            <a:schemeClr val="tx1"/>
          </a:solidFill>
          <a:latin typeface="Arial"/>
          <a:ea typeface="ＭＳ Ｐゴシック" charset="0"/>
          <a:cs typeface="Arial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emf"/><Relationship Id="rId4" Type="http://schemas.openxmlformats.org/officeDocument/2006/relationships/oleObject" Target="../embeddings/oleObject2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A1AB4-6496-0D46-9C3B-B71641B9016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dirty="0"/>
              <a:t>Nuclear Fuel Performance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E102A4-1D26-9E41-904A-5C94FEB21AD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NE-533</a:t>
            </a:r>
          </a:p>
          <a:p>
            <a:r>
              <a:rPr lang="en-US" dirty="0"/>
              <a:t>Spring 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D6DA87-5AA8-004F-861E-B1E0BAA30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1E82176-A547-F94B-AC51-D6E9C882CB88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6228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29CC1-34E4-A34F-8621-801D8886C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3084" y="1234721"/>
            <a:ext cx="10363200" cy="1362075"/>
          </a:xfrm>
        </p:spPr>
        <p:txBody>
          <a:bodyPr/>
          <a:lstStyle/>
          <a:p>
            <a:r>
              <a:rPr lang="en-US" dirty="0"/>
              <a:t>UO2 Radiation effects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FF06B0-02C9-F34D-82A4-D2D5BBAF6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A6BD0F-ABBC-C14D-BC96-77BE126A748B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47049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66515-BEE7-E61D-D574-934E56A6A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Radiation Damage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9F58E3-1D21-8DA5-12FE-4E373BF9087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0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 macroscopic and observable results of exposure of solids to energetic particles are collectively known as radiation effects 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Heat production from the nuclear fuel to generate electricity ensues mostly from the slow down of the fission products by nuclear or electronic interactions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As a direct consequence, there are also defects created along the path of the fission fragments leading to modification of the physical properties of the fuel</a:t>
            </a:r>
          </a:p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8C5CF6-4F66-D006-A3AC-7CEE53701490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6197600" y="1968501"/>
            <a:ext cx="5384800" cy="4157663"/>
          </a:xfrm>
        </p:spPr>
        <p:txBody>
          <a:bodyPr/>
          <a:lstStyle/>
          <a:p>
            <a:r>
              <a:rPr lang="en-US" sz="2000" dirty="0"/>
              <a:t>Most Frenkel defects (interstitial-vacancy pair) are produced by secondary collision cascades</a:t>
            </a:r>
          </a:p>
          <a:p>
            <a:r>
              <a:rPr lang="en-US" sz="2000" dirty="0"/>
              <a:t>The dominant defect type is anion Frenkel pairs</a:t>
            </a:r>
          </a:p>
          <a:p>
            <a:r>
              <a:rPr lang="en-US" sz="2000" dirty="0"/>
              <a:t>Local charge neutrality prevents/inhibits the formation of interstitials and vacancies as independent processes, as the cations and anions are charged species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2F2CAA-FBA3-C1AB-9867-CCCF43310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0838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92ADB-92F0-3FB5-27FE-F36042FA78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00114"/>
            <a:ext cx="10972800" cy="1990231"/>
          </a:xfrm>
        </p:spPr>
        <p:txBody>
          <a:bodyPr/>
          <a:lstStyle/>
          <a:p>
            <a:r>
              <a:rPr lang="en-US" dirty="0"/>
              <a:t>To balance charge, how many oxygen vacancies need to be created for every uranium vacancy?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0BE9B1-4C85-C42D-A79B-6DC290649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1E402BF-3657-27A7-4D81-0BA2D65D61D8}"/>
              </a:ext>
            </a:extLst>
          </p:cNvPr>
          <p:cNvSpPr txBox="1">
            <a:spLocks/>
          </p:cNvSpPr>
          <p:nvPr/>
        </p:nvSpPr>
        <p:spPr bwMode="auto">
          <a:xfrm>
            <a:off x="609600" y="2972540"/>
            <a:ext cx="10972800" cy="19902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b="1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algn="ctr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algn="ctr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algn="ctr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algn="ctr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algn="ctr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algn="ctr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algn="ctr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algn="ctr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dirty="0"/>
              <a:t>Two</a:t>
            </a:r>
          </a:p>
          <a:p>
            <a:endParaRPr lang="en-US" dirty="0"/>
          </a:p>
          <a:p>
            <a:r>
              <a:rPr lang="en-US" dirty="0"/>
              <a:t>U+4, O-2</a:t>
            </a:r>
          </a:p>
          <a:p>
            <a:r>
              <a:rPr lang="en-US" dirty="0"/>
              <a:t>This forms a Schottky trio defect</a:t>
            </a:r>
          </a:p>
        </p:txBody>
      </p:sp>
    </p:spTree>
    <p:extLst>
      <p:ext uri="{BB962C8B-B14F-4D97-AF65-F5344CB8AC3E}">
        <p14:creationId xmlns:p14="http://schemas.microsoft.com/office/powerpoint/2010/main" val="227151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7C1F2-7559-F046-AEB2-DD5A8F435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Loop 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4FA014-154F-2EAE-BC21-FD60C215F8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39591"/>
            <a:ext cx="6432331" cy="4386574"/>
          </a:xfrm>
        </p:spPr>
        <p:txBody>
          <a:bodyPr/>
          <a:lstStyle/>
          <a:p>
            <a:r>
              <a:rPr lang="en-US" sz="2000" dirty="0"/>
              <a:t>Dislocations are generally a mixture of screw and edge components in the shape of a loop</a:t>
            </a:r>
          </a:p>
          <a:p>
            <a:r>
              <a:rPr lang="en-US" sz="2000" dirty="0"/>
              <a:t>The most important slip system in UO2 is the one which minimizes the electrostatic energy, the easy slip along {100}&lt;110&gt; tends to minimize the repulsive force between cations</a:t>
            </a:r>
          </a:p>
          <a:p>
            <a:r>
              <a:rPr lang="en-US" sz="2000" dirty="0"/>
              <a:t>Prismatic loops are of interstitial type and consist of a disc-shaped layer of defects in a cluster</a:t>
            </a:r>
          </a:p>
          <a:p>
            <a:r>
              <a:rPr lang="en-US" sz="2000" dirty="0"/>
              <a:t>This defect cluster is more energetically favorable than dispersed defects in the bulk</a:t>
            </a:r>
          </a:p>
          <a:p>
            <a:r>
              <a:rPr lang="en-US" sz="2000" dirty="0"/>
              <a:t>Vacancies will cluster and form into voids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2E98DB-EAC8-56C8-3D71-E066248E1E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5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60179B-6939-8C7E-38AE-53CBEB90A37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388352" y="1999457"/>
            <a:ext cx="4012120" cy="364738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262B38B-17FA-52BB-A120-396A20C36614}"/>
              </a:ext>
            </a:extLst>
          </p:cNvPr>
          <p:cNvSpPr txBox="1"/>
          <p:nvPr/>
        </p:nvSpPr>
        <p:spPr>
          <a:xfrm>
            <a:off x="7571708" y="5710020"/>
            <a:ext cx="36454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Prismatic loops in UO2 from alpha particle irradiation</a:t>
            </a:r>
          </a:p>
        </p:txBody>
      </p:sp>
    </p:spTree>
    <p:extLst>
      <p:ext uri="{BB962C8B-B14F-4D97-AF65-F5344CB8AC3E}">
        <p14:creationId xmlns:p14="http://schemas.microsoft.com/office/powerpoint/2010/main" val="2394273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14654-70BB-5C96-CD96-1898405F0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Voids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4BDC9-1BC2-32B6-D8CC-E769F9FDA8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680087"/>
            <a:ext cx="6266688" cy="4446078"/>
          </a:xfrm>
        </p:spPr>
        <p:txBody>
          <a:bodyPr/>
          <a:lstStyle/>
          <a:p>
            <a:r>
              <a:rPr lang="en-US" sz="2000" dirty="0"/>
              <a:t>Due to preferential absorption of interstitials at dislocations, we are left with a slight excess of vacancies in the bulk to nucleate and grow voids</a:t>
            </a:r>
          </a:p>
          <a:p>
            <a:r>
              <a:rPr lang="en-US" sz="2000" dirty="0"/>
              <a:t>Void nucleation can occur homogeneously by the collection of vacancies in the matrix, or heterogeneously at structural features (precipitates, grain boundaries, etc.)</a:t>
            </a:r>
          </a:p>
          <a:p>
            <a:r>
              <a:rPr lang="en-US" sz="2000" dirty="0"/>
              <a:t>The vacancy-rich radiation damage core is considered to be an important void nucleation mechanism in UO2</a:t>
            </a:r>
          </a:p>
          <a:p>
            <a:r>
              <a:rPr lang="en-US" sz="2000" dirty="0"/>
              <a:t>Vacancy diffusion then allows void growth</a:t>
            </a:r>
          </a:p>
          <a:p>
            <a:r>
              <a:rPr lang="en-US" sz="2000" dirty="0"/>
              <a:t>Gas atoms can often serve to stabilize small voids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9F4351-AC68-5583-AC05-78E4C7A98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79FC4BD-4C0E-0249-1802-00868D88B6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264" y="1511808"/>
            <a:ext cx="3231162" cy="444607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5512FFB-9548-BE8B-2E0F-4B35DF2300B2}"/>
              </a:ext>
            </a:extLst>
          </p:cNvPr>
          <p:cNvSpPr txBox="1"/>
          <p:nvPr/>
        </p:nvSpPr>
        <p:spPr>
          <a:xfrm>
            <a:off x="7924800" y="6098189"/>
            <a:ext cx="33284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Voids (bright spots) from alpha irradiation in UO2</a:t>
            </a:r>
          </a:p>
        </p:txBody>
      </p:sp>
    </p:spTree>
    <p:extLst>
      <p:ext uri="{BB962C8B-B14F-4D97-AF65-F5344CB8AC3E}">
        <p14:creationId xmlns:p14="http://schemas.microsoft.com/office/powerpoint/2010/main" val="1015704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F2CC82-F9DF-CB15-CAB6-FED72213C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UO2 Radiation Effects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8B6B8F-0187-AB0D-2481-305E53349E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1"/>
            <a:ext cx="10972800" cy="4157663"/>
          </a:xfrm>
        </p:spPr>
        <p:txBody>
          <a:bodyPr/>
          <a:lstStyle/>
          <a:p>
            <a:r>
              <a:rPr lang="en-US" sz="2400" dirty="0"/>
              <a:t>Chemistry changes</a:t>
            </a:r>
          </a:p>
          <a:p>
            <a:pPr lvl="1"/>
            <a:r>
              <a:rPr lang="en-US" sz="2200" dirty="0"/>
              <a:t>two fission products are generated from each fission, resulting up to about 3% of the chemical species present at the end of life for commercial fuel</a:t>
            </a:r>
          </a:p>
          <a:p>
            <a:pPr lvl="1"/>
            <a:r>
              <a:rPr lang="en-US" sz="2200" dirty="0"/>
              <a:t>the amount of fission products change both chemical and physical properties</a:t>
            </a:r>
          </a:p>
          <a:p>
            <a:r>
              <a:rPr lang="en-US" sz="2400" dirty="0"/>
              <a:t>Physical property changes</a:t>
            </a:r>
          </a:p>
          <a:p>
            <a:pPr lvl="1"/>
            <a:r>
              <a:rPr lang="en-US" sz="2200" dirty="0"/>
              <a:t>The physical effects caused by atomic displacements are rather complex and depend on the relative sink strengths of a given material for interstitials and vacancies and on the temperature</a:t>
            </a:r>
          </a:p>
          <a:p>
            <a:pPr lvl="1"/>
            <a:r>
              <a:rPr lang="en-US" sz="2200" dirty="0"/>
              <a:t>lattice parameter, thermal conductivity, elasticity, formation of the high burnup structure</a:t>
            </a:r>
          </a:p>
          <a:p>
            <a:endParaRPr lang="en-US" sz="2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743944-0C64-C1DA-82C8-E55D63017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79383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91DCF-FF43-6E4B-899D-1CE8D743F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Thermal Conductivity Degradation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F91DB-6CF3-9842-AAFF-C28399332F7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000" dirty="0"/>
              <a:t>One of the major effects of defect formation is the degradation of thermal diffusivity, due to phonon scattering</a:t>
            </a:r>
          </a:p>
          <a:p>
            <a:r>
              <a:rPr lang="en-US" sz="2000" dirty="0"/>
              <a:t>Results obtained on irradiated UO2 show that the thermal conductivity is decreasing with increasing burn-up, and that at equal burn-up, samples with higher irradiation temperatures have higher thermal conductivity</a:t>
            </a:r>
          </a:p>
          <a:p>
            <a:r>
              <a:rPr lang="en-US" sz="2000" dirty="0"/>
              <a:t>There are mesoscopic and atomistic features that affect the thermal conductivity</a:t>
            </a:r>
          </a:p>
          <a:p>
            <a:endParaRPr lang="en-US" sz="2000" dirty="0"/>
          </a:p>
          <a:p>
            <a:endParaRPr lang="en-US" sz="20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E98778-6F0D-EB45-9BF1-9CCD7207ECD3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6197600" y="1968501"/>
            <a:ext cx="5384800" cy="4157663"/>
          </a:xfrm>
        </p:spPr>
        <p:txBody>
          <a:bodyPr/>
          <a:lstStyle/>
          <a:p>
            <a:r>
              <a:rPr lang="en-US" sz="2000" dirty="0"/>
              <a:t>The porosity existing in fresh fuels evolves during irradiation and has a strong impact on heat transport, because voids/bubbles have significantly lower kth than the lattice</a:t>
            </a:r>
          </a:p>
          <a:p>
            <a:r>
              <a:rPr lang="en-US" sz="2000" dirty="0"/>
              <a:t>Precipitates are formed by fission products that are insoluble in the UO2 lattice, forming oxide or metallic inclusions: can use composite theory to get effective thermal conductivities; typically, these precipitates INCREASE the thermal conductivity of the fuel</a:t>
            </a:r>
          </a:p>
          <a:p>
            <a:endParaRPr lang="en-US" sz="20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E14E0E-4828-424C-95DA-D7DCB6222E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662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7DAB2-D749-9663-7099-561E5DE21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Thermal Conductivity Degradation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77A200-9A4A-0E24-F655-7F5C7B512E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622815"/>
            <a:ext cx="6072554" cy="4503350"/>
          </a:xfrm>
        </p:spPr>
        <p:txBody>
          <a:bodyPr/>
          <a:lstStyle/>
          <a:p>
            <a:r>
              <a:rPr lang="en-US" sz="2000" dirty="0"/>
              <a:t>Actinides, rare earths, and transition metals can form mixed oxides with UO2 (soluble fission products): these atoms act as phonon scattering centers as a result of the differences in bonding, radii, or mass, and thus decrease kth</a:t>
            </a:r>
          </a:p>
          <a:p>
            <a:r>
              <a:rPr lang="en-US" sz="2000" dirty="0"/>
              <a:t>Volatile fission products/gases are partially in solution and partially in bubbles, where they act as phonon scatterers or as low kth composite fractions</a:t>
            </a:r>
          </a:p>
          <a:p>
            <a:r>
              <a:rPr lang="en-US" sz="2000" dirty="0"/>
              <a:t>Point defects and extended defects contribute to the degradation of the thermal conductivity by scattering or limiting the mean free path of the phonons</a:t>
            </a:r>
          </a:p>
          <a:p>
            <a:endParaRPr lang="en-US" sz="20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767119-D937-88AE-31AB-D5B7BC816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63B2148-EA4C-9BEC-B447-E5D49BFA4E7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44709" y="2417631"/>
            <a:ext cx="4735952" cy="3059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18497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C23BC-AB13-A049-9D14-F8095262B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UO2 Thermal Conductivity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B544FB-A261-1C43-A834-D547BBBE1E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160495"/>
            <a:ext cx="6589853" cy="3965670"/>
          </a:xfrm>
        </p:spPr>
        <p:txBody>
          <a:bodyPr>
            <a:normAutofit/>
          </a:bodyPr>
          <a:lstStyle/>
          <a:p>
            <a:r>
              <a:rPr lang="en-US" sz="2000" dirty="0"/>
              <a:t>We have established correlations for thermal conductivity of fresh UO2 fuel as a function of temperature</a:t>
            </a:r>
          </a:p>
          <a:p>
            <a:endParaRPr lang="en-US" sz="2000" dirty="0"/>
          </a:p>
          <a:p>
            <a:endParaRPr lang="en-US" sz="2000" dirty="0"/>
          </a:p>
          <a:p>
            <a:pPr lvl="1"/>
            <a:r>
              <a:rPr lang="en-US" sz="2000" dirty="0"/>
              <a:t>Where t = T/1000</a:t>
            </a:r>
          </a:p>
          <a:p>
            <a:pPr lvl="1"/>
            <a:r>
              <a:rPr lang="en-US" sz="2000" dirty="0">
                <a:solidFill>
                  <a:srgbClr val="FF0000"/>
                </a:solidFill>
              </a:rPr>
              <a:t>The first part of the equation describes the phonon interactions </a:t>
            </a:r>
          </a:p>
          <a:p>
            <a:pPr lvl="1"/>
            <a:r>
              <a:rPr lang="en-US" sz="2000" dirty="0">
                <a:solidFill>
                  <a:srgbClr val="23FF05"/>
                </a:solidFill>
              </a:rPr>
              <a:t>The second part describes electronic transport which becomes significant at high temperature</a:t>
            </a:r>
          </a:p>
          <a:p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1E69F8-8412-8D46-AF22-F204AFA4F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  <p:pic>
        <p:nvPicPr>
          <p:cNvPr id="5" name="Picture 4" descr="latex-image-1.pdf">
            <a:extLst>
              <a:ext uri="{FF2B5EF4-FFF2-40B4-BE49-F238E27FC236}">
                <a16:creationId xmlns:a16="http://schemas.microsoft.com/office/drawing/2014/main" id="{4B99836D-CC45-E14D-8D83-831325CBEC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46226" y="3240267"/>
            <a:ext cx="4849774" cy="48896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5C1B3D7-16AF-A240-A2E2-E785C25B2166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199453" y="2403563"/>
            <a:ext cx="4735952" cy="3059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55793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437F66-8667-9747-AC98-5386FCEFE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UO2 Thermal Conductivity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E7C28B-56E0-5643-A058-7EC11CFED0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160495"/>
            <a:ext cx="6531980" cy="3965670"/>
          </a:xfrm>
        </p:spPr>
        <p:txBody>
          <a:bodyPr/>
          <a:lstStyle/>
          <a:p>
            <a:r>
              <a:rPr lang="en-US" dirty="0">
                <a:latin typeface="Arial" charset="0"/>
                <a:ea typeface="MS PGothic" charset="0"/>
              </a:rPr>
              <a:t>UO</a:t>
            </a:r>
            <a:r>
              <a:rPr lang="en-US" baseline="-25000" dirty="0">
                <a:latin typeface="Arial" charset="0"/>
                <a:ea typeface="MS PGothic" charset="0"/>
              </a:rPr>
              <a:t>2</a:t>
            </a:r>
            <a:r>
              <a:rPr lang="en-US" dirty="0">
                <a:latin typeface="Arial" charset="0"/>
                <a:ea typeface="MS PGothic" charset="0"/>
              </a:rPr>
              <a:t> thermal conductivity is low and decreases more during reactor operation</a:t>
            </a:r>
          </a:p>
          <a:p>
            <a:r>
              <a:rPr lang="en-US" dirty="0"/>
              <a:t>The thermal conductivity has been collected after various amounts of burnup to make empirical fits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C9F6CF-A206-C74A-AB6F-5210D000F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  <p:graphicFrame>
        <p:nvGraphicFramePr>
          <p:cNvPr id="5" name="Object 2">
            <a:extLst>
              <a:ext uri="{FF2B5EF4-FFF2-40B4-BE49-F238E27FC236}">
                <a16:creationId xmlns:a16="http://schemas.microsoft.com/office/drawing/2014/main" id="{1357D662-8961-1D47-A056-3FDBF40D943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23052" y="4651821"/>
          <a:ext cx="6705076" cy="65107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178160" imgH="406080" progId="Equation.3">
                  <p:embed/>
                </p:oleObj>
              </mc:Choice>
              <mc:Fallback>
                <p:oleObj name="Equation" r:id="rId2" imgW="4178160" imgH="406080" progId="Equation.3">
                  <p:embed/>
                  <p:pic>
                    <p:nvPicPr>
                      <p:cNvPr id="5" name="Object 2">
                        <a:extLst>
                          <a:ext uri="{FF2B5EF4-FFF2-40B4-BE49-F238E27FC236}">
                            <a16:creationId xmlns:a16="http://schemas.microsoft.com/office/drawing/2014/main" id="{1357D662-8961-1D47-A056-3FDBF40D9433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3052" y="4651821"/>
                        <a:ext cx="6705076" cy="65107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1">
            <a:extLst>
              <a:ext uri="{FF2B5EF4-FFF2-40B4-BE49-F238E27FC236}">
                <a16:creationId xmlns:a16="http://schemas.microsoft.com/office/drawing/2014/main" id="{6ABB3B95-D499-CA42-9672-690C3008C8D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495978" y="1967299"/>
          <a:ext cx="4558934" cy="390229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4" imgW="5203952" imgH="4402938" progId="">
                  <p:embed/>
                </p:oleObj>
              </mc:Choice>
              <mc:Fallback>
                <p:oleObj r:id="rId4" imgW="5203952" imgH="4402938" progId="">
                  <p:embed/>
                  <p:pic>
                    <p:nvPicPr>
                      <p:cNvPr id="7" name="Object 1">
                        <a:extLst>
                          <a:ext uri="{FF2B5EF4-FFF2-40B4-BE49-F238E27FC236}">
                            <a16:creationId xmlns:a16="http://schemas.microsoft.com/office/drawing/2014/main" id="{6ABB3B95-D499-CA42-9672-690C3008C8D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95978" y="1967299"/>
                        <a:ext cx="4558934" cy="390229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663676251"/>
      </p:ext>
    </p:extLst>
  </p:cSld>
  <p:clrMapOvr>
    <a:masterClrMapping/>
  </p:clrMapOvr>
</p:sld>
</file>

<file path=ppt/theme/theme1.xml><?xml version="1.0" encoding="utf-8"?>
<a:theme xmlns:a="http://schemas.openxmlformats.org/drawingml/2006/main" name="NCStateU-horizontal-left-log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7701</TotalTime>
  <Words>753</Words>
  <Application>Microsoft Macintosh PowerPoint</Application>
  <PresentationFormat>Widescreen</PresentationFormat>
  <Paragraphs>68</Paragraphs>
  <Slides>11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NCStateU-horizontal-left-logo</vt:lpstr>
      <vt:lpstr>Equation</vt:lpstr>
      <vt:lpstr>Nuclear Fuel Performance</vt:lpstr>
      <vt:lpstr>UO2 Radiation effects</vt:lpstr>
      <vt:lpstr>Radiation Damage</vt:lpstr>
      <vt:lpstr>To balance charge, how many oxygen vacancies need to be created for every uranium vacancy?</vt:lpstr>
      <vt:lpstr>Loop Formation</vt:lpstr>
      <vt:lpstr>Voids</vt:lpstr>
      <vt:lpstr>UO2 Radiation Effects</vt:lpstr>
      <vt:lpstr>Thermal Conductivity Degradation</vt:lpstr>
      <vt:lpstr>Thermal Conductivity Degradation</vt:lpstr>
      <vt:lpstr>UO2 Thermal Conductivity</vt:lpstr>
      <vt:lpstr>UO2 Thermal Conductivity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Material Property Evolution</dc:title>
  <dc:creator>Benjamin Beeler</dc:creator>
  <cp:lastModifiedBy>Benjamin Beeler</cp:lastModifiedBy>
  <cp:revision>75</cp:revision>
  <dcterms:created xsi:type="dcterms:W3CDTF">2020-02-11T17:45:48Z</dcterms:created>
  <dcterms:modified xsi:type="dcterms:W3CDTF">2026-02-24T17:02:25Z</dcterms:modified>
</cp:coreProperties>
</file>
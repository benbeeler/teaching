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537" r:id="rId2"/>
    <p:sldId id="547" r:id="rId3"/>
    <p:sldId id="546" r:id="rId4"/>
    <p:sldId id="352" r:id="rId5"/>
    <p:sldId id="545" r:id="rId6"/>
    <p:sldId id="316" r:id="rId7"/>
    <p:sldId id="317" r:id="rId8"/>
    <p:sldId id="315" r:id="rId9"/>
    <p:sldId id="318" r:id="rId10"/>
    <p:sldId id="319" r:id="rId11"/>
    <p:sldId id="320" r:id="rId12"/>
    <p:sldId id="321" r:id="rId13"/>
    <p:sldId id="322" r:id="rId14"/>
    <p:sldId id="323" r:id="rId15"/>
    <p:sldId id="407" r:id="rId16"/>
    <p:sldId id="354" r:id="rId17"/>
    <p:sldId id="355" r:id="rId18"/>
    <p:sldId id="356" r:id="rId19"/>
    <p:sldId id="357" r:id="rId20"/>
    <p:sldId id="329" r:id="rId21"/>
    <p:sldId id="330" r:id="rId22"/>
    <p:sldId id="331" r:id="rId23"/>
    <p:sldId id="332" r:id="rId24"/>
    <p:sldId id="333" r:id="rId25"/>
    <p:sldId id="338" r:id="rId26"/>
    <p:sldId id="339" r:id="rId27"/>
    <p:sldId id="343" r:id="rId28"/>
    <p:sldId id="335" r:id="rId29"/>
    <p:sldId id="336" r:id="rId30"/>
    <p:sldId id="337" r:id="rId31"/>
    <p:sldId id="573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00"/>
    <p:restoredTop sz="94672"/>
  </p:normalViewPr>
  <p:slideViewPr>
    <p:cSldViewPr snapToGrid="0" snapToObjects="1">
      <p:cViewPr varScale="1">
        <p:scale>
          <a:sx n="128" d="100"/>
          <a:sy n="128" d="100"/>
        </p:scale>
        <p:origin x="32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F3A803-A045-354B-887A-01433CE46FC2}" type="datetime1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E82176-A547-F94B-AC51-D6E9C882CB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752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87879"/>
            <a:ext cx="10972800" cy="1068387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56266"/>
            <a:ext cx="10972800" cy="446989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BD04BF-9DC2-6341-92B2-BD109A2EF3B1}" type="datetime1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C605-4958-CF43-AA48-80339EFDB0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20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0FFBC7-3028-644D-986B-D9855CB74B38}" type="datetime1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A6BD0F-ABBC-C14D-BC96-77BE126A74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595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54427"/>
            <a:ext cx="10972800" cy="1068387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06137"/>
            <a:ext cx="5384800" cy="442002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3B8AE4-01F5-CC42-9C62-61BC6528368B}" type="datetime1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35E9FC-F6D5-0349-BBED-EA7D7A9BC4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00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543" y="554426"/>
            <a:ext cx="10972800" cy="1068387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E49314-4A78-2444-9569-44EB70168344}" type="datetime1">
              <a:rPr lang="en-US" smtClean="0"/>
              <a:t>3/31/26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B94E0-5E06-6D42-A41D-50D581B409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862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65577"/>
            <a:ext cx="10972800" cy="1068387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C22837-4683-B242-B000-BCEE30621787}" type="datetime1">
              <a:rPr lang="en-US" smtClean="0"/>
              <a:t>3/31/26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AB7D4D-4E81-5B40-91F6-CF14C25F86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735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DAE926-7EF1-0B40-B57E-417D188A609C}" type="datetime1">
              <a:rPr lang="en-US" smtClean="0"/>
              <a:t>3/31/26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5B2FA7-4FDB-5643-811E-7991DEE50B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840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8D107B-B9C7-5B41-A168-55258AB95F52}" type="datetime1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DD8B14-AE1E-054C-8668-93D0F0400A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768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D92D36-EE82-3142-B011-9831FB5E702F}" type="datetime1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EF0004-A563-C64B-9FAD-6198662E1B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480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B33C1D-C2E2-1049-AA3F-CD6E91052752}" type="datetime1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9610A8-B29A-B34A-A0B5-3DF26A2EB8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648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91AD68-B60C-4542-BDDD-2074DE6DE828}" type="datetime1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2D0221-73D0-6245-9CCD-73A1D8FCB5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2946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68501"/>
            <a:ext cx="5384800" cy="41576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68501"/>
            <a:ext cx="5384800" cy="41576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3B8AE4-01F5-CC42-9C62-61BC6528368B}" type="datetime1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35E9FC-F6D5-0349-BBED-EA7D7A9BC4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673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54427"/>
            <a:ext cx="10972800" cy="1068387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06137"/>
            <a:ext cx="5384800" cy="442002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3B8AE4-01F5-CC42-9C62-61BC6528368B}" type="datetime1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35E9FC-F6D5-0349-BBED-EA7D7A9BC4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319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900114"/>
            <a:ext cx="10972800" cy="106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Headline Line One</a:t>
            </a:r>
            <a:br>
              <a:rPr lang="en-US" dirty="0"/>
            </a:br>
            <a:r>
              <a:rPr lang="en-US" dirty="0"/>
              <a:t>Headline Line Two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3022601"/>
            <a:ext cx="10972800" cy="310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3EE08B4B-7256-494F-A90D-3891BD685F4A}" type="datetime1">
              <a:rPr lang="en-US" smtClean="0"/>
              <a:t>3/31/26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EF7D53D-272A-624E-BE3D-99D13E2B419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761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hf hdr="0" ft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400" kern="1200">
          <a:solidFill>
            <a:schemeClr val="tx1"/>
          </a:solidFill>
          <a:latin typeface="Arial"/>
          <a:ea typeface="ＭＳ Ｐゴシック" charset="0"/>
          <a:cs typeface="Arial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Arial"/>
          <a:ea typeface="ＭＳ Ｐゴシック" charset="0"/>
          <a:cs typeface="Arial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400" kern="1200">
          <a:solidFill>
            <a:schemeClr val="tx1"/>
          </a:solidFill>
          <a:latin typeface="Arial"/>
          <a:ea typeface="ＭＳ Ｐゴシック" charset="0"/>
          <a:cs typeface="Arial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000" kern="1200">
          <a:solidFill>
            <a:schemeClr val="tx1"/>
          </a:solidFill>
          <a:latin typeface="Arial"/>
          <a:ea typeface="ＭＳ Ｐゴシック" charset="0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iff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A1AB4-6496-0D46-9C3B-B71641B901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/>
              <a:t>Nuclear Fuel Performance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E102A4-1D26-9E41-904A-5C94FEB21A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NE-533</a:t>
            </a:r>
          </a:p>
          <a:p>
            <a:r>
              <a:rPr lang="en-US" dirty="0"/>
              <a:t>Spring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6DA87-5AA8-004F-861E-B1E0BAA30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E82176-A547-F94B-AC51-D6E9C882CB88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644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67043-3089-AB5A-EF7A-4A5D2A061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Housekeeping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BCF00-AD3B-0BBB-DB69-0D531E7D7F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Grading of exam 2 and MOOSE project is still ongoing…</a:t>
            </a:r>
          </a:p>
          <a:p>
            <a:r>
              <a:rPr lang="en-US" dirty="0"/>
              <a:t>Lecture 13 was uploaded last night/this morning</a:t>
            </a:r>
          </a:p>
          <a:p>
            <a:r>
              <a:rPr lang="en-US" dirty="0"/>
              <a:t>Today is Lecture 14</a:t>
            </a:r>
          </a:p>
          <a:p>
            <a:r>
              <a:rPr lang="en-US" dirty="0"/>
              <a:t>Lecture 15 will be an online makeup</a:t>
            </a:r>
          </a:p>
          <a:p>
            <a:r>
              <a:rPr lang="en-US" dirty="0"/>
              <a:t>Then lecture 16 then problem session + Exam 3</a:t>
            </a:r>
          </a:p>
          <a:p>
            <a:r>
              <a:rPr lang="en-US" dirty="0"/>
              <a:t>Exam 3 should be March 31</a:t>
            </a:r>
          </a:p>
          <a:p>
            <a:endParaRPr lang="en-US" dirty="0"/>
          </a:p>
          <a:p>
            <a:r>
              <a:rPr lang="en-US" dirty="0"/>
              <a:t>Have a good spring break next week!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03576D-B6BF-E8C3-8583-9813F03F2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473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1DE1F-D0F7-65F7-AF4F-70373B1AE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Paper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3850B-F20E-345E-E9B0-69BC344F35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878496"/>
            <a:ext cx="10972800" cy="4247669"/>
          </a:xfrm>
        </p:spPr>
        <p:txBody>
          <a:bodyPr/>
          <a:lstStyle/>
          <a:p>
            <a:r>
              <a:rPr lang="en-US" dirty="0"/>
              <a:t>Will upload papers with names attached today</a:t>
            </a:r>
          </a:p>
          <a:p>
            <a:r>
              <a:rPr lang="en-US" dirty="0"/>
              <a:t>Will deliver a 15-minute presentation providing a critical review of the paper</a:t>
            </a:r>
          </a:p>
          <a:p>
            <a:r>
              <a:rPr lang="en-US" dirty="0"/>
              <a:t>This is basically a mini QE Part 1, without the report</a:t>
            </a:r>
          </a:p>
          <a:p>
            <a:r>
              <a:rPr lang="en-US" dirty="0"/>
              <a:t>If you have a topic that you want the paper to address, reach out to me ASAP</a:t>
            </a:r>
          </a:p>
          <a:p>
            <a:r>
              <a:rPr lang="en-US" dirty="0"/>
              <a:t>Upload slides to </a:t>
            </a:r>
            <a:r>
              <a:rPr lang="en-US" dirty="0" err="1"/>
              <a:t>moodle</a:t>
            </a:r>
            <a:r>
              <a:rPr lang="en-US" dirty="0"/>
              <a:t> by April 3, will have an assignment generated</a:t>
            </a:r>
          </a:p>
          <a:p>
            <a:r>
              <a:rPr lang="en-US" dirty="0"/>
              <a:t>Class presentations will be conducted in-person on April 7 and 9</a:t>
            </a:r>
          </a:p>
          <a:p>
            <a:pPr lvl="1"/>
            <a:r>
              <a:rPr lang="en-US" dirty="0"/>
              <a:t>we get through as many as we can, and the remaining students will be tasked with uploading a recording</a:t>
            </a:r>
          </a:p>
          <a:p>
            <a:pPr lvl="1"/>
            <a:r>
              <a:rPr lang="en-US" dirty="0"/>
              <a:t>distance students will upload a recording</a:t>
            </a:r>
          </a:p>
          <a:p>
            <a:r>
              <a:rPr lang="en-US" dirty="0"/>
              <a:t>Not assigned for NE433 students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9EFB60-BBDC-FA36-35B6-8ECD6229B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973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1C0B6-3F8C-FF4D-A150-7B07ACA63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78354-690C-9A4E-845C-374B1E17BC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Fission gas release</a:t>
            </a:r>
          </a:p>
          <a:p>
            <a:pPr lvl="1"/>
            <a:r>
              <a:rPr lang="en-US" dirty="0"/>
              <a:t>experiments fall into post-irradiation annealing, or in-pile</a:t>
            </a:r>
          </a:p>
          <a:p>
            <a:r>
              <a:rPr lang="en-US" dirty="0"/>
              <a:t>Showed Booth model equations for post-irradiation annealing and in-pile release</a:t>
            </a:r>
          </a:p>
          <a:p>
            <a:r>
              <a:rPr lang="en-US" dirty="0"/>
              <a:t>Forsberg-</a:t>
            </a:r>
            <a:r>
              <a:rPr lang="en-US" dirty="0" err="1"/>
              <a:t>Massih</a:t>
            </a:r>
            <a:r>
              <a:rPr lang="en-US" dirty="0"/>
              <a:t> 2-stage FGR model</a:t>
            </a:r>
          </a:p>
          <a:p>
            <a:r>
              <a:rPr lang="en-US" dirty="0"/>
              <a:t>Three components of diffusion</a:t>
            </a:r>
          </a:p>
          <a:p>
            <a:pPr lvl="1"/>
            <a:r>
              <a:rPr lang="en-US" dirty="0"/>
              <a:t>intrinsic, RED, RDD</a:t>
            </a:r>
          </a:p>
          <a:p>
            <a:r>
              <a:rPr lang="en-US" dirty="0"/>
              <a:t>Swelling/dimensional change</a:t>
            </a:r>
          </a:p>
          <a:p>
            <a:pPr lvl="1"/>
            <a:r>
              <a:rPr lang="en-US" dirty="0"/>
              <a:t>densification, thermal expansion, solid/gas fission product swelling, creep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DFCECC-1AE9-C442-A2D5-B7DDF2CA2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743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29CC1-34E4-A34F-8621-801D8886C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084" y="1234721"/>
            <a:ext cx="10363200" cy="1362075"/>
          </a:xfrm>
        </p:spPr>
        <p:txBody>
          <a:bodyPr/>
          <a:lstStyle/>
          <a:p>
            <a:r>
              <a:rPr lang="en-US" dirty="0"/>
              <a:t>Fuel Swelling/Dimensional Change</a:t>
            </a:r>
            <a:br>
              <a:rPr lang="en-US" dirty="0"/>
            </a:br>
            <a:r>
              <a:rPr lang="en-US" dirty="0" err="1"/>
              <a:t>Cont</a:t>
            </a:r>
            <a:r>
              <a:rPr lang="en-US" dirty="0"/>
              <a:t>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FF06B0-02C9-F34D-82A4-D2D5BBAF6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A6BD0F-ABBC-C14D-BC96-77BE126A748B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851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AB666-09BE-1642-99D1-FE580FDB3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38157-7E47-5B46-AAD3-7C13CE2269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60495"/>
            <a:ext cx="10972800" cy="428660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Creep is a general mechanism for plastic deformation that occurs over time when </a:t>
            </a:r>
            <a:r>
              <a:rPr lang="en-US" dirty="0" err="1"/>
              <a:t>σ</a:t>
            </a:r>
            <a:r>
              <a:rPr lang="en-US" dirty="0"/>
              <a:t> &lt; </a:t>
            </a:r>
            <a:r>
              <a:rPr lang="en-US" dirty="0" err="1"/>
              <a:t>σ</a:t>
            </a:r>
            <a:r>
              <a:rPr lang="en-US" baseline="-25000" dirty="0" err="1"/>
              <a:t>y</a:t>
            </a:r>
            <a:r>
              <a:rPr lang="en-US" dirty="0"/>
              <a:t> </a:t>
            </a:r>
          </a:p>
          <a:p>
            <a:r>
              <a:rPr lang="en-US" dirty="0"/>
              <a:t>Consider a heated metal beam so it expands some distance dx</a:t>
            </a:r>
          </a:p>
          <a:p>
            <a:endParaRPr lang="en-US" dirty="0"/>
          </a:p>
          <a:p>
            <a:r>
              <a:rPr lang="en-US" dirty="0"/>
              <a:t>We then fix it between two walls and let it cool down</a:t>
            </a:r>
          </a:p>
          <a:p>
            <a:r>
              <a:rPr lang="en-US" dirty="0"/>
              <a:t>Because </a:t>
            </a:r>
            <a:r>
              <a:rPr lang="en-US" dirty="0" err="1"/>
              <a:t>σ</a:t>
            </a:r>
            <a:r>
              <a:rPr lang="en-US" dirty="0"/>
              <a:t> &lt; </a:t>
            </a:r>
            <a:r>
              <a:rPr lang="en-US" dirty="0" err="1"/>
              <a:t>σ</a:t>
            </a:r>
            <a:r>
              <a:rPr lang="en-US" baseline="-25000" dirty="0" err="1"/>
              <a:t>y</a:t>
            </a:r>
            <a:r>
              <a:rPr lang="en-US" dirty="0"/>
              <a:t>, that stress remains constant</a:t>
            </a:r>
          </a:p>
          <a:p>
            <a:r>
              <a:rPr lang="en-US" dirty="0"/>
              <a:t>In creep, defect diffusion is induced by the stress to cause permanent deformation and reduce the stress</a:t>
            </a:r>
          </a:p>
          <a:p>
            <a:r>
              <a:rPr lang="en-US" dirty="0"/>
              <a:t>Therefore, creep </a:t>
            </a:r>
          </a:p>
          <a:p>
            <a:pPr lvl="1"/>
            <a:r>
              <a:rPr lang="en-US" dirty="0"/>
              <a:t>Occurs over time</a:t>
            </a:r>
          </a:p>
          <a:p>
            <a:pPr lvl="1"/>
            <a:r>
              <a:rPr lang="en-US" dirty="0"/>
              <a:t>Increases with increasing number of diffusing defects</a:t>
            </a:r>
          </a:p>
          <a:p>
            <a:pPr lvl="2"/>
            <a:r>
              <a:rPr lang="en-US" dirty="0"/>
              <a:t>High temperature (</a:t>
            </a:r>
            <a:r>
              <a:rPr lang="en-US" b="1" dirty="0"/>
              <a:t>thermal creep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Irradiation (</a:t>
            </a:r>
            <a:r>
              <a:rPr lang="en-US" b="1" dirty="0"/>
              <a:t>irradiation enhanced thermal creep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71ADDA-8421-DE4F-AE8F-50A7CFCD8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A308D1D-8C2A-4A4F-83DB-701A120FF097}"/>
              </a:ext>
            </a:extLst>
          </p:cNvPr>
          <p:cNvGrpSpPr/>
          <p:nvPr/>
        </p:nvGrpSpPr>
        <p:grpSpPr>
          <a:xfrm>
            <a:off x="9241644" y="2423114"/>
            <a:ext cx="1931350" cy="905238"/>
            <a:chOff x="3043586" y="2017830"/>
            <a:chExt cx="1931350" cy="905238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E454FB2A-DC8A-8641-9679-895A97175313}"/>
                </a:ext>
              </a:extLst>
            </p:cNvPr>
            <p:cNvCxnSpPr/>
            <p:nvPr/>
          </p:nvCxnSpPr>
          <p:spPr>
            <a:xfrm>
              <a:off x="3043586" y="2782511"/>
              <a:ext cx="1931350" cy="0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0723A25-453A-2447-8264-662ADDFF41A3}"/>
                </a:ext>
              </a:extLst>
            </p:cNvPr>
            <p:cNvSpPr txBox="1"/>
            <p:nvPr/>
          </p:nvSpPr>
          <p:spPr>
            <a:xfrm>
              <a:off x="3664052" y="2615291"/>
              <a:ext cx="566950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400" dirty="0" err="1"/>
                <a:t>x+dx</a:t>
              </a:r>
              <a:endParaRPr lang="en-US" sz="1400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555FF34-7C27-F04F-96AC-6D404CC24E2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43587" y="2299009"/>
              <a:ext cx="1931349" cy="292608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05B35F0-2C99-184D-858A-0B64CFF8E3FF}"/>
                </a:ext>
              </a:extLst>
            </p:cNvPr>
            <p:cNvSpPr/>
            <p:nvPr/>
          </p:nvSpPr>
          <p:spPr>
            <a:xfrm>
              <a:off x="3043586" y="2299009"/>
              <a:ext cx="1735988" cy="26301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0C2B9F48-ED3B-684A-AD82-016240664557}"/>
                </a:ext>
              </a:extLst>
            </p:cNvPr>
            <p:cNvCxnSpPr/>
            <p:nvPr/>
          </p:nvCxnSpPr>
          <p:spPr>
            <a:xfrm>
              <a:off x="3043586" y="2216809"/>
              <a:ext cx="1735988" cy="0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DFBB361-49C0-3949-B2CD-91207DB54BEC}"/>
                </a:ext>
              </a:extLst>
            </p:cNvPr>
            <p:cNvSpPr txBox="1"/>
            <p:nvPr/>
          </p:nvSpPr>
          <p:spPr>
            <a:xfrm>
              <a:off x="3757551" y="2017830"/>
              <a:ext cx="255513" cy="27432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x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A61BA47-4723-214E-89E4-3E497CEA188E}"/>
              </a:ext>
            </a:extLst>
          </p:cNvPr>
          <p:cNvGrpSpPr/>
          <p:nvPr/>
        </p:nvGrpSpPr>
        <p:grpSpPr>
          <a:xfrm>
            <a:off x="9008749" y="3352026"/>
            <a:ext cx="2404745" cy="683827"/>
            <a:chOff x="3043586" y="3148612"/>
            <a:chExt cx="2702087" cy="74394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D1717C2-1833-034B-8CE7-C4F340FE346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28955" y="3405762"/>
              <a:ext cx="1931349" cy="292608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EA5595-5FD1-7746-9376-32C13645AC50}"/>
                </a:ext>
              </a:extLst>
            </p:cNvPr>
            <p:cNvSpPr/>
            <p:nvPr/>
          </p:nvSpPr>
          <p:spPr>
            <a:xfrm>
              <a:off x="3043586" y="3208729"/>
              <a:ext cx="385369" cy="683827"/>
            </a:xfrm>
            <a:prstGeom prst="rect">
              <a:avLst/>
            </a:prstGeom>
            <a:pattFill prst="wdUpDiag">
              <a:fgClr>
                <a:prstClr val="black"/>
              </a:fgClr>
              <a:bgClr>
                <a:prstClr val="white"/>
              </a:bgClr>
            </a:patt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2CB361B-4AA2-9840-BDD5-C04B6EE40723}"/>
                </a:ext>
              </a:extLst>
            </p:cNvPr>
            <p:cNvSpPr/>
            <p:nvPr/>
          </p:nvSpPr>
          <p:spPr>
            <a:xfrm>
              <a:off x="5360304" y="3208729"/>
              <a:ext cx="385369" cy="683827"/>
            </a:xfrm>
            <a:prstGeom prst="rect">
              <a:avLst/>
            </a:prstGeom>
            <a:pattFill prst="wdUpDiag">
              <a:fgClr>
                <a:prstClr val="black"/>
              </a:fgClr>
              <a:bgClr>
                <a:prstClr val="white"/>
              </a:bgClr>
            </a:patt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458F1D-A3A5-9F4C-AB42-ED7076446E37}"/>
                </a:ext>
              </a:extLst>
            </p:cNvPr>
            <p:cNvSpPr txBox="1"/>
            <p:nvPr/>
          </p:nvSpPr>
          <p:spPr>
            <a:xfrm>
              <a:off x="3757551" y="3148612"/>
              <a:ext cx="12173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/>
                <a:t>σ</a:t>
              </a:r>
              <a:r>
                <a:rPr lang="en-US" sz="1400" dirty="0"/>
                <a:t> = E </a:t>
              </a:r>
              <a:r>
                <a:rPr lang="en-US" sz="1400" dirty="0" err="1"/>
                <a:t>ε</a:t>
              </a:r>
              <a:endParaRPr lang="en-US" sz="1400" dirty="0"/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387AA744-95E6-D54F-8F4A-DDCE69DD122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850888" y="4605515"/>
            <a:ext cx="2464953" cy="1572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968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64188-C0AC-A844-8ECD-24C6E2E4B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4700AF-8770-9842-BF6F-1EAFFABC56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General creep equation:</a:t>
            </a:r>
          </a:p>
          <a:p>
            <a:endParaRPr lang="en-US" dirty="0"/>
          </a:p>
          <a:p>
            <a:r>
              <a:rPr lang="en-US" dirty="0"/>
              <a:t>Creep can be caused by various microstructural mechanisms</a:t>
            </a:r>
          </a:p>
          <a:p>
            <a:r>
              <a:rPr lang="en-US" dirty="0"/>
              <a:t>Bulk Diffusion (Nabarro-Herring creep) </a:t>
            </a:r>
          </a:p>
          <a:p>
            <a:pPr lvl="1"/>
            <a:r>
              <a:rPr lang="en-US" dirty="0"/>
              <a:t>Atoms diffuse (high T), causing grains to elongate along the stress axis</a:t>
            </a:r>
          </a:p>
          <a:p>
            <a:pPr lvl="1"/>
            <a:r>
              <a:rPr lang="en-US" dirty="0"/>
              <a:t>Q = Q(self diffusion), m = 1, and b = 2</a:t>
            </a:r>
          </a:p>
          <a:p>
            <a:r>
              <a:rPr lang="en-US" dirty="0"/>
              <a:t>Grain boundary diffusion (Coble creep)</a:t>
            </a:r>
          </a:p>
          <a:p>
            <a:pPr lvl="1"/>
            <a:r>
              <a:rPr lang="en-US" dirty="0"/>
              <a:t>Atoms diffuse along grain boundaries to elongate the grains along the stress axis</a:t>
            </a:r>
          </a:p>
          <a:p>
            <a:pPr lvl="1"/>
            <a:r>
              <a:rPr lang="en-US" dirty="0"/>
              <a:t>Q = Q(grain boundary diffusion), m = 1, and b = 3</a:t>
            </a:r>
          </a:p>
          <a:p>
            <a:r>
              <a:rPr lang="en-US" dirty="0"/>
              <a:t>Dislocation creep (power law creep)</a:t>
            </a:r>
          </a:p>
          <a:p>
            <a:pPr lvl="1"/>
            <a:r>
              <a:rPr lang="en-US" dirty="0"/>
              <a:t>Dislocations glide under a high stress</a:t>
            </a:r>
          </a:p>
          <a:p>
            <a:pPr lvl="1"/>
            <a:r>
              <a:rPr lang="en-US" dirty="0"/>
              <a:t>Dislocations climb due to defects to avoid obstacles</a:t>
            </a:r>
          </a:p>
          <a:p>
            <a:pPr lvl="1"/>
            <a:r>
              <a:rPr lang="en-US" dirty="0"/>
              <a:t>Q = Q(self diffusion), m = 4–6, and b = 0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A8376A-B1A2-2B4E-A9A1-34A7A8AF1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pic>
        <p:nvPicPr>
          <p:cNvPr id="5" name="Picture 4" descr="latex-image-1.pdf">
            <a:extLst>
              <a:ext uri="{FF2B5EF4-FFF2-40B4-BE49-F238E27FC236}">
                <a16:creationId xmlns:a16="http://schemas.microsoft.com/office/drawing/2014/main" id="{1F0FEDF2-34E9-8D4F-A316-0E660A9100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84700" y="1570935"/>
            <a:ext cx="1511300" cy="62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1054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5E6C8-FDE7-5C41-9690-BF5F4B64A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creep mechanisms are active for different combinations of stress and temperature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B6EF34-39F6-3549-B062-279E3AAAD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87C296-2EAD-804C-B84F-8BF782FA4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4071" y="2016367"/>
            <a:ext cx="6245787" cy="4705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670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9A2AC-11B5-7A4B-A329-EF7EA25F8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behavior of creep changes in irradiated materials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8D6C3F-DCA2-2D4B-BBFD-6027DA106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E67F7A-3EAF-1749-B196-B107777F65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7501" y="1968501"/>
            <a:ext cx="6916998" cy="4764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7714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80368-313E-A140-A995-88427F5F0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Irradiation and Creep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DB27B-D6EE-4749-B354-BD56EC0BEF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828800"/>
            <a:ext cx="10972800" cy="429736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Irradiation accelerates creep, causing it to be significant at lower temperatures</a:t>
            </a:r>
          </a:p>
          <a:p>
            <a:r>
              <a:rPr lang="en-US" dirty="0"/>
              <a:t>Irradiation typically has little effect on diffusional creep (but can increase defect concentrations)</a:t>
            </a:r>
          </a:p>
          <a:p>
            <a:r>
              <a:rPr lang="en-US" dirty="0"/>
              <a:t>Primary impact is accelerating dislocation creep in structural/cladding materials </a:t>
            </a:r>
          </a:p>
          <a:p>
            <a:r>
              <a:rPr lang="en-US" dirty="0"/>
              <a:t>The dislocation creep rate can be written as</a:t>
            </a:r>
          </a:p>
          <a:p>
            <a:pPr lvl="1"/>
            <a:r>
              <a:rPr lang="en-US" i="1" dirty="0" err="1">
                <a:latin typeface="Times New Roman"/>
                <a:cs typeface="Times New Roman"/>
              </a:rPr>
              <a:t>ρ</a:t>
            </a:r>
            <a:r>
              <a:rPr lang="en-US" i="1" baseline="-25000" dirty="0" err="1">
                <a:latin typeface="Times New Roman"/>
                <a:cs typeface="Times New Roman"/>
              </a:rPr>
              <a:t>d</a:t>
            </a:r>
            <a:r>
              <a:rPr lang="en-US" i="1" baseline="30000" dirty="0" err="1">
                <a:latin typeface="Times New Roman"/>
                <a:cs typeface="Times New Roman"/>
              </a:rPr>
              <a:t>m</a:t>
            </a:r>
            <a:r>
              <a:rPr lang="en-US" dirty="0"/>
              <a:t> is the density of mobile dislocations</a:t>
            </a:r>
          </a:p>
          <a:p>
            <a:pPr lvl="1"/>
            <a:r>
              <a:rPr lang="en-US" dirty="0"/>
              <a:t>b is the burgers vector</a:t>
            </a:r>
          </a:p>
          <a:p>
            <a:pPr lvl="1"/>
            <a:r>
              <a:rPr lang="en-US" dirty="0" err="1"/>
              <a:t>v</a:t>
            </a:r>
            <a:r>
              <a:rPr lang="en-US" baseline="-25000" dirty="0" err="1"/>
              <a:t>d</a:t>
            </a:r>
            <a:r>
              <a:rPr lang="en-US" dirty="0"/>
              <a:t> is the dislocation velocity</a:t>
            </a:r>
          </a:p>
          <a:p>
            <a:r>
              <a:rPr lang="en-US" dirty="0"/>
              <a:t>Gliding dislocations quickly get pinned by obstacles</a:t>
            </a:r>
          </a:p>
          <a:p>
            <a:r>
              <a:rPr lang="en-US" dirty="0"/>
              <a:t>As the dislocations absorb defects created by irradiation, they climb to different slip planes to avoid the obstacles</a:t>
            </a:r>
          </a:p>
          <a:p>
            <a:r>
              <a:rPr lang="en-US" dirty="0"/>
              <a:t>More interstitials are absorbed than vacancies due to the higher sink strength for interstitials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EA781D-9EEF-5E49-83E9-80F12ABE4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79FD86-AAD6-7D41-AB38-521B855BB05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93825" y="3136769"/>
            <a:ext cx="1014539" cy="292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0340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78E19-1A07-DA4C-A477-9D5CEAF7A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Fuel Creep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64138B-8E6D-1A4E-882D-3C99C78294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60495"/>
            <a:ext cx="5513408" cy="3965670"/>
          </a:xfrm>
        </p:spPr>
        <p:txBody>
          <a:bodyPr/>
          <a:lstStyle/>
          <a:p>
            <a:r>
              <a:rPr lang="en-US" sz="2000" dirty="0"/>
              <a:t>Like other materials, the fuel also undergoes creep</a:t>
            </a:r>
          </a:p>
          <a:p>
            <a:r>
              <a:rPr lang="en-US" sz="2000" dirty="0"/>
              <a:t>The fuel creep (In UO2) is a combination of diffusion creep and irradiation creep</a:t>
            </a:r>
          </a:p>
          <a:p>
            <a:r>
              <a:rPr lang="en-US" sz="2000" dirty="0"/>
              <a:t>Right shows the combined creep rate</a:t>
            </a:r>
          </a:p>
          <a:p>
            <a:r>
              <a:rPr lang="en-US" sz="2000" dirty="0"/>
              <a:t>It is expected that fuel creep plays a major role in dimensional change in metallic fuels, largely via N-H and Coble creep, but still unproven experimentally and no good creep models exist for metallic fuels</a:t>
            </a:r>
          </a:p>
          <a:p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63DC62-EE45-7C4D-BD47-47095C4F4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4777FB4E-CCEC-E949-9AD0-C119AE7F2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929586" y="2198687"/>
            <a:ext cx="4311018" cy="3640238"/>
          </a:xfrm>
          <a:prstGeom prst="rect">
            <a:avLst/>
          </a:prstGeom>
          <a:noFill/>
          <a:ln w="6350">
            <a:solidFill>
              <a:srgbClr val="D4AD6F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242366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FA652-F860-1244-86FA-323BB427F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BBD7F-5EA8-7D46-96CC-500824675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59226"/>
            <a:ext cx="6008561" cy="459712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UO</a:t>
            </a:r>
            <a:r>
              <a:rPr lang="en-US" baseline="-25000" dirty="0"/>
              <a:t>2</a:t>
            </a:r>
            <a:r>
              <a:rPr lang="en-US" dirty="0"/>
              <a:t> pellets fracture during changes in temperature due to large thermal stresses</a:t>
            </a:r>
          </a:p>
          <a:p>
            <a:r>
              <a:rPr lang="en-US" dirty="0"/>
              <a:t>Fracture results in:</a:t>
            </a:r>
          </a:p>
          <a:p>
            <a:pPr lvl="1"/>
            <a:r>
              <a:rPr lang="en-US" dirty="0"/>
              <a:t>Gap reduction</a:t>
            </a:r>
          </a:p>
          <a:p>
            <a:pPr lvl="1"/>
            <a:r>
              <a:rPr lang="en-US" dirty="0"/>
              <a:t>Reduced thermal conductivity</a:t>
            </a:r>
          </a:p>
          <a:p>
            <a:pPr lvl="1"/>
            <a:r>
              <a:rPr lang="en-US" dirty="0"/>
              <a:t>Increased avenues for fission gas release</a:t>
            </a:r>
          </a:p>
          <a:p>
            <a:r>
              <a:rPr lang="en-US" dirty="0"/>
              <a:t>Fracture has been typically modeled in two ways:</a:t>
            </a:r>
          </a:p>
          <a:p>
            <a:pPr lvl="1"/>
            <a:r>
              <a:rPr lang="en-US" dirty="0"/>
              <a:t>Empirical relocation model that is a function of burnup</a:t>
            </a:r>
          </a:p>
          <a:p>
            <a:pPr lvl="1"/>
            <a:r>
              <a:rPr lang="en-US" dirty="0"/>
              <a:t>Semi-empirical smeared cracking model</a:t>
            </a:r>
          </a:p>
          <a:p>
            <a:r>
              <a:rPr lang="en-US" dirty="0"/>
              <a:t>Modern methods provide means of modeling discrete cracks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59529E-189A-414E-B3BF-E1F5C7C65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pic>
        <p:nvPicPr>
          <p:cNvPr id="5" name="Picture 4" descr="1-s2.0-S0013794406004759-gr4.jpg">
            <a:extLst>
              <a:ext uri="{FF2B5EF4-FFF2-40B4-BE49-F238E27FC236}">
                <a16:creationId xmlns:a16="http://schemas.microsoft.com/office/drawing/2014/main" id="{CA71EAE4-BE87-2A47-9EE6-8BEC44296F6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84450" y="982901"/>
            <a:ext cx="4045276" cy="23551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61E9FED-2BF7-5C45-AA57-0D9612A78BE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65402" y="3534241"/>
            <a:ext cx="2534908" cy="19263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7B48CA-83FC-0D4D-A4A6-4618E8E96F7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47551" y="3530083"/>
            <a:ext cx="2563061" cy="193047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E94D6F3-AC11-9344-AB6D-8127685C3CD6}"/>
              </a:ext>
            </a:extLst>
          </p:cNvPr>
          <p:cNvSpPr/>
          <p:nvPr/>
        </p:nvSpPr>
        <p:spPr>
          <a:xfrm>
            <a:off x="7448970" y="5524220"/>
            <a:ext cx="428075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2250" indent="-222250">
              <a:buClr>
                <a:schemeClr val="tx2"/>
              </a:buClr>
              <a:buFont typeface="Arial"/>
              <a:buChar char="•"/>
            </a:pPr>
            <a:r>
              <a:rPr lang="en-US" dirty="0"/>
              <a:t>Radial cracks partially penetrate the pellet during temperature increase</a:t>
            </a:r>
          </a:p>
          <a:p>
            <a:pPr marL="222250" indent="-222250">
              <a:buClr>
                <a:schemeClr val="tx2"/>
              </a:buClr>
              <a:buFont typeface="Arial"/>
              <a:buChar char="•"/>
            </a:pPr>
            <a:r>
              <a:rPr lang="en-US" dirty="0"/>
              <a:t>Full cracking occurs when the temperature decreases</a:t>
            </a:r>
          </a:p>
        </p:txBody>
      </p:sp>
    </p:spTree>
    <p:extLst>
      <p:ext uri="{BB962C8B-B14F-4D97-AF65-F5344CB8AC3E}">
        <p14:creationId xmlns:p14="http://schemas.microsoft.com/office/powerpoint/2010/main" val="28502855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33761-84F2-1140-8F52-A5E952D4B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01DE5-4A63-6A49-B94B-1ECE56206E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60495"/>
            <a:ext cx="6300486" cy="419585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fracture behavior of the fuel is fairly complicated</a:t>
            </a:r>
          </a:p>
          <a:p>
            <a:pPr>
              <a:spcBef>
                <a:spcPts val="800"/>
              </a:spcBef>
            </a:pPr>
            <a:r>
              <a:rPr lang="en-US" dirty="0"/>
              <a:t>Fracture strength varies with grain size (G)</a:t>
            </a:r>
          </a:p>
          <a:p>
            <a:pPr lvl="1">
              <a:spcBef>
                <a:spcPts val="800"/>
              </a:spcBef>
            </a:pPr>
            <a:r>
              <a:rPr lang="en-US" sz="1800" dirty="0">
                <a:sym typeface="Symbol"/>
              </a:rPr>
              <a:t></a:t>
            </a:r>
            <a:r>
              <a:rPr lang="en-US" sz="1800" baseline="-25000" dirty="0" err="1">
                <a:sym typeface="Symbol"/>
              </a:rPr>
              <a:t>frac</a:t>
            </a:r>
            <a:r>
              <a:rPr lang="en-US" sz="1800" dirty="0">
                <a:sym typeface="Symbol"/>
              </a:rPr>
              <a:t> = </a:t>
            </a:r>
            <a:r>
              <a:rPr lang="en-US" sz="1800" dirty="0" err="1">
                <a:sym typeface="Symbol"/>
              </a:rPr>
              <a:t>G</a:t>
            </a:r>
            <a:r>
              <a:rPr lang="en-US" sz="1800" baseline="30000" dirty="0" err="1">
                <a:sym typeface="Symbol"/>
              </a:rPr>
              <a:t>-m</a:t>
            </a:r>
            <a:r>
              <a:rPr lang="en-US" sz="1800" dirty="0" err="1">
                <a:sym typeface="Symbol"/>
              </a:rPr>
              <a:t></a:t>
            </a:r>
            <a:r>
              <a:rPr lang="en-US" sz="1800" baseline="-25000" dirty="0" err="1">
                <a:sym typeface="Symbol"/>
              </a:rPr>
              <a:t>frac</a:t>
            </a:r>
            <a:r>
              <a:rPr lang="en-US" sz="1800" baseline="-25000" dirty="0">
                <a:sym typeface="Symbol"/>
              </a:rPr>
              <a:t>, ref</a:t>
            </a:r>
            <a:r>
              <a:rPr lang="en-US" sz="1800" dirty="0">
                <a:sym typeface="Symbol"/>
              </a:rPr>
              <a:t>, m = 0.04 – 0.05 (vs. m ~ 0.5 for metal)</a:t>
            </a:r>
          </a:p>
          <a:p>
            <a:pPr lvl="1">
              <a:spcBef>
                <a:spcPts val="800"/>
              </a:spcBef>
            </a:pPr>
            <a:r>
              <a:rPr lang="en-US" sz="1800" dirty="0">
                <a:sym typeface="Symbol"/>
              </a:rPr>
              <a:t>Increasing grain size from 10 m to 100 m reduces </a:t>
            </a:r>
            <a:r>
              <a:rPr lang="en-US" sz="1800" baseline="-25000" dirty="0" err="1">
                <a:sym typeface="Symbol"/>
              </a:rPr>
              <a:t>frac</a:t>
            </a:r>
            <a:r>
              <a:rPr lang="en-US" sz="1800" dirty="0">
                <a:sym typeface="Symbol"/>
              </a:rPr>
              <a:t> by ~10%</a:t>
            </a:r>
          </a:p>
          <a:p>
            <a:pPr>
              <a:spcBef>
                <a:spcPts val="800"/>
              </a:spcBef>
            </a:pPr>
            <a:r>
              <a:rPr lang="en-US" dirty="0"/>
              <a:t>Ductility transition temperature is lower in-reactor than in thermal tests</a:t>
            </a:r>
          </a:p>
          <a:p>
            <a:pPr>
              <a:spcBef>
                <a:spcPts val="800"/>
              </a:spcBef>
            </a:pPr>
            <a:r>
              <a:rPr lang="en-US" dirty="0"/>
              <a:t>Fracture strength is ~10× higher in compression than in tension</a:t>
            </a:r>
          </a:p>
          <a:p>
            <a:pPr>
              <a:spcBef>
                <a:spcPts val="800"/>
              </a:spcBef>
            </a:pPr>
            <a:r>
              <a:rPr lang="en-US" dirty="0"/>
              <a:t>Load-deformation behavior strongly affected by creep under in-reactor conditions</a:t>
            </a:r>
            <a:endParaRPr lang="en-US" sz="18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1CFEB-4EEB-2644-9FDB-620A9323A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EEDA3E4D-2584-3F40-AD46-CD4EC763A3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34341" y="2160494"/>
            <a:ext cx="4664433" cy="3517609"/>
          </a:xfrm>
          <a:prstGeom prst="rect">
            <a:avLst/>
          </a:prstGeom>
          <a:noFill/>
          <a:ln w="6350">
            <a:solidFill>
              <a:srgbClr val="D4AD6F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9975498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3444E-F2E1-C140-819B-17F17ED13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936466-268A-B042-825C-BEBA244C94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Many materials models for fuel are empirical and correlated to burnup</a:t>
            </a:r>
          </a:p>
          <a:p>
            <a:r>
              <a:rPr lang="en-US" sz="2000" dirty="0"/>
              <a:t>Fuel pellets change shape due to </a:t>
            </a:r>
          </a:p>
          <a:p>
            <a:pPr lvl="1"/>
            <a:r>
              <a:rPr lang="en-US" sz="2000" dirty="0"/>
              <a:t>Thermal expansion (increase in volume)</a:t>
            </a:r>
          </a:p>
          <a:p>
            <a:pPr lvl="1"/>
            <a:r>
              <a:rPr lang="en-US" sz="2000" dirty="0"/>
              <a:t>Densification (decrease in volume)</a:t>
            </a:r>
          </a:p>
          <a:p>
            <a:pPr lvl="1"/>
            <a:r>
              <a:rPr lang="en-US" sz="2000" dirty="0"/>
              <a:t>Swelling (increase in volume)</a:t>
            </a:r>
          </a:p>
          <a:p>
            <a:pPr lvl="1"/>
            <a:r>
              <a:rPr lang="en-US" sz="2000" dirty="0"/>
              <a:t>Creep (volume stays the same)</a:t>
            </a:r>
          </a:p>
          <a:p>
            <a:r>
              <a:rPr lang="en-US" sz="2000" dirty="0"/>
              <a:t>Fracture also decreases the gap, as fractures pieces shift outward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663BD3-A21E-B041-8B9B-3ED8023B4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7291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29CC1-34E4-A34F-8621-801D8886C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084" y="1234721"/>
            <a:ext cx="10363200" cy="1362075"/>
          </a:xfrm>
        </p:spPr>
        <p:txBody>
          <a:bodyPr/>
          <a:lstStyle/>
          <a:p>
            <a:r>
              <a:rPr lang="en-US" dirty="0"/>
              <a:t>Zirconium Cladding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FF06B0-02C9-F34D-82A4-D2D5BBAF6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A6BD0F-ABBC-C14D-BC96-77BE126A748B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1329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DD4EC-5B47-D247-91C5-5D13835FB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Cladding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CBAC5-94D4-EB42-B798-DF580484E2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60495"/>
            <a:ext cx="5463209" cy="3965670"/>
          </a:xfrm>
        </p:spPr>
        <p:txBody>
          <a:bodyPr/>
          <a:lstStyle/>
          <a:p>
            <a:r>
              <a:rPr lang="en-US" sz="2000" dirty="0"/>
              <a:t>The purpose of the cladding is to:</a:t>
            </a:r>
          </a:p>
          <a:p>
            <a:pPr lvl="1"/>
            <a:r>
              <a:rPr lang="en-US" sz="2000" dirty="0"/>
              <a:t>Hold the pellets together so that coolant can freely flow past</a:t>
            </a:r>
          </a:p>
          <a:p>
            <a:pPr lvl="1"/>
            <a:r>
              <a:rPr lang="en-US" sz="2000" dirty="0"/>
              <a:t>Transport heat from fuel to the coolant</a:t>
            </a:r>
          </a:p>
          <a:p>
            <a:pPr lvl="1"/>
            <a:r>
              <a:rPr lang="en-US" sz="2000" dirty="0"/>
              <a:t>Contain fission products</a:t>
            </a:r>
          </a:p>
          <a:p>
            <a:pPr lvl="1"/>
            <a:r>
              <a:rPr lang="en-US" sz="2000" dirty="0"/>
              <a:t>Contain fuel fragments</a:t>
            </a:r>
          </a:p>
          <a:p>
            <a:r>
              <a:rPr lang="en-US" sz="2000" dirty="0"/>
              <a:t>We would also prefer if the cladding had little to no impact on the neutron transport in the reactor</a:t>
            </a:r>
          </a:p>
          <a:p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19551-E0CB-C24B-ABAD-B963DA7C3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E91FB3-E611-A349-91EE-5AA0CCC593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0905" y="1968501"/>
            <a:ext cx="3865491" cy="33886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6BE8601-D7F6-5B48-A573-3423DC8C7C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6286" y="5553251"/>
            <a:ext cx="3282627" cy="976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7099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67546-3A93-A34F-9980-C9F200EFB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Zirconium alloys?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A80BF-19C8-F548-BFF8-45E0B78679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60495"/>
            <a:ext cx="5443330" cy="396567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Benefits</a:t>
            </a:r>
          </a:p>
          <a:p>
            <a:pPr marL="233363" indent="-233363">
              <a:buFont typeface="Arial"/>
              <a:buChar char="•"/>
            </a:pPr>
            <a:r>
              <a:rPr lang="en-US" dirty="0">
                <a:solidFill>
                  <a:srgbClr val="000000"/>
                </a:solidFill>
              </a:rPr>
              <a:t>Low neutron cross section</a:t>
            </a:r>
          </a:p>
          <a:p>
            <a:pPr marL="233363" indent="-233363">
              <a:buFont typeface="Arial"/>
              <a:buChar char="•"/>
            </a:pPr>
            <a:r>
              <a:rPr lang="en-US" dirty="0">
                <a:solidFill>
                  <a:srgbClr val="000000"/>
                </a:solidFill>
              </a:rPr>
              <a:t>Corrosion resistance in 300˚C water</a:t>
            </a:r>
          </a:p>
          <a:p>
            <a:pPr marL="233363" indent="-233363">
              <a:buFont typeface="Arial"/>
              <a:buChar char="•"/>
            </a:pPr>
            <a:r>
              <a:rPr lang="en-US" dirty="0">
                <a:solidFill>
                  <a:srgbClr val="000000"/>
                </a:solidFill>
              </a:rPr>
              <a:t>Resistance to void swelling</a:t>
            </a:r>
          </a:p>
          <a:p>
            <a:pPr marL="233363" indent="-233363">
              <a:buFont typeface="Arial"/>
              <a:buChar char="•"/>
            </a:pPr>
            <a:r>
              <a:rPr lang="en-US" dirty="0">
                <a:solidFill>
                  <a:srgbClr val="000000"/>
                </a:solidFill>
              </a:rPr>
              <a:t>Adequate mechanical properties</a:t>
            </a:r>
          </a:p>
          <a:p>
            <a:pPr marL="233363" indent="-233363">
              <a:buFont typeface="Arial"/>
              <a:buChar char="•"/>
            </a:pPr>
            <a:r>
              <a:rPr lang="en-US" dirty="0">
                <a:solidFill>
                  <a:srgbClr val="000000"/>
                </a:solidFill>
              </a:rPr>
              <a:t>Good thermal conductivity</a:t>
            </a:r>
          </a:p>
          <a:p>
            <a:pPr marL="233363" indent="-233363">
              <a:buFont typeface="Arial"/>
              <a:buChar char="•"/>
            </a:pPr>
            <a:r>
              <a:rPr lang="en-US" dirty="0">
                <a:solidFill>
                  <a:srgbClr val="000000"/>
                </a:solidFill>
              </a:rPr>
              <a:t>Affordable cost</a:t>
            </a:r>
          </a:p>
          <a:p>
            <a:pPr marL="233363" indent="-233363">
              <a:buFont typeface="Arial"/>
              <a:buChar char="•"/>
            </a:pPr>
            <a:r>
              <a:rPr lang="en-US" dirty="0">
                <a:solidFill>
                  <a:srgbClr val="000000"/>
                </a:solidFill>
              </a:rPr>
              <a:t>Available in large quantities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57863F-6A16-D047-8C96-CF2F5EABB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55D249C-C9F3-4849-B5F2-FDECA44732F2}"/>
              </a:ext>
            </a:extLst>
          </p:cNvPr>
          <p:cNvSpPr txBox="1">
            <a:spLocks/>
          </p:cNvSpPr>
          <p:nvPr/>
        </p:nvSpPr>
        <p:spPr bwMode="auto">
          <a:xfrm>
            <a:off x="6139070" y="2160495"/>
            <a:ext cx="5443330" cy="3965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400"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400"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000"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Problems</a:t>
            </a:r>
          </a:p>
          <a:p>
            <a:pPr marL="233363" indent="-233363">
              <a:buFont typeface="Arial"/>
              <a:buChar char="•"/>
            </a:pPr>
            <a:r>
              <a:rPr lang="en-US" dirty="0">
                <a:solidFill>
                  <a:srgbClr val="000000"/>
                </a:solidFill>
              </a:rPr>
              <a:t>Corrosion under high-temperature steam</a:t>
            </a:r>
          </a:p>
          <a:p>
            <a:pPr marL="233363" indent="-233363">
              <a:buFont typeface="Arial"/>
              <a:buChar char="•"/>
            </a:pPr>
            <a:r>
              <a:rPr lang="en-US" dirty="0">
                <a:solidFill>
                  <a:srgbClr val="000000"/>
                </a:solidFill>
              </a:rPr>
              <a:t>Hydride embrittlement</a:t>
            </a:r>
          </a:p>
          <a:p>
            <a:pPr marL="233363" indent="-233363">
              <a:buFont typeface="Arial"/>
              <a:buChar char="•"/>
            </a:pPr>
            <a:r>
              <a:rPr lang="en-US" dirty="0">
                <a:solidFill>
                  <a:srgbClr val="000000"/>
                </a:solidFill>
              </a:rPr>
              <a:t>Anisotropic characteristics lead to creep and growth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3088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023FE-075B-3243-B904-47C0072ED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Zirconium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C8E84-F732-9B43-BADC-2FA6EFAFD4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60495"/>
            <a:ext cx="5006009" cy="3965670"/>
          </a:xfrm>
        </p:spPr>
        <p:txBody>
          <a:bodyPr/>
          <a:lstStyle/>
          <a:p>
            <a:r>
              <a:rPr lang="en-US" dirty="0"/>
              <a:t>Pure zirconium was not acceptable due to its oxidation behavior</a:t>
            </a:r>
          </a:p>
          <a:p>
            <a:r>
              <a:rPr lang="en-US" dirty="0"/>
              <a:t>Oxygen with water reacted to form an oxide layer</a:t>
            </a:r>
          </a:p>
          <a:p>
            <a:r>
              <a:rPr lang="en-US" dirty="0"/>
              <a:t>The oxide layer is brittle and flakes off, allowing more oxidation to occur</a:t>
            </a:r>
          </a:p>
          <a:p>
            <a:r>
              <a:rPr lang="en-US" dirty="0"/>
              <a:t>Zr alloys were developed to improve corrosion resistance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12660A-F680-D541-879E-6CE390892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9EB015-7878-9B44-A367-06E7CABE100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0273" y="2379155"/>
            <a:ext cx="4534654" cy="3256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7993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37520-13DE-F84B-86A0-B7E9114CF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Commercial </a:t>
            </a:r>
            <a:r>
              <a:rPr lang="en-US" dirty="0" err="1"/>
              <a:t>Zr</a:t>
            </a:r>
            <a:r>
              <a:rPr lang="en-US" dirty="0"/>
              <a:t> Alloys in PWRs</a:t>
            </a:r>
          </a:p>
        </p:txBody>
      </p:sp>
      <p:graphicFrame>
        <p:nvGraphicFramePr>
          <p:cNvPr id="5" name="Platshållare för innehåll 8">
            <a:extLst>
              <a:ext uri="{FF2B5EF4-FFF2-40B4-BE49-F238E27FC236}">
                <a16:creationId xmlns:a16="http://schemas.microsoft.com/office/drawing/2014/main" id="{A2530372-B2AD-FB4B-BB04-77E470AFE3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0559492"/>
              </p:ext>
            </p:extLst>
          </p:nvPr>
        </p:nvGraphicFramePr>
        <p:xfrm>
          <a:off x="2444904" y="1817568"/>
          <a:ext cx="7302190" cy="438240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036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26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31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31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31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31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431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13559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GB" sz="1600" kern="1200" dirty="0"/>
                        <a:t>Alloy</a:t>
                      </a:r>
                      <a:endParaRPr lang="sv-SE" sz="16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GB" sz="1600" kern="1200" dirty="0"/>
                        <a:t>Sn %</a:t>
                      </a:r>
                      <a:endParaRPr lang="sv-SE" sz="16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GB" sz="1600" kern="1200" dirty="0"/>
                        <a:t>Nb %</a:t>
                      </a:r>
                      <a:endParaRPr lang="sv-SE" sz="16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GB" sz="1600" kern="1200" dirty="0"/>
                        <a:t>Fe %</a:t>
                      </a:r>
                      <a:endParaRPr lang="sv-SE" sz="16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GB" sz="1600" kern="1200" dirty="0"/>
                        <a:t>Cr %</a:t>
                      </a:r>
                      <a:endParaRPr lang="sv-SE" sz="16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GB" sz="1600" kern="1200" dirty="0"/>
                        <a:t>Ni %</a:t>
                      </a:r>
                      <a:endParaRPr lang="sv-SE" sz="16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GB" sz="1600" kern="1200" dirty="0"/>
                        <a:t>O %</a:t>
                      </a:r>
                      <a:endParaRPr lang="sv-SE" sz="16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561">
                <a:tc gridSpan="7"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400" kern="1200" noProof="0" dirty="0"/>
                        <a:t>PWRs (structural components and fuel rods)</a:t>
                      </a:r>
                      <a:endParaRPr lang="en-US" sz="14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/>
                </a:tc>
                <a:tc hMerge="1">
                  <a:txBody>
                    <a:bodyPr/>
                    <a:lstStyle/>
                    <a:p>
                      <a:pPr marL="0" algn="l" defTabSz="914400" rtl="0" eaLnBrk="1" latinLnBrk="0" hangingPunct="1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sv-S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/>
                </a:tc>
                <a:tc hMerge="1">
                  <a:txBody>
                    <a:bodyPr/>
                    <a:lstStyle/>
                    <a:p>
                      <a:pPr marL="0" algn="l" defTabSz="914400" rtl="0" eaLnBrk="1" latinLnBrk="0" hangingPunct="1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sv-S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/>
                </a:tc>
                <a:tc hMerge="1">
                  <a:txBody>
                    <a:bodyPr/>
                    <a:lstStyle/>
                    <a:p>
                      <a:pPr marL="0" algn="l" defTabSz="914400" rtl="0" eaLnBrk="1" latinLnBrk="0" hangingPunct="1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sv-S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/>
                </a:tc>
                <a:tc hMerge="1">
                  <a:txBody>
                    <a:bodyPr/>
                    <a:lstStyle/>
                    <a:p>
                      <a:pPr marL="0" algn="l" defTabSz="914400" rtl="0" eaLnBrk="1" latinLnBrk="0" hangingPunct="1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sv-S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/>
                </a:tc>
                <a:tc hMerge="1">
                  <a:txBody>
                    <a:bodyPr/>
                    <a:lstStyle/>
                    <a:p>
                      <a:pPr marL="0" algn="l" defTabSz="914400" rtl="0" eaLnBrk="1" latinLnBrk="0" hangingPunct="1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sv-S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/>
                </a:tc>
                <a:tc hMerge="1">
                  <a:txBody>
                    <a:bodyPr/>
                    <a:lstStyle/>
                    <a:p>
                      <a:pPr marL="0" algn="l" defTabSz="914400" rtl="0" eaLnBrk="1" latinLnBrk="0" hangingPunct="1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sv-S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561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Zircaloy-4 (SRA)</a:t>
                      </a:r>
                      <a:endParaRPr lang="sv-S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1.2-1.7</a:t>
                      </a:r>
                      <a:endParaRPr lang="sv-S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sv-S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0.18-0.24</a:t>
                      </a:r>
                      <a:endParaRPr lang="sv-S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0.07-0.13</a:t>
                      </a:r>
                      <a:endParaRPr lang="sv-S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sv-S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0.1-0.14</a:t>
                      </a:r>
                      <a:endParaRPr lang="sv-S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561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ZIRLO  (SRA)</a:t>
                      </a:r>
                      <a:endParaRPr lang="sv-S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sv-S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sv-S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0.1</a:t>
                      </a:r>
                      <a:endParaRPr lang="sv-S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sv-S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sv-S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0.12</a:t>
                      </a:r>
                      <a:endParaRPr lang="sv-S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561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Optimized ZIRLO (pRXA)</a:t>
                      </a:r>
                      <a:endParaRPr lang="sv-S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0.7</a:t>
                      </a:r>
                      <a:endParaRPr lang="sv-S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sv-S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0.1</a:t>
                      </a:r>
                      <a:endParaRPr lang="sv-S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sv-S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sv-S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0.12</a:t>
                      </a:r>
                      <a:endParaRPr lang="sv-S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561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M5 (RXA)</a:t>
                      </a:r>
                      <a:endParaRPr lang="sv-S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sv-S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0.8-1.2</a:t>
                      </a:r>
                      <a:endParaRPr lang="sv-S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0.015-0.06</a:t>
                      </a:r>
                      <a:endParaRPr lang="sv-S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sv-S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sv-S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0.09-0.12</a:t>
                      </a:r>
                      <a:endParaRPr lang="sv-S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6561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HPA-45</a:t>
                      </a:r>
                    </a:p>
                    <a:p>
                      <a:pPr marL="0" algn="l" defTabSz="914400" rtl="0" eaLnBrk="1" latinLnBrk="0" hangingPunct="1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(SRA/RXA)</a:t>
                      </a:r>
                      <a:endParaRPr lang="sv-S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0.6</a:t>
                      </a:r>
                      <a:endParaRPr lang="sv-S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sv-S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Fe+V</a:t>
                      </a:r>
                      <a:endParaRPr lang="sv-S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sv-S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sv-S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0.12</a:t>
                      </a:r>
                      <a:endParaRPr lang="sv-S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6561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NDA (SRA)</a:t>
                      </a:r>
                      <a:endParaRPr lang="sv-S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sv-S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0.1</a:t>
                      </a:r>
                      <a:endParaRPr lang="sv-S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0.3</a:t>
                      </a:r>
                      <a:endParaRPr lang="sv-S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0.2</a:t>
                      </a:r>
                      <a:endParaRPr lang="sv-S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GB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0.12</a:t>
                      </a:r>
                      <a:endParaRPr lang="sv-S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6561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MDA</a:t>
                      </a:r>
                      <a:r>
                        <a:rPr lang="en-GB" sz="14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(SRA)</a:t>
                      </a:r>
                      <a:endParaRPr lang="sv-S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</a:t>
                      </a:r>
                      <a:endParaRPr lang="sv-S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0.5</a:t>
                      </a:r>
                      <a:endParaRPr lang="sv-S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0.2</a:t>
                      </a:r>
                      <a:endParaRPr lang="sv-S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0.1</a:t>
                      </a:r>
                      <a:endParaRPr lang="sv-S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GB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0.12</a:t>
                      </a:r>
                      <a:endParaRPr lang="sv-S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E0D0F7-2F79-F240-B0C9-BC9428ABC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18A18A-0164-6148-8182-3F96AAE47744}"/>
              </a:ext>
            </a:extLst>
          </p:cNvPr>
          <p:cNvSpPr/>
          <p:nvPr/>
        </p:nvSpPr>
        <p:spPr>
          <a:xfrm>
            <a:off x="4796117" y="6199974"/>
            <a:ext cx="259976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PRXA Partial Recrystallization Anneal </a:t>
            </a:r>
          </a:p>
          <a:p>
            <a:pPr algn="ctr"/>
            <a:r>
              <a:rPr lang="en-US" sz="1200" dirty="0"/>
              <a:t>RXA Recrystallization Anneal </a:t>
            </a:r>
          </a:p>
          <a:p>
            <a:pPr algn="ctr"/>
            <a:r>
              <a:rPr lang="en-US" sz="1200" dirty="0"/>
              <a:t>SRA Stress-Relief Anneal</a:t>
            </a:r>
          </a:p>
        </p:txBody>
      </p:sp>
    </p:spTree>
    <p:extLst>
      <p:ext uri="{BB962C8B-B14F-4D97-AF65-F5344CB8AC3E}">
        <p14:creationId xmlns:p14="http://schemas.microsoft.com/office/powerpoint/2010/main" val="24273362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47159-D0F7-7F4F-B408-C21E57D04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Alloying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3843FA-9FD3-C642-B2BF-10BF154AD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60495"/>
            <a:ext cx="6739438" cy="396567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The alloying elements impact the microstructure of the material</a:t>
            </a:r>
          </a:p>
          <a:p>
            <a:r>
              <a:rPr lang="en-US" dirty="0"/>
              <a:t>The intermetallic precipitates significantly improve the oxidation behavior</a:t>
            </a:r>
          </a:p>
          <a:p>
            <a:r>
              <a:rPr lang="en-US" dirty="0"/>
              <a:t>In Zircaloy 2, the precipitates are</a:t>
            </a:r>
          </a:p>
          <a:p>
            <a:pPr lvl="1"/>
            <a:r>
              <a:rPr lang="en-US" dirty="0" err="1"/>
              <a:t>Zr</a:t>
            </a:r>
            <a:r>
              <a:rPr lang="en-US" dirty="0"/>
              <a:t>(Cr, Fe)</a:t>
            </a:r>
            <a:r>
              <a:rPr lang="en-US" baseline="-25000" dirty="0"/>
              <a:t>2</a:t>
            </a:r>
            <a:endParaRPr lang="en-US" dirty="0"/>
          </a:p>
          <a:p>
            <a:pPr lvl="1"/>
            <a:r>
              <a:rPr lang="en-US" dirty="0"/>
              <a:t>Zr</a:t>
            </a:r>
            <a:r>
              <a:rPr lang="en-US" baseline="-25000" dirty="0"/>
              <a:t>2</a:t>
            </a:r>
            <a:r>
              <a:rPr lang="en-US" dirty="0"/>
              <a:t>(Ni, Fe)</a:t>
            </a:r>
          </a:p>
          <a:p>
            <a:r>
              <a:rPr lang="en-US" dirty="0"/>
              <a:t>In Zircaloy 4, the precipitates are </a:t>
            </a:r>
          </a:p>
          <a:p>
            <a:pPr lvl="1"/>
            <a:r>
              <a:rPr lang="en-US" dirty="0" err="1"/>
              <a:t>Zr</a:t>
            </a:r>
            <a:r>
              <a:rPr lang="en-US" dirty="0"/>
              <a:t>(Cr, Fe)</a:t>
            </a:r>
            <a:r>
              <a:rPr lang="en-US" baseline="-25000" dirty="0"/>
              <a:t>2</a:t>
            </a:r>
            <a:endParaRPr lang="en-US" dirty="0"/>
          </a:p>
          <a:p>
            <a:r>
              <a:rPr lang="en-US" dirty="0"/>
              <a:t>Phosphides (Zr</a:t>
            </a:r>
            <a:r>
              <a:rPr lang="en-US" baseline="-25000" dirty="0"/>
              <a:t>3</a:t>
            </a:r>
            <a:r>
              <a:rPr lang="en-US" dirty="0"/>
              <a:t>P) and </a:t>
            </a:r>
            <a:r>
              <a:rPr lang="en-US" dirty="0" err="1"/>
              <a:t>silicides</a:t>
            </a:r>
            <a:r>
              <a:rPr lang="en-US" dirty="0"/>
              <a:t> (Zr</a:t>
            </a:r>
            <a:r>
              <a:rPr lang="en-US" baseline="-25000" dirty="0"/>
              <a:t>3</a:t>
            </a:r>
            <a:r>
              <a:rPr lang="en-US" dirty="0"/>
              <a:t>Si) are also occasionally found</a:t>
            </a:r>
          </a:p>
          <a:p>
            <a:r>
              <a:rPr lang="en-US" dirty="0"/>
              <a:t>The precipitate distribution, size, morphology, and composition all impact the properties of the material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D4FFEA-6820-D945-BDF1-AF9641AAB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B179C0-D15A-AC4C-A9FC-A178F78AAE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9110" y="2585463"/>
            <a:ext cx="4543849" cy="2599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9172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6BFAF-9C91-CC42-A958-04BDDC9E2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Zirconium Phases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1C893-9B69-DB4A-A83B-44166603EB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70539"/>
            <a:ext cx="5634182" cy="2463502"/>
          </a:xfrm>
        </p:spPr>
        <p:txBody>
          <a:bodyPr/>
          <a:lstStyle/>
          <a:p>
            <a:r>
              <a:rPr lang="en-GB" sz="2000" dirty="0">
                <a:latin typeface="Arial" charset="0"/>
                <a:cs typeface="Arial" charset="0"/>
              </a:rPr>
              <a:t>The α-</a:t>
            </a:r>
            <a:r>
              <a:rPr lang="en-GB" sz="2000" dirty="0" err="1">
                <a:latin typeface="Arial" charset="0"/>
                <a:cs typeface="Arial" charset="0"/>
              </a:rPr>
              <a:t>Zr</a:t>
            </a:r>
            <a:r>
              <a:rPr lang="en-GB" sz="2000" dirty="0">
                <a:latin typeface="Arial" charset="0"/>
                <a:cs typeface="Arial" charset="0"/>
              </a:rPr>
              <a:t> phase has a hexagonal-close-packed (HCP) structure </a:t>
            </a:r>
          </a:p>
          <a:p>
            <a:pPr lvl="1"/>
            <a:r>
              <a:rPr lang="en-GB" sz="2000" dirty="0">
                <a:latin typeface="Arial" charset="0"/>
                <a:cs typeface="Arial" charset="0"/>
              </a:rPr>
              <a:t>At temperatures below about 863ºC</a:t>
            </a:r>
          </a:p>
          <a:p>
            <a:pPr lvl="1"/>
            <a:r>
              <a:rPr lang="en-GB" sz="2000" dirty="0">
                <a:latin typeface="Arial" charset="0"/>
                <a:cs typeface="Arial" charset="0"/>
              </a:rPr>
              <a:t>Has the most desirable properties</a:t>
            </a:r>
          </a:p>
          <a:p>
            <a:r>
              <a:rPr lang="en-GB" sz="2000" dirty="0">
                <a:latin typeface="Arial" charset="0"/>
                <a:cs typeface="Arial" charset="0"/>
              </a:rPr>
              <a:t>The β-</a:t>
            </a:r>
            <a:r>
              <a:rPr lang="en-GB" sz="2000" dirty="0" err="1">
                <a:latin typeface="Arial" charset="0"/>
                <a:cs typeface="Arial" charset="0"/>
              </a:rPr>
              <a:t>Zr</a:t>
            </a:r>
            <a:r>
              <a:rPr lang="en-GB" sz="2000" dirty="0">
                <a:latin typeface="Arial" charset="0"/>
                <a:cs typeface="Arial" charset="0"/>
              </a:rPr>
              <a:t> phase has a body-</a:t>
            </a:r>
            <a:r>
              <a:rPr lang="en-GB" sz="2000" dirty="0" err="1">
                <a:latin typeface="Arial" charset="0"/>
                <a:cs typeface="Arial" charset="0"/>
              </a:rPr>
              <a:t>centered</a:t>
            </a:r>
            <a:r>
              <a:rPr lang="en-GB" sz="2000" dirty="0">
                <a:latin typeface="Arial" charset="0"/>
                <a:cs typeface="Arial" charset="0"/>
              </a:rPr>
              <a:t> cubic (BCC) structure</a:t>
            </a:r>
          </a:p>
          <a:p>
            <a:pPr lvl="1"/>
            <a:r>
              <a:rPr lang="en-GB" sz="2000" dirty="0">
                <a:latin typeface="Arial" charset="0"/>
                <a:cs typeface="Arial" charset="0"/>
              </a:rPr>
              <a:t>We try to avoid this phase</a:t>
            </a:r>
            <a:endParaRPr lang="en-US" sz="2000" dirty="0">
              <a:latin typeface="Arial" charset="0"/>
              <a:cs typeface="Arial" charset="0"/>
            </a:endParaRPr>
          </a:p>
          <a:p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DCA0D1-7668-C241-AB28-94D5E4F78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A2CACA-CCEF-404C-94F7-2F2960CE1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0650" y="2170539"/>
            <a:ext cx="4643497" cy="37651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C0DEC1D-E710-9349-A9AA-BC5F695C7D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6175" y="4760775"/>
            <a:ext cx="4110400" cy="1885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6180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461BB-B0D7-BA4C-8A22-8C807301B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Zr</a:t>
            </a:r>
            <a:r>
              <a:rPr lang="en-US" dirty="0"/>
              <a:t> Tube Fabrication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810C5-A1EC-D34F-AE47-1B04BB330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2160495"/>
            <a:ext cx="6132945" cy="396567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The cladding tubes are fabricated using various processes that severely deform the material</a:t>
            </a:r>
          </a:p>
          <a:p>
            <a:r>
              <a:rPr lang="en-US" dirty="0"/>
              <a:t>The severe plastic deformation causes significant dislocation hardening, that can make the tube material too brittle</a:t>
            </a:r>
          </a:p>
          <a:p>
            <a:r>
              <a:rPr lang="en-US" dirty="0"/>
              <a:t>Plastic deformation along slip planes results in reorientation of the grains</a:t>
            </a:r>
          </a:p>
          <a:p>
            <a:r>
              <a:rPr lang="en-US" dirty="0"/>
              <a:t>The properties of the material are controlled by heat treatment</a:t>
            </a:r>
          </a:p>
          <a:p>
            <a:r>
              <a:rPr lang="en-US" dirty="0"/>
              <a:t>Raising the temperature, but below 863˚C, anneals the sample to reduce cold work: SRA</a:t>
            </a:r>
          </a:p>
          <a:p>
            <a:r>
              <a:rPr lang="en-US" dirty="0"/>
              <a:t>Raising the temperature above 863˚C changes to the β phase. They then quench the sample to create a random texture in the α phase: RXA or </a:t>
            </a:r>
            <a:r>
              <a:rPr lang="en-US" dirty="0" err="1"/>
              <a:t>pRXA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D1D519-E2A7-8C4E-987C-5BFDD33EE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11FD9A-0168-BA4B-91BC-18F18FAAA8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6756" y="1968501"/>
            <a:ext cx="4289035" cy="4209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4345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5D011-3A17-2142-932B-B36DF7C0F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Zr</a:t>
            </a:r>
            <a:r>
              <a:rPr lang="en-US" dirty="0"/>
              <a:t> alloy microstructures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747340-2D7E-784F-BF64-D8D17CD6A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3433BFA-34FD-DA42-89B6-108C774EAD2E}"/>
              </a:ext>
            </a:extLst>
          </p:cNvPr>
          <p:cNvGrpSpPr/>
          <p:nvPr/>
        </p:nvGrpSpPr>
        <p:grpSpPr>
          <a:xfrm>
            <a:off x="2412779" y="2170462"/>
            <a:ext cx="7366441" cy="4368451"/>
            <a:chOff x="908216" y="1946866"/>
            <a:chExt cx="7366441" cy="4368451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D42E7AE-42F3-7D43-AD7B-CF09C319E2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1878" y="2346152"/>
              <a:ext cx="7166369" cy="3969165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C060F2B-A411-8246-A426-4E87E60B3FC6}"/>
                </a:ext>
              </a:extLst>
            </p:cNvPr>
            <p:cNvSpPr txBox="1"/>
            <p:nvPr/>
          </p:nvSpPr>
          <p:spPr>
            <a:xfrm>
              <a:off x="908216" y="1949407"/>
              <a:ext cx="33744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i="1" dirty="0"/>
                <a:t>Fully recrystallized after quench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A6B1839-6D02-334D-8442-DE6551B543D5}"/>
                </a:ext>
              </a:extLst>
            </p:cNvPr>
            <p:cNvSpPr txBox="1"/>
            <p:nvPr/>
          </p:nvSpPr>
          <p:spPr>
            <a:xfrm>
              <a:off x="4900228" y="1946866"/>
              <a:ext cx="33744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i="1" dirty="0"/>
                <a:t>Stress-relieved microstructure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018906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F1032-92E3-8D4C-B568-E3664150F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Zirconium Creep and Growth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68D41-F74A-B643-8A24-25C2872B91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60495"/>
            <a:ext cx="5449455" cy="396567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The cladding undergoes a very large amount of irradiation during its life, the main effects are: </a:t>
            </a:r>
          </a:p>
          <a:p>
            <a:pPr lvl="1"/>
            <a:r>
              <a:rPr lang="en-US" dirty="0"/>
              <a:t>Interstitial loops form on prismatic planes</a:t>
            </a:r>
          </a:p>
          <a:p>
            <a:pPr lvl="1"/>
            <a:r>
              <a:rPr lang="en-US" dirty="0"/>
              <a:t>Later in the reactor exposure, vacancy loops form on the basal plane</a:t>
            </a:r>
          </a:p>
          <a:p>
            <a:r>
              <a:rPr lang="en-US" dirty="0"/>
              <a:t>The overall number of displacements to the cladding can be calculated with the NRT model to be ~ 8 x 10</a:t>
            </a:r>
            <a:r>
              <a:rPr lang="en-US" baseline="30000" dirty="0"/>
              <a:t>-8</a:t>
            </a:r>
            <a:r>
              <a:rPr lang="en-US" dirty="0"/>
              <a:t> </a:t>
            </a:r>
            <a:r>
              <a:rPr lang="en-US" dirty="0" err="1"/>
              <a:t>dpa</a:t>
            </a:r>
            <a:r>
              <a:rPr lang="en-US" dirty="0"/>
              <a:t>/s, which, over 3 years exposure gives a total of ~8 </a:t>
            </a:r>
            <a:r>
              <a:rPr lang="en-US" dirty="0" err="1"/>
              <a:t>dpa</a:t>
            </a:r>
            <a:r>
              <a:rPr lang="en-US" dirty="0"/>
              <a:t> (every atom in the solid is displaced on the average eight times)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2B577D-B750-DF4D-89BD-5E992BB2F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8749424C-6CBE-4548-82E5-435802B100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412279" y="2160495"/>
            <a:ext cx="5557956" cy="36135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0AEC2B4-820B-2D4C-B575-12CAA90412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5967" y="5708162"/>
            <a:ext cx="2609700" cy="909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067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1F262-14E8-234B-8CD5-724C17EDF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Irradiation Growth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8E89C-2128-FF47-AA80-CC65F5DDEA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60495"/>
            <a:ext cx="5523345" cy="396567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Irradiation growth results from material anisotropy</a:t>
            </a:r>
          </a:p>
          <a:p>
            <a:r>
              <a:rPr lang="en-US" dirty="0"/>
              <a:t>There is corresponding anisotropy in the defect behavior within the unit cell</a:t>
            </a:r>
          </a:p>
          <a:p>
            <a:r>
              <a:rPr lang="en-US" dirty="0"/>
              <a:t>There is also a texture formed in the grain orientations</a:t>
            </a:r>
          </a:p>
          <a:p>
            <a:r>
              <a:rPr lang="en-US" dirty="0"/>
              <a:t>Interstitial loops form on pyramidal planes, causing shrinkage along the center axis</a:t>
            </a:r>
          </a:p>
          <a:p>
            <a:r>
              <a:rPr lang="en-US" dirty="0"/>
              <a:t>Later, vacancy loops form on basal planes, making it even worse</a:t>
            </a:r>
          </a:p>
          <a:p>
            <a:r>
              <a:rPr lang="en-US" dirty="0"/>
              <a:t>The result is a change in shape, shrinking in the 0001 direction and expanding in the pyramidal direction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DA5109-44E4-5841-A5AC-BDF65CD07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868DCDE-02B9-DA44-B86D-88CE397D47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0837" y="1673282"/>
            <a:ext cx="3103418" cy="277090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F279BBC-401D-5441-A496-55424AB6AE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7903904" y="3430904"/>
            <a:ext cx="2277285" cy="4303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1969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C7B6D-FB25-8545-BC99-BA389E60B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Irradiation Growth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69D6B-FA7D-2C4C-A6CA-7F7C85737E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60495"/>
            <a:ext cx="5006109" cy="396567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Three stages of irradiation growth</a:t>
            </a:r>
          </a:p>
          <a:p>
            <a:pPr lvl="1"/>
            <a:r>
              <a:rPr lang="en-US" dirty="0"/>
              <a:t>Initial rapid growth to small strains – defect generation</a:t>
            </a:r>
          </a:p>
          <a:p>
            <a:pPr lvl="1"/>
            <a:r>
              <a:rPr lang="en-US" dirty="0"/>
              <a:t>Slow growth – defect accumulation, gets skipped in cold worked material</a:t>
            </a:r>
          </a:p>
          <a:p>
            <a:pPr lvl="1"/>
            <a:r>
              <a:rPr lang="en-US" dirty="0"/>
              <a:t>Accelerated or breakaway growth, caused by formation of vacancy loops on the basal plane</a:t>
            </a:r>
          </a:p>
          <a:p>
            <a:r>
              <a:rPr lang="en-US" dirty="0"/>
              <a:t>Irradiation growth is affected by: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Arial" charset="0"/>
                <a:cs typeface="Arial" charset="0"/>
              </a:rPr>
              <a:t>Fluence, Cold work, Texture, Irradiation temperature, Material chemistry, Hydrogen effects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9F9172-9A74-3744-A31B-D63AFBFA0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BB6410-CF6C-1F4F-B7CB-8339968199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7943" y="2270464"/>
            <a:ext cx="5574457" cy="3745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4106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757EC-B094-144C-A6D3-582E33D34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Irradiation Growth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C957F-9A49-9F46-9269-6D4FA2D968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60495"/>
            <a:ext cx="4304145" cy="396567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Higher temperature leads to earlier breakaway and higher growth</a:t>
            </a:r>
          </a:p>
          <a:p>
            <a:r>
              <a:rPr lang="en-US" dirty="0">
                <a:latin typeface="Arial" charset="0"/>
                <a:cs typeface="Arial" charset="0"/>
              </a:rPr>
              <a:t>Higher temperature adds mobility to defects, allowing them to diffuse faster, form clusters, and exacerbate the defect cluster induced anisotropic growth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14E6D2-4682-8049-B47C-D5421F5EC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F1DFF302-98CC-1447-97BA-C100AFD9E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5562" y="2086604"/>
            <a:ext cx="5906838" cy="4378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pic>
    </p:spTree>
    <p:extLst>
      <p:ext uri="{BB962C8B-B14F-4D97-AF65-F5344CB8AC3E}">
        <p14:creationId xmlns:p14="http://schemas.microsoft.com/office/powerpoint/2010/main" val="13527230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190B8-D9FF-6D47-BCAE-C63C8C41B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Zircaloy Creep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E09CED-0D25-1941-9AD8-1AAFF7D07C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Empirical models have been developed for thermal and irradiation creep of Zircaloy</a:t>
            </a:r>
          </a:p>
          <a:p>
            <a:r>
              <a:rPr lang="en-US" dirty="0"/>
              <a:t>Both based on the Von Mises stress</a:t>
            </a:r>
          </a:p>
          <a:p>
            <a:endParaRPr lang="en-US" dirty="0"/>
          </a:p>
          <a:p>
            <a:r>
              <a:rPr lang="en-US" dirty="0"/>
              <a:t>Thermal Creep</a:t>
            </a:r>
          </a:p>
          <a:p>
            <a:pPr lvl="1"/>
            <a:r>
              <a:rPr lang="en-US" sz="1800" dirty="0"/>
              <a:t>With A</a:t>
            </a:r>
            <a:r>
              <a:rPr lang="en-US" sz="1800" baseline="-25000" dirty="0"/>
              <a:t>0</a:t>
            </a:r>
            <a:r>
              <a:rPr lang="en-US" sz="1800" dirty="0"/>
              <a:t> = </a:t>
            </a:r>
            <a:r>
              <a:rPr lang="fi-FI" sz="1800" dirty="0"/>
              <a:t>3.14 × 10</a:t>
            </a:r>
            <a:r>
              <a:rPr lang="fi-FI" sz="1800" baseline="30000" dirty="0"/>
              <a:t>24</a:t>
            </a:r>
            <a:r>
              <a:rPr lang="fi-FI" sz="1800" dirty="0"/>
              <a:t> (1/s); </a:t>
            </a:r>
            <a:r>
              <a:rPr lang="fi-FI" sz="1800" dirty="0" err="1"/>
              <a:t>shear</a:t>
            </a:r>
            <a:r>
              <a:rPr lang="fi-FI" sz="1800" dirty="0"/>
              <a:t> </a:t>
            </a:r>
            <a:r>
              <a:rPr lang="fi-FI" sz="1800" dirty="0" err="1"/>
              <a:t>modulus</a:t>
            </a:r>
            <a:r>
              <a:rPr lang="fi-FI" sz="1800" dirty="0"/>
              <a:t> G = 4.2519 × 10</a:t>
            </a:r>
            <a:r>
              <a:rPr lang="fi-FI" sz="1800" baseline="30000" dirty="0"/>
              <a:t>10 </a:t>
            </a:r>
            <a:r>
              <a:rPr lang="fi-FI" sz="1800" dirty="0"/>
              <a:t>− 2.2185 × 10</a:t>
            </a:r>
            <a:r>
              <a:rPr lang="fi-FI" sz="1800" baseline="30000" dirty="0"/>
              <a:t>7</a:t>
            </a:r>
            <a:r>
              <a:rPr lang="fi-FI" sz="1800" i="1" dirty="0"/>
              <a:t>T </a:t>
            </a:r>
            <a:r>
              <a:rPr lang="fi-FI" sz="1800" dirty="0" err="1"/>
              <a:t>Pa</a:t>
            </a:r>
            <a:r>
              <a:rPr lang="fi-FI" sz="1800" dirty="0"/>
              <a:t>; n = 5; Q = </a:t>
            </a:r>
            <a:r>
              <a:rPr lang="hr-HR" sz="1800" dirty="0"/>
              <a:t>2.7 </a:t>
            </a:r>
            <a:r>
              <a:rPr lang="fi-FI" sz="1800" dirty="0"/>
              <a:t>× 10</a:t>
            </a:r>
            <a:r>
              <a:rPr lang="fi-FI" sz="1800" baseline="30000" dirty="0"/>
              <a:t>5</a:t>
            </a:r>
            <a:r>
              <a:rPr lang="fi-FI" sz="1800" dirty="0"/>
              <a:t> J/mol</a:t>
            </a:r>
          </a:p>
          <a:p>
            <a:r>
              <a:rPr lang="fi-FI" sz="2000" dirty="0" err="1"/>
              <a:t>Irradiation</a:t>
            </a:r>
            <a:r>
              <a:rPr lang="fi-FI" sz="2000" dirty="0"/>
              <a:t> </a:t>
            </a:r>
            <a:r>
              <a:rPr lang="fi-FI" sz="2000" dirty="0" err="1"/>
              <a:t>Creep</a:t>
            </a:r>
            <a:endParaRPr lang="fi-FI" sz="2000" dirty="0"/>
          </a:p>
          <a:p>
            <a:pPr lvl="1"/>
            <a:r>
              <a:rPr lang="en-US" sz="1800" dirty="0">
                <a:latin typeface="Symbol" pitchFamily="2" charset="2"/>
              </a:rPr>
              <a:t>j</a:t>
            </a:r>
            <a:r>
              <a:rPr lang="en-US" sz="1800" dirty="0"/>
              <a:t> is the fast neutron flux n/(cm</a:t>
            </a:r>
            <a:r>
              <a:rPr lang="en-US" sz="1800" baseline="30000" dirty="0"/>
              <a:t>2 </a:t>
            </a:r>
            <a:r>
              <a:rPr lang="en-US" sz="1800" dirty="0"/>
              <a:t>s) = 3E11xLHR n/(cm</a:t>
            </a:r>
            <a:r>
              <a:rPr lang="en-US" sz="1800" baseline="30000" dirty="0"/>
              <a:t>2</a:t>
            </a:r>
            <a:r>
              <a:rPr lang="en-US" sz="1800" dirty="0"/>
              <a:t>-s)</a:t>
            </a:r>
          </a:p>
          <a:p>
            <a:pPr lvl="1"/>
            <a:r>
              <a:rPr lang="en-US" sz="1800" dirty="0"/>
              <a:t>Note that SRA stands for stress relief annealed</a:t>
            </a:r>
          </a:p>
          <a:p>
            <a:pPr lvl="1"/>
            <a:r>
              <a:rPr lang="en-US" sz="1800" dirty="0"/>
              <a:t>RXA for recrystallization annealed</a:t>
            </a:r>
          </a:p>
          <a:p>
            <a:pPr lvl="1"/>
            <a:r>
              <a:rPr lang="en-US" sz="1800" dirty="0"/>
              <a:t>PRXA stands for partially recrystallization annealed</a:t>
            </a:r>
            <a:endParaRPr lang="fi-FI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8B4C65-5205-DB47-941B-A34C277E3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pic>
        <p:nvPicPr>
          <p:cNvPr id="5" name="Picture 4" descr="latex-image-1.pdf">
            <a:extLst>
              <a:ext uri="{FF2B5EF4-FFF2-40B4-BE49-F238E27FC236}">
                <a16:creationId xmlns:a16="http://schemas.microsoft.com/office/drawing/2014/main" id="{603ECAC3-6702-B84F-A250-96932A0A4B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4509" y="4272805"/>
            <a:ext cx="2057400" cy="342900"/>
          </a:xfrm>
          <a:prstGeom prst="rect">
            <a:avLst/>
          </a:prstGeom>
        </p:spPr>
      </p:pic>
      <p:pic>
        <p:nvPicPr>
          <p:cNvPr id="6" name="Picture 5" descr="latex-image-1.pdf">
            <a:extLst>
              <a:ext uri="{FF2B5EF4-FFF2-40B4-BE49-F238E27FC236}">
                <a16:creationId xmlns:a16="http://schemas.microsoft.com/office/drawing/2014/main" id="{421BCE97-B071-8946-A760-68910F11C3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1942" y="3029045"/>
            <a:ext cx="7493000" cy="419100"/>
          </a:xfrm>
          <a:prstGeom prst="rect">
            <a:avLst/>
          </a:prstGeom>
        </p:spPr>
      </p:pic>
      <p:pic>
        <p:nvPicPr>
          <p:cNvPr id="7" name="Picture 6" descr="latex-image-1.pdf">
            <a:extLst>
              <a:ext uri="{FF2B5EF4-FFF2-40B4-BE49-F238E27FC236}">
                <a16:creationId xmlns:a16="http://schemas.microsoft.com/office/drawing/2014/main" id="{598D827D-1262-6C43-A911-D08AB44254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0430" y="4317255"/>
            <a:ext cx="1714500" cy="254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C0A5B51-2A5E-7D49-AAE5-C4753B97A7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6569" y="5010816"/>
            <a:ext cx="2923805" cy="1110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1590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9B2F4-9AF0-5441-88F2-42504C5DC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Zircaloy Creep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761D5-3235-AD4C-93EE-EBFD80AD51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2160495"/>
            <a:ext cx="7555345" cy="4268014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Consider an SRA cladding tube at T = 600 K and LHR = 250 W/cm, with a stress </a:t>
            </a:r>
            <a:r>
              <a:rPr lang="en-US" dirty="0" err="1"/>
              <a:t>σ</a:t>
            </a:r>
            <a:r>
              <a:rPr lang="en-US" baseline="-25000" dirty="0" err="1"/>
              <a:t>m</a:t>
            </a:r>
            <a:r>
              <a:rPr lang="en-US" dirty="0"/>
              <a:t> = 200 </a:t>
            </a:r>
            <a:r>
              <a:rPr lang="en-US" dirty="0" err="1"/>
              <a:t>MPa</a:t>
            </a:r>
            <a:r>
              <a:rPr lang="en-US" dirty="0"/>
              <a:t>. What is the total creep strain after three years?  </a:t>
            </a:r>
          </a:p>
          <a:p>
            <a:r>
              <a:rPr lang="en-US" dirty="0"/>
              <a:t>First, we will calculate the thermal creep</a:t>
            </a:r>
          </a:p>
          <a:p>
            <a:pPr lvl="1"/>
            <a:r>
              <a:rPr lang="en-US" dirty="0"/>
              <a:t>A</a:t>
            </a:r>
            <a:r>
              <a:rPr lang="en-US" baseline="-25000" dirty="0"/>
              <a:t>0</a:t>
            </a:r>
            <a:r>
              <a:rPr lang="en-US" dirty="0"/>
              <a:t> = 3.14 × 10</a:t>
            </a:r>
            <a:r>
              <a:rPr lang="en-US" baseline="30000" dirty="0"/>
              <a:t>24</a:t>
            </a:r>
            <a:r>
              <a:rPr lang="en-US" dirty="0"/>
              <a:t> (1/s) </a:t>
            </a:r>
          </a:p>
          <a:p>
            <a:pPr lvl="1"/>
            <a:r>
              <a:rPr lang="en-US" dirty="0"/>
              <a:t>G = 4.2519 × 10</a:t>
            </a:r>
            <a:r>
              <a:rPr lang="en-US" baseline="30000" dirty="0"/>
              <a:t>10 </a:t>
            </a:r>
            <a:r>
              <a:rPr lang="en-US" dirty="0"/>
              <a:t>− 2.2185 × 10</a:t>
            </a:r>
            <a:r>
              <a:rPr lang="en-US" baseline="30000" dirty="0"/>
              <a:t>7</a:t>
            </a:r>
            <a:r>
              <a:rPr lang="en-US" i="1" dirty="0"/>
              <a:t>T </a:t>
            </a:r>
            <a:r>
              <a:rPr lang="en-US" dirty="0"/>
              <a:t>Pa = 4.2519e10</a:t>
            </a:r>
            <a:r>
              <a:rPr lang="en-US" baseline="30000" dirty="0"/>
              <a:t> </a:t>
            </a:r>
            <a:r>
              <a:rPr lang="en-US" dirty="0"/>
              <a:t>− 2.2185e7</a:t>
            </a:r>
            <a:r>
              <a:rPr lang="en-US" i="1" dirty="0"/>
              <a:t>*</a:t>
            </a:r>
            <a:r>
              <a:rPr lang="en-US" dirty="0"/>
              <a:t>600 = 2.92e10 Pa</a:t>
            </a:r>
          </a:p>
          <a:p>
            <a:pPr lvl="1"/>
            <a:r>
              <a:rPr lang="en-US" dirty="0"/>
              <a:t>Q = 2.7 × 10</a:t>
            </a:r>
            <a:r>
              <a:rPr lang="en-US" baseline="30000" dirty="0"/>
              <a:t>5</a:t>
            </a:r>
            <a:r>
              <a:rPr lang="en-US" dirty="0"/>
              <a:t> J/</a:t>
            </a:r>
            <a:r>
              <a:rPr lang="en-US" dirty="0" err="1"/>
              <a:t>mol</a:t>
            </a:r>
            <a:r>
              <a:rPr lang="en-US" dirty="0"/>
              <a:t>, n = 5, R = 8.3144598 J/(K </a:t>
            </a:r>
            <a:r>
              <a:rPr lang="en-US" dirty="0" err="1"/>
              <a:t>mol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3.14e24*(200/2.92e4)^5*</a:t>
            </a:r>
            <a:r>
              <a:rPr lang="en-US" dirty="0" err="1"/>
              <a:t>exp</a:t>
            </a:r>
            <a:r>
              <a:rPr lang="en-US" dirty="0"/>
              <a:t>(-2.7e5/(8.3144598*600)) = 1.48e-10 1/s</a:t>
            </a:r>
          </a:p>
          <a:p>
            <a:r>
              <a:rPr lang="en-US" dirty="0"/>
              <a:t>Now we will calculate the irradiation creep</a:t>
            </a:r>
          </a:p>
          <a:p>
            <a:pPr lvl="1"/>
            <a:r>
              <a:rPr lang="en-US" dirty="0"/>
              <a:t>C</a:t>
            </a:r>
            <a:r>
              <a:rPr lang="en-US" baseline="-25000" dirty="0"/>
              <a:t>0</a:t>
            </a:r>
            <a:r>
              <a:rPr lang="en-US" dirty="0"/>
              <a:t> = 3.557e-24, C</a:t>
            </a:r>
            <a:r>
              <a:rPr lang="en-US" baseline="-25000" dirty="0"/>
              <a:t>1</a:t>
            </a:r>
            <a:r>
              <a:rPr lang="en-US" dirty="0"/>
              <a:t> = 0.85, C</a:t>
            </a:r>
            <a:r>
              <a:rPr lang="en-US" baseline="-25000" dirty="0"/>
              <a:t>2</a:t>
            </a:r>
            <a:r>
              <a:rPr lang="en-US" dirty="0"/>
              <a:t> = 1.0</a:t>
            </a:r>
          </a:p>
          <a:p>
            <a:pPr lvl="1"/>
            <a:r>
              <a:rPr lang="en-US" dirty="0" err="1"/>
              <a:t>Φ</a:t>
            </a:r>
            <a:r>
              <a:rPr lang="en-US" dirty="0"/>
              <a:t> ≈ 3e11 LHR = 3e11*250 = 7.5e13 n/(cm</a:t>
            </a:r>
            <a:r>
              <a:rPr lang="en-US" baseline="30000" dirty="0"/>
              <a:t>2</a:t>
            </a:r>
            <a:r>
              <a:rPr lang="en-US" dirty="0"/>
              <a:t> s)</a:t>
            </a:r>
          </a:p>
          <a:p>
            <a:pPr lvl="1"/>
            <a:r>
              <a:rPr lang="en-US" dirty="0"/>
              <a:t>3.557e-24*(7.5e13)^0.85*200^1 = </a:t>
            </a:r>
            <a:r>
              <a:rPr lang="hr-HR" dirty="0"/>
              <a:t>4.43e-10 1/s</a:t>
            </a:r>
          </a:p>
          <a:p>
            <a:r>
              <a:rPr lang="hr-HR" dirty="0" err="1"/>
              <a:t>The</a:t>
            </a:r>
            <a:r>
              <a:rPr lang="hr-HR" dirty="0"/>
              <a:t> total </a:t>
            </a:r>
            <a:r>
              <a:rPr lang="hr-HR" dirty="0" err="1"/>
              <a:t>creep</a:t>
            </a:r>
            <a:r>
              <a:rPr lang="hr-HR" dirty="0"/>
              <a:t> </a:t>
            </a:r>
            <a:r>
              <a:rPr lang="hr-HR" dirty="0" err="1"/>
              <a:t>strain</a:t>
            </a:r>
            <a:r>
              <a:rPr lang="hr-HR" dirty="0"/>
              <a:t> rate </a:t>
            </a:r>
            <a:r>
              <a:rPr lang="hr-HR" dirty="0" err="1"/>
              <a:t>is</a:t>
            </a:r>
            <a:r>
              <a:rPr lang="hr-HR" dirty="0"/>
              <a:t> 1.48e-10 + 4.43e-10 = 5.91e-10 1/s</a:t>
            </a:r>
          </a:p>
          <a:p>
            <a:r>
              <a:rPr lang="hr-HR" dirty="0" err="1"/>
              <a:t>The</a:t>
            </a:r>
            <a:r>
              <a:rPr lang="hr-HR" dirty="0"/>
              <a:t> total </a:t>
            </a:r>
            <a:r>
              <a:rPr lang="hr-HR" dirty="0" err="1"/>
              <a:t>creep</a:t>
            </a:r>
            <a:r>
              <a:rPr lang="hr-HR" dirty="0"/>
              <a:t> </a:t>
            </a:r>
            <a:r>
              <a:rPr lang="hr-HR" dirty="0" err="1"/>
              <a:t>strain</a:t>
            </a:r>
            <a:r>
              <a:rPr lang="hr-HR" dirty="0"/>
              <a:t> </a:t>
            </a:r>
            <a:r>
              <a:rPr lang="hr-HR" dirty="0" err="1"/>
              <a:t>after</a:t>
            </a:r>
            <a:r>
              <a:rPr lang="hr-HR" dirty="0"/>
              <a:t> </a:t>
            </a:r>
            <a:r>
              <a:rPr lang="hr-HR" dirty="0" err="1"/>
              <a:t>three</a:t>
            </a:r>
            <a:r>
              <a:rPr lang="hr-HR" dirty="0"/>
              <a:t> </a:t>
            </a:r>
            <a:r>
              <a:rPr lang="hr-HR" dirty="0" err="1"/>
              <a:t>years</a:t>
            </a:r>
            <a:r>
              <a:rPr lang="hr-HR" dirty="0"/>
              <a:t> </a:t>
            </a:r>
            <a:r>
              <a:rPr lang="hr-HR" dirty="0" err="1"/>
              <a:t>is</a:t>
            </a:r>
            <a:r>
              <a:rPr lang="hr-HR" dirty="0"/>
              <a:t> (</a:t>
            </a:r>
            <a:r>
              <a:rPr lang="hr-HR" dirty="0" err="1"/>
              <a:t>assuming</a:t>
            </a:r>
            <a:r>
              <a:rPr lang="hr-HR" dirty="0"/>
              <a:t> </a:t>
            </a:r>
            <a:r>
              <a:rPr lang="hr-HR" dirty="0" err="1"/>
              <a:t>constant</a:t>
            </a:r>
            <a:r>
              <a:rPr lang="hr-HR" dirty="0"/>
              <a:t> </a:t>
            </a:r>
            <a:r>
              <a:rPr lang="hr-HR" dirty="0" err="1"/>
              <a:t>conditions</a:t>
            </a:r>
            <a:r>
              <a:rPr lang="hr-HR" dirty="0"/>
              <a:t>) </a:t>
            </a:r>
            <a:br>
              <a:rPr lang="hr-HR" dirty="0"/>
            </a:br>
            <a:r>
              <a:rPr lang="hr-HR" dirty="0"/>
              <a:t>5.91e-10*(3600*24*365*3) = 0.056 = 5.6% </a:t>
            </a:r>
            <a:r>
              <a:rPr lang="hr-HR" dirty="0" err="1"/>
              <a:t>strain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BA5ECB-8885-954A-B9DF-E7893F2BB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pic>
        <p:nvPicPr>
          <p:cNvPr id="5" name="Picture 4" descr="latex-image-1.pdf">
            <a:extLst>
              <a:ext uri="{FF2B5EF4-FFF2-40B4-BE49-F238E27FC236}">
                <a16:creationId xmlns:a16="http://schemas.microsoft.com/office/drawing/2014/main" id="{F1D60BBD-657E-1A4A-898D-6342968C94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0181" y="2582444"/>
            <a:ext cx="2057400" cy="342900"/>
          </a:xfrm>
          <a:prstGeom prst="rect">
            <a:avLst/>
          </a:prstGeom>
        </p:spPr>
      </p:pic>
      <p:pic>
        <p:nvPicPr>
          <p:cNvPr id="6" name="Picture 5" descr="latex-image-1.pdf">
            <a:extLst>
              <a:ext uri="{FF2B5EF4-FFF2-40B4-BE49-F238E27FC236}">
                <a16:creationId xmlns:a16="http://schemas.microsoft.com/office/drawing/2014/main" id="{66E698B8-CF6E-EF4D-AD9A-93C8FFBA91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0931" y="4294502"/>
            <a:ext cx="1714500" cy="25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659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EE0B0-3CA1-2C44-89FC-D2BA0F318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9C9E6-0B5D-A440-90D5-1DF6E62B69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982077"/>
            <a:ext cx="5811078" cy="4144088"/>
          </a:xfrm>
        </p:spPr>
        <p:txBody>
          <a:bodyPr/>
          <a:lstStyle/>
          <a:p>
            <a:r>
              <a:rPr lang="en-US" sz="2200" dirty="0"/>
              <a:t>Creep impacts fuel performance by shrinking the gap and then conforming to the pellets</a:t>
            </a:r>
          </a:p>
          <a:p>
            <a:r>
              <a:rPr lang="en-US" sz="2200" dirty="0">
                <a:latin typeface="Arial" charset="0"/>
                <a:cs typeface="Arial" charset="0"/>
              </a:rPr>
              <a:t>a) before “fuel-cladding” interaction: </a:t>
            </a:r>
            <a:r>
              <a:rPr lang="en-US" sz="2200" dirty="0"/>
              <a:t>The stress due to coolant pressure exceeds the internal stress from the gap; The diameter decreases due to thermal creep and irradiation creep, where the thermal creep decreases rapidly as irradiation damage builds up; The length increases due to anisotropic creep and irradiation growth</a:t>
            </a:r>
            <a:endParaRPr lang="en-US" sz="2200" dirty="0">
              <a:latin typeface="Arial" charset="0"/>
              <a:cs typeface="Arial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135D22-4513-C54D-849A-6ECE9C03D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F5740A78-92A6-3A4D-BC69-F3FBE99A4D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495562" y="1819798"/>
            <a:ext cx="5296471" cy="414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0653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EE0B0-3CA1-2C44-89FC-D2BA0F318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9C9E6-0B5D-A440-90D5-1DF6E62B69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819798"/>
            <a:ext cx="5885962" cy="4306367"/>
          </a:xfrm>
        </p:spPr>
        <p:txBody>
          <a:bodyPr/>
          <a:lstStyle/>
          <a:p>
            <a:r>
              <a:rPr lang="en-US" sz="1900" dirty="0">
                <a:latin typeface="Arial" charset="0"/>
                <a:cs typeface="Arial" charset="0"/>
              </a:rPr>
              <a:t>b) start of “fuel-cladding” interaction: </a:t>
            </a:r>
            <a:r>
              <a:rPr lang="en-US" sz="1900" dirty="0"/>
              <a:t>At the contact points the diameter increases, causing some contraction in rod length, and the expanding fuel imparts a local axial tensile stress on the rod, causing an increase in length; Irradiation growth causes an increase in rod length; The net change in length is the sum of the various inputs, but the net is an increase in rod length</a:t>
            </a:r>
            <a:endParaRPr lang="en-US" sz="1900" dirty="0">
              <a:latin typeface="Arial" charset="0"/>
              <a:cs typeface="Arial" charset="0"/>
            </a:endParaRPr>
          </a:p>
          <a:p>
            <a:r>
              <a:rPr lang="en-US" sz="1900" dirty="0">
                <a:latin typeface="Arial" charset="0"/>
                <a:cs typeface="Arial" charset="0"/>
              </a:rPr>
              <a:t>c) “fuel-cladding interaction” over most of fuel column: </a:t>
            </a:r>
            <a:r>
              <a:rPr lang="en-US" sz="1900" dirty="0"/>
              <a:t>The fuel pellets stress the cladding outward, increasing the diameter of the rod; Anisotropic creep decreases the rod length; Axial pellet-cladding stresses and irradiation growth increase the rod length; The net change in rod length can become negative</a:t>
            </a:r>
            <a:endParaRPr lang="en-US" sz="1900" dirty="0">
              <a:latin typeface="Arial" charset="0"/>
              <a:cs typeface="Arial" charset="0"/>
            </a:endParaRPr>
          </a:p>
          <a:p>
            <a:endParaRPr lang="en-US" sz="1900" dirty="0"/>
          </a:p>
          <a:p>
            <a:endParaRPr lang="en-US" sz="19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135D22-4513-C54D-849A-6ECE9C03D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F5740A78-92A6-3A4D-BC69-F3FBE99A4D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495562" y="1819798"/>
            <a:ext cx="5296471" cy="414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485414"/>
      </p:ext>
    </p:extLst>
  </p:cSld>
  <p:clrMapOvr>
    <a:masterClrMapping/>
  </p:clrMapOvr>
</p:sld>
</file>

<file path=ppt/theme/theme1.xml><?xml version="1.0" encoding="utf-8"?>
<a:theme xmlns:a="http://schemas.openxmlformats.org/drawingml/2006/main" name="1_NCStateU-horizontal-left-log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10315</TotalTime>
  <Words>2136</Words>
  <Application>Microsoft Macintosh PowerPoint</Application>
  <PresentationFormat>Widescreen</PresentationFormat>
  <Paragraphs>302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Symbol</vt:lpstr>
      <vt:lpstr>Times New Roman</vt:lpstr>
      <vt:lpstr>1_NCStateU-horizontal-left-logo</vt:lpstr>
      <vt:lpstr>Nuclear Fuel Performance</vt:lpstr>
      <vt:lpstr>Housekeeping</vt:lpstr>
      <vt:lpstr>Paper Project</vt:lpstr>
      <vt:lpstr>Last Time</vt:lpstr>
      <vt:lpstr>Fuel Swelling/Dimensional Change Cont…</vt:lpstr>
      <vt:lpstr>Creep</vt:lpstr>
      <vt:lpstr>Creep</vt:lpstr>
      <vt:lpstr>Different creep mechanisms are active for different combinations of stress and temperature </vt:lpstr>
      <vt:lpstr>The behavior of creep changes in irradiated materials</vt:lpstr>
      <vt:lpstr>Irradiation and Creep</vt:lpstr>
      <vt:lpstr>Fuel Creep</vt:lpstr>
      <vt:lpstr>Fracture</vt:lpstr>
      <vt:lpstr>Fracture</vt:lpstr>
      <vt:lpstr>Summary</vt:lpstr>
      <vt:lpstr>Zirconium Cladding</vt:lpstr>
      <vt:lpstr>Cladding</vt:lpstr>
      <vt:lpstr>Why Zirconium alloys?</vt:lpstr>
      <vt:lpstr>Zirconium</vt:lpstr>
      <vt:lpstr>Commercial Zr Alloys in PWRs</vt:lpstr>
      <vt:lpstr>Alloying Elements</vt:lpstr>
      <vt:lpstr>Zirconium Phases</vt:lpstr>
      <vt:lpstr>Zr Tube Fabrication</vt:lpstr>
      <vt:lpstr>Zr alloy microstructures</vt:lpstr>
      <vt:lpstr>Zirconium Creep and Growth</vt:lpstr>
      <vt:lpstr>Irradiation Growth</vt:lpstr>
      <vt:lpstr>Irradiation Growth</vt:lpstr>
      <vt:lpstr>Irradiation Growth</vt:lpstr>
      <vt:lpstr>Zircaloy Creep</vt:lpstr>
      <vt:lpstr>Zircaloy Creep Example</vt:lpstr>
      <vt:lpstr>Creep</vt:lpstr>
      <vt:lpstr>Creep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Fission Products</dc:title>
  <dc:creator>Benjamin Beeler</dc:creator>
  <cp:lastModifiedBy>Benjamin Beeler</cp:lastModifiedBy>
  <cp:revision>128</cp:revision>
  <dcterms:created xsi:type="dcterms:W3CDTF">2020-02-19T20:03:05Z</dcterms:created>
  <dcterms:modified xsi:type="dcterms:W3CDTF">2026-03-31T12:52:24Z</dcterms:modified>
</cp:coreProperties>
</file>
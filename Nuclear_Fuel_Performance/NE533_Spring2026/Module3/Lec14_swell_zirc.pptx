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537" r:id="rId2"/>
    <p:sldId id="547" r:id="rId3"/>
    <p:sldId id="546" r:id="rId4"/>
    <p:sldId id="352" r:id="rId5"/>
    <p:sldId id="545" r:id="rId6"/>
    <p:sldId id="316" r:id="rId7"/>
    <p:sldId id="317" r:id="rId8"/>
    <p:sldId id="315" r:id="rId9"/>
    <p:sldId id="318" r:id="rId10"/>
    <p:sldId id="319" r:id="rId11"/>
    <p:sldId id="320" r:id="rId12"/>
    <p:sldId id="321" r:id="rId13"/>
    <p:sldId id="322" r:id="rId14"/>
    <p:sldId id="323" r:id="rId15"/>
    <p:sldId id="407" r:id="rId16"/>
    <p:sldId id="354" r:id="rId17"/>
    <p:sldId id="355" r:id="rId18"/>
    <p:sldId id="356" r:id="rId19"/>
    <p:sldId id="357" r:id="rId20"/>
    <p:sldId id="329" r:id="rId21"/>
    <p:sldId id="330" r:id="rId22"/>
    <p:sldId id="331" r:id="rId23"/>
    <p:sldId id="332" r:id="rId24"/>
    <p:sldId id="333" r:id="rId25"/>
    <p:sldId id="338" r:id="rId26"/>
    <p:sldId id="339" r:id="rId27"/>
    <p:sldId id="343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00"/>
    <p:restoredTop sz="94672"/>
  </p:normalViewPr>
  <p:slideViewPr>
    <p:cSldViewPr snapToGrid="0" snapToObjects="1">
      <p:cViewPr varScale="1">
        <p:scale>
          <a:sx n="128" d="100"/>
          <a:sy n="128" d="100"/>
        </p:scale>
        <p:origin x="3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3A803-A045-354B-887A-01433CE46FC2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52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8787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56266"/>
            <a:ext cx="10972800" cy="44698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BD04BF-9DC2-6341-92B2-BD109A2EF3B1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2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0FFBC7-3028-644D-986B-D9855CB74B38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595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54427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706137"/>
            <a:ext cx="5384800" cy="44200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0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543" y="554426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E49314-4A78-2444-9569-44EB70168344}" type="datetime1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862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65577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C22837-4683-B242-B000-BCEE30621787}" type="datetime1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359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DAE926-7EF1-0B40-B57E-417D188A609C}" type="datetime1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840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D107B-B9C7-5B41-A168-55258AB95F52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768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D92D36-EE82-3142-B011-9831FB5E702F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480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B33C1D-C2E2-1049-AA3F-CD6E91052752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648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91AD68-B60C-4542-BDDD-2074DE6DE828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2946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1"/>
            <a:ext cx="5384800" cy="41576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1"/>
            <a:ext cx="5384800" cy="41576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673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54427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706137"/>
            <a:ext cx="5384800" cy="44200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319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4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1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3EE08B4B-7256-494F-A90D-3891BD685F4A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61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4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0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1AB4-6496-0D46-9C3B-B71641B90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Nuclear Fuel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102A4-1D26-9E41-904A-5C94FEB21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NE-533</a:t>
            </a:r>
          </a:p>
          <a:p>
            <a:r>
              <a:rPr lang="en-US" dirty="0"/>
              <a:t>Spring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6DA87-5AA8-004F-861E-B1E0BAA3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44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67043-3089-AB5A-EF7A-4A5D2A061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BCF00-AD3B-0BBB-DB69-0D531E7D7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Grading of exam 2 and MOOSE project is still ongoing…</a:t>
            </a:r>
          </a:p>
          <a:p>
            <a:r>
              <a:rPr lang="en-US" dirty="0"/>
              <a:t>Lecture 13 was uploaded last night/this morning</a:t>
            </a:r>
          </a:p>
          <a:p>
            <a:r>
              <a:rPr lang="en-US" dirty="0"/>
              <a:t>Today is Lecture 14</a:t>
            </a:r>
          </a:p>
          <a:p>
            <a:r>
              <a:rPr lang="en-US" dirty="0"/>
              <a:t>Lecture 15 will be an online makeup</a:t>
            </a:r>
          </a:p>
          <a:p>
            <a:r>
              <a:rPr lang="en-US" dirty="0"/>
              <a:t>Then lecture 16 then problem session + Exam 3</a:t>
            </a:r>
          </a:p>
          <a:p>
            <a:r>
              <a:rPr lang="en-US" dirty="0"/>
              <a:t>Exam 3 should be March 31</a:t>
            </a:r>
          </a:p>
          <a:p>
            <a:endParaRPr lang="en-US" dirty="0"/>
          </a:p>
          <a:p>
            <a:r>
              <a:rPr lang="en-US" dirty="0"/>
              <a:t>Have a good spring break next week!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3576D-B6BF-E8C3-8583-9813F03F2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73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1DE1F-D0F7-65F7-AF4F-70373B1AE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Paper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3850B-F20E-345E-E9B0-69BC344F3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78496"/>
            <a:ext cx="10972800" cy="4247669"/>
          </a:xfrm>
        </p:spPr>
        <p:txBody>
          <a:bodyPr/>
          <a:lstStyle/>
          <a:p>
            <a:r>
              <a:rPr lang="en-US" dirty="0"/>
              <a:t>Will upload papers with names attached today</a:t>
            </a:r>
          </a:p>
          <a:p>
            <a:r>
              <a:rPr lang="en-US" dirty="0"/>
              <a:t>Will deliver a 15-minute presentation providing a critical review of the paper</a:t>
            </a:r>
          </a:p>
          <a:p>
            <a:r>
              <a:rPr lang="en-US" dirty="0"/>
              <a:t>This is basically a mini QE Part 1, without the report</a:t>
            </a:r>
          </a:p>
          <a:p>
            <a:r>
              <a:rPr lang="en-US" dirty="0"/>
              <a:t>If you have a topic that you want the paper to address, reach out to me ASAP</a:t>
            </a:r>
          </a:p>
          <a:p>
            <a:r>
              <a:rPr lang="en-US" dirty="0"/>
              <a:t>Upload slides to </a:t>
            </a:r>
            <a:r>
              <a:rPr lang="en-US" dirty="0" err="1"/>
              <a:t>moodle</a:t>
            </a:r>
            <a:r>
              <a:rPr lang="en-US" dirty="0"/>
              <a:t> by April 3, will have an assignment generated</a:t>
            </a:r>
          </a:p>
          <a:p>
            <a:r>
              <a:rPr lang="en-US" dirty="0"/>
              <a:t>Class presentations will be conducted in-person on April 7 and 9</a:t>
            </a:r>
          </a:p>
          <a:p>
            <a:pPr lvl="1"/>
            <a:r>
              <a:rPr lang="en-US" dirty="0"/>
              <a:t>we get through as many as we can, and the remaining students will be tasked with uploading a recording</a:t>
            </a:r>
          </a:p>
          <a:p>
            <a:pPr lvl="1"/>
            <a:r>
              <a:rPr lang="en-US" dirty="0"/>
              <a:t>distance students will upload a recording</a:t>
            </a:r>
          </a:p>
          <a:p>
            <a:r>
              <a:rPr lang="en-US" dirty="0"/>
              <a:t>Not assigned for NE433 students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EFB60-BBDC-FA36-35B6-8ECD6229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97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1C0B6-3F8C-FF4D-A150-7B07ACA63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78354-690C-9A4E-845C-374B1E17BC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Fission gas release</a:t>
            </a:r>
          </a:p>
          <a:p>
            <a:pPr lvl="1"/>
            <a:r>
              <a:rPr lang="en-US" dirty="0"/>
              <a:t>experiments fall into post-irradiation annealing, or in-pile</a:t>
            </a:r>
          </a:p>
          <a:p>
            <a:r>
              <a:rPr lang="en-US" dirty="0"/>
              <a:t>Showed Booth model equations for post-irradiation annealing and in-pile release</a:t>
            </a:r>
          </a:p>
          <a:p>
            <a:r>
              <a:rPr lang="en-US" dirty="0"/>
              <a:t>Forsberg-</a:t>
            </a:r>
            <a:r>
              <a:rPr lang="en-US" dirty="0" err="1"/>
              <a:t>Massih</a:t>
            </a:r>
            <a:r>
              <a:rPr lang="en-US" dirty="0"/>
              <a:t> 2-stage FGR model</a:t>
            </a:r>
          </a:p>
          <a:p>
            <a:r>
              <a:rPr lang="en-US" dirty="0"/>
              <a:t>Three components of diffusion</a:t>
            </a:r>
          </a:p>
          <a:p>
            <a:pPr lvl="1"/>
            <a:r>
              <a:rPr lang="en-US" dirty="0"/>
              <a:t>intrinsic, RED, RDD</a:t>
            </a:r>
          </a:p>
          <a:p>
            <a:r>
              <a:rPr lang="en-US" dirty="0"/>
              <a:t>Swelling/dimensional change</a:t>
            </a:r>
          </a:p>
          <a:p>
            <a:pPr lvl="1"/>
            <a:r>
              <a:rPr lang="en-US" dirty="0"/>
              <a:t>densification, thermal expansion, solid/gas fission product swelling, creep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FCECC-1AE9-C442-A2D5-B7DDF2CA2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43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29CC1-34E4-A34F-8621-801D8886C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1234721"/>
            <a:ext cx="10363200" cy="1362075"/>
          </a:xfrm>
        </p:spPr>
        <p:txBody>
          <a:bodyPr/>
          <a:lstStyle/>
          <a:p>
            <a:r>
              <a:rPr lang="en-US" dirty="0"/>
              <a:t>Fuel Swelling/Dimensional Change</a:t>
            </a:r>
            <a:br>
              <a:rPr lang="en-US" dirty="0"/>
            </a:br>
            <a:r>
              <a:rPr lang="en-US" dirty="0" err="1"/>
              <a:t>Cont</a:t>
            </a:r>
            <a:r>
              <a:rPr lang="en-US" dirty="0"/>
              <a:t>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F06B0-02C9-F34D-82A4-D2D5BBAF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51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AB666-09BE-1642-99D1-FE580FDB3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38157-7E47-5B46-AAD3-7C13CE226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10972800" cy="428660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Creep is a general mechanism for plastic deformation that occurs over time when </a:t>
            </a:r>
            <a:r>
              <a:rPr lang="en-US" dirty="0" err="1"/>
              <a:t>σ</a:t>
            </a:r>
            <a:r>
              <a:rPr lang="en-US" dirty="0"/>
              <a:t> &lt; </a:t>
            </a:r>
            <a:r>
              <a:rPr lang="en-US" dirty="0" err="1"/>
              <a:t>σ</a:t>
            </a:r>
            <a:r>
              <a:rPr lang="en-US" baseline="-25000" dirty="0" err="1"/>
              <a:t>y</a:t>
            </a:r>
            <a:r>
              <a:rPr lang="en-US" dirty="0"/>
              <a:t> </a:t>
            </a:r>
          </a:p>
          <a:p>
            <a:r>
              <a:rPr lang="en-US" dirty="0"/>
              <a:t>Consider a heated metal beam so it expands some distance dx</a:t>
            </a:r>
          </a:p>
          <a:p>
            <a:endParaRPr lang="en-US" dirty="0"/>
          </a:p>
          <a:p>
            <a:r>
              <a:rPr lang="en-US" dirty="0"/>
              <a:t>We then fix it between two walls and let it cool down</a:t>
            </a:r>
          </a:p>
          <a:p>
            <a:r>
              <a:rPr lang="en-US" dirty="0"/>
              <a:t>Because </a:t>
            </a:r>
            <a:r>
              <a:rPr lang="en-US" dirty="0" err="1"/>
              <a:t>σ</a:t>
            </a:r>
            <a:r>
              <a:rPr lang="en-US" dirty="0"/>
              <a:t> &lt; </a:t>
            </a:r>
            <a:r>
              <a:rPr lang="en-US" dirty="0" err="1"/>
              <a:t>σ</a:t>
            </a:r>
            <a:r>
              <a:rPr lang="en-US" baseline="-25000" dirty="0" err="1"/>
              <a:t>y</a:t>
            </a:r>
            <a:r>
              <a:rPr lang="en-US" dirty="0"/>
              <a:t>, that stress remains constant</a:t>
            </a:r>
          </a:p>
          <a:p>
            <a:r>
              <a:rPr lang="en-US" dirty="0"/>
              <a:t>In creep, defect diffusion is induced by the stress to cause permanent deformation and reduce the stress</a:t>
            </a:r>
          </a:p>
          <a:p>
            <a:r>
              <a:rPr lang="en-US" dirty="0"/>
              <a:t>Therefore, creep </a:t>
            </a:r>
          </a:p>
          <a:p>
            <a:pPr lvl="1"/>
            <a:r>
              <a:rPr lang="en-US" dirty="0"/>
              <a:t>Occurs over time</a:t>
            </a:r>
          </a:p>
          <a:p>
            <a:pPr lvl="1"/>
            <a:r>
              <a:rPr lang="en-US" dirty="0"/>
              <a:t>Increases with increasing number of diffusing defects</a:t>
            </a:r>
          </a:p>
          <a:p>
            <a:pPr lvl="2"/>
            <a:r>
              <a:rPr lang="en-US" dirty="0"/>
              <a:t>High temperature (</a:t>
            </a:r>
            <a:r>
              <a:rPr lang="en-US" b="1" dirty="0"/>
              <a:t>thermal creep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Irradiation (</a:t>
            </a:r>
            <a:r>
              <a:rPr lang="en-US" b="1" dirty="0"/>
              <a:t>irradiation enhanced thermal creep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1ADDA-8421-DE4F-AE8F-50A7CFCD8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A308D1D-8C2A-4A4F-83DB-701A120FF097}"/>
              </a:ext>
            </a:extLst>
          </p:cNvPr>
          <p:cNvGrpSpPr/>
          <p:nvPr/>
        </p:nvGrpSpPr>
        <p:grpSpPr>
          <a:xfrm>
            <a:off x="9241644" y="2423114"/>
            <a:ext cx="1931350" cy="905238"/>
            <a:chOff x="3043586" y="2017830"/>
            <a:chExt cx="1931350" cy="90523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454FB2A-DC8A-8641-9679-895A97175313}"/>
                </a:ext>
              </a:extLst>
            </p:cNvPr>
            <p:cNvCxnSpPr/>
            <p:nvPr/>
          </p:nvCxnSpPr>
          <p:spPr>
            <a:xfrm>
              <a:off x="3043586" y="2782511"/>
              <a:ext cx="1931350" cy="0"/>
            </a:xfrm>
            <a:prstGeom prst="straightConnector1">
              <a:avLst/>
            </a:prstGeom>
            <a:ln>
              <a:headEnd type="arrow"/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723A25-453A-2447-8264-662ADDFF41A3}"/>
                </a:ext>
              </a:extLst>
            </p:cNvPr>
            <p:cNvSpPr txBox="1"/>
            <p:nvPr/>
          </p:nvSpPr>
          <p:spPr>
            <a:xfrm>
              <a:off x="3664052" y="2615291"/>
              <a:ext cx="566950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x+dx</a:t>
              </a:r>
              <a:endParaRPr lang="en-US" sz="14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555FF34-7C27-F04F-96AC-6D404CC24E2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43587" y="2299009"/>
              <a:ext cx="1931349" cy="292608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5B35F0-2C99-184D-858A-0B64CFF8E3FF}"/>
                </a:ext>
              </a:extLst>
            </p:cNvPr>
            <p:cNvSpPr/>
            <p:nvPr/>
          </p:nvSpPr>
          <p:spPr>
            <a:xfrm>
              <a:off x="3043586" y="2299009"/>
              <a:ext cx="1735988" cy="2630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C2B9F48-ED3B-684A-AD82-016240664557}"/>
                </a:ext>
              </a:extLst>
            </p:cNvPr>
            <p:cNvCxnSpPr/>
            <p:nvPr/>
          </p:nvCxnSpPr>
          <p:spPr>
            <a:xfrm>
              <a:off x="3043586" y="2216809"/>
              <a:ext cx="1735988" cy="0"/>
            </a:xfrm>
            <a:prstGeom prst="straightConnector1">
              <a:avLst/>
            </a:prstGeom>
            <a:ln>
              <a:headEnd type="arrow"/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DFBB361-49C0-3949-B2CD-91207DB54BEC}"/>
                </a:ext>
              </a:extLst>
            </p:cNvPr>
            <p:cNvSpPr txBox="1"/>
            <p:nvPr/>
          </p:nvSpPr>
          <p:spPr>
            <a:xfrm>
              <a:off x="3757551" y="2017830"/>
              <a:ext cx="255513" cy="2743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x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A61BA47-4723-214E-89E4-3E497CEA188E}"/>
              </a:ext>
            </a:extLst>
          </p:cNvPr>
          <p:cNvGrpSpPr/>
          <p:nvPr/>
        </p:nvGrpSpPr>
        <p:grpSpPr>
          <a:xfrm>
            <a:off x="9008749" y="3352026"/>
            <a:ext cx="2404745" cy="683827"/>
            <a:chOff x="3043586" y="3148612"/>
            <a:chExt cx="2702087" cy="74394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D1717C2-1833-034B-8CE7-C4F340FE34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28955" y="3405762"/>
              <a:ext cx="1931349" cy="292608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DEA5595-5FD1-7746-9376-32C13645AC50}"/>
                </a:ext>
              </a:extLst>
            </p:cNvPr>
            <p:cNvSpPr/>
            <p:nvPr/>
          </p:nvSpPr>
          <p:spPr>
            <a:xfrm>
              <a:off x="3043586" y="3208729"/>
              <a:ext cx="385369" cy="683827"/>
            </a:xfrm>
            <a:prstGeom prst="rect">
              <a:avLst/>
            </a:prstGeom>
            <a:pattFill prst="wdUpDiag">
              <a:fgClr>
                <a:prstClr val="black"/>
              </a:fgClr>
              <a:bgClr>
                <a:prstClr val="white"/>
              </a:bgClr>
            </a:patt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2CB361B-4AA2-9840-BDD5-C04B6EE40723}"/>
                </a:ext>
              </a:extLst>
            </p:cNvPr>
            <p:cNvSpPr/>
            <p:nvPr/>
          </p:nvSpPr>
          <p:spPr>
            <a:xfrm>
              <a:off x="5360304" y="3208729"/>
              <a:ext cx="385369" cy="683827"/>
            </a:xfrm>
            <a:prstGeom prst="rect">
              <a:avLst/>
            </a:prstGeom>
            <a:pattFill prst="wdUpDiag">
              <a:fgClr>
                <a:prstClr val="black"/>
              </a:fgClr>
              <a:bgClr>
                <a:prstClr val="white"/>
              </a:bgClr>
            </a:patt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458F1D-A3A5-9F4C-AB42-ED7076446E37}"/>
                </a:ext>
              </a:extLst>
            </p:cNvPr>
            <p:cNvSpPr txBox="1"/>
            <p:nvPr/>
          </p:nvSpPr>
          <p:spPr>
            <a:xfrm>
              <a:off x="3757551" y="3148612"/>
              <a:ext cx="12173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/>
                <a:t>σ</a:t>
              </a:r>
              <a:r>
                <a:rPr lang="en-US" sz="1400" dirty="0"/>
                <a:t> = E </a:t>
              </a:r>
              <a:r>
                <a:rPr lang="en-US" sz="1400" dirty="0" err="1"/>
                <a:t>ε</a:t>
              </a:r>
              <a:endParaRPr lang="en-US" sz="1400" dirty="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87AA744-95E6-D54F-8F4A-DDCE69DD122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50888" y="4605515"/>
            <a:ext cx="2464953" cy="1572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968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64188-C0AC-A844-8ECD-24C6E2E4B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700AF-8770-9842-BF6F-1EAFFABC5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General creep equation:</a:t>
            </a:r>
          </a:p>
          <a:p>
            <a:endParaRPr lang="en-US" dirty="0"/>
          </a:p>
          <a:p>
            <a:r>
              <a:rPr lang="en-US" dirty="0"/>
              <a:t>Creep can be caused by various microstructural mechanisms</a:t>
            </a:r>
          </a:p>
          <a:p>
            <a:r>
              <a:rPr lang="en-US" dirty="0"/>
              <a:t>Bulk Diffusion (Nabarro-Herring creep) </a:t>
            </a:r>
          </a:p>
          <a:p>
            <a:pPr lvl="1"/>
            <a:r>
              <a:rPr lang="en-US" dirty="0"/>
              <a:t>Atoms diffuse (high T), causing grains to elongate along the stress axis</a:t>
            </a:r>
          </a:p>
          <a:p>
            <a:pPr lvl="1"/>
            <a:r>
              <a:rPr lang="en-US" dirty="0"/>
              <a:t>Q = Q(self diffusion), m = 1, and b = 2</a:t>
            </a:r>
          </a:p>
          <a:p>
            <a:r>
              <a:rPr lang="en-US" dirty="0"/>
              <a:t>Grain boundary diffusion (Coble creep)</a:t>
            </a:r>
          </a:p>
          <a:p>
            <a:pPr lvl="1"/>
            <a:r>
              <a:rPr lang="en-US" dirty="0"/>
              <a:t>Atoms diffuse along grain boundaries to elongate the grains along the stress axis</a:t>
            </a:r>
          </a:p>
          <a:p>
            <a:pPr lvl="1"/>
            <a:r>
              <a:rPr lang="en-US" dirty="0"/>
              <a:t>Q = Q(grain boundary diffusion), m = 1, and b = 3</a:t>
            </a:r>
          </a:p>
          <a:p>
            <a:r>
              <a:rPr lang="en-US" dirty="0"/>
              <a:t>Dislocation creep (power law creep)</a:t>
            </a:r>
          </a:p>
          <a:p>
            <a:pPr lvl="1"/>
            <a:r>
              <a:rPr lang="en-US" dirty="0"/>
              <a:t>Dislocations glide under a high stress</a:t>
            </a:r>
          </a:p>
          <a:p>
            <a:pPr lvl="1"/>
            <a:r>
              <a:rPr lang="en-US" dirty="0"/>
              <a:t>Dislocations climb due to defects to avoid obstacles</a:t>
            </a:r>
          </a:p>
          <a:p>
            <a:pPr lvl="1"/>
            <a:r>
              <a:rPr lang="en-US" dirty="0"/>
              <a:t>Q = Q(self diffusion), m = 4–6, and b = 0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8376A-B1A2-2B4E-A9A1-34A7A8AF1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 descr="latex-image-1.pdf">
            <a:extLst>
              <a:ext uri="{FF2B5EF4-FFF2-40B4-BE49-F238E27FC236}">
                <a16:creationId xmlns:a16="http://schemas.microsoft.com/office/drawing/2014/main" id="{1F0FEDF2-34E9-8D4F-A316-0E660A9100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4700" y="1570935"/>
            <a:ext cx="1511300" cy="62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105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5E6C8-FDE7-5C41-9690-BF5F4B64A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creep mechanisms are active for different combinations of stress and temperature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6EF34-39F6-3549-B062-279E3AAAD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87C296-2EAD-804C-B84F-8BF782FA4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071" y="2016367"/>
            <a:ext cx="6245787" cy="4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67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9A2AC-11B5-7A4B-A329-EF7EA25F8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behavior of creep changes in irradiated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D6C3F-DCA2-2D4B-BBFD-6027DA106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67F7A-3EAF-1749-B196-B107777F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501" y="1968501"/>
            <a:ext cx="6916998" cy="4764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771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80368-313E-A140-A995-88427F5F0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and Creep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DB27B-D6EE-4749-B354-BD56EC0BE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28800"/>
            <a:ext cx="10972800" cy="429736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Irradiation accelerates creep, causing it to be significant at lower temperatures</a:t>
            </a:r>
          </a:p>
          <a:p>
            <a:r>
              <a:rPr lang="en-US" dirty="0"/>
              <a:t>Irradiation typically has little effect on diffusional creep (but can increase defect concentrations)</a:t>
            </a:r>
          </a:p>
          <a:p>
            <a:r>
              <a:rPr lang="en-US" dirty="0"/>
              <a:t>Primary impact is accelerating dislocation creep in structural/cladding materials </a:t>
            </a:r>
          </a:p>
          <a:p>
            <a:r>
              <a:rPr lang="en-US" dirty="0"/>
              <a:t>The dislocation creep rate can be written as</a:t>
            </a:r>
          </a:p>
          <a:p>
            <a:pPr lvl="1"/>
            <a:r>
              <a:rPr lang="en-US" i="1" dirty="0" err="1">
                <a:latin typeface="Times New Roman"/>
                <a:cs typeface="Times New Roman"/>
              </a:rPr>
              <a:t>ρ</a:t>
            </a:r>
            <a:r>
              <a:rPr lang="en-US" i="1" baseline="-25000" dirty="0" err="1">
                <a:latin typeface="Times New Roman"/>
                <a:cs typeface="Times New Roman"/>
              </a:rPr>
              <a:t>d</a:t>
            </a:r>
            <a:r>
              <a:rPr lang="en-US" i="1" baseline="30000" dirty="0" err="1">
                <a:latin typeface="Times New Roman"/>
                <a:cs typeface="Times New Roman"/>
              </a:rPr>
              <a:t>m</a:t>
            </a:r>
            <a:r>
              <a:rPr lang="en-US" dirty="0"/>
              <a:t> is the density of mobile dislocations</a:t>
            </a:r>
          </a:p>
          <a:p>
            <a:pPr lvl="1"/>
            <a:r>
              <a:rPr lang="en-US" dirty="0"/>
              <a:t>b is the burgers vector</a:t>
            </a:r>
          </a:p>
          <a:p>
            <a:pPr lvl="1"/>
            <a:r>
              <a:rPr lang="en-US" dirty="0" err="1"/>
              <a:t>v</a:t>
            </a:r>
            <a:r>
              <a:rPr lang="en-US" baseline="-25000" dirty="0" err="1"/>
              <a:t>d</a:t>
            </a:r>
            <a:r>
              <a:rPr lang="en-US" dirty="0"/>
              <a:t> is the dislocation velocity</a:t>
            </a:r>
          </a:p>
          <a:p>
            <a:r>
              <a:rPr lang="en-US" dirty="0"/>
              <a:t>Gliding dislocations quickly get pinned by obstacles</a:t>
            </a:r>
          </a:p>
          <a:p>
            <a:r>
              <a:rPr lang="en-US" dirty="0"/>
              <a:t>As the dislocations absorb defects created by irradiation, they climb to different slip planes to avoid the obstacles</a:t>
            </a:r>
          </a:p>
          <a:p>
            <a:r>
              <a:rPr lang="en-US" dirty="0"/>
              <a:t>More interstitials are absorbed than vacancies due to the higher sink strength for interstitials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A781D-9EEF-5E49-83E9-80F12ABE4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79FD86-AAD6-7D41-AB38-521B855BB05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3825" y="3136769"/>
            <a:ext cx="1014539" cy="29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034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78E19-1A07-DA4C-A477-9D5CEAF7A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Creep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4138B-8E6D-1A4E-882D-3C99C7829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513408" cy="3965670"/>
          </a:xfrm>
        </p:spPr>
        <p:txBody>
          <a:bodyPr/>
          <a:lstStyle/>
          <a:p>
            <a:r>
              <a:rPr lang="en-US" sz="2000" dirty="0"/>
              <a:t>Like other materials, the fuel also undergoes creep</a:t>
            </a:r>
          </a:p>
          <a:p>
            <a:r>
              <a:rPr lang="en-US" sz="2000" dirty="0"/>
              <a:t>The fuel creep (In UO2) is a combination of diffusion creep and irradiation creep</a:t>
            </a:r>
          </a:p>
          <a:p>
            <a:r>
              <a:rPr lang="en-US" sz="2000" dirty="0"/>
              <a:t>Right shows the combined creep rate</a:t>
            </a:r>
          </a:p>
          <a:p>
            <a:r>
              <a:rPr lang="en-US" sz="2000" dirty="0"/>
              <a:t>It is expected that fuel creep plays a major role in dimensional change in metallic fuels, largely via N-H and Coble creep, but still unproven experimentally and no good creep models exist for metallic fuels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3DC62-EE45-7C4D-BD47-47095C4F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id="{4777FB4E-CCEC-E949-9AD0-C119AE7F2E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29586" y="2198687"/>
            <a:ext cx="4311018" cy="3640238"/>
          </a:xfrm>
          <a:prstGeom prst="rect">
            <a:avLst/>
          </a:prstGeom>
          <a:noFill/>
          <a:ln w="6350">
            <a:solidFill>
              <a:srgbClr val="D4AD6F"/>
            </a:solidFill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4236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A652-F860-1244-86FA-323BB427F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BBD7F-5EA8-7D46-96CC-500824675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59226"/>
            <a:ext cx="6008561" cy="45971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UO</a:t>
            </a:r>
            <a:r>
              <a:rPr lang="en-US" baseline="-25000" dirty="0"/>
              <a:t>2</a:t>
            </a:r>
            <a:r>
              <a:rPr lang="en-US" dirty="0"/>
              <a:t> pellets fracture during changes in temperature due to large thermal stresses</a:t>
            </a:r>
          </a:p>
          <a:p>
            <a:r>
              <a:rPr lang="en-US" dirty="0"/>
              <a:t>Fracture results in:</a:t>
            </a:r>
          </a:p>
          <a:p>
            <a:pPr lvl="1"/>
            <a:r>
              <a:rPr lang="en-US" dirty="0"/>
              <a:t>Gap reduction</a:t>
            </a:r>
          </a:p>
          <a:p>
            <a:pPr lvl="1"/>
            <a:r>
              <a:rPr lang="en-US" dirty="0"/>
              <a:t>Reduced thermal conductivity</a:t>
            </a:r>
          </a:p>
          <a:p>
            <a:pPr lvl="1"/>
            <a:r>
              <a:rPr lang="en-US" dirty="0"/>
              <a:t>Increased avenues for fission gas release</a:t>
            </a:r>
          </a:p>
          <a:p>
            <a:r>
              <a:rPr lang="en-US" dirty="0"/>
              <a:t>Fracture has been typically modeled in two ways:</a:t>
            </a:r>
          </a:p>
          <a:p>
            <a:pPr lvl="1"/>
            <a:r>
              <a:rPr lang="en-US" dirty="0"/>
              <a:t>Empirical relocation model that is a function of burnup</a:t>
            </a:r>
          </a:p>
          <a:p>
            <a:pPr lvl="1"/>
            <a:r>
              <a:rPr lang="en-US" dirty="0"/>
              <a:t>Semi-empirical smeared cracking model</a:t>
            </a:r>
          </a:p>
          <a:p>
            <a:r>
              <a:rPr lang="en-US" dirty="0"/>
              <a:t>Modern methods provide means of modeling discrete cracks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9529E-189A-414E-B3BF-E1F5C7C65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5" name="Picture 4" descr="1-s2.0-S0013794406004759-gr4.jpg">
            <a:extLst>
              <a:ext uri="{FF2B5EF4-FFF2-40B4-BE49-F238E27FC236}">
                <a16:creationId xmlns:a16="http://schemas.microsoft.com/office/drawing/2014/main" id="{CA71EAE4-BE87-2A47-9EE6-8BEC44296F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450" y="982901"/>
            <a:ext cx="4045276" cy="23551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1E9FED-2BF7-5C45-AA57-0D9612A78BE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5402" y="3534241"/>
            <a:ext cx="2534908" cy="1926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7B48CA-83FC-0D4D-A4A6-4618E8E96F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47551" y="3530083"/>
            <a:ext cx="2563061" cy="19304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E94D6F3-AC11-9344-AB6D-8127685C3CD6}"/>
              </a:ext>
            </a:extLst>
          </p:cNvPr>
          <p:cNvSpPr/>
          <p:nvPr/>
        </p:nvSpPr>
        <p:spPr>
          <a:xfrm>
            <a:off x="7448970" y="5524220"/>
            <a:ext cx="428075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2250" indent="-222250">
              <a:buClr>
                <a:schemeClr val="tx2"/>
              </a:buClr>
              <a:buFont typeface="Arial"/>
              <a:buChar char="•"/>
            </a:pPr>
            <a:r>
              <a:rPr lang="en-US" dirty="0"/>
              <a:t>Radial cracks partially penetrate the pellet during temperature increase</a:t>
            </a:r>
          </a:p>
          <a:p>
            <a:pPr marL="222250" indent="-222250">
              <a:buClr>
                <a:schemeClr val="tx2"/>
              </a:buClr>
              <a:buFont typeface="Arial"/>
              <a:buChar char="•"/>
            </a:pPr>
            <a:r>
              <a:rPr lang="en-US" dirty="0"/>
              <a:t>Full cracking occurs when the temperature decreases</a:t>
            </a:r>
          </a:p>
        </p:txBody>
      </p:sp>
    </p:spTree>
    <p:extLst>
      <p:ext uri="{BB962C8B-B14F-4D97-AF65-F5344CB8AC3E}">
        <p14:creationId xmlns:p14="http://schemas.microsoft.com/office/powerpoint/2010/main" val="2850285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33761-84F2-1140-8F52-A5E952D4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01DE5-4A63-6A49-B94B-1ECE56206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300486" cy="419585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fracture behavior of the fuel is fairly complicated</a:t>
            </a:r>
          </a:p>
          <a:p>
            <a:pPr>
              <a:spcBef>
                <a:spcPts val="800"/>
              </a:spcBef>
            </a:pPr>
            <a:r>
              <a:rPr lang="en-US" dirty="0"/>
              <a:t>Fracture strength varies with grain size (G)</a:t>
            </a:r>
          </a:p>
          <a:p>
            <a:pPr lvl="1">
              <a:spcBef>
                <a:spcPts val="800"/>
              </a:spcBef>
            </a:pPr>
            <a:r>
              <a:rPr lang="en-US" sz="1800" dirty="0">
                <a:sym typeface="Symbol"/>
              </a:rPr>
              <a:t></a:t>
            </a:r>
            <a:r>
              <a:rPr lang="en-US" sz="1800" baseline="-25000" dirty="0" err="1">
                <a:sym typeface="Symbol"/>
              </a:rPr>
              <a:t>frac</a:t>
            </a:r>
            <a:r>
              <a:rPr lang="en-US" sz="1800" dirty="0">
                <a:sym typeface="Symbol"/>
              </a:rPr>
              <a:t> = </a:t>
            </a:r>
            <a:r>
              <a:rPr lang="en-US" sz="1800" dirty="0" err="1">
                <a:sym typeface="Symbol"/>
              </a:rPr>
              <a:t>G</a:t>
            </a:r>
            <a:r>
              <a:rPr lang="en-US" sz="1800" baseline="30000" dirty="0" err="1">
                <a:sym typeface="Symbol"/>
              </a:rPr>
              <a:t>-m</a:t>
            </a:r>
            <a:r>
              <a:rPr lang="en-US" sz="1800" dirty="0" err="1">
                <a:sym typeface="Symbol"/>
              </a:rPr>
              <a:t></a:t>
            </a:r>
            <a:r>
              <a:rPr lang="en-US" sz="1800" baseline="-25000" dirty="0" err="1">
                <a:sym typeface="Symbol"/>
              </a:rPr>
              <a:t>frac</a:t>
            </a:r>
            <a:r>
              <a:rPr lang="en-US" sz="1800" baseline="-25000" dirty="0">
                <a:sym typeface="Symbol"/>
              </a:rPr>
              <a:t>, ref</a:t>
            </a:r>
            <a:r>
              <a:rPr lang="en-US" sz="1800" dirty="0">
                <a:sym typeface="Symbol"/>
              </a:rPr>
              <a:t>, m = 0.04 – 0.05 (vs. m ~ 0.5 for metal)</a:t>
            </a:r>
          </a:p>
          <a:p>
            <a:pPr lvl="1">
              <a:spcBef>
                <a:spcPts val="800"/>
              </a:spcBef>
            </a:pPr>
            <a:r>
              <a:rPr lang="en-US" sz="1800" dirty="0">
                <a:sym typeface="Symbol"/>
              </a:rPr>
              <a:t>Increasing grain size from 10 m to 100 m reduces </a:t>
            </a:r>
            <a:r>
              <a:rPr lang="en-US" sz="1800" baseline="-25000" dirty="0" err="1">
                <a:sym typeface="Symbol"/>
              </a:rPr>
              <a:t>frac</a:t>
            </a:r>
            <a:r>
              <a:rPr lang="en-US" sz="1800" dirty="0">
                <a:sym typeface="Symbol"/>
              </a:rPr>
              <a:t> by ~10%</a:t>
            </a:r>
          </a:p>
          <a:p>
            <a:pPr>
              <a:spcBef>
                <a:spcPts val="800"/>
              </a:spcBef>
            </a:pPr>
            <a:r>
              <a:rPr lang="en-US" dirty="0"/>
              <a:t>Ductility transition temperature is lower in-reactor than in thermal tests</a:t>
            </a:r>
          </a:p>
          <a:p>
            <a:pPr>
              <a:spcBef>
                <a:spcPts val="800"/>
              </a:spcBef>
            </a:pPr>
            <a:r>
              <a:rPr lang="en-US" dirty="0"/>
              <a:t>Fracture strength is ~10× higher in compression than in tension</a:t>
            </a:r>
          </a:p>
          <a:p>
            <a:pPr>
              <a:spcBef>
                <a:spcPts val="800"/>
              </a:spcBef>
            </a:pPr>
            <a:r>
              <a:rPr lang="en-US" dirty="0"/>
              <a:t>Load-deformation behavior strongly affected by creep under in-reactor conditions</a:t>
            </a:r>
            <a:endParaRPr lang="en-US" sz="1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1CFEB-4EEB-2644-9FDB-620A9323A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id="{EEDA3E4D-2584-3F40-AD46-CD4EC763A3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34341" y="2160494"/>
            <a:ext cx="4664433" cy="3517609"/>
          </a:xfrm>
          <a:prstGeom prst="rect">
            <a:avLst/>
          </a:prstGeom>
          <a:noFill/>
          <a:ln w="6350">
            <a:solidFill>
              <a:srgbClr val="D4AD6F"/>
            </a:solidFill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997549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444E-F2E1-C140-819B-17F17ED13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36466-268A-B042-825C-BEBA244C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Many materials models for fuel are empirical and correlated to burnup</a:t>
            </a:r>
          </a:p>
          <a:p>
            <a:r>
              <a:rPr lang="en-US" sz="2000" dirty="0"/>
              <a:t>Fuel pellets change shape due to </a:t>
            </a:r>
          </a:p>
          <a:p>
            <a:pPr lvl="1"/>
            <a:r>
              <a:rPr lang="en-US" sz="2000" dirty="0"/>
              <a:t>Thermal expansion (increase in volume)</a:t>
            </a:r>
          </a:p>
          <a:p>
            <a:pPr lvl="1"/>
            <a:r>
              <a:rPr lang="en-US" sz="2000" dirty="0"/>
              <a:t>Densification (decrease in volume)</a:t>
            </a:r>
          </a:p>
          <a:p>
            <a:pPr lvl="1"/>
            <a:r>
              <a:rPr lang="en-US" sz="2000" dirty="0"/>
              <a:t>Swelling (increase in volume)</a:t>
            </a:r>
          </a:p>
          <a:p>
            <a:pPr lvl="1"/>
            <a:r>
              <a:rPr lang="en-US" sz="2000" dirty="0"/>
              <a:t>Creep (volume stays the same)</a:t>
            </a:r>
          </a:p>
          <a:p>
            <a:r>
              <a:rPr lang="en-US" sz="2000" dirty="0"/>
              <a:t>Fracture also decreases the gap, as fractures pieces shift outward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63BD3-A21E-B041-8B9B-3ED8023B4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729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29CC1-34E4-A34F-8621-801D8886C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1234721"/>
            <a:ext cx="10363200" cy="1362075"/>
          </a:xfrm>
        </p:spPr>
        <p:txBody>
          <a:bodyPr/>
          <a:lstStyle/>
          <a:p>
            <a:r>
              <a:rPr lang="en-US" dirty="0"/>
              <a:t>Zirconium Cladding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F06B0-02C9-F34D-82A4-D2D5BBAF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132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D4EC-5B47-D247-91C5-5D13835F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CBAC5-94D4-EB42-B798-DF580484E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463209" cy="3965670"/>
          </a:xfrm>
        </p:spPr>
        <p:txBody>
          <a:bodyPr/>
          <a:lstStyle/>
          <a:p>
            <a:r>
              <a:rPr lang="en-US" sz="2000" dirty="0"/>
              <a:t>The purpose of the cladding is to:</a:t>
            </a:r>
          </a:p>
          <a:p>
            <a:pPr lvl="1"/>
            <a:r>
              <a:rPr lang="en-US" sz="2000" dirty="0"/>
              <a:t>Hold the pellets together so that coolant can freely flow past</a:t>
            </a:r>
          </a:p>
          <a:p>
            <a:pPr lvl="1"/>
            <a:r>
              <a:rPr lang="en-US" sz="2000" dirty="0"/>
              <a:t>Transport heat from fuel to the coolant</a:t>
            </a:r>
          </a:p>
          <a:p>
            <a:pPr lvl="1"/>
            <a:r>
              <a:rPr lang="en-US" sz="2000" dirty="0"/>
              <a:t>Contain fission products</a:t>
            </a:r>
          </a:p>
          <a:p>
            <a:pPr lvl="1"/>
            <a:r>
              <a:rPr lang="en-US" sz="2000" dirty="0"/>
              <a:t>Contain fuel fragments</a:t>
            </a:r>
          </a:p>
          <a:p>
            <a:r>
              <a:rPr lang="en-US" sz="2000" dirty="0"/>
              <a:t>We would also prefer if the cladding had little to no impact on the neutron transport in the reactor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9551-E0CB-C24B-ABAD-B963DA7C3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91FB3-E611-A349-91EE-5AA0CCC59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905" y="1968501"/>
            <a:ext cx="3865491" cy="33886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BE8601-D7F6-5B48-A573-3423DC8C7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286" y="5553251"/>
            <a:ext cx="3282627" cy="97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709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546-3A93-A34F-9980-C9F200EF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Zirconium alloys?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A80BF-19C8-F548-BFF8-45E0B7867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443330" cy="39656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Benefits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Low neutron cross section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Corrosion resistance in 300˚C water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Resistance to void swelling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Adequate mechanical properties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Good thermal conductivity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Affordable cost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Available in large quantities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7863F-6A16-D047-8C96-CF2F5EABB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5D249C-C9F3-4849-B5F2-FDECA44732F2}"/>
              </a:ext>
            </a:extLst>
          </p:cNvPr>
          <p:cNvSpPr txBox="1">
            <a:spLocks/>
          </p:cNvSpPr>
          <p:nvPr/>
        </p:nvSpPr>
        <p:spPr bwMode="auto">
          <a:xfrm>
            <a:off x="6139070" y="2160495"/>
            <a:ext cx="5443330" cy="3965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0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Problems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Corrosion under high-temperature steam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Hydride embrittlement</a:t>
            </a:r>
          </a:p>
          <a:p>
            <a:pPr marL="233363" indent="-233363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</a:rPr>
              <a:t>Anisotropic characteristics lead to creep and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3088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023FE-075B-3243-B904-47C0072ED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Zirconium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C8E84-F732-9B43-BADC-2FA6EFAFD4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006009" cy="3965670"/>
          </a:xfrm>
        </p:spPr>
        <p:txBody>
          <a:bodyPr/>
          <a:lstStyle/>
          <a:p>
            <a:r>
              <a:rPr lang="en-US" dirty="0"/>
              <a:t>Pure zirconium was not acceptable due to its oxidation behavior</a:t>
            </a:r>
          </a:p>
          <a:p>
            <a:r>
              <a:rPr lang="en-US" dirty="0"/>
              <a:t>Oxygen with water reacted to form an oxide layer</a:t>
            </a:r>
          </a:p>
          <a:p>
            <a:r>
              <a:rPr lang="en-US" dirty="0"/>
              <a:t>The oxide layer is brittle and flakes off, allowing more oxidation to occur</a:t>
            </a:r>
          </a:p>
          <a:p>
            <a:r>
              <a:rPr lang="en-US" dirty="0"/>
              <a:t>Zr alloys were developed to improve corrosion resistance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2660A-F680-D541-879E-6CE3908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9EB015-7878-9B44-A367-06E7CABE10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273" y="2379155"/>
            <a:ext cx="4534654" cy="325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799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37520-13DE-F84B-86A0-B7E9114CF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Commercial </a:t>
            </a:r>
            <a:r>
              <a:rPr lang="en-US" dirty="0" err="1"/>
              <a:t>Zr</a:t>
            </a:r>
            <a:r>
              <a:rPr lang="en-US" dirty="0"/>
              <a:t> Alloys in PWRs</a:t>
            </a:r>
          </a:p>
        </p:txBody>
      </p:sp>
      <p:graphicFrame>
        <p:nvGraphicFramePr>
          <p:cNvPr id="5" name="Platshållare för innehåll 8">
            <a:extLst>
              <a:ext uri="{FF2B5EF4-FFF2-40B4-BE49-F238E27FC236}">
                <a16:creationId xmlns:a16="http://schemas.microsoft.com/office/drawing/2014/main" id="{A2530372-B2AD-FB4B-BB04-77E470AFE3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0559492"/>
              </p:ext>
            </p:extLst>
          </p:nvPr>
        </p:nvGraphicFramePr>
        <p:xfrm>
          <a:off x="2444904" y="1817568"/>
          <a:ext cx="7302190" cy="438240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036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26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3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3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3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13559"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kern="1200" dirty="0"/>
                        <a:t>Alloy</a:t>
                      </a:r>
                      <a:endParaRPr lang="sv-SE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kern="1200" dirty="0"/>
                        <a:t>Sn %</a:t>
                      </a:r>
                      <a:endParaRPr lang="sv-SE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kern="1200" dirty="0"/>
                        <a:t>Nb %</a:t>
                      </a:r>
                      <a:endParaRPr lang="sv-SE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kern="1200" dirty="0"/>
                        <a:t>Fe %</a:t>
                      </a:r>
                      <a:endParaRPr lang="sv-SE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kern="1200" dirty="0"/>
                        <a:t>Cr %</a:t>
                      </a:r>
                      <a:endParaRPr lang="sv-SE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kern="1200" dirty="0"/>
                        <a:t>Ni %</a:t>
                      </a:r>
                      <a:endParaRPr lang="sv-SE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kern="1200" dirty="0"/>
                        <a:t>O %</a:t>
                      </a:r>
                      <a:endParaRPr lang="sv-SE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561">
                <a:tc gridSpan="7"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400" kern="1200" noProof="0" dirty="0"/>
                        <a:t>PWRs (structural components and fuel rods)</a:t>
                      </a:r>
                      <a:endParaRPr lang="en-US" sz="14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 hMerge="1"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56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Zircaloy-4 (SRA)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1.2-1.7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0.18-0.24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0.07-0.13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0.1-0.14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56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ZIRLO  (SRA)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56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Optimized ZIRLO (pRXA)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0.7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56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M5 (RXA)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0.8-1.2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0.015-0.06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0.09-0.12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56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HPA-45</a:t>
                      </a:r>
                    </a:p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(SRA/RXA)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0.6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Fe+V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56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NDA (SRA)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en-GB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6561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MDA</a:t>
                      </a:r>
                      <a:r>
                        <a:rPr lang="en-GB" sz="14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(SRA)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0.8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endParaRPr lang="en-GB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sv-SE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0D0F7-2F79-F240-B0C9-BC9428ABC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18A18A-0164-6148-8182-3F96AAE47744}"/>
              </a:ext>
            </a:extLst>
          </p:cNvPr>
          <p:cNvSpPr/>
          <p:nvPr/>
        </p:nvSpPr>
        <p:spPr>
          <a:xfrm>
            <a:off x="4796117" y="6199974"/>
            <a:ext cx="25997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PRXA Partial Recrystallization Anneal </a:t>
            </a:r>
          </a:p>
          <a:p>
            <a:pPr algn="ctr"/>
            <a:r>
              <a:rPr lang="en-US" sz="1200" dirty="0"/>
              <a:t>RXA Recrystallization Anneal </a:t>
            </a:r>
          </a:p>
          <a:p>
            <a:pPr algn="ctr"/>
            <a:r>
              <a:rPr lang="en-US" sz="1200" dirty="0"/>
              <a:t>SRA Stress-Relief Anneal</a:t>
            </a:r>
          </a:p>
        </p:txBody>
      </p:sp>
    </p:spTree>
    <p:extLst>
      <p:ext uri="{BB962C8B-B14F-4D97-AF65-F5344CB8AC3E}">
        <p14:creationId xmlns:p14="http://schemas.microsoft.com/office/powerpoint/2010/main" val="24273362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47159-D0F7-7F4F-B408-C21E57D04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Alloying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843FA-9FD3-C642-B2BF-10BF154AD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739438" cy="396567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 alloying elements impact the microstructure of the material</a:t>
            </a:r>
          </a:p>
          <a:p>
            <a:r>
              <a:rPr lang="en-US" dirty="0"/>
              <a:t>The intermetallic precipitates significantly improve the oxidation behavior</a:t>
            </a:r>
          </a:p>
          <a:p>
            <a:r>
              <a:rPr lang="en-US" dirty="0"/>
              <a:t>In Zircaloy 2, the precipitates are</a:t>
            </a:r>
          </a:p>
          <a:p>
            <a:pPr lvl="1"/>
            <a:r>
              <a:rPr lang="en-US" dirty="0" err="1"/>
              <a:t>Zr</a:t>
            </a:r>
            <a:r>
              <a:rPr lang="en-US" dirty="0"/>
              <a:t>(Cr, Fe)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Zr</a:t>
            </a:r>
            <a:r>
              <a:rPr lang="en-US" baseline="-25000" dirty="0"/>
              <a:t>2</a:t>
            </a:r>
            <a:r>
              <a:rPr lang="en-US" dirty="0"/>
              <a:t>(Ni, Fe)</a:t>
            </a:r>
          </a:p>
          <a:p>
            <a:r>
              <a:rPr lang="en-US" dirty="0"/>
              <a:t>In Zircaloy 4, the precipitates are </a:t>
            </a:r>
          </a:p>
          <a:p>
            <a:pPr lvl="1"/>
            <a:r>
              <a:rPr lang="en-US" dirty="0" err="1"/>
              <a:t>Zr</a:t>
            </a:r>
            <a:r>
              <a:rPr lang="en-US" dirty="0"/>
              <a:t>(Cr, Fe)</a:t>
            </a:r>
            <a:r>
              <a:rPr lang="en-US" baseline="-25000" dirty="0"/>
              <a:t>2</a:t>
            </a:r>
            <a:endParaRPr lang="en-US" dirty="0"/>
          </a:p>
          <a:p>
            <a:r>
              <a:rPr lang="en-US" dirty="0"/>
              <a:t>Phosphides (Zr</a:t>
            </a:r>
            <a:r>
              <a:rPr lang="en-US" baseline="-25000" dirty="0"/>
              <a:t>3</a:t>
            </a:r>
            <a:r>
              <a:rPr lang="en-US" dirty="0"/>
              <a:t>P) and </a:t>
            </a:r>
            <a:r>
              <a:rPr lang="en-US" dirty="0" err="1"/>
              <a:t>silicides</a:t>
            </a:r>
            <a:r>
              <a:rPr lang="en-US" dirty="0"/>
              <a:t> (Zr</a:t>
            </a:r>
            <a:r>
              <a:rPr lang="en-US" baseline="-25000" dirty="0"/>
              <a:t>3</a:t>
            </a:r>
            <a:r>
              <a:rPr lang="en-US" dirty="0"/>
              <a:t>Si) are also occasionally found</a:t>
            </a:r>
          </a:p>
          <a:p>
            <a:r>
              <a:rPr lang="en-US" dirty="0"/>
              <a:t>The precipitate distribution, size, morphology, and composition all impact the properties of the material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4FFEA-6820-D945-BDF1-AF9641AAB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B179C0-D15A-AC4C-A9FC-A178F78AA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9110" y="2585463"/>
            <a:ext cx="4543849" cy="2599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917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6BFAF-9C91-CC42-A958-04BDDC9E2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Zirconium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1C893-9B69-DB4A-A83B-44166603E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70539"/>
            <a:ext cx="5634182" cy="2463502"/>
          </a:xfrm>
        </p:spPr>
        <p:txBody>
          <a:bodyPr/>
          <a:lstStyle/>
          <a:p>
            <a:r>
              <a:rPr lang="en-GB" sz="2000" dirty="0">
                <a:latin typeface="Arial" charset="0"/>
                <a:cs typeface="Arial" charset="0"/>
              </a:rPr>
              <a:t>The α-</a:t>
            </a:r>
            <a:r>
              <a:rPr lang="en-GB" sz="2000" dirty="0" err="1">
                <a:latin typeface="Arial" charset="0"/>
                <a:cs typeface="Arial" charset="0"/>
              </a:rPr>
              <a:t>Zr</a:t>
            </a:r>
            <a:r>
              <a:rPr lang="en-GB" sz="2000" dirty="0">
                <a:latin typeface="Arial" charset="0"/>
                <a:cs typeface="Arial" charset="0"/>
              </a:rPr>
              <a:t> phase has a hexagonal-close-packed (HCP) structure </a:t>
            </a:r>
          </a:p>
          <a:p>
            <a:pPr lvl="1"/>
            <a:r>
              <a:rPr lang="en-GB" sz="2000" dirty="0">
                <a:latin typeface="Arial" charset="0"/>
                <a:cs typeface="Arial" charset="0"/>
              </a:rPr>
              <a:t>At temperatures below about 863ºC</a:t>
            </a:r>
          </a:p>
          <a:p>
            <a:pPr lvl="1"/>
            <a:r>
              <a:rPr lang="en-GB" sz="2000" dirty="0">
                <a:latin typeface="Arial" charset="0"/>
                <a:cs typeface="Arial" charset="0"/>
              </a:rPr>
              <a:t>Has the most desirable properties</a:t>
            </a:r>
          </a:p>
          <a:p>
            <a:r>
              <a:rPr lang="en-GB" sz="2000" dirty="0">
                <a:latin typeface="Arial" charset="0"/>
                <a:cs typeface="Arial" charset="0"/>
              </a:rPr>
              <a:t>The β-</a:t>
            </a:r>
            <a:r>
              <a:rPr lang="en-GB" sz="2000" dirty="0" err="1">
                <a:latin typeface="Arial" charset="0"/>
                <a:cs typeface="Arial" charset="0"/>
              </a:rPr>
              <a:t>Zr</a:t>
            </a:r>
            <a:r>
              <a:rPr lang="en-GB" sz="2000" dirty="0">
                <a:latin typeface="Arial" charset="0"/>
                <a:cs typeface="Arial" charset="0"/>
              </a:rPr>
              <a:t> phase has a body-</a:t>
            </a:r>
            <a:r>
              <a:rPr lang="en-GB" sz="2000" dirty="0" err="1">
                <a:latin typeface="Arial" charset="0"/>
                <a:cs typeface="Arial" charset="0"/>
              </a:rPr>
              <a:t>centered</a:t>
            </a:r>
            <a:r>
              <a:rPr lang="en-GB" sz="2000" dirty="0">
                <a:latin typeface="Arial" charset="0"/>
                <a:cs typeface="Arial" charset="0"/>
              </a:rPr>
              <a:t> cubic (BCC) structure</a:t>
            </a:r>
          </a:p>
          <a:p>
            <a:pPr lvl="1"/>
            <a:r>
              <a:rPr lang="en-GB" sz="2000" dirty="0">
                <a:latin typeface="Arial" charset="0"/>
                <a:cs typeface="Arial" charset="0"/>
              </a:rPr>
              <a:t>We try to avoid this phase</a:t>
            </a:r>
            <a:endParaRPr lang="en-US" sz="2000" dirty="0">
              <a:latin typeface="Arial" charset="0"/>
              <a:cs typeface="Arial" charset="0"/>
            </a:endParaRP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CA0D1-7668-C241-AB28-94D5E4F7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A2CACA-CCEF-404C-94F7-2F2960CE1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0650" y="2170539"/>
            <a:ext cx="4643497" cy="37651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0DEC1D-E710-9349-A9AA-BC5F695C7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175" y="4760775"/>
            <a:ext cx="4110400" cy="1885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18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461BB-B0D7-BA4C-8A22-8C807301B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Zr</a:t>
            </a:r>
            <a:r>
              <a:rPr lang="en-US" dirty="0"/>
              <a:t> Tube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810C5-A1EC-D34F-AE47-1B04BB330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160495"/>
            <a:ext cx="6132945" cy="396567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The cladding tubes are fabricated using various processes that severely deform the material</a:t>
            </a:r>
          </a:p>
          <a:p>
            <a:r>
              <a:rPr lang="en-US" dirty="0"/>
              <a:t>The severe plastic deformation causes significant dislocation hardening, that can make the tube material too brittle</a:t>
            </a:r>
          </a:p>
          <a:p>
            <a:r>
              <a:rPr lang="en-US" dirty="0"/>
              <a:t>Plastic deformation along slip planes results in reorientation of the grains</a:t>
            </a:r>
          </a:p>
          <a:p>
            <a:r>
              <a:rPr lang="en-US" dirty="0"/>
              <a:t>The properties of the material are controlled by heat treatment</a:t>
            </a:r>
          </a:p>
          <a:p>
            <a:r>
              <a:rPr lang="en-US" dirty="0"/>
              <a:t>Raising the temperature, but below 863˚C, anneals the sample to reduce cold work: SRA</a:t>
            </a:r>
          </a:p>
          <a:p>
            <a:r>
              <a:rPr lang="en-US" dirty="0"/>
              <a:t>Raising the temperature above 863˚C changes to the β phase. They then quench the sample to create a random texture in the α phase: RXA or </a:t>
            </a:r>
            <a:r>
              <a:rPr lang="en-US" dirty="0" err="1"/>
              <a:t>pRXA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1D519-E2A7-8C4E-987C-5BFDD33EE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11FD9A-0168-BA4B-91BC-18F18FAAA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6756" y="1968501"/>
            <a:ext cx="4289035" cy="420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434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5D011-3A17-2142-932B-B36DF7C0F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Zr</a:t>
            </a:r>
            <a:r>
              <a:rPr lang="en-US" dirty="0"/>
              <a:t> alloy microstructures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47340-2D7E-784F-BF64-D8D17CD6A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3433BFA-34FD-DA42-89B6-108C774EAD2E}"/>
              </a:ext>
            </a:extLst>
          </p:cNvPr>
          <p:cNvGrpSpPr/>
          <p:nvPr/>
        </p:nvGrpSpPr>
        <p:grpSpPr>
          <a:xfrm>
            <a:off x="2412779" y="2170462"/>
            <a:ext cx="7366441" cy="4368451"/>
            <a:chOff x="908216" y="1946866"/>
            <a:chExt cx="7366441" cy="436845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D42E7AE-42F3-7D43-AD7B-CF09C319E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1878" y="2346152"/>
              <a:ext cx="7166369" cy="3969165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060F2B-A411-8246-A426-4E87E60B3FC6}"/>
                </a:ext>
              </a:extLst>
            </p:cNvPr>
            <p:cNvSpPr txBox="1"/>
            <p:nvPr/>
          </p:nvSpPr>
          <p:spPr>
            <a:xfrm>
              <a:off x="908216" y="1949407"/>
              <a:ext cx="33744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/>
                <a:t>Fully recrystallized after quench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A6B1839-6D02-334D-8442-DE6551B543D5}"/>
                </a:ext>
              </a:extLst>
            </p:cNvPr>
            <p:cNvSpPr txBox="1"/>
            <p:nvPr/>
          </p:nvSpPr>
          <p:spPr>
            <a:xfrm>
              <a:off x="4900228" y="1946866"/>
              <a:ext cx="33744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/>
                <a:t>Stress-relieved microstructure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18906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1032-92E3-8D4C-B568-E3664150F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Zirconium Creep and Growth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68D41-F74A-B643-8A24-25C2872B9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449455" cy="396567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The cladding undergoes a very large amount of irradiation during its life, the main effects are: </a:t>
            </a:r>
          </a:p>
          <a:p>
            <a:pPr lvl="1"/>
            <a:r>
              <a:rPr lang="en-US" dirty="0"/>
              <a:t>Interstitial loops form on prismatic planes</a:t>
            </a:r>
          </a:p>
          <a:p>
            <a:pPr lvl="1"/>
            <a:r>
              <a:rPr lang="en-US" dirty="0"/>
              <a:t>Later in the reactor exposure, vacancy loops form on the basal plane</a:t>
            </a:r>
          </a:p>
          <a:p>
            <a:r>
              <a:rPr lang="en-US" dirty="0"/>
              <a:t>The overall number of displacements to the cladding can be calculated with the NRT model to be ~ 8 x 10</a:t>
            </a:r>
            <a:r>
              <a:rPr lang="en-US" baseline="30000" dirty="0"/>
              <a:t>-8</a:t>
            </a:r>
            <a:r>
              <a:rPr lang="en-US" dirty="0"/>
              <a:t> </a:t>
            </a:r>
            <a:r>
              <a:rPr lang="en-US" dirty="0" err="1"/>
              <a:t>dpa</a:t>
            </a:r>
            <a:r>
              <a:rPr lang="en-US" dirty="0"/>
              <a:t>/s, which, over 3 years exposure gives a total of ~8 </a:t>
            </a:r>
            <a:r>
              <a:rPr lang="en-US" dirty="0" err="1"/>
              <a:t>dpa</a:t>
            </a:r>
            <a:r>
              <a:rPr lang="en-US" dirty="0"/>
              <a:t> (every atom in the solid is displaced on the average eight times)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B577D-B750-DF4D-89BD-5E992BB2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749424C-6CBE-4548-82E5-435802B10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412279" y="2160495"/>
            <a:ext cx="5557956" cy="3613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AEC2B4-820B-2D4C-B575-12CAA9041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5967" y="5708162"/>
            <a:ext cx="2609700" cy="90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67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1F262-14E8-234B-8CD5-724C17EDF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Growth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8E89C-2128-FF47-AA80-CC65F5DDE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523345" cy="396567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Irradiation growth results from material anisotropy</a:t>
            </a:r>
          </a:p>
          <a:p>
            <a:r>
              <a:rPr lang="en-US" dirty="0"/>
              <a:t>There is corresponding anisotropy in the defect behavior within the unit cell</a:t>
            </a:r>
          </a:p>
          <a:p>
            <a:r>
              <a:rPr lang="en-US" dirty="0"/>
              <a:t>There is also a texture formed in the grain orientations</a:t>
            </a:r>
          </a:p>
          <a:p>
            <a:r>
              <a:rPr lang="en-US" dirty="0"/>
              <a:t>Interstitial loops form on pyramidal planes, causing shrinkage along the center axis</a:t>
            </a:r>
          </a:p>
          <a:p>
            <a:r>
              <a:rPr lang="en-US" dirty="0"/>
              <a:t>Later, vacancy loops form on basal planes, making it even worse</a:t>
            </a:r>
          </a:p>
          <a:p>
            <a:r>
              <a:rPr lang="en-US" dirty="0"/>
              <a:t>The result is a change in shape, shrinking in the 0001 direction and expanding in the pyramidal direction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A5109-44E4-5841-A5AC-BDF65CD0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868DCDE-02B9-DA44-B86D-88CE397D4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837" y="1673282"/>
            <a:ext cx="3103418" cy="27709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F279BBC-401D-5441-A496-55424AB6A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903904" y="3430904"/>
            <a:ext cx="2277285" cy="4303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196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C7B6D-FB25-8545-BC99-BA389E60B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Growth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69D6B-FA7D-2C4C-A6CA-7F7C85737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006109" cy="396567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Three stages of irradiation growth</a:t>
            </a:r>
          </a:p>
          <a:p>
            <a:pPr lvl="1"/>
            <a:r>
              <a:rPr lang="en-US" dirty="0"/>
              <a:t>Initial rapid growth to small strains – defect generation</a:t>
            </a:r>
          </a:p>
          <a:p>
            <a:pPr lvl="1"/>
            <a:r>
              <a:rPr lang="en-US" dirty="0"/>
              <a:t>Slow growth – defect accumulation, gets skipped in cold worked material</a:t>
            </a:r>
          </a:p>
          <a:p>
            <a:pPr lvl="1"/>
            <a:r>
              <a:rPr lang="en-US" dirty="0"/>
              <a:t>Accelerated or breakaway growth, caused by formation of vacancy loops on the basal plane</a:t>
            </a:r>
          </a:p>
          <a:p>
            <a:r>
              <a:rPr lang="en-US" dirty="0"/>
              <a:t>Irradiation growth is affected by:</a:t>
            </a:r>
          </a:p>
          <a:p>
            <a:pPr lvl="1">
              <a:lnSpc>
                <a:spcPct val="90000"/>
              </a:lnSpc>
            </a:pPr>
            <a:r>
              <a:rPr lang="en-US" dirty="0">
                <a:latin typeface="Arial" charset="0"/>
                <a:cs typeface="Arial" charset="0"/>
              </a:rPr>
              <a:t>Fluence, Cold work, Texture, Irradiation temperature, Material chemistry, Hydrogen effects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F9172-9A74-3744-A31B-D63AFBFA0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BB6410-CF6C-1F4F-B7CB-833996819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943" y="2270464"/>
            <a:ext cx="5574457" cy="374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410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757EC-B094-144C-A6D3-582E33D34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Growth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C957F-9A49-9F46-9269-6D4FA2D96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4304145" cy="3965670"/>
          </a:xfrm>
        </p:spPr>
        <p:txBody>
          <a:bodyPr/>
          <a:lstStyle/>
          <a:p>
            <a:r>
              <a:rPr lang="en-US" dirty="0">
                <a:latin typeface="Arial" charset="0"/>
                <a:cs typeface="Arial" charset="0"/>
              </a:rPr>
              <a:t>Higher temperature leads to earlier breakaway and higher growth</a:t>
            </a:r>
          </a:p>
          <a:p>
            <a:r>
              <a:rPr lang="en-US" dirty="0">
                <a:latin typeface="Arial" charset="0"/>
                <a:cs typeface="Arial" charset="0"/>
              </a:rPr>
              <a:t>Higher temperature adds mobility to defects, allowing them to diffuse faster, form clusters, and exacerbate the defect cluster induced anisotropic growth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4E6D2-4682-8049-B47C-D5421F5E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F1DFF302-98CC-1447-97BA-C100AFD9E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5562" y="2086604"/>
            <a:ext cx="5906838" cy="43784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pic>
    </p:spTree>
    <p:extLst>
      <p:ext uri="{BB962C8B-B14F-4D97-AF65-F5344CB8AC3E}">
        <p14:creationId xmlns:p14="http://schemas.microsoft.com/office/powerpoint/2010/main" val="1352723007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10290</TotalTime>
  <Words>1645</Words>
  <Application>Microsoft Macintosh PowerPoint</Application>
  <PresentationFormat>Widescreen</PresentationFormat>
  <Paragraphs>268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Symbol</vt:lpstr>
      <vt:lpstr>Times New Roman</vt:lpstr>
      <vt:lpstr>1_NCStateU-horizontal-left-logo</vt:lpstr>
      <vt:lpstr>Nuclear Fuel Performance</vt:lpstr>
      <vt:lpstr>Housekeeping</vt:lpstr>
      <vt:lpstr>Paper Project</vt:lpstr>
      <vt:lpstr>Last Time</vt:lpstr>
      <vt:lpstr>Fuel Swelling/Dimensional Change Cont…</vt:lpstr>
      <vt:lpstr>Creep</vt:lpstr>
      <vt:lpstr>Creep</vt:lpstr>
      <vt:lpstr>Different creep mechanisms are active for different combinations of stress and temperature </vt:lpstr>
      <vt:lpstr>The behavior of creep changes in irradiated materials</vt:lpstr>
      <vt:lpstr>Irradiation and Creep</vt:lpstr>
      <vt:lpstr>Fuel Creep</vt:lpstr>
      <vt:lpstr>Fracture</vt:lpstr>
      <vt:lpstr>Fracture</vt:lpstr>
      <vt:lpstr>Summary</vt:lpstr>
      <vt:lpstr>Zirconium Cladding</vt:lpstr>
      <vt:lpstr>Cladding</vt:lpstr>
      <vt:lpstr>Why Zirconium alloys?</vt:lpstr>
      <vt:lpstr>Zirconium</vt:lpstr>
      <vt:lpstr>Commercial Zr Alloys in PWRs</vt:lpstr>
      <vt:lpstr>Alloying Elements</vt:lpstr>
      <vt:lpstr>Zirconium Phases</vt:lpstr>
      <vt:lpstr>Zr Tube Fabrication</vt:lpstr>
      <vt:lpstr>Zr alloy microstructures</vt:lpstr>
      <vt:lpstr>Zirconium Creep and Growth</vt:lpstr>
      <vt:lpstr>Irradiation Growth</vt:lpstr>
      <vt:lpstr>Irradiation Growth</vt:lpstr>
      <vt:lpstr>Irradiation Growth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Fission Products</dc:title>
  <dc:creator>Benjamin Beeler</dc:creator>
  <cp:lastModifiedBy>Benjamin Beeler</cp:lastModifiedBy>
  <cp:revision>125</cp:revision>
  <dcterms:created xsi:type="dcterms:W3CDTF">2020-02-19T20:03:05Z</dcterms:created>
  <dcterms:modified xsi:type="dcterms:W3CDTF">2026-03-12T14:09:20Z</dcterms:modified>
</cp:coreProperties>
</file>
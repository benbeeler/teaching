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537" r:id="rId2"/>
    <p:sldId id="545" r:id="rId3"/>
    <p:sldId id="306" r:id="rId4"/>
    <p:sldId id="307" r:id="rId5"/>
    <p:sldId id="308" r:id="rId6"/>
    <p:sldId id="310" r:id="rId7"/>
    <p:sldId id="311" r:id="rId8"/>
    <p:sldId id="314" r:id="rId9"/>
    <p:sldId id="312" r:id="rId10"/>
    <p:sldId id="55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00"/>
    <p:restoredTop sz="94672"/>
  </p:normalViewPr>
  <p:slideViewPr>
    <p:cSldViewPr snapToGrid="0" snapToObjects="1">
      <p:cViewPr varScale="1">
        <p:scale>
          <a:sx n="128" d="100"/>
          <a:sy n="128" d="100"/>
        </p:scale>
        <p:origin x="3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3A803-A045-354B-887A-01433CE46FC2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112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160495"/>
            <a:ext cx="10972800" cy="396567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D04BF-9DC2-6341-92B2-BD109A2EF3B1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3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0FFBC7-3028-644D-986B-D9855CB74B38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6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3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E49314-4A78-2444-9569-44EB70168344}" type="datetime1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934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C22837-4683-B242-B000-BCEE30621787}" type="datetime1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88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AE926-7EF1-0B40-B57E-417D188A609C}" type="datetime1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68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D107B-B9C7-5B41-A168-55258AB95F52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63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D92D36-EE82-3142-B011-9831FB5E702F}" type="datetime1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89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B33C1D-C2E2-1049-AA3F-CD6E91052752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712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91AD68-B60C-4542-BDDD-2074DE6DE828}" type="datetime1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8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3EE08B4B-7256-494F-A90D-3891BD685F4A}" type="datetime1">
              <a:rPr lang="en-US" smtClean="0"/>
              <a:t>2/24/26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71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1AB4-6496-0D46-9C3B-B71641B90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102A4-1D26-9E41-904A-5C94FEB21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NE-533</a:t>
            </a:r>
          </a:p>
          <a:p>
            <a:r>
              <a:rPr lang="en-US" dirty="0"/>
              <a:t>Spring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6DA87-5AA8-004F-861E-B1E0BAA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585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CC1-34E4-A34F-8621-801D8886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1234721"/>
            <a:ext cx="10363200" cy="1362075"/>
          </a:xfrm>
        </p:spPr>
        <p:txBody>
          <a:bodyPr/>
          <a:lstStyle/>
          <a:p>
            <a:r>
              <a:rPr lang="en-US" dirty="0"/>
              <a:t>Fuel Swelling/Dimensional Change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F06B0-02C9-F34D-82A4-D2D5BBAF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51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21306-1998-BA45-A870-95ADBDD5A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changes size and shape under reactor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983E7-B7C1-CE4D-8056-000119106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84ABE2-3140-05EC-F6BD-1D0E4BDB57DF}"/>
              </a:ext>
            </a:extLst>
          </p:cNvPr>
          <p:cNvSpPr txBox="1"/>
          <p:nvPr/>
        </p:nvSpPr>
        <p:spPr>
          <a:xfrm>
            <a:off x="609600" y="1984634"/>
            <a:ext cx="576059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Thermal expansion: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increase in volume, decrease in density, caused by increasing temperature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Densification: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Decrease in volume, increase in density, caused by shrinking of porosity left after sintering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Swelling: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Increase in volume, decrease in density, caused by fission products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Irradiation Creep: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Change in shape, constant density, occurs with applied stress less than </a:t>
            </a:r>
            <a:r>
              <a:rPr lang="en-US" sz="2000" dirty="0" err="1">
                <a:latin typeface="Symbol" pitchFamily="2" charset="2"/>
                <a:cs typeface="Arial" panose="020B0604020202020204" pitchFamily="34" charset="0"/>
              </a:rPr>
              <a:t>s</a:t>
            </a:r>
            <a:r>
              <a:rPr lang="en-US" sz="20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en-US" sz="20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2C383E-08A8-C168-30AC-6B55C69CE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409" y="1862308"/>
            <a:ext cx="5760591" cy="374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37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28ED-1B8F-5D42-B5A7-254661FFC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Densification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CDF0E-08CF-4D41-A772-2638CA007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160495"/>
            <a:ext cx="6150429" cy="3764056"/>
          </a:xfrm>
        </p:spPr>
        <p:txBody>
          <a:bodyPr>
            <a:normAutofit fontScale="77500" lnSpcReduction="20000"/>
          </a:bodyPr>
          <a:lstStyle/>
          <a:p>
            <a:r>
              <a:rPr lang="en-US" sz="2300" dirty="0"/>
              <a:t>Densification takes place during initial 5 - 10 </a:t>
            </a:r>
            <a:r>
              <a:rPr lang="en-US" sz="2300" dirty="0" err="1"/>
              <a:t>MWd</a:t>
            </a:r>
            <a:r>
              <a:rPr lang="en-US" sz="2300" dirty="0"/>
              <a:t>/</a:t>
            </a:r>
            <a:r>
              <a:rPr lang="en-US" sz="2300" dirty="0" err="1"/>
              <a:t>kgU</a:t>
            </a:r>
            <a:endParaRPr lang="en-US" sz="2300" dirty="0"/>
          </a:p>
          <a:p>
            <a:pPr lvl="1"/>
            <a:r>
              <a:rPr lang="en-US" sz="2300" dirty="0"/>
              <a:t>Small, as-built pores close due to effects of fission spikes and vacancy diffusion</a:t>
            </a:r>
          </a:p>
          <a:p>
            <a:pPr lvl="1"/>
            <a:r>
              <a:rPr lang="en-US" sz="2300" dirty="0"/>
              <a:t>Large pores stable (in absence of large hydrostatic stress)</a:t>
            </a:r>
          </a:p>
          <a:p>
            <a:r>
              <a:rPr lang="en-US" sz="2300" dirty="0"/>
              <a:t>Empirical correlation for densification is a function of </a:t>
            </a:r>
          </a:p>
          <a:p>
            <a:pPr lvl="1"/>
            <a:r>
              <a:rPr lang="en-US" sz="2300" dirty="0"/>
              <a:t>β - Burnup (in FIMA)</a:t>
            </a:r>
          </a:p>
          <a:p>
            <a:pPr lvl="1"/>
            <a:r>
              <a:rPr lang="en-US" sz="2300" dirty="0"/>
              <a:t>Δρ</a:t>
            </a:r>
            <a:r>
              <a:rPr lang="en-US" sz="2300" baseline="-25000" dirty="0"/>
              <a:t>0</a:t>
            </a:r>
            <a:r>
              <a:rPr lang="en-US" sz="2300" dirty="0"/>
              <a:t> – Total densification that can occur (a common value is 0.01)</a:t>
            </a:r>
          </a:p>
          <a:p>
            <a:pPr lvl="1"/>
            <a:r>
              <a:rPr lang="en-US" sz="2300" dirty="0"/>
              <a:t>β</a:t>
            </a:r>
            <a:r>
              <a:rPr lang="en-US" sz="2300" baseline="-25000" dirty="0"/>
              <a:t>D</a:t>
            </a:r>
            <a:r>
              <a:rPr lang="en-US" sz="2300" dirty="0"/>
              <a:t> – Burnup at which densification stops ( a common value is 5 MWD/</a:t>
            </a:r>
            <a:r>
              <a:rPr lang="en-US" sz="2300" dirty="0" err="1"/>
              <a:t>kgU</a:t>
            </a:r>
            <a:r>
              <a:rPr lang="en-US" sz="2300" dirty="0"/>
              <a:t>)</a:t>
            </a:r>
          </a:p>
          <a:p>
            <a:pPr lvl="1"/>
            <a:r>
              <a:rPr lang="en-US" sz="2300" dirty="0"/>
              <a:t>C</a:t>
            </a:r>
            <a:r>
              <a:rPr lang="en-US" sz="2300" baseline="-25000" dirty="0"/>
              <a:t>D</a:t>
            </a:r>
            <a:r>
              <a:rPr lang="en-US" sz="2300" dirty="0"/>
              <a:t> = </a:t>
            </a:r>
            <a:r>
              <a:rPr lang="is-IS" sz="2300" dirty="0"/>
              <a:t>7.235 − 0.0086 (T(°C) − 25) for T &lt; 750°C and CD = 1 for T ≥ 750 °C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ACB51-0287-B54B-A474-232361980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E7421AC-EFC4-3E47-BB37-8008B94FEE3B}"/>
              </a:ext>
            </a:extLst>
          </p:cNvPr>
          <p:cNvGrpSpPr/>
          <p:nvPr/>
        </p:nvGrpSpPr>
        <p:grpSpPr>
          <a:xfrm>
            <a:off x="7566212" y="1801906"/>
            <a:ext cx="3650539" cy="2384613"/>
            <a:chOff x="713509" y="1042555"/>
            <a:chExt cx="3858491" cy="2386445"/>
          </a:xfrm>
        </p:grpSpPr>
        <p:pic>
          <p:nvPicPr>
            <p:cNvPr id="6" name="Picture 1">
              <a:extLst>
                <a:ext uri="{FF2B5EF4-FFF2-40B4-BE49-F238E27FC236}">
                  <a16:creationId xmlns:a16="http://schemas.microsoft.com/office/drawing/2014/main" id="{EB6D5403-E702-A046-9244-5FA312D23C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3509" y="1042555"/>
              <a:ext cx="3858491" cy="2386445"/>
            </a:xfrm>
            <a:prstGeom prst="rect">
              <a:avLst/>
            </a:prstGeom>
            <a:noFill/>
            <a:ln w="6350">
              <a:solidFill>
                <a:srgbClr val="D4AD6F"/>
              </a:solidFill>
              <a:miter lim="800000"/>
              <a:headEnd/>
              <a:tailEnd/>
            </a:ln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479BE7-BCD4-7C49-99D3-56FEC0A5DDAE}"/>
                </a:ext>
              </a:extLst>
            </p:cNvPr>
            <p:cNvSpPr/>
            <p:nvPr/>
          </p:nvSpPr>
          <p:spPr>
            <a:xfrm>
              <a:off x="3059831" y="2780928"/>
              <a:ext cx="1206672" cy="2966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100" dirty="0">
                  <a:latin typeface="Arial Narrow" pitchFamily="34" charset="0"/>
                </a:rPr>
                <a:t>[Maier et al, 1988]</a:t>
              </a:r>
              <a:endParaRPr lang="en-US" sz="1100" dirty="0">
                <a:latin typeface="Arial Narrow" pitchFamily="34" charset="0"/>
              </a:endParaRP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FCD3924E-BDB9-5B4D-9220-7CEA535A01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932" y="4186519"/>
            <a:ext cx="3322674" cy="2492006"/>
          </a:xfrm>
          <a:prstGeom prst="rect">
            <a:avLst/>
          </a:prstGeom>
        </p:spPr>
      </p:pic>
      <p:pic>
        <p:nvPicPr>
          <p:cNvPr id="9" name="Picture 8" descr="latex-image-1.pdf">
            <a:extLst>
              <a:ext uri="{FF2B5EF4-FFF2-40B4-BE49-F238E27FC236}">
                <a16:creationId xmlns:a16="http://schemas.microsoft.com/office/drawing/2014/main" id="{F902FE23-709D-A44E-AE43-D2045E1C7C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8239" y="5708651"/>
            <a:ext cx="23749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904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41E4E-2D4A-2F48-8F8A-47CC1CA4B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Fission product induced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A0371-949B-614E-98BF-28DDBEF1F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4760259" cy="3965670"/>
          </a:xfrm>
        </p:spPr>
        <p:txBody>
          <a:bodyPr/>
          <a:lstStyle/>
          <a:p>
            <a:r>
              <a:rPr lang="en-US" sz="2000" dirty="0"/>
              <a:t>Fission product swelling results from three changes in the fuel microstructure</a:t>
            </a:r>
          </a:p>
          <a:p>
            <a:pPr lvl="1"/>
            <a:r>
              <a:rPr lang="en-US" sz="1600" u="sng" dirty="0"/>
              <a:t>Solid swelling</a:t>
            </a:r>
            <a:r>
              <a:rPr lang="en-US" sz="1600" dirty="0"/>
              <a:t>:  Accumulation of soluble and insoluble fission products in fuel matrix </a:t>
            </a:r>
          </a:p>
          <a:p>
            <a:pPr lvl="1"/>
            <a:r>
              <a:rPr lang="en-US" sz="1600" u="sng" dirty="0"/>
              <a:t>Gaseous swelling</a:t>
            </a:r>
            <a:r>
              <a:rPr lang="en-US" sz="1600" dirty="0"/>
              <a:t>:  Accumulation of gaseous and volatile fission products in intragranular and intergranular pores</a:t>
            </a:r>
          </a:p>
          <a:p>
            <a:pPr lvl="1"/>
            <a:r>
              <a:rPr lang="en-US" sz="1600" u="sng" dirty="0"/>
              <a:t>High burnup swelling</a:t>
            </a:r>
            <a:r>
              <a:rPr lang="en-US" sz="1600" dirty="0"/>
              <a:t>:  Restructuring of pellet rim with the accumulation of fission gas in a large number of small pores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46D49-F9C9-334B-BE14-10384EAC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FAF0D06-840B-DA41-8537-5EF9878C5211}"/>
              </a:ext>
            </a:extLst>
          </p:cNvPr>
          <p:cNvGrpSpPr>
            <a:grpSpLocks noChangeAspect="1"/>
          </p:cNvGrpSpPr>
          <p:nvPr/>
        </p:nvGrpSpPr>
        <p:grpSpPr>
          <a:xfrm>
            <a:off x="6334440" y="2337616"/>
            <a:ext cx="4511662" cy="3112926"/>
            <a:chOff x="2288767" y="836712"/>
            <a:chExt cx="4566465" cy="3099693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32134FA4-6D98-874C-BEE1-7FBAB23E96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8767" y="836712"/>
              <a:ext cx="4566465" cy="3099693"/>
            </a:xfrm>
            <a:prstGeom prst="rect">
              <a:avLst/>
            </a:prstGeom>
            <a:noFill/>
            <a:ln w="6350">
              <a:solidFill>
                <a:srgbClr val="D4AD6F"/>
              </a:solidFill>
              <a:miter lim="800000"/>
              <a:headEnd/>
              <a:tailEnd/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9F4F15-0CB9-AC4E-927A-88AC5D6895C9}"/>
                </a:ext>
              </a:extLst>
            </p:cNvPr>
            <p:cNvSpPr txBox="1"/>
            <p:nvPr/>
          </p:nvSpPr>
          <p:spPr>
            <a:xfrm>
              <a:off x="4067944" y="3265686"/>
              <a:ext cx="26597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 Narrow" pitchFamily="34" charset="0"/>
                </a:rPr>
                <a:t>after </a:t>
              </a:r>
              <a:r>
                <a:rPr lang="en-US" sz="1400" dirty="0" err="1">
                  <a:latin typeface="Arial Narrow" pitchFamily="34" charset="0"/>
                </a:rPr>
                <a:t>Garzarolli</a:t>
              </a:r>
              <a:r>
                <a:rPr lang="en-US" sz="1400" dirty="0">
                  <a:latin typeface="Arial Narrow" pitchFamily="34" charset="0"/>
                </a:rPr>
                <a:t> in [Rudling et al, 2007]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35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47938-61CC-C14E-9425-BBAE3A8E5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Solid fission product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5267D-4E80-7140-BD5C-1A8E987CD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585012" cy="3965670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en-US" sz="2000" dirty="0">
                <a:sym typeface="Symbol"/>
              </a:rPr>
              <a:t>The solid fission product swelling model is a function of:</a:t>
            </a:r>
          </a:p>
          <a:p>
            <a:pPr lvl="1"/>
            <a:r>
              <a:rPr lang="en-US" sz="2000" dirty="0">
                <a:latin typeface="Symbol" pitchFamily="2" charset="2"/>
              </a:rPr>
              <a:t>b</a:t>
            </a:r>
            <a:r>
              <a:rPr lang="en-US" sz="2000" dirty="0"/>
              <a:t> – Burnup (in FIMA)</a:t>
            </a:r>
          </a:p>
          <a:p>
            <a:pPr lvl="1"/>
            <a:r>
              <a:rPr lang="en-US" sz="2000" dirty="0" err="1"/>
              <a:t>ρ</a:t>
            </a:r>
            <a:r>
              <a:rPr lang="en-US" sz="2000" dirty="0"/>
              <a:t> – Initial UO</a:t>
            </a:r>
            <a:r>
              <a:rPr lang="en-US" sz="2000" baseline="-25000" dirty="0"/>
              <a:t>2</a:t>
            </a:r>
            <a:r>
              <a:rPr lang="en-US" sz="2000" dirty="0"/>
              <a:t> density (g/cm</a:t>
            </a:r>
            <a:r>
              <a:rPr lang="en-US" sz="2000" baseline="30000" dirty="0"/>
              <a:t>3</a:t>
            </a:r>
            <a:r>
              <a:rPr lang="en-US" sz="2000" dirty="0"/>
              <a:t>)</a:t>
            </a:r>
          </a:p>
          <a:p>
            <a:r>
              <a:rPr lang="en-US" sz="2000" dirty="0"/>
              <a:t>Includes contributions from soluble oxides, insoluble oxides, and metallic precipitates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4F1F0-8FFC-7142-B143-9DB9D2C0F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6" name="Picture 5" descr="latex-image-1.pdf">
            <a:extLst>
              <a:ext uri="{FF2B5EF4-FFF2-40B4-BE49-F238E27FC236}">
                <a16:creationId xmlns:a16="http://schemas.microsoft.com/office/drawing/2014/main" id="{5AE088D6-906A-2F4B-A505-D1463AC4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90856" y="4603343"/>
            <a:ext cx="2222500" cy="279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06AD28-ACD4-4B26-007C-461F235D4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813" y="2160495"/>
            <a:ext cx="5135587" cy="385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769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58D87-1841-BA4C-AF81-D5A04583D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00114"/>
            <a:ext cx="10972800" cy="659085"/>
          </a:xfrm>
        </p:spPr>
        <p:txBody>
          <a:bodyPr/>
          <a:lstStyle/>
          <a:p>
            <a:r>
              <a:rPr lang="en-US" dirty="0"/>
              <a:t>Gaseous fission product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A34F9-4FFB-A145-A3F7-D2E75D9EF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38739"/>
            <a:ext cx="6239435" cy="4287426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800"/>
              </a:spcBef>
            </a:pPr>
            <a:r>
              <a:rPr lang="en-US" sz="2000" dirty="0"/>
              <a:t>Gaseous swelling varies strongly with temperature, fission rate, and stress</a:t>
            </a:r>
          </a:p>
          <a:p>
            <a:pPr>
              <a:spcBef>
                <a:spcPts val="800"/>
              </a:spcBef>
            </a:pPr>
            <a:r>
              <a:rPr lang="en-US" sz="2000" dirty="0"/>
              <a:t>Empirical relationships dependent upon burnup and temperature</a:t>
            </a:r>
          </a:p>
          <a:p>
            <a:pPr>
              <a:spcBef>
                <a:spcPts val="800"/>
              </a:spcBef>
            </a:pPr>
            <a:r>
              <a:rPr lang="en-US" sz="2000" dirty="0"/>
              <a:t>T &lt; 1000K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Fission gas atoms remain in fuel matrix or collect in small, isolated, intragranular pores (&lt;1 nm)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Intragranular pore size limited by fission spikes that drive gas back into fuel matrix 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Gaseous swelling constrained by fission gas release</a:t>
            </a:r>
          </a:p>
          <a:p>
            <a:pPr>
              <a:spcBef>
                <a:spcPts val="800"/>
              </a:spcBef>
            </a:pPr>
            <a:r>
              <a:rPr lang="en-US" sz="2000" dirty="0"/>
              <a:t>T = 1000 to 1700 K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Swelling takes place at hot interior of pellet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Gas atoms in fuel matrix diffuse to grain boundaries and collect in pores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Gas pressure causes bubbles to increase in size and to coalesce into larger pores 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Gaseous swelling opposed by applied stress</a:t>
            </a:r>
          </a:p>
          <a:p>
            <a:pPr lvl="1">
              <a:spcBef>
                <a:spcPts val="800"/>
              </a:spcBef>
            </a:pPr>
            <a:r>
              <a:rPr lang="en-US" sz="1600" dirty="0"/>
              <a:t>Gaseous swelling also constrained by fission gas release</a:t>
            </a:r>
          </a:p>
          <a:p>
            <a:pPr>
              <a:spcBef>
                <a:spcPts val="800"/>
              </a:spcBef>
            </a:pPr>
            <a:endParaRPr lang="en-US" sz="16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17967-2B2D-7B41-9E76-1DD1F351B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 descr="latex-image-1.pdf">
            <a:extLst>
              <a:ext uri="{FF2B5EF4-FFF2-40B4-BE49-F238E27FC236}">
                <a16:creationId xmlns:a16="http://schemas.microsoft.com/office/drawing/2014/main" id="{FC4F523B-2E5B-6A41-8FE2-85E081EE68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4762" y="6026059"/>
            <a:ext cx="6070600" cy="292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E461FE-703D-969F-5E28-63A15F5D4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18" y="1526624"/>
            <a:ext cx="3463235" cy="25974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6F1572-FE19-DD27-D90F-14BA86F425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3718" y="4194312"/>
            <a:ext cx="3463235" cy="259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141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4F05F-1835-2345-A021-5695D413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overall swelling behavior depends on temperature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F057B-532E-504A-AD22-EB9788BB6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25B9-7544-2E49-29FF-7F4BC8CB5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588" y="2309741"/>
            <a:ext cx="4707468" cy="3530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248012-0AFC-F734-C395-812BE42C4A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09742"/>
            <a:ext cx="4381500" cy="353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218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DC1B-84C4-BB45-8C59-921D3678D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change in volume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1818A-3240-DC4C-8E62-363E90E738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total change in volume is found by adding all components of dimensional change</a:t>
            </a:r>
          </a:p>
          <a:p>
            <a:pPr lvl="1"/>
            <a:r>
              <a:rPr lang="en-US" dirty="0" err="1"/>
              <a:t>ε</a:t>
            </a:r>
            <a:r>
              <a:rPr lang="en-US" baseline="-25000" dirty="0" err="1"/>
              <a:t>tot</a:t>
            </a:r>
            <a:r>
              <a:rPr lang="en-US" dirty="0"/>
              <a:t> = </a:t>
            </a:r>
            <a:r>
              <a:rPr lang="en-US" dirty="0" err="1"/>
              <a:t>ε</a:t>
            </a:r>
            <a:r>
              <a:rPr lang="en-US" baseline="-25000" dirty="0" err="1"/>
              <a:t>th</a:t>
            </a:r>
            <a:r>
              <a:rPr lang="en-US" dirty="0"/>
              <a:t> + </a:t>
            </a:r>
            <a:r>
              <a:rPr lang="en-US" dirty="0" err="1"/>
              <a:t>ε</a:t>
            </a:r>
            <a:r>
              <a:rPr lang="en-US" baseline="-25000" dirty="0" err="1"/>
              <a:t>D</a:t>
            </a:r>
            <a:r>
              <a:rPr lang="en-US" dirty="0"/>
              <a:t> + </a:t>
            </a:r>
            <a:r>
              <a:rPr lang="en-US" dirty="0" err="1"/>
              <a:t>ε</a:t>
            </a:r>
            <a:r>
              <a:rPr lang="en-US" baseline="-25000" dirty="0" err="1"/>
              <a:t>sfp</a:t>
            </a:r>
            <a:r>
              <a:rPr lang="en-US" dirty="0"/>
              <a:t> + </a:t>
            </a:r>
            <a:r>
              <a:rPr lang="en-US" dirty="0" err="1"/>
              <a:t>ε</a:t>
            </a:r>
            <a:r>
              <a:rPr lang="en-US" baseline="-25000" dirty="0" err="1"/>
              <a:t>gfp</a:t>
            </a:r>
            <a:endParaRPr lang="en-US" baseline="-25000" dirty="0"/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fission rate = 2.5e13 f/(cm</a:t>
            </a:r>
            <a:r>
              <a:rPr lang="en-US" baseline="30000" dirty="0"/>
              <a:t>3 </a:t>
            </a:r>
            <a:r>
              <a:rPr lang="en-US" dirty="0"/>
              <a:t>s) </a:t>
            </a:r>
          </a:p>
          <a:p>
            <a:pPr lvl="1"/>
            <a:r>
              <a:rPr lang="en-US" dirty="0"/>
              <a:t>T(fuel) = 1400 K</a:t>
            </a:r>
          </a:p>
          <a:p>
            <a:pPr lvl="1"/>
            <a:r>
              <a:rPr lang="en-US" dirty="0" err="1"/>
              <a:t>T</a:t>
            </a:r>
            <a:r>
              <a:rPr lang="en-US" baseline="-25000" dirty="0" err="1"/>
              <a:t>ref</a:t>
            </a:r>
            <a:r>
              <a:rPr lang="en-US" baseline="-25000" dirty="0"/>
              <a:t> </a:t>
            </a:r>
            <a:r>
              <a:rPr lang="en-US" dirty="0"/>
              <a:t>= 300 K</a:t>
            </a:r>
          </a:p>
          <a:p>
            <a:pPr lvl="1"/>
            <a:r>
              <a:rPr lang="en-US" dirty="0"/>
              <a:t>For densification: Δρ</a:t>
            </a:r>
            <a:r>
              <a:rPr lang="en-US" baseline="-25000" dirty="0"/>
              <a:t>0</a:t>
            </a:r>
            <a:r>
              <a:rPr lang="en-US" dirty="0"/>
              <a:t> = 0.01 and β</a:t>
            </a:r>
            <a:r>
              <a:rPr lang="en-US" baseline="-25000" dirty="0"/>
              <a:t>D</a:t>
            </a:r>
            <a:r>
              <a:rPr lang="en-US" dirty="0"/>
              <a:t> = 5 MWD/</a:t>
            </a:r>
            <a:r>
              <a:rPr lang="en-US" dirty="0" err="1"/>
              <a:t>kgU</a:t>
            </a:r>
            <a:endParaRPr lang="en-US" dirty="0"/>
          </a:p>
          <a:p>
            <a:pPr lvl="1"/>
            <a:r>
              <a:rPr lang="en-US" dirty="0"/>
              <a:t>Total time: 2 weeks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FC51A-63B1-C24F-ACE9-D05FD828F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386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37459-1E23-5C44-DDA1-1A82E5955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047D3-B3AB-3DB8-6DCE-1D7AFCC8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979FA-E247-AE49-52BB-6698EE1FD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768888"/>
      </p:ext>
    </p:extLst>
  </p:cSld>
  <p:clrMapOvr>
    <a:masterClrMapping/>
  </p:clrMapOvr>
</p:sld>
</file>

<file path=ppt/theme/theme1.xml><?xml version="1.0" encoding="utf-8"?>
<a:theme xmlns:a="http://schemas.openxmlformats.org/drawing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15887</TotalTime>
  <Words>527</Words>
  <Application>Microsoft Macintosh PowerPoint</Application>
  <PresentationFormat>Widescreen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Arial Narrow</vt:lpstr>
      <vt:lpstr>Calibri</vt:lpstr>
      <vt:lpstr>Symbol</vt:lpstr>
      <vt:lpstr>NCStateU-horizontal-left-logo</vt:lpstr>
      <vt:lpstr>Nuclear Fuel Performance</vt:lpstr>
      <vt:lpstr>Fuel Swelling/Dimensional Change</vt:lpstr>
      <vt:lpstr>Fuel changes size and shape under reactor operation</vt:lpstr>
      <vt:lpstr>Densification</vt:lpstr>
      <vt:lpstr>Fission product induced swelling</vt:lpstr>
      <vt:lpstr>Solid fission product swelling</vt:lpstr>
      <vt:lpstr>Gaseous fission product swelling</vt:lpstr>
      <vt:lpstr>The overall swelling behavior depends on temperature</vt:lpstr>
      <vt:lpstr>Total change in volume</vt:lpstr>
      <vt:lpstr>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Fission Products</dc:title>
  <dc:creator>Benjamin Beeler</dc:creator>
  <cp:lastModifiedBy>Benjamin Beeler</cp:lastModifiedBy>
  <cp:revision>104</cp:revision>
  <dcterms:created xsi:type="dcterms:W3CDTF">2020-02-19T20:03:05Z</dcterms:created>
  <dcterms:modified xsi:type="dcterms:W3CDTF">2026-02-24T17:02:07Z</dcterms:modified>
</cp:coreProperties>
</file>
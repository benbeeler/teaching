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537" r:id="rId2"/>
    <p:sldId id="256" r:id="rId3"/>
    <p:sldId id="542" r:id="rId4"/>
    <p:sldId id="538" r:id="rId5"/>
    <p:sldId id="282" r:id="rId6"/>
    <p:sldId id="539" r:id="rId7"/>
    <p:sldId id="258" r:id="rId8"/>
    <p:sldId id="257" r:id="rId9"/>
    <p:sldId id="260" r:id="rId10"/>
    <p:sldId id="261" r:id="rId11"/>
    <p:sldId id="262" r:id="rId12"/>
    <p:sldId id="263" r:id="rId13"/>
    <p:sldId id="266" r:id="rId14"/>
    <p:sldId id="540" r:id="rId15"/>
    <p:sldId id="274" r:id="rId16"/>
    <p:sldId id="270" r:id="rId17"/>
    <p:sldId id="272" r:id="rId18"/>
    <p:sldId id="279" r:id="rId19"/>
    <p:sldId id="280" r:id="rId20"/>
    <p:sldId id="541" r:id="rId21"/>
    <p:sldId id="269" r:id="rId22"/>
    <p:sldId id="273" r:id="rId23"/>
    <p:sldId id="264" r:id="rId24"/>
    <p:sldId id="267" r:id="rId25"/>
    <p:sldId id="268" r:id="rId26"/>
    <p:sldId id="27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04"/>
    <p:restoredTop sz="96654"/>
  </p:normalViewPr>
  <p:slideViewPr>
    <p:cSldViewPr snapToGrid="0" snapToObjects="1">
      <p:cViewPr varScale="1">
        <p:scale>
          <a:sx n="128" d="100"/>
          <a:sy n="128" d="100"/>
        </p:scale>
        <p:origin x="3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F3A803-A045-354B-887A-01433CE46FC2}" type="datetime1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82176-A547-F94B-AC51-D6E9C882CB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028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42822"/>
            <a:ext cx="10972800" cy="106838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11209"/>
            <a:ext cx="10972800" cy="4614956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BD04BF-9DC2-6341-92B2-BD109A2EF3B1}" type="datetime1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037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0FFBC7-3028-644D-986B-D9855CB74B38}" type="datetime1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6BD0F-ABBC-C14D-BC96-77BE126A74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015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72731"/>
            <a:ext cx="10972800" cy="106838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41119"/>
            <a:ext cx="5384800" cy="4585046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68501"/>
            <a:ext cx="5384800" cy="4157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3B8AE4-01F5-CC42-9C62-61BC6528368B}" type="datetime1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474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E49314-4A78-2444-9569-44EB70168344}" type="datetime1">
              <a:rPr lang="en-US" smtClean="0"/>
              <a:t>1/27/26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691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2854"/>
            <a:ext cx="10972800" cy="106838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C22837-4683-B242-B000-BCEE30621787}" type="datetime1">
              <a:rPr lang="en-US" smtClean="0"/>
              <a:t>1/27/26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B7D4D-4E81-5B40-91F6-CF14C25F86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510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DAE926-7EF1-0B40-B57E-417D188A609C}" type="datetime1">
              <a:rPr lang="en-US" smtClean="0"/>
              <a:t>1/27/26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B2FA7-4FDB-5643-811E-7991DEE50B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867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8D107B-B9C7-5B41-A168-55258AB95F52}" type="datetime1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DD8B14-AE1E-054C-8668-93D0F0400A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132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D92D36-EE82-3142-B011-9831FB5E702F}" type="datetime1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EF0004-A563-C64B-9FAD-6198662E1B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303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B33C1D-C2E2-1049-AA3F-CD6E91052752}" type="datetime1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610A8-B29A-B34A-A0B5-3DF26A2EB8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644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91AD68-B60C-4542-BDDD-2074DE6DE828}" type="datetime1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D0221-73D0-6245-9CCD-73A1D8FCB5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645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900114"/>
            <a:ext cx="10972800" cy="106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Headline Line One</a:t>
            </a:r>
            <a:br>
              <a:rPr lang="en-US" dirty="0"/>
            </a:br>
            <a:r>
              <a:rPr lang="en-US" dirty="0"/>
              <a:t>Headline Line Two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3022601"/>
            <a:ext cx="10972800" cy="310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3EE08B4B-7256-494F-A90D-3891BD685F4A}" type="datetime1">
              <a:rPr lang="en-US" smtClean="0"/>
              <a:t>1/27/26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EF7D53D-272A-624E-BE3D-99D13E2B41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92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400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000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hpc.ncsu.edu/QuickStart/QuickStart.php" TargetMode="External"/><Relationship Id="rId2" Type="http://schemas.openxmlformats.org/officeDocument/2006/relationships/hyperlink" Target="https://hpc.ncsu.edu/main.php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mailto:username@rdfmg.ne.ncsu.edu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ooseframework.inl.gov/getting_started/examples_and_tutorials/index.html" TargetMode="External"/><Relationship Id="rId2" Type="http://schemas.openxmlformats.org/officeDocument/2006/relationships/hyperlink" Target="https://mooseframework.inl.gov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mooseframework.inl.gov/syntax/Mesh/index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tif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mooseframework.inl.gov/workshop/#/11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A1AB4-6496-0D46-9C3B-B71641B901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Nuclear Fuel Performance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102A4-1D26-9E41-904A-5C94FEB21A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NE-533</a:t>
            </a:r>
          </a:p>
          <a:p>
            <a:r>
              <a:rPr lang="en-US" dirty="0"/>
              <a:t>Spring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6DA87-5AA8-004F-861E-B1E0BAA30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E82176-A547-F94B-AC51-D6E9C882CB8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841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CAE78-F8EE-CD48-ACF6-7E344370E3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MOOSE– Massively Object-Oriented Simulation Environment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072721-5AB9-EB45-921B-42D8DAAB4E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multiphysics</a:t>
            </a:r>
            <a:r>
              <a:rPr lang="en-US" dirty="0"/>
              <a:t> framework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76969-F01A-244A-A711-6A3FB0D03557}"/>
              </a:ext>
            </a:extLst>
          </p:cNvPr>
          <p:cNvSpPr/>
          <p:nvPr/>
        </p:nvSpPr>
        <p:spPr>
          <a:xfrm>
            <a:off x="4430672" y="4577834"/>
            <a:ext cx="3330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mooseframework.inl.gov</a:t>
            </a:r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455645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553A0-B2E5-86F5-9808-A3FC602E6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Hazel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DFCB5-944D-0A9A-B91E-4CD875C3A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Everyone has been added to a Hazel project: ne533s26</a:t>
            </a:r>
          </a:p>
          <a:p>
            <a:r>
              <a:rPr lang="en-US" dirty="0"/>
              <a:t>Hazel main page: </a:t>
            </a:r>
            <a:r>
              <a:rPr lang="en-US" dirty="0">
                <a:hlinkClick r:id="rId2"/>
              </a:rPr>
              <a:t>https://hpc.ncsu.edu/main.php</a:t>
            </a:r>
            <a:endParaRPr lang="en-US" dirty="0"/>
          </a:p>
          <a:p>
            <a:r>
              <a:rPr lang="en-US" dirty="0"/>
              <a:t>If you are not familiar with Hazel, go through the Quick Start tutorial: </a:t>
            </a:r>
            <a:r>
              <a:rPr lang="en-US" dirty="0">
                <a:hlinkClick r:id="rId3"/>
              </a:rPr>
              <a:t>https://hpc.ncsu.edu/QuickStart/QuickStart.php</a:t>
            </a:r>
            <a:endParaRPr lang="en-US" dirty="0"/>
          </a:p>
          <a:p>
            <a:endParaRPr lang="en-US" dirty="0"/>
          </a:p>
          <a:p>
            <a:r>
              <a:rPr lang="en-US" dirty="0"/>
              <a:t>Either need some kind of terminal</a:t>
            </a:r>
          </a:p>
          <a:p>
            <a:pPr lvl="1"/>
            <a:r>
              <a:rPr lang="en-US" dirty="0" err="1"/>
              <a:t>linux</a:t>
            </a:r>
            <a:r>
              <a:rPr lang="en-US" dirty="0"/>
              <a:t>/mac is native, for windows need something like PuTTY, Cygwin, </a:t>
            </a:r>
            <a:r>
              <a:rPr lang="en-US" dirty="0" err="1"/>
              <a:t>MobaXterm</a:t>
            </a:r>
            <a:r>
              <a:rPr lang="en-US" dirty="0"/>
              <a:t>, etc.</a:t>
            </a:r>
          </a:p>
          <a:p>
            <a:r>
              <a:rPr lang="en-US" dirty="0"/>
              <a:t>Or access via browser</a:t>
            </a:r>
          </a:p>
          <a:p>
            <a:pPr lvl="1"/>
            <a:r>
              <a:rPr lang="en-US" dirty="0"/>
              <a:t>https://</a:t>
            </a:r>
            <a:r>
              <a:rPr lang="en-US" dirty="0" err="1"/>
              <a:t>servood.hpc.ncsu.edu</a:t>
            </a:r>
            <a:r>
              <a:rPr lang="en-US" dirty="0"/>
              <a:t>/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EB8A4-EE51-9F0A-9945-1AF71E5EE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021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CF122-5C7A-934B-BBA6-55F943131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65807"/>
            <a:ext cx="10972800" cy="1068387"/>
          </a:xfrm>
        </p:spPr>
        <p:txBody>
          <a:bodyPr/>
          <a:lstStyle/>
          <a:p>
            <a:r>
              <a:rPr lang="en-US" dirty="0"/>
              <a:t>Access to MOOSE on Hazel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554EC-6266-3C4E-A1F6-872737560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0687"/>
            <a:ext cx="10972800" cy="4605478"/>
          </a:xfrm>
        </p:spPr>
        <p:txBody>
          <a:bodyPr/>
          <a:lstStyle/>
          <a:p>
            <a:r>
              <a:rPr lang="en-US" dirty="0"/>
              <a:t>Follow </a:t>
            </a:r>
            <a:r>
              <a:rPr lang="en-US" dirty="0" err="1"/>
              <a:t>conda</a:t>
            </a:r>
            <a:r>
              <a:rPr lang="en-US" dirty="0"/>
              <a:t> setup:</a:t>
            </a:r>
          </a:p>
          <a:p>
            <a:r>
              <a:rPr lang="en-US" dirty="0"/>
              <a:t>https://</a:t>
            </a:r>
            <a:r>
              <a:rPr lang="en-US" dirty="0" err="1"/>
              <a:t>hpc.ncsu.edu</a:t>
            </a:r>
            <a:r>
              <a:rPr lang="en-US" dirty="0"/>
              <a:t>/Software/</a:t>
            </a:r>
            <a:r>
              <a:rPr lang="en-US" dirty="0" err="1"/>
              <a:t>Apps.php?app</a:t>
            </a:r>
            <a:r>
              <a:rPr lang="en-US" dirty="0"/>
              <a:t>=Conda</a:t>
            </a:r>
          </a:p>
          <a:p>
            <a:r>
              <a:rPr lang="en-US" dirty="0"/>
              <a:t>Only need to go through "Loading and Initializing Conda" section</a:t>
            </a:r>
          </a:p>
          <a:p>
            <a:endParaRPr lang="en-US" dirty="0"/>
          </a:p>
          <a:p>
            <a:r>
              <a:rPr lang="en-US" dirty="0" err="1"/>
              <a:t>conda</a:t>
            </a:r>
            <a:r>
              <a:rPr lang="en-US" dirty="0"/>
              <a:t> activate /</a:t>
            </a:r>
            <a:r>
              <a:rPr lang="en-US" dirty="0" err="1"/>
              <a:t>usr</a:t>
            </a:r>
            <a:r>
              <a:rPr lang="en-US" dirty="0"/>
              <a:t>/local/</a:t>
            </a:r>
            <a:r>
              <a:rPr lang="en-US" dirty="0" err="1"/>
              <a:t>usrapps</a:t>
            </a:r>
            <a:r>
              <a:rPr lang="en-US" dirty="0"/>
              <a:t>/beeler1/</a:t>
            </a:r>
            <a:r>
              <a:rPr lang="en-US" dirty="0" err="1"/>
              <a:t>bwbeeler</a:t>
            </a:r>
            <a:r>
              <a:rPr lang="en-US" dirty="0"/>
              <a:t>/moose</a:t>
            </a:r>
          </a:p>
          <a:p>
            <a:r>
              <a:rPr lang="en-US" dirty="0"/>
              <a:t>cd /share/ne533s26/$USER</a:t>
            </a:r>
          </a:p>
          <a:p>
            <a:endParaRPr lang="en-US" dirty="0"/>
          </a:p>
          <a:p>
            <a:r>
              <a:rPr lang="en-US" dirty="0"/>
              <a:t>#Make your '</a:t>
            </a:r>
            <a:r>
              <a:rPr lang="en-US" dirty="0" err="1"/>
              <a:t>input.file</a:t>
            </a:r>
            <a:r>
              <a:rPr lang="en-US" dirty="0"/>
              <a:t>'</a:t>
            </a:r>
          </a:p>
          <a:p>
            <a:r>
              <a:rPr lang="en-US" dirty="0" err="1"/>
              <a:t>mpirun</a:t>
            </a:r>
            <a:r>
              <a:rPr lang="en-US" dirty="0"/>
              <a:t> -np 4 /</a:t>
            </a:r>
            <a:r>
              <a:rPr lang="en-US" dirty="0" err="1"/>
              <a:t>usr</a:t>
            </a:r>
            <a:r>
              <a:rPr lang="en-US" dirty="0"/>
              <a:t>/local/</a:t>
            </a:r>
            <a:r>
              <a:rPr lang="en-US" dirty="0" err="1"/>
              <a:t>usrapps</a:t>
            </a:r>
            <a:r>
              <a:rPr lang="en-US" dirty="0"/>
              <a:t>/beeler1/</a:t>
            </a:r>
            <a:r>
              <a:rPr lang="en-US" dirty="0" err="1"/>
              <a:t>ben_moose</a:t>
            </a:r>
            <a:r>
              <a:rPr lang="en-US" dirty="0"/>
              <a:t>/</a:t>
            </a:r>
            <a:r>
              <a:rPr lang="en-US" dirty="0" err="1"/>
              <a:t>ben_moose</a:t>
            </a:r>
            <a:r>
              <a:rPr lang="en-US" dirty="0"/>
              <a:t>-opt -i </a:t>
            </a:r>
            <a:r>
              <a:rPr lang="en-US" dirty="0" err="1"/>
              <a:t>input.file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6C387-F4A0-1545-AF66-EE331A06C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999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A71D4-C3C4-5C43-BC17-31EC29006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Handy bash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881B5-868D-A64F-854C-60AEB06AB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ssh </a:t>
            </a:r>
            <a:r>
              <a:rPr lang="en-US" dirty="0">
                <a:hlinkClick r:id="rId2"/>
              </a:rPr>
              <a:t>username@login.hpc.ncsu.edu</a:t>
            </a:r>
            <a:r>
              <a:rPr lang="en-US" dirty="0"/>
              <a:t> : allows you to get on the cluster</a:t>
            </a:r>
          </a:p>
          <a:p>
            <a:r>
              <a:rPr lang="en-US" dirty="0"/>
              <a:t>sftp </a:t>
            </a:r>
            <a:r>
              <a:rPr lang="en-US" dirty="0">
                <a:hlinkClick r:id="rId2"/>
              </a:rPr>
              <a:t>username@login.hpc.ncsu.edu</a:t>
            </a:r>
            <a:r>
              <a:rPr lang="en-US" dirty="0"/>
              <a:t> : allows you to transfer files to/from cluster</a:t>
            </a:r>
          </a:p>
          <a:p>
            <a:r>
              <a:rPr lang="en-US" dirty="0"/>
              <a:t>ls : list files in a directory; </a:t>
            </a:r>
            <a:r>
              <a:rPr lang="en-US" dirty="0" err="1"/>
              <a:t>pwd</a:t>
            </a:r>
            <a:r>
              <a:rPr lang="en-US" dirty="0"/>
              <a:t>: print working directory; cd : change directory; </a:t>
            </a:r>
            <a:r>
              <a:rPr lang="en-US" dirty="0" err="1"/>
              <a:t>cp</a:t>
            </a:r>
            <a:r>
              <a:rPr lang="en-US" dirty="0"/>
              <a:t> : copy a file </a:t>
            </a:r>
          </a:p>
          <a:p>
            <a:r>
              <a:rPr lang="en-US" dirty="0"/>
              <a:t>file editors: vi, vim, emacs, </a:t>
            </a:r>
            <a:r>
              <a:rPr lang="en-US" dirty="0" err="1"/>
              <a:t>nano</a:t>
            </a:r>
            <a:r>
              <a:rPr lang="en-US" dirty="0"/>
              <a:t>, atom</a:t>
            </a:r>
          </a:p>
          <a:p>
            <a:r>
              <a:rPr lang="en-US" dirty="0"/>
              <a:t>You should not need a submission script to run on Hazel (don’t need that many cores), but I recommend running on an interactive node</a:t>
            </a:r>
          </a:p>
          <a:p>
            <a:pPr lvl="1"/>
            <a:r>
              <a:rPr lang="en-US" dirty="0" err="1">
                <a:latin typeface="Andale Mono" panose="020B0509000000000004" pitchFamily="49" charset="0"/>
                <a:ea typeface="Roboto" panose="02000000000000000000" pitchFamily="2" charset="0"/>
                <a:cs typeface="Roboto" panose="02000000000000000000" pitchFamily="2" charset="0"/>
              </a:rPr>
              <a:t>bsub</a:t>
            </a:r>
            <a:r>
              <a:rPr lang="en-US" dirty="0">
                <a:latin typeface="Andale Mono" panose="020B0509000000000004" pitchFamily="49" charset="0"/>
                <a:ea typeface="Roboto" panose="02000000000000000000" pitchFamily="2" charset="0"/>
                <a:cs typeface="Roboto" panose="02000000000000000000" pitchFamily="2" charset="0"/>
              </a:rPr>
              <a:t> -Is -n 8 -x -W 30 bash</a:t>
            </a:r>
          </a:p>
          <a:p>
            <a:pPr lvl="1"/>
            <a:r>
              <a:rPr lang="en-US" dirty="0"/>
              <a:t>requests 8 cores and 30 minutes of </a:t>
            </a:r>
            <a:r>
              <a:rPr lang="en-US" dirty="0" err="1"/>
              <a:t>walltime</a:t>
            </a:r>
            <a:r>
              <a:rPr lang="en-US" dirty="0"/>
              <a:t>, exclusively on a single node</a:t>
            </a:r>
            <a:endParaRPr lang="en-US" dirty="0">
              <a:latin typeface="Andale Mono" panose="020B0509000000000004" pitchFamily="49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DDE15-B654-B042-8E84-8FBEE6F3C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706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DFF3D-575D-564F-BB05-2FFF806AE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MOOSE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CCE3F-1771-9249-ADA6-176E0B40B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https://mooseframework.inl.gov/</a:t>
            </a:r>
            <a:endParaRPr lang="en-US" dirty="0"/>
          </a:p>
          <a:p>
            <a:r>
              <a:rPr lang="en-US" dirty="0"/>
              <a:t>Under getting started tab, have workshop slides, workshop video, and other tutorials</a:t>
            </a:r>
          </a:p>
          <a:p>
            <a:r>
              <a:rPr lang="en-US" dirty="0"/>
              <a:t>There is a lot there, work through examples, understand what the examples are doing</a:t>
            </a:r>
          </a:p>
          <a:p>
            <a:r>
              <a:rPr lang="en-US" dirty="0">
                <a:hlinkClick r:id="rId3"/>
              </a:rPr>
              <a:t>https://mooseframework.inl.gov/getting_started/examples_and_tutorials/index.html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sooner you dive deep into MOOSE, the easier all of this will be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58EF4-CB79-074A-8128-5F3557DFB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536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3ECA7-FBAA-B240-8D38-73F1C7AE1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468EF-8891-7E40-BCD8-A183D13D7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292044-1172-1349-AD97-F575DECA434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627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7E272-2B5E-794F-A4DC-CFEC5D919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MOOSE Physics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62B4C-B5AA-EB43-9365-D02A3D9FD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5369859" cy="3965670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dirty="0"/>
              <a:t>Chemical Reactions</a:t>
            </a:r>
            <a:br>
              <a:rPr lang="en-US" dirty="0"/>
            </a:br>
            <a:r>
              <a:rPr lang="en-US" dirty="0"/>
              <a:t>Contact</a:t>
            </a:r>
            <a:br>
              <a:rPr lang="en-US" dirty="0"/>
            </a:br>
            <a:r>
              <a:rPr lang="en-US" dirty="0"/>
              <a:t>External </a:t>
            </a:r>
            <a:r>
              <a:rPr lang="en-US" dirty="0" err="1"/>
              <a:t>PETSc</a:t>
            </a:r>
            <a:r>
              <a:rPr lang="en-US" dirty="0"/>
              <a:t> Solver</a:t>
            </a:r>
            <a:br>
              <a:rPr lang="en-US" dirty="0"/>
            </a:br>
            <a:r>
              <a:rPr lang="en-US" dirty="0"/>
              <a:t>Fluid Properties</a:t>
            </a:r>
            <a:br>
              <a:rPr lang="en-US" dirty="0"/>
            </a:br>
            <a:r>
              <a:rPr lang="en-US" dirty="0"/>
              <a:t>Function Expansion Tools</a:t>
            </a:r>
            <a:br>
              <a:rPr lang="en-US" dirty="0"/>
            </a:br>
            <a:r>
              <a:rPr lang="en-US" dirty="0"/>
              <a:t>Heat Conduction</a:t>
            </a:r>
            <a:br>
              <a:rPr lang="en-US" dirty="0"/>
            </a:br>
            <a:r>
              <a:rPr lang="en-US" dirty="0"/>
              <a:t>Level Set</a:t>
            </a:r>
            <a:br>
              <a:rPr lang="en-US" dirty="0"/>
            </a:br>
            <a:r>
              <a:rPr lang="en-US" dirty="0" err="1"/>
              <a:t>Navier</a:t>
            </a:r>
            <a:r>
              <a:rPr lang="en-US" dirty="0"/>
              <a:t> Stokes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CA57F3-0226-8C47-9173-1FC3E0812EC5}"/>
              </a:ext>
            </a:extLst>
          </p:cNvPr>
          <p:cNvSpPr/>
          <p:nvPr/>
        </p:nvSpPr>
        <p:spPr>
          <a:xfrm>
            <a:off x="5979459" y="2160495"/>
            <a:ext cx="6096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Phase Field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Porous Flow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rDG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Stochastic Tools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Tensor (solid) Mechanics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XFEM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Shallow Water (work in progress)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Ray Tracing (work in progress)</a:t>
            </a:r>
          </a:p>
        </p:txBody>
      </p:sp>
    </p:spTree>
    <p:extLst>
      <p:ext uri="{BB962C8B-B14F-4D97-AF65-F5344CB8AC3E}">
        <p14:creationId xmlns:p14="http://schemas.microsoft.com/office/powerpoint/2010/main" val="3581730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2EB66-F15A-5842-B4F4-CFAC7B626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Governing Equations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176046-2FC5-4742-8888-60497E0BDDF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5117" y="1874525"/>
            <a:ext cx="10981765" cy="467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586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640E1-4025-F444-BA9E-73215614F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Files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93F7B-0B25-9A45-AFCB-BFB1220E1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15F7C6-6166-A449-A450-D0D563EC1C0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419600"/>
            <a:ext cx="12192000" cy="393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042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20CD4-0FD5-8B46-8D2F-1C6DF5980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File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9B8610-69B0-3247-A440-E36392C0F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BAEF92-92D8-804C-B113-9B263D5A858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966800"/>
            <a:ext cx="12192000" cy="421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625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1FB51-3400-A240-8193-D137B3270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B00FD3-1A3C-4B4D-85A9-80E030877DD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935" y="703229"/>
            <a:ext cx="10074130" cy="593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663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C7EF0-13AF-834C-9896-0480D4DFB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Example via Command 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45CD57-4C2E-CB48-9B0B-C4BCD244A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26C868-9232-F046-9830-7D3EEB9748E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3913" y="2733269"/>
            <a:ext cx="10204174" cy="12229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AE3DBA-FFA7-F313-C0B0-BEC51415502F}"/>
              </a:ext>
            </a:extLst>
          </p:cNvPr>
          <p:cNvSpPr txBox="1"/>
          <p:nvPr/>
        </p:nvSpPr>
        <p:spPr>
          <a:xfrm>
            <a:off x="1235765" y="2027719"/>
            <a:ext cx="97204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An executable is produced by compiling an application or a MOOSE module. It can be used to run input files.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729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5D184-4F46-6A7D-7CE1-A5124ED19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935C7-8AF9-7A1F-722D-D8D6A506A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86174"/>
            <a:ext cx="7088659" cy="3965670"/>
          </a:xfrm>
        </p:spPr>
        <p:txBody>
          <a:bodyPr/>
          <a:lstStyle/>
          <a:p>
            <a:r>
              <a:rPr 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Meshes in MOOSE are built or loaded using </a:t>
            </a:r>
            <a:r>
              <a:rPr lang="en-US" sz="1600" b="0" i="0" u="none" strike="noStrike" dirty="0">
                <a:solidFill>
                  <a:srgbClr val="00008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MeshGenerators</a:t>
            </a:r>
            <a:endParaRPr lang="en-US" sz="1600" u="none" strike="noStrike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only generate the mesh without running the simulation, you can pass 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--mesh-only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on the command line</a:t>
            </a:r>
          </a:p>
          <a:p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FileMeshGenerator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is the </a:t>
            </a:r>
            <a:r>
              <a:rPr lang="en-US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MeshGenerator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to load external meshes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Built-in mesh generation is implemented for lines, rectangles, rectangular prisms or extruded reactor geometries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sides are named in a logical way and are numbered :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1D: left=0, right=1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2D: bottom=0, right=1, top=2, left=3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wont need more than 2D here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Human-readable names can be assigned to blocks,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sidesets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nodesets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that can be used throughout an input file.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 parameter that requires an ID will accept either numbers or "names".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Names can be assigned to IDs for existing meshes to ease input file maintenance.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137C2-603E-79B8-3770-01F814FE7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9BAAFF-922B-D5E6-7095-C0A269D42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5384" y="1795829"/>
            <a:ext cx="3328601" cy="16783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79279C-5462-DCF0-5F90-1DB9AF7AA8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328" y="3669009"/>
            <a:ext cx="3158711" cy="2687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378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A0606-393B-3D45-A6C9-2C37240AD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1D7FC2-C0C2-6149-B913-6701692F9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ED1CA9-9433-CA49-AB87-5F27A00F6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250" y="1511209"/>
            <a:ext cx="9207500" cy="1358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8CD3AB-5529-ED44-986F-7AB129B13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497" y="2927898"/>
            <a:ext cx="8063006" cy="3428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011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DFEF2-1EC8-8E45-8ACE-CBC7EA14D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52334B-CC7D-E442-953A-0463F9B10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79EA79-A233-ED48-B873-BB39F3F55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250" y="3956051"/>
            <a:ext cx="9207500" cy="2400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109492-341F-C145-9769-0F2F2A752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250" y="2238376"/>
            <a:ext cx="9499600" cy="12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7395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FC908-1005-F14F-AE3C-8CD3EE018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C9231-6A9A-DA45-97B5-4E4FA4621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8030CC-3808-8244-A730-920589FAFA9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78741" y="1854915"/>
            <a:ext cx="7951694" cy="14229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6D79AD-3A25-924A-B50F-F798E9CDAD4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3176" y="3251015"/>
            <a:ext cx="6902824" cy="3580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7191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49D2E-E038-F04F-9C8A-D9D8438DE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GenericConstantMaterials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A6A7A-D431-124E-A5A2-9978A6419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7D9A3F-CA3D-C147-AB45-39C37D3B2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423" y="3229118"/>
            <a:ext cx="9368118" cy="172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4407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33065-04F2-0D43-B49E-1414BA1C5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Boundary Conditions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35469-5FED-0541-8A92-ABF2BCADF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BE964B-7B32-AB40-9B8C-24B9DF509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300" y="3323665"/>
            <a:ext cx="8153400" cy="1143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CCEA2F-8DEE-A044-BB10-BDD537C51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300" y="4575175"/>
            <a:ext cx="8394700" cy="1206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FDD0F0-C72B-5A4D-8188-47440CB1A7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0" y="1957855"/>
            <a:ext cx="24384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1657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7558D-A1DB-9EC4-B031-0964C8F0F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5558C-E60B-20D8-0FD9-98E464932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68501"/>
            <a:ext cx="10972800" cy="3965670"/>
          </a:xfrm>
        </p:spPr>
        <p:txBody>
          <a:bodyPr/>
          <a:lstStyle/>
          <a:p>
            <a:r>
              <a:rPr lang="en-US" dirty="0"/>
              <a:t>Many objects exist in MOOSE that utilize a function, such as:</a:t>
            </a:r>
          </a:p>
          <a:p>
            <a:pPr lvl="1"/>
            <a:r>
              <a:rPr lang="en-US" dirty="0" err="1"/>
              <a:t>FunctionDirichletBC</a:t>
            </a:r>
            <a:r>
              <a:rPr lang="en-US" dirty="0"/>
              <a:t>, </a:t>
            </a:r>
            <a:r>
              <a:rPr lang="en-US" dirty="0" err="1"/>
              <a:t>FunctionNeumannBC</a:t>
            </a:r>
            <a:r>
              <a:rPr lang="en-US" dirty="0"/>
              <a:t>, </a:t>
            </a:r>
            <a:r>
              <a:rPr lang="en-US" dirty="0" err="1"/>
              <a:t>FunctionIC</a:t>
            </a:r>
            <a:r>
              <a:rPr lang="en-US" dirty="0"/>
              <a:t>, </a:t>
            </a:r>
            <a:r>
              <a:rPr lang="en-US" dirty="0" err="1"/>
              <a:t>BodyForce</a:t>
            </a:r>
            <a:endParaRPr lang="en-US" dirty="0"/>
          </a:p>
          <a:p>
            <a:r>
              <a:rPr lang="en-US" dirty="0"/>
              <a:t>Each of these objects has a "function" parameter which is set in the input file, and controls which Function object is used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 </a:t>
            </a:r>
            <a:r>
              <a:rPr lang="en-US" dirty="0" err="1"/>
              <a:t>ParsedFunction</a:t>
            </a:r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allows functions to be defined by strings directly in the input file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2F388-F753-7D1B-A20B-415885719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76DFD4-7BB6-D6EF-A802-E615AF8E7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600" y="4229673"/>
            <a:ext cx="2844800" cy="230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9801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2E8A5-16C6-0F46-BBDB-CF70DDF29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MOOSE Executioner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D34F9C-0551-4A4C-94BE-18431BEFB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32EFC2-9C99-4972-99DA-1067D98F2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79" y="2049265"/>
            <a:ext cx="6014379" cy="19020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815F63-40F6-4229-28EC-5EC77E338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0542" y="1793409"/>
            <a:ext cx="5671458" cy="36628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89B40A-1375-CCA1-9EFB-BADB63342E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0542" y="5496905"/>
            <a:ext cx="5188858" cy="10420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FCDF64-ACDC-475E-DBD3-6C96716D54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679" y="4273593"/>
            <a:ext cx="5926304" cy="183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8816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9D2D8-8048-CF48-890C-ED8BF4EF0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887F5-B25A-9A4F-83B8-DDAF61F75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499223-D2F2-F740-B22B-33491B059CC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67434" y="1968501"/>
            <a:ext cx="8148918" cy="26295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42E837-4836-804F-BA6E-8AAD382BB56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3975" y="4751164"/>
            <a:ext cx="7915835" cy="160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7411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C6B91-2CAC-BD4F-B478-23CD95AEA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8071B-485C-5F4C-9B08-B7F96CAB2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ways to visualize</a:t>
            </a:r>
          </a:p>
          <a:p>
            <a:pPr lvl="1"/>
            <a:r>
              <a:rPr lang="en-US" dirty="0"/>
              <a:t>Peacock: MOOSE GUI</a:t>
            </a:r>
          </a:p>
          <a:p>
            <a:pPr lvl="1"/>
            <a:r>
              <a:rPr lang="en-US" dirty="0" err="1"/>
              <a:t>Paraview</a:t>
            </a:r>
            <a:r>
              <a:rPr lang="en-US" dirty="0"/>
              <a:t>: External software program that can read exodus files</a:t>
            </a:r>
          </a:p>
          <a:p>
            <a:r>
              <a:rPr lang="en-US" dirty="0"/>
              <a:t>I recommend downloading </a:t>
            </a:r>
            <a:r>
              <a:rPr lang="en-US" dirty="0" err="1"/>
              <a:t>paraview</a:t>
            </a:r>
            <a:endParaRPr lang="en-US" dirty="0"/>
          </a:p>
          <a:p>
            <a:pPr lvl="1"/>
            <a:r>
              <a:rPr lang="en-US" dirty="0"/>
              <a:t>It is free and open source</a:t>
            </a:r>
          </a:p>
          <a:p>
            <a:pPr lvl="1"/>
            <a:r>
              <a:rPr lang="en-US" dirty="0"/>
              <a:t>Very flexible</a:t>
            </a:r>
          </a:p>
          <a:p>
            <a:pPr lvl="1"/>
            <a:r>
              <a:rPr lang="en-US" dirty="0"/>
              <a:t>Less buggy than peacock</a:t>
            </a:r>
          </a:p>
          <a:p>
            <a:r>
              <a:rPr lang="en-US" dirty="0"/>
              <a:t>But, if you try peacock, and it works for you, great!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0D0B9-6603-0248-AFFF-CD17F991B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7496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21021-C2DC-E848-AC1E-0FD09451B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8934"/>
            <a:ext cx="10972800" cy="1068387"/>
          </a:xfrm>
        </p:spPr>
        <p:txBody>
          <a:bodyPr/>
          <a:lstStyle/>
          <a:p>
            <a:r>
              <a:rPr lang="en-US" dirty="0" err="1"/>
              <a:t>Paraview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C1AEC-4D55-5E4D-A819-C72B727E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4E7B00-2629-FF4E-B911-C89662282BD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78423" y="1718744"/>
            <a:ext cx="7482698" cy="50775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D9E217-C36B-854E-8D97-A08D1558BC3D}"/>
              </a:ext>
            </a:extLst>
          </p:cNvPr>
          <p:cNvSpPr txBox="1"/>
          <p:nvPr/>
        </p:nvSpPr>
        <p:spPr>
          <a:xfrm>
            <a:off x="914400" y="1349412"/>
            <a:ext cx="1147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 new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C7FEFD-A42E-D54F-9115-34E060D47EFB}"/>
              </a:ext>
            </a:extLst>
          </p:cNvPr>
          <p:cNvSpPr txBox="1"/>
          <p:nvPr/>
        </p:nvSpPr>
        <p:spPr>
          <a:xfrm>
            <a:off x="726141" y="4197729"/>
            <a:ext cx="11474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Properties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1F99E8-4D33-C744-8237-C5E3B80F6397}"/>
              </a:ext>
            </a:extLst>
          </p:cNvPr>
          <p:cNvSpPr txBox="1"/>
          <p:nvPr/>
        </p:nvSpPr>
        <p:spPr>
          <a:xfrm>
            <a:off x="6490447" y="1342655"/>
            <a:ext cx="2312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Move forward in time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2DA810E-8F4A-EB43-8AE5-7F4BAB7347C5}"/>
              </a:ext>
            </a:extLst>
          </p:cNvPr>
          <p:cNvCxnSpPr/>
          <p:nvPr/>
        </p:nvCxnSpPr>
        <p:spPr>
          <a:xfrm>
            <a:off x="1963271" y="1643931"/>
            <a:ext cx="403411" cy="3731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8E72FC3-7ACE-F34F-8F53-63436FEA0950}"/>
              </a:ext>
            </a:extLst>
          </p:cNvPr>
          <p:cNvCxnSpPr>
            <a:cxnSpLocks/>
          </p:cNvCxnSpPr>
          <p:nvPr/>
        </p:nvCxnSpPr>
        <p:spPr>
          <a:xfrm flipH="1">
            <a:off x="6181166" y="1643931"/>
            <a:ext cx="412375" cy="3731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F02510-94BD-F542-AB97-974C318E24B1}"/>
              </a:ext>
            </a:extLst>
          </p:cNvPr>
          <p:cNvCxnSpPr>
            <a:cxnSpLocks/>
          </p:cNvCxnSpPr>
          <p:nvPr/>
        </p:nvCxnSpPr>
        <p:spPr>
          <a:xfrm flipV="1">
            <a:off x="1833282" y="4143910"/>
            <a:ext cx="1053353" cy="1904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62348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EFC22-46A7-8342-89D6-06372041F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MOOSE C++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AE1BE-5002-5547-B724-ADABF39D5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Will not cover here, if you feel like you need some background, go to below site, where they have some basics</a:t>
            </a:r>
          </a:p>
          <a:p>
            <a:endParaRPr lang="en-US" dirty="0"/>
          </a:p>
          <a:p>
            <a:r>
              <a:rPr lang="en-US" dirty="0">
                <a:hlinkClick r:id="rId2"/>
              </a:rPr>
              <a:t>https://mooseframework.inl.gov/workshop/#/11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4AE4E-25F9-9149-9EB0-FFB8F0429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709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AB8E3-4A8C-F440-B94C-618F50DED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Tutorials/Examples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E028E-E713-D74B-8FF8-907C42F1B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mooseframework.inl.gov</a:t>
            </a:r>
            <a:r>
              <a:rPr lang="en-US" dirty="0"/>
              <a:t>/</a:t>
            </a:r>
            <a:r>
              <a:rPr lang="en-US" dirty="0" err="1"/>
              <a:t>getting_started</a:t>
            </a:r>
            <a:r>
              <a:rPr lang="en-US" dirty="0"/>
              <a:t>/</a:t>
            </a:r>
            <a:r>
              <a:rPr lang="en-US" dirty="0" err="1"/>
              <a:t>examples_and_tutorials</a:t>
            </a:r>
            <a:r>
              <a:rPr lang="en-US" dirty="0"/>
              <a:t>/</a:t>
            </a:r>
            <a:r>
              <a:rPr lang="en-US" dirty="0" err="1"/>
              <a:t>index.html</a:t>
            </a:r>
            <a:endParaRPr lang="en-US" dirty="0"/>
          </a:p>
          <a:p>
            <a:r>
              <a:rPr lang="en-US" dirty="0"/>
              <a:t>Has a 21-step tutorial, with each step adding in some complexity or additional physics/BCs/outputs/etc.</a:t>
            </a:r>
          </a:p>
          <a:p>
            <a:r>
              <a:rPr lang="en-US" dirty="0"/>
              <a:t>This is a VERY valuable exercise to work through</a:t>
            </a:r>
          </a:p>
          <a:p>
            <a:r>
              <a:rPr lang="en-US" dirty="0"/>
              <a:t>Also should go through Heat Transfer Physics Module Example</a:t>
            </a:r>
          </a:p>
          <a:p>
            <a:endParaRPr lang="en-US" dirty="0"/>
          </a:p>
          <a:p>
            <a:r>
              <a:rPr lang="en-US" dirty="0"/>
              <a:t>Tip : ./</a:t>
            </a:r>
            <a:r>
              <a:rPr lang="en-US" dirty="0" err="1"/>
              <a:t>mooseapp</a:t>
            </a:r>
            <a:r>
              <a:rPr lang="en-US" dirty="0"/>
              <a:t>-opt --dump &gt; </a:t>
            </a:r>
            <a:r>
              <a:rPr lang="en-US" dirty="0" err="1"/>
              <a:t>syntax.out</a:t>
            </a:r>
            <a:r>
              <a:rPr lang="en-US" dirty="0"/>
              <a:t> creates a file “</a:t>
            </a:r>
            <a:r>
              <a:rPr lang="en-US" dirty="0" err="1"/>
              <a:t>syntax.out</a:t>
            </a:r>
            <a:r>
              <a:rPr lang="en-US" dirty="0"/>
              <a:t>” with all of the moose syntax and usage</a:t>
            </a:r>
          </a:p>
          <a:p>
            <a:r>
              <a:rPr lang="en-US" dirty="0"/>
              <a:t>Better tip: </a:t>
            </a:r>
            <a:r>
              <a:rPr lang="en-US" dirty="0" err="1"/>
              <a:t>mooseframework.org</a:t>
            </a:r>
            <a:r>
              <a:rPr lang="en-US" dirty="0"/>
              <a:t> is a great resource with everything documented</a:t>
            </a:r>
          </a:p>
          <a:p>
            <a:endParaRPr lang="en-US" dirty="0"/>
          </a:p>
          <a:p>
            <a:r>
              <a:rPr lang="en-US" dirty="0"/>
              <a:t>The biggest hurdle for the first part is correctly generating the mesh…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759DD-6F6C-E54B-9D94-0719D8A5F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872864"/>
      </p:ext>
    </p:extLst>
  </p:cSld>
  <p:clrMapOvr>
    <a:masterClrMapping/>
  </p:clrMapOvr>
</p:sld>
</file>

<file path=ppt/theme/theme1.xml><?xml version="1.0" encoding="utf-8"?>
<a:theme xmlns:a="http://schemas.openxmlformats.org/drawingml/2006/main" name="NCStateU-horizontal-left-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19576</TotalTime>
  <Words>961</Words>
  <Application>Microsoft Macintosh PowerPoint</Application>
  <PresentationFormat>Widescreen</PresentationFormat>
  <Paragraphs>122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Andale Mono</vt:lpstr>
      <vt:lpstr>Arial</vt:lpstr>
      <vt:lpstr>Calibri</vt:lpstr>
      <vt:lpstr>Roboto</vt:lpstr>
      <vt:lpstr>NCStateU-horizontal-left-logo</vt:lpstr>
      <vt:lpstr>Nuclear Fuel Performance</vt:lpstr>
      <vt:lpstr>MOOSE– Massively Object-Oriented Simulation Environment</vt:lpstr>
      <vt:lpstr>Accessing Hazel</vt:lpstr>
      <vt:lpstr>Access to MOOSE on Hazel</vt:lpstr>
      <vt:lpstr>Handy bash commands</vt:lpstr>
      <vt:lpstr>MOOSE Resources</vt:lpstr>
      <vt:lpstr>PowerPoint Presentation</vt:lpstr>
      <vt:lpstr>MOOSE Physics Modules</vt:lpstr>
      <vt:lpstr>Governing Equations</vt:lpstr>
      <vt:lpstr>Input Files</vt:lpstr>
      <vt:lpstr>Input File</vt:lpstr>
      <vt:lpstr>PowerPoint Presentation</vt:lpstr>
      <vt:lpstr>Run Example via Command Line</vt:lpstr>
      <vt:lpstr>Mesh</vt:lpstr>
      <vt:lpstr>Variables</vt:lpstr>
      <vt:lpstr>Kernel</vt:lpstr>
      <vt:lpstr>Materials</vt:lpstr>
      <vt:lpstr>GenericConstantMaterials</vt:lpstr>
      <vt:lpstr>Boundary Conditions</vt:lpstr>
      <vt:lpstr>Functions</vt:lpstr>
      <vt:lpstr>MOOSE Executioner</vt:lpstr>
      <vt:lpstr>Outputs</vt:lpstr>
      <vt:lpstr>Visualization</vt:lpstr>
      <vt:lpstr>Paraview</vt:lpstr>
      <vt:lpstr>MOOSE C++ Fundamentals</vt:lpstr>
      <vt:lpstr>Tutorials/Examples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MOOSE– Massively Object-Oriented Simulation Environment</dc:title>
  <dc:creator>Ben Beeler</dc:creator>
  <cp:lastModifiedBy>Benjamin W. Beeler</cp:lastModifiedBy>
  <cp:revision>47</cp:revision>
  <dcterms:created xsi:type="dcterms:W3CDTF">2020-03-31T19:38:56Z</dcterms:created>
  <dcterms:modified xsi:type="dcterms:W3CDTF">2026-01-27T18:30:18Z</dcterms:modified>
</cp:coreProperties>
</file>
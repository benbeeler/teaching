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1"/>
  </p:notesMasterIdLst>
  <p:sldIdLst>
    <p:sldId id="256" r:id="rId2"/>
    <p:sldId id="507" r:id="rId3"/>
    <p:sldId id="480" r:id="rId4"/>
    <p:sldId id="481" r:id="rId5"/>
    <p:sldId id="482" r:id="rId6"/>
    <p:sldId id="483" r:id="rId7"/>
    <p:sldId id="484" r:id="rId8"/>
    <p:sldId id="485" r:id="rId9"/>
    <p:sldId id="486" r:id="rId10"/>
    <p:sldId id="534" r:id="rId11"/>
    <p:sldId id="487" r:id="rId12"/>
    <p:sldId id="488" r:id="rId13"/>
    <p:sldId id="489" r:id="rId14"/>
    <p:sldId id="491" r:id="rId15"/>
    <p:sldId id="490" r:id="rId16"/>
    <p:sldId id="492" r:id="rId17"/>
    <p:sldId id="493" r:id="rId18"/>
    <p:sldId id="442" r:id="rId19"/>
    <p:sldId id="443" r:id="rId20"/>
    <p:sldId id="446" r:id="rId21"/>
    <p:sldId id="537" r:id="rId22"/>
    <p:sldId id="463" r:id="rId23"/>
    <p:sldId id="496" r:id="rId24"/>
    <p:sldId id="523" r:id="rId25"/>
    <p:sldId id="522" r:id="rId26"/>
    <p:sldId id="532" r:id="rId27"/>
    <p:sldId id="533" r:id="rId28"/>
    <p:sldId id="525" r:id="rId29"/>
    <p:sldId id="52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32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7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137FF6-46D6-B849-A6CD-85860317B6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3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4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if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69925"/>
            <a:ext cx="10972800" cy="1068387"/>
          </a:xfrm>
        </p:spPr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8312"/>
            <a:ext cx="11183007" cy="4387852"/>
          </a:xfrm>
        </p:spPr>
        <p:txBody>
          <a:bodyPr/>
          <a:lstStyle/>
          <a:p>
            <a:r>
              <a:rPr lang="en-US" sz="2200" dirty="0"/>
              <a:t>TRISO particle intro, evolution into current TRISO design</a:t>
            </a:r>
          </a:p>
          <a:p>
            <a:r>
              <a:rPr lang="en-US" sz="2200" dirty="0"/>
              <a:t>Different layers and their roles</a:t>
            </a:r>
          </a:p>
          <a:p>
            <a:pPr lvl="1"/>
            <a:r>
              <a:rPr lang="en-US" sz="2200" dirty="0"/>
              <a:t>kernel, buffer, </a:t>
            </a:r>
            <a:r>
              <a:rPr lang="en-US" sz="2200" dirty="0" err="1"/>
              <a:t>IPyC</a:t>
            </a:r>
            <a:r>
              <a:rPr lang="en-US" sz="2200" dirty="0"/>
              <a:t>, </a:t>
            </a:r>
            <a:r>
              <a:rPr lang="en-US" sz="2200" dirty="0" err="1"/>
              <a:t>SiC</a:t>
            </a:r>
            <a:r>
              <a:rPr lang="en-US" sz="2200" dirty="0"/>
              <a:t>, </a:t>
            </a:r>
            <a:r>
              <a:rPr lang="en-US" sz="2200" dirty="0" err="1"/>
              <a:t>OPyC</a:t>
            </a:r>
            <a:endParaRPr lang="en-US" sz="2200" dirty="0"/>
          </a:p>
          <a:p>
            <a:r>
              <a:rPr lang="en-US" sz="2200" dirty="0"/>
              <a:t>Fuel kernel – UO2 and UCO</a:t>
            </a:r>
          </a:p>
          <a:p>
            <a:pPr lvl="1"/>
            <a:r>
              <a:rPr lang="en-US" sz="2200" dirty="0"/>
              <a:t>UO2 retains fission products, but generates CO</a:t>
            </a:r>
          </a:p>
          <a:p>
            <a:pPr lvl="1"/>
            <a:r>
              <a:rPr lang="en-US" sz="2200" dirty="0"/>
              <a:t>UC2 limits CO formation, but poorly retains fission products</a:t>
            </a:r>
          </a:p>
          <a:p>
            <a:r>
              <a:rPr lang="en-US" sz="2200" dirty="0"/>
              <a:t>Fission products</a:t>
            </a:r>
          </a:p>
          <a:p>
            <a:pPr lvl="1"/>
            <a:r>
              <a:rPr lang="en-US" sz="2200" dirty="0"/>
              <a:t>Oxygen potential controls which compounds form, transitioning UC into UO2, while some FPs form oxides and other carbides</a:t>
            </a:r>
          </a:p>
          <a:p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introduced structure and started discussing radiation effects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3049-4B0D-0947-9A8D-33B38D2E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Low-Med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5B20-5E00-B145-9346-A0CC7F4F2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12195" cy="4157663"/>
          </a:xfrm>
        </p:spPr>
        <p:txBody>
          <a:bodyPr/>
          <a:lstStyle/>
          <a:p>
            <a:r>
              <a:rPr lang="en-US" sz="2000" dirty="0"/>
              <a:t>Above the critical amorphization temperature (423 K), the swelling increases logarithmically with dose until it reaches saturation</a:t>
            </a:r>
          </a:p>
          <a:p>
            <a:r>
              <a:rPr lang="en-US" sz="2000" dirty="0"/>
              <a:t>The saturation level decreases with increasing irradiation temperature</a:t>
            </a:r>
          </a:p>
          <a:p>
            <a:r>
              <a:rPr lang="en-US" sz="2000" dirty="0"/>
              <a:t>The dose exponents of swelling during the log period are often close to 2/3, in line with assumptions based on interstitial clusters</a:t>
            </a:r>
          </a:p>
          <a:p>
            <a:r>
              <a:rPr lang="en-US" sz="2000" dirty="0"/>
              <a:t>This temperature regime is referred to as the point-defect swelling regime and goes from critical amorphization temperature to about 1273 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7752AB-4E91-654B-9BEA-04BA868B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5" name="Content Placeholder 9" descr="Swelling percent of SiC as a function of dose at different temperatures">
            <a:extLst>
              <a:ext uri="{FF2B5EF4-FFF2-40B4-BE49-F238E27FC236}">
                <a16:creationId xmlns:a16="http://schemas.microsoft.com/office/drawing/2014/main" id="{0A87967C-DDCE-3C8D-A5C4-7988D9C284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6030" y="839250"/>
            <a:ext cx="2607340" cy="2976452"/>
          </a:xfrm>
          <a:prstGeom prst="rect">
            <a:avLst/>
          </a:prstGeom>
        </p:spPr>
      </p:pic>
      <p:pic>
        <p:nvPicPr>
          <p:cNvPr id="6" name="Picture 5" descr="Micrograph showing defects forming">
            <a:extLst>
              <a:ext uri="{FF2B5EF4-FFF2-40B4-BE49-F238E27FC236}">
                <a16:creationId xmlns:a16="http://schemas.microsoft.com/office/drawing/2014/main" id="{88D1C86F-AED8-F561-8E97-2556357D79A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58978" y="3858435"/>
            <a:ext cx="4123422" cy="26264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2E22E08-E03C-94AF-5D40-DC0BE50FB31E}"/>
              </a:ext>
            </a:extLst>
          </p:cNvPr>
          <p:cNvSpPr/>
          <p:nvPr/>
        </p:nvSpPr>
        <p:spPr>
          <a:xfrm>
            <a:off x="7716230" y="3943901"/>
            <a:ext cx="1499600" cy="41549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700" dirty="0" err="1">
                <a:latin typeface="Helvetica" pitchFamily="2" charset="0"/>
              </a:rPr>
              <a:t>Tirr</a:t>
            </a:r>
            <a:r>
              <a:rPr lang="en-US" sz="700" dirty="0">
                <a:latin typeface="Helvetica" pitchFamily="2" charset="0"/>
              </a:rPr>
              <a:t>=300  C, 6 dpa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Dot number density  2.2e+24m-3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Mean dot diameter=1nm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F21C2E-78C3-3778-1114-B3118442B271}"/>
              </a:ext>
            </a:extLst>
          </p:cNvPr>
          <p:cNvSpPr/>
          <p:nvPr/>
        </p:nvSpPr>
        <p:spPr>
          <a:xfrm>
            <a:off x="9671094" y="3943901"/>
            <a:ext cx="1751649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800" dirty="0" err="1">
                <a:latin typeface="Helvetica" pitchFamily="2" charset="0"/>
              </a:rPr>
              <a:t>Tirr</a:t>
            </a:r>
            <a:r>
              <a:rPr lang="en-US" sz="800" dirty="0">
                <a:latin typeface="Helvetica" pitchFamily="2" charset="0"/>
              </a:rPr>
              <a:t>= 800  C, 7.7 dpa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Loop number density  3.3e+23m-3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Mean loop diameter = 3.0 nm</a:t>
            </a:r>
          </a:p>
        </p:txBody>
      </p:sp>
    </p:spTree>
    <p:extLst>
      <p:ext uri="{BB962C8B-B14F-4D97-AF65-F5344CB8AC3E}">
        <p14:creationId xmlns:p14="http://schemas.microsoft.com/office/powerpoint/2010/main" val="393710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5B8A0-BF30-1440-97BD-9FCCBD737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Saturation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6EBB-A39D-884F-B14C-39C6B20CF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5" cy="4157663"/>
          </a:xfrm>
        </p:spPr>
        <p:txBody>
          <a:bodyPr/>
          <a:lstStyle/>
          <a:p>
            <a:r>
              <a:rPr lang="en-US" sz="2400" dirty="0"/>
              <a:t>Log swelling vs dose shown at right for CVD </a:t>
            </a:r>
            <a:r>
              <a:rPr lang="en-US" sz="2400" dirty="0" err="1"/>
              <a:t>SiC</a:t>
            </a:r>
            <a:r>
              <a:rPr lang="en-US" sz="2400" dirty="0"/>
              <a:t> irradiated in HFIR</a:t>
            </a:r>
          </a:p>
          <a:p>
            <a:r>
              <a:rPr lang="en-US" sz="2400" dirty="0"/>
              <a:t>The swelling of </a:t>
            </a:r>
            <a:r>
              <a:rPr lang="en-US" sz="2400" dirty="0" err="1"/>
              <a:t>SiC</a:t>
            </a:r>
            <a:r>
              <a:rPr lang="en-US" sz="2400" dirty="0"/>
              <a:t> is highly temperature dependent</a:t>
            </a:r>
          </a:p>
          <a:p>
            <a:pPr lvl="1"/>
            <a:r>
              <a:rPr lang="en-US" sz="1867" dirty="0"/>
              <a:t>at 1 dpa, saturation values from 200 C to 800 C vary by a factor of 5</a:t>
            </a:r>
          </a:p>
          <a:p>
            <a:r>
              <a:rPr lang="en-US" sz="2400" dirty="0"/>
              <a:t>The decrease in saturation with increasing T is due to increased recombination of defects</a:t>
            </a:r>
          </a:p>
          <a:p>
            <a:r>
              <a:rPr lang="en-US" sz="2400" dirty="0"/>
              <a:t>Swelling saturates at relatively low doses, less than 10 dpa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41284E-76ED-6C42-A0AC-3A121F12F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718" y="5423694"/>
            <a:ext cx="3189906" cy="707694"/>
          </a:xfrm>
          <a:prstGeom prst="rect">
            <a:avLst/>
          </a:prstGeom>
        </p:spPr>
      </p:pic>
      <p:pic>
        <p:nvPicPr>
          <p:cNvPr id="10" name="Content Placeholder 9" descr="Swelling percent of SiC as a function of dose at different temperatures">
            <a:extLst>
              <a:ext uri="{FF2B5EF4-FFF2-40B4-BE49-F238E27FC236}">
                <a16:creationId xmlns:a16="http://schemas.microsoft.com/office/drawing/2014/main" id="{79E1832C-7411-3443-9900-A8C2E4757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2152" y="1434306"/>
            <a:ext cx="3456411" cy="39457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82E88-0D33-9D41-801A-A4A219FA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957E8-B98C-F044-BD9F-900BAC20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1D2C-87D7-A84A-BED9-7210B2DFF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33479" cy="4157663"/>
          </a:xfrm>
        </p:spPr>
        <p:txBody>
          <a:bodyPr/>
          <a:lstStyle/>
          <a:p>
            <a:r>
              <a:rPr lang="en-US" sz="2200" dirty="0"/>
              <a:t>Above 1000C, Frank loops of the interstitial type become the dominant defects observed by TEM</a:t>
            </a:r>
          </a:p>
          <a:p>
            <a:r>
              <a:rPr lang="en-US" sz="2200" dirty="0"/>
              <a:t>Interstitial Frank loops are faulted, in that they include a stacking fault</a:t>
            </a:r>
          </a:p>
          <a:p>
            <a:r>
              <a:rPr lang="en-US" sz="2200" dirty="0"/>
              <a:t>Consequently, these loops cannot glide and will not move under an applied stress or temperature, and are therefore considered as sessile</a:t>
            </a:r>
          </a:p>
          <a:p>
            <a:r>
              <a:rPr lang="en-US" sz="2200" dirty="0"/>
              <a:t>At high temperature, the development of Frank loops into dislocation networks through unfaulting reactions at high doses is reported</a:t>
            </a:r>
          </a:p>
        </p:txBody>
      </p:sp>
      <p:pic>
        <p:nvPicPr>
          <p:cNvPr id="5" name="Content Placeholder 4" descr="Illustration of a Frank loop">
            <a:extLst>
              <a:ext uri="{FF2B5EF4-FFF2-40B4-BE49-F238E27FC236}">
                <a16:creationId xmlns:a16="http://schemas.microsoft.com/office/drawing/2014/main" id="{C26003CB-11BC-CE42-8ADA-9D9BD5F78AC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57440" y="1968500"/>
            <a:ext cx="2810598" cy="1908371"/>
          </a:xfrm>
          <a:prstGeom prst="rect">
            <a:avLst/>
          </a:prstGeom>
        </p:spPr>
      </p:pic>
      <p:pic>
        <p:nvPicPr>
          <p:cNvPr id="6" name="Picture 5" descr="Micrograph of Frank loops">
            <a:extLst>
              <a:ext uri="{FF2B5EF4-FFF2-40B4-BE49-F238E27FC236}">
                <a16:creationId xmlns:a16="http://schemas.microsoft.com/office/drawing/2014/main" id="{57F7C259-2E87-BB45-9DF5-516B803A9A0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79721" y="3876871"/>
            <a:ext cx="2429286" cy="2620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8A641-3ABC-A946-BE15-9A77593E4AFE}"/>
              </a:ext>
            </a:extLst>
          </p:cNvPr>
          <p:cNvSpPr txBox="1"/>
          <p:nvPr/>
        </p:nvSpPr>
        <p:spPr>
          <a:xfrm>
            <a:off x="10424160" y="4593515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Frank loops in 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32E1F-F866-0244-8360-246DAFA3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8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329D-E63E-0349-A476-6CE2C0E0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A460-9072-664C-AABE-83BB119ABD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volume associated with dislocation loops in irradiated </a:t>
            </a:r>
            <a:r>
              <a:rPr lang="en-US" sz="2400" dirty="0" err="1"/>
              <a:t>SiC</a:t>
            </a:r>
            <a:r>
              <a:rPr lang="en-US" sz="2400" dirty="0"/>
              <a:t> has been estimated to be on the order of 0.1%</a:t>
            </a:r>
          </a:p>
          <a:p>
            <a:r>
              <a:rPr lang="en-US" sz="2400" dirty="0"/>
              <a:t>At high T (greater than about 1250 K) vacancies are sufficiently mobile and vacancy clusters can be formed</a:t>
            </a:r>
          </a:p>
          <a:p>
            <a:r>
              <a:rPr lang="en-US" sz="2400" dirty="0"/>
              <a:t>This high T regime is the void swelling regime</a:t>
            </a:r>
          </a:p>
        </p:txBody>
      </p:sp>
      <p:pic>
        <p:nvPicPr>
          <p:cNvPr id="5" name="Content Placeholder 4" descr="Micrograph showing defect evolution, and the beginning of voids, as temperature and dose increases">
            <a:extLst>
              <a:ext uri="{FF2B5EF4-FFF2-40B4-BE49-F238E27FC236}">
                <a16:creationId xmlns:a16="http://schemas.microsoft.com/office/drawing/2014/main" id="{E5790135-67CB-E646-90F9-4856CD5B25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7450" y="2288381"/>
            <a:ext cx="5245100" cy="351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A361B1-3443-C34A-AB65-DC5B2A5A2FE9}"/>
              </a:ext>
            </a:extLst>
          </p:cNvPr>
          <p:cNvSpPr/>
          <p:nvPr/>
        </p:nvSpPr>
        <p:spPr>
          <a:xfrm>
            <a:off x="5822493" y="6126162"/>
            <a:ext cx="61350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Helvetica" pitchFamily="2" charset="0"/>
              </a:rPr>
              <a:t>Evolution of voids in high-temperature irradiated CVD </a:t>
            </a:r>
            <a:r>
              <a:rPr lang="en-US" dirty="0" err="1">
                <a:latin typeface="Helvetica" pitchFamily="2" charset="0"/>
              </a:rPr>
              <a:t>SiC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2ED2E6-AE87-6E40-B576-536035F5A1EE}"/>
              </a:ext>
            </a:extLst>
          </p:cNvPr>
          <p:cNvSpPr/>
          <p:nvPr/>
        </p:nvSpPr>
        <p:spPr>
          <a:xfrm>
            <a:off x="6553323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AFB8A6-2C53-AF49-875E-2D0C6943D6D3}"/>
              </a:ext>
            </a:extLst>
          </p:cNvPr>
          <p:cNvSpPr/>
          <p:nvPr/>
        </p:nvSpPr>
        <p:spPr>
          <a:xfrm>
            <a:off x="8175892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5B05CB-08F4-164B-9CDB-622B4A1C45A9}"/>
              </a:ext>
            </a:extLst>
          </p:cNvPr>
          <p:cNvSpPr/>
          <p:nvPr/>
        </p:nvSpPr>
        <p:spPr>
          <a:xfrm>
            <a:off x="10081754" y="3004905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1280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9F7C5-67CF-8C46-8304-29F7A11B29B2}"/>
              </a:ext>
            </a:extLst>
          </p:cNvPr>
          <p:cNvSpPr/>
          <p:nvPr/>
        </p:nvSpPr>
        <p:spPr>
          <a:xfrm>
            <a:off x="6553322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533CC-AE9D-094C-9A17-0C75DC313A49}"/>
              </a:ext>
            </a:extLst>
          </p:cNvPr>
          <p:cNvSpPr/>
          <p:nvPr/>
        </p:nvSpPr>
        <p:spPr>
          <a:xfrm>
            <a:off x="8277491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A8950D-F948-074F-A106-0680561A17E3}"/>
              </a:ext>
            </a:extLst>
          </p:cNvPr>
          <p:cNvSpPr/>
          <p:nvPr/>
        </p:nvSpPr>
        <p:spPr>
          <a:xfrm>
            <a:off x="10081753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5DBD7-A652-2744-9757-49E48B0C7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7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926851" cy="4157663"/>
          </a:xfrm>
        </p:spPr>
        <p:txBody>
          <a:bodyPr/>
          <a:lstStyle/>
          <a:p>
            <a:r>
              <a:rPr lang="en-US" sz="2400" dirty="0"/>
              <a:t>The transition from point-defect saturated swelling to void swelling occurs above 1000C</a:t>
            </a:r>
          </a:p>
          <a:p>
            <a:r>
              <a:rPr lang="en-US" sz="2400" dirty="0"/>
              <a:t>Void swelling increases as a function of dose, and is not known to saturate</a:t>
            </a:r>
          </a:p>
          <a:p>
            <a:r>
              <a:rPr lang="en-US" sz="2400" dirty="0"/>
              <a:t>The swelling near the critical amorphization temperature is described as the differential strain between point defects or small defect clusters</a:t>
            </a:r>
          </a:p>
          <a:p>
            <a:endParaRPr lang="en-US" sz="2400" dirty="0"/>
          </a:p>
        </p:txBody>
      </p:sp>
      <p:pic>
        <p:nvPicPr>
          <p:cNvPr id="5" name="Content Placeholder 4" descr="Combined swelling plot versus temperature and dpa for SiC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053EA-89D8-044D-BA24-295FF82C9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35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Above the critical amorphization temperature, the number of defects surviving recombination is reduced and the mobility of both silicon and carbon interstitials becomes significant</a:t>
            </a:r>
          </a:p>
          <a:p>
            <a:r>
              <a:rPr lang="en-US" sz="2200" dirty="0"/>
              <a:t>Above 1000 C microstructural studies have noted the presence of both Frank loops and tiny voids, indicating limited mobility of vacancies</a:t>
            </a:r>
          </a:p>
          <a:p>
            <a:r>
              <a:rPr lang="en-US" sz="2200" dirty="0"/>
              <a:t>The max irradiation temperature shown is 0.65 </a:t>
            </a:r>
            <a:r>
              <a:rPr lang="en-US" sz="2200" dirty="0" err="1"/>
              <a:t>T</a:t>
            </a:r>
            <a:r>
              <a:rPr lang="en-US" sz="2200" baseline="-25000" dirty="0" err="1"/>
              <a:t>melt</a:t>
            </a:r>
            <a:endParaRPr lang="en-US" sz="2200" baseline="-25000" dirty="0"/>
          </a:p>
        </p:txBody>
      </p:sp>
      <p:pic>
        <p:nvPicPr>
          <p:cNvPr id="5" name="Content Placeholder 4" descr="Combined swelling plot for SiC with irradiation temperature and dose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89A4B-F623-2B48-82E5-ED4E36D5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072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In typical </a:t>
            </a:r>
            <a:r>
              <a:rPr lang="en-US" sz="2200" dirty="0" err="1"/>
              <a:t>fcc</a:t>
            </a:r>
            <a:r>
              <a:rPr lang="en-US" sz="2200" dirty="0"/>
              <a:t> metal systems void swelling typically begins at ~0.35Tm, goes through a maximum value, and decreases to nil swelling by ~0.55Tm</a:t>
            </a:r>
          </a:p>
          <a:p>
            <a:r>
              <a:rPr lang="en-US" sz="2200" dirty="0"/>
              <a:t>The voids in </a:t>
            </a:r>
            <a:r>
              <a:rPr lang="en-US" sz="2200" dirty="0" err="1"/>
              <a:t>SiC</a:t>
            </a:r>
            <a:r>
              <a:rPr lang="en-US" sz="2200" dirty="0"/>
              <a:t> are continuing to grow in </a:t>
            </a:r>
            <a:r>
              <a:rPr lang="en-US" sz="2200" dirty="0" err="1"/>
              <a:t>SiC</a:t>
            </a:r>
            <a:r>
              <a:rPr lang="en-US" sz="2200" dirty="0"/>
              <a:t> irradiated to 1773 K, thus the energies for diffusion of either the Si or C vacancy or both must be quite high</a:t>
            </a:r>
          </a:p>
          <a:p>
            <a:r>
              <a:rPr lang="en-US" sz="2200" dirty="0"/>
              <a:t>This has been confirmed through DFT methods</a:t>
            </a:r>
          </a:p>
          <a:p>
            <a:r>
              <a:rPr lang="en-US" sz="2200" dirty="0"/>
              <a:t>It is unclear how swelling will increase as a function of dose above 10 dpa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 descr="Combined swelling for SiC with irradiation temperature and dose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4B6BE-B35F-E044-B8DC-C267863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24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7FA9A-E401-F253-8DF3-5762FE1A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</a:t>
            </a:r>
            <a:r>
              <a:rPr lang="en-US" dirty="0" err="1"/>
              <a:t>SiC</a:t>
            </a:r>
            <a:r>
              <a:rPr lang="en-US" dirty="0"/>
              <a:t> Irradiation Defects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4CF-753B-70CB-5C02-C7939F761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8057361" cy="4157663"/>
          </a:xfrm>
        </p:spPr>
        <p:txBody>
          <a:bodyPr/>
          <a:lstStyle/>
          <a:p>
            <a:r>
              <a:rPr lang="en-US" dirty="0"/>
              <a:t>below 423 K, </a:t>
            </a:r>
            <a:r>
              <a:rPr lang="en-US" dirty="0" err="1"/>
              <a:t>SiC</a:t>
            </a:r>
            <a:r>
              <a:rPr lang="en-US" dirty="0"/>
              <a:t> can amorphize, can have fairly high swelling rates</a:t>
            </a:r>
          </a:p>
          <a:p>
            <a:r>
              <a:rPr lang="en-US" dirty="0"/>
              <a:t>at 423-1273 K, point defect swelling regime</a:t>
            </a:r>
          </a:p>
          <a:p>
            <a:pPr lvl="1"/>
            <a:r>
              <a:rPr lang="en-US" sz="2400" dirty="0"/>
              <a:t>black spot defects are the main types of defects</a:t>
            </a:r>
          </a:p>
          <a:p>
            <a:pPr lvl="1"/>
            <a:r>
              <a:rPr lang="en-US" sz="2400" dirty="0"/>
              <a:t>cause swelling which saturates, the level of which is inversely proportional to T</a:t>
            </a:r>
          </a:p>
          <a:p>
            <a:r>
              <a:rPr lang="en-US" dirty="0"/>
              <a:t>above 1273 K, we get Frank loops and voids</a:t>
            </a:r>
          </a:p>
          <a:p>
            <a:pPr lvl="1"/>
            <a:r>
              <a:rPr lang="en-US" sz="2400" dirty="0"/>
              <a:t>void swelling regime</a:t>
            </a:r>
          </a:p>
          <a:p>
            <a:pPr lvl="1"/>
            <a:r>
              <a:rPr lang="en-US" sz="2400" dirty="0"/>
              <a:t>does not saturate, increases with dose and with 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33A1E-ECD6-ACE4-AAEB-5534F9A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6" name="Content Placeholder 4" descr="Combined swelling for SiC with irradiation temperature and dose">
            <a:extLst>
              <a:ext uri="{FF2B5EF4-FFF2-40B4-BE49-F238E27FC236}">
                <a16:creationId xmlns:a16="http://schemas.microsoft.com/office/drawing/2014/main" id="{9BAAAA74-F8C8-9189-0FD4-B8F4E679ADA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66960" y="3752382"/>
            <a:ext cx="3112802" cy="2749462"/>
          </a:xfrm>
          <a:prstGeom prst="rect">
            <a:avLst/>
          </a:prstGeom>
        </p:spPr>
      </p:pic>
      <p:pic>
        <p:nvPicPr>
          <p:cNvPr id="7" name="Content Placeholder 9" descr="Swelling versus dose at different temperatures">
            <a:extLst>
              <a:ext uri="{FF2B5EF4-FFF2-40B4-BE49-F238E27FC236}">
                <a16:creationId xmlns:a16="http://schemas.microsoft.com/office/drawing/2014/main" id="{BF5BD5E9-9CB3-F2C0-3E72-7E16D46981F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05602" y="1026234"/>
            <a:ext cx="2435518" cy="2780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1872868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45778" cy="4157663"/>
          </a:xfrm>
        </p:spPr>
        <p:txBody>
          <a:bodyPr/>
          <a:lstStyle/>
          <a:p>
            <a:r>
              <a:rPr lang="en-US" sz="2200" dirty="0" err="1"/>
              <a:t>SiC</a:t>
            </a:r>
            <a:r>
              <a:rPr lang="en-US" sz="2200" dirty="0"/>
              <a:t> is a ceramic with a band gap, and thus thermal conductivity is based on phonons</a:t>
            </a:r>
          </a:p>
          <a:p>
            <a:r>
              <a:rPr lang="en-US" sz="2200" dirty="0"/>
              <a:t>The conduction of heat can be generally described by the strength of the individual contributors to phonon scattering: grain boundary scattering; phonon–phonon interaction; and defect scattering</a:t>
            </a:r>
          </a:p>
          <a:p>
            <a:r>
              <a:rPr lang="en-US" sz="2200" dirty="0"/>
              <a:t>Each of these types occurs at differing phonon frequencies and can be considered separable</a:t>
            </a:r>
          </a:p>
        </p:txBody>
      </p:sp>
      <p:pic>
        <p:nvPicPr>
          <p:cNvPr id="5" name="Content Placeholder 4" descr="Thermal conductivity of SiC vs temperature with different microstructures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1FC71-58EB-7144-8DF1-263329C1D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99511-6D22-BB20-3ECE-3F1185784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6091" y="5779105"/>
            <a:ext cx="2222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23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The unirradiated k</a:t>
            </a:r>
            <a:r>
              <a:rPr lang="en-US" sz="2400" baseline="-25000" dirty="0"/>
              <a:t>th</a:t>
            </a:r>
            <a:r>
              <a:rPr lang="en-US" sz="2400" dirty="0"/>
              <a:t> is highly dependent upon initial microstructure and temperature</a:t>
            </a:r>
          </a:p>
          <a:p>
            <a:r>
              <a:rPr lang="en-US" sz="2400" dirty="0"/>
              <a:t>Initial microstructure can be tailored, but the temperature dependence cannot be removed</a:t>
            </a:r>
          </a:p>
          <a:p>
            <a:r>
              <a:rPr lang="en-US" sz="2400" dirty="0"/>
              <a:t>For reference, Zr thermal conductivity is about 22 W/m-K at 1000 K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 descr="Thermal conductivity of SiC vs temperature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E24FA-B0D1-DC45-B164-153C7CD9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38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At low temperatures irradiation produces simple defects and defect clusters that very effectively scatter phonons</a:t>
            </a:r>
          </a:p>
          <a:p>
            <a:r>
              <a:rPr lang="en-US" sz="2400" dirty="0"/>
              <a:t>In this case, defect scattering quickly dominates, with saturation thermal conductivity typically achieved by a few dpa</a:t>
            </a:r>
          </a:p>
          <a:p>
            <a:r>
              <a:rPr lang="en-US" sz="2400" dirty="0"/>
              <a:t>Defect scattering is sufficiently present to eliminate the typical temperature dependence</a:t>
            </a:r>
          </a:p>
        </p:txBody>
      </p:sp>
      <p:pic>
        <p:nvPicPr>
          <p:cNvPr id="8" name="Content Placeholder 7" descr="Thermal conductivity degradation versus dose at different irradiation temperatures">
            <a:extLst>
              <a:ext uri="{FF2B5EF4-FFF2-40B4-BE49-F238E27FC236}">
                <a16:creationId xmlns:a16="http://schemas.microsoft.com/office/drawing/2014/main" id="{BAE249BE-9E7F-A94E-A8AA-954DDE56E9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0246" y="1968500"/>
            <a:ext cx="413950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5E32D-D551-D147-9B83-57143EC4B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60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pic>
        <p:nvPicPr>
          <p:cNvPr id="6" name="Content Placeholder 5" descr="Thermal defect resistance as a function of dose">
            <a:extLst>
              <a:ext uri="{FF2B5EF4-FFF2-40B4-BE49-F238E27FC236}">
                <a16:creationId xmlns:a16="http://schemas.microsoft.com/office/drawing/2014/main" id="{ACE0CC0A-2F1F-9C40-A2D7-AD26591F9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910" y="2345018"/>
            <a:ext cx="2969338" cy="3141382"/>
          </a:xfrm>
          <a:prstGeom prst="rect">
            <a:avLst/>
          </a:prstGeom>
        </p:spPr>
      </p:pic>
      <p:pic>
        <p:nvPicPr>
          <p:cNvPr id="7" name="Picture 6" descr="Relationship between swelling and thermal conductivity in SiC">
            <a:extLst>
              <a:ext uri="{FF2B5EF4-FFF2-40B4-BE49-F238E27FC236}">
                <a16:creationId xmlns:a16="http://schemas.microsoft.com/office/drawing/2014/main" id="{B091F565-C9AC-7C4E-9D36-E5BA8BDE106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3411" y="2011366"/>
            <a:ext cx="2808589" cy="347503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2A99754-751D-8C40-9109-7DA406691619}"/>
              </a:ext>
            </a:extLst>
          </p:cNvPr>
          <p:cNvSpPr txBox="1">
            <a:spLocks/>
          </p:cNvSpPr>
          <p:nvPr/>
        </p:nvSpPr>
        <p:spPr bwMode="auto">
          <a:xfrm>
            <a:off x="762000" y="2120903"/>
            <a:ext cx="5544207" cy="415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7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thermal defect resistance is defined as the difference between the reciprocals of the irradiated and nonirradiated thermal conductivity (1/</a:t>
            </a:r>
            <a:r>
              <a:rPr lang="en-US" sz="2000" dirty="0" err="1"/>
              <a:t>K</a:t>
            </a:r>
            <a:r>
              <a:rPr lang="en-US" sz="2000" baseline="-25000" dirty="0" err="1"/>
              <a:t>rd</a:t>
            </a:r>
            <a:r>
              <a:rPr lang="en-US" sz="2000" dirty="0"/>
              <a:t> = 1/</a:t>
            </a:r>
            <a:r>
              <a:rPr lang="en-US" sz="2000" dirty="0" err="1"/>
              <a:t>K</a:t>
            </a:r>
            <a:r>
              <a:rPr lang="en-US" sz="2000" baseline="-25000" dirty="0" err="1"/>
              <a:t>irr</a:t>
            </a:r>
            <a:r>
              <a:rPr lang="en-US" sz="2000" dirty="0"/>
              <a:t> – 1/</a:t>
            </a:r>
            <a:r>
              <a:rPr lang="en-US" sz="2000" dirty="0" err="1"/>
              <a:t>K</a:t>
            </a:r>
            <a:r>
              <a:rPr lang="en-US" sz="2000" baseline="-25000" dirty="0" err="1"/>
              <a:t>nonirr</a:t>
            </a:r>
            <a:r>
              <a:rPr lang="en-US" sz="2000" dirty="0"/>
              <a:t>)</a:t>
            </a:r>
          </a:p>
          <a:p>
            <a:r>
              <a:rPr lang="en-US" sz="2000" dirty="0"/>
              <a:t>This term can be related directly to the defect type and concentration present in irradiated ceramics</a:t>
            </a:r>
          </a:p>
          <a:p>
            <a:r>
              <a:rPr lang="en-US" sz="2000" dirty="0"/>
              <a:t>The thermal defect resistance is directly proportional to the irradiation-induced swelling in </a:t>
            </a:r>
            <a:r>
              <a:rPr lang="en-US" sz="2000" dirty="0" err="1"/>
              <a:t>SiC</a:t>
            </a:r>
            <a:endParaRPr lang="en-US" sz="2000" dirty="0"/>
          </a:p>
          <a:p>
            <a:r>
              <a:rPr lang="en-US" sz="2000" dirty="0"/>
              <a:t>This allows an indirect determination of thermal conductivity by measurement of the density change in the TRISO </a:t>
            </a:r>
            <a:r>
              <a:rPr lang="en-US" sz="2000" dirty="0" err="1"/>
              <a:t>SiC</a:t>
            </a:r>
            <a:r>
              <a:rPr lang="en-US" sz="2000" dirty="0"/>
              <a:t> shell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BE51A-AAD1-984F-8E06-3D029832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45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F246-B5CC-9544-B2A6-036175CF4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E7EA-9334-B745-88DC-5034E8BF2B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6" cy="4157663"/>
          </a:xfrm>
        </p:spPr>
        <p:txBody>
          <a:bodyPr/>
          <a:lstStyle/>
          <a:p>
            <a:r>
              <a:rPr lang="en-US" sz="2200" dirty="0"/>
              <a:t>In the high temperature void swelling regime, thermal conductivity degradation is not expected to saturate, as voids continue to grow and scatter phonons</a:t>
            </a:r>
          </a:p>
          <a:p>
            <a:r>
              <a:rPr lang="en-US" sz="2200" dirty="0"/>
              <a:t>Additionally, the linear relationship between swelling and thermal defect resistance does not exist at high temperature</a:t>
            </a:r>
          </a:p>
          <a:p>
            <a:r>
              <a:rPr lang="en-US" sz="2200" dirty="0"/>
              <a:t>Generally, void swelling does not degrade thermal conductivity as severely as point defects, but data at high T is quite limited</a:t>
            </a:r>
          </a:p>
          <a:p>
            <a:endParaRPr lang="en-US" sz="2200" dirty="0"/>
          </a:p>
        </p:txBody>
      </p:sp>
      <p:pic>
        <p:nvPicPr>
          <p:cNvPr id="5" name="Content Placeholder 4" descr="Impact of irradiation temperature on the thermal conductivity degradation">
            <a:extLst>
              <a:ext uri="{FF2B5EF4-FFF2-40B4-BE49-F238E27FC236}">
                <a16:creationId xmlns:a16="http://schemas.microsoft.com/office/drawing/2014/main" id="{FE2CBB67-EB10-A74E-B49A-35E6A1508B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981306"/>
            <a:ext cx="5384800" cy="41320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55BDD-884B-2741-8566-BD77231A5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57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7D36-EB06-4549-A44D-733938852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Mechanical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CE1D1-7751-5B4B-BEC0-A8BD64CDA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953026" cy="4157663"/>
          </a:xfrm>
        </p:spPr>
        <p:txBody>
          <a:bodyPr/>
          <a:lstStyle/>
          <a:p>
            <a:r>
              <a:rPr lang="en-US" sz="2200" dirty="0"/>
              <a:t>Irradiation generally reduces modulus to a greater extent for lower temperature irradiation, while the modulus reduction becomes negligible when irradiation temperature reaches or exceeds 1273 K</a:t>
            </a:r>
          </a:p>
          <a:p>
            <a:r>
              <a:rPr lang="en-US" sz="2200" dirty="0"/>
              <a:t>Irradiation-induced toughening (increase in fracture toughness) seems to be significant at 573–1273K in spite of the decrease in elastic modulus</a:t>
            </a:r>
          </a:p>
          <a:p>
            <a:r>
              <a:rPr lang="en-US" sz="2200" dirty="0"/>
              <a:t>However, there is significant scatter in the data</a:t>
            </a:r>
          </a:p>
          <a:p>
            <a:r>
              <a:rPr lang="en-US" sz="2200" dirty="0"/>
              <a:t>Reminder: toughness is related to the area under the stress–strain curve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CD6816-F5A1-FB44-B7CB-E3FC6B311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4701" y="1319118"/>
            <a:ext cx="2764716" cy="2484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92F5D9-0C92-AA43-AD03-C18E9B423FF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0220" y="3856988"/>
            <a:ext cx="3053678" cy="26819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316FE-42E3-4D41-B81A-1E32AE54B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615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DA255F5-8B58-1943-A133-8F901A7376F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77037" y="2661793"/>
            <a:ext cx="5266466" cy="24840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031A22-ACB8-2F4E-BFCA-7B287E03F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D9F15-A532-C34C-8A17-13539F258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67437" cy="4157663"/>
          </a:xfrm>
        </p:spPr>
        <p:txBody>
          <a:bodyPr/>
          <a:lstStyle/>
          <a:p>
            <a:r>
              <a:rPr lang="en-US" sz="2200" dirty="0"/>
              <a:t>Irradiation creep is defined as the difference in dimensional changes between a stressed and an unstressed sample irradiated under identical conditions</a:t>
            </a:r>
          </a:p>
          <a:p>
            <a:r>
              <a:rPr lang="en-US" sz="2200" dirty="0"/>
              <a:t>Studies on irradiation creep of </a:t>
            </a:r>
            <a:r>
              <a:rPr lang="en-US" sz="2200" dirty="0" err="1"/>
              <a:t>SiC</a:t>
            </a:r>
            <a:r>
              <a:rPr lang="en-US" sz="2200" dirty="0"/>
              <a:t> have been limited, although it is of high importance for </a:t>
            </a:r>
            <a:r>
              <a:rPr lang="en-US" sz="2200" dirty="0" err="1"/>
              <a:t>SiC</a:t>
            </a:r>
            <a:r>
              <a:rPr lang="en-US" sz="2200" dirty="0"/>
              <a:t> in TRISO particles</a:t>
            </a:r>
          </a:p>
          <a:p>
            <a:r>
              <a:rPr lang="en-US" sz="2200" dirty="0"/>
              <a:t>The creep strain for CVD </a:t>
            </a:r>
            <a:r>
              <a:rPr lang="en-US" sz="2200" dirty="0" err="1"/>
              <a:t>SiC</a:t>
            </a:r>
            <a:r>
              <a:rPr lang="en-US" sz="2200" dirty="0"/>
              <a:t> exhibited a weak temperature dependence at &lt;0.7 dpa whereas a major transition at higher doses likely exists at higher temperatures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52FA0-B43D-7049-A55B-AA5F560FA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869CC4-0122-98A6-2882-CAF445D8230F}"/>
              </a:ext>
            </a:extLst>
          </p:cNvPr>
          <p:cNvSpPr/>
          <p:nvPr/>
        </p:nvSpPr>
        <p:spPr>
          <a:xfrm>
            <a:off x="6677036" y="3453331"/>
            <a:ext cx="3339323" cy="488048"/>
          </a:xfrm>
          <a:prstGeom prst="rect">
            <a:avLst/>
          </a:prstGeom>
          <a:noFill/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2D96F2-1991-E4BB-59A6-BD517C4D2384}"/>
              </a:ext>
            </a:extLst>
          </p:cNvPr>
          <p:cNvSpPr/>
          <p:nvPr/>
        </p:nvSpPr>
        <p:spPr>
          <a:xfrm>
            <a:off x="6677036" y="4035415"/>
            <a:ext cx="3339323" cy="370179"/>
          </a:xfrm>
          <a:prstGeom prst="rect">
            <a:avLst/>
          </a:prstGeom>
          <a:noFill/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516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000" dirty="0"/>
              <a:t>The silicon carbide layer serves as a critical fission product barrier, but can be corroded by fission products, in particular palladium</a:t>
            </a:r>
          </a:p>
          <a:p>
            <a:r>
              <a:rPr lang="en-US" sz="2000" dirty="0"/>
              <a:t>Additionally, silver can be transported through intact </a:t>
            </a:r>
            <a:r>
              <a:rPr lang="en-US" sz="2000" dirty="0" err="1"/>
              <a:t>SiC</a:t>
            </a:r>
            <a:r>
              <a:rPr lang="en-US" sz="2000" dirty="0"/>
              <a:t> layers</a:t>
            </a:r>
          </a:p>
          <a:p>
            <a:r>
              <a:rPr lang="en-US" sz="2000" dirty="0"/>
              <a:t>For </a:t>
            </a:r>
            <a:r>
              <a:rPr lang="en-US" sz="2000" dirty="0" err="1"/>
              <a:t>Pd</a:t>
            </a:r>
            <a:r>
              <a:rPr lang="en-US" sz="2000" dirty="0"/>
              <a:t>, the reaction with </a:t>
            </a:r>
            <a:r>
              <a:rPr lang="en-US" sz="2000" dirty="0" err="1"/>
              <a:t>SiC</a:t>
            </a:r>
            <a:r>
              <a:rPr lang="en-US" sz="2000" dirty="0"/>
              <a:t> can be qualitatively explained by the phase-diagram, where a number of intermetallic structures are present</a:t>
            </a:r>
          </a:p>
          <a:p>
            <a:r>
              <a:rPr lang="en-US" sz="2000" dirty="0"/>
              <a:t>To prevent corrosion by Pd, new combinations of coating layers have been proposed, and means of trapping Pd in the fuel are explored</a:t>
            </a:r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3AF7B02-3EAF-FA42-94F5-F6AB95C4D4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045" y="1968500"/>
            <a:ext cx="4903910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6ECC8-2DCD-234D-B7F3-96EA9DC5A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59596" cy="4157663"/>
          </a:xfrm>
        </p:spPr>
        <p:txBody>
          <a:bodyPr/>
          <a:lstStyle/>
          <a:p>
            <a:r>
              <a:rPr lang="en-US" sz="2000" dirty="0"/>
              <a:t>Silver release has been observed from undamaged particles suggesting that Ag migrates through intact </a:t>
            </a:r>
            <a:r>
              <a:rPr lang="en-US" sz="2000" dirty="0" err="1"/>
              <a:t>SiC</a:t>
            </a:r>
            <a:r>
              <a:rPr lang="en-US" sz="2000" dirty="0"/>
              <a:t> layers at temperatures &gt;1100 C</a:t>
            </a:r>
          </a:p>
          <a:p>
            <a:r>
              <a:rPr lang="en-US" sz="2000" dirty="0"/>
              <a:t>The Ag migration mechanism remains not fully understood, but has a temperature dependence, and is expected to be grain boundary diffusion driven</a:t>
            </a:r>
          </a:p>
          <a:p>
            <a:r>
              <a:rPr lang="en-US" sz="2000" dirty="0"/>
              <a:t>From microstructural analyses, it seems possible that Ag, Cd, and Pd cluster and transport together at grain boundaries and triple points because of their common chemical properties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0C74934-2F83-C647-AFF0-653A0984E4F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195" y="1827466"/>
            <a:ext cx="2455679" cy="22198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86676B-D186-904A-B66F-95830B935BE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195" y="4082794"/>
            <a:ext cx="4913205" cy="27752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56E3F-2176-874F-82A9-4012EB6B6D5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7364" y="1794193"/>
            <a:ext cx="2245036" cy="225314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13024-78E4-F447-BDFF-582776420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18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000" dirty="0"/>
              <a:t>Once cesium has migrated into the buffer, it can react with carbon</a:t>
            </a:r>
          </a:p>
          <a:p>
            <a:r>
              <a:rPr lang="en-US" sz="2000" dirty="0"/>
              <a:t>At nominal temperatures, cesium may be released from the fuel and associate with carbon of the buffer layer to form compounds</a:t>
            </a:r>
          </a:p>
          <a:p>
            <a:r>
              <a:rPr lang="en-US" sz="2000" dirty="0"/>
              <a:t>These compounds can vaporize, and may become a potential source of cesium release</a:t>
            </a:r>
          </a:p>
          <a:p>
            <a:r>
              <a:rPr lang="en-US" sz="2000" dirty="0"/>
              <a:t>Typically, cesium-graphite compounds are not stable at 923 K under vacuum and decompose to give cesium vapor and graphite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E01217D-9EA7-CA42-9009-5D611B67F90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68190" y="2571516"/>
            <a:ext cx="3024393" cy="1981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3991BA-376E-104A-A083-82A27F25620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2583" y="2173045"/>
            <a:ext cx="2844729" cy="334562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BF4D5-8715-8443-932A-EF188E90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985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524F9-669F-9E0B-0420-E681F9316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Wrap-Up on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CE1B0-E223-DBE9-63C0-DA211B5ED0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799" cy="4157663"/>
          </a:xfrm>
        </p:spPr>
        <p:txBody>
          <a:bodyPr/>
          <a:lstStyle/>
          <a:p>
            <a:r>
              <a:rPr lang="en-US" sz="2000" dirty="0" err="1"/>
              <a:t>SiC</a:t>
            </a:r>
            <a:r>
              <a:rPr lang="en-US" sz="2000" dirty="0"/>
              <a:t>: high strength, high thermal conductivity, high temperature stability, oxidation resistant</a:t>
            </a:r>
          </a:p>
          <a:p>
            <a:r>
              <a:rPr lang="en-US" sz="2000" dirty="0"/>
              <a:t>Radiation damage is dependent on temperature/fluence</a:t>
            </a:r>
          </a:p>
          <a:p>
            <a:r>
              <a:rPr lang="en-US" sz="2000" dirty="0"/>
              <a:t>Radiation induced swelling corresponds to defect types</a:t>
            </a:r>
          </a:p>
          <a:p>
            <a:r>
              <a:rPr lang="en-US" sz="2000" dirty="0"/>
              <a:t>In point defect swelling regime, thermal conductivity directly corresponds to defect concentration</a:t>
            </a:r>
          </a:p>
          <a:p>
            <a:r>
              <a:rPr lang="en-US" sz="2000" dirty="0"/>
              <a:t>Mechanical properties largely unaffected by irradiation</a:t>
            </a:r>
          </a:p>
          <a:p>
            <a:r>
              <a:rPr lang="en-US" sz="2000" dirty="0"/>
              <a:t>Reasonably good creep resistance, more susceptible to irradiation creep at high T</a:t>
            </a:r>
          </a:p>
          <a:p>
            <a:r>
              <a:rPr lang="en-US" sz="2000" dirty="0"/>
              <a:t>Pd attack is a key concern, with Pd-Si compounds consuming the </a:t>
            </a:r>
            <a:r>
              <a:rPr lang="en-US" sz="2000" dirty="0" err="1"/>
              <a:t>SiC</a:t>
            </a:r>
            <a:r>
              <a:rPr lang="en-US" sz="2000" dirty="0"/>
              <a:t> layer</a:t>
            </a:r>
          </a:p>
          <a:p>
            <a:r>
              <a:rPr lang="en-US" sz="2000" dirty="0"/>
              <a:t>Ag release can occur in intact particles, probably via GB diffusion</a:t>
            </a:r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29B1E-06EA-29B5-5F41-B33DCD2D8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783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D2078D-EE8C-6A44-A588-78A28A29B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705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A0A0-A2F7-0A47-916B-D6A54DDA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D69F7-E118-DD40-A367-3FAA4F500B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Graphite was the moderator in the first reactor to sustain a chain reaction and has been used as a moderator in over 100 nuclear reactors, many of which are still operating</a:t>
            </a:r>
          </a:p>
          <a:p>
            <a:r>
              <a:rPr lang="en-US" sz="2200" dirty="0"/>
              <a:t>Graphite has a high neutron scattering cross-section and a very low neutron absorption cross-section, making it an ideal moderator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1963F0-CCDF-E144-AB09-739AC8D7818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58423" y="1968500"/>
            <a:ext cx="3059953" cy="442163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8AA51-15D7-5643-9015-9C9065CA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89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3B3CF-8805-9147-B8FF-FDF08CC1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Delineate Types of Graphite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EC0F-D7DD-3A4F-B32E-75734ECDB9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TRISO Graphite (</a:t>
            </a:r>
            <a:r>
              <a:rPr lang="en-US" sz="2200" dirty="0" err="1"/>
              <a:t>PyC</a:t>
            </a:r>
            <a:r>
              <a:rPr lang="en-US" sz="2200" dirty="0"/>
              <a:t>)</a:t>
            </a:r>
          </a:p>
          <a:p>
            <a:pPr lvl="1"/>
            <a:r>
              <a:rPr lang="en-US" sz="2200" dirty="0"/>
              <a:t>CVD deposition</a:t>
            </a:r>
          </a:p>
          <a:p>
            <a:pPr lvl="1"/>
            <a:r>
              <a:rPr lang="en-US" sz="2200" dirty="0"/>
              <a:t>treated to ensure ultra dense and high purity</a:t>
            </a:r>
          </a:p>
          <a:p>
            <a:r>
              <a:rPr lang="en-US" sz="2200" dirty="0"/>
              <a:t>Prismatic Blocks and Pebbles</a:t>
            </a:r>
          </a:p>
          <a:p>
            <a:pPr lvl="1"/>
            <a:r>
              <a:rPr lang="en-US" sz="2200" dirty="0"/>
              <a:t>large scale</a:t>
            </a:r>
          </a:p>
          <a:p>
            <a:pPr lvl="1"/>
            <a:r>
              <a:rPr lang="en-US" sz="2200" dirty="0"/>
              <a:t>different fabrication process from TRISO</a:t>
            </a:r>
          </a:p>
          <a:p>
            <a:pPr lvl="1"/>
            <a:r>
              <a:rPr lang="en-US" sz="2200" dirty="0"/>
              <a:t>different microstructure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B96F44-B914-8C4E-AD68-29499497487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We will generally be talking about large scale graphite, which most directly applies to prismatic block type graphite</a:t>
            </a:r>
          </a:p>
          <a:p>
            <a:r>
              <a:rPr lang="en-US" sz="2200" dirty="0"/>
              <a:t>Similar radiation effects are assumed to occur in PyC layers</a:t>
            </a:r>
          </a:p>
          <a:p>
            <a:r>
              <a:rPr lang="en-US" sz="2200" dirty="0"/>
              <a:t>Not sufficient research into potential differences in PyC vs bulk graphite behavior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3AD85-CAB2-5F4C-A839-E207E42FF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84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79936-F21A-C044-83B4-40702921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1BF23-B277-DB4A-9378-BDB23DC17A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896303" cy="4157663"/>
          </a:xfrm>
        </p:spPr>
        <p:txBody>
          <a:bodyPr/>
          <a:lstStyle/>
          <a:p>
            <a:r>
              <a:rPr lang="en-US" sz="2200" dirty="0"/>
              <a:t>The electronic hybridization of carbon atoms (1s2, 2s2, 2p2) allows several types of covalent-bonded structures</a:t>
            </a:r>
          </a:p>
          <a:p>
            <a:r>
              <a:rPr lang="en-US" sz="2200" dirty="0"/>
              <a:t>In graphite, we have sp2 hybridization where the carbon atom is bound to three equidistant nearest neighbors in a given plane to form the hexagonal graphene structure</a:t>
            </a:r>
          </a:p>
          <a:p>
            <a:r>
              <a:rPr lang="en-US" sz="2200" dirty="0"/>
              <a:t>The sheets are weakly bound with van der Waals type bonds in an ABAB stacking sequence with a separation of 0.335 nm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9F450-C1A6-7E4C-86C8-33ADB4B6179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92900" y="2104231"/>
            <a:ext cx="4394200" cy="38862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34693-351C-AD4A-BF6D-527C01E6A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6330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8F25D-05A9-4D4E-9392-96806C0A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B600D-064F-3E46-82F3-795C7AFE31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838495" cy="4157663"/>
          </a:xfrm>
        </p:spPr>
        <p:txBody>
          <a:bodyPr/>
          <a:lstStyle/>
          <a:p>
            <a:r>
              <a:rPr lang="en-US" sz="2200" dirty="0"/>
              <a:t>The CTE for graphite displays anisotropic behavior, and strongly varies as a function of temperature</a:t>
            </a:r>
          </a:p>
          <a:p>
            <a:r>
              <a:rPr lang="en-US" sz="2200" dirty="0"/>
              <a:t>Due to the structure, the strength along the basal planes is higher than the strength perpendicular to the planes, and the shear strength between the basal panes is relatively weak</a:t>
            </a:r>
          </a:p>
          <a:p>
            <a:r>
              <a:rPr lang="en-US" sz="2200" dirty="0"/>
              <a:t>The thermal conductivity along the basal planes is much greater than perpendicular to the planes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511C5-C13A-F345-926E-8FCAA05E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8A50948E-E351-804F-95C7-BA7E9EBDFD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1485"/>
          <a:stretch/>
        </p:blipFill>
        <p:spPr bwMode="auto">
          <a:xfrm>
            <a:off x="7328089" y="1842448"/>
            <a:ext cx="3374315" cy="25084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ADF81ADF-124C-C747-BC0B-DAA1B73B0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147"/>
          <a:stretch/>
        </p:blipFill>
        <p:spPr bwMode="auto">
          <a:xfrm>
            <a:off x="7576205" y="4224813"/>
            <a:ext cx="3360988" cy="2383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3360621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BB681-80F7-8C4F-AB34-69020D9F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Mrozowski Cracks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85868-55DD-CA41-A53C-431CBE94F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705600" cy="4157663"/>
          </a:xfrm>
        </p:spPr>
        <p:txBody>
          <a:bodyPr/>
          <a:lstStyle/>
          <a:p>
            <a:r>
              <a:rPr lang="en-US" sz="2200" dirty="0"/>
              <a:t>During the manufacture of artificial graphite, very high temperatures (2800–3000 C) are required</a:t>
            </a:r>
          </a:p>
          <a:p>
            <a:r>
              <a:rPr lang="en-US" sz="2200" dirty="0"/>
              <a:t>Upon cooling, the anisotropy in thermal expansion coefficients leads to the formation of long, thin microcracks parallel to the basal planes, often referred to as ‘Mrozowski’ cracks</a:t>
            </a:r>
          </a:p>
          <a:p>
            <a:r>
              <a:rPr lang="en-US" sz="2200" dirty="0"/>
              <a:t>The presence of these microcracks is very important in understanding the properties of nuclear graphite</a:t>
            </a:r>
          </a:p>
          <a:p>
            <a:r>
              <a:rPr lang="en-US" sz="2200" dirty="0"/>
              <a:t>These cracks form in both TRISO </a:t>
            </a:r>
            <a:r>
              <a:rPr lang="en-US" sz="2200" dirty="0" err="1"/>
              <a:t>PyC</a:t>
            </a:r>
            <a:r>
              <a:rPr lang="en-US" sz="2200" dirty="0"/>
              <a:t>, sometimes called highly orientated pyrolytic graphite (HOPG), and standard nuclear graphite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A108053-49B5-114C-8E28-1B0C91D55E1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r="47950"/>
          <a:stretch/>
        </p:blipFill>
        <p:spPr>
          <a:xfrm>
            <a:off x="8136757" y="1770463"/>
            <a:ext cx="2802759" cy="227687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A3F28-A456-A84C-A43A-C6C1716A7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17C052EA-89A7-854D-AE28-985E9267A4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789"/>
          <a:stretch/>
        </p:blipFill>
        <p:spPr bwMode="auto">
          <a:xfrm>
            <a:off x="8240110" y="4079481"/>
            <a:ext cx="2596055" cy="2276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3126263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19D-19B6-7744-9C42-BDAC2021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Graphite Texture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51AF7-8C65-DD46-B1DB-55FD522BD2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094484" cy="4157663"/>
          </a:xfrm>
        </p:spPr>
        <p:txBody>
          <a:bodyPr/>
          <a:lstStyle/>
          <a:p>
            <a:r>
              <a:rPr lang="en-US" sz="2000" dirty="0"/>
              <a:t>Graphite structure is largely dependent upon the manufacturing process</a:t>
            </a:r>
          </a:p>
          <a:p>
            <a:r>
              <a:rPr lang="en-US" sz="2000" dirty="0" err="1"/>
              <a:t>Graphites</a:t>
            </a:r>
            <a:r>
              <a:rPr lang="en-US" sz="2000" dirty="0"/>
              <a:t> are classified according to their grain size from coarse-grained (containing grains in the starting mix that are generally &gt;4mm) to microfine-grained (containing grains in the starting mix that are generally &lt;2 </a:t>
            </a:r>
            <a:r>
              <a:rPr lang="en-US" sz="2000" dirty="0">
                <a:latin typeface="Symbol" pitchFamily="2" charset="2"/>
              </a:rPr>
              <a:t>m</a:t>
            </a:r>
            <a:r>
              <a:rPr lang="en-US" sz="2000" dirty="0"/>
              <a:t>m)</a:t>
            </a:r>
          </a:p>
          <a:p>
            <a:r>
              <a:rPr lang="en-US" sz="2000" dirty="0"/>
              <a:t>Grade AGOT was used as the moderator in the earliest nuclear reactors in the United States</a:t>
            </a:r>
          </a:p>
          <a:p>
            <a:r>
              <a:rPr lang="en-US" sz="2000" dirty="0"/>
              <a:t>Nuclear graphite is medium to fine grained, includes grades of </a:t>
            </a:r>
            <a:r>
              <a:rPr lang="en-US" sz="2000" dirty="0" err="1"/>
              <a:t>Gilsocarbon</a:t>
            </a:r>
            <a:r>
              <a:rPr lang="en-US" sz="2000" dirty="0"/>
              <a:t>, IG-110 and IG-11, and many others</a:t>
            </a:r>
          </a:p>
          <a:p>
            <a:r>
              <a:rPr lang="en-US" sz="2000" dirty="0"/>
              <a:t>Ideally manufacture graphite with bulk isotropic properties; with grain/against grain ratios near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90538-41FF-A748-9613-BBEE5DA63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99E0CF4-DCD0-1149-AD05-42B84F81EB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65693" y="1882872"/>
            <a:ext cx="3254922" cy="2443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8CAB3F4-03BB-A44F-A13B-55FC2BE27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12" y="4240766"/>
            <a:ext cx="3174903" cy="241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394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2A544-A911-7943-A1A8-5BE3556A0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Porosity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8ED25-72FA-FF4F-9C5F-F9B973B711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968503"/>
            <a:ext cx="7220609" cy="4157663"/>
          </a:xfrm>
        </p:spPr>
        <p:txBody>
          <a:bodyPr/>
          <a:lstStyle/>
          <a:p>
            <a:r>
              <a:rPr lang="en-US" sz="2200" dirty="0"/>
              <a:t>A dominant feature of graphite texture is the amount of porosity</a:t>
            </a:r>
          </a:p>
          <a:p>
            <a:r>
              <a:rPr lang="en-US" sz="2200" dirty="0"/>
              <a:t>About half the total porosity is open to the surface</a:t>
            </a:r>
          </a:p>
          <a:p>
            <a:r>
              <a:rPr lang="en-US" sz="2200" dirty="0"/>
              <a:t>The formation of pores and cracks in the graphite during manufacture adds to the texture arising from grain orientation and causes anisotropy in the graphite physical properties</a:t>
            </a:r>
          </a:p>
          <a:p>
            <a:r>
              <a:rPr lang="en-US" sz="2200" dirty="0"/>
              <a:t>Three origins of porosity:</a:t>
            </a:r>
          </a:p>
          <a:p>
            <a:pPr lvl="1"/>
            <a:r>
              <a:rPr lang="en-US" sz="2200" dirty="0"/>
              <a:t>Those formed by incomplete filling of voids</a:t>
            </a:r>
          </a:p>
          <a:p>
            <a:pPr lvl="1"/>
            <a:r>
              <a:rPr lang="en-US" sz="2200" dirty="0"/>
              <a:t>Gas entrapment during pyrolysis</a:t>
            </a:r>
          </a:p>
          <a:p>
            <a:pPr lvl="1"/>
            <a:r>
              <a:rPr lang="en-US" sz="2200" dirty="0"/>
              <a:t>Thermal cracks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62C58-CA4C-6942-BEFA-EDEA17FB9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DF64485B-B771-4946-A0CB-7B9DFC2101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83986" y="2383634"/>
            <a:ext cx="4147074" cy="311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32520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90045</TotalTime>
  <Words>2041</Words>
  <Application>Microsoft Macintosh PowerPoint</Application>
  <PresentationFormat>Widescreen</PresentationFormat>
  <Paragraphs>202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Helvetica</vt:lpstr>
      <vt:lpstr>Symbol</vt:lpstr>
      <vt:lpstr>1_NCStateU-horizontal-left-logo</vt:lpstr>
      <vt:lpstr>NE 763: Advanced Reactor Materials</vt:lpstr>
      <vt:lpstr>Last Time</vt:lpstr>
      <vt:lpstr>Low-Med T Radiation Effects in SiC</vt:lpstr>
      <vt:lpstr>Saturation Swelling in SiC</vt:lpstr>
      <vt:lpstr>High T Radiation Effects in SiC</vt:lpstr>
      <vt:lpstr>High T Radiation Effects in SiC</vt:lpstr>
      <vt:lpstr>Irradiation-Induced Swelling in SiC</vt:lpstr>
      <vt:lpstr>Irradiation-Induced Swelling in SiC</vt:lpstr>
      <vt:lpstr>Irradiation-Induced Swelling in SiC</vt:lpstr>
      <vt:lpstr>Recap of SiC Irradiation Defects</vt:lpstr>
      <vt:lpstr>Thermal Conductivity Degradation</vt:lpstr>
      <vt:lpstr>Thermal Conductivity Degradation</vt:lpstr>
      <vt:lpstr>Thermal Conductivity Degradation</vt:lpstr>
      <vt:lpstr>Thermal Conductivity Degradation</vt:lpstr>
      <vt:lpstr>Thermal Conductivity Degradation</vt:lpstr>
      <vt:lpstr>SiC Mechanical Properties</vt:lpstr>
      <vt:lpstr>SiC Creep</vt:lpstr>
      <vt:lpstr>SiC Corrosion</vt:lpstr>
      <vt:lpstr>SiC Corrosion</vt:lpstr>
      <vt:lpstr>SiC Corrosion</vt:lpstr>
      <vt:lpstr>Wrap-Up on SiC</vt:lpstr>
      <vt:lpstr>Graphite</vt:lpstr>
      <vt:lpstr>Graphite Usage</vt:lpstr>
      <vt:lpstr>Delineate Types of Graphite</vt:lpstr>
      <vt:lpstr>Graphite Structure</vt:lpstr>
      <vt:lpstr>Fundamental Properties</vt:lpstr>
      <vt:lpstr>Mrozowski Cracks</vt:lpstr>
      <vt:lpstr>Graphite Texture</vt:lpstr>
      <vt:lpstr>Initial Porosity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201</cp:revision>
  <dcterms:created xsi:type="dcterms:W3CDTF">2019-12-09T16:44:02Z</dcterms:created>
  <dcterms:modified xsi:type="dcterms:W3CDTF">2026-08-25T18:43:51Z</dcterms:modified>
</cp:coreProperties>
</file>
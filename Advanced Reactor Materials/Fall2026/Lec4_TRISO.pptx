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6"/>
  </p:notesMasterIdLst>
  <p:sldIdLst>
    <p:sldId id="256" r:id="rId2"/>
    <p:sldId id="507" r:id="rId3"/>
    <p:sldId id="481" r:id="rId4"/>
    <p:sldId id="482" r:id="rId5"/>
    <p:sldId id="483" r:id="rId6"/>
    <p:sldId id="484" r:id="rId7"/>
    <p:sldId id="485" r:id="rId8"/>
    <p:sldId id="486" r:id="rId9"/>
    <p:sldId id="534" r:id="rId10"/>
    <p:sldId id="487" r:id="rId11"/>
    <p:sldId id="488" r:id="rId12"/>
    <p:sldId id="489" r:id="rId13"/>
    <p:sldId id="491" r:id="rId14"/>
    <p:sldId id="4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32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7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4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69925"/>
            <a:ext cx="10972800" cy="1068387"/>
          </a:xfrm>
        </p:spPr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8312"/>
            <a:ext cx="11183007" cy="4387852"/>
          </a:xfrm>
        </p:spPr>
        <p:txBody>
          <a:bodyPr/>
          <a:lstStyle/>
          <a:p>
            <a:r>
              <a:rPr lang="en-US" sz="2200" dirty="0"/>
              <a:t>TRISO particle intro, evolution into current TRISO design</a:t>
            </a:r>
          </a:p>
          <a:p>
            <a:r>
              <a:rPr lang="en-US" sz="2200" dirty="0"/>
              <a:t>Different layers and their roles</a:t>
            </a:r>
          </a:p>
          <a:p>
            <a:pPr lvl="1"/>
            <a:r>
              <a:rPr lang="en-US" sz="2200" dirty="0"/>
              <a:t>kernel, buffer, </a:t>
            </a:r>
            <a:r>
              <a:rPr lang="en-US" sz="2200" dirty="0" err="1"/>
              <a:t>IPyC</a:t>
            </a:r>
            <a:r>
              <a:rPr lang="en-US" sz="2200" dirty="0"/>
              <a:t>, </a:t>
            </a:r>
            <a:r>
              <a:rPr lang="en-US" sz="2200" dirty="0" err="1"/>
              <a:t>SiC</a:t>
            </a:r>
            <a:r>
              <a:rPr lang="en-US" sz="2200" dirty="0"/>
              <a:t>, </a:t>
            </a:r>
            <a:r>
              <a:rPr lang="en-US" sz="2200" dirty="0" err="1"/>
              <a:t>OPyC</a:t>
            </a:r>
            <a:endParaRPr lang="en-US" sz="2200" dirty="0"/>
          </a:p>
          <a:p>
            <a:r>
              <a:rPr lang="en-US" sz="2200" dirty="0"/>
              <a:t>Fuel kernel – UO2 and UCO</a:t>
            </a:r>
          </a:p>
          <a:p>
            <a:pPr lvl="1"/>
            <a:r>
              <a:rPr lang="en-US" sz="2200" dirty="0"/>
              <a:t>UO2 retains fission products, but generates CO</a:t>
            </a:r>
          </a:p>
          <a:p>
            <a:pPr lvl="1"/>
            <a:r>
              <a:rPr lang="en-US" sz="2200" dirty="0"/>
              <a:t>UC2 limits CO formation, but poorly retains fission products</a:t>
            </a:r>
          </a:p>
          <a:p>
            <a:r>
              <a:rPr lang="en-US" sz="2200" dirty="0"/>
              <a:t>Fission products</a:t>
            </a:r>
          </a:p>
          <a:p>
            <a:pPr lvl="1"/>
            <a:r>
              <a:rPr lang="en-US" sz="2200" dirty="0"/>
              <a:t>Oxygen potential controls which compounds form, transitioning UC into UO2, while some FPs form oxides and other carbides</a:t>
            </a:r>
          </a:p>
          <a:p>
            <a:r>
              <a:rPr lang="en-US" sz="2200" dirty="0" err="1"/>
              <a:t>SiC</a:t>
            </a:r>
            <a:r>
              <a:rPr lang="en-US" sz="2200" dirty="0"/>
              <a:t> 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5B8A0-BF30-1440-97BD-9FCCBD737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Saturation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6EBB-A39D-884F-B14C-39C6B20CF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5" cy="4157663"/>
          </a:xfrm>
        </p:spPr>
        <p:txBody>
          <a:bodyPr/>
          <a:lstStyle/>
          <a:p>
            <a:r>
              <a:rPr lang="en-US" sz="2400" dirty="0"/>
              <a:t>Log swelling vs dose shown at right for CVD </a:t>
            </a:r>
            <a:r>
              <a:rPr lang="en-US" sz="2400" dirty="0" err="1"/>
              <a:t>SiC</a:t>
            </a:r>
            <a:r>
              <a:rPr lang="en-US" sz="2400" dirty="0"/>
              <a:t> irradiated in HFIR</a:t>
            </a:r>
          </a:p>
          <a:p>
            <a:r>
              <a:rPr lang="en-US" sz="2400" dirty="0"/>
              <a:t>The swelling of </a:t>
            </a:r>
            <a:r>
              <a:rPr lang="en-US" sz="2400" dirty="0" err="1"/>
              <a:t>SiC</a:t>
            </a:r>
            <a:r>
              <a:rPr lang="en-US" sz="2400" dirty="0"/>
              <a:t> is highly temperature dependent</a:t>
            </a:r>
          </a:p>
          <a:p>
            <a:pPr lvl="1"/>
            <a:r>
              <a:rPr lang="en-US" sz="1867" dirty="0"/>
              <a:t>at 1 dpa, saturation values from 200 C to 800 C vary by a factor of 5</a:t>
            </a:r>
          </a:p>
          <a:p>
            <a:r>
              <a:rPr lang="en-US" sz="2400" dirty="0"/>
              <a:t>The decrease in saturation with increasing T is due to increased recombination of defects</a:t>
            </a:r>
          </a:p>
          <a:p>
            <a:r>
              <a:rPr lang="en-US" sz="2400" dirty="0"/>
              <a:t>Swelling saturates at relatively low doses, less than 10 dpa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41284E-76ED-6C42-A0AC-3A121F12F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9722293" y="1940985"/>
            <a:ext cx="2844800" cy="631131"/>
          </a:xfrm>
          <a:prstGeom prst="rect">
            <a:avLst/>
          </a:prstGeom>
        </p:spPr>
      </p:pic>
      <p:pic>
        <p:nvPicPr>
          <p:cNvPr id="10" name="Content Placeholder 9" descr="Swelling percent of SiC as a function of dose at different temperatures">
            <a:extLst>
              <a:ext uri="{FF2B5EF4-FFF2-40B4-BE49-F238E27FC236}">
                <a16:creationId xmlns:a16="http://schemas.microsoft.com/office/drawing/2014/main" id="{79E1832C-7411-3443-9900-A8C2E4757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0105" y="745756"/>
            <a:ext cx="2646881" cy="30215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82E88-0D33-9D41-801A-A4A219FA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5" name="Picture 4" descr="Micrograph showing defects forming">
            <a:extLst>
              <a:ext uri="{FF2B5EF4-FFF2-40B4-BE49-F238E27FC236}">
                <a16:creationId xmlns:a16="http://schemas.microsoft.com/office/drawing/2014/main" id="{D14E6347-7AA5-664F-E3FA-50365FED591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58978" y="3858435"/>
            <a:ext cx="4123422" cy="26264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9210F7D-D23E-54D4-FDF7-09BBFA6B50E4}"/>
              </a:ext>
            </a:extLst>
          </p:cNvPr>
          <p:cNvSpPr/>
          <p:nvPr/>
        </p:nvSpPr>
        <p:spPr>
          <a:xfrm>
            <a:off x="7716230" y="3943901"/>
            <a:ext cx="1499600" cy="41549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700" dirty="0" err="1">
                <a:latin typeface="Helvetica" pitchFamily="2" charset="0"/>
              </a:rPr>
              <a:t>Tirr</a:t>
            </a:r>
            <a:r>
              <a:rPr lang="en-US" sz="700" dirty="0">
                <a:latin typeface="Helvetica" pitchFamily="2" charset="0"/>
              </a:rPr>
              <a:t>=300  C, 6 dpa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Dot number density  2.2e+24m-3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Mean dot diameter=1nm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B2144-C6B7-2C3B-D0AE-8AFA2935AA09}"/>
              </a:ext>
            </a:extLst>
          </p:cNvPr>
          <p:cNvSpPr/>
          <p:nvPr/>
        </p:nvSpPr>
        <p:spPr>
          <a:xfrm>
            <a:off x="9671094" y="3943901"/>
            <a:ext cx="1751649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800" dirty="0" err="1">
                <a:latin typeface="Helvetica" pitchFamily="2" charset="0"/>
              </a:rPr>
              <a:t>Tirr</a:t>
            </a:r>
            <a:r>
              <a:rPr lang="en-US" sz="800" dirty="0">
                <a:latin typeface="Helvetica" pitchFamily="2" charset="0"/>
              </a:rPr>
              <a:t>= 800  C, 7.7 dpa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Loop number density  3.3e+23m-3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Mean loop diameter = 3.0 nm</a:t>
            </a:r>
          </a:p>
        </p:txBody>
      </p:sp>
    </p:spTree>
    <p:extLst>
      <p:ext uri="{BB962C8B-B14F-4D97-AF65-F5344CB8AC3E}">
        <p14:creationId xmlns:p14="http://schemas.microsoft.com/office/powerpoint/2010/main" val="222066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957E8-B98C-F044-BD9F-900BAC20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1D2C-87D7-A84A-BED9-7210B2DFF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33479" cy="4157663"/>
          </a:xfrm>
        </p:spPr>
        <p:txBody>
          <a:bodyPr/>
          <a:lstStyle/>
          <a:p>
            <a:r>
              <a:rPr lang="en-US" sz="2200" dirty="0"/>
              <a:t>Above 1000C, Frank loops of the interstitial type become the dominant defects observed by TEM</a:t>
            </a:r>
          </a:p>
          <a:p>
            <a:r>
              <a:rPr lang="en-US" sz="2200" dirty="0"/>
              <a:t>Interstitial Frank loops are faulted, in that they include a stacking fault</a:t>
            </a:r>
          </a:p>
          <a:p>
            <a:r>
              <a:rPr lang="en-US" sz="2200" dirty="0"/>
              <a:t>Consequently, these loops cannot glide and will not move under an applied stress or temperature, and are therefore considered as sessile</a:t>
            </a:r>
          </a:p>
          <a:p>
            <a:r>
              <a:rPr lang="en-US" sz="2200" dirty="0"/>
              <a:t>At high temperature, the development of Frank loops into dislocation networks through unfaulting reactions at high doses is reported</a:t>
            </a:r>
          </a:p>
        </p:txBody>
      </p:sp>
      <p:pic>
        <p:nvPicPr>
          <p:cNvPr id="5" name="Content Placeholder 4" descr="Illustration of a Frank loop">
            <a:extLst>
              <a:ext uri="{FF2B5EF4-FFF2-40B4-BE49-F238E27FC236}">
                <a16:creationId xmlns:a16="http://schemas.microsoft.com/office/drawing/2014/main" id="{C26003CB-11BC-CE42-8ADA-9D9BD5F78AC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57440" y="1968500"/>
            <a:ext cx="2810598" cy="1908371"/>
          </a:xfrm>
          <a:prstGeom prst="rect">
            <a:avLst/>
          </a:prstGeom>
        </p:spPr>
      </p:pic>
      <p:pic>
        <p:nvPicPr>
          <p:cNvPr id="6" name="Picture 5" descr="Micrograph of Frank loops">
            <a:extLst>
              <a:ext uri="{FF2B5EF4-FFF2-40B4-BE49-F238E27FC236}">
                <a16:creationId xmlns:a16="http://schemas.microsoft.com/office/drawing/2014/main" id="{57F7C259-2E87-BB45-9DF5-516B803A9A0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79721" y="3876871"/>
            <a:ext cx="2429286" cy="2620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8A641-3ABC-A946-BE15-9A77593E4AFE}"/>
              </a:ext>
            </a:extLst>
          </p:cNvPr>
          <p:cNvSpPr txBox="1"/>
          <p:nvPr/>
        </p:nvSpPr>
        <p:spPr>
          <a:xfrm>
            <a:off x="10424160" y="4593515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Frank loops in 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32E1F-F866-0244-8360-246DAFA3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8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329D-E63E-0349-A476-6CE2C0E0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A460-9072-664C-AABE-83BB119ABD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volume associated with dislocation loops in irradiated </a:t>
            </a:r>
            <a:r>
              <a:rPr lang="en-US" sz="2400" dirty="0" err="1"/>
              <a:t>SiC</a:t>
            </a:r>
            <a:r>
              <a:rPr lang="en-US" sz="2400" dirty="0"/>
              <a:t> has been estimated to be on the order of 0.1%</a:t>
            </a:r>
          </a:p>
          <a:p>
            <a:r>
              <a:rPr lang="en-US" sz="2400" dirty="0"/>
              <a:t>At high T (greater than about 1250 K) vacancies are sufficiently mobile and vacancy clusters can be formed</a:t>
            </a:r>
          </a:p>
          <a:p>
            <a:r>
              <a:rPr lang="en-US" sz="2400" dirty="0"/>
              <a:t>This high T regime is the void swelling regime</a:t>
            </a:r>
          </a:p>
        </p:txBody>
      </p:sp>
      <p:pic>
        <p:nvPicPr>
          <p:cNvPr id="5" name="Content Placeholder 4" descr="Micrograph showing defect evolution, and the beginning of voids, as temperature and dose increases">
            <a:extLst>
              <a:ext uri="{FF2B5EF4-FFF2-40B4-BE49-F238E27FC236}">
                <a16:creationId xmlns:a16="http://schemas.microsoft.com/office/drawing/2014/main" id="{E5790135-67CB-E646-90F9-4856CD5B25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7450" y="2288381"/>
            <a:ext cx="5245100" cy="351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A361B1-3443-C34A-AB65-DC5B2A5A2FE9}"/>
              </a:ext>
            </a:extLst>
          </p:cNvPr>
          <p:cNvSpPr/>
          <p:nvPr/>
        </p:nvSpPr>
        <p:spPr>
          <a:xfrm>
            <a:off x="5822493" y="6126162"/>
            <a:ext cx="61350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Helvetica" pitchFamily="2" charset="0"/>
              </a:rPr>
              <a:t>Evolution of voids in high-temperature irradiated CVD </a:t>
            </a:r>
            <a:r>
              <a:rPr lang="en-US" dirty="0" err="1">
                <a:latin typeface="Helvetica" pitchFamily="2" charset="0"/>
              </a:rPr>
              <a:t>SiC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2ED2E6-AE87-6E40-B576-536035F5A1EE}"/>
              </a:ext>
            </a:extLst>
          </p:cNvPr>
          <p:cNvSpPr/>
          <p:nvPr/>
        </p:nvSpPr>
        <p:spPr>
          <a:xfrm>
            <a:off x="6553323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AFB8A6-2C53-AF49-875E-2D0C6943D6D3}"/>
              </a:ext>
            </a:extLst>
          </p:cNvPr>
          <p:cNvSpPr/>
          <p:nvPr/>
        </p:nvSpPr>
        <p:spPr>
          <a:xfrm>
            <a:off x="8175892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5B05CB-08F4-164B-9CDB-622B4A1C45A9}"/>
              </a:ext>
            </a:extLst>
          </p:cNvPr>
          <p:cNvSpPr/>
          <p:nvPr/>
        </p:nvSpPr>
        <p:spPr>
          <a:xfrm>
            <a:off x="10081754" y="3004905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1280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9F7C5-67CF-8C46-8304-29F7A11B29B2}"/>
              </a:ext>
            </a:extLst>
          </p:cNvPr>
          <p:cNvSpPr/>
          <p:nvPr/>
        </p:nvSpPr>
        <p:spPr>
          <a:xfrm>
            <a:off x="6553322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533CC-AE9D-094C-9A17-0C75DC313A49}"/>
              </a:ext>
            </a:extLst>
          </p:cNvPr>
          <p:cNvSpPr/>
          <p:nvPr/>
        </p:nvSpPr>
        <p:spPr>
          <a:xfrm>
            <a:off x="8277491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A8950D-F948-074F-A106-0680561A17E3}"/>
              </a:ext>
            </a:extLst>
          </p:cNvPr>
          <p:cNvSpPr/>
          <p:nvPr/>
        </p:nvSpPr>
        <p:spPr>
          <a:xfrm>
            <a:off x="10081753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5DBD7-A652-2744-9757-49E48B0C7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7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926851" cy="4157663"/>
          </a:xfrm>
        </p:spPr>
        <p:txBody>
          <a:bodyPr/>
          <a:lstStyle/>
          <a:p>
            <a:r>
              <a:rPr lang="en-US" sz="2400" dirty="0"/>
              <a:t>The transition from point-defect saturated swelling to void swelling occurs above 1000C</a:t>
            </a:r>
          </a:p>
          <a:p>
            <a:r>
              <a:rPr lang="en-US" sz="2400" dirty="0"/>
              <a:t>Void swelling increases as a function of dose, and is not known to saturate</a:t>
            </a:r>
          </a:p>
          <a:p>
            <a:r>
              <a:rPr lang="en-US" sz="2400" dirty="0"/>
              <a:t>The swelling near the critical amorphization temperature is described as the differential strain between point defects or small defect clusters</a:t>
            </a:r>
          </a:p>
          <a:p>
            <a:endParaRPr lang="en-US" sz="2400" dirty="0"/>
          </a:p>
        </p:txBody>
      </p:sp>
      <p:pic>
        <p:nvPicPr>
          <p:cNvPr id="5" name="Content Placeholder 4" descr="Combined swelling plot versus temperature and dpa for SiC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053EA-89D8-044D-BA24-295FF82C9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35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Above the critical amorphization temperature, the number of defects surviving recombination is reduced and the mobility of both silicon and carbon interstitials becomes significant</a:t>
            </a:r>
          </a:p>
          <a:p>
            <a:r>
              <a:rPr lang="en-US" sz="2200" dirty="0"/>
              <a:t>Above 1000 C microstructural studies have noted the presence of both Frank loops and tiny voids, indicating limited mobility of vacancies</a:t>
            </a:r>
          </a:p>
          <a:p>
            <a:r>
              <a:rPr lang="en-US" sz="2200" dirty="0"/>
              <a:t>The max irradiation temperature shown is 0.65 </a:t>
            </a:r>
            <a:r>
              <a:rPr lang="en-US" sz="2200" dirty="0" err="1"/>
              <a:t>T</a:t>
            </a:r>
            <a:r>
              <a:rPr lang="en-US" sz="2200" baseline="-25000" dirty="0" err="1"/>
              <a:t>melt</a:t>
            </a:r>
            <a:endParaRPr lang="en-US" sz="2200" baseline="-25000" dirty="0"/>
          </a:p>
        </p:txBody>
      </p:sp>
      <p:pic>
        <p:nvPicPr>
          <p:cNvPr id="5" name="Content Placeholder 4" descr="Combined swelling plot for SiC with irradiation temperature and dose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89A4B-F623-2B48-82E5-ED4E36D5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072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In typical </a:t>
            </a:r>
            <a:r>
              <a:rPr lang="en-US" sz="2200" dirty="0" err="1"/>
              <a:t>fcc</a:t>
            </a:r>
            <a:r>
              <a:rPr lang="en-US" sz="2200" dirty="0"/>
              <a:t> metal systems void swelling typically begins at ~0.35Tm, goes through a maximum value, and decreases to nil swelling by ~0.55Tm</a:t>
            </a:r>
          </a:p>
          <a:p>
            <a:r>
              <a:rPr lang="en-US" sz="2200" dirty="0"/>
              <a:t>The voids in </a:t>
            </a:r>
            <a:r>
              <a:rPr lang="en-US" sz="2200" dirty="0" err="1"/>
              <a:t>SiC</a:t>
            </a:r>
            <a:r>
              <a:rPr lang="en-US" sz="2200" dirty="0"/>
              <a:t> are continuing to grow in </a:t>
            </a:r>
            <a:r>
              <a:rPr lang="en-US" sz="2200" dirty="0" err="1"/>
              <a:t>SiC</a:t>
            </a:r>
            <a:r>
              <a:rPr lang="en-US" sz="2200" dirty="0"/>
              <a:t> irradiated to 1773 K, thus the energies for diffusion of either the Si or C vacancy or both must be quite high</a:t>
            </a:r>
          </a:p>
          <a:p>
            <a:r>
              <a:rPr lang="en-US" sz="2200" dirty="0"/>
              <a:t>This has been confirmed through DFT methods</a:t>
            </a:r>
          </a:p>
          <a:p>
            <a:r>
              <a:rPr lang="en-US" sz="2200" dirty="0"/>
              <a:t>It is unclear how swelling will increase as a function of dose above 10 dpa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 descr="Combined swelling for SiC with irradiation temperature and dose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4B6BE-B35F-E044-B8DC-C267863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24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7FA9A-E401-F253-8DF3-5762FE1A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</a:t>
            </a:r>
            <a:r>
              <a:rPr lang="en-US" dirty="0" err="1"/>
              <a:t>SiC</a:t>
            </a:r>
            <a:r>
              <a:rPr lang="en-US" dirty="0"/>
              <a:t> Irradiation Defects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4CF-753B-70CB-5C02-C7939F761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8057361" cy="4157663"/>
          </a:xfrm>
        </p:spPr>
        <p:txBody>
          <a:bodyPr/>
          <a:lstStyle/>
          <a:p>
            <a:r>
              <a:rPr lang="en-US" dirty="0"/>
              <a:t>below 423 K, </a:t>
            </a:r>
            <a:r>
              <a:rPr lang="en-US" dirty="0" err="1"/>
              <a:t>SiC</a:t>
            </a:r>
            <a:r>
              <a:rPr lang="en-US" dirty="0"/>
              <a:t> can amorphize, can have fairly high swelling rates</a:t>
            </a:r>
          </a:p>
          <a:p>
            <a:r>
              <a:rPr lang="en-US" dirty="0"/>
              <a:t>at 423-1273 K, point defect swelling regime</a:t>
            </a:r>
          </a:p>
          <a:p>
            <a:pPr lvl="1"/>
            <a:r>
              <a:rPr lang="en-US" sz="2400" dirty="0"/>
              <a:t>black spot defects are the main types of defects</a:t>
            </a:r>
          </a:p>
          <a:p>
            <a:pPr lvl="1"/>
            <a:r>
              <a:rPr lang="en-US" sz="2400" dirty="0"/>
              <a:t>cause swelling which saturates, the level of which is inversely proportional to T</a:t>
            </a:r>
          </a:p>
          <a:p>
            <a:r>
              <a:rPr lang="en-US" dirty="0"/>
              <a:t>above 1273 K, we get Frank loops and voids</a:t>
            </a:r>
          </a:p>
          <a:p>
            <a:pPr lvl="1"/>
            <a:r>
              <a:rPr lang="en-US" sz="2400" dirty="0"/>
              <a:t>void swelling regime</a:t>
            </a:r>
          </a:p>
          <a:p>
            <a:pPr lvl="1"/>
            <a:r>
              <a:rPr lang="en-US" sz="2400" dirty="0"/>
              <a:t>does not saturate, increases with dose and with 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33A1E-ECD6-ACE4-AAEB-5534F9A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6" name="Content Placeholder 4" descr="Combined swelling for SiC with irradiation temperature and dose">
            <a:extLst>
              <a:ext uri="{FF2B5EF4-FFF2-40B4-BE49-F238E27FC236}">
                <a16:creationId xmlns:a16="http://schemas.microsoft.com/office/drawing/2014/main" id="{9BAAAA74-F8C8-9189-0FD4-B8F4E679ADA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66960" y="3752382"/>
            <a:ext cx="3112802" cy="2749462"/>
          </a:xfrm>
          <a:prstGeom prst="rect">
            <a:avLst/>
          </a:prstGeom>
        </p:spPr>
      </p:pic>
      <p:pic>
        <p:nvPicPr>
          <p:cNvPr id="7" name="Content Placeholder 9" descr="Swelling versus dose at different temperatures">
            <a:extLst>
              <a:ext uri="{FF2B5EF4-FFF2-40B4-BE49-F238E27FC236}">
                <a16:creationId xmlns:a16="http://schemas.microsoft.com/office/drawing/2014/main" id="{BF5BD5E9-9CB3-F2C0-3E72-7E16D46981F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05602" y="1026234"/>
            <a:ext cx="2435518" cy="2780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1872868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45778" cy="4157663"/>
          </a:xfrm>
        </p:spPr>
        <p:txBody>
          <a:bodyPr/>
          <a:lstStyle/>
          <a:p>
            <a:r>
              <a:rPr lang="en-US" sz="2200" dirty="0" err="1"/>
              <a:t>SiC</a:t>
            </a:r>
            <a:r>
              <a:rPr lang="en-US" sz="2200" dirty="0"/>
              <a:t> is a ceramic with a band gap, and thus thermal conductivity is based on phonons</a:t>
            </a:r>
          </a:p>
          <a:p>
            <a:r>
              <a:rPr lang="en-US" sz="2200" dirty="0"/>
              <a:t>The conduction of heat can be generally described by the strength of the individual contributors to phonon scattering: grain boundary scattering; phonon–phonon interaction; and defect scattering</a:t>
            </a:r>
          </a:p>
          <a:p>
            <a:r>
              <a:rPr lang="en-US" sz="2200" dirty="0"/>
              <a:t>Each of these types occurs at differing phonon frequencies and can be considered separable</a:t>
            </a:r>
          </a:p>
        </p:txBody>
      </p:sp>
      <p:pic>
        <p:nvPicPr>
          <p:cNvPr id="5" name="Content Placeholder 4" descr="Thermal conductivity of SiC vs temperature with different microstructures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1FC71-58EB-7144-8DF1-263329C1D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99511-6D22-BB20-3ECE-3F1185784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6091" y="5779105"/>
            <a:ext cx="2222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23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The unirradiated k</a:t>
            </a:r>
            <a:r>
              <a:rPr lang="en-US" sz="2400" baseline="-25000" dirty="0"/>
              <a:t>th</a:t>
            </a:r>
            <a:r>
              <a:rPr lang="en-US" sz="2400" dirty="0"/>
              <a:t> is highly dependent upon initial microstructure and temperature</a:t>
            </a:r>
          </a:p>
          <a:p>
            <a:r>
              <a:rPr lang="en-US" sz="2400" dirty="0"/>
              <a:t>Initial microstructure can be tailored, but the temperature dependence cannot be removed</a:t>
            </a:r>
          </a:p>
          <a:p>
            <a:r>
              <a:rPr lang="en-US" sz="2400" dirty="0"/>
              <a:t>For reference, Zr thermal conductivity is about 22 W/m-K at 1000 K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 descr="Thermal conductivity of SiC vs temperature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E24FA-B0D1-DC45-B164-153C7CD9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38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At low temperatures irradiation produces simple defects and defect clusters that very effectively scatter phonons</a:t>
            </a:r>
          </a:p>
          <a:p>
            <a:r>
              <a:rPr lang="en-US" sz="2400" dirty="0"/>
              <a:t>In this case, defect scattering quickly dominates, with saturation thermal conductivity typically achieved by a few dpa</a:t>
            </a:r>
          </a:p>
          <a:p>
            <a:r>
              <a:rPr lang="en-US" sz="2400" dirty="0"/>
              <a:t>Defect scattering is sufficiently present to eliminate the temperature dependence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Content Placeholder 7" descr="Thermal conductivity degradation versus dose at different irradiation temperatures">
            <a:extLst>
              <a:ext uri="{FF2B5EF4-FFF2-40B4-BE49-F238E27FC236}">
                <a16:creationId xmlns:a16="http://schemas.microsoft.com/office/drawing/2014/main" id="{BAE249BE-9E7F-A94E-A8AA-954DDE56E9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0246" y="1968500"/>
            <a:ext cx="413950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5E32D-D551-D147-9B83-57143EC4B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60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pic>
        <p:nvPicPr>
          <p:cNvPr id="6" name="Content Placeholder 5" descr="Thermal defect resistance as a function of dose">
            <a:extLst>
              <a:ext uri="{FF2B5EF4-FFF2-40B4-BE49-F238E27FC236}">
                <a16:creationId xmlns:a16="http://schemas.microsoft.com/office/drawing/2014/main" id="{ACE0CC0A-2F1F-9C40-A2D7-AD26591F9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910" y="2345018"/>
            <a:ext cx="2969338" cy="3141382"/>
          </a:xfrm>
          <a:prstGeom prst="rect">
            <a:avLst/>
          </a:prstGeom>
        </p:spPr>
      </p:pic>
      <p:pic>
        <p:nvPicPr>
          <p:cNvPr id="7" name="Picture 6" descr="Relationship between swelling and thermal conductivity in SiC">
            <a:extLst>
              <a:ext uri="{FF2B5EF4-FFF2-40B4-BE49-F238E27FC236}">
                <a16:creationId xmlns:a16="http://schemas.microsoft.com/office/drawing/2014/main" id="{B091F565-C9AC-7C4E-9D36-E5BA8BDE106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3411" y="2011366"/>
            <a:ext cx="2808589" cy="347503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2A99754-751D-8C40-9109-7DA406691619}"/>
              </a:ext>
            </a:extLst>
          </p:cNvPr>
          <p:cNvSpPr txBox="1">
            <a:spLocks/>
          </p:cNvSpPr>
          <p:nvPr/>
        </p:nvSpPr>
        <p:spPr bwMode="auto">
          <a:xfrm>
            <a:off x="762000" y="2120903"/>
            <a:ext cx="5544207" cy="415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7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thermal defect resistance is defined as the difference between the reciprocals of the irradiated and nonirradiated thermal conductivity (1/</a:t>
            </a:r>
            <a:r>
              <a:rPr lang="en-US" sz="2000" dirty="0" err="1"/>
              <a:t>K</a:t>
            </a:r>
            <a:r>
              <a:rPr lang="en-US" sz="2000" baseline="-25000" dirty="0" err="1"/>
              <a:t>rd</a:t>
            </a:r>
            <a:r>
              <a:rPr lang="en-US" sz="2000" dirty="0"/>
              <a:t> = 1/</a:t>
            </a:r>
            <a:r>
              <a:rPr lang="en-US" sz="2000" dirty="0" err="1"/>
              <a:t>K</a:t>
            </a:r>
            <a:r>
              <a:rPr lang="en-US" sz="2000" baseline="-25000" dirty="0" err="1"/>
              <a:t>irr</a:t>
            </a:r>
            <a:r>
              <a:rPr lang="en-US" sz="2000" dirty="0"/>
              <a:t> – 1/</a:t>
            </a:r>
            <a:r>
              <a:rPr lang="en-US" sz="2000" dirty="0" err="1"/>
              <a:t>K</a:t>
            </a:r>
            <a:r>
              <a:rPr lang="en-US" sz="2000" baseline="-25000" dirty="0" err="1"/>
              <a:t>nonirr</a:t>
            </a:r>
            <a:r>
              <a:rPr lang="en-US" sz="2000" dirty="0"/>
              <a:t>)</a:t>
            </a:r>
          </a:p>
          <a:p>
            <a:r>
              <a:rPr lang="en-US" sz="2000" dirty="0"/>
              <a:t>This term can be related directly to the defect type and concentration present in irradiated ceramics</a:t>
            </a:r>
          </a:p>
          <a:p>
            <a:r>
              <a:rPr lang="en-US" sz="2000" dirty="0"/>
              <a:t>The thermal defect resistance is directly proportional to the irradiation-induced swelling in </a:t>
            </a:r>
            <a:r>
              <a:rPr lang="en-US" sz="2000" dirty="0" err="1"/>
              <a:t>SiC</a:t>
            </a:r>
            <a:endParaRPr lang="en-US" sz="2000" dirty="0"/>
          </a:p>
          <a:p>
            <a:r>
              <a:rPr lang="en-US" sz="2000" dirty="0"/>
              <a:t>This allows an indirect determination of thermal conductivity by measurement of the density change in the TRISO </a:t>
            </a:r>
            <a:r>
              <a:rPr lang="en-US" sz="2000" dirty="0" err="1"/>
              <a:t>SiC</a:t>
            </a:r>
            <a:r>
              <a:rPr lang="en-US" sz="2000" dirty="0"/>
              <a:t> shell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BE51A-AAD1-984F-8E06-3D029832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45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F246-B5CC-9544-B2A6-036175CF4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E7EA-9334-B745-88DC-5034E8BF2B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6" cy="4157663"/>
          </a:xfrm>
        </p:spPr>
        <p:txBody>
          <a:bodyPr/>
          <a:lstStyle/>
          <a:p>
            <a:r>
              <a:rPr lang="en-US" sz="2200" dirty="0"/>
              <a:t>In the high temperature void swelling regime, thermal conductivity degradation is not expected to saturate, as voids continue to grow and scatter phonons</a:t>
            </a:r>
          </a:p>
          <a:p>
            <a:r>
              <a:rPr lang="en-US" sz="2200" dirty="0"/>
              <a:t>Additionally, the linear relationship between swelling and thermal defect resistance does not exist at high temperature</a:t>
            </a:r>
          </a:p>
          <a:p>
            <a:r>
              <a:rPr lang="en-US" sz="2200" dirty="0"/>
              <a:t>Generally, void swelling does not degrade thermal conductivity as severely as point defects, but data at high T is quite limited</a:t>
            </a:r>
          </a:p>
          <a:p>
            <a:endParaRPr lang="en-US" sz="2200" dirty="0"/>
          </a:p>
        </p:txBody>
      </p:sp>
      <p:pic>
        <p:nvPicPr>
          <p:cNvPr id="5" name="Content Placeholder 4" descr="Impact of irradiation temperature on the thermal conductivity degradation">
            <a:extLst>
              <a:ext uri="{FF2B5EF4-FFF2-40B4-BE49-F238E27FC236}">
                <a16:creationId xmlns:a16="http://schemas.microsoft.com/office/drawing/2014/main" id="{FE2CBB67-EB10-A74E-B49A-35E6A1508B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981306"/>
            <a:ext cx="5384800" cy="41320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55BDD-884B-2741-8566-BD77231A5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5768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89834</TotalTime>
  <Words>952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Helvetica</vt:lpstr>
      <vt:lpstr>1_NCStateU-horizontal-left-logo</vt:lpstr>
      <vt:lpstr>NE 763: Advanced Reactor Materials</vt:lpstr>
      <vt:lpstr>Last Time</vt:lpstr>
      <vt:lpstr>Saturation Swelling in SiC</vt:lpstr>
      <vt:lpstr>High T Radiation Effects in SiC</vt:lpstr>
      <vt:lpstr>High T Radiation Effects in SiC</vt:lpstr>
      <vt:lpstr>Irradiation-Induced Swelling in SiC</vt:lpstr>
      <vt:lpstr>Irradiation-Induced Swelling in SiC</vt:lpstr>
      <vt:lpstr>Irradiation-Induced Swelling in SiC</vt:lpstr>
      <vt:lpstr>Recap of SiC Irradiation Defects</vt:lpstr>
      <vt:lpstr>Thermal Conductivity Degradation</vt:lpstr>
      <vt:lpstr>Thermal Conductivity Degradation</vt:lpstr>
      <vt:lpstr>Thermal Conductivity Degradation</vt:lpstr>
      <vt:lpstr>Thermal Conductivity Degradation</vt:lpstr>
      <vt:lpstr>Thermal Conductivity Degradation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194</cp:revision>
  <dcterms:created xsi:type="dcterms:W3CDTF">2019-12-09T16:44:02Z</dcterms:created>
  <dcterms:modified xsi:type="dcterms:W3CDTF">2026-08-20T18:55:11Z</dcterms:modified>
</cp:coreProperties>
</file>
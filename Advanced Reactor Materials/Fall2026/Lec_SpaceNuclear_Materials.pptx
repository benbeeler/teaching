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15"/>
    <p:restoredTop sz="94744"/>
  </p:normalViewPr>
  <p:slideViewPr>
    <p:cSldViewPr snapToGrid="0" snapToObjects="1">
      <p:cViewPr varScale="1">
        <p:scale>
          <a:sx n="119" d="100"/>
          <a:sy n="119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16A0F-2645-F945-ADC5-B2CC11F8F91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D32B1-08AD-0943-8C60-7CB4F1A83E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97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85609-E5CC-DE44-B37C-B4F30876FF32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0746"/>
            <a:ext cx="10972800" cy="384541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8954-4A2E-3243-B2DC-9CD5CB712752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0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4575D-199B-0745-9376-4BA74FA8EFA7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1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EC5E2-8D01-2849-BCEF-95F1335AF02C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3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4091-1279-5E46-833E-3B1192709521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9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C5CE-9A98-3649-A752-35F044CBF5B8}" type="datetime1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4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4C5E-CE4C-B646-8BD9-2D7670818E7E}" type="datetime1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3BC9F-3142-5445-97AB-BA4A48743DCA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9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7FE6E-4AF1-BB43-A3BB-BA9931BC385B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F1F23-51F5-E24D-A2F3-F9FF410B2C6B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1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9506E-CC5A-D948-B9E0-FC81D1F3EEB8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4091-1279-5E46-833E-3B1192709521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F3AB534-2132-774F-82DE-4210B1BD5FED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F8D97C-4308-3B61-2B5B-C13404B70E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2054C5-3A3D-4B9F-F314-13BC597F40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7C96D-147F-2B68-D8CC-FC91E42CAC0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689" r:id="rId12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ionalacademies.org/read/25977/chapter/4" TargetMode="External"/><Relationship Id="rId7" Type="http://schemas.openxmlformats.org/officeDocument/2006/relationships/hyperlink" Target="https://en.wikipedia.org/wiki/Demonstration_Rocket_for_Agile_Cislunar_Operations" TargetMode="External"/><Relationship Id="rId2" Type="http://schemas.openxmlformats.org/officeDocument/2006/relationships/hyperlink" Target="https://www.intechopen.com/chapters/7139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468605026000529" TargetMode="External"/><Relationship Id="rId5" Type="http://schemas.openxmlformats.org/officeDocument/2006/relationships/hyperlink" Target="https://www.sciencedirect.com/science/article/abs/pii/S0022311524005324" TargetMode="External"/><Relationship Id="rId4" Type="http://schemas.openxmlformats.org/officeDocument/2006/relationships/hyperlink" Target="https://ntrs.nasa.gov/api/citations/20160014802/downloads/20160014802.pdf" TargetMode="Externa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ntrs.nasa.gov/api/citations/20040082321/downloads/20040082321.pdf" TargetMode="External"/><Relationship Id="rId3" Type="http://schemas.openxmlformats.org/officeDocument/2006/relationships/hyperlink" Target="https://www.osti.gov/servlets/purl/1212629" TargetMode="External"/><Relationship Id="rId7" Type="http://schemas.openxmlformats.org/officeDocument/2006/relationships/hyperlink" Target="https://ntrs.nasa.gov/api/citations/19890003294/downloads/19890003294.pdf" TargetMode="External"/><Relationship Id="rId2" Type="http://schemas.openxmlformats.org/officeDocument/2006/relationships/hyperlink" Target="https://www.tandfonline.com/doi/full/10.1080/00295450.2020.172538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NAP-10A" TargetMode="External"/><Relationship Id="rId5" Type="http://schemas.openxmlformats.org/officeDocument/2006/relationships/hyperlink" Target="https://virtualtestbed.inl.gov/microreactors/s8er/s8er_reactor_description.html" TargetMode="External"/><Relationship Id="rId10" Type="http://schemas.openxmlformats.org/officeDocument/2006/relationships/hyperlink" Target="https://www.nasa.gov/news-release/nasa-department-of-energy-to-develop-lunar-surface-reactor-by-2030/" TargetMode="External"/><Relationship Id="rId4" Type="http://schemas.openxmlformats.org/officeDocument/2006/relationships/hyperlink" Target="https://en.wikipedia.org/wiki/Kilopower" TargetMode="External"/><Relationship Id="rId9" Type="http://schemas.openxmlformats.org/officeDocument/2006/relationships/hyperlink" Target="https://ntrs.nasa.gov/api/citations/20220014952/downloads/Tofil%20ASCEND%20Oct%202022%20Rev%20C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NE 763: Advanced Reactor Materials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Fall 2026</a:t>
            </a:r>
          </a:p>
          <a:p>
            <a:r>
              <a:t>Dr. Benjamin Beeler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200"/>
              <a:t>Space nuclear reactors, from a materials point of view</a:t>
            </a:r>
          </a:p>
          <a:p>
            <a:pPr lvl="1"/>
            <a:r>
              <a:rPr sz="2200"/>
              <a:t>two very different missions, two very different materials problems</a:t>
            </a:r>
          </a:p>
          <a:p>
            <a:r>
              <a:rPr sz="2200"/>
              <a:t>Nuclear thermal propulsion (NTP)</a:t>
            </a:r>
          </a:p>
          <a:p>
            <a:pPr lvl="1"/>
            <a:r>
              <a:rPr sz="2200"/>
              <a:t>Rover/NERVA: core layout, fuel element evolution, coatings</a:t>
            </a:r>
          </a:p>
          <a:p>
            <a:pPr lvl="1"/>
            <a:r>
              <a:rPr sz="2200"/>
              <a:t>hydrogen corrosion and midband corrosion</a:t>
            </a:r>
          </a:p>
          <a:p>
            <a:pPr lvl="1"/>
            <a:r>
              <a:rPr sz="2200"/>
              <a:t>CERMET fuels, moderators, and the move to HALEU</a:t>
            </a:r>
          </a:p>
          <a:p>
            <a:r>
              <a:rPr sz="2200"/>
              <a:t>Space fission power</a:t>
            </a:r>
          </a:p>
          <a:p>
            <a:pPr lvl="1"/>
            <a:r>
              <a:rPr sz="2200"/>
              <a:t>SNAP, SP-100, Kilopower/KRUSTY, Fission Surface Power</a:t>
            </a:r>
          </a:p>
          <a:p>
            <a:pPr lvl="1"/>
            <a:r>
              <a:rPr sz="2200"/>
              <a:t>hydride fuels, refractory alloys, heat pipes, alkali metal compatibility</a:t>
            </a:r>
          </a:p>
          <a:p>
            <a:r>
              <a:rPr sz="2200"/>
              <a:t>Cross-cutting: what is actually blocking deployment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Nuclear in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1800"/>
              <a:t>Propulsion</a:t>
            </a:r>
          </a:p>
          <a:p>
            <a:pPr lvl="1"/>
            <a:r>
              <a:rPr sz="1800"/>
              <a:t>chemical rockets are limited by the chemical energy in the propellant: ~450 s Isp for LH2/LOX</a:t>
            </a:r>
          </a:p>
          <a:p>
            <a:pPr lvl="1"/>
            <a:r>
              <a:rPr sz="1800"/>
              <a:t>fission decouples the energy source from the working fluid – you can heat whatever you want</a:t>
            </a:r>
          </a:p>
          <a:p>
            <a:pPr lvl="1"/>
            <a:r>
              <a:rPr sz="1800"/>
              <a:t>Isp ∝ √(T_chamber / M), so pick hydrogen (M = 2) and push T as high as the materials allow</a:t>
            </a:r>
          </a:p>
          <a:p>
            <a:pPr lvl="1"/>
            <a:r>
              <a:rPr sz="1800"/>
              <a:t>NTP design points are ~875–950 s at ~2700–2950 K chamber temperature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1800"/>
              <a:t>Surface / in-space power</a:t>
            </a:r>
          </a:p>
          <a:p>
            <a:pPr lvl="1"/>
            <a:r>
              <a:rPr sz="1800"/>
              <a:t>solar flux falls as 1/r² – Mars sees ~43% of Earth’s, and the outer planets are impractical</a:t>
            </a:r>
          </a:p>
          <a:p>
            <a:pPr lvl="1"/>
            <a:r>
              <a:rPr sz="1800"/>
              <a:t>lunar night is ~14 Earth days; batteries at the 40–100 kWe scale are not a viable mass</a:t>
            </a:r>
          </a:p>
          <a:p>
            <a:pPr lvl="1"/>
            <a:r>
              <a:rPr sz="1800"/>
              <a:t>fission gives continuous power independent of sun angle, dust, and latitude</a:t>
            </a:r>
          </a:p>
          <a:p>
            <a:pPr lvl="1"/>
            <a:r>
              <a:rPr sz="1800"/>
              <a:t>targets: 1–10 kWe (Kilopower class) up to 40–100 kWe (Fission Surface Power)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Drivers Unique to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Mass is the currency</a:t>
            </a:r>
          </a:p>
          <a:p>
            <a:pPr lvl="1"/>
            <a:r>
              <a:rPr sz="1800"/>
              <a:t>every kg of shield, reflector, or structure is a kg of payload you did not deliver</a:t>
            </a:r>
          </a:p>
          <a:p>
            <a:pPr lvl="1"/>
            <a:r>
              <a:rPr sz="1800"/>
              <a:t>drives you hot (better conversion efficiency, smaller radiators) and compact (fast or epithermal cores)</a:t>
            </a:r>
          </a:p>
          <a:p>
            <a:r>
              <a:rPr sz="1800"/>
              <a:t>No maintenance, no refueling, no coolant makeup</a:t>
            </a:r>
          </a:p>
          <a:p>
            <a:pPr lvl="1"/>
            <a:r>
              <a:rPr sz="1800"/>
              <a:t>10–15 year unattended life for power systems; a single leak is mission-ending</a:t>
            </a:r>
          </a:p>
          <a:p>
            <a:r>
              <a:rPr sz="1800"/>
              <a:t>Launch and reentry safety</a:t>
            </a:r>
          </a:p>
          <a:p>
            <a:pPr lvl="1"/>
            <a:r>
              <a:rPr sz="1800"/>
              <a:t>the core must stay subcritical if it is dropped into water or wet sand, and survive reentry intact</a:t>
            </a:r>
          </a:p>
          <a:p>
            <a:r>
              <a:rPr sz="1800"/>
              <a:t>Thermal cycling</a:t>
            </a:r>
          </a:p>
          <a:p>
            <a:pPr lvl="1"/>
            <a:r>
              <a:rPr sz="1800"/>
              <a:t>NTP: ambient to ~2700 K in seconds, repeated tens of times</a:t>
            </a:r>
          </a:p>
          <a:p>
            <a:pPr lvl="1"/>
            <a:r>
              <a:rPr sz="1800"/>
              <a:t>power systems: one startup, then hold temperature for a decade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Brief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2000"/>
              <a:t>1955–1973 – Rover/NERVA</a:t>
            </a:r>
          </a:p>
          <a:p>
            <a:pPr lvl="1"/>
            <a:r>
              <a:rPr sz="2000"/>
              <a:t>13 research reactors and 6 nuclear engines built and tested in Nevada</a:t>
            </a:r>
          </a:p>
          <a:p>
            <a:r>
              <a:rPr sz="2000"/>
              <a:t>1955–1973 – SNAP</a:t>
            </a:r>
          </a:p>
          <a:p>
            <a:pPr lvl="1"/>
            <a:r>
              <a:rPr sz="2000"/>
              <a:t>SNAP-10A launched April 1965; still the only U.S. reactor flown</a:t>
            </a:r>
          </a:p>
          <a:p>
            <a:r>
              <a:rPr sz="2000"/>
              <a:t>1960s–70s – GE-710 and ANL cermet programs</a:t>
            </a:r>
          </a:p>
          <a:p>
            <a:r>
              <a:rPr sz="2000"/>
              <a:t>1970s–80s – Soviet BUK/RORSAT and TOPAZ</a:t>
            </a:r>
          </a:p>
          <a:p>
            <a:pPr lvl="1"/>
            <a:r>
              <a:rPr sz="2000"/>
              <a:t>more than 30 reactors flown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2000"/>
              <a:t>1983–1994 – SP-100</a:t>
            </a:r>
          </a:p>
          <a:p>
            <a:pPr lvl="1"/>
            <a:r>
              <a:rPr sz="2000"/>
              <a:t>UN / Li / Nb-1Zr, 100 kWe, never flown</a:t>
            </a:r>
          </a:p>
          <a:p>
            <a:r>
              <a:rPr sz="2000"/>
              <a:t>1987–1993 – SNTP (Timberwind), particle bed</a:t>
            </a:r>
          </a:p>
          <a:p>
            <a:r>
              <a:rPr sz="2000"/>
              <a:t>2015–2018 – Kilopower / KRUSTY</a:t>
            </a:r>
          </a:p>
          <a:p>
            <a:pPr lvl="1"/>
            <a:r>
              <a:rPr sz="2000"/>
              <a:t>first U.S. space reactor criticality since the 1960s</a:t>
            </a:r>
          </a:p>
          <a:p>
            <a:r>
              <a:rPr sz="2000"/>
              <a:t>2021–2025 – DRACO (cancelled May 2025)</a:t>
            </a:r>
          </a:p>
          <a:p>
            <a:r>
              <a:rPr sz="2000"/>
              <a:t>2022–present – Fission Surface Power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fission power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2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Different Duty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2200"/>
              <a:t>Nuclear thermal propulsion</a:t>
            </a:r>
          </a:p>
          <a:p>
            <a:pPr lvl="1"/>
            <a:r>
              <a:rPr sz="2200"/>
              <a:t>hours of operation, total</a:t>
            </a:r>
          </a:p>
          <a:p>
            <a:pPr lvl="1"/>
            <a:r>
              <a:rPr sz="2200"/>
              <a:t>2700–3000 K</a:t>
            </a:r>
          </a:p>
          <a:p>
            <a:pPr lvl="1"/>
            <a:r>
              <a:rPr sz="2200"/>
              <a:t>flowing hydrogen</a:t>
            </a:r>
          </a:p>
          <a:p>
            <a:pPr lvl="1"/>
            <a:r>
              <a:rPr sz="2200"/>
              <a:t>tens of thermal cycles</a:t>
            </a:r>
          </a:p>
          <a:p>
            <a:pPr lvl="1"/>
            <a:r>
              <a:rPr sz="2200"/>
              <a:t>burnup is negligible – swelling and fission gas do not matter</a:t>
            </a:r>
          </a:p>
          <a:p>
            <a:pPr lvl="1"/>
            <a:r>
              <a:rPr sz="2200"/>
              <a:t>failure mode: corrosion and coating cracking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2200"/>
              <a:t>Space fission power</a:t>
            </a:r>
          </a:p>
          <a:p>
            <a:pPr lvl="1"/>
            <a:r>
              <a:rPr sz="2200"/>
              <a:t>10–15 years continuous</a:t>
            </a:r>
          </a:p>
          <a:p>
            <a:pPr lvl="1"/>
            <a:r>
              <a:rPr sz="2200"/>
              <a:t>800–1400 K</a:t>
            </a:r>
          </a:p>
          <a:p>
            <a:pPr lvl="1"/>
            <a:r>
              <a:rPr sz="2200"/>
              <a:t>liquid metal, static or pumped</a:t>
            </a:r>
          </a:p>
          <a:p>
            <a:pPr lvl="1"/>
            <a:r>
              <a:rPr sz="2200"/>
              <a:t>one startup, then hold</a:t>
            </a:r>
          </a:p>
          <a:p>
            <a:pPr lvl="1"/>
            <a:r>
              <a:rPr sz="2200"/>
              <a:t>burnup, swelling, and creep are first-order</a:t>
            </a:r>
          </a:p>
          <a:p>
            <a:pPr lvl="1"/>
            <a:r>
              <a:rPr sz="2200"/>
              <a:t>failure mode: mass transfer, creep rupture, hydrogen loss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1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SNAP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Systems for Nuclear Auxiliary Power, 1955–1973</a:t>
            </a:r>
          </a:p>
          <a:p>
            <a:pPr lvl="1"/>
            <a:r>
              <a:rPr sz="2000"/>
              <a:t>compact U–ZrH cores, NaK coolant, SiGe thermoelectric conversion</a:t>
            </a:r>
          </a:p>
          <a:p>
            <a:r>
              <a:rPr sz="2000"/>
              <a:t>SNAP-10A – launched 3 April 1965</a:t>
            </a:r>
          </a:p>
          <a:p>
            <a:pPr lvl="1"/>
            <a:r>
              <a:rPr sz="2000"/>
              <a:t>reached ~590 We, operated 43 days</a:t>
            </a:r>
          </a:p>
          <a:p>
            <a:pPr lvl="1"/>
            <a:r>
              <a:rPr sz="2000"/>
              <a:t>shut down by a spacecraft voltage regulator failure, not by the reactor</a:t>
            </a:r>
          </a:p>
          <a:p>
            <a:pPr lvl="1"/>
            <a:r>
              <a:rPr sz="2000"/>
              <a:t>still the only U.S. fission reactor ever flown</a:t>
            </a:r>
          </a:p>
          <a:p>
            <a:r>
              <a:rPr sz="2000"/>
              <a:t>SNAP-8 Experimental Reactor – the ground test article</a:t>
            </a:r>
          </a:p>
          <a:p>
            <a:pPr lvl="1"/>
            <a:r>
              <a:rPr sz="2000"/>
              <a:t>600 kWt, 211 fuel elements, 93.15% enriched, 6.56 kg ²³⁵U, 10,000 h design life</a:t>
            </a:r>
          </a:p>
          <a:p>
            <a:pPr lvl="1"/>
            <a:r>
              <a:rPr sz="2000"/>
              <a:t>NaK inlet 1100 °F / outlet 1300 °F, BeO internal and Be external reflector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5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 Fuel: U–ZrH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Fuel and moderator in a single material: Zr–10 wt% U, hydrided to ~6×10²² H atoms/cm³</a:t>
            </a:r>
          </a:p>
          <a:p>
            <a:r>
              <a:rPr sz="1800"/>
              <a:t>The hydrogen gives a strong prompt negative temperature coefficient</a:t>
            </a:r>
          </a:p>
          <a:p>
            <a:pPr lvl="1"/>
            <a:r>
              <a:rPr sz="1800"/>
              <a:t>heat the fuel, the hydrogen spectrum hardens, reactivity drops – the core self-regulates</a:t>
            </a:r>
          </a:p>
          <a:p>
            <a:pPr lvl="1"/>
            <a:r>
              <a:rPr sz="1800"/>
              <a:t>this is why such a small, simple core is stable enough to fly unattended</a:t>
            </a:r>
          </a:p>
          <a:p>
            <a:r>
              <a:rPr sz="1800"/>
              <a:t>Every materials problem with this fuel comes from the same hydrogen</a:t>
            </a:r>
          </a:p>
          <a:p>
            <a:pPr lvl="1"/>
            <a:r>
              <a:rPr sz="1800"/>
              <a:t>dissociation and loss at temperature</a:t>
            </a:r>
          </a:p>
          <a:p>
            <a:pPr lvl="1"/>
            <a:r>
              <a:rPr sz="1800"/>
              <a:t>redistribution down thermal gradients, shifting local moderation and local power</a:t>
            </a:r>
          </a:p>
          <a:p>
            <a:pPr lvl="1"/>
            <a:r>
              <a:rPr sz="1800"/>
              <a:t>hydride phase changes produce volume change and cracking</a:t>
            </a:r>
          </a:p>
          <a:p>
            <a:r>
              <a:rPr sz="1800"/>
              <a:t>The upper temperature limit of the fuel is set by hydrogen retention, not by melting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Hydrogen Permeation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If hydrogen leaves the fuel you lose moderation, then reactivity, then the core</a:t>
            </a:r>
          </a:p>
          <a:p>
            <a:r>
              <a:rPr sz="1800"/>
              <a:t>SNAP-8 used Hastelloy-N cladding with a ceramic diffusion barrier on the inner surface</a:t>
            </a:r>
          </a:p>
          <a:p>
            <a:pPr lvl="1"/>
            <a:r>
              <a:rPr sz="1800"/>
              <a:t>barrier designated AI-8763D, infused with Sm₂O₃ as a burnable poison at 3.34 mg/in of cladding</a:t>
            </a:r>
          </a:p>
          <a:p>
            <a:r>
              <a:rPr sz="1800"/>
              <a:t>The barrier does double duty – it blocks hydrogen and carries the burnable absorber</a:t>
            </a:r>
          </a:p>
          <a:p>
            <a:r>
              <a:rPr sz="1800"/>
              <a:t>Barrier integrity is the life-limiting item</a:t>
            </a:r>
          </a:p>
          <a:p>
            <a:pPr lvl="1"/>
            <a:r>
              <a:rPr sz="1800"/>
              <a:t>a crack or a thin spot is a local hydrogen leak, and the damage is not recoverable</a:t>
            </a:r>
          </a:p>
          <a:p>
            <a:pPr lvl="1"/>
            <a:r>
              <a:rPr sz="1800"/>
              <a:t>you cannot inspect or repair it once the system is launched</a:t>
            </a:r>
          </a:p>
          <a:p>
            <a:r>
              <a:rPr sz="1800"/>
              <a:t>The same problem is back today for ZrH and YH moderators in terrestrial microreactors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3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SP-100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1983–1994 joint DOE / NASA / DARPA program; 2.5 MWt producing 100 kWe</a:t>
            </a:r>
          </a:p>
          <a:p>
            <a:r>
              <a:rPr sz="2000"/>
              <a:t>UN fuel pins, PWC-11 cladding (Nb–1Zr–0.1C), lithium coolant</a:t>
            </a:r>
          </a:p>
          <a:p>
            <a:pPr lvl="1"/>
            <a:r>
              <a:rPr sz="2000"/>
              <a:t>PWC-11 also used for the vessel, internals, and primary heat transport</a:t>
            </a:r>
          </a:p>
          <a:p>
            <a:r>
              <a:rPr sz="2000"/>
              <a:t>Reactor outlet 1300–1350 K; heat rejection at 800–850 K</a:t>
            </a:r>
          </a:p>
          <a:p>
            <a:r>
              <a:rPr sz="2000"/>
              <a:t>SiGe/GaP thermoelectric conversion at ~4% efficiency</a:t>
            </a:r>
          </a:p>
          <a:p>
            <a:pPr lvl="1"/>
            <a:r>
              <a:rPr sz="2000"/>
              <a:t>no moving parts, at the cost of a very large radiator</a:t>
            </a:r>
          </a:p>
          <a:p>
            <a:r>
              <a:rPr sz="2000"/>
              <a:t>12 BeO reflector elements for control; 4 in-core B₄C safety rods</a:t>
            </a:r>
          </a:p>
          <a:p>
            <a:r>
              <a:rPr sz="2000"/>
              <a:t>Shield: LiH for neutrons, W for gammas, Be for thermal control, in a Ti shell</a:t>
            </a:r>
          </a:p>
          <a:p>
            <a:r>
              <a:rPr sz="2000"/>
              <a:t>Cancelled without flight – the fuel and refractory alloy database is what survived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6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Fuel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Attractive for exactly the reasons oxide is not</a:t>
            </a:r>
          </a:p>
          <a:p>
            <a:pPr lvl="1"/>
            <a:r>
              <a:rPr sz="1800"/>
              <a:t>high uranium density (~13.5 g U/cm³), high thermal conductivity, high melting point</a:t>
            </a:r>
          </a:p>
          <a:p>
            <a:pPr lvl="1"/>
            <a:r>
              <a:rPr sz="1800"/>
              <a:t>thermal conductivity increases with temperature – the opposite of UO₂</a:t>
            </a:r>
          </a:p>
          <a:p>
            <a:r>
              <a:rPr sz="1800"/>
              <a:t>The drawbacks are chemical and economic</a:t>
            </a:r>
          </a:p>
          <a:p>
            <a:pPr lvl="1"/>
            <a:r>
              <a:rPr sz="1800"/>
              <a:t>dissociates rather than melting congruently; wants a nitrogen overpressure at high temperature</a:t>
            </a:r>
          </a:p>
          <a:p>
            <a:pPr lvl="1"/>
            <a:r>
              <a:rPr sz="1800"/>
              <a:t>oxygen- and moisture-sensitive – fabrication and handling must be inert throughout</a:t>
            </a:r>
          </a:p>
          <a:p>
            <a:pPr lvl="1"/>
            <a:r>
              <a:rPr sz="1800"/>
              <a:t>¹⁴N(n,p)¹⁴C production argues for ¹⁵N enrichment, which is expensive</a:t>
            </a:r>
          </a:p>
          <a:p>
            <a:r>
              <a:rPr sz="1800"/>
              <a:t>Swelling and fission gas release drive the pin design: plenum volume, smear density, gap</a:t>
            </a:r>
          </a:p>
          <a:p>
            <a:r>
              <a:rPr sz="1800"/>
              <a:t>The same fuel is the reference for cermet NTP and for several terrestrial microreactors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Refractory Alloys: the Real Obstacle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Nb–1Zr, PWC-11, Mo–Re, Ta–10W, W–Re–Mo – the only structural options above ~1300 K</a:t>
            </a:r>
          </a:p>
          <a:p>
            <a:r>
              <a:rPr sz="2000"/>
              <a:t>Zr and Hf additions exist to scavenge oxygen</a:t>
            </a:r>
          </a:p>
          <a:p>
            <a:pPr lvl="1"/>
            <a:r>
              <a:rPr sz="2000"/>
              <a:t>that is the entire reason Nb–1Zr survives in lithium</a:t>
            </a:r>
          </a:p>
          <a:p>
            <a:r>
              <a:rPr sz="2000"/>
              <a:t>Oxygen contamination during fabrication is the dominant failure mode</a:t>
            </a:r>
          </a:p>
          <a:p>
            <a:pPr lvl="1"/>
            <a:r>
              <a:rPr sz="2000"/>
              <a:t>welding and processing must be in vacuum or ultra-high-purity inert gas</a:t>
            </a:r>
          </a:p>
          <a:p>
            <a:pPr lvl="1"/>
            <a:r>
              <a:rPr sz="2000"/>
              <a:t>Nb–1Zr shows intergranular attack once initial oxygen exceeds ~3375 ppm</a:t>
            </a:r>
          </a:p>
          <a:p>
            <a:r>
              <a:rPr sz="2000"/>
              <a:t>Recrystallization during service raises DBTT and embrittles the component</a:t>
            </a:r>
          </a:p>
          <a:p>
            <a:pPr lvl="1"/>
            <a:r>
              <a:rPr sz="2000"/>
              <a:t>irradiation hardening compounds it – Mo and W are marginal to begin with</a:t>
            </a:r>
          </a:p>
          <a:p>
            <a:r>
              <a:rPr sz="2000"/>
              <a:t>The loss of U.S. industrial capability in these alloys since SP-100 is frequently cited as a program risk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66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Kilopower and KRUSTY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LANL/NASA; the Kilopower family was designed for 1–10 kWe over 12–15 years</a:t>
            </a:r>
          </a:p>
          <a:p>
            <a:r>
              <a:rPr sz="2000"/>
              <a:t>KRUSTY was the 1 kWe demonstration unit, tested at NNSS from November 2017 to March 2018</a:t>
            </a:r>
          </a:p>
          <a:p>
            <a:r>
              <a:rPr sz="2000"/>
              <a:t>Core: cast U–8 wt% Mo, 93% enriched, ~32 kg</a:t>
            </a:r>
          </a:p>
          <a:p>
            <a:pPr lvl="1"/>
            <a:r>
              <a:rPr sz="2000"/>
              <a:t>a single annulus – 4 cm ID, 11 cm OD, 25 cm tall</a:t>
            </a:r>
          </a:p>
          <a:p>
            <a:r>
              <a:rPr sz="2000"/>
              <a:t>8 Haynes 230 sodium heat pipes in slots machined into the fuel, ~15 cc Na each</a:t>
            </a:r>
          </a:p>
          <a:p>
            <a:r>
              <a:rPr sz="2000"/>
              <a:t>BeO reflector plates; stainless steel and B₄C shielding</a:t>
            </a:r>
          </a:p>
          <a:p>
            <a:r>
              <a:rPr sz="2000"/>
              <a:t>2 live Stirling convertors plus 6 thermally identical mock-ups</a:t>
            </a:r>
          </a:p>
          <a:p>
            <a:r>
              <a:rPr sz="2000"/>
              <a:t>20 March 2018: 28 h full-power run, ~5 kWt, peak core ~800–850 °C</a:t>
            </a:r>
          </a:p>
          <a:p>
            <a:pPr lvl="1"/>
            <a:r>
              <a:rPr sz="2000"/>
              <a:t>deliberately abused – convertor shutdown, thermal cycling, loss of heat removal – and it self-regulated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8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KRUSTY Fuel: U–8Mo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Monolithic cast metal fuel – not pins, not pellets, a single piece</a:t>
            </a:r>
          </a:p>
          <a:p>
            <a:r>
              <a:rPr sz="1800"/>
              <a:t>Mo stabilizes the high-temperature γ-U phase</a:t>
            </a:r>
          </a:p>
          <a:p>
            <a:pPr lvl="1"/>
            <a:r>
              <a:rPr sz="1800"/>
              <a:t>suppresses the anisotropic irradiation growth of α-U that plagues unalloyed uranium</a:t>
            </a:r>
          </a:p>
          <a:p>
            <a:r>
              <a:rPr sz="1800"/>
              <a:t>Very high thermal conductivity – the core is close to isothermal and responds as one body</a:t>
            </a:r>
          </a:p>
          <a:p>
            <a:r>
              <a:rPr sz="1800"/>
              <a:t>Control is the fuel itself: thermal expansion increases leakage, which drops power</a:t>
            </a:r>
          </a:p>
          <a:p>
            <a:pPr lvl="1"/>
            <a:r>
              <a:rPr sz="1800"/>
              <a:t>no operator action, no control system in the loop</a:t>
            </a:r>
          </a:p>
          <a:p>
            <a:r>
              <a:rPr sz="1800"/>
              <a:t>What a 28 h test does not tell you, for a 12 year mission:</a:t>
            </a:r>
          </a:p>
          <a:p>
            <a:pPr lvl="1"/>
            <a:r>
              <a:rPr sz="1800"/>
              <a:t>fission gas swelling at these temperatures over a decade</a:t>
            </a:r>
          </a:p>
          <a:p>
            <a:pPr lvl="1"/>
            <a:r>
              <a:rPr sz="1800"/>
              <a:t>creep of the fuel around the heat pipe slots, and gap conductance evolution</a:t>
            </a:r>
          </a:p>
          <a:p>
            <a:pPr lvl="1"/>
            <a:r>
              <a:rPr sz="1800"/>
              <a:t>fuel / heat pipe interdiffusion, and γ-U–Mo phase stability under irradiation at ~800 °C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2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A heat pipe moves heat with no pump and no moving parts – exactly what you want when you cannot maintain it</a:t>
            </a:r>
          </a:p>
          <a:p>
            <a:r>
              <a:rPr sz="2000"/>
              <a:t>Envelope + wick + working fluid; the fluid sets the useful temperature range</a:t>
            </a:r>
          </a:p>
          <a:p>
            <a:pPr lvl="1"/>
            <a:r>
              <a:rPr sz="2000"/>
              <a:t>Na: ~800–1100 K (Kilopower class)</a:t>
            </a:r>
          </a:p>
          <a:p>
            <a:pPr lvl="1"/>
            <a:r>
              <a:rPr sz="2000"/>
              <a:t>K: intermediate</a:t>
            </a:r>
          </a:p>
          <a:p>
            <a:pPr lvl="1"/>
            <a:r>
              <a:rPr sz="2000"/>
              <a:t>Li: 1400–1700 K (SP-100 class and above)</a:t>
            </a:r>
          </a:p>
          <a:p>
            <a:r>
              <a:rPr sz="2000"/>
              <a:t>Envelope pairing follows the fluid</a:t>
            </a:r>
          </a:p>
          <a:p>
            <a:pPr lvl="1"/>
            <a:r>
              <a:rPr sz="2000"/>
              <a:t>Haynes 230 or stainless for Na; Nb–1Zr or Mo for K and Li</a:t>
            </a:r>
          </a:p>
          <a:p>
            <a:r>
              <a:rPr sz="2000"/>
              <a:t>Failure modes are chemical, not mechanical – the pipe does not burst, it fouls</a:t>
            </a:r>
          </a:p>
          <a:p>
            <a:r>
              <a:rPr sz="2000"/>
              <a:t>Redundancy is the design answer: lose a pipe and the core redistributes heat to its neighbors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92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Alkali Metal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1800"/>
              <a:t>Pure alkali metals are compatible with most refractory alloys. Impure ones are not</a:t>
            </a:r>
          </a:p>
          <a:p>
            <a:r>
              <a:rPr sz="1800"/>
              <a:t>The mechanism is impurity transport</a:t>
            </a:r>
          </a:p>
          <a:p>
            <a:pPr lvl="1"/>
            <a:r>
              <a:rPr sz="1800"/>
              <a:t>O and C diffuse out of the condenser wall into the fluid</a:t>
            </a:r>
          </a:p>
          <a:p>
            <a:pPr lvl="1"/>
            <a:r>
              <a:rPr sz="1800"/>
              <a:t>they concentrate at the evaporator, then precipitate or form low-melting eutectics</a:t>
            </a:r>
          </a:p>
          <a:p>
            <a:r>
              <a:rPr sz="1800"/>
              <a:t>Purity targets are severe</a:t>
            </a:r>
          </a:p>
          <a:p>
            <a:pPr lvl="1"/>
            <a:r>
              <a:rPr sz="1800"/>
              <a:t>&lt;0.1 ppm oxygen in sodium, by vacuum distillation</a:t>
            </a:r>
          </a:p>
          <a:p>
            <a:pPr lvl="1"/>
            <a:r>
              <a:rPr sz="1800"/>
              <a:t>Ti and Zr getters, plus oxygen-scavenging alloy additions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1800"/>
              <a:t>Demonstrated lifetimes</a:t>
            </a:r>
          </a:p>
          <a:p>
            <a:pPr lvl="1"/>
            <a:r>
              <a:rPr sz="1800"/>
              <a:t>Mo / Na: 45,039 h at 1391 K, no failure</a:t>
            </a:r>
          </a:p>
          <a:p>
            <a:pPr lvl="1"/>
            <a:r>
              <a:rPr sz="1800"/>
              <a:t>Mo / Li: 25,216 h at 1700 K, failed by grain-boundary Ni attack</a:t>
            </a:r>
          </a:p>
          <a:p>
            <a:pPr lvl="1"/>
            <a:r>
              <a:rPr sz="1800"/>
              <a:t>Nb–1Zr / K: 10,000 h at 1150 °C, essentially no attack</a:t>
            </a:r>
          </a:p>
          <a:p>
            <a:r>
              <a:rPr sz="1800"/>
              <a:t>&gt;10⁵ h (~12 yr) is considered achievable with the same procedures</a:t>
            </a:r>
          </a:p>
          <a:p>
            <a:r>
              <a:rPr sz="1800"/>
              <a:t>These lifetimes are set by cleanliness during manufacturing</a:t>
            </a:r>
          </a:p>
          <a:p>
            <a:pPr lvl="1"/>
            <a:r>
              <a:rPr sz="1800"/>
              <a:t>a process control problem as much as a materials problem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45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Conversion and Shielding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2000"/>
              <a:t>Conversion</a:t>
            </a:r>
          </a:p>
          <a:p>
            <a:pPr lvl="1"/>
            <a:r>
              <a:rPr sz="2000"/>
              <a:t>thermoelectric (SiGe): no moving parts, ~4% efficient – SNAP-10A, SP-100</a:t>
            </a:r>
          </a:p>
          <a:p>
            <a:pPr lvl="1"/>
            <a:r>
              <a:rPr sz="2000"/>
              <a:t>Stirling: much higher efficiency with moving parts – Kilopower; hot-end alloy and regenerator are the materials issues</a:t>
            </a:r>
          </a:p>
          <a:p>
            <a:pPr lvl="1"/>
            <a:r>
              <a:rPr sz="2000"/>
              <a:t>closed Brayton: NASA’s preferred route at 100 kWe; needs high-temperature turbine alloys and a gas boundary</a:t>
            </a:r>
          </a:p>
          <a:p>
            <a:r>
              <a:rPr sz="2000"/>
              <a:t>Efficiency buys radiator area, and radiator area is mass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2000"/>
              <a:t>Shielding</a:t>
            </a:r>
          </a:p>
          <a:p>
            <a:pPr lvl="1"/>
            <a:r>
              <a:rPr sz="2000"/>
              <a:t>LiH for neutrons – highest hydrogen density per unit mass</a:t>
            </a:r>
          </a:p>
          <a:p>
            <a:pPr lvl="1"/>
            <a:r>
              <a:rPr sz="2000"/>
              <a:t>W or depleted U for gammas</a:t>
            </a:r>
          </a:p>
          <a:p>
            <a:pPr lvl="1"/>
            <a:r>
              <a:rPr sz="2000"/>
              <a:t>shadow shield only – 4π shielding is unaffordable, so everything off-axis sees full fluence</a:t>
            </a:r>
          </a:p>
          <a:p>
            <a:r>
              <a:rPr sz="2000"/>
              <a:t>LiH brings its own problems</a:t>
            </a:r>
          </a:p>
          <a:p>
            <a:pPr lvl="1"/>
            <a:r>
              <a:rPr sz="2000"/>
              <a:t>hydrogen retention and a low temperature limit – the same hydride issue, again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57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Fission Surface Power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Phase 1 (2022): three 12-month design contracts at a 40 kWe target</a:t>
            </a:r>
          </a:p>
          <a:p>
            <a:pPr lvl="1"/>
            <a:r>
              <a:rPr sz="2000"/>
              <a:t>Lockheed Martin, Westinghouse, and IX (Intuitive Machines / X-energy)</a:t>
            </a:r>
          </a:p>
          <a:p>
            <a:pPr lvl="1"/>
            <a:r>
              <a:rPr sz="2000"/>
              <a:t>6000 kg mass limit, 120 Vdc, 5 rem/yr at 1 km</a:t>
            </a:r>
          </a:p>
          <a:p>
            <a:r>
              <a:rPr sz="2000"/>
              <a:t>August 2025 RFI raised the target to 100 kWe with closed Brayton conversion</a:t>
            </a:r>
          </a:p>
          <a:p>
            <a:pPr lvl="1"/>
            <a:r>
              <a:rPr sz="2000"/>
              <a:t>heavy-class lander, up to 15 t</a:t>
            </a:r>
          </a:p>
          <a:p>
            <a:r>
              <a:rPr sz="2000"/>
              <a:t>January 2026: NASA/DOE memorandum of understanding; reactor targeted for readiness by Q1 FY2030</a:t>
            </a:r>
          </a:p>
          <a:p>
            <a:pPr lvl="1"/>
            <a:r>
              <a:rPr sz="2000"/>
              <a:t>the releases are deliberately ambiguous about “built by then” versus “operating on the Moon by then”</a:t>
            </a:r>
          </a:p>
          <a:p>
            <a:r>
              <a:rPr sz="2000"/>
              <a:t>Russia and China have announced lunar surface reactors in the 2033–2035 timeframe</a:t>
            </a:r>
          </a:p>
          <a:p>
            <a:r>
              <a:rPr sz="2000"/>
              <a:t>Fuel form and enrichment are not public for all three U.S. teams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7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Cross-Cutting Materials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Temperature – everything wants to run hotter: higher Isp, better efficiency, smaller radiators</a:t>
            </a:r>
          </a:p>
          <a:p>
            <a:r>
              <a:rPr sz="1800"/>
              <a:t>Time – NTP needs hours, power systems need a decade; the same material fails differently in each</a:t>
            </a:r>
          </a:p>
          <a:p>
            <a:r>
              <a:rPr sz="1800"/>
              <a:t>Environment – hot hydrogen, liquid alkali metals, and vacuum each attack something different</a:t>
            </a:r>
          </a:p>
          <a:p>
            <a:r>
              <a:rPr sz="1800"/>
              <a:t>Irradiation – fast spectrum, and almost no relevant irradiation data on any of these materials</a:t>
            </a:r>
          </a:p>
          <a:p>
            <a:r>
              <a:rPr sz="1800"/>
              <a:t>Fabrication – refractory alloys, carbides, and cermets are hard to make and harder to make reproducibly</a:t>
            </a:r>
          </a:p>
          <a:p>
            <a:r>
              <a:rPr sz="1800"/>
              <a:t>Qualification – terrestrial fuel is qualified by years of irradiation; no space program has that schedule</a:t>
            </a:r>
          </a:p>
          <a:p>
            <a:r>
              <a:rPr sz="1800"/>
              <a:t>Note that none of these are new materials</a:t>
            </a:r>
          </a:p>
          <a:p>
            <a:pPr lvl="1"/>
            <a:r>
              <a:rPr sz="1800"/>
              <a:t>it is the same short list from the 1960s, still not qualified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1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Nuclear thermal propulsion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NTP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Solid-core NTP: hydrogen flows through channels in a fueled solid and out a nozzle</a:t>
            </a:r>
          </a:p>
          <a:p>
            <a:r>
              <a:rPr sz="2000"/>
              <a:t>Performance is set by chamber temperature divided by exhaust molecular weight</a:t>
            </a:r>
          </a:p>
          <a:p>
            <a:pPr lvl="1"/>
            <a:r>
              <a:rPr sz="2000"/>
              <a:t>Isp ≈ (1/g₀)√[ 2γ/(γ–1) · RᵤT_c / M ]</a:t>
            </a:r>
          </a:p>
          <a:p>
            <a:r>
              <a:rPr sz="2000"/>
              <a:t>Chemical combustion is stuck at M ≈ 18–22 for LH2/LOX; NTP runs pure H2 at M = 2</a:t>
            </a:r>
          </a:p>
          <a:p>
            <a:pPr lvl="1"/>
            <a:r>
              <a:rPr sz="2000"/>
              <a:t>even at a lower chamber temperature, NTP roughly doubles Isp</a:t>
            </a:r>
          </a:p>
          <a:p>
            <a:r>
              <a:rPr sz="2000"/>
              <a:t>There is no combustion, so the peak temperature is not set by chemistry – it is set by the fuel</a:t>
            </a:r>
          </a:p>
          <a:p>
            <a:r>
              <a:rPr sz="2000"/>
              <a:t>The entire engine reduces to one materials question:</a:t>
            </a:r>
          </a:p>
          <a:p>
            <a:pPr lvl="1"/>
            <a:r>
              <a:rPr sz="2000"/>
              <a:t>how hot can a fueled solid get, in flowing hydrogen, without losing its uranium?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Hydrogen, and Why It Hurts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Hydrogen is the best propellant and the worst chemical environment you could pick</a:t>
            </a:r>
          </a:p>
          <a:p>
            <a:r>
              <a:rPr sz="2000"/>
              <a:t>Strongly reducing</a:t>
            </a:r>
          </a:p>
          <a:p>
            <a:pPr lvl="1"/>
            <a:r>
              <a:rPr sz="2000"/>
              <a:t>reduces oxides – UO₂ survives only if it is fully encapsulated</a:t>
            </a:r>
          </a:p>
          <a:p>
            <a:r>
              <a:rPr sz="2000"/>
              <a:t>Reacts with carbon to form volatile hydrocarbons</a:t>
            </a:r>
          </a:p>
          <a:p>
            <a:pPr lvl="1"/>
            <a:r>
              <a:rPr sz="2000"/>
              <a:t>CH₄ and C₂H₂ formation dominates mass loss from ~1500–2900 K</a:t>
            </a:r>
          </a:p>
          <a:p>
            <a:pPr lvl="1"/>
            <a:r>
              <a:rPr sz="2000"/>
              <a:t>above ~2900 K, vaporization of U–Zr–C takes over as the dominant loss mechanism</a:t>
            </a:r>
          </a:p>
          <a:p>
            <a:r>
              <a:rPr sz="2000"/>
              <a:t>Dissociates to atomic H at temperature</a:t>
            </a:r>
          </a:p>
          <a:p>
            <a:pPr lvl="1"/>
            <a:r>
              <a:rPr sz="2000"/>
              <a:t>permeates metals, and strips hydrogen out of hydride moderators</a:t>
            </a:r>
          </a:p>
          <a:p>
            <a:r>
              <a:rPr sz="2000"/>
              <a:t>Mass flow is enormous, so corrosion products are swept away continuously</a:t>
            </a:r>
          </a:p>
          <a:p>
            <a:pPr lvl="1"/>
            <a:r>
              <a:rPr sz="2000"/>
              <a:t>no protective scale ever forms – attack does not self-limit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Rover/NERVA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2200"/>
              <a:t>Kiwi (1959–64)</a:t>
            </a:r>
          </a:p>
          <a:p>
            <a:pPr lvl="1"/>
            <a:r>
              <a:rPr sz="2200"/>
              <a:t>non-flight “won’t fly” test reactors; proved the concept and found the failure modes</a:t>
            </a:r>
          </a:p>
          <a:p>
            <a:r>
              <a:rPr sz="2200"/>
              <a:t>Phoebus (1965–68)</a:t>
            </a:r>
          </a:p>
          <a:p>
            <a:pPr lvl="1"/>
            <a:r>
              <a:rPr sz="2200"/>
              <a:t>power scaling; Phoebus-2A reached 4100 MWt in July 1968</a:t>
            </a:r>
          </a:p>
          <a:p>
            <a:r>
              <a:rPr sz="2200"/>
              <a:t>Pewee (1968)</a:t>
            </a:r>
          </a:p>
          <a:p>
            <a:pPr lvl="1"/>
            <a:r>
              <a:rPr sz="2200"/>
              <a:t>small, very high power density test bed; set the fuel and exhaust temperature records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2200"/>
              <a:t>NRX / XE (1964–69)</a:t>
            </a:r>
          </a:p>
          <a:p>
            <a:pPr lvl="1"/>
            <a:r>
              <a:rPr sz="2200"/>
              <a:t>engine-configuration tests; NRX-A6 ran 62 min continuously, XE′ demonstrated 28 restarts</a:t>
            </a:r>
          </a:p>
          <a:p>
            <a:r>
              <a:rPr sz="2200"/>
              <a:t>Nuclear Furnace NF-1 (1972)</a:t>
            </a:r>
          </a:p>
          <a:p>
            <a:pPr lvl="1"/>
            <a:r>
              <a:rPr sz="2200"/>
              <a:t>fuel element test reactor; ~109 min accumulated at full power, ~5 MWt/L</a:t>
            </a:r>
          </a:p>
          <a:p>
            <a:r>
              <a:rPr sz="2200"/>
              <a:t>Cancelled in 1973</a:t>
            </a:r>
          </a:p>
          <a:p>
            <a:pPr lvl="1"/>
            <a:r>
              <a:rPr sz="2200"/>
              <a:t>for budget and mission reasons, not because of a technical failure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NERVA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Hexagonal prismatic fuel elements in a tightly packed hexagonal array</a:t>
            </a:r>
          </a:p>
          <a:p>
            <a:r>
              <a:rPr sz="2000"/>
              <a:t>Structural tie tubes interspersed among the fuel elements</a:t>
            </a:r>
          </a:p>
          <a:p>
            <a:pPr lvl="1"/>
            <a:r>
              <a:rPr sz="2000"/>
              <a:t>roughly 2 fuel elements per tie tube – the SNRE design used 564 elements and 241 tie tubes</a:t>
            </a:r>
          </a:p>
          <a:p>
            <a:r>
              <a:rPr sz="2000"/>
              <a:t>Beryllium radial reflector with rotating control drums (absorber on one face)</a:t>
            </a:r>
          </a:p>
          <a:p>
            <a:r>
              <a:rPr sz="2000"/>
              <a:t>Hydrogen path is a cascade of cooling duties before the core:</a:t>
            </a:r>
          </a:p>
          <a:p>
            <a:pPr lvl="1"/>
            <a:r>
              <a:rPr sz="2000"/>
              <a:t>tank → turbopump → nozzle and reflector cooling → tie tubes → core → nozzle</a:t>
            </a:r>
          </a:p>
          <a:p>
            <a:pPr lvl="1"/>
            <a:r>
              <a:rPr sz="2000"/>
              <a:t>everything structural sits upstream of the hot end and stays cold</a:t>
            </a:r>
          </a:p>
          <a:p>
            <a:r>
              <a:rPr sz="2000"/>
              <a:t>Aluminum/steel pressure vessel, internal shield, regeneratively cooled nozzle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Element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200"/>
              <a:t>Hexagonal prism, ~0.75 in across the flats, 52 in (1.32 m) long in heritage designs</a:t>
            </a:r>
          </a:p>
          <a:p>
            <a:pPr lvl="1"/>
            <a:r>
              <a:rPr sz="2200"/>
              <a:t>later SNRE-class designs shortened the element to 0.89 m (35 in)</a:t>
            </a:r>
          </a:p>
          <a:p>
            <a:r>
              <a:rPr sz="2200"/>
              <a:t>19 axial coolant channels per element</a:t>
            </a:r>
          </a:p>
          <a:p>
            <a:r>
              <a:rPr sz="2200"/>
              <a:t>Channels and the element exterior are coated by CVD – NbC early, ZrC later</a:t>
            </a:r>
          </a:p>
          <a:p>
            <a:pPr lvl="1"/>
            <a:r>
              <a:rPr sz="2200"/>
              <a:t>uniform coating of a 1.3 m long, ~2.5 mm diameter hole is a nontrivial process problem</a:t>
            </a:r>
          </a:p>
          <a:p>
            <a:r>
              <a:rPr sz="2200"/>
              <a:t>Uranium loading ~0.25–0.60 g U/cm³ depending on engine class</a:t>
            </a:r>
          </a:p>
          <a:p>
            <a:r>
              <a:rPr sz="2200"/>
              <a:t>Peak demonstrated power density ~5 MWt/L (~5000 MWt/m³)</a:t>
            </a:r>
          </a:p>
          <a:p>
            <a:pPr lvl="1"/>
            <a:r>
              <a:rPr sz="2200"/>
              <a:t>for comparison, an LWR core runs about 0.1 MWt/L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 Tubes and the ZrH Moderator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Tie tubes carry the mechanical load and hold the core in compression</a:t>
            </a:r>
          </a:p>
          <a:p>
            <a:r>
              <a:rPr sz="2000"/>
              <a:t>They also carry a sleeve of ZrH moderator with a coaxial Inconel tube for regenerative cooling</a:t>
            </a:r>
          </a:p>
          <a:p>
            <a:pPr lvl="1"/>
            <a:r>
              <a:rPr sz="2000"/>
              <a:t>moderation raises reactivity, which lets you cut uranium loading – or reach LEU at all</a:t>
            </a:r>
          </a:p>
          <a:p>
            <a:r>
              <a:rPr sz="2000"/>
              <a:t>Two-pass flow: hydrogen cools the tie tubes, then returns to the core inlet</a:t>
            </a:r>
          </a:p>
          <a:p>
            <a:pPr lvl="1"/>
            <a:r>
              <a:rPr sz="2000"/>
              <a:t>recovering that heat instead of dumping it raises Isp</a:t>
            </a:r>
          </a:p>
          <a:p>
            <a:r>
              <a:rPr sz="2000"/>
              <a:t>The materials constraint is severe</a:t>
            </a:r>
          </a:p>
          <a:p>
            <a:pPr lvl="1"/>
            <a:r>
              <a:rPr sz="2000"/>
              <a:t>ZrH begins losing hydrogen above ~700 K</a:t>
            </a:r>
          </a:p>
          <a:p>
            <a:pPr lvl="1"/>
            <a:r>
              <a:rPr sz="2000"/>
              <a:t>so a ~700 K component has to survive while sitting inside a ~2700 K core</a:t>
            </a:r>
          </a:p>
          <a:p>
            <a:r>
              <a:rPr sz="2000"/>
              <a:t>ZrH tie tubes were demonstrated in Pewee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Generation 1: Beaded Graphite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Original Kiwi/NERVA fuel: UO₂ or UC₂ particles dispersed in an extruded graphite matrix</a:t>
            </a:r>
          </a:p>
          <a:p>
            <a:pPr lvl="1"/>
            <a:r>
              <a:rPr sz="2000"/>
              <a:t>later versions coated the particles in pyrolytic carbon to retain fission products</a:t>
            </a:r>
          </a:p>
          <a:p>
            <a:r>
              <a:rPr sz="2000"/>
              <a:t>Graphite is attractive – it moderates, it is cheap, machinable, and strong at temperature</a:t>
            </a:r>
          </a:p>
          <a:p>
            <a:r>
              <a:rPr sz="2000"/>
              <a:t>Graphite is also the problem</a:t>
            </a:r>
          </a:p>
          <a:p>
            <a:pPr lvl="1"/>
            <a:r>
              <a:rPr sz="2000"/>
              <a:t>carbon + hot H2 → CH₄ / C₂H₂, so any exposed matrix is consumed</a:t>
            </a:r>
          </a:p>
          <a:p>
            <a:pPr lvl="1"/>
            <a:r>
              <a:rPr sz="2000"/>
              <a:t>the graphite matrix CTE does not match the carbide coating, so the coating cracks on heatup</a:t>
            </a:r>
          </a:p>
          <a:p>
            <a:r>
              <a:rPr sz="2000"/>
              <a:t>Uranium loss shows up twice: as reactivity and performance loss, and as effluent contamination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Generation 2: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200"/>
              <a:t>(U,Zr)C dispersed in a graphite matrix – the “composite” fuel</a:t>
            </a:r>
          </a:p>
          <a:p>
            <a:r>
              <a:rPr sz="2200"/>
              <a:t>The two jobs are now separated</a:t>
            </a:r>
          </a:p>
          <a:p>
            <a:pPr lvl="1"/>
            <a:r>
              <a:rPr sz="2200"/>
              <a:t>the carbide phase carries the uranium and resists hydrogen</a:t>
            </a:r>
          </a:p>
          <a:p>
            <a:pPr lvl="1"/>
            <a:r>
              <a:rPr sz="2200"/>
              <a:t>the graphite provides moderation, thermal conductivity, and machinability</a:t>
            </a:r>
          </a:p>
          <a:p>
            <a:r>
              <a:rPr sz="2200"/>
              <a:t>Critically, the CTE moves in the right direction</a:t>
            </a:r>
          </a:p>
          <a:p>
            <a:pPr lvl="1"/>
            <a:r>
              <a:rPr sz="2200"/>
              <a:t>composite fuel: 6–6.5 μm/m·K, versus 7.1 μm/m·K for NbC coating</a:t>
            </a:r>
          </a:p>
          <a:p>
            <a:pPr lvl="1"/>
            <a:r>
              <a:rPr sz="2200"/>
              <a:t>much less coating cracking, therefore much less corrosion</a:t>
            </a:r>
          </a:p>
          <a:p>
            <a:r>
              <a:rPr sz="2200"/>
              <a:t>Higher temperature capability and better fission product retention than beaded fuel</a:t>
            </a:r>
          </a:p>
          <a:p>
            <a:r>
              <a:rPr sz="2200"/>
              <a:t>This is the fuel form that NF-1 tested most successfully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Generation 3: Carbides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Solid-solution (U,Zr)C with no free graphite – the highest temperature capability tested</a:t>
            </a:r>
          </a:p>
          <a:p>
            <a:r>
              <a:rPr sz="2000"/>
              <a:t>Composition control is the whole game</a:t>
            </a:r>
          </a:p>
          <a:p>
            <a:pPr lvl="1"/>
            <a:r>
              <a:rPr sz="2000"/>
              <a:t>target C/M ratios of 0.88–0.95 – substoichiometric carbon suppresses free carbon</a:t>
            </a:r>
          </a:p>
          <a:p>
            <a:pPr lvl="1"/>
            <a:r>
              <a:rPr sz="2000"/>
              <a:t>ternary (U,Zr,Nb)C melts ~100–700 K above binary carbides that have a separate carbon phase</a:t>
            </a:r>
          </a:p>
          <a:p>
            <a:r>
              <a:rPr sz="2000"/>
              <a:t>Elements were designed for fuel temperatures up to ~3200 K</a:t>
            </a:r>
          </a:p>
          <a:p>
            <a:r>
              <a:rPr sz="2000"/>
              <a:t>The cost is fabricability and toughness</a:t>
            </a:r>
          </a:p>
          <a:p>
            <a:pPr lvl="1"/>
            <a:r>
              <a:rPr sz="2000"/>
              <a:t>very brittle, poor thermal shock resistance, hard to form into long thin-web elements</a:t>
            </a:r>
          </a:p>
          <a:p>
            <a:r>
              <a:rPr sz="2000"/>
              <a:t>Never fully qualified before the program ended in 1973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The coating is the only thing between hot hydrogen and the fuel</a:t>
            </a:r>
          </a:p>
          <a:p>
            <a:r>
              <a:rPr sz="2000"/>
              <a:t>NbC first</a:t>
            </a:r>
          </a:p>
          <a:p>
            <a:pPr lvl="1"/>
            <a:r>
              <a:rPr sz="2000"/>
              <a:t>CVD applied, but the CTE mismatch with graphite fuel cracked it during heatup</a:t>
            </a:r>
          </a:p>
          <a:p>
            <a:r>
              <a:rPr sz="2000"/>
              <a:t>ZrC later</a:t>
            </a:r>
          </a:p>
          <a:p>
            <a:pPr lvl="1"/>
            <a:r>
              <a:rPr sz="2000"/>
              <a:t>better fission product retention at high temperature, better CTE match to composite fuel</a:t>
            </a:r>
          </a:p>
          <a:p>
            <a:pPr lvl="1"/>
            <a:r>
              <a:rPr sz="2000"/>
              <a:t>typical particle architecture: two pyrocarbon layers plus an outer ZrC layer</a:t>
            </a:r>
          </a:p>
          <a:p>
            <a:r>
              <a:rPr sz="2000"/>
              <a:t>Coating failure is local and self-accelerating</a:t>
            </a:r>
          </a:p>
          <a:p>
            <a:pPr lvl="1"/>
            <a:r>
              <a:rPr sz="2000"/>
              <a:t>a crack exposes matrix → hydrogen excavates a cavity → the cavity grows and unloads more coating</a:t>
            </a:r>
          </a:p>
          <a:p>
            <a:r>
              <a:rPr sz="2000"/>
              <a:t>So coating integrity, not fuel melting, sets the practical temperature limit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Hydrogen Corrosion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2200"/>
              <a:t>Chemical attack, ~1500–2900 K</a:t>
            </a:r>
          </a:p>
          <a:p>
            <a:pPr lvl="1"/>
            <a:r>
              <a:rPr sz="2200"/>
              <a:t>carbon constituents react with H2 to form CH₄ and C₂H₂</a:t>
            </a:r>
          </a:p>
          <a:p>
            <a:pPr lvl="1"/>
            <a:r>
              <a:rPr sz="2200"/>
              <a:t>rate set by H2 partial pressure, temperature, and exposed carbon area</a:t>
            </a:r>
          </a:p>
          <a:p>
            <a:pPr lvl="1"/>
            <a:r>
              <a:rPr sz="2200"/>
              <a:t>dominant loss mechanism over most of the element length</a:t>
            </a:r>
          </a:p>
          <a:p>
            <a:pPr lvl="1"/>
            <a:r>
              <a:rPr sz="2200"/>
              <a:t>no protective product forms – flow sweeps everything away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2200"/>
              <a:t>Vaporization, above ~2900 K</a:t>
            </a:r>
          </a:p>
          <a:p>
            <a:pPr lvl="1"/>
            <a:r>
              <a:rPr sz="2200"/>
              <a:t>vaporization of U–Zr–C takes over</a:t>
            </a:r>
          </a:p>
          <a:p>
            <a:pPr lvl="1"/>
            <a:r>
              <a:rPr sz="2200"/>
              <a:t>shifts in the U/Zr/C ratio liberate free carbon, which then reacts chemically</a:t>
            </a:r>
          </a:p>
          <a:p>
            <a:r>
              <a:rPr sz="2200"/>
              <a:t>Irradiation makes both worse</a:t>
            </a:r>
          </a:p>
          <a:p>
            <a:pPr lvl="1"/>
            <a:r>
              <a:rPr sz="2200"/>
              <a:t>radiation damage lowers thermal conductivity</a:t>
            </a:r>
          </a:p>
          <a:p>
            <a:pPr lvl="1"/>
            <a:r>
              <a:rPr sz="2200"/>
              <a:t>steeper gradients → higher stresses → more cracks → deeper hydrogen penetration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Midband Corrosion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Corrosion in Rover/NERVA elements was not uniform along the length – it peaked in the middle</a:t>
            </a:r>
          </a:p>
          <a:p>
            <a:r>
              <a:rPr sz="2000"/>
              <a:t>The usual explanation is mechanical, with a chemical consequence</a:t>
            </a:r>
          </a:p>
          <a:p>
            <a:pPr lvl="1"/>
            <a:r>
              <a:rPr sz="2000"/>
              <a:t>cold inlet end: gas is hot enough to flow but kinetics are too slow to matter</a:t>
            </a:r>
          </a:p>
          <a:p>
            <a:pPr lvl="1"/>
            <a:r>
              <a:rPr sz="2000"/>
              <a:t>hot exit end: the coating is above its brittle range and accommodates strain</a:t>
            </a:r>
          </a:p>
          <a:p>
            <a:pPr lvl="1"/>
            <a:r>
              <a:rPr sz="2000"/>
              <a:t>midband: the coating is still brittle but the gas is already hot – cracks open and stay open</a:t>
            </a:r>
          </a:p>
          <a:p>
            <a:r>
              <a:rPr sz="2000"/>
              <a:t>So the root cause is CTE mismatch and thermal stress; the damage is hydrogen attack through the crack</a:t>
            </a:r>
          </a:p>
          <a:p>
            <a:r>
              <a:rPr sz="2000"/>
              <a:t>The fix was not a better coating – it was a fuel with a CTE closer to the coating</a:t>
            </a:r>
          </a:p>
          <a:p>
            <a:pPr lvl="1"/>
            <a:r>
              <a:rPr sz="2000"/>
              <a:t>i.e., the move from beaded graphite to composite fuel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Rover/NERVA Actually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85816" cy="4160520"/>
          </a:xfrm>
        </p:spPr>
        <p:txBody>
          <a:bodyPr wrap="square"/>
          <a:lstStyle/>
          <a:p>
            <a:r>
              <a:rPr sz="2000"/>
              <a:t>United States</a:t>
            </a:r>
          </a:p>
          <a:p>
            <a:pPr lvl="1"/>
            <a:r>
              <a:rPr sz="2000"/>
              <a:t>13 research reactors, 6 nuclear engines</a:t>
            </a:r>
          </a:p>
          <a:p>
            <a:pPr lvl="1"/>
            <a:r>
              <a:rPr sz="2000"/>
              <a:t>Phoebus-2A: 4100 MWt (July 1968)</a:t>
            </a:r>
          </a:p>
          <a:p>
            <a:pPr lvl="1"/>
            <a:r>
              <a:rPr sz="2000"/>
              <a:t>Pewee: 2750 K peak fuel temperature, ~2550 K peak exhaust, ~5200 MWt/m³ peak power density</a:t>
            </a:r>
          </a:p>
          <a:p>
            <a:pPr lvl="1"/>
            <a:r>
              <a:rPr sz="2000"/>
              <a:t>NRX-A6: 62 min continuous</a:t>
            </a:r>
          </a:p>
          <a:p>
            <a:pPr lvl="1"/>
            <a:r>
              <a:rPr sz="2000"/>
              <a:t>XE′: 28 restarts</a:t>
            </a:r>
          </a:p>
          <a:p>
            <a:pPr lvl="1"/>
            <a:r>
              <a:rPr sz="2000"/>
              <a:t>NF-1: ~109 min accumulated at full power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965960"/>
            <a:ext cx="5385816" cy="4160520"/>
          </a:xfrm>
        </p:spPr>
        <p:txBody>
          <a:bodyPr wrap="square"/>
          <a:lstStyle/>
          <a:p>
            <a:r>
              <a:rPr sz="2000"/>
              <a:t>Soviet Union</a:t>
            </a:r>
          </a:p>
          <a:p>
            <a:pPr lvl="1"/>
            <a:r>
              <a:rPr sz="2000"/>
              <a:t>~1550 fuel assemblies tested over 19 years</a:t>
            </a:r>
          </a:p>
          <a:p>
            <a:pPr lvl="1"/>
            <a:r>
              <a:rPr sz="2000"/>
              <a:t>7 full-core tests and ~160 transient tests at IGR (1962–1978)</a:t>
            </a:r>
          </a:p>
          <a:p>
            <a:pPr lvl="1"/>
            <a:r>
              <a:rPr sz="2000"/>
              <a:t>reported H2 exit temperatures of 2800–3300 K</a:t>
            </a:r>
          </a:p>
          <a:p>
            <a:pPr lvl="1"/>
            <a:r>
              <a:rPr sz="2000"/>
              <a:t>uranium loss inferred at 0.5–1.0% from reactivity loss measurements</a:t>
            </a:r>
          </a:p>
          <a:p>
            <a:r>
              <a:rPr sz="2000"/>
              <a:t>Note what is missing from both lists</a:t>
            </a:r>
          </a:p>
          <a:p>
            <a:pPr lvl="1"/>
            <a:r>
              <a:rPr sz="2000"/>
              <a:t>no long-duration, high-burnup fuel performance data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CERMET Fuels: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The parallel development line: put the fuel in a refractory metal matrix instead of carbon</a:t>
            </a:r>
          </a:p>
          <a:p>
            <a:r>
              <a:rPr sz="1800"/>
              <a:t>GE-710 (1962–68) and the ANL Nuclear Rocket program: W–UO₂ and Mo–UO₂ cermets</a:t>
            </a:r>
          </a:p>
          <a:p>
            <a:pPr lvl="1"/>
            <a:r>
              <a:rPr sz="1800"/>
              <a:t>1–2 μm tungsten powder sintered to ~95% of theoretical density</a:t>
            </a:r>
          </a:p>
          <a:p>
            <a:pPr lvl="1"/>
            <a:r>
              <a:rPr sz="1800"/>
              <a:t>gadolinia-stabilized ANL fuel retained UO₂ at 2770 K for 45 h and 180 thermal cycles</a:t>
            </a:r>
          </a:p>
          <a:p>
            <a:r>
              <a:rPr sz="1800"/>
              <a:t>Advantages over graphite-based fuel</a:t>
            </a:r>
          </a:p>
          <a:p>
            <a:pPr lvl="1"/>
            <a:r>
              <a:rPr sz="1800"/>
              <a:t>no carbon, so no methane pathway; high thermal conductivity; ductile matrix; excellent FP retention</a:t>
            </a:r>
          </a:p>
          <a:p>
            <a:r>
              <a:rPr sz="1800"/>
              <a:t>Disadvantages</a:t>
            </a:r>
          </a:p>
          <a:p>
            <a:pPr lvl="1"/>
            <a:r>
              <a:rPr sz="1800"/>
              <a:t>W is 19.3 g/cm³ – mass is a real penalty, and enriched ¹⁸⁴W is needed to limit parasitic absorption</a:t>
            </a:r>
          </a:p>
          <a:p>
            <a:pPr lvl="1"/>
            <a:r>
              <a:rPr sz="1800"/>
              <a:t>powder metallurgy fabrication is difficult and expensive at element scale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CERMET Fuels: Current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NASA’s reference NTP fuel is UN particles at 40–70 vol% in a Mo–30W matrix</a:t>
            </a:r>
          </a:p>
          <a:p>
            <a:r>
              <a:rPr sz="2000"/>
              <a:t>Why UN instead of UO₂</a:t>
            </a:r>
          </a:p>
          <a:p>
            <a:pPr lvl="1"/>
            <a:r>
              <a:rPr sz="2000"/>
              <a:t>higher uranium density, much higher thermal conductivity, higher melting point</a:t>
            </a:r>
          </a:p>
          <a:p>
            <a:r>
              <a:rPr sz="2000"/>
              <a:t>Why Mo–30W instead of W</a:t>
            </a:r>
          </a:p>
          <a:p>
            <a:pPr lvl="1"/>
            <a:r>
              <a:rPr sz="2000"/>
              <a:t>lower density and lower absorption while still refractory</a:t>
            </a:r>
          </a:p>
          <a:p>
            <a:pPr lvl="1"/>
            <a:r>
              <a:rPr sz="2000"/>
              <a:t>the solid solution resists grain growth far better than pure Mo</a:t>
            </a:r>
          </a:p>
          <a:p>
            <a:r>
              <a:rPr sz="2000"/>
              <a:t>The particles are coated (e.g., W) to block UN–matrix interaction and fission product release</a:t>
            </a:r>
          </a:p>
          <a:p>
            <a:r>
              <a:rPr sz="2000"/>
              <a:t>The open issue is UN itself</a:t>
            </a:r>
          </a:p>
          <a:p>
            <a:pPr lvl="1"/>
            <a:r>
              <a:rPr sz="2000"/>
              <a:t>UN dissociates rather than melting congruently and wants a nitrogen overpressure</a:t>
            </a:r>
          </a:p>
          <a:p>
            <a:pPr lvl="1"/>
            <a:r>
              <a:rPr sz="2000"/>
              <a:t>you cannot provide that inside a flowing hydrogen channel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CERMET Fabrication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Powder metallurgy: blend, consolidate, densify</a:t>
            </a:r>
          </a:p>
          <a:p>
            <a:r>
              <a:rPr sz="2000"/>
              <a:t>Current routes are hot isostatic pressing and spark plasma sintering</a:t>
            </a:r>
          </a:p>
          <a:p>
            <a:pPr lvl="1"/>
            <a:r>
              <a:rPr sz="2000"/>
              <a:t>SPS densifies fast at lower temperature, which limits matrix grain growth and particle interaction</a:t>
            </a:r>
          </a:p>
          <a:p>
            <a:r>
              <a:rPr sz="2000"/>
              <a:t>Volume loading is the central tradeoff</a:t>
            </a:r>
          </a:p>
          <a:p>
            <a:pPr lvl="1"/>
            <a:r>
              <a:rPr sz="2000"/>
              <a:t>more fuel gives more uranium but a weaker, less well-connected matrix</a:t>
            </a:r>
          </a:p>
          <a:p>
            <a:r>
              <a:rPr sz="2000"/>
              <a:t>Ceramic particle additions strongly suppress matrix grain growth</a:t>
            </a:r>
          </a:p>
          <a:p>
            <a:pPr lvl="1"/>
            <a:r>
              <a:rPr sz="2000"/>
              <a:t>demonstrated with YSZ surrogate particles in Mo–30W</a:t>
            </a:r>
          </a:p>
          <a:p>
            <a:r>
              <a:rPr sz="2000"/>
              <a:t>Historical stabilizers (Gd₂O₃, Y₂O₃) were used to slow UO₂ loss from oxide cermets</a:t>
            </a:r>
          </a:p>
          <a:p>
            <a:r>
              <a:rPr sz="2000"/>
              <a:t>Reproducibility at element scale, not feasibility, is the current problem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 Hydrogen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Mo–30W with YSZ surrogate particles, flowing H2, 1920–2500 °C, 80 min exposures</a:t>
            </a:r>
          </a:p>
          <a:p>
            <a:pPr lvl="1"/>
            <a:r>
              <a:rPr sz="2000"/>
              <a:t>minimal mass loss, minor to no cracking, good retention of the internal particles</a:t>
            </a:r>
          </a:p>
          <a:p>
            <a:pPr lvl="1"/>
            <a:r>
              <a:rPr sz="2000"/>
              <a:t>the solid solution outperformed pure Mo, especially at the top of the temperature range</a:t>
            </a:r>
          </a:p>
          <a:p>
            <a:r>
              <a:rPr sz="2000"/>
              <a:t>Encouraging – but understand what these tests are not</a:t>
            </a:r>
          </a:p>
          <a:p>
            <a:pPr lvl="1"/>
            <a:r>
              <a:rPr sz="2000"/>
              <a:t>surrogate particles: no real UN chemistry, no actinide transport</a:t>
            </a:r>
          </a:p>
          <a:p>
            <a:pPr lvl="1"/>
            <a:r>
              <a:rPr sz="2000"/>
              <a:t>no fission: no fission products, no fission gas, no radiation damage</a:t>
            </a:r>
          </a:p>
          <a:p>
            <a:pPr lvl="1"/>
            <a:r>
              <a:rPr sz="2000"/>
              <a:t>minutes to hours, against a mission duty cycle of tens of cycles and hours at temperature</a:t>
            </a:r>
          </a:p>
          <a:p>
            <a:r>
              <a:rPr sz="2000"/>
              <a:t>There is no modern integral irradiation data on any candidate NTP fuel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Moderators for NTP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A HALEU core needs moderation, and moderation means putting hydrogen inside a very hot core</a:t>
            </a:r>
          </a:p>
          <a:p>
            <a:r>
              <a:rPr sz="1800"/>
              <a:t>ZrH – demonstrated in Pewee tie tubes, but dissociates above ~700 K</a:t>
            </a:r>
          </a:p>
          <a:p>
            <a:r>
              <a:rPr sz="1800"/>
              <a:t>YH is the leading alternative</a:t>
            </a:r>
          </a:p>
          <a:p>
            <a:pPr lvl="1"/>
            <a:r>
              <a:rPr sz="1800"/>
              <a:t>at 900 °C, YH holds ~1.6× the hydrogen of ZrH at 1 atm equilibrium; ~2.6× at 1100 °C</a:t>
            </a:r>
          </a:p>
          <a:p>
            <a:pPr lvl="1"/>
            <a:r>
              <a:rPr sz="1800"/>
              <a:t>at the same temperature and H/M ratio, YH equilibrium H2 pressure is orders of magnitude lower</a:t>
            </a:r>
          </a:p>
          <a:p>
            <a:r>
              <a:rPr sz="1800"/>
              <a:t>Both need cladding and a permeation barrier – hydrogen loss is reactivity loss</a:t>
            </a:r>
          </a:p>
          <a:p>
            <a:r>
              <a:rPr sz="1800"/>
              <a:t>Data gaps are significant</a:t>
            </a:r>
          </a:p>
          <a:p>
            <a:pPr lvl="1"/>
            <a:r>
              <a:rPr sz="1800"/>
              <a:t>mechanical properties above 700 °C are largely missing; irradiation data stop around 2 dpa</a:t>
            </a:r>
          </a:p>
          <a:p>
            <a:pPr lvl="1"/>
            <a:r>
              <a:rPr sz="1800"/>
              <a:t>desorption kinetics and hydrogen redistribution in a gradient are essentially uncharacterized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Reflectors, Control,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Radial reflector: Be or BeO</a:t>
            </a:r>
          </a:p>
          <a:p>
            <a:pPr lvl="1"/>
            <a:r>
              <a:rPr sz="1800"/>
              <a:t>best reflection per unit mass available, which is why it is used despite everything else</a:t>
            </a:r>
          </a:p>
          <a:p>
            <a:pPr lvl="1"/>
            <a:r>
              <a:rPr sz="1800"/>
              <a:t>limited to below ~1000 K, brittle, and the dust is a serious industrial hygiene problem</a:t>
            </a:r>
          </a:p>
          <a:p>
            <a:r>
              <a:rPr sz="1800"/>
              <a:t>Control: drums in the reflector with an absorber (B₄C) on one face, rotated to change leakage</a:t>
            </a:r>
          </a:p>
          <a:p>
            <a:pPr lvl="1"/>
            <a:r>
              <a:rPr sz="1800"/>
              <a:t>no room for control rods in the core – the core is all fuel</a:t>
            </a:r>
          </a:p>
          <a:p>
            <a:r>
              <a:rPr sz="1800"/>
              <a:t>Tie tubes: Inconel, coaxial, doing structural and thermal duty simultaneously</a:t>
            </a:r>
          </a:p>
          <a:p>
            <a:r>
              <a:rPr sz="1800"/>
              <a:t>Cladding and structural candidates for the hot end: Ta, Ta–10W, W–30Re–30Mo</a:t>
            </a:r>
          </a:p>
          <a:p>
            <a:pPr lvl="1"/>
            <a:r>
              <a:rPr sz="1800"/>
              <a:t>W–30Re–30Mo has low oxygen permeability and high strength, but thermal cycling stresses the bond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HEU to HALEU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Rover/NERVA was HEU. Modern programs are pushed toward &lt;20% enrichment</a:t>
            </a:r>
          </a:p>
          <a:p>
            <a:r>
              <a:rPr sz="2000"/>
              <a:t>The neutronic consequences cascade straight into materials</a:t>
            </a:r>
          </a:p>
          <a:p>
            <a:pPr lvl="1"/>
            <a:r>
              <a:rPr sz="2000"/>
              <a:t>less ²³⁵U per unit volume → you need more moderation, or a physically larger core</a:t>
            </a:r>
          </a:p>
          <a:p>
            <a:pPr lvl="1"/>
            <a:r>
              <a:rPr sz="2000"/>
              <a:t>more moderation → hydride in the core → a hydrogen retention problem at temperature</a:t>
            </a:r>
          </a:p>
          <a:p>
            <a:pPr lvl="1"/>
            <a:r>
              <a:rPr sz="2000"/>
              <a:t>more ²³⁸U → more parasitic absorption and a harder core design</a:t>
            </a:r>
          </a:p>
          <a:p>
            <a:r>
              <a:rPr sz="2000"/>
              <a:t>A larger core is heavier, and mass is the thing you were optimizing</a:t>
            </a:r>
          </a:p>
          <a:p>
            <a:r>
              <a:rPr sz="2000"/>
              <a:t>The critical point for this course:</a:t>
            </a:r>
          </a:p>
          <a:p>
            <a:pPr lvl="1"/>
            <a:r>
              <a:rPr sz="2000"/>
              <a:t>the entire historical fuel, corrosion, and coating database is HEU</a:t>
            </a:r>
          </a:p>
          <a:p>
            <a:pPr lvl="1"/>
            <a:r>
              <a:rPr sz="2000"/>
              <a:t>there is no experimental performance data for a HALEU NTP fuel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/>
              <a:t>DARPA program, NASA formally joined January 2023; goal was an in-space NTP flight demonstration</a:t>
            </a:r>
          </a:p>
          <a:p>
            <a:r>
              <a:rPr sz="2000"/>
              <a:t>HALEU (~20%) fuel, processed by BWXT; early reactor design work at General Atomics</a:t>
            </a:r>
          </a:p>
          <a:p>
            <a:r>
              <a:rPr sz="2000"/>
              <a:t>Lockheed Martin and BWX Advanced Technologies selected July 2023 to design, build, and demonstrate</a:t>
            </a:r>
          </a:p>
          <a:p>
            <a:pPr lvl="1"/>
            <a:r>
              <a:rPr sz="2000"/>
              <a:t>launch planned for 2027, target Isp &gt;800 s</a:t>
            </a:r>
          </a:p>
          <a:p>
            <a:r>
              <a:rPr sz="2000"/>
              <a:t>Launch placed on indefinite hold January 2025; program cancelled 30 May 2025</a:t>
            </a:r>
          </a:p>
          <a:p>
            <a:pPr lvl="1"/>
            <a:r>
              <a:rPr sz="2000"/>
              <a:t>DARPA’s stated reason was falling launch costs weakening the cost-benefit case</a:t>
            </a:r>
          </a:p>
          <a:p>
            <a:pPr lvl="1"/>
            <a:r>
              <a:rPr sz="2000"/>
              <a:t>not a materials failure, and not a test failure</a:t>
            </a:r>
          </a:p>
          <a:p>
            <a:r>
              <a:rPr sz="2000"/>
              <a:t>Worth discussing: whether an unqualified fuel could have met that schedule regardless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NTP Materials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No qualified fuel</a:t>
            </a:r>
          </a:p>
          <a:p>
            <a:pPr lvl="1"/>
            <a:r>
              <a:rPr sz="1800"/>
              <a:t>neither cermet nor carbide has an irradiated, hot-hydrogen-tested performance basis</a:t>
            </a:r>
          </a:p>
          <a:p>
            <a:r>
              <a:rPr sz="1800"/>
              <a:t>No integral test capability</a:t>
            </a:r>
          </a:p>
          <a:p>
            <a:pPr lvl="1"/>
            <a:r>
              <a:rPr sz="1800"/>
              <a:t>no current facility tests fueled elements in flowing hydrogen, at temperature, under fission</a:t>
            </a:r>
          </a:p>
          <a:p>
            <a:r>
              <a:rPr sz="1800"/>
              <a:t>Coating and cladding lifetime under thermal cycling is largely uncharacterized</a:t>
            </a:r>
          </a:p>
          <a:p>
            <a:r>
              <a:rPr sz="1800"/>
              <a:t>HALEU moderator materials (YH) lack high-temperature mechanical and irradiation data</a:t>
            </a:r>
          </a:p>
          <a:p>
            <a:r>
              <a:rPr sz="1800"/>
              <a:t>Property data for (U,Zr)C, UN, and Mo–W above 2000 K are sparse, and often trace to single 1960s studies</a:t>
            </a:r>
          </a:p>
          <a:p>
            <a:r>
              <a:rPr sz="1800"/>
              <a:t>No validated fuel performance code exists for NTP conditions</a:t>
            </a:r>
          </a:p>
          <a:p>
            <a:pPr lvl="1"/>
            <a:r>
              <a:rPr sz="1800"/>
              <a:t>compare with what we just covered for metallic and oxide fast reactor fuels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1800"/>
              <a:t>Space nuclear is two materials problems, not one</a:t>
            </a:r>
          </a:p>
          <a:p>
            <a:pPr lvl="1"/>
            <a:r>
              <a:rPr sz="1800"/>
              <a:t>NTP: hot, short, hydrogen. Power: warm, long, liquid metal</a:t>
            </a:r>
          </a:p>
          <a:p>
            <a:r>
              <a:rPr sz="1800"/>
              <a:t>NTP fuel evolved beaded graphite → composite → carbide → cermet; none of them is qualified</a:t>
            </a:r>
          </a:p>
          <a:p>
            <a:r>
              <a:rPr sz="1800"/>
              <a:t>Hydrogen corrosion, CTE-driven coating cracking, and midband corrosion are the classic NTP failure modes</a:t>
            </a:r>
          </a:p>
          <a:p>
            <a:r>
              <a:rPr sz="1800"/>
              <a:t>HALEU pushes moderator into the core, which makes hydride hydrogen retention a first-order problem</a:t>
            </a:r>
          </a:p>
          <a:p>
            <a:r>
              <a:rPr sz="1800"/>
              <a:t>Power systems are limited by refractory alloy fabrication, alkali metal purity, and unattended lifetime</a:t>
            </a:r>
          </a:p>
          <a:p>
            <a:r>
              <a:rPr sz="1800"/>
              <a:t>KRUSTY showed that a complete system works. It did not show that it works for twelve years</a:t>
            </a:r>
          </a:p>
          <a:p>
            <a:r>
              <a:rPr sz="1800"/>
              <a:t>The gap between “demonstrated” and “qualified” is the entire remaining program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Sources: Nuclear Thermal Propulsion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000">
                <a:hlinkClick r:id="rId2"/>
              </a:rPr>
              <a:t>Nuclear Thermal Propulsion Reactor Materials, IntechOpen (2020)</a:t>
            </a:r>
          </a:p>
          <a:p>
            <a:pPr lvl="1"/>
            <a:r>
              <a:rPr sz="2000"/>
              <a:t>fuel forms, coatings, hydrogen corrosion, and the Rover/NERVA and Soviet test records</a:t>
            </a:r>
          </a:p>
          <a:p>
            <a:r>
              <a:rPr sz="2000">
                <a:hlinkClick r:id="rId3"/>
              </a:rPr>
              <a:t>Space Nuclear Propulsion for Human Mars Exploration, National Academies (2021)</a:t>
            </a:r>
          </a:p>
          <a:p>
            <a:r>
              <a:rPr sz="2000">
                <a:hlinkClick r:id="rId4"/>
              </a:rPr>
              <a:t>Borowski &amp; Sefcik, NTP engine and fuel element design, NASA NTRS 20160014802</a:t>
            </a:r>
          </a:p>
          <a:p>
            <a:r>
              <a:rPr sz="2000">
                <a:hlinkClick r:id="rId5"/>
              </a:rPr>
              <a:t>Hot hydrogen testing of Mo30W matrix surrogate cermets, J. Nucl. Mater. (2024)</a:t>
            </a:r>
          </a:p>
          <a:p>
            <a:r>
              <a:rPr sz="2000">
                <a:hlinkClick r:id="rId6"/>
              </a:rPr>
              <a:t>Yttrium hydride neutron moderators in microreactors, review (2026)</a:t>
            </a:r>
          </a:p>
          <a:p>
            <a:r>
              <a:rPr sz="2000">
                <a:hlinkClick r:id="rId7"/>
              </a:rPr>
              <a:t>DRACO program timeline and cancellation – secondary summary</a:t>
            </a:r>
          </a:p>
          <a:p>
            <a:r>
              <a:rPr sz="2000"/>
              <a:t>Rover/NERVA test data quoted here trace to the two reviews above, not to the original test reports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Sources: Space Fission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 wrap="square"/>
          <a:lstStyle/>
          <a:p>
            <a:r>
              <a:rPr sz="2200">
                <a:hlinkClick r:id="rId2"/>
              </a:rPr>
              <a:t>Poston et al., KRUSTY Reactor Design, Nuclear Technology 206 (2020)</a:t>
            </a:r>
          </a:p>
          <a:p>
            <a:r>
              <a:rPr sz="2200">
                <a:hlinkClick r:id="rId3"/>
              </a:rPr>
              <a:t>KRUSTY design detail, LANL LA-UR-15-26603 (OSTI)</a:t>
            </a:r>
          </a:p>
          <a:p>
            <a:r>
              <a:rPr sz="2200">
                <a:hlinkClick r:id="rId4"/>
              </a:rPr>
              <a:t>Kilopower program summary and KRUSTY test results – secondary summary</a:t>
            </a:r>
          </a:p>
          <a:p>
            <a:r>
              <a:rPr sz="2200">
                <a:hlinkClick r:id="rId5"/>
              </a:rPr>
              <a:t>SNAP-8 Experimental Reactor description, INL Virtual Test Bed</a:t>
            </a:r>
          </a:p>
          <a:p>
            <a:r>
              <a:rPr sz="2200">
                <a:hlinkClick r:id="rId6"/>
              </a:rPr>
              <a:t>SNAP-10A flight summary – secondary summary</a:t>
            </a:r>
          </a:p>
          <a:p>
            <a:r>
              <a:rPr sz="2200">
                <a:hlinkClick r:id="rId7"/>
              </a:rPr>
              <a:t>SP-100 Nuclear Space Power Systems, NASA TM-101403 (1988)</a:t>
            </a:r>
          </a:p>
          <a:p>
            <a:r>
              <a:rPr sz="2200">
                <a:hlinkClick r:id="rId8"/>
              </a:rPr>
              <a:t>Alkali Metal Heat Pipe Life Issues, NASA NTRS 20040082321</a:t>
            </a:r>
          </a:p>
          <a:p>
            <a:r>
              <a:rPr sz="2200">
                <a:hlinkClick r:id="rId9"/>
              </a:rPr>
              <a:t>NASA Fission Surface Power, Phase 1 project documentation (NTRS, 2022)</a:t>
            </a:r>
          </a:p>
          <a:p>
            <a:r>
              <a:rPr sz="2200">
                <a:hlinkClick r:id="rId10"/>
              </a:rPr>
              <a:t>NASA/DOE lunar surface reactor announcement (January 2026)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Lec10_SFRs</Template>
  <TotalTime>43190</TotalTime>
  <Words>5081</Words>
  <Application>Microsoft Macintosh PowerPoint</Application>
  <PresentationFormat>Widescreen</PresentationFormat>
  <Paragraphs>500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1_NCStateU-horizontal-left-logo</vt:lpstr>
      <vt:lpstr>NE 763: Advanced Reactor Materials</vt:lpstr>
      <vt:lpstr>Today</vt:lpstr>
      <vt:lpstr>Why Nuclear in Space</vt:lpstr>
      <vt:lpstr>Design Drivers Unique to Space</vt:lpstr>
      <vt:lpstr>A Brief History</vt:lpstr>
      <vt:lpstr>Space fission power</vt:lpstr>
      <vt:lpstr>A Different Duty Cycle</vt:lpstr>
      <vt:lpstr>The SNAP Program</vt:lpstr>
      <vt:lpstr>SNAP Fuel: U–ZrH</vt:lpstr>
      <vt:lpstr>Hydrogen Permeation Barriers</vt:lpstr>
      <vt:lpstr>SP-100</vt:lpstr>
      <vt:lpstr>UN Fuel</vt:lpstr>
      <vt:lpstr>Refractory Alloys: the Real Obstacle</vt:lpstr>
      <vt:lpstr>Kilopower and KRUSTY</vt:lpstr>
      <vt:lpstr>KRUSTY Fuel: U–8Mo</vt:lpstr>
      <vt:lpstr>Heat Pipes</vt:lpstr>
      <vt:lpstr>Alkali Metal Compatibility</vt:lpstr>
      <vt:lpstr>Power Conversion and Shielding</vt:lpstr>
      <vt:lpstr>Fission Surface Power Today</vt:lpstr>
      <vt:lpstr>Cross-Cutting Materials Challenges</vt:lpstr>
      <vt:lpstr>Nuclear thermal propulsion</vt:lpstr>
      <vt:lpstr>NTP Fundamentals</vt:lpstr>
      <vt:lpstr>Why Hydrogen, and Why It Hurts</vt:lpstr>
      <vt:lpstr>Rover/NERVA Overview</vt:lpstr>
      <vt:lpstr>The NERVA Core</vt:lpstr>
      <vt:lpstr>Fuel Element Geometry</vt:lpstr>
      <vt:lpstr>Tie Tubes and the ZrH Moderator</vt:lpstr>
      <vt:lpstr>Fuel Generation 1: Beaded Graphite</vt:lpstr>
      <vt:lpstr>Fuel Generation 2: Composite</vt:lpstr>
      <vt:lpstr>Fuel Generation 3: Carbides</vt:lpstr>
      <vt:lpstr>Coatings</vt:lpstr>
      <vt:lpstr>Hydrogen Corrosion Mechanisms</vt:lpstr>
      <vt:lpstr>Midband Corrosion</vt:lpstr>
      <vt:lpstr>What Rover/NERVA Actually Demonstrated</vt:lpstr>
      <vt:lpstr>CERMET Fuels: History</vt:lpstr>
      <vt:lpstr>CERMET Fuels: Current Reference</vt:lpstr>
      <vt:lpstr>CERMET Fabrication</vt:lpstr>
      <vt:lpstr>Hot Hydrogen Testing</vt:lpstr>
      <vt:lpstr>Moderators for NTP</vt:lpstr>
      <vt:lpstr>Reflectors, Control, and Structure</vt:lpstr>
      <vt:lpstr>From HEU to HALEU</vt:lpstr>
      <vt:lpstr>DRACO</vt:lpstr>
      <vt:lpstr>NTP Materials Gaps</vt:lpstr>
      <vt:lpstr>Summary</vt:lpstr>
      <vt:lpstr>Sources: Nuclear Thermal Propulsion</vt:lpstr>
      <vt:lpstr>Sources: Space Fission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133</cp:revision>
  <dcterms:created xsi:type="dcterms:W3CDTF">2019-12-09T16:44:02Z</dcterms:created>
  <dcterms:modified xsi:type="dcterms:W3CDTF">2026-09-24T19:01:03Z</dcterms:modified>
</cp:coreProperties>
</file>
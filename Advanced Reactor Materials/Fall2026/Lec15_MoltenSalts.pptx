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0"/>
  </p:notesMasterIdLst>
  <p:sldIdLst>
    <p:sldId id="257" r:id="rId2"/>
    <p:sldId id="474" r:id="rId3"/>
    <p:sldId id="426" r:id="rId4"/>
    <p:sldId id="427" r:id="rId5"/>
    <p:sldId id="439" r:id="rId6"/>
    <p:sldId id="473" r:id="rId7"/>
    <p:sldId id="445" r:id="rId8"/>
    <p:sldId id="440" r:id="rId9"/>
    <p:sldId id="451" r:id="rId10"/>
    <p:sldId id="446" r:id="rId11"/>
    <p:sldId id="447" r:id="rId12"/>
    <p:sldId id="421" r:id="rId13"/>
    <p:sldId id="470" r:id="rId14"/>
    <p:sldId id="453" r:id="rId15"/>
    <p:sldId id="455" r:id="rId16"/>
    <p:sldId id="487" r:id="rId17"/>
    <p:sldId id="459" r:id="rId18"/>
    <p:sldId id="460" r:id="rId19"/>
    <p:sldId id="448" r:id="rId20"/>
    <p:sldId id="456" r:id="rId21"/>
    <p:sldId id="458" r:id="rId22"/>
    <p:sldId id="452" r:id="rId23"/>
    <p:sldId id="469" r:id="rId24"/>
    <p:sldId id="457" r:id="rId25"/>
    <p:sldId id="461" r:id="rId26"/>
    <p:sldId id="462" r:id="rId27"/>
    <p:sldId id="468" r:id="rId28"/>
    <p:sldId id="467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6654"/>
  </p:normalViewPr>
  <p:slideViewPr>
    <p:cSldViewPr snapToGrid="0" snapToObjects="1">
      <p:cViewPr varScale="1">
        <p:scale>
          <a:sx n="126" d="100"/>
          <a:sy n="126" d="100"/>
        </p:scale>
        <p:origin x="5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E75BA2-54D3-3E4F-9D2A-86ABF69FCF28}" type="datetimeFigureOut">
              <a:rPr lang="en-US" smtClean="0"/>
              <a:t>10/8/26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AFB08E-3F2D-8742-A5CF-ED2C619991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9230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4AA4F1-E60E-ED49-8C20-82C5C22F290D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E82176-A547-F94B-AC51-D6E9C882CB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8914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968500"/>
            <a:ext cx="10972800" cy="4157664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D2A092-D95B-2F45-9AE1-6EFCF7AE7B47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C605-4958-CF43-AA48-80339EFDB0A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258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138075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B8BFC1-C5A3-FC42-B47E-2330D93F4E7B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A6BD0F-ABBC-C14D-BC96-77BE126A748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914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968503"/>
            <a:ext cx="5384800" cy="4157663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68503"/>
            <a:ext cx="5384800" cy="4157663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582718-A77B-9048-9272-D0B6D7D4EB49}" type="datetime1">
              <a:rPr lang="en-US" smtClean="0"/>
              <a:t>10/8/26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35E9FC-F6D5-0349-BBED-EA7D7A9BC4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975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4" y="867339"/>
            <a:ext cx="10972800" cy="1068387"/>
          </a:xfrm>
        </p:spPr>
        <p:txBody>
          <a:bodyPr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1935726"/>
            <a:ext cx="5386917" cy="4190437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2" y="1935726"/>
            <a:ext cx="5389033" cy="4190437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F29A29-DE41-AE44-84CD-E2DC9D0A4AEF}" type="datetime1">
              <a:rPr lang="en-US" smtClean="0"/>
              <a:t>10/8/26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5B94E0-5E06-6D42-A41D-50D581B409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239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88F258-9F55-9A4A-8F7B-E6D573AE7D17}" type="datetime1">
              <a:rPr lang="en-US" smtClean="0"/>
              <a:t>10/8/26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AB7D4D-4E81-5B40-91F6-CF14C25F86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041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0C9A10-6892-2C47-9186-E7C225E7EF67}" type="datetime1">
              <a:rPr lang="en-US" smtClean="0"/>
              <a:t>10/8/26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5B2FA7-4FDB-5643-811E-7991DEE50B0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2067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5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5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B0F250-9D6A-4F4C-B5DC-E5BB3C55173B}" type="datetime1">
              <a:rPr lang="en-US" smtClean="0"/>
              <a:t>10/8/26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DD8B14-AE1E-054C-8668-93D0F0400A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468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FAADB8-F38D-2C42-A4A0-2C734CD2343F}" type="datetime1">
              <a:rPr lang="en-US" smtClean="0"/>
              <a:t>10/8/26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EF0004-A563-C64B-9FAD-6198662E1BD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394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A76008-4EAC-D34C-B1EB-04DA1310F40F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9610A8-B29A-B34A-A0B5-3DF26A2EB8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628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29ADC1-8B12-034F-A960-24F99F4EC07D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2D0221-73D0-6245-9CCD-73A1D8FCB5E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737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900113"/>
            <a:ext cx="10972800" cy="1068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Headline Line One</a:t>
            </a:r>
            <a:br>
              <a:rPr lang="en-US" dirty="0"/>
            </a:br>
            <a:r>
              <a:rPr lang="en-US" dirty="0"/>
              <a:t>Headline Line Two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3022600"/>
            <a:ext cx="10972800" cy="310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6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29A14411-20DE-BF4C-B2EF-F03C6EB9FD11}" type="datetime1">
              <a:rPr lang="en-US" smtClean="0"/>
              <a:t>10/8/26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6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6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EF7D53D-272A-624E-BE3D-99D13E2B419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202925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374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defTabSz="609585" rtl="0" eaLnBrk="1" fontAlgn="base" hangingPunct="1">
        <a:spcBef>
          <a:spcPct val="0"/>
        </a:spcBef>
        <a:spcAft>
          <a:spcPct val="0"/>
        </a:spcAft>
        <a:defRPr sz="4267" b="1" kern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2pPr>
      <a:lvl3pPr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3pPr>
      <a:lvl4pPr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4pPr>
      <a:lvl5pPr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5pPr>
      <a:lvl6pPr marL="609585"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6pPr>
      <a:lvl7pPr marL="1219170"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7pPr>
      <a:lvl8pPr marL="1828754"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8pPr>
      <a:lvl9pPr marL="2438339"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9pPr>
    </p:titleStyle>
    <p:bodyStyle>
      <a:lvl1pPr marL="457189" indent="-457189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marL="990575" indent="-380990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3200" kern="1200">
          <a:solidFill>
            <a:schemeClr val="tx1"/>
          </a:solidFill>
          <a:latin typeface="Arial"/>
          <a:ea typeface="ＭＳ Ｐゴシック" charset="0"/>
          <a:cs typeface="Arial"/>
        </a:defRPr>
      </a:lvl2pPr>
      <a:lvl3pPr marL="1523962" indent="-304792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Arial"/>
          <a:ea typeface="ＭＳ Ｐゴシック" charset="0"/>
          <a:cs typeface="Arial"/>
        </a:defRPr>
      </a:lvl3pPr>
      <a:lvl4pPr marL="2133547" indent="-304792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867" kern="1200">
          <a:solidFill>
            <a:schemeClr val="tx1"/>
          </a:solidFill>
          <a:latin typeface="Arial"/>
          <a:ea typeface="ＭＳ Ｐゴシック" charset="0"/>
          <a:cs typeface="Arial"/>
        </a:defRPr>
      </a:lvl4pPr>
      <a:lvl5pPr marL="2743131" indent="-304792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333" kern="1200">
          <a:solidFill>
            <a:schemeClr val="tx1"/>
          </a:solidFill>
          <a:latin typeface="Arial"/>
          <a:ea typeface="ＭＳ Ｐゴシック" charset="0"/>
          <a:cs typeface="Arial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16/j.corsci.2019.108306" TargetMode="External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tiff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98C24-8575-8644-833E-593D27AC50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dirty="0"/>
              <a:t>NE 763: Advanced Reactor Materials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187F49-5DA5-4E46-B793-DAB018625C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Fall 2026</a:t>
            </a:r>
          </a:p>
          <a:p>
            <a:r>
              <a:rPr lang="en-US" dirty="0"/>
              <a:t>Dr. Benjamin Beeler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1D87AF-F2E1-4B41-AF72-207662B13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1E82176-A547-F94B-AC51-D6E9C882CB88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7828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098CF-7218-709B-4780-F85388846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B91584-8226-F0A4-A3EC-255A497951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Fluorides for thermal (and fast), chlorides for fast</a:t>
            </a:r>
          </a:p>
          <a:p>
            <a:r>
              <a:rPr lang="en-US" dirty="0"/>
              <a:t>Li7 enrichment and Cl37 enrichment to avoid neutron absorption (and tritium production)</a:t>
            </a:r>
          </a:p>
          <a:p>
            <a:r>
              <a:rPr lang="en-US" dirty="0"/>
              <a:t>Solute species serve to modify salt properties: lower the melting point, lower viscosity, etc., and can dually serve as an oxygen getter; target low viscosity, high Cp/Kth, low vapor pressure</a:t>
            </a:r>
          </a:p>
          <a:p>
            <a:r>
              <a:rPr lang="en-US" dirty="0"/>
              <a:t>Eutectic compositions are typically of interest</a:t>
            </a:r>
          </a:p>
          <a:p>
            <a:r>
              <a:rPr lang="en-US" dirty="0"/>
              <a:t>Need an O getter to prevent UO2 formation – need something to strip O from UO2</a:t>
            </a:r>
          </a:p>
          <a:p>
            <a:r>
              <a:rPr lang="en-US" dirty="0"/>
              <a:t>Fluorine potential increases dramatically with burnup – inability of FPs to getting released F</a:t>
            </a:r>
          </a:p>
          <a:p>
            <a:r>
              <a:rPr lang="en-US" dirty="0"/>
              <a:t>Need to target UF4/UF3 &lt; 100 as proxy for redox potential and limit cracking</a:t>
            </a:r>
          </a:p>
          <a:p>
            <a:r>
              <a:rPr lang="en-US" dirty="0"/>
              <a:t>Too low UF4/UF3 leads to UC formation</a:t>
            </a:r>
          </a:p>
          <a:p>
            <a:r>
              <a:rPr lang="en-US" dirty="0"/>
              <a:t>FPs form FP-salts, noble gases, or noble metals plating out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6C388E-800D-3A54-38EF-105DAC711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0038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BDC57-3073-184C-84B8-3CE90BA1F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46113"/>
            <a:ext cx="10972800" cy="1068387"/>
          </a:xfrm>
        </p:spPr>
        <p:txBody>
          <a:bodyPr/>
          <a:lstStyle/>
          <a:p>
            <a:r>
              <a:rPr lang="en-US" dirty="0"/>
              <a:t>Cover Gas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8D78B60-141F-EA4C-AFDC-DA32FCCAB4E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430618" y="1763782"/>
            <a:ext cx="5689378" cy="403852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2A207-DD9D-444F-8B50-F8248AA755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534161"/>
            <a:ext cx="6268720" cy="4287206"/>
          </a:xfrm>
        </p:spPr>
        <p:txBody>
          <a:bodyPr/>
          <a:lstStyle/>
          <a:p>
            <a:r>
              <a:rPr lang="en-US" sz="2100" dirty="0"/>
              <a:t>Need a system to clean up the salt and monitor/modify chemistry</a:t>
            </a:r>
          </a:p>
          <a:p>
            <a:r>
              <a:rPr lang="en-US" sz="2100" dirty="0"/>
              <a:t>The cover gas (off-gas) handling system is a key element of any MSR</a:t>
            </a:r>
          </a:p>
          <a:p>
            <a:r>
              <a:rPr lang="en-US" sz="2100" dirty="0"/>
              <a:t>Fission gases such as xenon and krypton will readily escape the salt</a:t>
            </a:r>
          </a:p>
          <a:p>
            <a:r>
              <a:rPr lang="en-US" sz="2100" dirty="0"/>
              <a:t>Acidic gases may accumulate as a result of radiolysis</a:t>
            </a:r>
          </a:p>
          <a:p>
            <a:r>
              <a:rPr lang="en-US" sz="2100" dirty="0"/>
              <a:t>Tritium is formed by neutron interactions with light elements in the salt</a:t>
            </a:r>
          </a:p>
          <a:p>
            <a:r>
              <a:rPr lang="en-US" sz="2100" dirty="0"/>
              <a:t>The cover gas system will contain the radionuclides emerging from the free surface above the fuel salt as well as any sweep or sparging gases used</a:t>
            </a:r>
          </a:p>
          <a:p>
            <a:endParaRPr lang="en-US" sz="2100" dirty="0"/>
          </a:p>
          <a:p>
            <a:endParaRPr lang="en-US" sz="2100" dirty="0"/>
          </a:p>
          <a:p>
            <a:endParaRPr lang="en-US" sz="2100" dirty="0"/>
          </a:p>
          <a:p>
            <a:endParaRPr lang="en-US" sz="2100" dirty="0"/>
          </a:p>
          <a:p>
            <a:endParaRPr lang="en-US" sz="2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EDA4BF-06F5-2A4D-AE3E-21F884468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3574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BDC57-3073-184C-84B8-3CE90BA1F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Tritium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2A207-DD9D-444F-8B50-F8248AA755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968503"/>
            <a:ext cx="6224298" cy="4157663"/>
          </a:xfrm>
        </p:spPr>
        <p:txBody>
          <a:bodyPr/>
          <a:lstStyle/>
          <a:p>
            <a:r>
              <a:rPr lang="en-US" sz="2400" dirty="0"/>
              <a:t>Tritium production and control is an issue for Li-bearing salts</a:t>
            </a:r>
          </a:p>
          <a:p>
            <a:r>
              <a:rPr lang="en-US" sz="2400" dirty="0"/>
              <a:t>Tritium is produced by neutron reactions with lithium, beryllium, and fluorine as well as being a ternary fission product</a:t>
            </a:r>
          </a:p>
          <a:p>
            <a:r>
              <a:rPr lang="en-US" sz="2400" dirty="0"/>
              <a:t>Tritium can exist as ions or as TF, depending on redox conditions</a:t>
            </a:r>
          </a:p>
          <a:p>
            <a:r>
              <a:rPr lang="en-US" sz="2400" dirty="0"/>
              <a:t>Above 300C tritium will diffuse through structural materials</a:t>
            </a:r>
          </a:p>
          <a:p>
            <a:endParaRPr lang="en-US" sz="2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156E40E-A1D0-D841-BF75-3919504AC74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833898" y="2102288"/>
            <a:ext cx="4748501" cy="343041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82A13A-E551-E34F-8807-30893A32D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5276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86823-ACA7-B34F-889A-412F67BD8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Radiolytic Stability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B442F0-9537-9944-AC40-1532EBEAA8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1968503"/>
            <a:ext cx="6427305" cy="4157663"/>
          </a:xfrm>
        </p:spPr>
        <p:txBody>
          <a:bodyPr/>
          <a:lstStyle/>
          <a:p>
            <a:r>
              <a:rPr lang="en-US" sz="2200" dirty="0"/>
              <a:t>Radiolysis is the dissociation of molecules by ionizing radiation</a:t>
            </a:r>
          </a:p>
          <a:p>
            <a:r>
              <a:rPr lang="en-US" sz="2200" dirty="0"/>
              <a:t>Molten salts are highly radiolytically stable</a:t>
            </a:r>
          </a:p>
          <a:p>
            <a:r>
              <a:rPr lang="en-US" sz="2200" dirty="0"/>
              <a:t>Salts are combinations of strongly electronegative elements with strongly electropositive metals with very high bond energies</a:t>
            </a:r>
          </a:p>
          <a:p>
            <a:r>
              <a:rPr lang="en-US" sz="2200" dirty="0"/>
              <a:t>Formation energy of alkali/alkaline salts is more negative than metal fluorides</a:t>
            </a:r>
          </a:p>
          <a:p>
            <a:r>
              <a:rPr lang="en-US" sz="2200" dirty="0"/>
              <a:t>Radiolysis of key molten salt species is generally not of concern… or is at least ignored</a:t>
            </a:r>
          </a:p>
          <a:p>
            <a:endParaRPr lang="en-US" sz="2200" dirty="0"/>
          </a:p>
          <a:p>
            <a:endParaRPr lang="en-US" sz="22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E908FA3-382A-374A-BF2E-107D4EDFB59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036904" y="2282973"/>
            <a:ext cx="4700002" cy="291519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EF30C1-F3E6-D341-AEDB-0B6029B7E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7881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90DC0-424B-5FF4-96CD-FDBBFFC88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E50E7-CB2B-3BF9-9756-B234EB8D4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Molten salt corrosion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CE70D7-649D-1DC1-6ECE-A83F539685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190AD8-893C-DB26-FACB-5C049061F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A6BD0F-ABBC-C14D-BC96-77BE126A748B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9148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8B980-20C5-864D-9572-55CFEB128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principal corrosion processes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18E9ED-CADC-3E4D-BDD0-4627BFB2D4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968503"/>
            <a:ext cx="10972800" cy="4157663"/>
          </a:xfrm>
        </p:spPr>
        <p:txBody>
          <a:bodyPr/>
          <a:lstStyle/>
          <a:p>
            <a:r>
              <a:rPr lang="en-US" sz="2800" dirty="0"/>
              <a:t>Reactions due to oxides on the metal</a:t>
            </a:r>
          </a:p>
          <a:p>
            <a:r>
              <a:rPr lang="en-US" sz="2800" dirty="0"/>
              <a:t>Reactions with dissolved impurities</a:t>
            </a:r>
          </a:p>
          <a:p>
            <a:r>
              <a:rPr lang="en-US" sz="2800" dirty="0"/>
              <a:t>Reactions with necessary constituents of the melt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6AC235-1995-7042-8A9F-5107D935A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3904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50440-CA42-0948-B10A-726A372FF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Protective coatings?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2C21A-31E0-A647-8166-C92CC179E96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200" dirty="0"/>
              <a:t>It is not useful to apply a protective coating of, for example, an oxide layer on the structural material for the two following reasons: </a:t>
            </a:r>
          </a:p>
          <a:p>
            <a:pPr lvl="1"/>
            <a:r>
              <a:rPr lang="en-US" sz="2200" dirty="0"/>
              <a:t>although some oxides are relatively insoluble in the fluoride melt, most are readily dissolved</a:t>
            </a:r>
          </a:p>
          <a:p>
            <a:pPr lvl="1"/>
            <a:r>
              <a:rPr lang="en-US" sz="2200" dirty="0"/>
              <a:t>all oxides rapidly recrystallize</a:t>
            </a:r>
          </a:p>
          <a:p>
            <a:r>
              <a:rPr lang="en-US" sz="2200" dirty="0"/>
              <a:t>Thus, oxide films on the surface of the alloy can be attacked by the fluoride melt and effectively dissolved</a:t>
            </a:r>
          </a:p>
          <a:p>
            <a:endParaRPr lang="en-US" sz="2200" dirty="0"/>
          </a:p>
          <a:p>
            <a:endParaRPr lang="en-US" sz="22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AC7C0C-97EF-1645-8516-5148EFF72FE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200" dirty="0"/>
              <a:t>The formed oxides (</a:t>
            </a:r>
            <a:r>
              <a:rPr lang="en-US" sz="2200" dirty="0" err="1"/>
              <a:t>BeO</a:t>
            </a:r>
            <a:r>
              <a:rPr lang="en-US" sz="2200" dirty="0"/>
              <a:t> below) typically don’t matter as long as they do not contain fissile elements</a:t>
            </a:r>
          </a:p>
          <a:p>
            <a:r>
              <a:rPr lang="en-US" sz="2200" dirty="0"/>
              <a:t>The formed fluorides are more important as they will act as oxidants of Cr in the alloy</a:t>
            </a:r>
          </a:p>
          <a:p>
            <a:endParaRPr lang="en-US" sz="2200" dirty="0"/>
          </a:p>
          <a:p>
            <a:endParaRPr lang="en-US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A7BDA9-FA31-7A40-A45D-B66BFE69A8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5188" y="4668349"/>
            <a:ext cx="3619500" cy="82550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390107-0B56-B349-9CC0-DA55F9182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6545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329E9-A78D-9346-9E9B-9278758E0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Oxides and Impurities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9A6567-0330-4549-9DA7-94AD28227E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1968503"/>
            <a:ext cx="5989984" cy="4157663"/>
          </a:xfrm>
        </p:spPr>
        <p:txBody>
          <a:bodyPr/>
          <a:lstStyle/>
          <a:p>
            <a:r>
              <a:rPr lang="en-US" sz="2200" dirty="0"/>
              <a:t>Structural materials will have been exposed to air, and thus have oxide films</a:t>
            </a:r>
          </a:p>
          <a:p>
            <a:r>
              <a:rPr lang="en-US" sz="2200" dirty="0"/>
              <a:t>Oxide films on the metal are dissolved, leading to cladding constituent fluorides</a:t>
            </a:r>
          </a:p>
          <a:p>
            <a:r>
              <a:rPr lang="en-US" sz="2200" dirty="0"/>
              <a:t>Other corrosion reactions are possible with solvent components</a:t>
            </a:r>
          </a:p>
          <a:p>
            <a:r>
              <a:rPr lang="en-US" sz="2200" dirty="0"/>
              <a:t>Such reactions can lead to rapid initial corrosion</a:t>
            </a:r>
          </a:p>
          <a:p>
            <a:r>
              <a:rPr lang="en-US" sz="2200" dirty="0"/>
              <a:t>These impurity reactions can be minimized by maintaining low impurity concentrations in the salt and on the alloy surfaces</a:t>
            </a:r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2843759-3BA6-9B45-A818-D9B21BBC6AD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582866" y="1300403"/>
            <a:ext cx="3016251" cy="179656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9B38A8D-125B-9844-96DB-14120D313B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2866" y="4727947"/>
            <a:ext cx="2765165" cy="114420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D27B8E-2020-864D-A98A-3D93416B6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DF8215-FDB1-4DB9-1A64-9CA346A714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5747" y="3249748"/>
            <a:ext cx="4082499" cy="99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1562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37291-12C7-AC4D-8CB7-3B18447D6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Dissolved Impurities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4492FD-9565-5447-8B8B-DF4B4AA7FF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968503"/>
            <a:ext cx="5923280" cy="4157663"/>
          </a:xfrm>
        </p:spPr>
        <p:txBody>
          <a:bodyPr/>
          <a:lstStyle/>
          <a:p>
            <a:r>
              <a:rPr lang="en-US" sz="2400" dirty="0"/>
              <a:t>In addition to impurities generated by reactions with oxides, impurities may result from incomplete removal of HF or of easily reducible fluorides during the salt purification</a:t>
            </a:r>
          </a:p>
          <a:p>
            <a:endParaRPr lang="en-US" sz="2400" dirty="0"/>
          </a:p>
          <a:p>
            <a:r>
              <a:rPr lang="en-US" sz="2400" dirty="0"/>
              <a:t>Understanding what chemical reactions can take place, which are favorable, and under what conditions, is key to predicting molten salt corrosion</a:t>
            </a:r>
          </a:p>
          <a:p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A53FF9-844E-5A4F-95A4-285EC0BE94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9883" y="1780540"/>
            <a:ext cx="4533013" cy="1068387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B1D7F4-78FA-F048-B25F-F3F9BCF52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883DE9B-FD6C-31C3-5945-0D6D2E6A2C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7504" y="3102926"/>
            <a:ext cx="3327986" cy="3109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0111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D3B41-1105-B443-B48A-1DDC09B36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Constituents of the Melt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96B2B4-C3BE-0440-B67D-A74455A120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1968503"/>
            <a:ext cx="7163410" cy="4157663"/>
          </a:xfrm>
        </p:spPr>
        <p:txBody>
          <a:bodyPr/>
          <a:lstStyle/>
          <a:p>
            <a:r>
              <a:rPr lang="en-US" sz="2200" dirty="0"/>
              <a:t>The oxidation reaction of alloy components with UF4 has been suggested to play an important role in corrosion</a:t>
            </a:r>
          </a:p>
          <a:p>
            <a:r>
              <a:rPr lang="en-US" sz="2200" dirty="0"/>
              <a:t>The equation will define/buffer the electrochemical potential of the salt via the UF4/UF3 ratio</a:t>
            </a:r>
          </a:p>
          <a:p>
            <a:r>
              <a:rPr lang="en-US" sz="2200" dirty="0"/>
              <a:t>Excess fluorine liberated via fission increases fluorine potential, forming more UF4 and increasing corrosion rates</a:t>
            </a:r>
          </a:p>
          <a:p>
            <a:r>
              <a:rPr lang="en-US" sz="2200" dirty="0"/>
              <a:t>Based on reasonable estimations of the activity coefficients for the above reaction, the equilibrium concentration of CrF2 is of the order of 130–300 ppm for a fuel with 1% UF3 contained in Hastelloy-N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1A67D6-5E6A-0341-9FC3-2D72B5D2B6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4672" y="2366965"/>
            <a:ext cx="2578100" cy="78740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3458DA-22FD-6341-9211-DB6D34CC5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EC85F61-ADA5-C040-A47E-78669A2C12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5045" y="3247354"/>
            <a:ext cx="3597355" cy="2710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8692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BDC57-3073-184C-84B8-3CE90BA1F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 ‘Oxidation’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2A207-DD9D-444F-8B50-F8248AA755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1968503"/>
            <a:ext cx="5692176" cy="4157663"/>
          </a:xfrm>
        </p:spPr>
        <p:txBody>
          <a:bodyPr/>
          <a:lstStyle/>
          <a:p>
            <a:r>
              <a:rPr lang="en-US" sz="2200" dirty="0"/>
              <a:t>Redox processes responsible for attack by fluoride mixtures on the alloys result in selective oxidation of the contained Cr</a:t>
            </a:r>
          </a:p>
          <a:p>
            <a:r>
              <a:rPr lang="en-US" sz="2200" dirty="0"/>
              <a:t>This removal of Cr from the alloy occurs primarily in regions of highest temperature</a:t>
            </a:r>
          </a:p>
          <a:p>
            <a:r>
              <a:rPr lang="en-US" sz="2200" dirty="0"/>
              <a:t>The rate of corrosion has been measured and was found to be controlled by the rate at which chromium diffuses to the surfaces undergoing attack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51042C-F9C8-464F-AE1F-CEA574F13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BB9FF6F-D9E9-BCAE-2A0D-2F0B64ED3E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2784" y="1236666"/>
            <a:ext cx="4843095" cy="4889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F74CDD1-2B12-E647-8F5C-C4DDB5844FC1}"/>
              </a:ext>
            </a:extLst>
          </p:cNvPr>
          <p:cNvSpPr txBox="1"/>
          <p:nvPr/>
        </p:nvSpPr>
        <p:spPr>
          <a:xfrm>
            <a:off x="7449413" y="6126166"/>
            <a:ext cx="36898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hlinkClick r:id="rId3" tooltip="Persistent link using digital object identifier"/>
              </a:rPr>
              <a:t>https://doi.org/10.1016/j.corsci.2019.108306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111517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AAD8E-96DE-5238-13F3-05D08925F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Pause and Recap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2BD9AB-79C5-4B45-A637-DDF1B76ED0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968503"/>
            <a:ext cx="10972800" cy="4157663"/>
          </a:xfrm>
        </p:spPr>
        <p:txBody>
          <a:bodyPr/>
          <a:lstStyle/>
          <a:p>
            <a:r>
              <a:rPr lang="en-US" dirty="0"/>
              <a:t>Excess fluorine generated through fission increases the redox potential</a:t>
            </a:r>
          </a:p>
          <a:p>
            <a:r>
              <a:rPr lang="en-US" dirty="0"/>
              <a:t>Some fission products will form fluorides, some will exist as gases, some as metals</a:t>
            </a:r>
          </a:p>
          <a:p>
            <a:r>
              <a:rPr lang="en-US" dirty="0"/>
              <a:t>Cover gas serves to remove gaseous species and He bubbling with particle traps remove precipitates</a:t>
            </a:r>
          </a:p>
          <a:p>
            <a:r>
              <a:rPr lang="en-US" dirty="0"/>
              <a:t>Corrosion occurs through reactions with oxides on the metal, with dissolved impurities, and with salt constituents</a:t>
            </a:r>
          </a:p>
          <a:p>
            <a:r>
              <a:rPr lang="en-US" dirty="0"/>
              <a:t>Oxides dissolve in salt, leading to generation of metal fluorides</a:t>
            </a:r>
          </a:p>
          <a:p>
            <a:r>
              <a:rPr lang="en-US" dirty="0"/>
              <a:t>Cr-&gt;CrF2 is most likely structural material reaction and dictates the maximum redox potential</a:t>
            </a:r>
          </a:p>
          <a:p>
            <a:r>
              <a:rPr lang="en-US" dirty="0"/>
              <a:t>UF4/UF3 ratio is the proxy for redox potential, and should be kept at ~100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D0FBA8-D6BB-BBE9-7F14-61AD1DC5B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1204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A2E93-C703-9345-BB0B-F3742841E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Materials for MSR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2ACBCE-2E37-AE48-9BA1-6AD0249A47A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200" dirty="0"/>
              <a:t>The materials required fall into three main categories: (1) metallic components for primary and secondary circuits, (2) graphite (or other structural steels) in the core, and (3) materials for molten-salt fuel reprocessing systems</a:t>
            </a:r>
          </a:p>
          <a:p>
            <a:r>
              <a:rPr lang="en-US" sz="2200" dirty="0"/>
              <a:t>The metallic material used in constructing the primary circuit of an MSR will operate at temperatures up to 700–750C</a:t>
            </a:r>
          </a:p>
          <a:p>
            <a:endParaRPr lang="en-US" sz="2200" dirty="0"/>
          </a:p>
          <a:p>
            <a:endParaRPr lang="en-US" sz="22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4891B2-63C8-9943-83B6-A16AA15DCD5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200" dirty="0"/>
              <a:t>Operating lifetime of 30-50 </a:t>
            </a:r>
            <a:r>
              <a:rPr lang="en-US" sz="2200" dirty="0" err="1"/>
              <a:t>yrs</a:t>
            </a:r>
            <a:r>
              <a:rPr lang="en-US" sz="2200" dirty="0"/>
              <a:t>, with fluences of up to 8x10</a:t>
            </a:r>
            <a:r>
              <a:rPr lang="en-US" sz="2200" baseline="30000" dirty="0"/>
              <a:t>21</a:t>
            </a:r>
            <a:r>
              <a:rPr lang="en-US" sz="2200" dirty="0"/>
              <a:t> n/cm</a:t>
            </a:r>
            <a:r>
              <a:rPr lang="en-US" sz="2200" baseline="30000" dirty="0"/>
              <a:t>2</a:t>
            </a:r>
          </a:p>
          <a:p>
            <a:r>
              <a:rPr lang="en-US" sz="2200" dirty="0"/>
              <a:t>The metal must have moderate oxidation resistance, must resist corrosion by the salt, and must not be subject to severe embrittlement by neutrons</a:t>
            </a:r>
          </a:p>
          <a:p>
            <a:r>
              <a:rPr lang="en-US" sz="2200" dirty="0"/>
              <a:t>The material must be shapeable, with wall thicknesses from &gt;1cm to less than 1mm, and weldable</a:t>
            </a:r>
          </a:p>
          <a:p>
            <a:endParaRPr lang="en-US" sz="2200" dirty="0"/>
          </a:p>
          <a:p>
            <a:endParaRPr lang="en-US" sz="2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A2814C-A7A5-D54F-A8AC-C3417263D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81480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0F38A-B0F0-384E-9D0E-00823E066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Metallic Materials for MSR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BA587A-4AB4-3A48-8985-1D387BB09A0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200" dirty="0"/>
              <a:t>Fairly extensive literature exists on corrosion of metal alloys by molten fluorides in convection or forced flow loops</a:t>
            </a:r>
          </a:p>
          <a:p>
            <a:r>
              <a:rPr lang="en-US" sz="2200" dirty="0"/>
              <a:t>Limited experimental efforts on irradiation-combined corrosion effects</a:t>
            </a:r>
          </a:p>
          <a:p>
            <a:r>
              <a:rPr lang="en-US" sz="2200" dirty="0"/>
              <a:t>Nickel-based and austenitic stainless steels were primarily investigated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345EA0-6996-F34D-A758-FF7D592F1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pic>
        <p:nvPicPr>
          <p:cNvPr id="8" name="Picture 7" descr="Molten Salt Corrosion Lab – The UW-Madison MAterials Degradation under  COrrosion and Radiation (MADCOR) – UW–Madison">
            <a:extLst>
              <a:ext uri="{FF2B5EF4-FFF2-40B4-BE49-F238E27FC236}">
                <a16:creationId xmlns:a16="http://schemas.microsoft.com/office/drawing/2014/main" id="{ED8754E1-82F0-3731-86FE-D966D3B684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1039" y="1880907"/>
            <a:ext cx="3812639" cy="400014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4EB96F1-6FFC-2D64-82A6-4B86C4BAF147}"/>
              </a:ext>
            </a:extLst>
          </p:cNvPr>
          <p:cNvSpPr txBox="1"/>
          <p:nvPr/>
        </p:nvSpPr>
        <p:spPr>
          <a:xfrm>
            <a:off x="7223759" y="5987020"/>
            <a:ext cx="34671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Salt corrosion loop at UW-Madison</a:t>
            </a:r>
          </a:p>
        </p:txBody>
      </p:sp>
    </p:spTree>
    <p:extLst>
      <p:ext uri="{BB962C8B-B14F-4D97-AF65-F5344CB8AC3E}">
        <p14:creationId xmlns:p14="http://schemas.microsoft.com/office/powerpoint/2010/main" val="15005163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9E736-D1BE-14A5-3287-2775203D1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EFC7E-F4CB-7CF6-0A0B-6E5D6F7A6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Metallic Materials for MSR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5CED2D-8AAB-F4B4-4BA5-6380B0218D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968503"/>
            <a:ext cx="10972800" cy="4157663"/>
          </a:xfrm>
        </p:spPr>
        <p:txBody>
          <a:bodyPr/>
          <a:lstStyle/>
          <a:p>
            <a:r>
              <a:rPr lang="en-US" sz="2200" dirty="0"/>
              <a:t>General knowledge:</a:t>
            </a:r>
          </a:p>
          <a:p>
            <a:r>
              <a:rPr lang="en-US" sz="2200" dirty="0"/>
              <a:t>Corrosion is associated with outward diffusion of Cr through the alloy</a:t>
            </a:r>
          </a:p>
          <a:p>
            <a:r>
              <a:rPr lang="en-US" sz="2200" dirty="0"/>
              <a:t>Corrosion rate is marked by initial rapid attack associated with dissolution of Cr and is largely driven by impurities in the salt</a:t>
            </a:r>
          </a:p>
          <a:p>
            <a:r>
              <a:rPr lang="en-US" sz="2200" dirty="0"/>
              <a:t>This is followed by a linear corrosion rate which is controlled by mass transfer</a:t>
            </a:r>
          </a:p>
          <a:p>
            <a:r>
              <a:rPr lang="en-US" sz="2200" dirty="0"/>
              <a:t>Minor impurities in the salt can enhance corrosion by several orders of magnitude</a:t>
            </a:r>
          </a:p>
          <a:p>
            <a:r>
              <a:rPr lang="en-US" sz="2200" dirty="0"/>
              <a:t>Dissolution can be mitigated by a chemical control of the redox conditions in the salts</a:t>
            </a:r>
          </a:p>
          <a:p>
            <a:endParaRPr lang="en-US" sz="2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7AC2ED-635D-6BB8-FF9D-9A69FB2C5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5649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0BED8-362B-6642-AFA1-8B2548C32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Metallic Materials for MSR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7DC0A7-3000-274D-BB42-3DF9B5C22B2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200" dirty="0"/>
              <a:t>Stainless steels, Inconel 600, Hastelloy-B, and Hastelloy-W were explored, but either excessively corroded or had poor aging properties</a:t>
            </a:r>
          </a:p>
          <a:p>
            <a:endParaRPr lang="en-US" sz="22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87B84F-C114-6441-AD7F-82697EA60D1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200" dirty="0"/>
              <a:t>Hastelloy N was developed with a composition of Ni–16%Mo–7%Cr–4%Fe–0.05%C</a:t>
            </a:r>
          </a:p>
          <a:p>
            <a:r>
              <a:rPr lang="en-US" sz="2200" dirty="0"/>
              <a:t>Limited Cr is included to impart moderate oxidation resistance in air, but not high enough to lead to high corrosion rates in salt</a:t>
            </a:r>
          </a:p>
          <a:p>
            <a:r>
              <a:rPr lang="en-US" sz="2200" dirty="0"/>
              <a:t>Hastelloy N has excellent corrosion resistance to molten fluoride salts at temperatures considerably above those expected in MSR service</a:t>
            </a:r>
          </a:p>
          <a:p>
            <a:endParaRPr lang="en-US" sz="2200" dirty="0"/>
          </a:p>
          <a:p>
            <a:endParaRPr lang="en-US" sz="2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D8DFEA-44FB-0748-8D85-FD8D5BF8C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  <p:pic>
        <p:nvPicPr>
          <p:cNvPr id="7" name="Picture 6" descr="Intergranular corrosion of stainless steel 316L in molten LiCl-NaCl-KCl salt  at 700 °C - ScienceDirect">
            <a:extLst>
              <a:ext uri="{FF2B5EF4-FFF2-40B4-BE49-F238E27FC236}">
                <a16:creationId xmlns:a16="http://schemas.microsoft.com/office/drawing/2014/main" id="{3E3F38F9-8AB1-5A5B-493D-AF9E0AF3F4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3830" y="3548380"/>
            <a:ext cx="3949700" cy="2667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2256F2A-0DD1-DC94-9AE6-A3EAD76C3F0B}"/>
              </a:ext>
            </a:extLst>
          </p:cNvPr>
          <p:cNvSpPr txBox="1"/>
          <p:nvPr/>
        </p:nvSpPr>
        <p:spPr>
          <a:xfrm>
            <a:off x="986790" y="6356352"/>
            <a:ext cx="48437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 rtl="0">
              <a:buNone/>
            </a:pPr>
            <a:r>
              <a:rPr lang="en-US" sz="1050" b="0" i="0" dirty="0">
                <a:solidFill>
                  <a:schemeClr val="tx1"/>
                </a:solidFill>
                <a:effectLst/>
                <a:latin typeface="+mn-lt"/>
              </a:rPr>
              <a:t>Intergranular corrosion of stainless steel 316L in molten LiCl-NaCl-KCl salt at 700 °C</a:t>
            </a:r>
            <a:endParaRPr lang="en-US" sz="1050" b="0" i="0" dirty="0">
              <a:solidFill>
                <a:srgbClr val="1F1F1F"/>
              </a:solidFill>
              <a:effectLst/>
              <a:latin typeface="var(--sd-ui-util-typography-serif-font-family)"/>
            </a:endParaRPr>
          </a:p>
        </p:txBody>
      </p:sp>
    </p:spTree>
    <p:extLst>
      <p:ext uri="{BB962C8B-B14F-4D97-AF65-F5344CB8AC3E}">
        <p14:creationId xmlns:p14="http://schemas.microsoft.com/office/powerpoint/2010/main" val="23609734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C52FD-D9A4-7B44-A21E-4326666A1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Metallic Materials for MSR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04088-86D4-E54A-873E-B0C61A53D41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200" dirty="0"/>
              <a:t>Problems with Hastelloy-N</a:t>
            </a:r>
          </a:p>
          <a:p>
            <a:r>
              <a:rPr lang="en-US" sz="2200" dirty="0"/>
              <a:t>Is subject to irradiation hardening due to accumulation of He at grain boundaries</a:t>
            </a:r>
          </a:p>
          <a:p>
            <a:r>
              <a:rPr lang="en-US" sz="2200" dirty="0"/>
              <a:t>This is potentially mitigated through alloys with fine carbide precipitates to trap He</a:t>
            </a:r>
          </a:p>
          <a:p>
            <a:r>
              <a:rPr lang="en-US" sz="2200" dirty="0"/>
              <a:t>Tiny cracks formed on the inside surface of Hastelloy-N piping for the MSRE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66FFE8-79F7-B640-BA2A-8CDD41153D7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200" dirty="0"/>
              <a:t>Intergranular cracks were due to </a:t>
            </a:r>
            <a:r>
              <a:rPr lang="en-US" sz="2200" dirty="0" err="1"/>
              <a:t>Te</a:t>
            </a:r>
            <a:r>
              <a:rPr lang="en-US" sz="2200" dirty="0"/>
              <a:t>, which can likely be controlled with appropriate redox conditions</a:t>
            </a:r>
          </a:p>
          <a:p>
            <a:r>
              <a:rPr lang="en-US" sz="2200" dirty="0"/>
              <a:t>Additions of </a:t>
            </a:r>
            <a:r>
              <a:rPr lang="en-US" sz="2200" dirty="0" err="1"/>
              <a:t>Ti</a:t>
            </a:r>
            <a:r>
              <a:rPr lang="en-US" sz="2200" dirty="0"/>
              <a:t> can aide in fine carbide precipitates, and additions of Nb can limit </a:t>
            </a:r>
            <a:r>
              <a:rPr lang="en-US" sz="2200" dirty="0" err="1"/>
              <a:t>Te</a:t>
            </a:r>
            <a:r>
              <a:rPr lang="en-US" sz="2200" dirty="0"/>
              <a:t> cracking</a:t>
            </a:r>
          </a:p>
          <a:p>
            <a:r>
              <a:rPr lang="en-US" sz="2200" dirty="0"/>
              <a:t>Limited alloys with both additions have been studied, but it is supposed that additions of 1% Ti and 1% Nb might sufficiently solve both problems</a:t>
            </a:r>
          </a:p>
          <a:p>
            <a:endParaRPr lang="en-US" sz="2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FB6FD9-43C6-6241-A878-3FCD78FCA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6501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DA4E2-B5AA-4742-86DE-631D94A62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Tellerium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68A89-07E7-A844-AD4A-D770E37593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968503"/>
            <a:ext cx="5588000" cy="4157663"/>
          </a:xfrm>
        </p:spPr>
        <p:txBody>
          <a:bodyPr/>
          <a:lstStyle/>
          <a:p>
            <a:r>
              <a:rPr lang="en-US" sz="2200" dirty="0"/>
              <a:t>When </a:t>
            </a:r>
            <a:r>
              <a:rPr lang="en-US" sz="2200" dirty="0" err="1"/>
              <a:t>Te</a:t>
            </a:r>
            <a:r>
              <a:rPr lang="en-US" sz="2200" dirty="0"/>
              <a:t> is present in the metallic form in the fuel, it corrodes Ni-based alloys and embrittles its surface grain boundaries</a:t>
            </a:r>
          </a:p>
          <a:p>
            <a:r>
              <a:rPr lang="en-US" sz="2200" dirty="0"/>
              <a:t>Embrittlement is a vital issue to consider because it can result in cracking of the structural materials</a:t>
            </a:r>
          </a:p>
          <a:p>
            <a:r>
              <a:rPr lang="en-US" sz="2200" dirty="0"/>
              <a:t>This intergranular embrittlement produced in Hastelloy-N can be significantly reduced by adding 1–2 </a:t>
            </a:r>
            <a:r>
              <a:rPr lang="en-US" sz="2200" dirty="0" err="1"/>
              <a:t>wt</a:t>
            </a:r>
            <a:r>
              <a:rPr lang="en-US" sz="2200" dirty="0"/>
              <a:t>% of niobium into the Hastelloy-N</a:t>
            </a:r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A81808-B61A-2F4A-B2F3-2B75444DFF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1968503"/>
            <a:ext cx="5657702" cy="4157663"/>
          </a:xfrm>
        </p:spPr>
        <p:txBody>
          <a:bodyPr/>
          <a:lstStyle/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  <a:p>
            <a:r>
              <a:rPr lang="en-US" sz="2200" dirty="0"/>
              <a:t>Another way to suppress the corrosion rate is by increasing the reducing conditions of the fuel, which is done by the decreasing the UF4/UF3 ratio</a:t>
            </a:r>
          </a:p>
          <a:p>
            <a:r>
              <a:rPr lang="en-US" sz="2200" dirty="0"/>
              <a:t>This allows </a:t>
            </a:r>
            <a:r>
              <a:rPr lang="en-US" sz="2200" dirty="0" err="1"/>
              <a:t>Te</a:t>
            </a:r>
            <a:r>
              <a:rPr lang="en-US" sz="2200" dirty="0"/>
              <a:t> to be present as Te</a:t>
            </a:r>
            <a:r>
              <a:rPr lang="en-US" sz="2200" baseline="30000" dirty="0"/>
              <a:t>-2</a:t>
            </a:r>
            <a:r>
              <a:rPr lang="en-US" sz="2200" dirty="0"/>
              <a:t> rather than in an ‘oxidized’ metallic form, and this is less aggressive against the nickel-based alloys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D18760-0BC3-704C-A3F8-265535E21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p:pic>
        <p:nvPicPr>
          <p:cNvPr id="6" name="Picture 5" descr="Fig. 4">
            <a:extLst>
              <a:ext uri="{FF2B5EF4-FFF2-40B4-BE49-F238E27FC236}">
                <a16:creationId xmlns:a16="http://schemas.microsoft.com/office/drawing/2014/main" id="{BBE64009-D803-F006-8F62-3AED9C8373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9479" y="731834"/>
            <a:ext cx="3548401" cy="28257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5886ACD-A723-7C05-C593-AE8DE7350B39}"/>
              </a:ext>
            </a:extLst>
          </p:cNvPr>
          <p:cNvSpPr txBox="1"/>
          <p:nvPr/>
        </p:nvSpPr>
        <p:spPr>
          <a:xfrm rot="16200000">
            <a:off x="9753289" y="2013903"/>
            <a:ext cx="297370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/>
              <a:t>https://</a:t>
            </a:r>
            <a:r>
              <a:rPr lang="en-US" sz="1100" dirty="0" err="1"/>
              <a:t>doi.org</a:t>
            </a:r>
            <a:r>
              <a:rPr lang="en-US" sz="1100" dirty="0"/>
              <a:t>/10.1016/j.corsci.2021.109944</a:t>
            </a:r>
          </a:p>
        </p:txBody>
      </p:sp>
    </p:spTree>
    <p:extLst>
      <p:ext uri="{BB962C8B-B14F-4D97-AF65-F5344CB8AC3E}">
        <p14:creationId xmlns:p14="http://schemas.microsoft.com/office/powerpoint/2010/main" val="12453662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90BD5-EFE3-2B45-8A2D-CC5BBE9BB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Materials for MSR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C780A5-C581-6C48-83C6-956D05DEB98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200" dirty="0"/>
              <a:t>Focus on graphite core</a:t>
            </a:r>
          </a:p>
          <a:p>
            <a:r>
              <a:rPr lang="en-US" sz="2200" dirty="0"/>
              <a:t>Graphite is the principal material other than salt in the core of the reference breeder reactor design with a thermal spectrum, or used as a reflector in fast designs</a:t>
            </a:r>
          </a:p>
          <a:p>
            <a:r>
              <a:rPr lang="en-US" sz="2200" dirty="0"/>
              <a:t>The graphite structures will operate in a fuel salt environment over a range of temperatures from 500 - 800C</a:t>
            </a:r>
          </a:p>
          <a:p>
            <a:endParaRPr lang="en-US" sz="2200" dirty="0"/>
          </a:p>
          <a:p>
            <a:endParaRPr lang="en-US" sz="22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EBAC79-47A6-1F43-8849-365422CAC68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200" dirty="0"/>
              <a:t>There are two main requirements in the graphite in MSRs: that both molten salt and xenon be excluded from open pore volume</a:t>
            </a:r>
          </a:p>
          <a:p>
            <a:r>
              <a:rPr lang="en-US" sz="2200" dirty="0"/>
              <a:t>Significant penetration of the graphite by the fuel salt would generate a local hot spot, leading to enhanced radiation damage to the graphite and perhaps local boiling of the salt</a:t>
            </a:r>
          </a:p>
          <a:p>
            <a:endParaRPr lang="en-US" sz="2200" dirty="0"/>
          </a:p>
          <a:p>
            <a:endParaRPr lang="en-US" sz="2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CBD549-9890-8946-BB0C-4310F14ED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0558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19DDF-400D-1845-B7F4-AB4BB90E9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Graphite for MSR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4A47C5-204A-D649-8B02-230795E1144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200" dirty="0"/>
              <a:t>Extensive experimental work has demonstrated the compatibility of graphite with molten salts</a:t>
            </a:r>
          </a:p>
          <a:p>
            <a:r>
              <a:rPr lang="en-US" sz="2200" dirty="0"/>
              <a:t>Graphite undergoes the same shrinkage/turnaround processes during irradiation</a:t>
            </a:r>
          </a:p>
          <a:p>
            <a:r>
              <a:rPr lang="en-US" sz="2200" dirty="0"/>
              <a:t>For molten salts, post-turnaround graphite is of concern, due to the increased porosity allowing for salt ingress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050589-8319-3747-8C47-B2C9CDC6C26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200" dirty="0"/>
              <a:t>This puts a cap on fast neutron fluence in graphite for salt systems at about 3E22 n/cm</a:t>
            </a:r>
            <a:r>
              <a:rPr lang="en-US" sz="2200" baseline="30000" dirty="0"/>
              <a:t>2</a:t>
            </a:r>
            <a:r>
              <a:rPr lang="en-US" sz="2200" dirty="0"/>
              <a:t>, which translates into about 3-4 years as a moderator in the MSBR</a:t>
            </a:r>
            <a:endParaRPr lang="en-US" sz="2200" baseline="30000" dirty="0"/>
          </a:p>
          <a:p>
            <a:r>
              <a:rPr lang="en-US" sz="2200" dirty="0"/>
              <a:t>Graphite needs to be surface-sealed to prevent Xe penetration</a:t>
            </a:r>
          </a:p>
          <a:p>
            <a:r>
              <a:rPr lang="en-US" sz="2200" baseline="30000" dirty="0"/>
              <a:t>135</a:t>
            </a:r>
            <a:r>
              <a:rPr lang="en-US" sz="2200" dirty="0"/>
              <a:t>Xe can diffuse into the graphite and function as a neutron poison</a:t>
            </a:r>
          </a:p>
          <a:p>
            <a:r>
              <a:rPr lang="en-US" sz="2200" dirty="0" err="1"/>
              <a:t>Pyrocarbon</a:t>
            </a:r>
            <a:r>
              <a:rPr lang="en-US" sz="2200" dirty="0"/>
              <a:t> sealing was explored, but led to more rapid turnaround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0315BD-7AEB-CD42-8A71-15A10474E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9307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960E8-3292-824E-A956-32F215D8C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Graphite Compatibility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8955CB-2AD7-DF4B-8778-1DF326C8E22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400" dirty="0"/>
              <a:t>Graphite does not react with molten fluoride mixtures of the type to be used in the MSR concepts</a:t>
            </a:r>
          </a:p>
          <a:p>
            <a:r>
              <a:rPr lang="en-US" sz="2400" dirty="0"/>
              <a:t>After carbon, borides and nitrides appear to be the most compatible nonmetallic materials</a:t>
            </a:r>
          </a:p>
          <a:p>
            <a:endParaRPr lang="en-US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103534-B572-6E4C-B9B5-80E488C8303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400" dirty="0"/>
              <a:t>Thermodynamic data suggest that the most likely reaction is:</a:t>
            </a:r>
          </a:p>
          <a:p>
            <a:endParaRPr lang="en-US" sz="2400" dirty="0"/>
          </a:p>
          <a:p>
            <a:r>
              <a:rPr lang="en-US" sz="2400" dirty="0"/>
              <a:t>but this should come to equilibrium at very low CF4 pressures</a:t>
            </a:r>
          </a:p>
          <a:p>
            <a:r>
              <a:rPr lang="en-US" sz="2400" dirty="0"/>
              <a:t>CF4 concentrations over graphite–salt systems maintained for long periods at elevated temperatures have been shown to be below the limit of detection</a:t>
            </a:r>
          </a:p>
          <a:p>
            <a:endParaRPr lang="en-US" sz="2400" dirty="0"/>
          </a:p>
          <a:p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6192BF-6A2F-1148-90BE-2F06B8988A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4608" y="2812774"/>
            <a:ext cx="2417841" cy="413578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44D474-92BC-FB49-9F8E-348262965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47130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62DC8-AA62-5938-3BD6-7077EB3A4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These materials have been shown to survive!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6C26DD-FF3D-E1AE-C9FB-61AD75B098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5712547"/>
            <a:ext cx="10972800" cy="490679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MSRE graphite and Hastelloy N exposed to coolant salt was clean after 2+ years of operation</a:t>
            </a:r>
          </a:p>
          <a:p>
            <a:pPr marL="0" indent="0" algn="ctr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68C017-1508-DF75-E03D-9AD5EFB13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4BA065-485D-CF0A-5CC6-CE8707B6DF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4822" y="1874598"/>
            <a:ext cx="4362355" cy="3684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2727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90BD5-EFE3-2B45-8A2D-CC5BBE9BB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Materials for MSR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C780A5-C581-6C48-83C6-956D05DEB98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200" dirty="0"/>
              <a:t>Reprocessing materials</a:t>
            </a:r>
          </a:p>
          <a:p>
            <a:r>
              <a:rPr lang="en-US" sz="2200" dirty="0"/>
              <a:t>The key operations in fuel reprocessing are (1) removal of uranium from the fuel stream for immediate return to the reactor, and (2) removal fission products from the fuel solvent</a:t>
            </a:r>
          </a:p>
          <a:p>
            <a:r>
              <a:rPr lang="en-US" sz="2200" dirty="0"/>
              <a:t>One severe corrosive environment in this process includes salt at 550C with F2 and UF6, and so that an average valence of 4.5 exists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EBAC79-47A6-1F43-8849-365422CAC68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200" dirty="0"/>
              <a:t>Other severe corrosive environment is at 650C with salt containing molten alloys of Bi, Li, Th, etc. with HF-F2 gases</a:t>
            </a:r>
          </a:p>
          <a:p>
            <a:r>
              <a:rPr lang="en-US" sz="2200" dirty="0"/>
              <a:t>The environment must be an inert gas or a vacuum to prevent deterioration of structural material to ensure long-term service</a:t>
            </a:r>
          </a:p>
          <a:p>
            <a:r>
              <a:rPr lang="en-US" sz="2200" dirty="0"/>
              <a:t>Typically, Ni or Ni-based alloys have been used for containment</a:t>
            </a:r>
          </a:p>
          <a:p>
            <a:endParaRPr lang="en-US" sz="2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CBD549-9890-8946-BB0C-4310F14ED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7884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DC942-B6E1-4842-83D1-7CC421625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Materials for other Salt Reactor Concepts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D4E3EF-74B7-BA48-B98E-5AC632CFE8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1968503"/>
            <a:ext cx="5731565" cy="4157663"/>
          </a:xfrm>
        </p:spPr>
        <p:txBody>
          <a:bodyPr/>
          <a:lstStyle/>
          <a:p>
            <a:r>
              <a:rPr lang="en-US" sz="2200" dirty="0"/>
              <a:t>AHTR: TRISO particles in graphite compact prismatic core with molten salt coolant</a:t>
            </a:r>
          </a:p>
          <a:p>
            <a:r>
              <a:rPr lang="en-US" sz="2200" dirty="0"/>
              <a:t>LSFR: solid fueled fast reactor with molten salt coolant</a:t>
            </a:r>
          </a:p>
          <a:p>
            <a:r>
              <a:rPr lang="en-US" sz="2200" dirty="0"/>
              <a:t>SSR: liquid fueled, non-flowing</a:t>
            </a:r>
          </a:p>
          <a:p>
            <a:r>
              <a:rPr lang="en-US" sz="2200" dirty="0"/>
              <a:t>Secondary Coolant Loop: may use nitrate, chloride, or fluoroborate salts, with different corrosion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5BAAFA-DB02-404B-B166-C8D45947560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200" dirty="0"/>
              <a:t>Materials for these systems either experience higher temperatures or higher flux/fluence requirements, and thus Hastelloy-N type materials may not be applicable</a:t>
            </a:r>
          </a:p>
          <a:p>
            <a:r>
              <a:rPr lang="en-US" sz="2200" dirty="0"/>
              <a:t>Potential options are 9Cr-1MoV coated in Ni, ODS Ni alloys, Ni-based superalloys, ODS Fe alloys, and Mo alloys</a:t>
            </a:r>
          </a:p>
          <a:p>
            <a:r>
              <a:rPr lang="en-US" sz="2200" dirty="0"/>
              <a:t>Stainless steels can be options for secondary loop</a:t>
            </a:r>
          </a:p>
          <a:p>
            <a:endParaRPr lang="en-US" sz="2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D2C5A8-99CB-0D41-8E08-213D2D698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6571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BF7AC-77E3-F247-9F4E-945D10ACA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Chloride Salt Corrosion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EB60B-5F7E-E544-85FD-662B38FBF1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1968503"/>
            <a:ext cx="10561983" cy="1281593"/>
          </a:xfrm>
        </p:spPr>
        <p:txBody>
          <a:bodyPr/>
          <a:lstStyle/>
          <a:p>
            <a:r>
              <a:rPr lang="en-US" dirty="0"/>
              <a:t>Very little corrosion data is present for chloride salt systems</a:t>
            </a:r>
          </a:p>
          <a:p>
            <a:r>
              <a:rPr lang="en-US" dirty="0"/>
              <a:t>Some of the existing data does not conform to expected trends</a:t>
            </a:r>
          </a:p>
          <a:p>
            <a:r>
              <a:rPr lang="en-US" dirty="0"/>
              <a:t>The effect of chromium content in the alloy may not be as important of a factor, and the effect of temperature is not clear</a:t>
            </a:r>
          </a:p>
          <a:p>
            <a:r>
              <a:rPr lang="en-US" dirty="0"/>
              <a:t>These corrosion rates are comparable to fluoride salts with stainless steel, and are considerably higher than corrosion rates with Hastelloy-N</a:t>
            </a:r>
          </a:p>
          <a:p>
            <a:r>
              <a:rPr lang="en-US" dirty="0"/>
              <a:t>Active research is on-going and these statements may be out of date…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99DE2EB-8EA7-D745-BEE2-FEFFC06E658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2082801" y="4525252"/>
            <a:ext cx="7305822" cy="2024633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68CC5B-8A65-ED4E-804C-074FF242B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1796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33168AC-51AD-EB3D-33D8-C7E718AF70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7286" y="1482587"/>
            <a:ext cx="5840627" cy="487376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7A1DDF7-6E20-5DDE-3525-260495A4D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Recent Corrosion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6AF78F-677D-164A-C506-16FBE0DF42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968503"/>
            <a:ext cx="4963297" cy="4157663"/>
          </a:xfrm>
        </p:spPr>
        <p:txBody>
          <a:bodyPr/>
          <a:lstStyle/>
          <a:p>
            <a:r>
              <a:rPr lang="en-US" dirty="0"/>
              <a:t>Molten salt corrosion data from studies published in 1960-2016 were aggregated and graphed</a:t>
            </a:r>
          </a:p>
          <a:p>
            <a:r>
              <a:rPr lang="en-US" dirty="0"/>
              <a:t>Studies were graphed by salt purity, temperature, sample material, container material, and experimental method (loop, capsule, crucible)</a:t>
            </a:r>
          </a:p>
          <a:p>
            <a:r>
              <a:rPr lang="en-US" dirty="0"/>
              <a:t>Data can be very scattered, and generally limited data, with more corrosion data on fluorides than chlorides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58AB2D-7F9F-D46D-DDF5-59C0EDB78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DF177D-6CEB-270E-0833-A8254613ADDE}"/>
              </a:ext>
            </a:extLst>
          </p:cNvPr>
          <p:cNvSpPr txBox="1"/>
          <p:nvPr/>
        </p:nvSpPr>
        <p:spPr>
          <a:xfrm>
            <a:off x="855943" y="5957887"/>
            <a:ext cx="44706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solidFill>
                  <a:srgbClr val="2197D2"/>
                </a:solidFill>
                <a:effectLst/>
                <a:latin typeface="Times"/>
              </a:rPr>
              <a:t>https://</a:t>
            </a:r>
            <a:r>
              <a:rPr lang="en-US" dirty="0" err="1">
                <a:solidFill>
                  <a:srgbClr val="2197D2"/>
                </a:solidFill>
                <a:effectLst/>
                <a:latin typeface="Times"/>
              </a:rPr>
              <a:t>doi.org</a:t>
            </a:r>
            <a:r>
              <a:rPr lang="en-US" dirty="0">
                <a:solidFill>
                  <a:srgbClr val="2197D2"/>
                </a:solidFill>
                <a:effectLst/>
                <a:latin typeface="Times"/>
              </a:rPr>
              <a:t>/10.1016/j.jnucmat.2018.07.036</a:t>
            </a:r>
          </a:p>
        </p:txBody>
      </p:sp>
    </p:spTree>
    <p:extLst>
      <p:ext uri="{BB962C8B-B14F-4D97-AF65-F5344CB8AC3E}">
        <p14:creationId xmlns:p14="http://schemas.microsoft.com/office/powerpoint/2010/main" val="41685952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AB325-741A-A58C-9C3C-82738B283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Recent Corrosion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F3F125-68E1-9AAB-62EB-7599C70FFC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1968504"/>
            <a:ext cx="10972800" cy="1639670"/>
          </a:xfrm>
        </p:spPr>
        <p:txBody>
          <a:bodyPr/>
          <a:lstStyle/>
          <a:p>
            <a:r>
              <a:rPr lang="en-US" dirty="0"/>
              <a:t>Salt purity was the factor which most affected corrosion rates</a:t>
            </a:r>
          </a:p>
          <a:p>
            <a:r>
              <a:rPr lang="en-US" dirty="0"/>
              <a:t>Experiment type and salt type (fluoride vs. chloride) following as the next most important factors</a:t>
            </a:r>
          </a:p>
          <a:p>
            <a:r>
              <a:rPr lang="en-US" dirty="0"/>
              <a:t>Higher CR score = less corrosion; Positive correlation = less corrosion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5851DA-3E8C-63EE-6558-F6D587A8C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8585A6-060F-F752-89C9-470C575469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6414" y="3578490"/>
            <a:ext cx="4159585" cy="30246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CB57270-0D32-D5C3-B640-33802E5181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1640" y="3543978"/>
            <a:ext cx="3308360" cy="2994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560546"/>
      </p:ext>
    </p:extLst>
  </p:cSld>
  <p:clrMapOvr>
    <a:masterClrMapping/>
  </p:clrMapOvr>
</p:sld>
</file>

<file path=ppt/theme/theme1.xml><?xml version="1.0" encoding="utf-8"?>
<a:theme xmlns:a="http://schemas.openxmlformats.org/drawingml/2006/main" name="1_NCStateU-horizontal-left-log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12563</TotalTime>
  <Words>2250</Words>
  <Application>Microsoft Macintosh PowerPoint</Application>
  <PresentationFormat>Widescreen</PresentationFormat>
  <Paragraphs>200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Calibri</vt:lpstr>
      <vt:lpstr>Times</vt:lpstr>
      <vt:lpstr>var(--sd-ui-util-typography-serif-font-family)</vt:lpstr>
      <vt:lpstr>1_NCStateU-horizontal-left-logo</vt:lpstr>
      <vt:lpstr>NE 763: Advanced Reactor Materials</vt:lpstr>
      <vt:lpstr>Last Time</vt:lpstr>
      <vt:lpstr>Cover Gas</vt:lpstr>
      <vt:lpstr>Tritium</vt:lpstr>
      <vt:lpstr>Radiolytic Stability</vt:lpstr>
      <vt:lpstr>Molten salt corrosion</vt:lpstr>
      <vt:lpstr>Three principal corrosion processes</vt:lpstr>
      <vt:lpstr>Protective coatings?</vt:lpstr>
      <vt:lpstr>Oxides and Impurities</vt:lpstr>
      <vt:lpstr>Dissolved Impurities</vt:lpstr>
      <vt:lpstr>Constituents of the Melt</vt:lpstr>
      <vt:lpstr>Cr ‘Oxidation’</vt:lpstr>
      <vt:lpstr>Pause and Recap</vt:lpstr>
      <vt:lpstr>Materials for MSR systems</vt:lpstr>
      <vt:lpstr>Metallic Materials for MSR systems</vt:lpstr>
      <vt:lpstr>Metallic Materials for MSR systems</vt:lpstr>
      <vt:lpstr>Metallic Materials for MSR systems</vt:lpstr>
      <vt:lpstr>Metallic Materials for MSR systems</vt:lpstr>
      <vt:lpstr>Tellerium</vt:lpstr>
      <vt:lpstr>Materials for MSR systems</vt:lpstr>
      <vt:lpstr>Graphite for MSR systems</vt:lpstr>
      <vt:lpstr>Graphite Compatibility</vt:lpstr>
      <vt:lpstr>These materials have been shown to survive!</vt:lpstr>
      <vt:lpstr>Materials for MSR systems</vt:lpstr>
      <vt:lpstr>Materials for other Salt Reactor Concepts</vt:lpstr>
      <vt:lpstr>Chloride Salt Corrosion</vt:lpstr>
      <vt:lpstr>Recent Corrosion Summary</vt:lpstr>
      <vt:lpstr>Recent Corrosion 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 591: Advanced Reactor Materials</dc:title>
  <dc:creator>Benjamin W. Beeler</dc:creator>
  <cp:lastModifiedBy>Benjamin Beeler</cp:lastModifiedBy>
  <cp:revision>91</cp:revision>
  <dcterms:created xsi:type="dcterms:W3CDTF">2021-06-30T18:29:00Z</dcterms:created>
  <dcterms:modified xsi:type="dcterms:W3CDTF">2026-10-08T19:22:00Z</dcterms:modified>
</cp:coreProperties>
</file>
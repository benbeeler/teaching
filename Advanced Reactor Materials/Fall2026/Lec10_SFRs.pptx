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8"/>
  </p:notesMasterIdLst>
  <p:sldIdLst>
    <p:sldId id="256" r:id="rId2"/>
    <p:sldId id="494" r:id="rId3"/>
    <p:sldId id="481" r:id="rId4"/>
    <p:sldId id="476" r:id="rId5"/>
    <p:sldId id="477" r:id="rId6"/>
    <p:sldId id="479" r:id="rId7"/>
    <p:sldId id="478" r:id="rId8"/>
    <p:sldId id="483" r:id="rId9"/>
    <p:sldId id="484" r:id="rId10"/>
    <p:sldId id="486" r:id="rId11"/>
    <p:sldId id="487" r:id="rId12"/>
    <p:sldId id="488" r:id="rId13"/>
    <p:sldId id="489" r:id="rId14"/>
    <p:sldId id="490" r:id="rId15"/>
    <p:sldId id="492" r:id="rId16"/>
    <p:sldId id="491" r:id="rId17"/>
    <p:sldId id="525" r:id="rId18"/>
    <p:sldId id="495" r:id="rId19"/>
    <p:sldId id="496" r:id="rId20"/>
    <p:sldId id="497" r:id="rId21"/>
    <p:sldId id="498" r:id="rId22"/>
    <p:sldId id="499" r:id="rId23"/>
    <p:sldId id="500" r:id="rId24"/>
    <p:sldId id="501" r:id="rId25"/>
    <p:sldId id="502" r:id="rId26"/>
    <p:sldId id="39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9"/>
    <p:restoredTop sz="94726"/>
  </p:normalViewPr>
  <p:slideViewPr>
    <p:cSldViewPr snapToGrid="0" snapToObjects="1">
      <p:cViewPr varScale="1">
        <p:scale>
          <a:sx n="120" d="100"/>
          <a:sy n="120" d="100"/>
        </p:scale>
        <p:origin x="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9/15/26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smtClean="0"/>
              <a:pPr>
                <a:defRPr/>
              </a:pPr>
              <a:t>‹#›</a:t>
            </a:fld>
            <a:endParaRPr lang="en-US"/>
          </a:p>
        </p:txBody>
      </p:sp>
    </p:spTree>
    <p:extLst>
      <p:ext uri="{BB962C8B-B14F-4D97-AF65-F5344CB8AC3E}">
        <p14:creationId xmlns:p14="http://schemas.microsoft.com/office/powerpoint/2010/main" val="4283382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9/15/26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smtClean="0"/>
              <a:pPr>
                <a:defRPr/>
              </a:pPr>
              <a:t>‹#›</a:t>
            </a:fld>
            <a:endParaRPr lang="en-US"/>
          </a:p>
        </p:txBody>
      </p:sp>
    </p:spTree>
    <p:extLst>
      <p:ext uri="{BB962C8B-B14F-4D97-AF65-F5344CB8AC3E}">
        <p14:creationId xmlns:p14="http://schemas.microsoft.com/office/powerpoint/2010/main" val="1897349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9/15/26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smtClean="0"/>
              <a:pPr>
                <a:defRPr/>
              </a:pPr>
              <a:t>‹#›</a:t>
            </a:fld>
            <a:endParaRPr lang="en-US"/>
          </a:p>
        </p:txBody>
      </p:sp>
    </p:spTree>
    <p:extLst>
      <p:ext uri="{BB962C8B-B14F-4D97-AF65-F5344CB8AC3E}">
        <p14:creationId xmlns:p14="http://schemas.microsoft.com/office/powerpoint/2010/main" val="387069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200"/>
            </a:lvl1pPr>
            <a:lvl2pPr>
              <a:defRPr sz="2200"/>
            </a:lvl2pPr>
            <a:lvl3pPr>
              <a:defRPr sz="2200"/>
            </a:lvl3pPr>
            <a:lvl4pPr>
              <a:defRPr sz="2200"/>
            </a:lvl4pPr>
            <a:lvl5pPr>
              <a:defRPr sz="22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9/15/26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smtClean="0"/>
              <a:pPr>
                <a:defRPr/>
              </a:pPr>
              <a:t>‹#›</a:t>
            </a:fld>
            <a:endParaRPr lang="en-US"/>
          </a:p>
        </p:txBody>
      </p:sp>
    </p:spTree>
    <p:extLst>
      <p:ext uri="{BB962C8B-B14F-4D97-AF65-F5344CB8AC3E}">
        <p14:creationId xmlns:p14="http://schemas.microsoft.com/office/powerpoint/2010/main" val="1955134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4000"/>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9/15/26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smtClean="0"/>
              <a:pPr>
                <a:defRPr/>
              </a:pPr>
              <a:t>‹#›</a:t>
            </a:fld>
            <a:endParaRPr lang="en-US"/>
          </a:p>
        </p:txBody>
      </p:sp>
    </p:spTree>
    <p:extLst>
      <p:ext uri="{BB962C8B-B14F-4D97-AF65-F5344CB8AC3E}">
        <p14:creationId xmlns:p14="http://schemas.microsoft.com/office/powerpoint/2010/main" val="2570706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9/15/26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smtClean="0"/>
              <a:pPr>
                <a:defRPr/>
              </a:pPr>
              <a:t>‹#›</a:t>
            </a:fld>
            <a:endParaRPr lang="en-US"/>
          </a:p>
        </p:txBody>
      </p:sp>
    </p:spTree>
    <p:extLst>
      <p:ext uri="{BB962C8B-B14F-4D97-AF65-F5344CB8AC3E}">
        <p14:creationId xmlns:p14="http://schemas.microsoft.com/office/powerpoint/2010/main" val="131746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9/15/26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smtClean="0"/>
              <a:pPr>
                <a:defRPr/>
              </a:pPr>
              <a:t>‹#›</a:t>
            </a:fld>
            <a:endParaRPr lang="en-US"/>
          </a:p>
        </p:txBody>
      </p:sp>
    </p:spTree>
    <p:extLst>
      <p:ext uri="{BB962C8B-B14F-4D97-AF65-F5344CB8AC3E}">
        <p14:creationId xmlns:p14="http://schemas.microsoft.com/office/powerpoint/2010/main" val="163879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9/15/26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smtClean="0"/>
              <a:pPr>
                <a:defRPr/>
              </a:pPr>
              <a:t>‹#›</a:t>
            </a:fld>
            <a:endParaRPr lang="en-US"/>
          </a:p>
        </p:txBody>
      </p:sp>
    </p:spTree>
    <p:extLst>
      <p:ext uri="{BB962C8B-B14F-4D97-AF65-F5344CB8AC3E}">
        <p14:creationId xmlns:p14="http://schemas.microsoft.com/office/powerpoint/2010/main" val="2869873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9/15/26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smtClean="0"/>
              <a:pPr>
                <a:defRPr/>
              </a:pPr>
              <a:t>‹#›</a:t>
            </a:fld>
            <a:endParaRPr lang="en-US"/>
          </a:p>
        </p:txBody>
      </p:sp>
    </p:spTree>
    <p:extLst>
      <p:ext uri="{BB962C8B-B14F-4D97-AF65-F5344CB8AC3E}">
        <p14:creationId xmlns:p14="http://schemas.microsoft.com/office/powerpoint/2010/main" val="2160089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9/15/26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smtClean="0"/>
              <a:pPr>
                <a:defRPr/>
              </a:pPr>
              <a:t>‹#›</a:t>
            </a:fld>
            <a:endParaRPr lang="en-US"/>
          </a:p>
        </p:txBody>
      </p:sp>
    </p:spTree>
    <p:extLst>
      <p:ext uri="{BB962C8B-B14F-4D97-AF65-F5344CB8AC3E}">
        <p14:creationId xmlns:p14="http://schemas.microsoft.com/office/powerpoint/2010/main" val="877465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9/15/26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smtClean="0"/>
              <a:pPr>
                <a:defRPr/>
              </a:pPr>
              <a:t>‹#›</a:t>
            </a:fld>
            <a:endParaRPr lang="en-US"/>
          </a:p>
        </p:txBody>
      </p:sp>
    </p:spTree>
    <p:extLst>
      <p:ext uri="{BB962C8B-B14F-4D97-AF65-F5344CB8AC3E}">
        <p14:creationId xmlns:p14="http://schemas.microsoft.com/office/powerpoint/2010/main" val="188598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9/15/26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smtClean="0"/>
              <a:pPr>
                <a:defRPr/>
              </a:pPr>
              <a:t>‹#›</a:t>
            </a:fld>
            <a:endParaRPr lang="en-US" dirty="0"/>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2" name="Picture 1">
            <a:extLst>
              <a:ext uri="{FF2B5EF4-FFF2-40B4-BE49-F238E27FC236}">
                <a16:creationId xmlns:a16="http://schemas.microsoft.com/office/drawing/2014/main" id="{0BF8D97C-4308-3B61-2B5B-C13404B70E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3" name="Picture 2">
            <a:extLst>
              <a:ext uri="{FF2B5EF4-FFF2-40B4-BE49-F238E27FC236}">
                <a16:creationId xmlns:a16="http://schemas.microsoft.com/office/drawing/2014/main" id="{C02054C5-3A3D-4B9F-F314-13BC597F406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1471077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D733-9A9D-0147-B472-6D2A3431311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357AA63C-5C44-4545-A937-4E8E5D379A5A}"/>
              </a:ext>
            </a:extLst>
          </p:cNvPr>
          <p:cNvSpPr>
            <a:spLocks noGrp="1"/>
          </p:cNvSpPr>
          <p:nvPr>
            <p:ph sz="half" idx="1"/>
          </p:nvPr>
        </p:nvSpPr>
        <p:spPr>
          <a:xfrm>
            <a:off x="609599" y="1968503"/>
            <a:ext cx="10972799" cy="4157663"/>
          </a:xfrm>
        </p:spPr>
        <p:txBody>
          <a:bodyPr/>
          <a:lstStyle/>
          <a:p>
            <a:r>
              <a:rPr lang="en-US" sz="2000" dirty="0"/>
              <a:t>Fuel geometries for metal fuels</a:t>
            </a:r>
          </a:p>
          <a:p>
            <a:pPr lvl="1"/>
            <a:r>
              <a:rPr lang="en-US" sz="2000" dirty="0"/>
              <a:t>fuel slug, low smear density, large plenum, hexagonal assemblies</a:t>
            </a:r>
          </a:p>
          <a:p>
            <a:r>
              <a:rPr lang="en-US" sz="2000" dirty="0"/>
              <a:t>Fuel phases</a:t>
            </a:r>
          </a:p>
          <a:p>
            <a:pPr lvl="1"/>
            <a:r>
              <a:rPr lang="en-US" sz="2000" dirty="0"/>
              <a:t>alloy to target high T gamma (bcc) phase</a:t>
            </a:r>
          </a:p>
          <a:p>
            <a:pPr lvl="1"/>
            <a:r>
              <a:rPr lang="en-US" sz="2000" dirty="0"/>
              <a:t>have multiple phases present in the fuel (more for U-Pu-Zr)</a:t>
            </a:r>
          </a:p>
          <a:p>
            <a:r>
              <a:rPr lang="en-US" sz="2000" dirty="0"/>
              <a:t>Swelling is high (30+%), happens quickly (within ~2 at.% BU), and is anisotropic (more radially)</a:t>
            </a:r>
          </a:p>
          <a:p>
            <a:pPr lvl="1"/>
            <a:r>
              <a:rPr lang="en-US" sz="2000" dirty="0"/>
              <a:t>Different porosities in different phases, coupled with different mechanical properties, lead to anisotropic swelling</a:t>
            </a:r>
          </a:p>
          <a:p>
            <a:r>
              <a:rPr lang="en-US" sz="2000" dirty="0"/>
              <a:t>Constituent redistribution in UZr</a:t>
            </a:r>
          </a:p>
          <a:p>
            <a:pPr lvl="1"/>
            <a:r>
              <a:rPr lang="en-US" sz="2000" dirty="0"/>
              <a:t>thermodynamic and </a:t>
            </a:r>
            <a:r>
              <a:rPr lang="en-US" sz="2000" dirty="0" err="1"/>
              <a:t>Soret</a:t>
            </a:r>
            <a:r>
              <a:rPr lang="en-US" sz="2000" dirty="0"/>
              <a:t> diffusion effects</a:t>
            </a:r>
          </a:p>
          <a:p>
            <a:r>
              <a:rPr lang="en-US" sz="2000" dirty="0"/>
              <a:t>Started on FCI: FCMI is largely mitigated through reduced smear density</a:t>
            </a:r>
          </a:p>
        </p:txBody>
      </p:sp>
      <p:sp>
        <p:nvSpPr>
          <p:cNvPr id="5" name="Slide Number Placeholder 4">
            <a:extLst>
              <a:ext uri="{FF2B5EF4-FFF2-40B4-BE49-F238E27FC236}">
                <a16:creationId xmlns:a16="http://schemas.microsoft.com/office/drawing/2014/main" id="{ED13D8C5-2625-944D-A346-88684E6316EC}"/>
              </a:ext>
            </a:extLst>
          </p:cNvPr>
          <p:cNvSpPr>
            <a:spLocks noGrp="1"/>
          </p:cNvSpPr>
          <p:nvPr>
            <p:ph type="sldNum" sz="quarter" idx="12"/>
          </p:nvPr>
        </p:nvSpPr>
        <p:spPr/>
        <p:txBody>
          <a:bodyPr/>
          <a:lstStyle/>
          <a:p>
            <a:pPr>
              <a:defRPr/>
            </a:pPr>
            <a:fld id="{EC35E9FC-F6D5-0349-BBED-EA7D7A9BC49B}" type="slidenum">
              <a:rPr lang="en-US" smtClean="0"/>
              <a:pPr>
                <a:defRPr/>
              </a:pPr>
              <a:t>2</a:t>
            </a:fld>
            <a:endParaRPr lang="en-US"/>
          </a:p>
        </p:txBody>
      </p:sp>
    </p:spTree>
    <p:extLst>
      <p:ext uri="{BB962C8B-B14F-4D97-AF65-F5344CB8AC3E}">
        <p14:creationId xmlns:p14="http://schemas.microsoft.com/office/powerpoint/2010/main" val="359338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C709-B88D-384A-8A02-9F07D005AB25}"/>
              </a:ext>
            </a:extLst>
          </p:cNvPr>
          <p:cNvSpPr>
            <a:spLocks noGrp="1"/>
          </p:cNvSpPr>
          <p:nvPr>
            <p:ph type="title"/>
          </p:nvPr>
        </p:nvSpPr>
        <p:spPr/>
        <p:txBody>
          <a:bodyPr/>
          <a:lstStyle/>
          <a:p>
            <a:r>
              <a:rPr lang="en-US" dirty="0"/>
              <a:t>Fission-Induced Creep</a:t>
            </a:r>
          </a:p>
        </p:txBody>
      </p:sp>
      <p:sp>
        <p:nvSpPr>
          <p:cNvPr id="3" name="Content Placeholder 2">
            <a:extLst>
              <a:ext uri="{FF2B5EF4-FFF2-40B4-BE49-F238E27FC236}">
                <a16:creationId xmlns:a16="http://schemas.microsoft.com/office/drawing/2014/main" id="{AC181A0A-8CAF-2E44-B702-AE87FB872D17}"/>
              </a:ext>
            </a:extLst>
          </p:cNvPr>
          <p:cNvSpPr>
            <a:spLocks noGrp="1"/>
          </p:cNvSpPr>
          <p:nvPr>
            <p:ph sz="half" idx="1"/>
          </p:nvPr>
        </p:nvSpPr>
        <p:spPr/>
        <p:txBody>
          <a:bodyPr/>
          <a:lstStyle/>
          <a:p>
            <a:r>
              <a:rPr lang="en-US" dirty="0"/>
              <a:t>Stress in the cladding due to fuel swelling will also depend on the effective creep rate of the fuel in-reactor</a:t>
            </a:r>
          </a:p>
          <a:p>
            <a:r>
              <a:rPr lang="en-US" dirty="0"/>
              <a:t>Measurable creep deformation of </a:t>
            </a:r>
            <a:r>
              <a:rPr lang="el-GR" dirty="0"/>
              <a:t>α-</a:t>
            </a:r>
            <a:r>
              <a:rPr lang="en-US" dirty="0"/>
              <a:t>U during fissioning at temperatures where classical thermal creep does not exist has been experimentally identified</a:t>
            </a:r>
          </a:p>
          <a:p>
            <a:endParaRPr lang="en-US" dirty="0"/>
          </a:p>
          <a:p>
            <a:endParaRPr lang="en-US" dirty="0"/>
          </a:p>
        </p:txBody>
      </p:sp>
      <p:sp>
        <p:nvSpPr>
          <p:cNvPr id="4" name="Content Placeholder 3">
            <a:extLst>
              <a:ext uri="{FF2B5EF4-FFF2-40B4-BE49-F238E27FC236}">
                <a16:creationId xmlns:a16="http://schemas.microsoft.com/office/drawing/2014/main" id="{C36B2165-16A9-4B4A-AA01-B8F332DC360E}"/>
              </a:ext>
            </a:extLst>
          </p:cNvPr>
          <p:cNvSpPr>
            <a:spLocks noGrp="1"/>
          </p:cNvSpPr>
          <p:nvPr>
            <p:ph sz="half" idx="2"/>
          </p:nvPr>
        </p:nvSpPr>
        <p:spPr/>
        <p:txBody>
          <a:bodyPr/>
          <a:lstStyle/>
          <a:p>
            <a:r>
              <a:rPr lang="en-US" sz="2200" dirty="0"/>
              <a:t>These studies clearly established that at low temperature, the in-reactor creep rate of U is independent of temperature and linearly dependent on both stress</a:t>
            </a:r>
            <a:r>
              <a:rPr lang="el-GR" sz="2200" dirty="0"/>
              <a:t> </a:t>
            </a:r>
            <a:r>
              <a:rPr lang="en-US" sz="2200" dirty="0"/>
              <a:t>and fission rate</a:t>
            </a:r>
          </a:p>
          <a:p>
            <a:r>
              <a:rPr lang="en-US" sz="2200" dirty="0"/>
              <a:t>Very minimal data still exists for thermal or irradiation creep of U-Zr fuels</a:t>
            </a:r>
          </a:p>
          <a:p>
            <a:endParaRPr lang="en-US" sz="2200" dirty="0"/>
          </a:p>
          <a:p>
            <a:endParaRPr lang="en-US" sz="2200" dirty="0"/>
          </a:p>
        </p:txBody>
      </p:sp>
      <p:sp>
        <p:nvSpPr>
          <p:cNvPr id="5" name="Slide Number Placeholder 4">
            <a:extLst>
              <a:ext uri="{FF2B5EF4-FFF2-40B4-BE49-F238E27FC236}">
                <a16:creationId xmlns:a16="http://schemas.microsoft.com/office/drawing/2014/main" id="{465D38B1-F993-BA4E-AB05-8F02FA93A2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14AF1C6E-A000-6F42-AE57-05203A39FF64}"/>
              </a:ext>
            </a:extLst>
          </p:cNvPr>
          <p:cNvPicPr>
            <a:picLocks noChangeAspect="1"/>
          </p:cNvPicPr>
          <p:nvPr/>
        </p:nvPicPr>
        <p:blipFill>
          <a:blip r:embed="rId2"/>
          <a:stretch>
            <a:fillRect/>
          </a:stretch>
        </p:blipFill>
        <p:spPr>
          <a:xfrm>
            <a:off x="3177737" y="4984714"/>
            <a:ext cx="5836526" cy="1736763"/>
          </a:xfrm>
          <a:prstGeom prst="rect">
            <a:avLst/>
          </a:prstGeom>
        </p:spPr>
      </p:pic>
    </p:spTree>
    <p:extLst>
      <p:ext uri="{BB962C8B-B14F-4D97-AF65-F5344CB8AC3E}">
        <p14:creationId xmlns:p14="http://schemas.microsoft.com/office/powerpoint/2010/main" val="193969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98917-1978-0F4C-9A37-CB823DAAE584}"/>
              </a:ext>
            </a:extLst>
          </p:cNvPr>
          <p:cNvSpPr>
            <a:spLocks noGrp="1"/>
          </p:cNvSpPr>
          <p:nvPr>
            <p:ph type="title"/>
          </p:nvPr>
        </p:nvSpPr>
        <p:spPr/>
        <p:txBody>
          <a:bodyPr/>
          <a:lstStyle/>
          <a:p>
            <a:r>
              <a:rPr lang="en-US" dirty="0"/>
              <a:t>Solid Fission Product Swelling</a:t>
            </a:r>
          </a:p>
        </p:txBody>
      </p:sp>
      <p:sp>
        <p:nvSpPr>
          <p:cNvPr id="3" name="Content Placeholder 2">
            <a:extLst>
              <a:ext uri="{FF2B5EF4-FFF2-40B4-BE49-F238E27FC236}">
                <a16:creationId xmlns:a16="http://schemas.microsoft.com/office/drawing/2014/main" id="{0E649986-DBBE-4243-8269-517043303930}"/>
              </a:ext>
            </a:extLst>
          </p:cNvPr>
          <p:cNvSpPr>
            <a:spLocks noGrp="1"/>
          </p:cNvSpPr>
          <p:nvPr>
            <p:ph sz="half" idx="1"/>
          </p:nvPr>
        </p:nvSpPr>
        <p:spPr/>
        <p:txBody>
          <a:bodyPr/>
          <a:lstStyle/>
          <a:p>
            <a:r>
              <a:rPr lang="en-US" dirty="0"/>
              <a:t>Post-irradiation examinations of high burnup fuel appear largely to support partitioning into subgroups and associating certain assumptions of fission product behavior to these subgroups</a:t>
            </a:r>
          </a:p>
          <a:p>
            <a:r>
              <a:rPr lang="en-US" dirty="0"/>
              <a:t>A reason for partitioning these fission products is their different migration behavior in the fuel; such grouping allows an evaluation of this migration on the properties of the various radial phasal zones</a:t>
            </a:r>
          </a:p>
          <a:p>
            <a:endParaRPr lang="en-US" dirty="0"/>
          </a:p>
          <a:p>
            <a:endParaRPr lang="en-US" dirty="0"/>
          </a:p>
        </p:txBody>
      </p:sp>
      <p:sp>
        <p:nvSpPr>
          <p:cNvPr id="4" name="Content Placeholder 3">
            <a:extLst>
              <a:ext uri="{FF2B5EF4-FFF2-40B4-BE49-F238E27FC236}">
                <a16:creationId xmlns:a16="http://schemas.microsoft.com/office/drawing/2014/main" id="{C11316B1-2D2D-354B-80BD-C406B4C413C3}"/>
              </a:ext>
            </a:extLst>
          </p:cNvPr>
          <p:cNvSpPr>
            <a:spLocks noGrp="1"/>
          </p:cNvSpPr>
          <p:nvPr>
            <p:ph sz="half" idx="2"/>
          </p:nvPr>
        </p:nvSpPr>
        <p:spPr/>
        <p:txBody>
          <a:bodyPr/>
          <a:lstStyle/>
          <a:p>
            <a:r>
              <a:rPr lang="en-US" dirty="0"/>
              <a:t>Zr, Nb, and Mo are all in solution in the fuel phases</a:t>
            </a:r>
          </a:p>
          <a:p>
            <a:r>
              <a:rPr lang="en-US" dirty="0"/>
              <a:t>Alkali elements (Cs) are dissolved to some extent in the bond sodium</a:t>
            </a:r>
          </a:p>
          <a:p>
            <a:r>
              <a:rPr lang="en-US" dirty="0"/>
              <a:t>The noble metals (Pt) precipitate as compounds</a:t>
            </a:r>
          </a:p>
          <a:p>
            <a:r>
              <a:rPr lang="en-US" dirty="0"/>
              <a:t>The rare earths (Nd) precipitate as a separate compound or alloy</a:t>
            </a:r>
          </a:p>
          <a:p>
            <a:r>
              <a:rPr lang="en-US" dirty="0"/>
              <a:t>The majority of the alkaline (Sr) earths precipitate separately</a:t>
            </a:r>
          </a:p>
          <a:p>
            <a:endParaRPr lang="en-US" dirty="0"/>
          </a:p>
        </p:txBody>
      </p:sp>
      <p:sp>
        <p:nvSpPr>
          <p:cNvPr id="5" name="Slide Number Placeholder 4">
            <a:extLst>
              <a:ext uri="{FF2B5EF4-FFF2-40B4-BE49-F238E27FC236}">
                <a16:creationId xmlns:a16="http://schemas.microsoft.com/office/drawing/2014/main" id="{AAEDBF11-6B55-2E4E-B9A0-E7884BEE04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88883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Solid 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p:txBody>
          <a:bodyPr/>
          <a:lstStyle/>
          <a:p>
            <a:r>
              <a:rPr lang="en-US" dirty="0"/>
              <a:t>The accommodation of the insoluble fission products results in a net volume expansion as a function of burnup</a:t>
            </a:r>
          </a:p>
          <a:p>
            <a:r>
              <a:rPr lang="en-US" dirty="0"/>
              <a:t>As U and Pu are removed from the lattice as they fission, this results in a volume decrease that partially offsets the volume expansion due to fission products</a:t>
            </a:r>
          </a:p>
          <a:p>
            <a:endParaRPr lang="en-US" dirty="0"/>
          </a:p>
          <a:p>
            <a:endParaRPr lang="en-US" dirty="0"/>
          </a:p>
        </p:txBody>
      </p:sp>
      <p:sp>
        <p:nvSpPr>
          <p:cNvPr id="4" name="Content Placeholder 3">
            <a:extLst>
              <a:ext uri="{FF2B5EF4-FFF2-40B4-BE49-F238E27FC236}">
                <a16:creationId xmlns:a16="http://schemas.microsoft.com/office/drawing/2014/main" id="{909DDA7D-BF65-F749-9A2E-F0AC83D330EB}"/>
              </a:ext>
            </a:extLst>
          </p:cNvPr>
          <p:cNvSpPr>
            <a:spLocks noGrp="1"/>
          </p:cNvSpPr>
          <p:nvPr>
            <p:ph sz="half" idx="2"/>
          </p:nvPr>
        </p:nvSpPr>
        <p:spPr>
          <a:xfrm>
            <a:off x="6096000" y="1968500"/>
            <a:ext cx="5384800" cy="4157663"/>
          </a:xfrm>
        </p:spPr>
        <p:txBody>
          <a:bodyPr/>
          <a:lstStyle/>
          <a:p>
            <a:r>
              <a:rPr lang="en-US" sz="2200" dirty="0"/>
              <a:t>Since Zr, Nb and Mo are soluble in the matrix, this compensates for the volume decrease due to the disappearance of U and Pu</a:t>
            </a:r>
          </a:p>
          <a:p>
            <a:r>
              <a:rPr lang="en-US" sz="2200" dirty="0"/>
              <a:t>The result of these contributions is an associated volume increase of 0.2 vol.% per percent burnup</a:t>
            </a:r>
          </a:p>
          <a:p>
            <a:endParaRPr lang="en-US" sz="2200" dirty="0"/>
          </a:p>
          <a:p>
            <a:endParaRPr lang="en-US" sz="2200" dirty="0"/>
          </a:p>
        </p:txBody>
      </p:sp>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3492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Solid 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p:txBody>
          <a:bodyPr/>
          <a:lstStyle/>
          <a:p>
            <a:r>
              <a:rPr lang="en-US" dirty="0"/>
              <a:t>The rare earths (such as Nd) are found to collect in two separate phases in primarily large pores towards the periphery of the fuel and in gaps between the fuel and cladding</a:t>
            </a:r>
          </a:p>
          <a:p>
            <a:r>
              <a:rPr lang="en-US" dirty="0"/>
              <a:t>A chemical analysis of the bond sodium indicated that a major fraction of the alkali, and also some of the alkaline earth elements, can simply be added to the bond sodium volume</a:t>
            </a:r>
          </a:p>
          <a:p>
            <a:endParaRPr lang="en-US" dirty="0"/>
          </a:p>
          <a:p>
            <a:endParaRPr lang="en-US" dirty="0"/>
          </a:p>
        </p:txBody>
      </p:sp>
      <p:pic>
        <p:nvPicPr>
          <p:cNvPr id="8" name="Content Placeholder 7">
            <a:extLst>
              <a:ext uri="{FF2B5EF4-FFF2-40B4-BE49-F238E27FC236}">
                <a16:creationId xmlns:a16="http://schemas.microsoft.com/office/drawing/2014/main" id="{0852A4E0-7666-7E41-8B96-0DDD8452CE90}"/>
              </a:ext>
            </a:extLst>
          </p:cNvPr>
          <p:cNvPicPr>
            <a:picLocks noGrp="1" noChangeAspect="1"/>
          </p:cNvPicPr>
          <p:nvPr>
            <p:ph sz="half" idx="2"/>
          </p:nvPr>
        </p:nvPicPr>
        <p:blipFill>
          <a:blip r:embed="rId2"/>
          <a:stretch>
            <a:fillRect/>
          </a:stretch>
        </p:blipFill>
        <p:spPr>
          <a:xfrm>
            <a:off x="6197600" y="2448910"/>
            <a:ext cx="5935308" cy="2925499"/>
          </a:xfrm>
          <a:prstGeom prst="rect">
            <a:avLst/>
          </a:prstGeom>
        </p:spPr>
      </p:pic>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cxnSp>
        <p:nvCxnSpPr>
          <p:cNvPr id="10" name="Straight Arrow Connector 9">
            <a:extLst>
              <a:ext uri="{FF2B5EF4-FFF2-40B4-BE49-F238E27FC236}">
                <a16:creationId xmlns:a16="http://schemas.microsoft.com/office/drawing/2014/main" id="{0C931BCA-B38F-924A-A71E-0F6425DB15FF}"/>
              </a:ext>
            </a:extLst>
          </p:cNvPr>
          <p:cNvCxnSpPr/>
          <p:nvPr/>
        </p:nvCxnSpPr>
        <p:spPr>
          <a:xfrm flipH="1">
            <a:off x="9354207" y="2060028"/>
            <a:ext cx="662152" cy="1702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287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Solid 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a:xfrm>
            <a:off x="609599" y="1968503"/>
            <a:ext cx="10573407" cy="774697"/>
          </a:xfrm>
        </p:spPr>
        <p:txBody>
          <a:bodyPr/>
          <a:lstStyle/>
          <a:p>
            <a:r>
              <a:rPr lang="en-US" dirty="0"/>
              <a:t>The total volume of the insoluble fission products amounts to approximately 1.2% fuel volume increase per percent burnup </a:t>
            </a:r>
          </a:p>
          <a:p>
            <a:r>
              <a:rPr lang="en-US" dirty="0"/>
              <a:t>For a total swelling of 1.4% per %FIMA</a:t>
            </a:r>
          </a:p>
          <a:p>
            <a:endParaRPr lang="en-US" dirty="0"/>
          </a:p>
        </p:txBody>
      </p:sp>
      <p:pic>
        <p:nvPicPr>
          <p:cNvPr id="6" name="Content Placeholder 5">
            <a:extLst>
              <a:ext uri="{FF2B5EF4-FFF2-40B4-BE49-F238E27FC236}">
                <a16:creationId xmlns:a16="http://schemas.microsoft.com/office/drawing/2014/main" id="{A4F568BD-746E-4443-9B1E-32126C19D69C}"/>
              </a:ext>
            </a:extLst>
          </p:cNvPr>
          <p:cNvPicPr>
            <a:picLocks noGrp="1" noChangeAspect="1"/>
          </p:cNvPicPr>
          <p:nvPr>
            <p:ph sz="half" idx="2"/>
          </p:nvPr>
        </p:nvPicPr>
        <p:blipFill>
          <a:blip r:embed="rId2"/>
          <a:stretch>
            <a:fillRect/>
          </a:stretch>
        </p:blipFill>
        <p:spPr>
          <a:xfrm>
            <a:off x="5772987" y="3197145"/>
            <a:ext cx="5929225" cy="2760742"/>
          </a:xfrm>
          <a:prstGeom prst="rect">
            <a:avLst/>
          </a:prstGeom>
        </p:spPr>
      </p:pic>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Content Placeholder 2">
            <a:extLst>
              <a:ext uri="{FF2B5EF4-FFF2-40B4-BE49-F238E27FC236}">
                <a16:creationId xmlns:a16="http://schemas.microsoft.com/office/drawing/2014/main" id="{489B8559-CF4C-7093-1CDE-DF940EE4C2B7}"/>
              </a:ext>
            </a:extLst>
          </p:cNvPr>
          <p:cNvSpPr txBox="1">
            <a:spLocks/>
          </p:cNvSpPr>
          <p:nvPr/>
        </p:nvSpPr>
        <p:spPr bwMode="auto">
          <a:xfrm>
            <a:off x="609598" y="3197145"/>
            <a:ext cx="4993759" cy="31225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dirty="0"/>
              <a:t>As a note, these are estimates based on phase/volume assumptions of many different species</a:t>
            </a:r>
          </a:p>
          <a:p>
            <a:r>
              <a:rPr lang="en-US" dirty="0"/>
              <a:t>Can see 1.4-4% per %FIMA for SFP swelling in metallic fuels</a:t>
            </a:r>
          </a:p>
          <a:p>
            <a:r>
              <a:rPr lang="en-US" dirty="0"/>
              <a:t>No experimentally measured values, and no real way to obtain them</a:t>
            </a:r>
          </a:p>
        </p:txBody>
      </p:sp>
    </p:spTree>
    <p:extLst>
      <p:ext uri="{BB962C8B-B14F-4D97-AF65-F5344CB8AC3E}">
        <p14:creationId xmlns:p14="http://schemas.microsoft.com/office/powerpoint/2010/main" val="3540224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68EF-2B93-5044-BCC3-14CB1500BD59}"/>
              </a:ext>
            </a:extLst>
          </p:cNvPr>
          <p:cNvSpPr>
            <a:spLocks noGrp="1"/>
          </p:cNvSpPr>
          <p:nvPr>
            <p:ph type="title"/>
          </p:nvPr>
        </p:nvSpPr>
        <p:spPr/>
        <p:txBody>
          <a:bodyPr/>
          <a:lstStyle/>
          <a:p>
            <a:r>
              <a:rPr lang="en-US" dirty="0"/>
              <a:t>Fuel-Cladding Chemical Interaction</a:t>
            </a:r>
          </a:p>
        </p:txBody>
      </p:sp>
      <p:sp>
        <p:nvSpPr>
          <p:cNvPr id="3" name="Content Placeholder 2">
            <a:extLst>
              <a:ext uri="{FF2B5EF4-FFF2-40B4-BE49-F238E27FC236}">
                <a16:creationId xmlns:a16="http://schemas.microsoft.com/office/drawing/2014/main" id="{54599477-A0FB-D449-AD1D-A2EA0D9F4FE1}"/>
              </a:ext>
            </a:extLst>
          </p:cNvPr>
          <p:cNvSpPr>
            <a:spLocks noGrp="1"/>
          </p:cNvSpPr>
          <p:nvPr>
            <p:ph sz="half" idx="1"/>
          </p:nvPr>
        </p:nvSpPr>
        <p:spPr/>
        <p:txBody>
          <a:bodyPr/>
          <a:lstStyle/>
          <a:p>
            <a:r>
              <a:rPr lang="en-US" dirty="0"/>
              <a:t>FCCI is a complex multicomponent diffusion and thermodynamic problem</a:t>
            </a:r>
          </a:p>
          <a:p>
            <a:r>
              <a:rPr lang="en-US" dirty="0"/>
              <a:t>The characterization of fuel-cladding interdiffusion is exceedingly difficult because of the number of alloy components involved</a:t>
            </a:r>
          </a:p>
          <a:p>
            <a:r>
              <a:rPr lang="en-US" dirty="0"/>
              <a:t>Fuel element species, minor alloy additions (C, N, O), and fission products all play a role in FCCI</a:t>
            </a:r>
          </a:p>
          <a:p>
            <a:endParaRPr lang="en-US" dirty="0"/>
          </a:p>
        </p:txBody>
      </p:sp>
      <p:sp>
        <p:nvSpPr>
          <p:cNvPr id="4" name="Content Placeholder 3">
            <a:extLst>
              <a:ext uri="{FF2B5EF4-FFF2-40B4-BE49-F238E27FC236}">
                <a16:creationId xmlns:a16="http://schemas.microsoft.com/office/drawing/2014/main" id="{3B21F27F-C8CF-4142-9500-1E8C86DFC004}"/>
              </a:ext>
            </a:extLst>
          </p:cNvPr>
          <p:cNvSpPr>
            <a:spLocks noGrp="1"/>
          </p:cNvSpPr>
          <p:nvPr>
            <p:ph sz="half" idx="2"/>
          </p:nvPr>
        </p:nvSpPr>
        <p:spPr/>
        <p:txBody>
          <a:bodyPr/>
          <a:lstStyle/>
          <a:p>
            <a:r>
              <a:rPr lang="en-US" dirty="0"/>
              <a:t>The potential problem of interdiffusion of fuel and cladding components is twofold: (i) a weakening of the cladding’s mechanical properties; and (ii) the formation of relatively low melting point compositions in the fuel</a:t>
            </a:r>
          </a:p>
          <a:p>
            <a:r>
              <a:rPr lang="en-US" dirty="0"/>
              <a:t>Typically discussed in terms of cladding wastage, or FCCI layer, depth</a:t>
            </a:r>
          </a:p>
          <a:p>
            <a:r>
              <a:rPr lang="en-US" dirty="0"/>
              <a:t>Typically, diffusion couple experiments have been performed to try to evaluate these effects</a:t>
            </a:r>
          </a:p>
          <a:p>
            <a:endParaRPr lang="en-US" dirty="0"/>
          </a:p>
        </p:txBody>
      </p:sp>
      <p:sp>
        <p:nvSpPr>
          <p:cNvPr id="5" name="Slide Number Placeholder 4">
            <a:extLst>
              <a:ext uri="{FF2B5EF4-FFF2-40B4-BE49-F238E27FC236}">
                <a16:creationId xmlns:a16="http://schemas.microsoft.com/office/drawing/2014/main" id="{3309DF38-E84E-B240-A86A-E5A917786ECC}"/>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dirty="0"/>
          </a:p>
        </p:txBody>
      </p:sp>
    </p:spTree>
    <p:extLst>
      <p:ext uri="{BB962C8B-B14F-4D97-AF65-F5344CB8AC3E}">
        <p14:creationId xmlns:p14="http://schemas.microsoft.com/office/powerpoint/2010/main" val="998157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68EF-2B93-5044-BCC3-14CB1500BD59}"/>
              </a:ext>
            </a:extLst>
          </p:cNvPr>
          <p:cNvSpPr>
            <a:spLocks noGrp="1"/>
          </p:cNvSpPr>
          <p:nvPr>
            <p:ph type="title"/>
          </p:nvPr>
        </p:nvSpPr>
        <p:spPr/>
        <p:txBody>
          <a:bodyPr/>
          <a:lstStyle/>
          <a:p>
            <a:r>
              <a:rPr lang="en-US" dirty="0"/>
              <a:t>Fuel-Cladding Chemical Interaction</a:t>
            </a:r>
          </a:p>
        </p:txBody>
      </p:sp>
      <p:sp>
        <p:nvSpPr>
          <p:cNvPr id="3" name="Content Placeholder 2">
            <a:extLst>
              <a:ext uri="{FF2B5EF4-FFF2-40B4-BE49-F238E27FC236}">
                <a16:creationId xmlns:a16="http://schemas.microsoft.com/office/drawing/2014/main" id="{54599477-A0FB-D449-AD1D-A2EA0D9F4FE1}"/>
              </a:ext>
            </a:extLst>
          </p:cNvPr>
          <p:cNvSpPr>
            <a:spLocks noGrp="1"/>
          </p:cNvSpPr>
          <p:nvPr>
            <p:ph sz="half" idx="1"/>
          </p:nvPr>
        </p:nvSpPr>
        <p:spPr>
          <a:xfrm>
            <a:off x="609599" y="1968503"/>
            <a:ext cx="6201104" cy="4157663"/>
          </a:xfrm>
        </p:spPr>
        <p:txBody>
          <a:bodyPr/>
          <a:lstStyle/>
          <a:p>
            <a:r>
              <a:rPr lang="en-US" dirty="0"/>
              <a:t>Experiments in the 1960s showed that the addition of Zr showed a decrease in diffusion rates for the fuel as well as an increase minimum melting temperature</a:t>
            </a:r>
          </a:p>
          <a:p>
            <a:r>
              <a:rPr lang="en-US" dirty="0"/>
              <a:t>Thus, Zr diminished the extent of FCCI</a:t>
            </a:r>
          </a:p>
          <a:p>
            <a:r>
              <a:rPr lang="en-US" dirty="0"/>
              <a:t>Additions of Pu accelerate the rate of attack and low possible melting points</a:t>
            </a:r>
          </a:p>
          <a:p>
            <a:r>
              <a:rPr lang="en-US" dirty="0"/>
              <a:t>This is one of the bases for which Zr was selected as the alloying element for “modern” metallic fuel</a:t>
            </a:r>
          </a:p>
        </p:txBody>
      </p:sp>
      <p:pic>
        <p:nvPicPr>
          <p:cNvPr id="11" name="Content Placeholder 10">
            <a:extLst>
              <a:ext uri="{FF2B5EF4-FFF2-40B4-BE49-F238E27FC236}">
                <a16:creationId xmlns:a16="http://schemas.microsoft.com/office/drawing/2014/main" id="{82CA9FB8-F1FA-D14D-AF0A-31383D37B788}"/>
              </a:ext>
            </a:extLst>
          </p:cNvPr>
          <p:cNvPicPr>
            <a:picLocks noGrp="1" noChangeAspect="1"/>
          </p:cNvPicPr>
          <p:nvPr>
            <p:ph sz="half" idx="2"/>
          </p:nvPr>
        </p:nvPicPr>
        <p:blipFill>
          <a:blip r:embed="rId2"/>
          <a:stretch>
            <a:fillRect/>
          </a:stretch>
        </p:blipFill>
        <p:spPr>
          <a:xfrm>
            <a:off x="8093582" y="3279228"/>
            <a:ext cx="2670419" cy="3578772"/>
          </a:xfrm>
          <a:prstGeom prst="rect">
            <a:avLst/>
          </a:prstGeom>
        </p:spPr>
      </p:pic>
      <p:sp>
        <p:nvSpPr>
          <p:cNvPr id="5" name="Slide Number Placeholder 4">
            <a:extLst>
              <a:ext uri="{FF2B5EF4-FFF2-40B4-BE49-F238E27FC236}">
                <a16:creationId xmlns:a16="http://schemas.microsoft.com/office/drawing/2014/main" id="{3309DF38-E84E-B240-A86A-E5A917786ECC}"/>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pic>
        <p:nvPicPr>
          <p:cNvPr id="7" name="Picture 6">
            <a:extLst>
              <a:ext uri="{FF2B5EF4-FFF2-40B4-BE49-F238E27FC236}">
                <a16:creationId xmlns:a16="http://schemas.microsoft.com/office/drawing/2014/main" id="{90835C8C-B675-7540-A2B1-73E00196D58A}"/>
              </a:ext>
            </a:extLst>
          </p:cNvPr>
          <p:cNvPicPr>
            <a:picLocks noChangeAspect="1"/>
          </p:cNvPicPr>
          <p:nvPr/>
        </p:nvPicPr>
        <p:blipFill>
          <a:blip r:embed="rId3"/>
          <a:stretch>
            <a:fillRect/>
          </a:stretch>
        </p:blipFill>
        <p:spPr>
          <a:xfrm>
            <a:off x="7895924" y="1636994"/>
            <a:ext cx="3065736" cy="1792006"/>
          </a:xfrm>
          <a:prstGeom prst="rect">
            <a:avLst/>
          </a:prstGeom>
        </p:spPr>
      </p:pic>
    </p:spTree>
    <p:extLst>
      <p:ext uri="{BB962C8B-B14F-4D97-AF65-F5344CB8AC3E}">
        <p14:creationId xmlns:p14="http://schemas.microsoft.com/office/powerpoint/2010/main" val="2508653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p:txBody>
          <a:bodyPr/>
          <a:lstStyle/>
          <a:p>
            <a:r>
              <a:rPr lang="en-US" sz="2000" dirty="0"/>
              <a:t>To gain initial insight into the phases that may develop at the Fuel/Cladding interface, one can look at available equilibrium phase diagrams, even though the irradiation process deviates from equilibrium</a:t>
            </a:r>
          </a:p>
          <a:p>
            <a:r>
              <a:rPr lang="en-US" sz="2000" dirty="0"/>
              <a:t>Phase diagrams can indicate the intermetallic phases present, the solid-solubility ranges in different phase regions, and the temperatures and compositions at which liquid phases develop</a:t>
            </a:r>
          </a:p>
          <a:p>
            <a:endParaRPr lang="en-US" sz="2000" dirty="0"/>
          </a:p>
          <a:p>
            <a:endParaRPr lang="en-US" sz="2000" dirty="0"/>
          </a:p>
        </p:txBody>
      </p:sp>
      <p:sp>
        <p:nvSpPr>
          <p:cNvPr id="4" name="Content Placeholder 3">
            <a:extLst>
              <a:ext uri="{FF2B5EF4-FFF2-40B4-BE49-F238E27FC236}">
                <a16:creationId xmlns:a16="http://schemas.microsoft.com/office/drawing/2014/main" id="{E047CC33-401D-1244-AE18-22642DA3FB1E}"/>
              </a:ext>
            </a:extLst>
          </p:cNvPr>
          <p:cNvSpPr>
            <a:spLocks noGrp="1"/>
          </p:cNvSpPr>
          <p:nvPr>
            <p:ph sz="half" idx="2"/>
          </p:nvPr>
        </p:nvSpPr>
        <p:spPr/>
        <p:txBody>
          <a:bodyPr/>
          <a:lstStyle/>
          <a:p>
            <a:r>
              <a:rPr lang="en-US" dirty="0"/>
              <a:t>The intermetallic phases that are present in phase diagrams can form in the interaction zones during the interdiffusion process</a:t>
            </a:r>
          </a:p>
          <a:p>
            <a:r>
              <a:rPr lang="en-US" dirty="0"/>
              <a:t>Wide ranges of solubility in terminal alloys can be an indication that interdiffusion rates may be high</a:t>
            </a:r>
          </a:p>
          <a:p>
            <a:r>
              <a:rPr lang="en-US" dirty="0"/>
              <a:t>Knowing the compositions of the low-melting phases provides knowledge of potentially limiting conditions</a:t>
            </a:r>
          </a:p>
          <a:p>
            <a:endParaRPr lang="en-US" dirty="0"/>
          </a:p>
        </p:txBody>
      </p:sp>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3190401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a:xfrm>
            <a:off x="609599" y="1968503"/>
            <a:ext cx="7332922" cy="4157663"/>
          </a:xfrm>
        </p:spPr>
        <p:txBody>
          <a:bodyPr/>
          <a:lstStyle/>
          <a:p>
            <a:r>
              <a:rPr lang="en-US" dirty="0"/>
              <a:t>The U-Fe and Pu-Fe phase diagrams</a:t>
            </a:r>
          </a:p>
          <a:p>
            <a:r>
              <a:rPr lang="en-US" dirty="0"/>
              <a:t>Intermetallic UFe2 and U6Fe phases are present in the U–Fe phase diagram and PuFe2 and Pu6Fe phase are present in the Pu–Fe system</a:t>
            </a:r>
          </a:p>
          <a:p>
            <a:r>
              <a:rPr lang="en-US" dirty="0"/>
              <a:t>These are likely phases to form</a:t>
            </a:r>
          </a:p>
          <a:p>
            <a:r>
              <a:rPr lang="en-US" dirty="0"/>
              <a:t>These systems also undergo eutectic melting at temperatures as low as ~700K</a:t>
            </a:r>
          </a:p>
          <a:p>
            <a:r>
              <a:rPr lang="en-US" dirty="0"/>
              <a:t>Both XFe2 and X6Fe phases are the same crystal structures</a:t>
            </a:r>
          </a:p>
          <a:p>
            <a:r>
              <a:rPr lang="en-US" dirty="0"/>
              <a:t>Continuous solid solutions have been reported between Pu6Fe and U6Fe and between PuFe2 and UFe2 2: (</a:t>
            </a:r>
            <a:r>
              <a:rPr lang="en-US" dirty="0" err="1"/>
              <a:t>U,Pu</a:t>
            </a:r>
            <a:r>
              <a:rPr lang="en-US" dirty="0"/>
              <a:t>)6Fe and (U, Pu)Fe2</a:t>
            </a:r>
          </a:p>
          <a:p>
            <a:endParaRPr lang="en-US" dirty="0"/>
          </a:p>
          <a:p>
            <a:endParaRPr lang="en-US" dirty="0"/>
          </a:p>
        </p:txBody>
      </p:sp>
      <p:pic>
        <p:nvPicPr>
          <p:cNvPr id="6" name="Content Placeholder 5">
            <a:extLst>
              <a:ext uri="{FF2B5EF4-FFF2-40B4-BE49-F238E27FC236}">
                <a16:creationId xmlns:a16="http://schemas.microsoft.com/office/drawing/2014/main" id="{948F6598-FB25-AA42-AE93-B58B450433F9}"/>
              </a:ext>
            </a:extLst>
          </p:cNvPr>
          <p:cNvPicPr>
            <a:picLocks noGrp="1" noChangeAspect="1"/>
          </p:cNvPicPr>
          <p:nvPr>
            <p:ph sz="half" idx="2"/>
          </p:nvPr>
        </p:nvPicPr>
        <p:blipFill>
          <a:blip r:embed="rId2"/>
          <a:stretch>
            <a:fillRect/>
          </a:stretch>
        </p:blipFill>
        <p:spPr>
          <a:xfrm>
            <a:off x="8104786" y="1072366"/>
            <a:ext cx="3060484" cy="2690337"/>
          </a:xfrm>
          <a:prstGeom prst="rect">
            <a:avLst/>
          </a:prstGeom>
        </p:spPr>
      </p:pic>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pic>
        <p:nvPicPr>
          <p:cNvPr id="7" name="Picture 6">
            <a:extLst>
              <a:ext uri="{FF2B5EF4-FFF2-40B4-BE49-F238E27FC236}">
                <a16:creationId xmlns:a16="http://schemas.microsoft.com/office/drawing/2014/main" id="{0A4465F8-02DF-6E4F-AF20-AF38DEA45583}"/>
              </a:ext>
            </a:extLst>
          </p:cNvPr>
          <p:cNvPicPr>
            <a:picLocks noChangeAspect="1"/>
          </p:cNvPicPr>
          <p:nvPr/>
        </p:nvPicPr>
        <p:blipFill>
          <a:blip r:embed="rId3"/>
          <a:stretch>
            <a:fillRect/>
          </a:stretch>
        </p:blipFill>
        <p:spPr>
          <a:xfrm>
            <a:off x="8160514" y="3762703"/>
            <a:ext cx="2949028" cy="2527738"/>
          </a:xfrm>
          <a:prstGeom prst="rect">
            <a:avLst/>
          </a:prstGeom>
        </p:spPr>
      </p:pic>
    </p:spTree>
    <p:extLst>
      <p:ext uri="{BB962C8B-B14F-4D97-AF65-F5344CB8AC3E}">
        <p14:creationId xmlns:p14="http://schemas.microsoft.com/office/powerpoint/2010/main" val="320578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a:xfrm>
            <a:off x="609600" y="1968503"/>
            <a:ext cx="6379780" cy="4157663"/>
          </a:xfrm>
        </p:spPr>
        <p:txBody>
          <a:bodyPr/>
          <a:lstStyle/>
          <a:p>
            <a:r>
              <a:rPr lang="en-US" dirty="0"/>
              <a:t>Addition of Zr towards U-Fe-Zr and U-Pu-Fe-Zr phase diagrams generates new potential phase</a:t>
            </a:r>
          </a:p>
          <a:p>
            <a:r>
              <a:rPr lang="en-US" dirty="0"/>
              <a:t>Fe3Zr, Fe2Zr, FeZr2, and FeZr3 are intermetallic phases capable of forming in the FCCI zone</a:t>
            </a:r>
          </a:p>
          <a:p>
            <a:endParaRPr lang="en-US" dirty="0"/>
          </a:p>
          <a:p>
            <a:r>
              <a:rPr lang="en-US" dirty="0"/>
              <a:t>Once we get to fission product species (lanthanides), phase diagrams are significantly less well known, and minimal ternary/quaternary data exists</a:t>
            </a:r>
          </a:p>
          <a:p>
            <a:endParaRPr lang="en-US" dirty="0"/>
          </a:p>
          <a:p>
            <a:endParaRPr lang="en-US" dirty="0"/>
          </a:p>
          <a:p>
            <a:endParaRPr lang="en-US" dirty="0"/>
          </a:p>
        </p:txBody>
      </p:sp>
      <p:pic>
        <p:nvPicPr>
          <p:cNvPr id="9" name="Content Placeholder 8">
            <a:extLst>
              <a:ext uri="{FF2B5EF4-FFF2-40B4-BE49-F238E27FC236}">
                <a16:creationId xmlns:a16="http://schemas.microsoft.com/office/drawing/2014/main" id="{6205E83B-0B1F-1040-AD57-24B7D9D8C269}"/>
              </a:ext>
            </a:extLst>
          </p:cNvPr>
          <p:cNvPicPr>
            <a:picLocks noGrp="1" noChangeAspect="1"/>
          </p:cNvPicPr>
          <p:nvPr>
            <p:ph sz="half" idx="2"/>
          </p:nvPr>
        </p:nvPicPr>
        <p:blipFill>
          <a:blip r:embed="rId2"/>
          <a:stretch>
            <a:fillRect/>
          </a:stretch>
        </p:blipFill>
        <p:spPr>
          <a:xfrm>
            <a:off x="7567448" y="2122487"/>
            <a:ext cx="4035096" cy="3481711"/>
          </a:xfrm>
          <a:prstGeom prst="rect">
            <a:avLst/>
          </a:prstGeom>
        </p:spPr>
      </p:pic>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1433419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AE3A-B6F4-F348-B4D0-018C3B66CDE4}"/>
              </a:ext>
            </a:extLst>
          </p:cNvPr>
          <p:cNvSpPr>
            <a:spLocks noGrp="1"/>
          </p:cNvSpPr>
          <p:nvPr>
            <p:ph type="title"/>
          </p:nvPr>
        </p:nvSpPr>
        <p:spPr/>
        <p:txBody>
          <a:bodyPr/>
          <a:lstStyle/>
          <a:p>
            <a:r>
              <a:rPr lang="en-US" dirty="0"/>
              <a:t>Diffusion Couples</a:t>
            </a:r>
          </a:p>
        </p:txBody>
      </p:sp>
      <p:sp>
        <p:nvSpPr>
          <p:cNvPr id="3" name="Content Placeholder 2">
            <a:extLst>
              <a:ext uri="{FF2B5EF4-FFF2-40B4-BE49-F238E27FC236}">
                <a16:creationId xmlns:a16="http://schemas.microsoft.com/office/drawing/2014/main" id="{12759E40-9946-2540-BA2D-B51A91EE5180}"/>
              </a:ext>
            </a:extLst>
          </p:cNvPr>
          <p:cNvSpPr>
            <a:spLocks noGrp="1"/>
          </p:cNvSpPr>
          <p:nvPr>
            <p:ph sz="half" idx="1"/>
          </p:nvPr>
        </p:nvSpPr>
        <p:spPr>
          <a:xfrm>
            <a:off x="609600" y="1968500"/>
            <a:ext cx="6404303" cy="4157663"/>
          </a:xfrm>
        </p:spPr>
        <p:txBody>
          <a:bodyPr/>
          <a:lstStyle/>
          <a:p>
            <a:r>
              <a:rPr lang="en-US" dirty="0"/>
              <a:t>Out-of-pile diffusion couple experiments are typically conducted to determine the interdiffusion behavior of the various constituents at a temperature of interest</a:t>
            </a:r>
          </a:p>
          <a:p>
            <a:r>
              <a:rPr lang="en-US" dirty="0"/>
              <a:t>Test have been performed with U–Fs, U–Pu–Fs, U–Zr, and U–Pu–Zr and different cladding alloys</a:t>
            </a:r>
          </a:p>
          <a:p>
            <a:r>
              <a:rPr lang="en-US" dirty="0"/>
              <a:t>Diffusion couple experiments have indicated that a eutectic phase can form in FCCI zones at temperatures near 700C, and this phase is similar to U6Fe</a:t>
            </a:r>
          </a:p>
          <a:p>
            <a:endParaRPr lang="en-US" dirty="0"/>
          </a:p>
        </p:txBody>
      </p:sp>
      <p:pic>
        <p:nvPicPr>
          <p:cNvPr id="6" name="Content Placeholder 5">
            <a:extLst>
              <a:ext uri="{FF2B5EF4-FFF2-40B4-BE49-F238E27FC236}">
                <a16:creationId xmlns:a16="http://schemas.microsoft.com/office/drawing/2014/main" id="{91112D4E-4FAA-F84A-855D-FF89E3609347}"/>
              </a:ext>
            </a:extLst>
          </p:cNvPr>
          <p:cNvPicPr>
            <a:picLocks noGrp="1" noChangeAspect="1"/>
          </p:cNvPicPr>
          <p:nvPr>
            <p:ph sz="half" idx="2"/>
          </p:nvPr>
        </p:nvPicPr>
        <p:blipFill>
          <a:blip r:embed="rId2"/>
          <a:stretch>
            <a:fillRect/>
          </a:stretch>
        </p:blipFill>
        <p:spPr>
          <a:xfrm>
            <a:off x="7178565" y="3429000"/>
            <a:ext cx="4792717" cy="3195144"/>
          </a:xfrm>
          <a:prstGeom prst="rect">
            <a:avLst/>
          </a:prstGeom>
        </p:spPr>
      </p:pic>
      <p:sp>
        <p:nvSpPr>
          <p:cNvPr id="5" name="Slide Number Placeholder 4">
            <a:extLst>
              <a:ext uri="{FF2B5EF4-FFF2-40B4-BE49-F238E27FC236}">
                <a16:creationId xmlns:a16="http://schemas.microsoft.com/office/drawing/2014/main" id="{EA727DBF-C7E4-C94E-9F50-4652FBA3B767}"/>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7" name="Picture 6">
            <a:extLst>
              <a:ext uri="{FF2B5EF4-FFF2-40B4-BE49-F238E27FC236}">
                <a16:creationId xmlns:a16="http://schemas.microsoft.com/office/drawing/2014/main" id="{4EE7C9B8-C93C-6847-8124-5ACCFF844C89}"/>
              </a:ext>
            </a:extLst>
          </p:cNvPr>
          <p:cNvPicPr>
            <a:picLocks noChangeAspect="1"/>
          </p:cNvPicPr>
          <p:nvPr/>
        </p:nvPicPr>
        <p:blipFill>
          <a:blip r:embed="rId3"/>
          <a:stretch>
            <a:fillRect/>
          </a:stretch>
        </p:blipFill>
        <p:spPr>
          <a:xfrm>
            <a:off x="8331833" y="446801"/>
            <a:ext cx="2486180" cy="2963917"/>
          </a:xfrm>
          <a:prstGeom prst="rect">
            <a:avLst/>
          </a:prstGeom>
        </p:spPr>
      </p:pic>
    </p:spTree>
    <p:extLst>
      <p:ext uri="{BB962C8B-B14F-4D97-AF65-F5344CB8AC3E}">
        <p14:creationId xmlns:p14="http://schemas.microsoft.com/office/powerpoint/2010/main" val="1986513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AE3A-B6F4-F348-B4D0-018C3B66CDE4}"/>
              </a:ext>
            </a:extLst>
          </p:cNvPr>
          <p:cNvSpPr>
            <a:spLocks noGrp="1"/>
          </p:cNvSpPr>
          <p:nvPr>
            <p:ph type="title"/>
          </p:nvPr>
        </p:nvSpPr>
        <p:spPr/>
        <p:txBody>
          <a:bodyPr/>
          <a:lstStyle/>
          <a:p>
            <a:r>
              <a:rPr lang="en-US" dirty="0"/>
              <a:t>Protective Rind</a:t>
            </a:r>
          </a:p>
        </p:txBody>
      </p:sp>
      <p:sp>
        <p:nvSpPr>
          <p:cNvPr id="3" name="Content Placeholder 2">
            <a:extLst>
              <a:ext uri="{FF2B5EF4-FFF2-40B4-BE49-F238E27FC236}">
                <a16:creationId xmlns:a16="http://schemas.microsoft.com/office/drawing/2014/main" id="{12759E40-9946-2540-BA2D-B51A91EE5180}"/>
              </a:ext>
            </a:extLst>
          </p:cNvPr>
          <p:cNvSpPr>
            <a:spLocks noGrp="1"/>
          </p:cNvSpPr>
          <p:nvPr>
            <p:ph sz="half" idx="1"/>
          </p:nvPr>
        </p:nvSpPr>
        <p:spPr>
          <a:xfrm>
            <a:off x="609601" y="1968500"/>
            <a:ext cx="5588000" cy="4157663"/>
          </a:xfrm>
        </p:spPr>
        <p:txBody>
          <a:bodyPr/>
          <a:lstStyle/>
          <a:p>
            <a:r>
              <a:rPr lang="en-US" dirty="0"/>
              <a:t>Impurities in the fuel or cladding alloys have been suggested to play a role in determining the FCCI behavior</a:t>
            </a:r>
          </a:p>
          <a:p>
            <a:r>
              <a:rPr lang="en-US" dirty="0"/>
              <a:t>If enough impurities are present (e.g., C, O, or N), then Zr-rich layers that are stabilized by impurities can develop at the interface and impede the interdiffusion process (ZrO2 most likely)</a:t>
            </a:r>
          </a:p>
          <a:p>
            <a:r>
              <a:rPr lang="en-US" dirty="0"/>
              <a:t>The extent of the formation would depend on the oxygen activity in the cladding </a:t>
            </a:r>
          </a:p>
          <a:p>
            <a:endParaRPr lang="en-US" dirty="0"/>
          </a:p>
        </p:txBody>
      </p:sp>
      <p:sp>
        <p:nvSpPr>
          <p:cNvPr id="8" name="Content Placeholder 7">
            <a:extLst>
              <a:ext uri="{FF2B5EF4-FFF2-40B4-BE49-F238E27FC236}">
                <a16:creationId xmlns:a16="http://schemas.microsoft.com/office/drawing/2014/main" id="{173B4ECF-85F5-8F42-888D-4ACA37F59C95}"/>
              </a:ext>
            </a:extLst>
          </p:cNvPr>
          <p:cNvSpPr>
            <a:spLocks noGrp="1"/>
          </p:cNvSpPr>
          <p:nvPr>
            <p:ph sz="half" idx="2"/>
          </p:nvPr>
        </p:nvSpPr>
        <p:spPr/>
        <p:txBody>
          <a:bodyPr/>
          <a:lstStyle/>
          <a:p>
            <a:r>
              <a:rPr lang="en-US" dirty="0"/>
              <a:t>Work has been performed on U–Zr alloys to investigate the development of nitride layers with a N2 cover gas</a:t>
            </a:r>
          </a:p>
          <a:p>
            <a:r>
              <a:rPr lang="en-US" dirty="0"/>
              <a:t>This has been related to the rind and rind interactions with FCCI</a:t>
            </a:r>
          </a:p>
          <a:p>
            <a:r>
              <a:rPr lang="en-US" dirty="0"/>
              <a:t>The rind can form during a casting process due to the atmosphere and crucible/mold</a:t>
            </a:r>
          </a:p>
          <a:p>
            <a:r>
              <a:rPr lang="en-US" dirty="0"/>
              <a:t>It forms on the exterior of the fuel slug, almost like a coating</a:t>
            </a:r>
          </a:p>
          <a:p>
            <a:endParaRPr lang="en-US" dirty="0"/>
          </a:p>
        </p:txBody>
      </p:sp>
      <p:sp>
        <p:nvSpPr>
          <p:cNvPr id="5" name="Slide Number Placeholder 4">
            <a:extLst>
              <a:ext uri="{FF2B5EF4-FFF2-40B4-BE49-F238E27FC236}">
                <a16:creationId xmlns:a16="http://schemas.microsoft.com/office/drawing/2014/main" id="{EA727DBF-C7E4-C94E-9F50-4652FBA3B767}"/>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Tree>
    <p:extLst>
      <p:ext uri="{BB962C8B-B14F-4D97-AF65-F5344CB8AC3E}">
        <p14:creationId xmlns:p14="http://schemas.microsoft.com/office/powerpoint/2010/main" val="2932318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6169573" cy="4157663"/>
          </a:xfrm>
        </p:spPr>
        <p:txBody>
          <a:bodyPr/>
          <a:lstStyle/>
          <a:p>
            <a:r>
              <a:rPr lang="en-US" sz="2200" dirty="0"/>
              <a:t>In many of the analyzed fuel elements, fuel–cladding interaction can be linked to the integrity of the Zr-rind</a:t>
            </a:r>
          </a:p>
          <a:p>
            <a:r>
              <a:rPr lang="en-US" sz="2200" dirty="0"/>
              <a:t>In the image, arrows indicate areas where rind is no longer intact</a:t>
            </a:r>
          </a:p>
          <a:p>
            <a:r>
              <a:rPr lang="en-US" sz="2200" dirty="0"/>
              <a:t>Both temperature and power variations along the length of a fuel element appear to impact the amount of fuel–cladding interaction that will occur</a:t>
            </a:r>
          </a:p>
          <a:p>
            <a:r>
              <a:rPr lang="en-US" sz="2200" dirty="0"/>
              <a:t>The maximum fuel–cladding interaction is observed in the combined high-temperature and high-power region of a fuel element</a:t>
            </a:r>
          </a:p>
          <a:p>
            <a:endParaRPr lang="en-US" sz="2200" dirty="0"/>
          </a:p>
          <a:p>
            <a:endParaRPr lang="en-US" sz="2200" dirty="0"/>
          </a:p>
        </p:txBody>
      </p:sp>
      <p:pic>
        <p:nvPicPr>
          <p:cNvPr id="8" name="Content Placeholder 7">
            <a:extLst>
              <a:ext uri="{FF2B5EF4-FFF2-40B4-BE49-F238E27FC236}">
                <a16:creationId xmlns:a16="http://schemas.microsoft.com/office/drawing/2014/main" id="{9FDCF733-E69A-3943-8B75-4DBA4A061222}"/>
              </a:ext>
            </a:extLst>
          </p:cNvPr>
          <p:cNvPicPr>
            <a:picLocks noGrp="1" noChangeAspect="1"/>
          </p:cNvPicPr>
          <p:nvPr>
            <p:ph sz="half" idx="2"/>
          </p:nvPr>
        </p:nvPicPr>
        <p:blipFill>
          <a:blip r:embed="rId2"/>
          <a:stretch>
            <a:fillRect/>
          </a:stretch>
        </p:blipFill>
        <p:spPr>
          <a:xfrm>
            <a:off x="6852745" y="1642214"/>
            <a:ext cx="4639441" cy="4639441"/>
          </a:xfrm>
          <a:prstGeom prst="rect">
            <a:avLst/>
          </a:prstGeom>
        </p:spPr>
      </p:pic>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2208592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p:txBody>
          <a:bodyPr/>
          <a:lstStyle/>
          <a:p>
            <a:r>
              <a:rPr lang="en-US" sz="2400" dirty="0"/>
              <a:t>The interaction zone formation in irradiated metallic fuel elements is localized</a:t>
            </a:r>
          </a:p>
          <a:p>
            <a:r>
              <a:rPr lang="en-US" sz="2400" dirty="0"/>
              <a:t>Typically, the largest interaction zones in fuel elements are created when a wedge-shaped crack forms in the fuel adjacent to the inner surface of the cladding and a large fission product deposit (primarily Nd, Ce, and La) develops</a:t>
            </a:r>
          </a:p>
          <a:p>
            <a:endParaRPr lang="en-US" sz="2400" dirty="0"/>
          </a:p>
          <a:p>
            <a:endParaRPr lang="en-US" sz="2400" dirty="0"/>
          </a:p>
        </p:txBody>
      </p:sp>
      <p:pic>
        <p:nvPicPr>
          <p:cNvPr id="6" name="Content Placeholder 5">
            <a:extLst>
              <a:ext uri="{FF2B5EF4-FFF2-40B4-BE49-F238E27FC236}">
                <a16:creationId xmlns:a16="http://schemas.microsoft.com/office/drawing/2014/main" id="{361FEB28-1222-AD46-8A64-6177E9FA582B}"/>
              </a:ext>
            </a:extLst>
          </p:cNvPr>
          <p:cNvPicPr>
            <a:picLocks noGrp="1" noChangeAspect="1"/>
          </p:cNvPicPr>
          <p:nvPr>
            <p:ph sz="half" idx="2"/>
          </p:nvPr>
        </p:nvPicPr>
        <p:blipFill>
          <a:blip r:embed="rId2"/>
          <a:stretch>
            <a:fillRect/>
          </a:stretch>
        </p:blipFill>
        <p:spPr>
          <a:xfrm>
            <a:off x="6313216" y="1912833"/>
            <a:ext cx="5149629" cy="4213333"/>
          </a:xfrm>
          <a:prstGeom prst="rect">
            <a:avLst/>
          </a:prstGeom>
        </p:spPr>
      </p:pic>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3539469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5588001" cy="4157663"/>
          </a:xfrm>
        </p:spPr>
        <p:txBody>
          <a:bodyPr/>
          <a:lstStyle/>
          <a:p>
            <a:r>
              <a:rPr lang="en-US" dirty="0"/>
              <a:t>The burnup of a fuel pin is another parameter that impacts the size of the fuel–cladding interaction zone</a:t>
            </a:r>
          </a:p>
          <a:p>
            <a:r>
              <a:rPr lang="en-US" dirty="0"/>
              <a:t>Larger interaction zones are observed for higher burnup fuel elements</a:t>
            </a:r>
          </a:p>
          <a:p>
            <a:r>
              <a:rPr lang="en-US" dirty="0"/>
              <a:t>The larger inventories of fission products allow more lanthanides to diffuse down the temperature gradient, thereby increasing the inventory of fission products at the interface</a:t>
            </a:r>
          </a:p>
        </p:txBody>
      </p:sp>
      <p:sp>
        <p:nvSpPr>
          <p:cNvPr id="6" name="Content Placeholder 5">
            <a:extLst>
              <a:ext uri="{FF2B5EF4-FFF2-40B4-BE49-F238E27FC236}">
                <a16:creationId xmlns:a16="http://schemas.microsoft.com/office/drawing/2014/main" id="{753EDF85-8C2A-BC41-A021-1E9097D92F7B}"/>
              </a:ext>
            </a:extLst>
          </p:cNvPr>
          <p:cNvSpPr>
            <a:spLocks noGrp="1"/>
          </p:cNvSpPr>
          <p:nvPr>
            <p:ph sz="half" idx="2"/>
          </p:nvPr>
        </p:nvSpPr>
        <p:spPr/>
        <p:txBody>
          <a:bodyPr/>
          <a:lstStyle/>
          <a:p>
            <a:r>
              <a:rPr lang="en-US" dirty="0"/>
              <a:t>For high burnup fuels, temperature effects also exacerbate FCCI due to thermal cond. degradation producing higher temperatures, and more rapid FP diffusion</a:t>
            </a:r>
          </a:p>
          <a:p>
            <a:r>
              <a:rPr lang="en-US" dirty="0"/>
              <a:t>Fuel elements at the hotter core positions can exhibit increased interdiffusion at the fuel–cladding interface over those at colder positions</a:t>
            </a:r>
          </a:p>
          <a:p>
            <a:endParaRPr lang="en-US" dirty="0"/>
          </a:p>
        </p:txBody>
      </p:sp>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2604397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2CB7-6757-0A46-B980-78D171F06EE0}"/>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D31727EA-B72F-2F47-9CC9-01BF94551F77}"/>
              </a:ext>
            </a:extLst>
          </p:cNvPr>
          <p:cNvSpPr>
            <a:spLocks noGrp="1"/>
          </p:cNvSpPr>
          <p:nvPr>
            <p:ph sz="half" idx="1"/>
          </p:nvPr>
        </p:nvSpPr>
        <p:spPr>
          <a:xfrm>
            <a:off x="609600" y="1968503"/>
            <a:ext cx="7830207" cy="4157663"/>
          </a:xfrm>
        </p:spPr>
        <p:txBody>
          <a:bodyPr/>
          <a:lstStyle/>
          <a:p>
            <a:r>
              <a:rPr lang="en-US" sz="2200" dirty="0"/>
              <a:t>Fe and Cr are the major constituents in HT-9 cladding and should show up as major constituents in the FCCI zones of irradiated HT-9-clad fuel elements</a:t>
            </a:r>
          </a:p>
          <a:p>
            <a:r>
              <a:rPr lang="en-US" sz="2200" dirty="0"/>
              <a:t>For D9-clad fuel elements, Fe, Ni, and Cr are major constituents that should be present in FCCI zones</a:t>
            </a:r>
          </a:p>
          <a:p>
            <a:r>
              <a:rPr lang="en-US" sz="2200" dirty="0"/>
              <a:t>There have been some irradiated fuel samples that were specifically destructively analyzed to observe FCCI</a:t>
            </a:r>
          </a:p>
          <a:p>
            <a:r>
              <a:rPr lang="en-US" sz="2200" dirty="0"/>
              <a:t>The lowest and highest determined temperatures at the fuel–cladding interface were 540 and 660 C, respectively</a:t>
            </a:r>
          </a:p>
          <a:p>
            <a:r>
              <a:rPr lang="en-US" sz="2200" dirty="0"/>
              <a:t>The thickest interaction zone measured was 170 </a:t>
            </a:r>
            <a:r>
              <a:rPr lang="en-US" sz="2200" dirty="0">
                <a:latin typeface="Symbol" pitchFamily="2" charset="2"/>
              </a:rPr>
              <a:t>m</a:t>
            </a:r>
            <a:r>
              <a:rPr lang="en-US" sz="2200" dirty="0"/>
              <a:t>m, and the lanthanide fission products were the primary fuel constituents observed in the interaction layers</a:t>
            </a:r>
          </a:p>
          <a:p>
            <a:endParaRPr lang="en-US" sz="2200" dirty="0"/>
          </a:p>
        </p:txBody>
      </p:sp>
      <p:pic>
        <p:nvPicPr>
          <p:cNvPr id="6" name="Content Placeholder 5">
            <a:extLst>
              <a:ext uri="{FF2B5EF4-FFF2-40B4-BE49-F238E27FC236}">
                <a16:creationId xmlns:a16="http://schemas.microsoft.com/office/drawing/2014/main" id="{123AA60A-924B-9B4D-8A35-3C93BB503461}"/>
              </a:ext>
            </a:extLst>
          </p:cNvPr>
          <p:cNvPicPr>
            <a:picLocks noGrp="1" noChangeAspect="1"/>
          </p:cNvPicPr>
          <p:nvPr>
            <p:ph sz="half" idx="2"/>
          </p:nvPr>
        </p:nvPicPr>
        <p:blipFill>
          <a:blip r:embed="rId2"/>
          <a:stretch>
            <a:fillRect/>
          </a:stretch>
        </p:blipFill>
        <p:spPr>
          <a:xfrm>
            <a:off x="8545676" y="2727302"/>
            <a:ext cx="3228647" cy="2450878"/>
          </a:xfrm>
          <a:prstGeom prst="rect">
            <a:avLst/>
          </a:prstGeom>
        </p:spPr>
      </p:pic>
      <p:sp>
        <p:nvSpPr>
          <p:cNvPr id="5" name="Slide Number Placeholder 4">
            <a:extLst>
              <a:ext uri="{FF2B5EF4-FFF2-40B4-BE49-F238E27FC236}">
                <a16:creationId xmlns:a16="http://schemas.microsoft.com/office/drawing/2014/main" id="{93603850-C133-1B42-8F9D-DDA2FF39BC20}"/>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dirty="0"/>
          </a:p>
        </p:txBody>
      </p:sp>
    </p:spTree>
    <p:extLst>
      <p:ext uri="{BB962C8B-B14F-4D97-AF65-F5344CB8AC3E}">
        <p14:creationId xmlns:p14="http://schemas.microsoft.com/office/powerpoint/2010/main" val="366744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2CB7-6757-0A46-B980-78D171F06EE0}"/>
              </a:ext>
            </a:extLst>
          </p:cNvPr>
          <p:cNvSpPr>
            <a:spLocks noGrp="1"/>
          </p:cNvSpPr>
          <p:nvPr>
            <p:ph type="title"/>
          </p:nvPr>
        </p:nvSpPr>
        <p:spPr/>
        <p:txBody>
          <a:bodyPr/>
          <a:lstStyle/>
          <a:p>
            <a:r>
              <a:rPr lang="en-US" dirty="0"/>
              <a:t>FCCI Examinations</a:t>
            </a:r>
          </a:p>
        </p:txBody>
      </p:sp>
      <p:sp>
        <p:nvSpPr>
          <p:cNvPr id="5" name="Slide Number Placeholder 4">
            <a:extLst>
              <a:ext uri="{FF2B5EF4-FFF2-40B4-BE49-F238E27FC236}">
                <a16:creationId xmlns:a16="http://schemas.microsoft.com/office/drawing/2014/main" id="{93603850-C133-1B42-8F9D-DDA2FF39BC20}"/>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8" name="Picture 7">
            <a:extLst>
              <a:ext uri="{FF2B5EF4-FFF2-40B4-BE49-F238E27FC236}">
                <a16:creationId xmlns:a16="http://schemas.microsoft.com/office/drawing/2014/main" id="{03CC4FEE-5E4B-4648-BAD0-93AD88FDE83D}"/>
              </a:ext>
            </a:extLst>
          </p:cNvPr>
          <p:cNvPicPr>
            <a:picLocks noChangeAspect="1"/>
          </p:cNvPicPr>
          <p:nvPr/>
        </p:nvPicPr>
        <p:blipFill>
          <a:blip r:embed="rId2"/>
          <a:stretch>
            <a:fillRect/>
          </a:stretch>
        </p:blipFill>
        <p:spPr>
          <a:xfrm>
            <a:off x="2033887" y="1756041"/>
            <a:ext cx="8124226" cy="4965436"/>
          </a:xfrm>
          <a:prstGeom prst="rect">
            <a:avLst/>
          </a:prstGeom>
        </p:spPr>
      </p:pic>
    </p:spTree>
    <p:extLst>
      <p:ext uri="{BB962C8B-B14F-4D97-AF65-F5344CB8AC3E}">
        <p14:creationId xmlns:p14="http://schemas.microsoft.com/office/powerpoint/2010/main" val="2137795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FC6E9-00C8-9843-9251-F723AE8FA04B}"/>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B7882736-56D1-444D-AC5D-65EA56DDB895}"/>
              </a:ext>
            </a:extLst>
          </p:cNvPr>
          <p:cNvSpPr>
            <a:spLocks noGrp="1"/>
          </p:cNvSpPr>
          <p:nvPr>
            <p:ph sz="half" idx="1"/>
          </p:nvPr>
        </p:nvSpPr>
        <p:spPr/>
        <p:txBody>
          <a:bodyPr/>
          <a:lstStyle/>
          <a:p>
            <a:r>
              <a:rPr lang="en-US" dirty="0"/>
              <a:t>Element DP-16 was the only fuel element in which a sample was generated for analysis using SEM/EDS, in addition to the more typical OM and EPMA analyses usually performed on fuel elements</a:t>
            </a:r>
          </a:p>
          <a:p>
            <a:r>
              <a:rPr lang="en-US" dirty="0"/>
              <a:t>U-16Pu-23Zr and HT-9 cladding</a:t>
            </a:r>
          </a:p>
          <a:p>
            <a:r>
              <a:rPr lang="en-US" dirty="0"/>
              <a:t>X-ray analysis maps at the right</a:t>
            </a:r>
          </a:p>
          <a:p>
            <a:endParaRPr lang="en-US" dirty="0"/>
          </a:p>
        </p:txBody>
      </p:sp>
      <p:sp>
        <p:nvSpPr>
          <p:cNvPr id="5" name="Slide Number Placeholder 4">
            <a:extLst>
              <a:ext uri="{FF2B5EF4-FFF2-40B4-BE49-F238E27FC236}">
                <a16:creationId xmlns:a16="http://schemas.microsoft.com/office/drawing/2014/main" id="{D2796F3F-B650-5D46-B2E8-8AA1D3A287BF}"/>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6" name="Picture 5">
            <a:extLst>
              <a:ext uri="{FF2B5EF4-FFF2-40B4-BE49-F238E27FC236}">
                <a16:creationId xmlns:a16="http://schemas.microsoft.com/office/drawing/2014/main" id="{D96BE436-DEAA-094F-A5E7-4F9B9DEB1BCE}"/>
              </a:ext>
            </a:extLst>
          </p:cNvPr>
          <p:cNvPicPr>
            <a:picLocks noChangeAspect="1"/>
          </p:cNvPicPr>
          <p:nvPr/>
        </p:nvPicPr>
        <p:blipFill>
          <a:blip r:embed="rId2"/>
          <a:stretch>
            <a:fillRect/>
          </a:stretch>
        </p:blipFill>
        <p:spPr>
          <a:xfrm>
            <a:off x="609600" y="5509841"/>
            <a:ext cx="5917483" cy="274320"/>
          </a:xfrm>
          <a:prstGeom prst="rect">
            <a:avLst/>
          </a:prstGeom>
        </p:spPr>
      </p:pic>
      <p:pic>
        <p:nvPicPr>
          <p:cNvPr id="10" name="Picture 9">
            <a:extLst>
              <a:ext uri="{FF2B5EF4-FFF2-40B4-BE49-F238E27FC236}">
                <a16:creationId xmlns:a16="http://schemas.microsoft.com/office/drawing/2014/main" id="{52902A3A-2A56-3046-B53F-CDE59145D7A7}"/>
              </a:ext>
            </a:extLst>
          </p:cNvPr>
          <p:cNvPicPr>
            <a:picLocks noChangeAspect="1"/>
          </p:cNvPicPr>
          <p:nvPr/>
        </p:nvPicPr>
        <p:blipFill>
          <a:blip r:embed="rId3"/>
          <a:stretch>
            <a:fillRect/>
          </a:stretch>
        </p:blipFill>
        <p:spPr>
          <a:xfrm>
            <a:off x="7238607" y="1778930"/>
            <a:ext cx="2997985" cy="4945229"/>
          </a:xfrm>
          <a:prstGeom prst="rect">
            <a:avLst/>
          </a:prstGeom>
        </p:spPr>
      </p:pic>
      <p:sp>
        <p:nvSpPr>
          <p:cNvPr id="11" name="Rectangle 10">
            <a:extLst>
              <a:ext uri="{FF2B5EF4-FFF2-40B4-BE49-F238E27FC236}">
                <a16:creationId xmlns:a16="http://schemas.microsoft.com/office/drawing/2014/main" id="{1329AAE4-FE33-4149-904E-20FA3B58B45E}"/>
              </a:ext>
            </a:extLst>
          </p:cNvPr>
          <p:cNvSpPr/>
          <p:nvPr/>
        </p:nvSpPr>
        <p:spPr>
          <a:xfrm>
            <a:off x="10379895" y="3423762"/>
            <a:ext cx="939746" cy="1477328"/>
          </a:xfrm>
          <a:prstGeom prst="rect">
            <a:avLst/>
          </a:prstGeom>
        </p:spPr>
        <p:txBody>
          <a:bodyPr wrap="square">
            <a:spAutoFit/>
          </a:bodyPr>
          <a:lstStyle/>
          <a:p>
            <a:r>
              <a:rPr lang="en-US" dirty="0">
                <a:latin typeface="Helvetica" pitchFamily="2" charset="0"/>
              </a:rPr>
              <a:t>(b) U, (c) Pu, (d) Zr, (e) Fe, (f) Cr</a:t>
            </a:r>
            <a:endParaRPr lang="en-US" dirty="0">
              <a:effectLst/>
              <a:latin typeface="Helvetica" pitchFamily="2" charset="0"/>
            </a:endParaRPr>
          </a:p>
        </p:txBody>
      </p:sp>
    </p:spTree>
    <p:extLst>
      <p:ext uri="{BB962C8B-B14F-4D97-AF65-F5344CB8AC3E}">
        <p14:creationId xmlns:p14="http://schemas.microsoft.com/office/powerpoint/2010/main" val="3961677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CB6F7-DE44-A54E-850E-9A7F2F104817}"/>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439777E0-E28C-5749-96FE-4CB7D8E97031}"/>
              </a:ext>
            </a:extLst>
          </p:cNvPr>
          <p:cNvSpPr>
            <a:spLocks noGrp="1"/>
          </p:cNvSpPr>
          <p:nvPr>
            <p:ph sz="half" idx="1"/>
          </p:nvPr>
        </p:nvSpPr>
        <p:spPr>
          <a:xfrm>
            <a:off x="609600" y="1968503"/>
            <a:ext cx="4886972" cy="4157663"/>
          </a:xfrm>
        </p:spPr>
        <p:txBody>
          <a:bodyPr/>
          <a:lstStyle/>
          <a:p>
            <a:r>
              <a:rPr lang="en-US" dirty="0"/>
              <a:t>X-ray map for fission products</a:t>
            </a:r>
          </a:p>
          <a:p>
            <a:r>
              <a:rPr lang="en-US" dirty="0"/>
              <a:t>EPMA analysis for key species</a:t>
            </a:r>
          </a:p>
          <a:p>
            <a:r>
              <a:rPr lang="en-US" dirty="0"/>
              <a:t>Fe diffuses into the fuel, Ce and Nd diffuse into the cladding, and Pd enriches in localized areas of the fuel near the fuel–cladding interface</a:t>
            </a:r>
          </a:p>
          <a:p>
            <a:r>
              <a:rPr lang="en-US" dirty="0"/>
              <a:t>The lanthanides penetrated the farthest into the cladding (40 </a:t>
            </a:r>
            <a:r>
              <a:rPr lang="en-US" dirty="0">
                <a:latin typeface="Symbol" pitchFamily="2" charset="2"/>
              </a:rPr>
              <a:t>m</a:t>
            </a:r>
            <a:r>
              <a:rPr lang="en-US" dirty="0"/>
              <a:t>m) of any components originating in the fuel</a:t>
            </a:r>
          </a:p>
        </p:txBody>
      </p:sp>
      <p:pic>
        <p:nvPicPr>
          <p:cNvPr id="7" name="Content Placeholder 6">
            <a:extLst>
              <a:ext uri="{FF2B5EF4-FFF2-40B4-BE49-F238E27FC236}">
                <a16:creationId xmlns:a16="http://schemas.microsoft.com/office/drawing/2014/main" id="{3CDFF704-A1CA-254F-9CDC-5F1D7A663285}"/>
              </a:ext>
            </a:extLst>
          </p:cNvPr>
          <p:cNvPicPr>
            <a:picLocks noGrp="1" noChangeAspect="1"/>
          </p:cNvPicPr>
          <p:nvPr>
            <p:ph sz="half" idx="2"/>
          </p:nvPr>
        </p:nvPicPr>
        <p:blipFill>
          <a:blip r:embed="rId2"/>
          <a:stretch>
            <a:fillRect/>
          </a:stretch>
        </p:blipFill>
        <p:spPr>
          <a:xfrm>
            <a:off x="8492341" y="1881984"/>
            <a:ext cx="3403589" cy="4075904"/>
          </a:xfrm>
          <a:prstGeom prst="rect">
            <a:avLst/>
          </a:prstGeom>
        </p:spPr>
      </p:pic>
      <p:sp>
        <p:nvSpPr>
          <p:cNvPr id="5" name="Slide Number Placeholder 4">
            <a:extLst>
              <a:ext uri="{FF2B5EF4-FFF2-40B4-BE49-F238E27FC236}">
                <a16:creationId xmlns:a16="http://schemas.microsoft.com/office/drawing/2014/main" id="{3176C519-A7C9-9942-B75A-71A7388C58E5}"/>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pic>
        <p:nvPicPr>
          <p:cNvPr id="6" name="Picture 5">
            <a:extLst>
              <a:ext uri="{FF2B5EF4-FFF2-40B4-BE49-F238E27FC236}">
                <a16:creationId xmlns:a16="http://schemas.microsoft.com/office/drawing/2014/main" id="{7A831C1A-7686-994A-AC19-C311F395031E}"/>
              </a:ext>
            </a:extLst>
          </p:cNvPr>
          <p:cNvPicPr>
            <a:picLocks noChangeAspect="1"/>
          </p:cNvPicPr>
          <p:nvPr/>
        </p:nvPicPr>
        <p:blipFill>
          <a:blip r:embed="rId3"/>
          <a:stretch>
            <a:fillRect/>
          </a:stretch>
        </p:blipFill>
        <p:spPr>
          <a:xfrm>
            <a:off x="5496572" y="2371727"/>
            <a:ext cx="2927497" cy="3351214"/>
          </a:xfrm>
          <a:prstGeom prst="rect">
            <a:avLst/>
          </a:prstGeom>
        </p:spPr>
      </p:pic>
      <p:sp>
        <p:nvSpPr>
          <p:cNvPr id="8" name="Rectangle 7">
            <a:extLst>
              <a:ext uri="{FF2B5EF4-FFF2-40B4-BE49-F238E27FC236}">
                <a16:creationId xmlns:a16="http://schemas.microsoft.com/office/drawing/2014/main" id="{B77F493F-7369-9A49-8789-6E3F0D4B125F}"/>
              </a:ext>
            </a:extLst>
          </p:cNvPr>
          <p:cNvSpPr/>
          <p:nvPr/>
        </p:nvSpPr>
        <p:spPr>
          <a:xfrm>
            <a:off x="5394546" y="5755276"/>
            <a:ext cx="3063659" cy="338554"/>
          </a:xfrm>
          <a:prstGeom prst="rect">
            <a:avLst/>
          </a:prstGeom>
        </p:spPr>
        <p:txBody>
          <a:bodyPr wrap="none">
            <a:spAutoFit/>
          </a:bodyPr>
          <a:lstStyle/>
          <a:p>
            <a:r>
              <a:rPr lang="en-US" sz="1600" dirty="0">
                <a:latin typeface="Helvetica" pitchFamily="2" charset="0"/>
              </a:rPr>
              <a:t>(g) Ce, (h) Nd, (i) Ru, and (j) Pd</a:t>
            </a:r>
            <a:endParaRPr lang="en-US" sz="1600" dirty="0">
              <a:effectLst/>
              <a:latin typeface="Helvetica" pitchFamily="2" charset="0"/>
            </a:endParaRPr>
          </a:p>
        </p:txBody>
      </p:sp>
    </p:spTree>
    <p:extLst>
      <p:ext uri="{BB962C8B-B14F-4D97-AF65-F5344CB8AC3E}">
        <p14:creationId xmlns:p14="http://schemas.microsoft.com/office/powerpoint/2010/main" val="99947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6BC8-6FCB-704C-AC34-A78F5D1F01F2}"/>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6E857B11-BFC0-1741-B543-829D58113A2A}"/>
              </a:ext>
            </a:extLst>
          </p:cNvPr>
          <p:cNvSpPr>
            <a:spLocks noGrp="1"/>
          </p:cNvSpPr>
          <p:nvPr>
            <p:ph sz="half" idx="1"/>
          </p:nvPr>
        </p:nvSpPr>
        <p:spPr>
          <a:xfrm>
            <a:off x="609600" y="1968503"/>
            <a:ext cx="6579476" cy="4157663"/>
          </a:xfrm>
        </p:spPr>
        <p:txBody>
          <a:bodyPr/>
          <a:lstStyle/>
          <a:p>
            <a:r>
              <a:rPr lang="en-US" sz="2400" dirty="0"/>
              <a:t>The DP-11 fuel element was irradiated to about 10 at.% burnup at higher cladding temperatures (630–660 C), binary U-Zr</a:t>
            </a:r>
          </a:p>
          <a:p>
            <a:r>
              <a:rPr lang="en-US" sz="2400" dirty="0"/>
              <a:t>There is a 50-</a:t>
            </a:r>
            <a:r>
              <a:rPr lang="en-US" sz="2400" dirty="0">
                <a:latin typeface="Symbol" pitchFamily="2" charset="2"/>
              </a:rPr>
              <a:t>m</a:t>
            </a:r>
            <a:r>
              <a:rPr lang="en-US" sz="2400" dirty="0"/>
              <a:t>m-wide zone of the cladding that is high in Cr and low in Fe and Ni</a:t>
            </a:r>
          </a:p>
          <a:p>
            <a:r>
              <a:rPr lang="en-US" sz="2400" dirty="0"/>
              <a:t>Fe has diffused around 250 </a:t>
            </a:r>
            <a:r>
              <a:rPr lang="en-US" sz="2400" dirty="0">
                <a:latin typeface="Symbol" pitchFamily="2" charset="2"/>
              </a:rPr>
              <a:t>m</a:t>
            </a:r>
            <a:r>
              <a:rPr lang="en-US" sz="2400" dirty="0"/>
              <a:t>m into the fuel</a:t>
            </a:r>
          </a:p>
          <a:p>
            <a:r>
              <a:rPr lang="en-US" sz="2400" dirty="0"/>
              <a:t>In the cladding band containing high Cr and low Fe and Ni, lanthanide concentrations are elevated</a:t>
            </a:r>
          </a:p>
          <a:p>
            <a:endParaRPr lang="en-US" sz="2400" dirty="0"/>
          </a:p>
          <a:p>
            <a:endParaRPr lang="en-US" sz="2400" dirty="0"/>
          </a:p>
        </p:txBody>
      </p:sp>
      <p:pic>
        <p:nvPicPr>
          <p:cNvPr id="7" name="Content Placeholder 6">
            <a:extLst>
              <a:ext uri="{FF2B5EF4-FFF2-40B4-BE49-F238E27FC236}">
                <a16:creationId xmlns:a16="http://schemas.microsoft.com/office/drawing/2014/main" id="{A4EE7470-92D5-EC4F-BDA4-F4F360CC166A}"/>
              </a:ext>
            </a:extLst>
          </p:cNvPr>
          <p:cNvPicPr>
            <a:picLocks noGrp="1" noChangeAspect="1"/>
          </p:cNvPicPr>
          <p:nvPr>
            <p:ph sz="half" idx="2"/>
          </p:nvPr>
        </p:nvPicPr>
        <p:blipFill>
          <a:blip r:embed="rId2"/>
          <a:stretch>
            <a:fillRect/>
          </a:stretch>
        </p:blipFill>
        <p:spPr>
          <a:xfrm>
            <a:off x="7554553" y="1026702"/>
            <a:ext cx="3662369" cy="5238210"/>
          </a:xfrm>
          <a:prstGeom prst="rect">
            <a:avLst/>
          </a:prstGeom>
        </p:spPr>
      </p:pic>
      <p:sp>
        <p:nvSpPr>
          <p:cNvPr id="5" name="Slide Number Placeholder 4">
            <a:extLst>
              <a:ext uri="{FF2B5EF4-FFF2-40B4-BE49-F238E27FC236}">
                <a16:creationId xmlns:a16="http://schemas.microsoft.com/office/drawing/2014/main" id="{3112BB3F-F1DB-3249-B292-F86627819AD6}"/>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pic>
        <p:nvPicPr>
          <p:cNvPr id="6" name="Picture 5">
            <a:extLst>
              <a:ext uri="{FF2B5EF4-FFF2-40B4-BE49-F238E27FC236}">
                <a16:creationId xmlns:a16="http://schemas.microsoft.com/office/drawing/2014/main" id="{FDA53B95-5FAB-3F46-BDFE-7B7F50B46E25}"/>
              </a:ext>
            </a:extLst>
          </p:cNvPr>
          <p:cNvPicPr>
            <a:picLocks noChangeAspect="1"/>
          </p:cNvPicPr>
          <p:nvPr/>
        </p:nvPicPr>
        <p:blipFill>
          <a:blip r:embed="rId3"/>
          <a:stretch>
            <a:fillRect/>
          </a:stretch>
        </p:blipFill>
        <p:spPr>
          <a:xfrm>
            <a:off x="609600" y="5871669"/>
            <a:ext cx="6960946" cy="172435"/>
          </a:xfrm>
          <a:prstGeom prst="rect">
            <a:avLst/>
          </a:prstGeom>
        </p:spPr>
      </p:pic>
    </p:spTree>
    <p:extLst>
      <p:ext uri="{BB962C8B-B14F-4D97-AF65-F5344CB8AC3E}">
        <p14:creationId xmlns:p14="http://schemas.microsoft.com/office/powerpoint/2010/main" val="516022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DCB8-B46E-4C48-A5E8-127FC39B85C2}"/>
              </a:ext>
            </a:extLst>
          </p:cNvPr>
          <p:cNvSpPr>
            <a:spLocks noGrp="1"/>
          </p:cNvSpPr>
          <p:nvPr>
            <p:ph type="title"/>
          </p:nvPr>
        </p:nvSpPr>
        <p:spPr/>
        <p:txBody>
          <a:bodyPr/>
          <a:lstStyle/>
          <a:p>
            <a:r>
              <a:rPr lang="en-US" dirty="0"/>
              <a:t>FCCI </a:t>
            </a:r>
          </a:p>
        </p:txBody>
      </p:sp>
      <p:sp>
        <p:nvSpPr>
          <p:cNvPr id="3" name="Content Placeholder 2">
            <a:extLst>
              <a:ext uri="{FF2B5EF4-FFF2-40B4-BE49-F238E27FC236}">
                <a16:creationId xmlns:a16="http://schemas.microsoft.com/office/drawing/2014/main" id="{08C8C4A5-FB2E-6E48-9205-484356B68440}"/>
              </a:ext>
            </a:extLst>
          </p:cNvPr>
          <p:cNvSpPr>
            <a:spLocks noGrp="1"/>
          </p:cNvSpPr>
          <p:nvPr>
            <p:ph sz="half" idx="1"/>
          </p:nvPr>
        </p:nvSpPr>
        <p:spPr/>
        <p:txBody>
          <a:bodyPr/>
          <a:lstStyle/>
          <a:p>
            <a:r>
              <a:rPr lang="en-US" dirty="0"/>
              <a:t>A variety of phases have been observed to form locally where swelled fuel has contacted the cladding</a:t>
            </a:r>
          </a:p>
          <a:p>
            <a:r>
              <a:rPr lang="en-US" dirty="0"/>
              <a:t>At the interface between the fuel and the cladding, the observed phases on both sides combine the cladding elements Fe, Ni, and Cr with the fuel components U, Zr, and Pu and the lanthanide fission products</a:t>
            </a:r>
          </a:p>
          <a:p>
            <a:endParaRPr lang="en-US" dirty="0"/>
          </a:p>
          <a:p>
            <a:endParaRPr lang="en-US" dirty="0"/>
          </a:p>
        </p:txBody>
      </p:sp>
      <p:sp>
        <p:nvSpPr>
          <p:cNvPr id="4" name="Content Placeholder 3">
            <a:extLst>
              <a:ext uri="{FF2B5EF4-FFF2-40B4-BE49-F238E27FC236}">
                <a16:creationId xmlns:a16="http://schemas.microsoft.com/office/drawing/2014/main" id="{DDDACF29-A588-494D-8F73-C1F16A4D4F99}"/>
              </a:ext>
            </a:extLst>
          </p:cNvPr>
          <p:cNvSpPr>
            <a:spLocks noGrp="1"/>
          </p:cNvSpPr>
          <p:nvPr>
            <p:ph sz="half" idx="2"/>
          </p:nvPr>
        </p:nvSpPr>
        <p:spPr/>
        <p:txBody>
          <a:bodyPr/>
          <a:lstStyle/>
          <a:p>
            <a:r>
              <a:rPr lang="en-US" dirty="0"/>
              <a:t>In the cladding, the developed phases are enriched with cladding components, and they contain differing amounts of the primary fuel components and fission product components</a:t>
            </a:r>
          </a:p>
          <a:p>
            <a:r>
              <a:rPr lang="en-US" dirty="0"/>
              <a:t>Lanthanides penetrate farthest into the cladding, specifically Ce and Nd</a:t>
            </a:r>
          </a:p>
          <a:p>
            <a:r>
              <a:rPr lang="en-US" dirty="0"/>
              <a:t>Fe and Ni depletion zones are observed in all the fuel elements</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303B83D5-54D0-8A49-A37A-C02A42F037E1}"/>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3341281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DCB8-B46E-4C48-A5E8-127FC39B85C2}"/>
              </a:ext>
            </a:extLst>
          </p:cNvPr>
          <p:cNvSpPr>
            <a:spLocks noGrp="1"/>
          </p:cNvSpPr>
          <p:nvPr>
            <p:ph type="title"/>
          </p:nvPr>
        </p:nvSpPr>
        <p:spPr/>
        <p:txBody>
          <a:bodyPr/>
          <a:lstStyle/>
          <a:p>
            <a:pPr algn="l"/>
            <a:r>
              <a:rPr lang="en-US" dirty="0"/>
              <a:t>FCCI </a:t>
            </a:r>
          </a:p>
        </p:txBody>
      </p:sp>
      <p:sp>
        <p:nvSpPr>
          <p:cNvPr id="3" name="Content Placeholder 2">
            <a:extLst>
              <a:ext uri="{FF2B5EF4-FFF2-40B4-BE49-F238E27FC236}">
                <a16:creationId xmlns:a16="http://schemas.microsoft.com/office/drawing/2014/main" id="{08C8C4A5-FB2E-6E48-9205-484356B68440}"/>
              </a:ext>
            </a:extLst>
          </p:cNvPr>
          <p:cNvSpPr>
            <a:spLocks noGrp="1"/>
          </p:cNvSpPr>
          <p:nvPr>
            <p:ph sz="half" idx="1"/>
          </p:nvPr>
        </p:nvSpPr>
        <p:spPr>
          <a:xfrm>
            <a:off x="609599" y="1968503"/>
            <a:ext cx="5486401" cy="4157663"/>
          </a:xfrm>
        </p:spPr>
        <p:txBody>
          <a:bodyPr/>
          <a:lstStyle/>
          <a:p>
            <a:r>
              <a:rPr lang="en-US" dirty="0"/>
              <a:t>In the fuel, some phases are observed that are enriched with the fuel constituents and contain Fe or Ni as the major nonfuel or components</a:t>
            </a:r>
          </a:p>
          <a:p>
            <a:r>
              <a:rPr lang="en-US" dirty="0"/>
              <a:t>Other phases are observed that primarily contain lanthanides</a:t>
            </a:r>
          </a:p>
          <a:p>
            <a:r>
              <a:rPr lang="en-US" dirty="0"/>
              <a:t>The interaction zone formation is localized</a:t>
            </a:r>
          </a:p>
          <a:p>
            <a:r>
              <a:rPr lang="en-US" dirty="0"/>
              <a:t>Other phases form on the cladding side, often a (</a:t>
            </a:r>
            <a:r>
              <a:rPr lang="en-US" dirty="0" err="1"/>
              <a:t>Fe,Cr</a:t>
            </a:r>
            <a:r>
              <a:rPr lang="en-US" dirty="0"/>
              <a:t>)17(</a:t>
            </a:r>
            <a:r>
              <a:rPr lang="en-US" dirty="0" err="1"/>
              <a:t>Nd,Ce,La</a:t>
            </a:r>
            <a:r>
              <a:rPr lang="en-US" dirty="0"/>
              <a:t>)2 type phase</a:t>
            </a:r>
          </a:p>
        </p:txBody>
      </p:sp>
      <p:pic>
        <p:nvPicPr>
          <p:cNvPr id="6" name="Content Placeholder 5">
            <a:extLst>
              <a:ext uri="{FF2B5EF4-FFF2-40B4-BE49-F238E27FC236}">
                <a16:creationId xmlns:a16="http://schemas.microsoft.com/office/drawing/2014/main" id="{47AF267C-60BA-664A-8071-C54C3BE46979}"/>
              </a:ext>
            </a:extLst>
          </p:cNvPr>
          <p:cNvPicPr>
            <a:picLocks noGrp="1" noChangeAspect="1"/>
          </p:cNvPicPr>
          <p:nvPr>
            <p:ph sz="half" idx="2"/>
          </p:nvPr>
        </p:nvPicPr>
        <p:blipFill>
          <a:blip r:embed="rId2"/>
          <a:stretch>
            <a:fillRect/>
          </a:stretch>
        </p:blipFill>
        <p:spPr>
          <a:xfrm>
            <a:off x="6355255" y="4273877"/>
            <a:ext cx="5384800" cy="1747034"/>
          </a:xfrm>
          <a:prstGeom prst="rect">
            <a:avLst/>
          </a:prstGeom>
        </p:spPr>
      </p:pic>
      <p:sp>
        <p:nvSpPr>
          <p:cNvPr id="5" name="Slide Number Placeholder 4">
            <a:extLst>
              <a:ext uri="{FF2B5EF4-FFF2-40B4-BE49-F238E27FC236}">
                <a16:creationId xmlns:a16="http://schemas.microsoft.com/office/drawing/2014/main" id="{303B83D5-54D0-8A49-A37A-C02A42F037E1}"/>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pic>
        <p:nvPicPr>
          <p:cNvPr id="9" name="Picture 8">
            <a:extLst>
              <a:ext uri="{FF2B5EF4-FFF2-40B4-BE49-F238E27FC236}">
                <a16:creationId xmlns:a16="http://schemas.microsoft.com/office/drawing/2014/main" id="{219E7262-CFBE-2895-5C37-DF3402851BEC}"/>
              </a:ext>
            </a:extLst>
          </p:cNvPr>
          <p:cNvPicPr>
            <a:picLocks noChangeAspect="1"/>
          </p:cNvPicPr>
          <p:nvPr/>
        </p:nvPicPr>
        <p:blipFill>
          <a:blip r:embed="rId3"/>
          <a:stretch>
            <a:fillRect/>
          </a:stretch>
        </p:blipFill>
        <p:spPr>
          <a:xfrm>
            <a:off x="7945822" y="772408"/>
            <a:ext cx="2646088" cy="3278567"/>
          </a:xfrm>
          <a:prstGeom prst="rect">
            <a:avLst/>
          </a:prstGeom>
        </p:spPr>
      </p:pic>
    </p:spTree>
    <p:extLst>
      <p:ext uri="{BB962C8B-B14F-4D97-AF65-F5344CB8AC3E}">
        <p14:creationId xmlns:p14="http://schemas.microsoft.com/office/powerpoint/2010/main" val="4106697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3240-0CB0-E249-A883-8A772C21EC02}"/>
              </a:ext>
            </a:extLst>
          </p:cNvPr>
          <p:cNvSpPr>
            <a:spLocks noGrp="1"/>
          </p:cNvSpPr>
          <p:nvPr>
            <p:ph type="title"/>
          </p:nvPr>
        </p:nvSpPr>
        <p:spPr/>
        <p:txBody>
          <a:bodyPr/>
          <a:lstStyle/>
          <a:p>
            <a:r>
              <a:rPr lang="en-US" dirty="0"/>
              <a:t>Melting Experiments</a:t>
            </a:r>
          </a:p>
        </p:txBody>
      </p:sp>
      <p:sp>
        <p:nvSpPr>
          <p:cNvPr id="3" name="Content Placeholder 2">
            <a:extLst>
              <a:ext uri="{FF2B5EF4-FFF2-40B4-BE49-F238E27FC236}">
                <a16:creationId xmlns:a16="http://schemas.microsoft.com/office/drawing/2014/main" id="{9623DC57-DCE3-AF4D-9490-6DE57B5D8ED2}"/>
              </a:ext>
            </a:extLst>
          </p:cNvPr>
          <p:cNvSpPr>
            <a:spLocks noGrp="1"/>
          </p:cNvSpPr>
          <p:nvPr>
            <p:ph sz="half" idx="1"/>
          </p:nvPr>
        </p:nvSpPr>
        <p:spPr>
          <a:xfrm>
            <a:off x="609600" y="1968503"/>
            <a:ext cx="6936828" cy="4157663"/>
          </a:xfrm>
        </p:spPr>
        <p:txBody>
          <a:bodyPr/>
          <a:lstStyle/>
          <a:p>
            <a:r>
              <a:rPr lang="en-US" sz="2200" dirty="0"/>
              <a:t>One potentially significant impact that the presence of FCCI zones is the melting of phases inside the cladding</a:t>
            </a:r>
          </a:p>
          <a:p>
            <a:r>
              <a:rPr lang="en-US" sz="2200" dirty="0"/>
              <a:t>This will limit the allowable coolant temperature that can be used for the reactor, and can become more important when considering transients and accidents</a:t>
            </a:r>
          </a:p>
          <a:p>
            <a:r>
              <a:rPr lang="en-US" sz="2200" dirty="0"/>
              <a:t>This illustrates the effect of the relatively low quantities of Fe required to cause melting on the uranium-rich side of the U–Fe phase diagram</a:t>
            </a:r>
          </a:p>
          <a:p>
            <a:r>
              <a:rPr lang="en-US" sz="2200" dirty="0"/>
              <a:t>In general, no liquid phase formation is observed below heating at 700C</a:t>
            </a:r>
          </a:p>
        </p:txBody>
      </p:sp>
      <p:pic>
        <p:nvPicPr>
          <p:cNvPr id="6" name="Content Placeholder 5">
            <a:extLst>
              <a:ext uri="{FF2B5EF4-FFF2-40B4-BE49-F238E27FC236}">
                <a16:creationId xmlns:a16="http://schemas.microsoft.com/office/drawing/2014/main" id="{DDD21B83-3F3A-B34D-9E79-DE8B6F09854A}"/>
              </a:ext>
            </a:extLst>
          </p:cNvPr>
          <p:cNvPicPr>
            <a:picLocks noGrp="1" noChangeAspect="1"/>
          </p:cNvPicPr>
          <p:nvPr>
            <p:ph sz="half" idx="2"/>
          </p:nvPr>
        </p:nvPicPr>
        <p:blipFill>
          <a:blip r:embed="rId2"/>
          <a:stretch>
            <a:fillRect/>
          </a:stretch>
        </p:blipFill>
        <p:spPr>
          <a:xfrm>
            <a:off x="8106958" y="1190383"/>
            <a:ext cx="2729207" cy="5068528"/>
          </a:xfrm>
          <a:prstGeom prst="rect">
            <a:avLst/>
          </a:prstGeom>
        </p:spPr>
      </p:pic>
      <p:sp>
        <p:nvSpPr>
          <p:cNvPr id="5" name="Slide Number Placeholder 4">
            <a:extLst>
              <a:ext uri="{FF2B5EF4-FFF2-40B4-BE49-F238E27FC236}">
                <a16:creationId xmlns:a16="http://schemas.microsoft.com/office/drawing/2014/main" id="{E058E98D-8D96-8541-A62B-5D0B329EE0F1}"/>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2403285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AB3C08B6-1600-4947-B6F4-BC6C06F3B322}"/>
              </a:ext>
            </a:extLst>
          </p:cNvPr>
          <p:cNvSpPr>
            <a:spLocks noGrp="1"/>
          </p:cNvSpPr>
          <p:nvPr>
            <p:ph type="sldNum" sz="quarter" idx="12"/>
          </p:nvPr>
        </p:nvSpPr>
        <p:spPr/>
        <p:txBody>
          <a:bodyPr/>
          <a:lstStyle/>
          <a:p>
            <a:pPr>
              <a:defRPr/>
            </a:pPr>
            <a:fld id="{0DA6BD0F-ABBC-C14D-BC96-77BE126A748B}" type="slidenum">
              <a:rPr lang="en-US" smtClean="0"/>
              <a:pPr>
                <a:defRPr/>
              </a:pPr>
              <a:t>26</a:t>
            </a:fld>
            <a:endParaRPr lang="en-US"/>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Lec11_SFRs</Template>
  <TotalTime>36733</TotalTime>
  <Words>2092</Words>
  <Application>Microsoft Macintosh PowerPoint</Application>
  <PresentationFormat>Widescreen</PresentationFormat>
  <Paragraphs>165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Helvetica</vt:lpstr>
      <vt:lpstr>Symbol</vt:lpstr>
      <vt:lpstr>1_NCStateU-horizontal-left-logo</vt:lpstr>
      <vt:lpstr>NE 763: Advanced Reactor Materials</vt:lpstr>
      <vt:lpstr>Last Time</vt:lpstr>
      <vt:lpstr>Fission-Induced Creep</vt:lpstr>
      <vt:lpstr>Solid Fission Product Swelling</vt:lpstr>
      <vt:lpstr>Solid Fission Product Swelling</vt:lpstr>
      <vt:lpstr>Solid Fission Product Swelling</vt:lpstr>
      <vt:lpstr>Solid Fission Product Swelling</vt:lpstr>
      <vt:lpstr>Fuel-Cladding Chemical Interaction</vt:lpstr>
      <vt:lpstr>Fuel-Cladding Chemical Interaction</vt:lpstr>
      <vt:lpstr>Phase Diagrams for FCCI</vt:lpstr>
      <vt:lpstr>Phase Diagrams for FCCI</vt:lpstr>
      <vt:lpstr>Phase Diagrams for FCCI</vt:lpstr>
      <vt:lpstr>Diffusion Couples</vt:lpstr>
      <vt:lpstr>Protective Rind</vt:lpstr>
      <vt:lpstr>FCCI</vt:lpstr>
      <vt:lpstr>FCCI</vt:lpstr>
      <vt:lpstr>FCCI</vt:lpstr>
      <vt:lpstr>FCCI Compositions</vt:lpstr>
      <vt:lpstr>FCCI Examinations</vt:lpstr>
      <vt:lpstr>FCCI Compositions</vt:lpstr>
      <vt:lpstr>FCCI Compositions</vt:lpstr>
      <vt:lpstr>FCCI Compositions</vt:lpstr>
      <vt:lpstr>FCCI </vt:lpstr>
      <vt:lpstr>FCCI </vt:lpstr>
      <vt:lpstr>Melting Experiments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129</cp:revision>
  <dcterms:created xsi:type="dcterms:W3CDTF">2019-12-09T16:44:02Z</dcterms:created>
  <dcterms:modified xsi:type="dcterms:W3CDTF">2026-09-15T19:03:21Z</dcterms:modified>
</cp:coreProperties>
</file>
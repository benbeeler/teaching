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72" r:id="rId1"/>
  </p:sldMasterIdLst>
  <p:notesMasterIdLst>
    <p:notesMasterId r:id="rId32"/>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583"/>
    <p:restoredTop sz="96654"/>
  </p:normalViewPr>
  <p:slideViewPr>
    <p:cSldViewPr snapToGrid="0" snapToObjects="1">
      <p:cViewPr varScale="1">
        <p:scale>
          <a:sx n="108" d="100"/>
          <a:sy n="108" d="100"/>
        </p:scale>
        <p:origin x="208" y="20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32" Type="http://schemas.openxmlformats.org/officeDocument/2006/relationships/notesMaster" Target="notesMasters/notesMaster1.xml"/><Relationship Id="rId33" Type="http://schemas.openxmlformats.org/officeDocument/2006/relationships/presProps" Target="presProps.xml"/><Relationship Id="rId34" Type="http://schemas.openxmlformats.org/officeDocument/2006/relationships/viewProps" Target="viewProps.xml"/><Relationship Id="rId35" Type="http://schemas.openxmlformats.org/officeDocument/2006/relationships/theme" Target="theme/theme1.xml"/><Relationship Id="rId36"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AEA7AB5-A096-4041-939A-1D17EC86292D}" type="datetimeFigureOut">
              <a:rPr lang="en-US" smtClean="0"/>
              <a:t>11/18/25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DFF51EB-4615-374C-8EA3-C922CD2CA243}" type="slidenum">
              <a:rPr lang="en-US" smtClean="0"/>
              <a:t>‹#›</a:t>
            </a:fld>
            <a:endParaRPr lang="en-US"/>
          </a:p>
        </p:txBody>
      </p:sp>
    </p:spTree>
    <p:extLst>
      <p:ext uri="{BB962C8B-B14F-4D97-AF65-F5344CB8AC3E}">
        <p14:creationId xmlns:p14="http://schemas.microsoft.com/office/powerpoint/2010/main" val="8935696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Supplement to Lectures 18-20. Three insert blocks: (1) one slide on fabrication and joining, to follow the ODS material in Lec 19; (2) an 11-slide block on radiation-resistant austenitic steels, which fits between the 'need for advanced cladding' slides and F/M steels in Lec 18, or as its own lecture; (3) two slides on CALPHAD and machine-learning design of HEAs for the HEA material in Lec 19-20. Numbered sources are on the final three slides.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Point: the properties in the ODS lecture exist only if fabrication preserves the nanoscale oxides. Tube route and texture: Salliot et al. 2024 (CEA Fe-14Cr ODS; the 1350 C no-recrystallization result is from that one study, not a general rule). For 9Cr martensitic ODS, the alpha-gamma phase transformation offers a way to reset the elongated grains. Joining: fusion welding causes flocculation and agglomeration of the yttria, so end-plug closures use solid-state methods. INL PRW work (Jerred et al. 2010) joined MA957 to HT-9 and noted failures at 575 C and above. Upset welding (Doyen et al. 2019): dynamic recrystallization changes grain morphology, but precipitates change little. AM: cooling rates quoted from a 2025 review; L-PBF is the most promising because of faster cooling.</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Positioning: Lec 18 opened with why 304/316 fail (void swelling). This block covers the other response: fixing the austenitics instead of replacing them with F/M steels.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Cladding temperatures up to ~650 C: Griffiths 2021 review. Reactor experience: FFTF/EBR-II (316, D9), Phénix (15-15Ti), BN-600 (ChS-68 and predecessors), FBTR (D9 test subassembly for PFBR). The limits column previews the rest of the block.</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Liu et al. (2024) list ChS-68, D9, D9I, DIN 1.4970 and JPCA as alloys similar to 15-15Ti. Exact compositions differ by program; I have not put a composition table here because I did not verify each grade's specification. Add from your own references if you want one.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figure is a schematic, not data. Chung (NUREG/CR-6897, 2006) gives the 1%/dpa rule of thumb, observed above about 425 C, with no evidence of it below 380 C. Liu et al. (2024) ion-irradiated 20% CW 15-15Ti at 580 C to 400 dpa; the steady-state rate stayed near 1%/dpa. Dose-rate nuance: Chung says dose and dose-rate effects cannot be separated. Allen et al. (1999) found no statistically significant effect for 2-3x dose-rate differences in 12% CW 316, though the lower-rate samples swelled somewhat more. So present the dose-rate effect as real but debated in magnitude.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'Limit' card summarizes the widely reported evolution of the dislocation network toward a steady state under irradiation. It is textbook material rather than something tied to one reference here; cite your preferred review (for example Garner's) if students ask.</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Ni: Griffiths (2021) shows the swelling minimum in the 30-50% Ni range for Fe-15Cr-Ni ternaries near 100 dpa, depending on temperature; this is why cladding steels raise Ni above 316 levels. Phosphorus: Garner and Mitchell (1992) is a good example of a non-monotonic solute effect. Boron in ChS-68: Porollo et al. (2009) say boron 'potentially' contributes, so present it as a hypothesis.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Kesternich, Matta and Rothaut (1984): after suitable pre-treatment, DIN 1.4970 with dispersed TiC outperformed 316 in strength, ductility and resistance to He embrittlement in He-implanted creep tests. The ODS link is a teaching bridge: the same 'stable nanoscale feature' principle works across matrices.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RIS in Fe-Cr-Ni: Cr depletes and Ni enriches at grain boundaries, more so as bulk Ni rises (Allen, Cole, Was, Kenik 2002). Si, an undersized solute, also enriches at sinks. The 1978 J. Nucl. Mater. paper's title states the link: swelling as a consequence of gamma-prime and M23(C,Si)6 formation in 316. Porollo, Konobeev and Garner (2009) found swelling onset coincided with G-phase formation in ChS-68. They attributed ChS-68's advantage over EI-847 mainly to more stable faulted loops, possibly helped by boron.</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FFTF (1986 conference paper): 316 swelling was temperature-independent above about 490 C, and D9 outperformed 316 on swelling. FBTR (Karthik et al. 2022): D9 test subassembly with 37 MOX pins, 112 GWd/t peak burnup, 40-62 dpa. PFBR's initial target is 100 GWd/t, about 85 dpa. Ion data (Liu et al. 2024) are not a substitute for neutron data but show that the steady-state rate does not drop at very high dose.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connects the Ni-alloy slides in Lec 20 (Ni transmutation, He generation) to the austenitic cladding story: the Ni lever from the composition slide has a helium cost. Griffiths (2021) notes that He promotes void swelling at high temperature and forms dense bubble populations at low temperature.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HT-UPS: Maziasz (2018, JOM) reviews ORNL's precipitate-engineered austenitics; HT-UPS came from fast breeder and fusion work and won an R&amp;D 100 award in 1990. Alloy 709: composition and properties from Sham and McMurtrey (INL, 2021); the 100,000-hour Class A design data were completed in 2024, with 300,000 and 500,000-hour work ongoing (Wang et al. 2025). It is a vessel and internals material for SFRs, not cladding. AFA in Pb: Ejenstam and Szakalos (2015), one-year exposure at 550 C with very low oxygen; lowering Ni avoided dissolution attack.</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Good exam prompt: given a coolant, peak cladding temperature and target dose, choose between a Ti-modified austenitic and an F/M or ODS steel, and justify with swelling incubation, DBTT and creep.</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Insert after the HEA introduction in Lec 19-20.</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Senkov, Miller, Miracle and Woodward (Nat. Commun. 2015) ran 134,547 phase-diagram calculations for 3- to 6-component systems. They kept only those where every binary had a complete database description (f_AB = 1). The fraction of single-phase solid-solution alloys fell from 16% (3-component) to 1.2% (6-component), against the original HEA entropy argument. Li et al. (Intermetallics 2026) combined a random-forest strength model with CALPHAD constraints to design Zr-rich refractory alloys with low neutron absorption. Al acted as a 'compatibilizer' suppressing the Zr-Nb miscibility gap. The authors note irradiation behavior still needs evaluation.</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Four roles for ML. (1) Zhou et al. 2019 (npj Comput. Mater.): classifiers for solid solution, intermetallic and amorphous phases; high accuracy, but a 601-alloy dataset is small and biased toward published alloys. (2) Li et al. 2026: ML supplies a property model that CALPHAD cannot, and CALPHAD supplies phase stability that the ML cannot. (3) Rao et al. 2022 (Science): not a nuclear alloy, but the clearest example of a closed discovery loop. (4) Liu, Byggmästar et al. 2025 (J. Nucl. Mater.): machine-learned potentials make DFT-quality cascade simulations in 5-component alloys practical. The 'Gap' statement is my synthesis for discussion, not a quote from these papers.</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Click a reference to open the source.</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Click a reference to open the source.</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Click a reference to open the source.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8"/>
            <a:ext cx="10363200" cy="1470025"/>
          </a:xfrm>
        </p:spPr>
        <p:txBody>
          <a:bodyPr/>
          <a:lstStyle/>
          <a:p>
            <a:r>
              <a:rPr lang="en-US"/>
              <a:t>Click to edit Master title style</a:t>
            </a:r>
            <a:endParaRPr lang="en-US" dirty="0"/>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lvl1pPr>
              <a:defRPr/>
            </a:lvl1pPr>
          </a:lstStyle>
          <a:p>
            <a:pPr>
              <a:defRPr/>
            </a:pPr>
            <a:fld id="{B94AA4F1-E60E-ED49-8C20-82C5C22F290D}" type="datetime1">
              <a:rPr lang="en-US" smtClean="0"/>
              <a:t>11/18/25</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01E82176-A547-F94B-AC51-D6E9C882CB88}" type="slidenum">
              <a:rPr lang="en-US"/>
              <a:pPr>
                <a:defRPr/>
              </a:pPr>
              <a:t>‹#›</a:t>
            </a:fld>
            <a:endParaRPr lang="en-US"/>
          </a:p>
        </p:txBody>
      </p:sp>
    </p:spTree>
    <p:extLst>
      <p:ext uri="{BB962C8B-B14F-4D97-AF65-F5344CB8AC3E}">
        <p14:creationId xmlns:p14="http://schemas.microsoft.com/office/powerpoint/2010/main" val="270244320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l">
              <a:defRPr sz="3200"/>
            </a:lvl1pPr>
          </a:lstStyle>
          <a:p>
            <a:r>
              <a:rPr lang="en-US"/>
              <a:t>Click to edit Master title style</a:t>
            </a:r>
            <a:endParaRPr lang="en-US" dirty="0"/>
          </a:p>
        </p:txBody>
      </p:sp>
      <p:sp>
        <p:nvSpPr>
          <p:cNvPr id="3" name="Content Placeholder 2"/>
          <p:cNvSpPr>
            <a:spLocks noGrp="1"/>
          </p:cNvSpPr>
          <p:nvPr>
            <p:ph idx="1"/>
          </p:nvPr>
        </p:nvSpPr>
        <p:spPr>
          <a:xfrm>
            <a:off x="609600" y="1968500"/>
            <a:ext cx="10972800" cy="4157664"/>
          </a:xfrm>
        </p:spPr>
        <p:txBody>
          <a:bodyPr/>
          <a:lstStyle>
            <a:lvl1pPr>
              <a:defRPr sz="2000"/>
            </a:lvl1pPr>
            <a:lvl2pPr>
              <a:defRPr sz="2000"/>
            </a:lvl2pPr>
            <a:lvl3pPr>
              <a:defRPr sz="2000"/>
            </a:lvl3pPr>
            <a:lvl4pPr>
              <a:defRPr sz="2000"/>
            </a:lvl4pPr>
            <a:lvl5pPr>
              <a:defRPr sz="200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lvl1pPr>
              <a:defRPr/>
            </a:lvl1pPr>
          </a:lstStyle>
          <a:p>
            <a:pPr>
              <a:defRPr/>
            </a:pPr>
            <a:fld id="{1BD2A092-D95B-2F45-9AE1-6EFCF7AE7B47}" type="datetime1">
              <a:rPr lang="en-US" smtClean="0"/>
              <a:t>11/18/25</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3FF2C605-4958-CF43-AA48-80339EFDB0AF}" type="slidenum">
              <a:rPr lang="en-US"/>
              <a:pPr>
                <a:defRPr/>
              </a:pPr>
              <a:t>‹#›</a:t>
            </a:fld>
            <a:endParaRPr lang="en-US"/>
          </a:p>
        </p:txBody>
      </p:sp>
    </p:spTree>
    <p:extLst>
      <p:ext uri="{BB962C8B-B14F-4D97-AF65-F5344CB8AC3E}">
        <p14:creationId xmlns:p14="http://schemas.microsoft.com/office/powerpoint/2010/main" val="143515131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1380751"/>
            <a:ext cx="10363200" cy="1362075"/>
          </a:xfrm>
        </p:spPr>
        <p:txBody>
          <a:bodyPr anchor="t"/>
          <a:lstStyle>
            <a:lvl1pPr algn="l">
              <a:defRPr sz="5333" b="1" cap="all"/>
            </a:lvl1pPr>
          </a:lstStyle>
          <a:p>
            <a:r>
              <a:rPr lang="en-US"/>
              <a:t>Click to edit Master title style</a:t>
            </a:r>
            <a:endParaRPr lang="en-US" dirty="0"/>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667">
                <a:solidFill>
                  <a:schemeClr val="tx1">
                    <a:tint val="75000"/>
                  </a:schemeClr>
                </a:solidFill>
              </a:defRPr>
            </a:lvl1pPr>
            <a:lvl2pPr marL="609585" indent="0">
              <a:buNone/>
              <a:defRPr sz="2400">
                <a:solidFill>
                  <a:schemeClr val="tx1">
                    <a:tint val="75000"/>
                  </a:schemeClr>
                </a:solidFill>
              </a:defRPr>
            </a:lvl2pPr>
            <a:lvl3pPr marL="1219170" indent="0">
              <a:buNone/>
              <a:defRPr sz="2133">
                <a:solidFill>
                  <a:schemeClr val="tx1">
                    <a:tint val="75000"/>
                  </a:schemeClr>
                </a:solidFill>
              </a:defRPr>
            </a:lvl3pPr>
            <a:lvl4pPr marL="1828754" indent="0">
              <a:buNone/>
              <a:defRPr sz="1867">
                <a:solidFill>
                  <a:schemeClr val="tx1">
                    <a:tint val="75000"/>
                  </a:schemeClr>
                </a:solidFill>
              </a:defRPr>
            </a:lvl4pPr>
            <a:lvl5pPr marL="2438339" indent="0">
              <a:buNone/>
              <a:defRPr sz="1867">
                <a:solidFill>
                  <a:schemeClr val="tx1">
                    <a:tint val="75000"/>
                  </a:schemeClr>
                </a:solidFill>
              </a:defRPr>
            </a:lvl5pPr>
            <a:lvl6pPr marL="3047924" indent="0">
              <a:buNone/>
              <a:defRPr sz="1867">
                <a:solidFill>
                  <a:schemeClr val="tx1">
                    <a:tint val="75000"/>
                  </a:schemeClr>
                </a:solidFill>
              </a:defRPr>
            </a:lvl6pPr>
            <a:lvl7pPr marL="3657509" indent="0">
              <a:buNone/>
              <a:defRPr sz="1867">
                <a:solidFill>
                  <a:schemeClr val="tx1">
                    <a:tint val="75000"/>
                  </a:schemeClr>
                </a:solidFill>
              </a:defRPr>
            </a:lvl7pPr>
            <a:lvl8pPr marL="4267093" indent="0">
              <a:buNone/>
              <a:defRPr sz="1867">
                <a:solidFill>
                  <a:schemeClr val="tx1">
                    <a:tint val="75000"/>
                  </a:schemeClr>
                </a:solidFill>
              </a:defRPr>
            </a:lvl8pPr>
            <a:lvl9pPr marL="4876678" indent="0">
              <a:buNone/>
              <a:defRPr sz="1867">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lvl1pPr>
              <a:defRPr/>
            </a:lvl1pPr>
          </a:lstStyle>
          <a:p>
            <a:pPr>
              <a:defRPr/>
            </a:pPr>
            <a:fld id="{F3B8BFC1-C5A3-FC42-B47E-2330D93F4E7B}" type="datetime1">
              <a:rPr lang="en-US" smtClean="0"/>
              <a:t>11/18/25</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0DA6BD0F-ABBC-C14D-BC96-77BE126A748B}" type="slidenum">
              <a:rPr lang="en-US"/>
              <a:pPr>
                <a:defRPr/>
              </a:pPr>
              <a:t>‹#›</a:t>
            </a:fld>
            <a:endParaRPr lang="en-US"/>
          </a:p>
        </p:txBody>
      </p:sp>
    </p:spTree>
    <p:extLst>
      <p:ext uri="{BB962C8B-B14F-4D97-AF65-F5344CB8AC3E}">
        <p14:creationId xmlns:p14="http://schemas.microsoft.com/office/powerpoint/2010/main" val="392142593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l">
              <a:defRPr sz="3200"/>
            </a:lvl1pPr>
          </a:lstStyle>
          <a:p>
            <a:r>
              <a:rPr lang="en-US"/>
              <a:t>Click to edit Master title style</a:t>
            </a:r>
          </a:p>
        </p:txBody>
      </p:sp>
      <p:sp>
        <p:nvSpPr>
          <p:cNvPr id="3" name="Content Placeholder 2"/>
          <p:cNvSpPr>
            <a:spLocks noGrp="1"/>
          </p:cNvSpPr>
          <p:nvPr>
            <p:ph sz="half" idx="1"/>
          </p:nvPr>
        </p:nvSpPr>
        <p:spPr>
          <a:xfrm>
            <a:off x="609600" y="1968503"/>
            <a:ext cx="5384800" cy="4157663"/>
          </a:xfrm>
        </p:spPr>
        <p:txBody>
          <a:bodyPr/>
          <a:lstStyle>
            <a:lvl1pPr>
              <a:defRPr sz="2000"/>
            </a:lvl1pPr>
            <a:lvl2pPr>
              <a:defRPr sz="2000"/>
            </a:lvl2pPr>
            <a:lvl3pPr>
              <a:defRPr sz="2000"/>
            </a:lvl3pPr>
            <a:lvl4pPr>
              <a:defRPr sz="2000"/>
            </a:lvl4pPr>
            <a:lvl5pPr>
              <a:defRPr sz="2000"/>
            </a:lvl5pPr>
            <a:lvl6pPr>
              <a:defRPr sz="2400"/>
            </a:lvl6pPr>
            <a:lvl7pPr>
              <a:defRPr sz="2400"/>
            </a:lvl7pPr>
            <a:lvl8pPr>
              <a:defRPr sz="2400"/>
            </a:lvl8pPr>
            <a:lvl9pPr>
              <a:defRPr sz="24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97600" y="1968503"/>
            <a:ext cx="5384800" cy="4157663"/>
          </a:xfrm>
        </p:spPr>
        <p:txBody>
          <a:bodyPr/>
          <a:lstStyle>
            <a:lvl1pPr>
              <a:defRPr sz="2000"/>
            </a:lvl1pPr>
            <a:lvl2pPr>
              <a:defRPr sz="2000"/>
            </a:lvl2pPr>
            <a:lvl3pPr>
              <a:defRPr sz="2000"/>
            </a:lvl3pPr>
            <a:lvl4pPr>
              <a:defRPr sz="2000"/>
            </a:lvl4pPr>
            <a:lvl5pPr>
              <a:defRPr sz="2000"/>
            </a:lvl5pPr>
            <a:lvl6pPr>
              <a:defRPr sz="2400"/>
            </a:lvl6pPr>
            <a:lvl7pPr>
              <a:defRPr sz="2400"/>
            </a:lvl7pPr>
            <a:lvl8pPr>
              <a:defRPr sz="2400"/>
            </a:lvl8pPr>
            <a:lvl9pPr>
              <a:defRPr sz="24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3"/>
          <p:cNvSpPr>
            <a:spLocks noGrp="1"/>
          </p:cNvSpPr>
          <p:nvPr>
            <p:ph type="dt" sz="half" idx="10"/>
          </p:nvPr>
        </p:nvSpPr>
        <p:spPr/>
        <p:txBody>
          <a:bodyPr/>
          <a:lstStyle>
            <a:lvl1pPr>
              <a:defRPr/>
            </a:lvl1pPr>
          </a:lstStyle>
          <a:p>
            <a:pPr>
              <a:defRPr/>
            </a:pPr>
            <a:fld id="{22582718-A77B-9048-9272-D0B6D7D4EB49}" type="datetime1">
              <a:rPr lang="en-US" smtClean="0"/>
              <a:t>11/18/25</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EC35E9FC-F6D5-0349-BBED-EA7D7A9BC49B}" type="slidenum">
              <a:rPr lang="en-US"/>
              <a:pPr>
                <a:defRPr/>
              </a:pPr>
              <a:t>‹#›</a:t>
            </a:fld>
            <a:endParaRPr lang="en-US"/>
          </a:p>
        </p:txBody>
      </p:sp>
    </p:spTree>
    <p:extLst>
      <p:ext uri="{BB962C8B-B14F-4D97-AF65-F5344CB8AC3E}">
        <p14:creationId xmlns:p14="http://schemas.microsoft.com/office/powerpoint/2010/main" val="246863246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604" y="867339"/>
            <a:ext cx="10972800" cy="1068387"/>
          </a:xfrm>
        </p:spPr>
        <p:txBody>
          <a:bodyPr/>
          <a:lstStyle>
            <a:lvl1pPr algn="l">
              <a:defRPr sz="3200"/>
            </a:lvl1pPr>
          </a:lstStyle>
          <a:p>
            <a:r>
              <a:rPr lang="en-US"/>
              <a:t>Click to edit Master title style</a:t>
            </a:r>
            <a:endParaRPr lang="en-US" dirty="0"/>
          </a:p>
        </p:txBody>
      </p:sp>
      <p:sp>
        <p:nvSpPr>
          <p:cNvPr id="4" name="Content Placeholder 3"/>
          <p:cNvSpPr>
            <a:spLocks noGrp="1"/>
          </p:cNvSpPr>
          <p:nvPr>
            <p:ph sz="half" idx="2"/>
          </p:nvPr>
        </p:nvSpPr>
        <p:spPr>
          <a:xfrm>
            <a:off x="609600" y="1935726"/>
            <a:ext cx="5386917" cy="4190437"/>
          </a:xfrm>
        </p:spPr>
        <p:txBody>
          <a:bodyPr/>
          <a:lstStyle>
            <a:lvl1pPr>
              <a:defRPr sz="2000"/>
            </a:lvl1pPr>
            <a:lvl2pPr>
              <a:defRPr sz="2000"/>
            </a:lvl2pPr>
            <a:lvl3pPr>
              <a:defRPr sz="2000"/>
            </a:lvl3pPr>
            <a:lvl4pPr>
              <a:defRPr sz="2000"/>
            </a:lvl4pPr>
            <a:lvl5pPr>
              <a:defRPr sz="2000"/>
            </a:lvl5pPr>
            <a:lvl6pPr>
              <a:defRPr sz="2133"/>
            </a:lvl6pPr>
            <a:lvl7pPr>
              <a:defRPr sz="2133"/>
            </a:lvl7pPr>
            <a:lvl8pPr>
              <a:defRPr sz="2133"/>
            </a:lvl8pPr>
            <a:lvl9pPr>
              <a:defRPr sz="2133"/>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Content Placeholder 5"/>
          <p:cNvSpPr>
            <a:spLocks noGrp="1"/>
          </p:cNvSpPr>
          <p:nvPr>
            <p:ph sz="quarter" idx="4"/>
          </p:nvPr>
        </p:nvSpPr>
        <p:spPr>
          <a:xfrm>
            <a:off x="6193372" y="1935726"/>
            <a:ext cx="5389033" cy="4190437"/>
          </a:xfrm>
        </p:spPr>
        <p:txBody>
          <a:bodyPr/>
          <a:lstStyle>
            <a:lvl1pPr>
              <a:defRPr sz="2000"/>
            </a:lvl1pPr>
            <a:lvl2pPr>
              <a:defRPr sz="2000"/>
            </a:lvl2pPr>
            <a:lvl3pPr>
              <a:defRPr sz="2000"/>
            </a:lvl3pPr>
            <a:lvl4pPr>
              <a:defRPr sz="2000"/>
            </a:lvl4pPr>
            <a:lvl5pPr>
              <a:defRPr sz="2000"/>
            </a:lvl5pPr>
            <a:lvl6pPr>
              <a:defRPr sz="2133"/>
            </a:lvl6pPr>
            <a:lvl7pPr>
              <a:defRPr sz="2133"/>
            </a:lvl7pPr>
            <a:lvl8pPr>
              <a:defRPr sz="2133"/>
            </a:lvl8pPr>
            <a:lvl9pPr>
              <a:defRPr sz="2133"/>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3"/>
          <p:cNvSpPr>
            <a:spLocks noGrp="1"/>
          </p:cNvSpPr>
          <p:nvPr>
            <p:ph type="dt" sz="half" idx="10"/>
          </p:nvPr>
        </p:nvSpPr>
        <p:spPr/>
        <p:txBody>
          <a:bodyPr/>
          <a:lstStyle>
            <a:lvl1pPr>
              <a:defRPr/>
            </a:lvl1pPr>
          </a:lstStyle>
          <a:p>
            <a:pPr>
              <a:defRPr/>
            </a:pPr>
            <a:fld id="{4EF29A29-DE41-AE44-84CD-E2DC9D0A4AEF}" type="datetime1">
              <a:rPr lang="en-US" smtClean="0"/>
              <a:t>11/18/25</a:t>
            </a:fld>
            <a:endParaRPr lang="en-US"/>
          </a:p>
        </p:txBody>
      </p:sp>
      <p:sp>
        <p:nvSpPr>
          <p:cNvPr id="8" name="Footer Placeholder 4"/>
          <p:cNvSpPr>
            <a:spLocks noGrp="1"/>
          </p:cNvSpPr>
          <p:nvPr>
            <p:ph type="ftr" sz="quarter" idx="11"/>
          </p:nvPr>
        </p:nvSpPr>
        <p:spPr/>
        <p:txBody>
          <a:bodyPr/>
          <a:lstStyle>
            <a:lvl1pPr>
              <a:defRPr/>
            </a:lvl1pPr>
          </a:lstStyle>
          <a:p>
            <a:pPr>
              <a:defRPr/>
            </a:pPr>
            <a:endParaRPr lang="en-US"/>
          </a:p>
        </p:txBody>
      </p:sp>
      <p:sp>
        <p:nvSpPr>
          <p:cNvPr id="9" name="Slide Number Placeholder 5"/>
          <p:cNvSpPr>
            <a:spLocks noGrp="1"/>
          </p:cNvSpPr>
          <p:nvPr>
            <p:ph type="sldNum" sz="quarter" idx="12"/>
          </p:nvPr>
        </p:nvSpPr>
        <p:spPr/>
        <p:txBody>
          <a:bodyPr/>
          <a:lstStyle>
            <a:lvl1pPr>
              <a:defRPr/>
            </a:lvl1pPr>
          </a:lstStyle>
          <a:p>
            <a:pPr>
              <a:defRPr/>
            </a:pPr>
            <a:fld id="{BB5B94E0-5E06-6D42-A41D-50D581B40900}" type="slidenum">
              <a:rPr lang="en-US"/>
              <a:pPr>
                <a:defRPr/>
              </a:pPr>
              <a:t>‹#›</a:t>
            </a:fld>
            <a:endParaRPr lang="en-US"/>
          </a:p>
        </p:txBody>
      </p:sp>
    </p:spTree>
    <p:extLst>
      <p:ext uri="{BB962C8B-B14F-4D97-AF65-F5344CB8AC3E}">
        <p14:creationId xmlns:p14="http://schemas.microsoft.com/office/powerpoint/2010/main" val="423519210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l">
              <a:defRPr sz="3200"/>
            </a:lvl1pPr>
          </a:lstStyle>
          <a:p>
            <a:r>
              <a:rPr lang="en-US"/>
              <a:t>Click to edit Master title style</a:t>
            </a:r>
          </a:p>
        </p:txBody>
      </p:sp>
      <p:sp>
        <p:nvSpPr>
          <p:cNvPr id="3" name="Date Placeholder 3"/>
          <p:cNvSpPr>
            <a:spLocks noGrp="1"/>
          </p:cNvSpPr>
          <p:nvPr>
            <p:ph type="dt" sz="half" idx="10"/>
          </p:nvPr>
        </p:nvSpPr>
        <p:spPr/>
        <p:txBody>
          <a:bodyPr/>
          <a:lstStyle>
            <a:lvl1pPr>
              <a:defRPr/>
            </a:lvl1pPr>
          </a:lstStyle>
          <a:p>
            <a:pPr>
              <a:defRPr/>
            </a:pPr>
            <a:fld id="{2D88F258-9F55-9A4A-8F7B-E6D573AE7D17}" type="datetime1">
              <a:rPr lang="en-US" smtClean="0"/>
              <a:t>11/18/25</a:t>
            </a:fld>
            <a:endParaRPr lang="en-US"/>
          </a:p>
        </p:txBody>
      </p:sp>
      <p:sp>
        <p:nvSpPr>
          <p:cNvPr id="4" name="Footer Placeholder 4"/>
          <p:cNvSpPr>
            <a:spLocks noGrp="1"/>
          </p:cNvSpPr>
          <p:nvPr>
            <p:ph type="ftr" sz="quarter" idx="11"/>
          </p:nvPr>
        </p:nvSpPr>
        <p:spPr/>
        <p:txBody>
          <a:bodyPr/>
          <a:lstStyle>
            <a:lvl1pPr>
              <a:defRPr/>
            </a:lvl1pPr>
          </a:lstStyle>
          <a:p>
            <a:pPr>
              <a:defRPr/>
            </a:pPr>
            <a:endParaRPr lang="en-US"/>
          </a:p>
        </p:txBody>
      </p:sp>
      <p:sp>
        <p:nvSpPr>
          <p:cNvPr id="5" name="Slide Number Placeholder 5"/>
          <p:cNvSpPr>
            <a:spLocks noGrp="1"/>
          </p:cNvSpPr>
          <p:nvPr>
            <p:ph type="sldNum" sz="quarter" idx="12"/>
          </p:nvPr>
        </p:nvSpPr>
        <p:spPr/>
        <p:txBody>
          <a:bodyPr/>
          <a:lstStyle>
            <a:lvl1pPr>
              <a:defRPr/>
            </a:lvl1pPr>
          </a:lstStyle>
          <a:p>
            <a:pPr>
              <a:defRPr/>
            </a:pPr>
            <a:fld id="{C2AB7D4D-4E81-5B40-91F6-CF14C25F8623}" type="slidenum">
              <a:rPr lang="en-US"/>
              <a:pPr>
                <a:defRPr/>
              </a:pPr>
              <a:t>‹#›</a:t>
            </a:fld>
            <a:endParaRPr lang="en-US"/>
          </a:p>
        </p:txBody>
      </p:sp>
    </p:spTree>
    <p:extLst>
      <p:ext uri="{BB962C8B-B14F-4D97-AF65-F5344CB8AC3E}">
        <p14:creationId xmlns:p14="http://schemas.microsoft.com/office/powerpoint/2010/main" val="42583128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fld id="{E90C9A10-6892-2C47-9186-E7C225E7EF67}" type="datetime1">
              <a:rPr lang="en-US" smtClean="0"/>
              <a:t>11/18/25</a:t>
            </a:fld>
            <a:endParaRPr lang="en-US"/>
          </a:p>
        </p:txBody>
      </p:sp>
      <p:sp>
        <p:nvSpPr>
          <p:cNvPr id="3" name="Footer Placeholder 4"/>
          <p:cNvSpPr>
            <a:spLocks noGrp="1"/>
          </p:cNvSpPr>
          <p:nvPr>
            <p:ph type="ftr" sz="quarter" idx="11"/>
          </p:nvPr>
        </p:nvSpPr>
        <p:spPr/>
        <p:txBody>
          <a:bodyPr/>
          <a:lstStyle>
            <a:lvl1pPr>
              <a:defRPr/>
            </a:lvl1pPr>
          </a:lstStyle>
          <a:p>
            <a:pPr>
              <a:defRPr/>
            </a:pPr>
            <a:endParaRPr lang="en-US"/>
          </a:p>
        </p:txBody>
      </p:sp>
      <p:sp>
        <p:nvSpPr>
          <p:cNvPr id="4" name="Slide Number Placeholder 5"/>
          <p:cNvSpPr>
            <a:spLocks noGrp="1"/>
          </p:cNvSpPr>
          <p:nvPr>
            <p:ph type="sldNum" sz="quarter" idx="12"/>
          </p:nvPr>
        </p:nvSpPr>
        <p:spPr/>
        <p:txBody>
          <a:bodyPr/>
          <a:lstStyle>
            <a:lvl1pPr>
              <a:defRPr/>
            </a:lvl1pPr>
          </a:lstStyle>
          <a:p>
            <a:pPr>
              <a:defRPr/>
            </a:pPr>
            <a:fld id="{B35B2FA7-4FDB-5643-811E-7991DEE50B01}" type="slidenum">
              <a:rPr lang="en-US"/>
              <a:pPr>
                <a:defRPr/>
              </a:pPr>
              <a:t>‹#›</a:t>
            </a:fld>
            <a:endParaRPr lang="en-US"/>
          </a:p>
        </p:txBody>
      </p:sp>
    </p:spTree>
    <p:extLst>
      <p:ext uri="{BB962C8B-B14F-4D97-AF65-F5344CB8AC3E}">
        <p14:creationId xmlns:p14="http://schemas.microsoft.com/office/powerpoint/2010/main" val="186240921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5" y="273049"/>
            <a:ext cx="4011084" cy="1162051"/>
          </a:xfrm>
        </p:spPr>
        <p:txBody>
          <a:bodyPr anchor="b"/>
          <a:lstStyle>
            <a:lvl1pPr algn="l">
              <a:defRPr sz="2667" b="1"/>
            </a:lvl1pPr>
          </a:lstStyle>
          <a:p>
            <a:r>
              <a:rPr lang="en-US"/>
              <a:t>Click to edit Master title style</a:t>
            </a:r>
          </a:p>
        </p:txBody>
      </p:sp>
      <p:sp>
        <p:nvSpPr>
          <p:cNvPr id="3" name="Content Placeholder 2"/>
          <p:cNvSpPr>
            <a:spLocks noGrp="1"/>
          </p:cNvSpPr>
          <p:nvPr>
            <p:ph idx="1"/>
          </p:nvPr>
        </p:nvSpPr>
        <p:spPr>
          <a:xfrm>
            <a:off x="4766733" y="273053"/>
            <a:ext cx="6815667" cy="5853113"/>
          </a:xfrm>
        </p:spPr>
        <p:txBody>
          <a:bodyPr/>
          <a:lstStyle>
            <a:lvl1pPr>
              <a:defRPr sz="4267"/>
            </a:lvl1pPr>
            <a:lvl2pPr>
              <a:defRPr sz="3733"/>
            </a:lvl2pPr>
            <a:lvl3pPr>
              <a:defRPr sz="3200"/>
            </a:lvl3pPr>
            <a:lvl4pPr>
              <a:defRPr sz="2667"/>
            </a:lvl4pPr>
            <a:lvl5pPr>
              <a:defRPr sz="2667"/>
            </a:lvl5pPr>
            <a:lvl6pPr>
              <a:defRPr sz="2667"/>
            </a:lvl6pPr>
            <a:lvl7pPr>
              <a:defRPr sz="2667"/>
            </a:lvl7pPr>
            <a:lvl8pPr>
              <a:defRPr sz="2667"/>
            </a:lvl8pPr>
            <a:lvl9pPr>
              <a:defRPr sz="2667"/>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5" y="1435103"/>
            <a:ext cx="4011084" cy="4691063"/>
          </a:xfrm>
        </p:spPr>
        <p:txBody>
          <a:bodyPr/>
          <a:lstStyle>
            <a:lvl1pPr marL="0" indent="0">
              <a:buNone/>
              <a:defRPr sz="1867"/>
            </a:lvl1pPr>
            <a:lvl2pPr marL="609585" indent="0">
              <a:buNone/>
              <a:defRPr sz="1600"/>
            </a:lvl2pPr>
            <a:lvl3pPr marL="1219170" indent="0">
              <a:buNone/>
              <a:defRPr sz="1333"/>
            </a:lvl3pPr>
            <a:lvl4pPr marL="1828754" indent="0">
              <a:buNone/>
              <a:defRPr sz="1200"/>
            </a:lvl4pPr>
            <a:lvl5pPr marL="2438339" indent="0">
              <a:buNone/>
              <a:defRPr sz="1200"/>
            </a:lvl5pPr>
            <a:lvl6pPr marL="3047924" indent="0">
              <a:buNone/>
              <a:defRPr sz="1200"/>
            </a:lvl6pPr>
            <a:lvl7pPr marL="3657509" indent="0">
              <a:buNone/>
              <a:defRPr sz="1200"/>
            </a:lvl7pPr>
            <a:lvl8pPr marL="4267093" indent="0">
              <a:buNone/>
              <a:defRPr sz="1200"/>
            </a:lvl8pPr>
            <a:lvl9pPr marL="4876678" indent="0">
              <a:buNone/>
              <a:defRPr sz="1200"/>
            </a:lvl9pPr>
          </a:lstStyle>
          <a:p>
            <a:pPr lvl="0"/>
            <a:r>
              <a:rPr lang="en-US"/>
              <a:t>Edit Master text styles</a:t>
            </a:r>
          </a:p>
        </p:txBody>
      </p:sp>
      <p:sp>
        <p:nvSpPr>
          <p:cNvPr id="5" name="Date Placeholder 3"/>
          <p:cNvSpPr>
            <a:spLocks noGrp="1"/>
          </p:cNvSpPr>
          <p:nvPr>
            <p:ph type="dt" sz="half" idx="10"/>
          </p:nvPr>
        </p:nvSpPr>
        <p:spPr/>
        <p:txBody>
          <a:bodyPr/>
          <a:lstStyle>
            <a:lvl1pPr>
              <a:defRPr/>
            </a:lvl1pPr>
          </a:lstStyle>
          <a:p>
            <a:pPr>
              <a:defRPr/>
            </a:pPr>
            <a:fld id="{92B0F250-9D6A-4F4C-B5DC-E5BB3C55173B}" type="datetime1">
              <a:rPr lang="en-US" smtClean="0"/>
              <a:t>11/18/25</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91DD8B14-AE1E-054C-8668-93D0F0400A18}" type="slidenum">
              <a:rPr lang="en-US"/>
              <a:pPr>
                <a:defRPr/>
              </a:pPr>
              <a:t>‹#›</a:t>
            </a:fld>
            <a:endParaRPr lang="en-US"/>
          </a:p>
        </p:txBody>
      </p:sp>
    </p:spTree>
    <p:extLst>
      <p:ext uri="{BB962C8B-B14F-4D97-AF65-F5344CB8AC3E}">
        <p14:creationId xmlns:p14="http://schemas.microsoft.com/office/powerpoint/2010/main" val="27232499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1"/>
            <a:ext cx="7315200" cy="566739"/>
          </a:xfrm>
        </p:spPr>
        <p:txBody>
          <a:bodyPr anchor="b"/>
          <a:lstStyle>
            <a:lvl1pPr algn="l">
              <a:defRPr sz="2667" b="1"/>
            </a:lvl1pPr>
          </a:lstStyle>
          <a:p>
            <a:r>
              <a:rPr lang="en-US"/>
              <a:t>Click to edit Master title style</a:t>
            </a:r>
            <a:endParaRPr lang="en-US" dirty="0"/>
          </a:p>
        </p:txBody>
      </p:sp>
      <p:sp>
        <p:nvSpPr>
          <p:cNvPr id="3" name="Picture Placeholder 2"/>
          <p:cNvSpPr>
            <a:spLocks noGrp="1"/>
          </p:cNvSpPr>
          <p:nvPr>
            <p:ph type="pic" idx="1"/>
          </p:nvPr>
        </p:nvSpPr>
        <p:spPr>
          <a:xfrm>
            <a:off x="2389717" y="612775"/>
            <a:ext cx="7315200" cy="4114800"/>
          </a:xfrm>
        </p:spPr>
        <p:txBody>
          <a:bodyPr rtlCol="0">
            <a:normAutofit/>
          </a:bodyPr>
          <a:lstStyle>
            <a:lvl1pPr marL="0" indent="0">
              <a:buNone/>
              <a:defRPr sz="4267"/>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pPr lvl="0"/>
            <a:r>
              <a:rPr lang="en-US" noProof="0"/>
              <a:t>Click icon to add picture</a:t>
            </a:r>
            <a:endParaRPr lang="en-US" noProof="0" dirty="0"/>
          </a:p>
        </p:txBody>
      </p:sp>
      <p:sp>
        <p:nvSpPr>
          <p:cNvPr id="4" name="Text Placeholder 3"/>
          <p:cNvSpPr>
            <a:spLocks noGrp="1"/>
          </p:cNvSpPr>
          <p:nvPr>
            <p:ph type="body" sz="half" idx="2"/>
          </p:nvPr>
        </p:nvSpPr>
        <p:spPr>
          <a:xfrm>
            <a:off x="2389717" y="5367339"/>
            <a:ext cx="7315200" cy="804863"/>
          </a:xfrm>
        </p:spPr>
        <p:txBody>
          <a:bodyPr/>
          <a:lstStyle>
            <a:lvl1pPr marL="0" indent="0">
              <a:buNone/>
              <a:defRPr sz="1867"/>
            </a:lvl1pPr>
            <a:lvl2pPr marL="609585" indent="0">
              <a:buNone/>
              <a:defRPr sz="1600"/>
            </a:lvl2pPr>
            <a:lvl3pPr marL="1219170" indent="0">
              <a:buNone/>
              <a:defRPr sz="1333"/>
            </a:lvl3pPr>
            <a:lvl4pPr marL="1828754" indent="0">
              <a:buNone/>
              <a:defRPr sz="1200"/>
            </a:lvl4pPr>
            <a:lvl5pPr marL="2438339" indent="0">
              <a:buNone/>
              <a:defRPr sz="1200"/>
            </a:lvl5pPr>
            <a:lvl6pPr marL="3047924" indent="0">
              <a:buNone/>
              <a:defRPr sz="1200"/>
            </a:lvl6pPr>
            <a:lvl7pPr marL="3657509" indent="0">
              <a:buNone/>
              <a:defRPr sz="1200"/>
            </a:lvl7pPr>
            <a:lvl8pPr marL="4267093" indent="0">
              <a:buNone/>
              <a:defRPr sz="1200"/>
            </a:lvl8pPr>
            <a:lvl9pPr marL="4876678" indent="0">
              <a:buNone/>
              <a:defRPr sz="1200"/>
            </a:lvl9pPr>
          </a:lstStyle>
          <a:p>
            <a:pPr lvl="0"/>
            <a:r>
              <a:rPr lang="en-US"/>
              <a:t>Edit Master text styles</a:t>
            </a:r>
          </a:p>
        </p:txBody>
      </p:sp>
      <p:sp>
        <p:nvSpPr>
          <p:cNvPr id="5" name="Date Placeholder 3"/>
          <p:cNvSpPr>
            <a:spLocks noGrp="1"/>
          </p:cNvSpPr>
          <p:nvPr>
            <p:ph type="dt" sz="half" idx="10"/>
          </p:nvPr>
        </p:nvSpPr>
        <p:spPr/>
        <p:txBody>
          <a:bodyPr/>
          <a:lstStyle>
            <a:lvl1pPr>
              <a:defRPr/>
            </a:lvl1pPr>
          </a:lstStyle>
          <a:p>
            <a:pPr>
              <a:defRPr/>
            </a:pPr>
            <a:fld id="{6AFAADB8-F38D-2C42-A4A0-2C734CD2343F}" type="datetime1">
              <a:rPr lang="en-US" smtClean="0"/>
              <a:t>11/18/25</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8FEF0004-A563-C64B-9FAD-6198662E1BD1}" type="slidenum">
              <a:rPr lang="en-US"/>
              <a:pPr>
                <a:defRPr/>
              </a:pPr>
              <a:t>‹#›</a:t>
            </a:fld>
            <a:endParaRPr lang="en-US"/>
          </a:p>
        </p:txBody>
      </p:sp>
    </p:spTree>
    <p:extLst>
      <p:ext uri="{BB962C8B-B14F-4D97-AF65-F5344CB8AC3E}">
        <p14:creationId xmlns:p14="http://schemas.microsoft.com/office/powerpoint/2010/main" val="370192391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fld id="{B2A76008-4EAC-D34C-B1EB-04DA1310F40F}" type="datetime1">
              <a:rPr lang="en-US" smtClean="0"/>
              <a:t>11/18/25</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FB9610A8-B29A-B34A-A0B5-3DF26A2EB850}" type="slidenum">
              <a:rPr lang="en-US"/>
              <a:pPr>
                <a:defRPr/>
              </a:pPr>
              <a:t>‹#›</a:t>
            </a:fld>
            <a:endParaRPr lang="en-US"/>
          </a:p>
        </p:txBody>
      </p:sp>
    </p:spTree>
    <p:extLst>
      <p:ext uri="{BB962C8B-B14F-4D97-AF65-F5344CB8AC3E}">
        <p14:creationId xmlns:p14="http://schemas.microsoft.com/office/powerpoint/2010/main" val="229432910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40"/>
            <a:ext cx="27432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274640"/>
            <a:ext cx="8026400" cy="5851525"/>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fld id="{7929ADC1-8B12-034F-A960-24F99F4EC07D}" type="datetime1">
              <a:rPr lang="en-US" smtClean="0"/>
              <a:t>11/18/25</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E12D0221-73D0-6245-9CCD-73A1D8FCB5E4}" type="slidenum">
              <a:rPr lang="en-US"/>
              <a:pPr>
                <a:defRPr/>
              </a:pPr>
              <a:t>‹#›</a:t>
            </a:fld>
            <a:endParaRPr lang="en-US"/>
          </a:p>
        </p:txBody>
      </p:sp>
    </p:spTree>
    <p:extLst>
      <p:ext uri="{BB962C8B-B14F-4D97-AF65-F5344CB8AC3E}">
        <p14:creationId xmlns:p14="http://schemas.microsoft.com/office/powerpoint/2010/main" val="406609129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_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604" y="867339"/>
            <a:ext cx="10972800" cy="1068387"/>
          </a:xfrm>
        </p:spPr>
        <p:txBody>
          <a:bodyPr/>
          <a:lstStyle>
            <a:lvl1pPr>
              <a:defRPr/>
            </a:lvl1pPr>
          </a:lstStyle>
          <a:p>
            <a:r>
              <a:rPr lang="en-US"/>
              <a:t>Click to edit Master title style</a:t>
            </a:r>
            <a:endParaRPr lang="en-US" dirty="0"/>
          </a:p>
        </p:txBody>
      </p:sp>
      <p:sp>
        <p:nvSpPr>
          <p:cNvPr id="4" name="Content Placeholder 3"/>
          <p:cNvSpPr>
            <a:spLocks noGrp="1"/>
          </p:cNvSpPr>
          <p:nvPr>
            <p:ph sz="half" idx="2"/>
          </p:nvPr>
        </p:nvSpPr>
        <p:spPr>
          <a:xfrm>
            <a:off x="609600" y="2174875"/>
            <a:ext cx="5386917" cy="3951288"/>
          </a:xfrm>
        </p:spPr>
        <p:txBody>
          <a:bodyPr/>
          <a:lstStyle>
            <a:lvl1pPr>
              <a:defRPr sz="3200"/>
            </a:lvl1pPr>
            <a:lvl2pPr>
              <a:defRPr sz="2667"/>
            </a:lvl2pPr>
            <a:lvl3pPr>
              <a:defRPr sz="2400"/>
            </a:lvl3pPr>
            <a:lvl4pPr>
              <a:defRPr sz="2133"/>
            </a:lvl4pPr>
            <a:lvl5pPr>
              <a:defRPr sz="2133"/>
            </a:lvl5pPr>
            <a:lvl6pPr>
              <a:defRPr sz="2133"/>
            </a:lvl6pPr>
            <a:lvl7pPr>
              <a:defRPr sz="2133"/>
            </a:lvl7pPr>
            <a:lvl8pPr>
              <a:defRPr sz="2133"/>
            </a:lvl8pPr>
            <a:lvl9pPr>
              <a:defRPr sz="2133"/>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Content Placeholder 5"/>
          <p:cNvSpPr>
            <a:spLocks noGrp="1"/>
          </p:cNvSpPr>
          <p:nvPr>
            <p:ph sz="quarter" idx="4"/>
          </p:nvPr>
        </p:nvSpPr>
        <p:spPr>
          <a:xfrm>
            <a:off x="6193372" y="2174875"/>
            <a:ext cx="5389033" cy="3951288"/>
          </a:xfrm>
        </p:spPr>
        <p:txBody>
          <a:bodyPr/>
          <a:lstStyle>
            <a:lvl1pPr>
              <a:defRPr sz="3200"/>
            </a:lvl1pPr>
            <a:lvl2pPr>
              <a:defRPr sz="2667"/>
            </a:lvl2pPr>
            <a:lvl3pPr>
              <a:defRPr sz="2400"/>
            </a:lvl3pPr>
            <a:lvl4pPr>
              <a:defRPr sz="2133"/>
            </a:lvl4pPr>
            <a:lvl5pPr>
              <a:defRPr sz="2133"/>
            </a:lvl5pPr>
            <a:lvl6pPr>
              <a:defRPr sz="2133"/>
            </a:lvl6pPr>
            <a:lvl7pPr>
              <a:defRPr sz="2133"/>
            </a:lvl7pPr>
            <a:lvl8pPr>
              <a:defRPr sz="2133"/>
            </a:lvl8pPr>
            <a:lvl9pPr>
              <a:defRPr sz="2133"/>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3"/>
          <p:cNvSpPr>
            <a:spLocks noGrp="1"/>
          </p:cNvSpPr>
          <p:nvPr>
            <p:ph type="dt" sz="half" idx="10"/>
          </p:nvPr>
        </p:nvSpPr>
        <p:spPr/>
        <p:txBody>
          <a:bodyPr/>
          <a:lstStyle>
            <a:lvl1pPr>
              <a:defRPr/>
            </a:lvl1pPr>
          </a:lstStyle>
          <a:p>
            <a:pPr>
              <a:defRPr/>
            </a:pPr>
            <a:fld id="{72C8D95E-0433-3E41-A2B7-DA6DB5BC1DF2}" type="datetime1">
              <a:rPr lang="en-US" smtClean="0"/>
              <a:t>11/18/25</a:t>
            </a:fld>
            <a:endParaRPr lang="en-US"/>
          </a:p>
        </p:txBody>
      </p:sp>
      <p:sp>
        <p:nvSpPr>
          <p:cNvPr id="8" name="Footer Placeholder 4"/>
          <p:cNvSpPr>
            <a:spLocks noGrp="1"/>
          </p:cNvSpPr>
          <p:nvPr>
            <p:ph type="ftr" sz="quarter" idx="11"/>
          </p:nvPr>
        </p:nvSpPr>
        <p:spPr/>
        <p:txBody>
          <a:bodyPr/>
          <a:lstStyle>
            <a:lvl1pPr>
              <a:defRPr/>
            </a:lvl1pPr>
          </a:lstStyle>
          <a:p>
            <a:pPr>
              <a:defRPr/>
            </a:pPr>
            <a:endParaRPr lang="en-US"/>
          </a:p>
        </p:txBody>
      </p:sp>
      <p:sp>
        <p:nvSpPr>
          <p:cNvPr id="9" name="Slide Number Placeholder 5"/>
          <p:cNvSpPr>
            <a:spLocks noGrp="1"/>
          </p:cNvSpPr>
          <p:nvPr>
            <p:ph type="sldNum" sz="quarter" idx="12"/>
          </p:nvPr>
        </p:nvSpPr>
        <p:spPr/>
        <p:txBody>
          <a:bodyPr/>
          <a:lstStyle>
            <a:lvl1pPr>
              <a:defRPr/>
            </a:lvl1pPr>
          </a:lstStyle>
          <a:p>
            <a:pPr>
              <a:defRPr/>
            </a:pPr>
            <a:fld id="{BB5B94E0-5E06-6D42-A41D-50D581B40900}" type="slidenum">
              <a:rPr lang="en-US"/>
              <a:pPr>
                <a:defRPr/>
              </a:pPr>
              <a:t>‹#›</a:t>
            </a:fld>
            <a:endParaRPr lang="en-US"/>
          </a:p>
        </p:txBody>
      </p:sp>
    </p:spTree>
    <p:extLst>
      <p:ext uri="{BB962C8B-B14F-4D97-AF65-F5344CB8AC3E}">
        <p14:creationId xmlns:p14="http://schemas.microsoft.com/office/powerpoint/2010/main" val="104584795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2_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604" y="867339"/>
            <a:ext cx="10972800" cy="1068387"/>
          </a:xfrm>
        </p:spPr>
        <p:txBody>
          <a:bodyPr/>
          <a:lstStyle>
            <a:lvl1pPr>
              <a:defRPr/>
            </a:lvl1pPr>
          </a:lstStyle>
          <a:p>
            <a:r>
              <a:rPr lang="en-US"/>
              <a:t>Click to edit Master title style</a:t>
            </a:r>
            <a:endParaRPr lang="en-US" dirty="0"/>
          </a:p>
        </p:txBody>
      </p:sp>
      <p:sp>
        <p:nvSpPr>
          <p:cNvPr id="4" name="Content Placeholder 3"/>
          <p:cNvSpPr>
            <a:spLocks noGrp="1"/>
          </p:cNvSpPr>
          <p:nvPr>
            <p:ph sz="half" idx="2"/>
          </p:nvPr>
        </p:nvSpPr>
        <p:spPr>
          <a:xfrm>
            <a:off x="609600" y="2174875"/>
            <a:ext cx="5386917" cy="3951288"/>
          </a:xfrm>
        </p:spPr>
        <p:txBody>
          <a:bodyPr/>
          <a:lstStyle>
            <a:lvl1pPr>
              <a:defRPr sz="3200"/>
            </a:lvl1pPr>
            <a:lvl2pPr>
              <a:defRPr sz="2667"/>
            </a:lvl2pPr>
            <a:lvl3pPr>
              <a:defRPr sz="2400"/>
            </a:lvl3pPr>
            <a:lvl4pPr>
              <a:defRPr sz="2133"/>
            </a:lvl4pPr>
            <a:lvl5pPr>
              <a:defRPr sz="2133"/>
            </a:lvl5pPr>
            <a:lvl6pPr>
              <a:defRPr sz="2133"/>
            </a:lvl6pPr>
            <a:lvl7pPr>
              <a:defRPr sz="2133"/>
            </a:lvl7pPr>
            <a:lvl8pPr>
              <a:defRPr sz="2133"/>
            </a:lvl8pPr>
            <a:lvl9pPr>
              <a:defRPr sz="2133"/>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Content Placeholder 5"/>
          <p:cNvSpPr>
            <a:spLocks noGrp="1"/>
          </p:cNvSpPr>
          <p:nvPr>
            <p:ph sz="quarter" idx="4"/>
          </p:nvPr>
        </p:nvSpPr>
        <p:spPr>
          <a:xfrm>
            <a:off x="6193372" y="2174875"/>
            <a:ext cx="5389033" cy="3951288"/>
          </a:xfrm>
        </p:spPr>
        <p:txBody>
          <a:bodyPr/>
          <a:lstStyle>
            <a:lvl1pPr>
              <a:defRPr sz="3200"/>
            </a:lvl1pPr>
            <a:lvl2pPr>
              <a:defRPr sz="2667"/>
            </a:lvl2pPr>
            <a:lvl3pPr>
              <a:defRPr sz="2400"/>
            </a:lvl3pPr>
            <a:lvl4pPr>
              <a:defRPr sz="2133"/>
            </a:lvl4pPr>
            <a:lvl5pPr>
              <a:defRPr sz="2133"/>
            </a:lvl5pPr>
            <a:lvl6pPr>
              <a:defRPr sz="2133"/>
            </a:lvl6pPr>
            <a:lvl7pPr>
              <a:defRPr sz="2133"/>
            </a:lvl7pPr>
            <a:lvl8pPr>
              <a:defRPr sz="2133"/>
            </a:lvl8pPr>
            <a:lvl9pPr>
              <a:defRPr sz="2133"/>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3"/>
          <p:cNvSpPr>
            <a:spLocks noGrp="1"/>
          </p:cNvSpPr>
          <p:nvPr>
            <p:ph type="dt" sz="half" idx="10"/>
          </p:nvPr>
        </p:nvSpPr>
        <p:spPr/>
        <p:txBody>
          <a:bodyPr/>
          <a:lstStyle>
            <a:lvl1pPr>
              <a:defRPr/>
            </a:lvl1pPr>
          </a:lstStyle>
          <a:p>
            <a:pPr>
              <a:defRPr/>
            </a:pPr>
            <a:fld id="{D7FBC4C2-9061-9449-A33A-8008D6913207}" type="datetime1">
              <a:rPr lang="en-US" smtClean="0"/>
              <a:t>11/18/25</a:t>
            </a:fld>
            <a:endParaRPr lang="en-US"/>
          </a:p>
        </p:txBody>
      </p:sp>
      <p:sp>
        <p:nvSpPr>
          <p:cNvPr id="8" name="Footer Placeholder 4"/>
          <p:cNvSpPr>
            <a:spLocks noGrp="1"/>
          </p:cNvSpPr>
          <p:nvPr>
            <p:ph type="ftr" sz="quarter" idx="11"/>
          </p:nvPr>
        </p:nvSpPr>
        <p:spPr/>
        <p:txBody>
          <a:bodyPr/>
          <a:lstStyle>
            <a:lvl1pPr>
              <a:defRPr/>
            </a:lvl1pPr>
          </a:lstStyle>
          <a:p>
            <a:pPr>
              <a:defRPr/>
            </a:pPr>
            <a:endParaRPr lang="en-US"/>
          </a:p>
        </p:txBody>
      </p:sp>
      <p:sp>
        <p:nvSpPr>
          <p:cNvPr id="9" name="Slide Number Placeholder 5"/>
          <p:cNvSpPr>
            <a:spLocks noGrp="1"/>
          </p:cNvSpPr>
          <p:nvPr>
            <p:ph type="sldNum" sz="quarter" idx="12"/>
          </p:nvPr>
        </p:nvSpPr>
        <p:spPr/>
        <p:txBody>
          <a:bodyPr/>
          <a:lstStyle>
            <a:lvl1pPr>
              <a:defRPr/>
            </a:lvl1pPr>
          </a:lstStyle>
          <a:p>
            <a:pPr>
              <a:defRPr/>
            </a:pPr>
            <a:fld id="{BB5B94E0-5E06-6D42-A41D-50D581B40900}" type="slidenum">
              <a:rPr lang="en-US"/>
              <a:pPr>
                <a:defRPr/>
              </a:pPr>
              <a:t>‹#›</a:t>
            </a:fld>
            <a:endParaRPr lang="en-US"/>
          </a:p>
        </p:txBody>
      </p:sp>
    </p:spTree>
    <p:extLst>
      <p:ext uri="{BB962C8B-B14F-4D97-AF65-F5344CB8AC3E}">
        <p14:creationId xmlns:p14="http://schemas.microsoft.com/office/powerpoint/2010/main" val="362399006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3_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604" y="867339"/>
            <a:ext cx="10972800" cy="1068387"/>
          </a:xfrm>
        </p:spPr>
        <p:txBody>
          <a:bodyPr/>
          <a:lstStyle>
            <a:lvl1pPr algn="l">
              <a:defRPr/>
            </a:lvl1pPr>
          </a:lstStyle>
          <a:p>
            <a:r>
              <a:rPr lang="en-US" dirty="0"/>
              <a:t>Click to edit Master title style</a:t>
            </a:r>
          </a:p>
        </p:txBody>
      </p:sp>
      <p:sp>
        <p:nvSpPr>
          <p:cNvPr id="4" name="Content Placeholder 3"/>
          <p:cNvSpPr>
            <a:spLocks noGrp="1"/>
          </p:cNvSpPr>
          <p:nvPr>
            <p:ph sz="half" idx="2"/>
          </p:nvPr>
        </p:nvSpPr>
        <p:spPr>
          <a:xfrm>
            <a:off x="609600" y="2174875"/>
            <a:ext cx="5386917" cy="3951288"/>
          </a:xfrm>
        </p:spPr>
        <p:txBody>
          <a:bodyPr/>
          <a:lstStyle>
            <a:lvl1pPr>
              <a:defRPr sz="3200"/>
            </a:lvl1pPr>
            <a:lvl2pPr>
              <a:defRPr sz="2667"/>
            </a:lvl2pPr>
            <a:lvl3pPr>
              <a:defRPr sz="2400"/>
            </a:lvl3pPr>
            <a:lvl4pPr>
              <a:defRPr sz="2133"/>
            </a:lvl4pPr>
            <a:lvl5pPr>
              <a:defRPr sz="2133"/>
            </a:lvl5pPr>
            <a:lvl6pPr>
              <a:defRPr sz="2133"/>
            </a:lvl6pPr>
            <a:lvl7pPr>
              <a:defRPr sz="2133"/>
            </a:lvl7pPr>
            <a:lvl8pPr>
              <a:defRPr sz="2133"/>
            </a:lvl8pPr>
            <a:lvl9pPr>
              <a:defRPr sz="2133"/>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Content Placeholder 5"/>
          <p:cNvSpPr>
            <a:spLocks noGrp="1"/>
          </p:cNvSpPr>
          <p:nvPr>
            <p:ph sz="quarter" idx="4"/>
          </p:nvPr>
        </p:nvSpPr>
        <p:spPr>
          <a:xfrm>
            <a:off x="6193372" y="2174875"/>
            <a:ext cx="5389033" cy="3951288"/>
          </a:xfrm>
        </p:spPr>
        <p:txBody>
          <a:bodyPr/>
          <a:lstStyle>
            <a:lvl1pPr>
              <a:defRPr sz="3200"/>
            </a:lvl1pPr>
            <a:lvl2pPr>
              <a:defRPr sz="2667"/>
            </a:lvl2pPr>
            <a:lvl3pPr>
              <a:defRPr sz="2400"/>
            </a:lvl3pPr>
            <a:lvl4pPr>
              <a:defRPr sz="2133"/>
            </a:lvl4pPr>
            <a:lvl5pPr>
              <a:defRPr sz="2133"/>
            </a:lvl5pPr>
            <a:lvl6pPr>
              <a:defRPr sz="2133"/>
            </a:lvl6pPr>
            <a:lvl7pPr>
              <a:defRPr sz="2133"/>
            </a:lvl7pPr>
            <a:lvl8pPr>
              <a:defRPr sz="2133"/>
            </a:lvl8pPr>
            <a:lvl9pPr>
              <a:defRPr sz="2133"/>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3"/>
          <p:cNvSpPr>
            <a:spLocks noGrp="1"/>
          </p:cNvSpPr>
          <p:nvPr>
            <p:ph type="dt" sz="half" idx="10"/>
          </p:nvPr>
        </p:nvSpPr>
        <p:spPr/>
        <p:txBody>
          <a:bodyPr/>
          <a:lstStyle>
            <a:lvl1pPr>
              <a:defRPr/>
            </a:lvl1pPr>
          </a:lstStyle>
          <a:p>
            <a:pPr>
              <a:defRPr/>
            </a:pPr>
            <a:fld id="{E6800824-EE1D-0B40-85E7-A819C1407096}" type="datetime1">
              <a:rPr lang="en-US" smtClean="0"/>
              <a:t>11/18/25</a:t>
            </a:fld>
            <a:endParaRPr lang="en-US"/>
          </a:p>
        </p:txBody>
      </p:sp>
      <p:sp>
        <p:nvSpPr>
          <p:cNvPr id="8" name="Footer Placeholder 4"/>
          <p:cNvSpPr>
            <a:spLocks noGrp="1"/>
          </p:cNvSpPr>
          <p:nvPr>
            <p:ph type="ftr" sz="quarter" idx="11"/>
          </p:nvPr>
        </p:nvSpPr>
        <p:spPr/>
        <p:txBody>
          <a:bodyPr/>
          <a:lstStyle>
            <a:lvl1pPr>
              <a:defRPr/>
            </a:lvl1pPr>
          </a:lstStyle>
          <a:p>
            <a:pPr>
              <a:defRPr/>
            </a:pPr>
            <a:endParaRPr lang="en-US"/>
          </a:p>
        </p:txBody>
      </p:sp>
      <p:sp>
        <p:nvSpPr>
          <p:cNvPr id="9" name="Slide Number Placeholder 5"/>
          <p:cNvSpPr>
            <a:spLocks noGrp="1"/>
          </p:cNvSpPr>
          <p:nvPr>
            <p:ph type="sldNum" sz="quarter" idx="12"/>
          </p:nvPr>
        </p:nvSpPr>
        <p:spPr/>
        <p:txBody>
          <a:bodyPr/>
          <a:lstStyle>
            <a:lvl1pPr>
              <a:defRPr/>
            </a:lvl1pPr>
          </a:lstStyle>
          <a:p>
            <a:pPr>
              <a:defRPr/>
            </a:pPr>
            <a:fld id="{BB5B94E0-5E06-6D42-A41D-50D581B40900}" type="slidenum">
              <a:rPr lang="en-US"/>
              <a:pPr>
                <a:defRPr/>
              </a:pPr>
              <a:t>‹#›</a:t>
            </a:fld>
            <a:endParaRPr lang="en-US"/>
          </a:p>
        </p:txBody>
      </p:sp>
    </p:spTree>
    <p:extLst>
      <p:ext uri="{BB962C8B-B14F-4D97-AF65-F5344CB8AC3E}">
        <p14:creationId xmlns:p14="http://schemas.microsoft.com/office/powerpoint/2010/main" val="1887239513"/>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theme" Target="../theme/theme1.xml"/><Relationship Id="rId16" Type="http://schemas.openxmlformats.org/officeDocument/2006/relationships/image" Target="../media/image1.jp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609600" y="900113"/>
            <a:ext cx="10972800" cy="106838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vert="horz" wrap="square" lIns="91440" tIns="45720" rIns="91440" bIns="45720" numCol="1" anchor="ctr" anchorCtr="0" compatLnSpc="1">
            <a:prstTxWarp prst="textNoShape">
              <a:avLst/>
            </a:prstTxWarp>
          </a:bodyPr>
          <a:lstStyle/>
          <a:p>
            <a:pPr lvl="0"/>
            <a:r>
              <a:rPr lang="en-US" dirty="0"/>
              <a:t>Headline Line One</a:t>
            </a:r>
            <a:br>
              <a:rPr lang="en-US" dirty="0"/>
            </a:br>
            <a:r>
              <a:rPr lang="en-US" dirty="0"/>
              <a:t>Headline Line Two</a:t>
            </a:r>
          </a:p>
        </p:txBody>
      </p:sp>
      <p:sp>
        <p:nvSpPr>
          <p:cNvPr id="1027" name="Text Placeholder 2"/>
          <p:cNvSpPr>
            <a:spLocks noGrp="1"/>
          </p:cNvSpPr>
          <p:nvPr>
            <p:ph type="body" idx="1"/>
          </p:nvPr>
        </p:nvSpPr>
        <p:spPr bwMode="auto">
          <a:xfrm>
            <a:off x="609600" y="3022600"/>
            <a:ext cx="10972800" cy="310356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vert="horz" wrap="square" lIns="91440" tIns="45720" rIns="91440" bIns="45720" numCol="1" anchor="t" anchorCtr="0" compatLnSpc="1">
            <a:prstTxWarp prst="textNoShape">
              <a:avLst/>
            </a:prstTxWarp>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09600" y="6356352"/>
            <a:ext cx="2844800" cy="365125"/>
          </a:xfrm>
          <a:prstGeom prst="rect">
            <a:avLst/>
          </a:prstGeom>
        </p:spPr>
        <p:txBody>
          <a:bodyPr vert="horz" lIns="91440" tIns="45720" rIns="91440" bIns="45720" rtlCol="0" anchor="ctr"/>
          <a:lstStyle>
            <a:lvl1pPr algn="l" fontAlgn="auto">
              <a:spcBef>
                <a:spcPts val="0"/>
              </a:spcBef>
              <a:spcAft>
                <a:spcPts val="0"/>
              </a:spcAft>
              <a:defRPr sz="1600" smtClean="0">
                <a:solidFill>
                  <a:schemeClr val="tx1">
                    <a:tint val="75000"/>
                  </a:schemeClr>
                </a:solidFill>
                <a:latin typeface="Arial" panose="020B0604020202020204" pitchFamily="34" charset="0"/>
                <a:ea typeface="+mn-ea"/>
                <a:cs typeface="Arial" panose="020B0604020202020204" pitchFamily="34" charset="0"/>
              </a:defRPr>
            </a:lvl1pPr>
          </a:lstStyle>
          <a:p>
            <a:pPr>
              <a:defRPr/>
            </a:pPr>
            <a:fld id="{29A14411-20DE-BF4C-B2EF-F03C6EB9FD11}" type="datetime1">
              <a:rPr lang="en-US" smtClean="0"/>
              <a:t>11/18/25</a:t>
            </a:fld>
            <a:endParaRPr lang="en-US" dirty="0"/>
          </a:p>
        </p:txBody>
      </p:sp>
      <p:sp>
        <p:nvSpPr>
          <p:cNvPr id="5" name="Footer Placeholder 4"/>
          <p:cNvSpPr>
            <a:spLocks noGrp="1"/>
          </p:cNvSpPr>
          <p:nvPr>
            <p:ph type="ftr" sz="quarter" idx="3"/>
          </p:nvPr>
        </p:nvSpPr>
        <p:spPr>
          <a:xfrm>
            <a:off x="4165600" y="6356352"/>
            <a:ext cx="3860800" cy="365125"/>
          </a:xfrm>
          <a:prstGeom prst="rect">
            <a:avLst/>
          </a:prstGeom>
        </p:spPr>
        <p:txBody>
          <a:bodyPr vert="horz" lIns="91440" tIns="45720" rIns="91440" bIns="45720" rtlCol="0" anchor="ctr"/>
          <a:lstStyle>
            <a:lvl1pPr algn="ctr" fontAlgn="auto">
              <a:spcBef>
                <a:spcPts val="0"/>
              </a:spcBef>
              <a:spcAft>
                <a:spcPts val="0"/>
              </a:spcAft>
              <a:defRPr sz="1600">
                <a:solidFill>
                  <a:schemeClr val="tx1">
                    <a:tint val="75000"/>
                  </a:schemeClr>
                </a:solidFill>
                <a:latin typeface="Arial" panose="020B0604020202020204" pitchFamily="34" charset="0"/>
                <a:ea typeface="+mn-ea"/>
                <a:cs typeface="Arial" panose="020B0604020202020204" pitchFamily="34" charset="0"/>
              </a:defRPr>
            </a:lvl1pPr>
          </a:lstStyle>
          <a:p>
            <a:pPr>
              <a:defRPr/>
            </a:pPr>
            <a:endParaRPr lang="en-US" dirty="0"/>
          </a:p>
        </p:txBody>
      </p:sp>
      <p:sp>
        <p:nvSpPr>
          <p:cNvPr id="6" name="Slide Number Placeholder 5"/>
          <p:cNvSpPr>
            <a:spLocks noGrp="1"/>
          </p:cNvSpPr>
          <p:nvPr>
            <p:ph type="sldNum" sz="quarter" idx="4"/>
          </p:nvPr>
        </p:nvSpPr>
        <p:spPr>
          <a:xfrm>
            <a:off x="8737600" y="6356352"/>
            <a:ext cx="2844800" cy="365125"/>
          </a:xfrm>
          <a:prstGeom prst="rect">
            <a:avLst/>
          </a:prstGeom>
        </p:spPr>
        <p:txBody>
          <a:bodyPr vert="horz" lIns="91440" tIns="45720" rIns="91440" bIns="45720" rtlCol="0" anchor="ctr"/>
          <a:lstStyle>
            <a:lvl1pPr algn="r" fontAlgn="auto">
              <a:spcBef>
                <a:spcPts val="0"/>
              </a:spcBef>
              <a:spcAft>
                <a:spcPts val="0"/>
              </a:spcAft>
              <a:defRPr sz="1600" smtClean="0">
                <a:solidFill>
                  <a:schemeClr val="tx1">
                    <a:tint val="75000"/>
                  </a:schemeClr>
                </a:solidFill>
                <a:latin typeface="+mn-lt"/>
                <a:ea typeface="+mn-ea"/>
                <a:cs typeface="+mn-cs"/>
              </a:defRPr>
            </a:lvl1pPr>
          </a:lstStyle>
          <a:p>
            <a:pPr>
              <a:defRPr/>
            </a:pPr>
            <a:fld id="{0EF7D53D-272A-624E-BE3D-99D13E2B4193}" type="slidenum">
              <a:rPr lang="en-US"/>
              <a:pPr>
                <a:defRPr/>
              </a:pPr>
              <a:t>‹#›</a:t>
            </a:fld>
            <a:endParaRPr lang="en-US" dirty="0"/>
          </a:p>
        </p:txBody>
      </p:sp>
      <p:pic>
        <p:nvPicPr>
          <p:cNvPr id="8" name="Picture 7"/>
          <p:cNvPicPr>
            <a:picLocks noChangeAspect="1"/>
          </p:cNvPicPr>
          <p:nvPr userDrawn="1"/>
        </p:nvPicPr>
        <p:blipFill>
          <a:blip r:embed="rId16">
            <a:extLst>
              <a:ext uri="{28A0092B-C50C-407E-A947-70E740481C1C}">
                <a14:useLocalDpi xmlns:a14="http://schemas.microsoft.com/office/drawing/2010/main" val="0"/>
              </a:ext>
            </a:extLst>
          </a:blip>
          <a:stretch>
            <a:fillRect/>
          </a:stretch>
        </p:blipFill>
        <p:spPr>
          <a:xfrm>
            <a:off x="1" y="0"/>
            <a:ext cx="12202925" cy="609600"/>
          </a:xfrm>
          <a:prstGeom prst="rect">
            <a:avLst/>
          </a:prstGeom>
        </p:spPr>
      </p:pic>
    </p:spTree>
    <p:extLst>
      <p:ext uri="{BB962C8B-B14F-4D97-AF65-F5344CB8AC3E}">
        <p14:creationId xmlns:p14="http://schemas.microsoft.com/office/powerpoint/2010/main" val="1360500638"/>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 id="2147483684" r:id="rId12"/>
    <p:sldLayoutId id="2147483685" r:id="rId13"/>
    <p:sldLayoutId id="2147483665" r:id="rId14"/>
  </p:sldLayoutIdLst>
  <p:hf hdr="0" ftr="0" dt="0"/>
  <p:txStyles>
    <p:titleStyle>
      <a:lvl1pPr algn="ctr" defTabSz="609585" rtl="0" eaLnBrk="1" fontAlgn="base" hangingPunct="1">
        <a:spcBef>
          <a:spcPct val="0"/>
        </a:spcBef>
        <a:spcAft>
          <a:spcPct val="0"/>
        </a:spcAft>
        <a:defRPr sz="4267" b="1" kern="1200">
          <a:solidFill>
            <a:schemeClr val="tx1"/>
          </a:solidFill>
          <a:latin typeface="Arial"/>
          <a:ea typeface="ＭＳ Ｐゴシック" charset="0"/>
          <a:cs typeface="Arial"/>
        </a:defRPr>
      </a:lvl1pPr>
      <a:lvl2pPr algn="ctr" defTabSz="609585" rtl="0" eaLnBrk="1" fontAlgn="base" hangingPunct="1">
        <a:spcBef>
          <a:spcPct val="0"/>
        </a:spcBef>
        <a:spcAft>
          <a:spcPct val="0"/>
        </a:spcAft>
        <a:defRPr sz="4267" b="1">
          <a:solidFill>
            <a:schemeClr val="tx1"/>
          </a:solidFill>
          <a:latin typeface="Arial" charset="0"/>
          <a:ea typeface="ＭＳ Ｐゴシック" charset="0"/>
        </a:defRPr>
      </a:lvl2pPr>
      <a:lvl3pPr algn="ctr" defTabSz="609585" rtl="0" eaLnBrk="1" fontAlgn="base" hangingPunct="1">
        <a:spcBef>
          <a:spcPct val="0"/>
        </a:spcBef>
        <a:spcAft>
          <a:spcPct val="0"/>
        </a:spcAft>
        <a:defRPr sz="4267" b="1">
          <a:solidFill>
            <a:schemeClr val="tx1"/>
          </a:solidFill>
          <a:latin typeface="Arial" charset="0"/>
          <a:ea typeface="ＭＳ Ｐゴシック" charset="0"/>
        </a:defRPr>
      </a:lvl3pPr>
      <a:lvl4pPr algn="ctr" defTabSz="609585" rtl="0" eaLnBrk="1" fontAlgn="base" hangingPunct="1">
        <a:spcBef>
          <a:spcPct val="0"/>
        </a:spcBef>
        <a:spcAft>
          <a:spcPct val="0"/>
        </a:spcAft>
        <a:defRPr sz="4267" b="1">
          <a:solidFill>
            <a:schemeClr val="tx1"/>
          </a:solidFill>
          <a:latin typeface="Arial" charset="0"/>
          <a:ea typeface="ＭＳ Ｐゴシック" charset="0"/>
        </a:defRPr>
      </a:lvl4pPr>
      <a:lvl5pPr algn="ctr" defTabSz="609585" rtl="0" eaLnBrk="1" fontAlgn="base" hangingPunct="1">
        <a:spcBef>
          <a:spcPct val="0"/>
        </a:spcBef>
        <a:spcAft>
          <a:spcPct val="0"/>
        </a:spcAft>
        <a:defRPr sz="4267" b="1">
          <a:solidFill>
            <a:schemeClr val="tx1"/>
          </a:solidFill>
          <a:latin typeface="Arial" charset="0"/>
          <a:ea typeface="ＭＳ Ｐゴシック" charset="0"/>
        </a:defRPr>
      </a:lvl5pPr>
      <a:lvl6pPr marL="609585" algn="ctr" defTabSz="609585" rtl="0" eaLnBrk="1" fontAlgn="base" hangingPunct="1">
        <a:spcBef>
          <a:spcPct val="0"/>
        </a:spcBef>
        <a:spcAft>
          <a:spcPct val="0"/>
        </a:spcAft>
        <a:defRPr sz="4267" b="1">
          <a:solidFill>
            <a:schemeClr val="tx1"/>
          </a:solidFill>
          <a:latin typeface="Arial" charset="0"/>
          <a:ea typeface="ＭＳ Ｐゴシック" charset="0"/>
        </a:defRPr>
      </a:lvl6pPr>
      <a:lvl7pPr marL="1219170" algn="ctr" defTabSz="609585" rtl="0" eaLnBrk="1" fontAlgn="base" hangingPunct="1">
        <a:spcBef>
          <a:spcPct val="0"/>
        </a:spcBef>
        <a:spcAft>
          <a:spcPct val="0"/>
        </a:spcAft>
        <a:defRPr sz="4267" b="1">
          <a:solidFill>
            <a:schemeClr val="tx1"/>
          </a:solidFill>
          <a:latin typeface="Arial" charset="0"/>
          <a:ea typeface="ＭＳ Ｐゴシック" charset="0"/>
        </a:defRPr>
      </a:lvl7pPr>
      <a:lvl8pPr marL="1828754" algn="ctr" defTabSz="609585" rtl="0" eaLnBrk="1" fontAlgn="base" hangingPunct="1">
        <a:spcBef>
          <a:spcPct val="0"/>
        </a:spcBef>
        <a:spcAft>
          <a:spcPct val="0"/>
        </a:spcAft>
        <a:defRPr sz="4267" b="1">
          <a:solidFill>
            <a:schemeClr val="tx1"/>
          </a:solidFill>
          <a:latin typeface="Arial" charset="0"/>
          <a:ea typeface="ＭＳ Ｐゴシック" charset="0"/>
        </a:defRPr>
      </a:lvl8pPr>
      <a:lvl9pPr marL="2438339" algn="ctr" defTabSz="609585" rtl="0" eaLnBrk="1" fontAlgn="base" hangingPunct="1">
        <a:spcBef>
          <a:spcPct val="0"/>
        </a:spcBef>
        <a:spcAft>
          <a:spcPct val="0"/>
        </a:spcAft>
        <a:defRPr sz="4267" b="1">
          <a:solidFill>
            <a:schemeClr val="tx1"/>
          </a:solidFill>
          <a:latin typeface="Arial" charset="0"/>
          <a:ea typeface="ＭＳ Ｐゴシック" charset="0"/>
        </a:defRPr>
      </a:lvl9pPr>
    </p:titleStyle>
    <p:bodyStyle>
      <a:lvl1pPr marL="457189" indent="-457189" algn="l" defTabSz="609585" rtl="0" eaLnBrk="1" fontAlgn="base" hangingPunct="1">
        <a:spcBef>
          <a:spcPct val="20000"/>
        </a:spcBef>
        <a:spcAft>
          <a:spcPct val="0"/>
        </a:spcAft>
        <a:buFont typeface="Arial" charset="0"/>
        <a:buChar char="•"/>
        <a:defRPr sz="3200" kern="1200">
          <a:solidFill>
            <a:schemeClr val="tx1"/>
          </a:solidFill>
          <a:latin typeface="Arial"/>
          <a:ea typeface="ＭＳ Ｐゴシック" charset="0"/>
          <a:cs typeface="Arial"/>
        </a:defRPr>
      </a:lvl1pPr>
      <a:lvl2pPr marL="990575" indent="-380990" algn="l" defTabSz="609585" rtl="0" eaLnBrk="1" fontAlgn="base" hangingPunct="1">
        <a:spcBef>
          <a:spcPct val="20000"/>
        </a:spcBef>
        <a:spcAft>
          <a:spcPct val="0"/>
        </a:spcAft>
        <a:buFont typeface="Arial" charset="0"/>
        <a:buChar char="–"/>
        <a:defRPr sz="3200" kern="1200">
          <a:solidFill>
            <a:schemeClr val="tx1"/>
          </a:solidFill>
          <a:latin typeface="Arial"/>
          <a:ea typeface="ＭＳ Ｐゴシック" charset="0"/>
          <a:cs typeface="Arial"/>
        </a:defRPr>
      </a:lvl2pPr>
      <a:lvl3pPr marL="1523962" indent="-304792" algn="l" defTabSz="609585" rtl="0" eaLnBrk="1" fontAlgn="base" hangingPunct="1">
        <a:spcBef>
          <a:spcPct val="20000"/>
        </a:spcBef>
        <a:spcAft>
          <a:spcPct val="0"/>
        </a:spcAft>
        <a:buFont typeface="Arial" charset="0"/>
        <a:buChar char="•"/>
        <a:defRPr kern="1200">
          <a:solidFill>
            <a:schemeClr val="tx1"/>
          </a:solidFill>
          <a:latin typeface="Arial"/>
          <a:ea typeface="ＭＳ Ｐゴシック" charset="0"/>
          <a:cs typeface="Arial"/>
        </a:defRPr>
      </a:lvl3pPr>
      <a:lvl4pPr marL="2133547" indent="-304792" algn="l" defTabSz="609585" rtl="0" eaLnBrk="1" fontAlgn="base" hangingPunct="1">
        <a:spcBef>
          <a:spcPct val="20000"/>
        </a:spcBef>
        <a:spcAft>
          <a:spcPct val="0"/>
        </a:spcAft>
        <a:buFont typeface="Arial" charset="0"/>
        <a:buChar char="–"/>
        <a:defRPr sz="1867" kern="1200">
          <a:solidFill>
            <a:schemeClr val="tx1"/>
          </a:solidFill>
          <a:latin typeface="Arial"/>
          <a:ea typeface="ＭＳ Ｐゴシック" charset="0"/>
          <a:cs typeface="Arial"/>
        </a:defRPr>
      </a:lvl4pPr>
      <a:lvl5pPr marL="2743131" indent="-304792" algn="l" defTabSz="609585" rtl="0" eaLnBrk="1" fontAlgn="base" hangingPunct="1">
        <a:spcBef>
          <a:spcPct val="20000"/>
        </a:spcBef>
        <a:spcAft>
          <a:spcPct val="0"/>
        </a:spcAft>
        <a:buFont typeface="Arial" charset="0"/>
        <a:buChar char="»"/>
        <a:defRPr sz="1333" kern="1200">
          <a:solidFill>
            <a:schemeClr val="tx1"/>
          </a:solidFill>
          <a:latin typeface="Arial"/>
          <a:ea typeface="ＭＳ Ｐゴシック" charset="0"/>
          <a:cs typeface="Arial"/>
        </a:defRPr>
      </a:lvl5pPr>
      <a:lvl6pPr marL="3352716" indent="-304792" algn="l" defTabSz="609585" rtl="0" eaLnBrk="1" latinLnBrk="0" hangingPunct="1">
        <a:spcBef>
          <a:spcPct val="20000"/>
        </a:spcBef>
        <a:buFont typeface="Arial"/>
        <a:buChar char="•"/>
        <a:defRPr sz="2667" kern="1200">
          <a:solidFill>
            <a:schemeClr val="tx1"/>
          </a:solidFill>
          <a:latin typeface="+mn-lt"/>
          <a:ea typeface="+mn-ea"/>
          <a:cs typeface="+mn-cs"/>
        </a:defRPr>
      </a:lvl6pPr>
      <a:lvl7pPr marL="3962301" indent="-304792" algn="l" defTabSz="609585" rtl="0" eaLnBrk="1" latinLnBrk="0" hangingPunct="1">
        <a:spcBef>
          <a:spcPct val="20000"/>
        </a:spcBef>
        <a:buFont typeface="Arial"/>
        <a:buChar char="•"/>
        <a:defRPr sz="2667" kern="1200">
          <a:solidFill>
            <a:schemeClr val="tx1"/>
          </a:solidFill>
          <a:latin typeface="+mn-lt"/>
          <a:ea typeface="+mn-ea"/>
          <a:cs typeface="+mn-cs"/>
        </a:defRPr>
      </a:lvl7pPr>
      <a:lvl8pPr marL="4571886" indent="-304792" algn="l" defTabSz="609585" rtl="0" eaLnBrk="1" latinLnBrk="0" hangingPunct="1">
        <a:spcBef>
          <a:spcPct val="20000"/>
        </a:spcBef>
        <a:buFont typeface="Arial"/>
        <a:buChar char="•"/>
        <a:defRPr sz="2667" kern="1200">
          <a:solidFill>
            <a:schemeClr val="tx1"/>
          </a:solidFill>
          <a:latin typeface="+mn-lt"/>
          <a:ea typeface="+mn-ea"/>
          <a:cs typeface="+mn-cs"/>
        </a:defRPr>
      </a:lvl8pPr>
      <a:lvl9pPr marL="5181470" indent="-304792" algn="l" defTabSz="609585" rtl="0" eaLnBrk="1" latinLnBrk="0" hangingPunct="1">
        <a:spcBef>
          <a:spcPct val="20000"/>
        </a:spcBef>
        <a:buFont typeface="Arial"/>
        <a:buChar char="•"/>
        <a:defRPr sz="2667" kern="1200">
          <a:solidFill>
            <a:schemeClr val="tx1"/>
          </a:solidFill>
          <a:latin typeface="+mn-lt"/>
          <a:ea typeface="+mn-ea"/>
          <a:cs typeface="+mn-cs"/>
        </a:defRPr>
      </a:lvl9pPr>
    </p:bodyStyle>
    <p:other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 Id="rId3"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hyperlink" Target="https://doi.org/10.3390/ma17051146" TargetMode="External"/><Relationship Id="rId4" Type="http://schemas.openxmlformats.org/officeDocument/2006/relationships/hyperlink" Target="https://inldigitallibrary.inl.gov/sites/sti/sti/4633193.pdf" TargetMode="External"/><Relationship Id="rId5" Type="http://schemas.openxmlformats.org/officeDocument/2006/relationships/hyperlink" Target="https://www.sciencedirect.com/science/article/abs/pii/S0022311518317094" TargetMode="External"/><Relationship Id="rId6" Type="http://schemas.openxmlformats.org/officeDocument/2006/relationships/hyperlink" Target="https://pmc.ncbi.nlm.nih.gov/articles/PMC12429484/" TargetMode="External"/><Relationship Id="rId7" Type="http://schemas.openxmlformats.org/officeDocument/2006/relationships/hyperlink" Target="https://www.osti.gov/pages/biblio/1859816" TargetMode="External"/><Relationship Id="rId8" Type="http://schemas.openxmlformats.org/officeDocument/2006/relationships/hyperlink" Target="https://www.nrc.gov/docs/ML0607/ML060720151.pdf" TargetMode="External"/><Relationship Id="rId9" Type="http://schemas.openxmlformats.org/officeDocument/2006/relationships/hyperlink" Target="https://doi.org/10.3390/ma14102622" TargetMode="External"/><Relationship Id="rId10" Type="http://schemas.openxmlformats.org/officeDocument/2006/relationships/hyperlink" Target="https://doi.org/10.3390/ma17040925" TargetMode="External"/><Relationship Id="rId11" Type="http://schemas.openxmlformats.org/officeDocument/2006/relationships/hyperlink" Target="https://www.sciencedirect.com/science/article/abs/pii/S0022311509006291" TargetMode="Externa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 Id="rId3" Type="http://schemas.openxmlformats.org/officeDocument/2006/relationships/hyperlink" Target="https://www.sciencedirect.com/science/article/abs/pii/S0022311522001970" TargetMode="External"/><Relationship Id="rId4" Type="http://schemas.openxmlformats.org/officeDocument/2006/relationships/hyperlink" Target="https://www.osti.gov/biblio/6047164" TargetMode="External"/><Relationship Id="rId5" Type="http://schemas.openxmlformats.org/officeDocument/2006/relationships/hyperlink" Target="https://www.sciencedirect.com/science/article/abs/pii/002231159290501B" TargetMode="External"/><Relationship Id="rId6" Type="http://schemas.openxmlformats.org/officeDocument/2006/relationships/hyperlink" Target="https://link.springer.com/article/10.1007/s42864-021-00077-7" TargetMode="External"/><Relationship Id="rId7" Type="http://schemas.openxmlformats.org/officeDocument/2006/relationships/hyperlink" Target="https://publications.anl.gov/anlpubs/2002/06/43288.pdf" TargetMode="External"/><Relationship Id="rId8" Type="http://schemas.openxmlformats.org/officeDocument/2006/relationships/hyperlink" Target="https://www.sciencedirect.com/science/article/abs/pii/0022311578904749" TargetMode="External"/><Relationship Id="rId9" Type="http://schemas.openxmlformats.org/officeDocument/2006/relationships/hyperlink" Target="https://www.osti.gov/servlets/purl/10981" TargetMode="External"/><Relationship Id="rId10" Type="http://schemas.openxmlformats.org/officeDocument/2006/relationships/hyperlink" Target="https://www.sciencedirect.com/science/article/abs/pii/002231158490583X" TargetMode="External"/><Relationship Id="rId11" Type="http://schemas.openxmlformats.org/officeDocument/2006/relationships/hyperlink" Target="https://link.springer.com/article/10.1007/s11837-017-2642-x" TargetMode="Externa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hyperlink" Target="https://www.sciencedirect.com/science/article/abs/pii/S0022311515001555" TargetMode="External"/><Relationship Id="rId4" Type="http://schemas.openxmlformats.org/officeDocument/2006/relationships/hyperlink" Target="https://inldigitallibrary.inl.gov/sites/sti/sti/Sort_54716.pdf" TargetMode="External"/><Relationship Id="rId5" Type="http://schemas.openxmlformats.org/officeDocument/2006/relationships/hyperlink" Target="https://impact.ornl.gov/en/publications/code-qualification-of-alloy-709-for-high-temperature-reactor-appl/" TargetMode="External"/><Relationship Id="rId6" Type="http://schemas.openxmlformats.org/officeDocument/2006/relationships/hyperlink" Target="https://www.nature.com/articles/ncomms7529" TargetMode="External"/><Relationship Id="rId7" Type="http://schemas.openxmlformats.org/officeDocument/2006/relationships/hyperlink" Target="https://www.sciencedirect.com/science/article/pii/S0966979526003390" TargetMode="External"/><Relationship Id="rId8" Type="http://schemas.openxmlformats.org/officeDocument/2006/relationships/hyperlink" Target="https://www.nature.com/articles/s41524-019-0265-1" TargetMode="External"/><Relationship Id="rId9" Type="http://schemas.openxmlformats.org/officeDocument/2006/relationships/hyperlink" Target="https://www.science.org/doi/10.1126/science.abo4940" TargetMode="External"/><Relationship Id="rId10" Type="http://schemas.openxmlformats.org/officeDocument/2006/relationships/hyperlink" Target="https://www.sciencedirect.com/science/article/abs/pii/S0022311525003988"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NE 763: Advanced Reactor Materials</a:t>
            </a:r>
          </a:p>
        </p:txBody>
      </p:sp>
      <p:sp>
        <p:nvSpPr>
          <p:cNvPr id="3" name="Subtitle 2"/>
          <p:cNvSpPr>
            <a:spLocks noGrp="1"/>
          </p:cNvSpPr>
          <p:nvPr>
            <p:ph type="subTitle" idx="1"/>
          </p:nvPr>
        </p:nvSpPr>
        <p:spPr/>
        <p:txBody>
          <a:bodyPr/>
          <a:lstStyle/>
          <a:p>
            <a:r>
              <a:t>Advanced Cladding: Supplement</a:t>
            </a:r>
          </a:p>
          <a:p>
            <a:r>
              <a:t>Dr. Benjamin Beeler</a:t>
            </a:r>
          </a:p>
        </p:txBody>
      </p:sp>
      <p:sp>
        <p:nvSpPr>
          <p:cNvPr id="6" name="Slide Number Placeholder 5"/>
          <p:cNvSpPr>
            <a:spLocks noGrp="1"/>
          </p:cNvSpPr>
          <p:nvPr>
            <p:ph type="sldNum" sz="quarter" idx="12"/>
          </p:nvPr>
        </p:nvSpPr>
        <p:spPr/>
        <p:txBody>
          <a:bodyPr/>
          <a:lstStyle>
            <a:lvl1pPr>
              <a:defRPr/>
            </a:lvl1pPr>
          </a:lstStyle>
          <a:p>
            <a:pPr>
              <a:defRPr/>
            </a:pPr>
            <a:fld id="{01E82176-A547-F94B-AC51-D6E9C882CB88}" type="slidenum">
              <a:rPr lang="en-US"/>
              <a:pPr>
                <a:defRPr/>
              </a:pPr>
              <a:t>‹#›</a:t>
            </a:fld>
            <a:endParaRPr lang="en-US"/>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Fabrication and Joining</a:t>
            </a:r>
          </a:p>
        </p:txBody>
      </p:sp>
      <p:sp>
        <p:nvSpPr>
          <p:cNvPr id="3" name="Content Placeholder 2"/>
          <p:cNvSpPr>
            <a:spLocks noGrp="1"/>
          </p:cNvSpPr>
          <p:nvPr>
            <p:ph idx="1"/>
          </p:nvPr>
        </p:nvSpPr>
        <p:spPr>
          <a:xfrm>
            <a:off x="612648" y="1691640"/>
            <a:ext cx="10972800" cy="4434840"/>
          </a:xfrm>
        </p:spPr>
        <p:txBody>
          <a:bodyPr/>
          <a:lstStyle/>
          <a:p>
            <a:pPr/>
            <a:r>
              <a:rPr sz="1800"/>
              <a:t>ODS tube fabrication</a:t>
            </a:r>
          </a:p>
          <a:p>
            <a:pPr lvl="1"/>
            <a:r>
              <a:rPr sz="1600"/>
              <a:t>Milled powder (+Y₂O₃, TiH₂) → hot extrusion (~1100 °C) → cold pilgering with ~1200 °C intermediate anneals</a:t>
            </a:r>
          </a:p>
          <a:p>
            <a:pPr lvl="1"/>
            <a:r>
              <a:rPr sz="1600"/>
              <a:t>Ferritic ODS: grains elongate along the rolling direction with ⟨110⟩ texture → anisotropic properties; one Fe-14Cr tube resisted recrystallization even at 1350 °C</a:t>
            </a:r>
          </a:p>
          <a:p>
            <a:pPr lvl="1"/>
            <a:r>
              <a:rPr sz="1600"/>
              <a:t>9Cr martensitic ODS can reset its grain structure through the α↔γ transformation</a:t>
            </a:r>
          </a:p>
          <a:p>
            <a:pPr/>
            <a:r>
              <a:rPr sz="1800"/>
              <a:t>Joining</a:t>
            </a:r>
          </a:p>
          <a:p>
            <a:pPr lvl="1"/>
            <a:r>
              <a:rPr sz="1600"/>
              <a:t>Fusion welding agglomerates the yttria and adds porosity and coarse grains → weak weld zone</a:t>
            </a:r>
          </a:p>
          <a:p>
            <a:pPr lvl="1"/>
            <a:r>
              <a:rPr sz="1600"/>
              <a:t>Solid-state methods instead: pressure resistance welding (PRW), resistance upset welding</a:t>
            </a:r>
          </a:p>
          <a:p>
            <a:pPr lvl="1"/>
            <a:r>
              <a:rPr sz="1600"/>
              <a:t>PRW MA957/HT-9 joints: ~90° bends, no burst at RT or 400 °C; joints failed at ≥575 °C</a:t>
            </a:r>
          </a:p>
          <a:p>
            <a:pPr lvl="1"/>
            <a:r>
              <a:rPr sz="1600"/>
              <a:t>Upset welds (9Cr, 14Cr ODS): dynamic recrystallization; oxide size and fraction change only slightly</a:t>
            </a:r>
          </a:p>
          <a:p>
            <a:pPr/>
            <a:r>
              <a:rPr sz="1800"/>
              <a:t>Additive manufacturing</a:t>
            </a:r>
          </a:p>
          <a:p>
            <a:pPr lvl="1"/>
            <a:r>
              <a:rPr sz="1600"/>
              <a:t>L-PBF cools at 10⁴–10⁷ K/s vs. 10²–10⁴ K/s for DED → less time for oxides to coarsen</a:t>
            </a:r>
          </a:p>
          <a:p>
            <a:pPr lvl="1"/>
            <a:r>
              <a:rPr sz="1600"/>
              <a:t>Slower cooling agglomerates oxides; routes include GARS powder and in situ oxide formation</a:t>
            </a:r>
          </a:p>
        </p:txBody>
      </p:sp>
      <p:sp>
        <p:nvSpPr>
          <p:cNvPr id="6" name="Slide Number Placeholder 5"/>
          <p:cNvSpPr>
            <a:spLocks noGrp="1"/>
          </p:cNvSpPr>
          <p:nvPr>
            <p:ph type="sldNum" sz="quarter" idx="12"/>
          </p:nvPr>
        </p:nvSpPr>
        <p:spPr/>
        <p:txBody>
          <a:bodyPr/>
          <a:lstStyle>
            <a:lvl1pPr>
              <a:defRPr/>
            </a:lvl1pPr>
          </a:lstStyle>
          <a:p>
            <a:pPr>
              <a:defRPr/>
            </a:pPr>
            <a:fld id="{3FF2C605-4958-CF43-AA48-80339EFDB0AF}" type="slidenum">
              <a:rPr lang="en-US"/>
              <a:pPr>
                <a:defRPr/>
              </a:pPr>
              <a:t>‹#›</a:t>
            </a:fld>
            <a:endParaRPr lang="en-US"/>
          </a:p>
        </p:txBody>
      </p:sp>
      <p:sp>
        <p:nvSpPr>
          <p:cNvPr id="7" name="TextBox 6"/>
          <p:cNvSpPr txBox="1"/>
          <p:nvPr/>
        </p:nvSpPr>
        <p:spPr>
          <a:xfrm>
            <a:off x="612648" y="6199632"/>
            <a:ext cx="7955279" cy="320040"/>
          </a:xfrm>
          <a:prstGeom prst="rect">
            <a:avLst/>
          </a:prstGeom>
          <a:noFill/>
        </p:spPr>
        <p:txBody>
          <a:bodyPr wrap="square">
            <a:spAutoFit/>
          </a:bodyPr>
          <a:lstStyle/>
          <a:p>
            <a:pPr algn="l"/>
            <a:r>
              <a:rPr sz="1100" b="0" i="0">
                <a:solidFill>
                  <a:srgbClr val="595959"/>
                </a:solidFill>
                <a:latin typeface="Arial"/>
              </a:rPr>
              <a:t>Sources: [1] tube route; [2] PRW; [3] upset welding; [4], [5] additive manufacturing</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Radiation-resistant austenitics</a:t>
            </a:r>
          </a:p>
        </p:txBody>
      </p:sp>
      <p:sp>
        <p:nvSpPr>
          <p:cNvPr id="3" name="Text Placeholder 2"/>
          <p:cNvSpPr>
            <a:spLocks noGrp="1"/>
          </p:cNvSpPr>
          <p:nvPr>
            <p:ph type="body" idx="1"/>
          </p:nvPr>
        </p:nvSpPr>
        <p:spPr/>
        <p:txBody>
          <a:bodyPr/>
          <a:lstStyle/>
          <a:p/>
        </p:txBody>
      </p:sp>
      <p:sp>
        <p:nvSpPr>
          <p:cNvPr id="6" name="Slide Number Placeholder 5"/>
          <p:cNvSpPr>
            <a:spLocks noGrp="1"/>
          </p:cNvSpPr>
          <p:nvPr>
            <p:ph type="sldNum" sz="quarter" idx="12"/>
          </p:nvPr>
        </p:nvSpPr>
        <p:spPr/>
        <p:txBody>
          <a:bodyPr/>
          <a:lstStyle>
            <a:lvl1pPr>
              <a:defRPr/>
            </a:lvl1pPr>
          </a:lstStyle>
          <a:p>
            <a:pPr>
              <a:defRPr/>
            </a:pPr>
            <a:fld id="{0DA6BD0F-ABBC-C14D-BC96-77BE126A748B}" type="slidenum">
              <a:rPr lang="en-US"/>
              <a:pPr>
                <a:defRPr/>
              </a:pPr>
              <a:t>‹#›</a:t>
            </a:fld>
            <a:endParaRPr lang="en-US"/>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Why Revisit Austenitic Steels?</a:t>
            </a:r>
          </a:p>
        </p:txBody>
      </p:sp>
      <p:sp>
        <p:nvSpPr>
          <p:cNvPr id="3" name="Content Placeholder 2"/>
          <p:cNvSpPr>
            <a:spLocks noGrp="1"/>
          </p:cNvSpPr>
          <p:nvPr>
            <p:ph idx="1" sz="half"/>
          </p:nvPr>
        </p:nvSpPr>
        <p:spPr>
          <a:xfrm>
            <a:off x="612648" y="1828800"/>
            <a:ext cx="5394960" cy="3383280"/>
          </a:xfrm>
        </p:spPr>
        <p:txBody>
          <a:bodyPr/>
          <a:lstStyle/>
          <a:p>
            <a:pPr/>
            <a:r>
              <a:rPr sz="2000" b="1"/>
              <a:t>Advantages</a:t>
            </a:r>
          </a:p>
          <a:p>
            <a:pPr lvl="1"/>
            <a:r>
              <a:rPr sz="1800"/>
              <a:t>FCC: no ductile-to-brittle transition</a:t>
            </a:r>
          </a:p>
          <a:p>
            <a:pPr lvl="1"/>
            <a:r>
              <a:rPr sz="1800"/>
              <a:t>Good creep strength at cladding temperatures (up to ~650 °C)</a:t>
            </a:r>
          </a:p>
          <a:p>
            <a:pPr lvl="1"/>
            <a:r>
              <a:rPr sz="1800"/>
              <a:t>Large fuel-pin database: EBR-II, FFTF, Phénix, BN-600, FBTR</a:t>
            </a:r>
          </a:p>
          <a:p>
            <a:pPr lvl="1"/>
            <a:r>
              <a:rPr sz="1800"/>
              <a:t>Still selected: Alloy D9 clads India's 500 MWe PFBR</a:t>
            </a:r>
          </a:p>
        </p:txBody>
      </p:sp>
      <p:sp>
        <p:nvSpPr>
          <p:cNvPr id="4" name="Content Placeholder 3"/>
          <p:cNvSpPr>
            <a:spLocks noGrp="1"/>
          </p:cNvSpPr>
          <p:nvPr>
            <p:ph idx="2" sz="half"/>
          </p:nvPr>
        </p:nvSpPr>
        <p:spPr>
          <a:xfrm>
            <a:off x="6199632" y="1828800"/>
            <a:ext cx="5394960" cy="3383280"/>
          </a:xfrm>
        </p:spPr>
        <p:txBody>
          <a:bodyPr/>
          <a:lstStyle/>
          <a:p>
            <a:pPr/>
            <a:r>
              <a:rPr sz="2000" b="1"/>
              <a:t>Limitations</a:t>
            </a:r>
          </a:p>
          <a:p>
            <a:pPr lvl="1"/>
            <a:r>
              <a:rPr sz="1800"/>
              <a:t>Void swelling after an incubation dose, then ~1%/dpa</a:t>
            </a:r>
          </a:p>
          <a:p>
            <a:pPr lvl="1"/>
            <a:r>
              <a:rPr sz="1800"/>
              <a:t>Swelling-driven dimensional change caps burnup</a:t>
            </a:r>
          </a:p>
          <a:p>
            <a:pPr lvl="1"/>
            <a:r>
              <a:rPr sz="1800"/>
              <a:t>Ni transmutation → He at grain boundaries at high T</a:t>
            </a:r>
          </a:p>
          <a:p>
            <a:pPr lvl="1"/>
            <a:r>
              <a:rPr sz="1800"/>
              <a:t>Radiation-induced phase instability erodes the alloy design</a:t>
            </a:r>
          </a:p>
        </p:txBody>
      </p:sp>
      <p:sp>
        <p:nvSpPr>
          <p:cNvPr id="7" name="Slide Number Placeholder 5"/>
          <p:cNvSpPr>
            <a:spLocks noGrp="1"/>
          </p:cNvSpPr>
          <p:nvPr>
            <p:ph type="sldNum" sz="quarter" idx="12"/>
          </p:nvPr>
        </p:nvSpPr>
        <p:spPr/>
        <p:txBody>
          <a:bodyPr/>
          <a:lstStyle>
            <a:lvl1pPr>
              <a:defRPr/>
            </a:lvl1pPr>
          </a:lstStyle>
          <a:p>
            <a:pPr>
              <a:defRPr/>
            </a:pPr>
            <a:fld id="{EC35E9FC-F6D5-0349-BBED-EA7D7A9BC49B}" type="slidenum">
              <a:rPr lang="en-US"/>
              <a:pPr>
                <a:defRPr/>
              </a:pPr>
              <a:t>‹#›</a:t>
            </a:fld>
            <a:endParaRPr lang="en-US"/>
          </a:p>
        </p:txBody>
      </p:sp>
      <p:sp>
        <p:nvSpPr>
          <p:cNvPr id="8" name="TextBox 7"/>
          <p:cNvSpPr txBox="1"/>
          <p:nvPr/>
        </p:nvSpPr>
        <p:spPr>
          <a:xfrm>
            <a:off x="612648" y="5349240"/>
            <a:ext cx="10972800" cy="640080"/>
          </a:xfrm>
          <a:prstGeom prst="rect">
            <a:avLst/>
          </a:prstGeom>
          <a:noFill/>
        </p:spPr>
        <p:txBody>
          <a:bodyPr wrap="square">
            <a:spAutoFit/>
          </a:bodyPr>
          <a:lstStyle/>
          <a:p>
            <a:pPr algn="l"/>
            <a:r>
              <a:rPr sz="2000" b="1" i="0">
                <a:solidFill>
                  <a:srgbClr val="CC0000"/>
                </a:solidFill>
                <a:latin typeface="Arial"/>
              </a:rPr>
              <a:t>Key question: how far can composition and processing push the swelling incubation dose?</a:t>
            </a:r>
          </a:p>
        </p:txBody>
      </p:sp>
      <p:sp>
        <p:nvSpPr>
          <p:cNvPr id="9" name="TextBox 8"/>
          <p:cNvSpPr txBox="1"/>
          <p:nvPr/>
        </p:nvSpPr>
        <p:spPr>
          <a:xfrm>
            <a:off x="612648" y="6199632"/>
            <a:ext cx="7955279" cy="320040"/>
          </a:xfrm>
          <a:prstGeom prst="rect">
            <a:avLst/>
          </a:prstGeom>
          <a:noFill/>
        </p:spPr>
        <p:txBody>
          <a:bodyPr wrap="square">
            <a:spAutoFit/>
          </a:bodyPr>
          <a:lstStyle/>
          <a:p>
            <a:pPr algn="l"/>
            <a:r>
              <a:rPr sz="1100" b="0" i="0">
                <a:solidFill>
                  <a:srgbClr val="595959"/>
                </a:solidFill>
                <a:latin typeface="Arial"/>
              </a:rPr>
              <a:t>Sources: [6]–[11]</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Ti-Modified 15Cr–15Ni Steels</a:t>
            </a:r>
          </a:p>
        </p:txBody>
      </p:sp>
      <p:sp>
        <p:nvSpPr>
          <p:cNvPr id="3" name="Content Placeholder 2"/>
          <p:cNvSpPr>
            <a:spLocks noGrp="1"/>
          </p:cNvSpPr>
          <p:nvPr>
            <p:ph idx="1"/>
          </p:nvPr>
        </p:nvSpPr>
        <p:spPr>
          <a:xfrm>
            <a:off x="612648" y="1691640"/>
            <a:ext cx="10972800" cy="548640"/>
          </a:xfrm>
        </p:spPr>
        <p:txBody>
          <a:bodyPr/>
          <a:lstStyle/>
          <a:p>
            <a:pPr/>
            <a:r>
              <a:rPr sz="1800"/>
              <a:t>Common recipe: more Ni than 316, Ti additions (with B, P or Si in some grades), and ~20% cold work</a:t>
            </a:r>
          </a:p>
        </p:txBody>
      </p:sp>
      <p:sp>
        <p:nvSpPr>
          <p:cNvPr id="6" name="Slide Number Placeholder 5"/>
          <p:cNvSpPr>
            <a:spLocks noGrp="1"/>
          </p:cNvSpPr>
          <p:nvPr>
            <p:ph type="sldNum" sz="quarter" idx="12"/>
          </p:nvPr>
        </p:nvSpPr>
        <p:spPr/>
        <p:txBody>
          <a:bodyPr/>
          <a:lstStyle>
            <a:lvl1pPr>
              <a:defRPr/>
            </a:lvl1pPr>
          </a:lstStyle>
          <a:p>
            <a:pPr>
              <a:defRPr/>
            </a:pPr>
            <a:fld id="{3FF2C605-4958-CF43-AA48-80339EFDB0AF}" type="slidenum">
              <a:rPr lang="en-US"/>
              <a:pPr>
                <a:defRPr/>
              </a:pPr>
              <a:t>‹#›</a:t>
            </a:fld>
            <a:endParaRPr lang="en-US"/>
          </a:p>
        </p:txBody>
      </p:sp>
      <p:graphicFrame>
        <p:nvGraphicFramePr>
          <p:cNvPr id="7" name="Table 6"/>
          <p:cNvGraphicFramePr>
            <a:graphicFrameLocks noGrp="1"/>
          </p:cNvGraphicFramePr>
          <p:nvPr/>
        </p:nvGraphicFramePr>
        <p:xfrm>
          <a:off x="612648" y="2331720"/>
          <a:ext cx="10972800" cy="3364992"/>
        </p:xfrm>
        <a:graphic>
          <a:graphicData uri="http://schemas.openxmlformats.org/drawingml/2006/table">
            <a:tbl>
              <a:tblPr firstRow="1" bandRow="1">
                <a:tableStyleId>{5C22544A-7EE6-4342-B048-85BDC9FD1C3A}</a:tableStyleId>
              </a:tblPr>
              <a:tblGrid>
                <a:gridCol w="2194560"/>
                <a:gridCol w="2651760"/>
                <a:gridCol w="6126480"/>
              </a:tblGrid>
              <a:tr h="420624">
                <a:tc>
                  <a:txBody>
                    <a:bodyPr/>
                    <a:lstStyle/>
                    <a:p>
                      <a:r>
                        <a:rPr sz="1600" b="1">
                          <a:solidFill>
                            <a:srgbClr val="FFFFFF"/>
                          </a:solidFill>
                          <a:latin typeface="Arial"/>
                        </a:rPr>
                        <a:t>Alloy</a:t>
                      </a:r>
                    </a:p>
                  </a:txBody>
                  <a:tcPr marL="73152" marR="73152" marT="36576" marB="36576" anchor="ctr">
                    <a:solidFill>
                      <a:srgbClr val="CC0000"/>
                    </a:solidFill>
                  </a:tcPr>
                </a:tc>
                <a:tc>
                  <a:txBody>
                    <a:bodyPr/>
                    <a:lstStyle/>
                    <a:p>
                      <a:r>
                        <a:rPr sz="1600" b="1">
                          <a:solidFill>
                            <a:srgbClr val="FFFFFF"/>
                          </a:solidFill>
                          <a:latin typeface="Arial"/>
                        </a:rPr>
                        <a:t>Program</a:t>
                      </a:r>
                    </a:p>
                  </a:txBody>
                  <a:tcPr marL="73152" marR="73152" marT="36576" marB="36576" anchor="ctr">
                    <a:solidFill>
                      <a:srgbClr val="CC0000"/>
                    </a:solidFill>
                  </a:tcPr>
                </a:tc>
                <a:tc>
                  <a:txBody>
                    <a:bodyPr/>
                    <a:lstStyle/>
                    <a:p>
                      <a:r>
                        <a:rPr sz="1600" b="1">
                          <a:solidFill>
                            <a:srgbClr val="FFFFFF"/>
                          </a:solidFill>
                          <a:latin typeface="Arial"/>
                        </a:rPr>
                        <a:t>What stands out</a:t>
                      </a:r>
                    </a:p>
                  </a:txBody>
                  <a:tcPr marL="73152" marR="73152" marT="36576" marB="36576" anchor="ctr">
                    <a:solidFill>
                      <a:srgbClr val="CC0000"/>
                    </a:solidFill>
                  </a:tcPr>
                </a:tc>
              </a:tr>
              <a:tr h="420624">
                <a:tc>
                  <a:txBody>
                    <a:bodyPr/>
                    <a:lstStyle/>
                    <a:p>
                      <a:r>
                        <a:rPr sz="1600" b="1">
                          <a:solidFill>
                            <a:srgbClr val="000000"/>
                          </a:solidFill>
                          <a:latin typeface="Arial"/>
                        </a:rPr>
                        <a:t>Type 316 (CW)</a:t>
                      </a:r>
                    </a:p>
                  </a:txBody>
                  <a:tcPr marL="73152" marR="73152" marT="36576" marB="36576" anchor="ctr">
                    <a:solidFill>
                      <a:srgbClr val="FFFFFF"/>
                    </a:solidFill>
                  </a:tcPr>
                </a:tc>
                <a:tc>
                  <a:txBody>
                    <a:bodyPr/>
                    <a:lstStyle/>
                    <a:p>
                      <a:r>
                        <a:rPr sz="1600">
                          <a:solidFill>
                            <a:srgbClr val="000000"/>
                          </a:solidFill>
                          <a:latin typeface="Arial"/>
                        </a:rPr>
                        <a:t>US: FFTF, EBR-II</a:t>
                      </a:r>
                    </a:p>
                  </a:txBody>
                  <a:tcPr marL="73152" marR="73152" marT="36576" marB="36576" anchor="ctr">
                    <a:solidFill>
                      <a:srgbClr val="FFFFFF"/>
                    </a:solidFill>
                  </a:tcPr>
                </a:tc>
                <a:tc>
                  <a:txBody>
                    <a:bodyPr/>
                    <a:lstStyle/>
                    <a:p>
                      <a:r>
                        <a:rPr sz="1600">
                          <a:solidFill>
                            <a:srgbClr val="000000"/>
                          </a:solidFill>
                          <a:latin typeface="Arial"/>
                        </a:rPr>
                        <a:t>Baseline; swelling became the burnup limit</a:t>
                      </a:r>
                    </a:p>
                  </a:txBody>
                  <a:tcPr marL="73152" marR="73152" marT="36576" marB="36576" anchor="ctr">
                    <a:solidFill>
                      <a:srgbClr val="FFFFFF"/>
                    </a:solidFill>
                  </a:tcPr>
                </a:tc>
              </a:tr>
              <a:tr h="420624">
                <a:tc>
                  <a:txBody>
                    <a:bodyPr/>
                    <a:lstStyle/>
                    <a:p>
                      <a:r>
                        <a:rPr sz="1600" b="1">
                          <a:solidFill>
                            <a:srgbClr val="000000"/>
                          </a:solidFill>
                          <a:latin typeface="Arial"/>
                        </a:rPr>
                        <a:t>D9</a:t>
                      </a:r>
                    </a:p>
                  </a:txBody>
                  <a:tcPr marL="73152" marR="73152" marT="36576" marB="36576" anchor="ctr">
                    <a:solidFill>
                      <a:srgbClr val="F2F2F2"/>
                    </a:solidFill>
                  </a:tcPr>
                </a:tc>
                <a:tc>
                  <a:txBody>
                    <a:bodyPr/>
                    <a:lstStyle/>
                    <a:p>
                      <a:r>
                        <a:rPr sz="1600">
                          <a:solidFill>
                            <a:srgbClr val="000000"/>
                          </a:solidFill>
                          <a:latin typeface="Arial"/>
                        </a:rPr>
                        <a:t>US</a:t>
                      </a:r>
                    </a:p>
                  </a:txBody>
                  <a:tcPr marL="73152" marR="73152" marT="36576" marB="36576" anchor="ctr">
                    <a:solidFill>
                      <a:srgbClr val="F2F2F2"/>
                    </a:solidFill>
                  </a:tcPr>
                </a:tc>
                <a:tc>
                  <a:txBody>
                    <a:bodyPr/>
                    <a:lstStyle/>
                    <a:p>
                      <a:r>
                        <a:rPr sz="1600">
                          <a:solidFill>
                            <a:srgbClr val="000000"/>
                          </a:solidFill>
                          <a:latin typeface="Arial"/>
                        </a:rPr>
                        <a:t>Ti-modified 316; swelled less than 316 in FFTF</a:t>
                      </a:r>
                    </a:p>
                  </a:txBody>
                  <a:tcPr marL="73152" marR="73152" marT="36576" marB="36576" anchor="ctr">
                    <a:solidFill>
                      <a:srgbClr val="F2F2F2"/>
                    </a:solidFill>
                  </a:tcPr>
                </a:tc>
              </a:tr>
              <a:tr h="420624">
                <a:tc>
                  <a:txBody>
                    <a:bodyPr/>
                    <a:lstStyle/>
                    <a:p>
                      <a:r>
                        <a:rPr sz="1600" b="1">
                          <a:solidFill>
                            <a:srgbClr val="000000"/>
                          </a:solidFill>
                          <a:latin typeface="Arial"/>
                        </a:rPr>
                        <a:t>D9I</a:t>
                      </a:r>
                    </a:p>
                  </a:txBody>
                  <a:tcPr marL="73152" marR="73152" marT="36576" marB="36576" anchor="ctr">
                    <a:solidFill>
                      <a:srgbClr val="FFFFFF"/>
                    </a:solidFill>
                  </a:tcPr>
                </a:tc>
                <a:tc>
                  <a:txBody>
                    <a:bodyPr/>
                    <a:lstStyle/>
                    <a:p>
                      <a:r>
                        <a:rPr sz="1600">
                          <a:solidFill>
                            <a:srgbClr val="000000"/>
                          </a:solidFill>
                          <a:latin typeface="Arial"/>
                        </a:rPr>
                        <a:t>India</a:t>
                      </a:r>
                    </a:p>
                  </a:txBody>
                  <a:tcPr marL="73152" marR="73152" marT="36576" marB="36576" anchor="ctr">
                    <a:solidFill>
                      <a:srgbClr val="FFFFFF"/>
                    </a:solidFill>
                  </a:tcPr>
                </a:tc>
                <a:tc>
                  <a:txBody>
                    <a:bodyPr/>
                    <a:lstStyle/>
                    <a:p>
                      <a:r>
                        <a:rPr sz="1600">
                          <a:solidFill>
                            <a:srgbClr val="000000"/>
                          </a:solidFill>
                          <a:latin typeface="Arial"/>
                        </a:rPr>
                        <a:t>Improved D9 for PFBR clad and wrapper</a:t>
                      </a:r>
                    </a:p>
                  </a:txBody>
                  <a:tcPr marL="73152" marR="73152" marT="36576" marB="36576" anchor="ctr">
                    <a:solidFill>
                      <a:srgbClr val="FFFFFF"/>
                    </a:solidFill>
                  </a:tcPr>
                </a:tc>
              </a:tr>
              <a:tr h="420624">
                <a:tc>
                  <a:txBody>
                    <a:bodyPr/>
                    <a:lstStyle/>
                    <a:p>
                      <a:r>
                        <a:rPr sz="1600" b="1">
                          <a:solidFill>
                            <a:srgbClr val="000000"/>
                          </a:solidFill>
                          <a:latin typeface="Arial"/>
                        </a:rPr>
                        <a:t>DIN 1.4970</a:t>
                      </a:r>
                    </a:p>
                  </a:txBody>
                  <a:tcPr marL="73152" marR="73152" marT="36576" marB="36576" anchor="ctr">
                    <a:solidFill>
                      <a:srgbClr val="F2F2F2"/>
                    </a:solidFill>
                  </a:tcPr>
                </a:tc>
                <a:tc>
                  <a:txBody>
                    <a:bodyPr/>
                    <a:lstStyle/>
                    <a:p>
                      <a:r>
                        <a:rPr sz="1600">
                          <a:solidFill>
                            <a:srgbClr val="000000"/>
                          </a:solidFill>
                          <a:latin typeface="Arial"/>
                        </a:rPr>
                        <a:t>Germany</a:t>
                      </a:r>
                    </a:p>
                  </a:txBody>
                  <a:tcPr marL="73152" marR="73152" marT="36576" marB="36576" anchor="ctr">
                    <a:solidFill>
                      <a:srgbClr val="F2F2F2"/>
                    </a:solidFill>
                  </a:tcPr>
                </a:tc>
                <a:tc>
                  <a:txBody>
                    <a:bodyPr/>
                    <a:lstStyle/>
                    <a:p>
                      <a:r>
                        <a:rPr sz="1600">
                          <a:solidFill>
                            <a:srgbClr val="000000"/>
                          </a:solidFill>
                          <a:latin typeface="Arial"/>
                        </a:rPr>
                        <a:t>Ti-stabilized; TiC dispersions tested against He embrittlement</a:t>
                      </a:r>
                    </a:p>
                  </a:txBody>
                  <a:tcPr marL="73152" marR="73152" marT="36576" marB="36576" anchor="ctr">
                    <a:solidFill>
                      <a:srgbClr val="F2F2F2"/>
                    </a:solidFill>
                  </a:tcPr>
                </a:tc>
              </a:tr>
              <a:tr h="420624">
                <a:tc>
                  <a:txBody>
                    <a:bodyPr/>
                    <a:lstStyle/>
                    <a:p>
                      <a:r>
                        <a:rPr sz="1600" b="1">
                          <a:solidFill>
                            <a:srgbClr val="000000"/>
                          </a:solidFill>
                          <a:latin typeface="Arial"/>
                        </a:rPr>
                        <a:t>15-15Ti</a:t>
                      </a:r>
                    </a:p>
                  </a:txBody>
                  <a:tcPr marL="73152" marR="73152" marT="36576" marB="36576" anchor="ctr">
                    <a:solidFill>
                      <a:srgbClr val="FFFFFF"/>
                    </a:solidFill>
                  </a:tcPr>
                </a:tc>
                <a:tc>
                  <a:txBody>
                    <a:bodyPr/>
                    <a:lstStyle/>
                    <a:p>
                      <a:r>
                        <a:rPr sz="1600">
                          <a:solidFill>
                            <a:srgbClr val="000000"/>
                          </a:solidFill>
                          <a:latin typeface="Arial"/>
                        </a:rPr>
                        <a:t>France</a:t>
                      </a:r>
                    </a:p>
                  </a:txBody>
                  <a:tcPr marL="73152" marR="73152" marT="36576" marB="36576" anchor="ctr">
                    <a:solidFill>
                      <a:srgbClr val="FFFFFF"/>
                    </a:solidFill>
                  </a:tcPr>
                </a:tc>
                <a:tc>
                  <a:txBody>
                    <a:bodyPr/>
                    <a:lstStyle/>
                    <a:p>
                      <a:r>
                        <a:rPr sz="1600">
                          <a:solidFill>
                            <a:srgbClr val="000000"/>
                          </a:solidFill>
                          <a:latin typeface="Arial"/>
                        </a:rPr>
                        <a:t>Phénix cladding 1982–1998, up to 130 dpa</a:t>
                      </a:r>
                    </a:p>
                  </a:txBody>
                  <a:tcPr marL="73152" marR="73152" marT="36576" marB="36576" anchor="ctr">
                    <a:solidFill>
                      <a:srgbClr val="FFFFFF"/>
                    </a:solidFill>
                  </a:tcPr>
                </a:tc>
              </a:tr>
              <a:tr h="420624">
                <a:tc>
                  <a:txBody>
                    <a:bodyPr/>
                    <a:lstStyle/>
                    <a:p>
                      <a:r>
                        <a:rPr sz="1600" b="1">
                          <a:solidFill>
                            <a:srgbClr val="000000"/>
                          </a:solidFill>
                          <a:latin typeface="Arial"/>
                        </a:rPr>
                        <a:t>ChS-68</a:t>
                      </a:r>
                    </a:p>
                  </a:txBody>
                  <a:tcPr marL="73152" marR="73152" marT="36576" marB="36576" anchor="ctr">
                    <a:solidFill>
                      <a:srgbClr val="F2F2F2"/>
                    </a:solidFill>
                  </a:tcPr>
                </a:tc>
                <a:tc>
                  <a:txBody>
                    <a:bodyPr/>
                    <a:lstStyle/>
                    <a:p>
                      <a:r>
                        <a:rPr sz="1600">
                          <a:solidFill>
                            <a:srgbClr val="000000"/>
                          </a:solidFill>
                          <a:latin typeface="Arial"/>
                        </a:rPr>
                        <a:t>Russia</a:t>
                      </a:r>
                    </a:p>
                  </a:txBody>
                  <a:tcPr marL="73152" marR="73152" marT="36576" marB="36576" anchor="ctr">
                    <a:solidFill>
                      <a:srgbClr val="F2F2F2"/>
                    </a:solidFill>
                  </a:tcPr>
                </a:tc>
                <a:tc>
                  <a:txBody>
                    <a:bodyPr/>
                    <a:lstStyle/>
                    <a:p>
                      <a:r>
                        <a:rPr sz="1600">
                          <a:solidFill>
                            <a:srgbClr val="000000"/>
                          </a:solidFill>
                          <a:latin typeface="Arial"/>
                        </a:rPr>
                        <a:t>BN-600 cladding, 20% CW; successor to EI-847</a:t>
                      </a:r>
                    </a:p>
                  </a:txBody>
                  <a:tcPr marL="73152" marR="73152" marT="36576" marB="36576" anchor="ctr">
                    <a:solidFill>
                      <a:srgbClr val="F2F2F2"/>
                    </a:solidFill>
                  </a:tcPr>
                </a:tc>
              </a:tr>
              <a:tr h="420624">
                <a:tc>
                  <a:txBody>
                    <a:bodyPr/>
                    <a:lstStyle/>
                    <a:p>
                      <a:r>
                        <a:rPr sz="1600" b="1">
                          <a:solidFill>
                            <a:srgbClr val="000000"/>
                          </a:solidFill>
                          <a:latin typeface="Arial"/>
                        </a:rPr>
                        <a:t>JPCA</a:t>
                      </a:r>
                    </a:p>
                  </a:txBody>
                  <a:tcPr marL="73152" marR="73152" marT="36576" marB="36576" anchor="ctr">
                    <a:solidFill>
                      <a:srgbClr val="FFFFFF"/>
                    </a:solidFill>
                  </a:tcPr>
                </a:tc>
                <a:tc>
                  <a:txBody>
                    <a:bodyPr/>
                    <a:lstStyle/>
                    <a:p>
                      <a:r>
                        <a:rPr sz="1600">
                          <a:solidFill>
                            <a:srgbClr val="000000"/>
                          </a:solidFill>
                          <a:latin typeface="Arial"/>
                        </a:rPr>
                        <a:t>Japan</a:t>
                      </a:r>
                    </a:p>
                  </a:txBody>
                  <a:tcPr marL="73152" marR="73152" marT="36576" marB="36576" anchor="ctr">
                    <a:solidFill>
                      <a:srgbClr val="FFFFFF"/>
                    </a:solidFill>
                  </a:tcPr>
                </a:tc>
                <a:tc>
                  <a:txBody>
                    <a:bodyPr/>
                    <a:lstStyle/>
                    <a:p>
                      <a:r>
                        <a:rPr sz="1600">
                          <a:solidFill>
                            <a:srgbClr val="000000"/>
                          </a:solidFill>
                          <a:latin typeface="Arial"/>
                        </a:rPr>
                        <a:t>Japanese member of the same Ti-modified class</a:t>
                      </a:r>
                    </a:p>
                  </a:txBody>
                  <a:tcPr marL="73152" marR="73152" marT="36576" marB="36576" anchor="ctr">
                    <a:solidFill>
                      <a:srgbClr val="FFFFFF"/>
                    </a:solidFill>
                  </a:tcPr>
                </a:tc>
              </a:tr>
            </a:tbl>
          </a:graphicData>
        </a:graphic>
      </p:graphicFrame>
      <p:sp>
        <p:nvSpPr>
          <p:cNvPr id="8" name="TextBox 7"/>
          <p:cNvSpPr txBox="1"/>
          <p:nvPr/>
        </p:nvSpPr>
        <p:spPr>
          <a:xfrm>
            <a:off x="612648" y="6199632"/>
            <a:ext cx="7955279" cy="320040"/>
          </a:xfrm>
          <a:prstGeom prst="rect">
            <a:avLst/>
          </a:prstGeom>
          <a:noFill/>
        </p:spPr>
        <p:txBody>
          <a:bodyPr wrap="square">
            <a:spAutoFit/>
          </a:bodyPr>
          <a:lstStyle/>
          <a:p>
            <a:pPr algn="l"/>
            <a:r>
              <a:rPr sz="1100" b="0" i="0">
                <a:solidFill>
                  <a:srgbClr val="595959"/>
                </a:solidFill>
                <a:latin typeface="Arial"/>
              </a:rPr>
              <a:t>Sources: [8] alloy family; [9] ChS-68; [10] D9 in FBTR; [11] FFTF; [17] DIN 1.4970</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Swelling Kinetics</a:t>
            </a:r>
          </a:p>
        </p:txBody>
      </p:sp>
      <p:sp>
        <p:nvSpPr>
          <p:cNvPr id="3" name="Content Placeholder 2"/>
          <p:cNvSpPr>
            <a:spLocks noGrp="1"/>
          </p:cNvSpPr>
          <p:nvPr>
            <p:ph idx="1" sz="half"/>
          </p:nvPr>
        </p:nvSpPr>
        <p:spPr>
          <a:xfrm>
            <a:off x="612648" y="1828800"/>
            <a:ext cx="5394960" cy="4206240"/>
          </a:xfrm>
        </p:spPr>
        <p:txBody>
          <a:bodyPr/>
          <a:lstStyle/>
          <a:p>
            <a:pPr/>
            <a:r>
              <a:rPr sz="2000"/>
              <a:t>Transient (incubation), then steady state near 1%/dpa</a:t>
            </a:r>
          </a:p>
          <a:p>
            <a:pPr lvl="1"/>
            <a:r>
              <a:rPr sz="1800"/>
              <a:t>Steady ~1%/dpa seen above ~425 °C; not observed below 380 °C</a:t>
            </a:r>
          </a:p>
          <a:p>
            <a:pPr/>
            <a:r>
              <a:rPr sz="2000"/>
              <a:t>Steady-state rate is hard to change</a:t>
            </a:r>
          </a:p>
          <a:p>
            <a:pPr lvl="1"/>
            <a:r>
              <a:rPr sz="1800"/>
              <a:t>15-15Ti still reaches ~1%/dpa at 400 dpa (ions, 580 °C)</a:t>
            </a:r>
          </a:p>
          <a:p>
            <a:pPr/>
            <a:r>
              <a:rPr sz="2000"/>
              <a:t>So alloy design targets the incubation dose, not the slope</a:t>
            </a:r>
          </a:p>
          <a:p>
            <a:pPr/>
            <a:r>
              <a:rPr sz="2000"/>
              <a:t>Dose and dose rate can't be fully separated</a:t>
            </a:r>
          </a:p>
          <a:p>
            <a:pPr lvl="1"/>
            <a:r>
              <a:rPr sz="1800"/>
              <a:t>Lower rates can swell more at the same dose</a:t>
            </a:r>
          </a:p>
        </p:txBody>
      </p:sp>
      <p:sp>
        <p:nvSpPr>
          <p:cNvPr id="7" name="Slide Number Placeholder 5"/>
          <p:cNvSpPr>
            <a:spLocks noGrp="1"/>
          </p:cNvSpPr>
          <p:nvPr>
            <p:ph type="sldNum" sz="quarter" idx="12"/>
          </p:nvPr>
        </p:nvSpPr>
        <p:spPr/>
        <p:txBody>
          <a:bodyPr/>
          <a:lstStyle>
            <a:lvl1pPr>
              <a:defRPr/>
            </a:lvl1pPr>
          </a:lstStyle>
          <a:p>
            <a:pPr>
              <a:defRPr/>
            </a:pPr>
            <a:fld id="{EC35E9FC-F6D5-0349-BBED-EA7D7A9BC49B}" type="slidenum">
              <a:rPr lang="en-US"/>
              <a:pPr>
                <a:defRPr/>
              </a:pPr>
              <a:t>‹#›</a:t>
            </a:fld>
            <a:endParaRPr lang="en-US"/>
          </a:p>
        </p:txBody>
      </p:sp>
      <p:pic>
        <p:nvPicPr>
          <p:cNvPr id="8" name="Picture 7" descr="schematic.png"/>
          <p:cNvPicPr>
            <a:picLocks noChangeAspect="1"/>
          </p:cNvPicPr>
          <p:nvPr/>
        </p:nvPicPr>
        <p:blipFill>
          <a:blip r:embed="rId3"/>
          <a:stretch>
            <a:fillRect/>
          </a:stretch>
        </p:blipFill>
        <p:spPr>
          <a:xfrm>
            <a:off x="6309360" y="1737360"/>
            <a:ext cx="5486400" cy="3931920"/>
          </a:xfrm>
          <a:prstGeom prst="rect">
            <a:avLst/>
          </a:prstGeom>
        </p:spPr>
      </p:pic>
      <p:sp>
        <p:nvSpPr>
          <p:cNvPr id="9" name="TextBox 8"/>
          <p:cNvSpPr txBox="1"/>
          <p:nvPr/>
        </p:nvSpPr>
        <p:spPr>
          <a:xfrm>
            <a:off x="612648" y="6199632"/>
            <a:ext cx="7955279" cy="320040"/>
          </a:xfrm>
          <a:prstGeom prst="rect">
            <a:avLst/>
          </a:prstGeom>
          <a:noFill/>
        </p:spPr>
        <p:txBody>
          <a:bodyPr wrap="square">
            <a:spAutoFit/>
          </a:bodyPr>
          <a:lstStyle/>
          <a:p>
            <a:pPr algn="l"/>
            <a:r>
              <a:rPr sz="1100" b="0" i="0">
                <a:solidFill>
                  <a:srgbClr val="595959"/>
                </a:solidFill>
                <a:latin typeface="Arial"/>
              </a:rPr>
              <a:t>Sources: [6] incubation and 1%/dpa; [8] 15-15Ti to 400 dpa; [16] dose rate. Figure is schematic.</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Cold Work</a:t>
            </a:r>
          </a:p>
        </p:txBody>
      </p:sp>
      <p:sp>
        <p:nvSpPr>
          <p:cNvPr id="3" name="Content Placeholder 2"/>
          <p:cNvSpPr>
            <a:spLocks noGrp="1"/>
          </p:cNvSpPr>
          <p:nvPr>
            <p:ph idx="1"/>
          </p:nvPr>
        </p:nvSpPr>
        <p:spPr>
          <a:xfrm>
            <a:off x="612648" y="1691640"/>
            <a:ext cx="10972800" cy="3566160"/>
          </a:xfrm>
        </p:spPr>
        <p:txBody>
          <a:bodyPr/>
          <a:lstStyle/>
          <a:p>
            <a:pPr/>
            <a:r>
              <a:rPr sz="2000"/>
              <a:t>Cold work introduces a high dislocation density that absorbs point defects</a:t>
            </a:r>
          </a:p>
          <a:p>
            <a:pPr lvl="1"/>
            <a:r>
              <a:rPr sz="1800"/>
              <a:t>Delays void nucleation → extends the incubation period</a:t>
            </a:r>
          </a:p>
          <a:p>
            <a:pPr/>
            <a:r>
              <a:rPr sz="2000"/>
              <a:t>~20% cold work is the standard condition for 15-15Ti and ChS-68 cladding</a:t>
            </a:r>
          </a:p>
          <a:p>
            <a:pPr lvl="1"/>
            <a:r>
              <a:rPr sz="1800"/>
              <a:t>Also raises strength</a:t>
            </a:r>
          </a:p>
          <a:p>
            <a:pPr/>
            <a:r>
              <a:rPr sz="2000"/>
              <a:t>Limitation</a:t>
            </a:r>
          </a:p>
          <a:p>
            <a:pPr lvl="1"/>
            <a:r>
              <a:rPr sz="1800"/>
              <a:t>Under irradiation the network evolves toward a dose-dependent steady state and recovers at high temperature</a:t>
            </a:r>
          </a:p>
          <a:p>
            <a:pPr lvl="1"/>
            <a:r>
              <a:rPr sz="1800"/>
              <a:t>Cold work delays swelling; it does not prevent it</a:t>
            </a:r>
          </a:p>
        </p:txBody>
      </p:sp>
      <p:sp>
        <p:nvSpPr>
          <p:cNvPr id="6" name="Slide Number Placeholder 5"/>
          <p:cNvSpPr>
            <a:spLocks noGrp="1"/>
          </p:cNvSpPr>
          <p:nvPr>
            <p:ph type="sldNum" sz="quarter" idx="12"/>
          </p:nvPr>
        </p:nvSpPr>
        <p:spPr/>
        <p:txBody>
          <a:bodyPr/>
          <a:lstStyle>
            <a:lvl1pPr>
              <a:defRPr/>
            </a:lvl1pPr>
          </a:lstStyle>
          <a:p>
            <a:pPr>
              <a:defRPr/>
            </a:pPr>
            <a:fld id="{3FF2C605-4958-CF43-AA48-80339EFDB0AF}" type="slidenum">
              <a:rPr lang="en-US"/>
              <a:pPr>
                <a:defRPr/>
              </a:pPr>
              <a:t>‹#›</a:t>
            </a:fld>
            <a:endParaRPr lang="en-US"/>
          </a:p>
        </p:txBody>
      </p:sp>
      <p:sp>
        <p:nvSpPr>
          <p:cNvPr id="7" name="TextBox 6"/>
          <p:cNvSpPr txBox="1"/>
          <p:nvPr/>
        </p:nvSpPr>
        <p:spPr>
          <a:xfrm>
            <a:off x="612648" y="5349240"/>
            <a:ext cx="10972800" cy="548640"/>
          </a:xfrm>
          <a:prstGeom prst="rect">
            <a:avLst/>
          </a:prstGeom>
          <a:noFill/>
        </p:spPr>
        <p:txBody>
          <a:bodyPr wrap="square">
            <a:spAutoFit/>
          </a:bodyPr>
          <a:lstStyle/>
          <a:p>
            <a:pPr algn="l"/>
            <a:r>
              <a:rPr sz="2400" b="1" i="1">
                <a:solidFill>
                  <a:srgbClr val="CC0000"/>
                </a:solidFill>
                <a:latin typeface="Arial"/>
              </a:rPr>
              <a:t>Cold work buys dose, not immunity.</a:t>
            </a:r>
          </a:p>
        </p:txBody>
      </p:sp>
      <p:sp>
        <p:nvSpPr>
          <p:cNvPr id="8" name="TextBox 7"/>
          <p:cNvSpPr txBox="1"/>
          <p:nvPr/>
        </p:nvSpPr>
        <p:spPr>
          <a:xfrm>
            <a:off x="612648" y="6199632"/>
            <a:ext cx="7955279" cy="320040"/>
          </a:xfrm>
          <a:prstGeom prst="rect">
            <a:avLst/>
          </a:prstGeom>
          <a:noFill/>
        </p:spPr>
        <p:txBody>
          <a:bodyPr wrap="square">
            <a:spAutoFit/>
          </a:bodyPr>
          <a:lstStyle/>
          <a:p>
            <a:pPr algn="l"/>
            <a:r>
              <a:rPr sz="1100" b="0" i="0">
                <a:solidFill>
                  <a:srgbClr val="595959"/>
                </a:solidFill>
                <a:latin typeface="Arial"/>
              </a:rPr>
              <a:t>Sources: [6] cold work extends incubation; [8], [9] 20% CW practice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Composition Effects</a:t>
            </a:r>
          </a:p>
        </p:txBody>
      </p:sp>
      <p:sp>
        <p:nvSpPr>
          <p:cNvPr id="6" name="Slide Number Placeholder 5"/>
          <p:cNvSpPr>
            <a:spLocks noGrp="1"/>
          </p:cNvSpPr>
          <p:nvPr>
            <p:ph type="sldNum" sz="quarter" idx="12"/>
          </p:nvPr>
        </p:nvSpPr>
        <p:spPr/>
        <p:txBody>
          <a:bodyPr/>
          <a:lstStyle>
            <a:lvl1pPr>
              <a:defRPr/>
            </a:lvl1pPr>
          </a:lstStyle>
          <a:p>
            <a:pPr>
              <a:defRPr/>
            </a:pPr>
            <a:fld id="{3FF2C605-4958-CF43-AA48-80339EFDB0AF}" type="slidenum">
              <a:rPr lang="en-US"/>
              <a:pPr>
                <a:defRPr/>
              </a:pPr>
              <a:t>‹#›</a:t>
            </a:fld>
            <a:endParaRPr lang="en-US"/>
          </a:p>
        </p:txBody>
      </p:sp>
      <p:graphicFrame>
        <p:nvGraphicFramePr>
          <p:cNvPr id="7" name="Table 6"/>
          <p:cNvGraphicFramePr>
            <a:graphicFrameLocks noGrp="1"/>
          </p:cNvGraphicFramePr>
          <p:nvPr/>
        </p:nvGraphicFramePr>
        <p:xfrm>
          <a:off x="612648" y="1783080"/>
          <a:ext cx="10972800" cy="3017520"/>
        </p:xfrm>
        <a:graphic>
          <a:graphicData uri="http://schemas.openxmlformats.org/drawingml/2006/table">
            <a:tbl>
              <a:tblPr firstRow="1" bandRow="1">
                <a:tableStyleId>{5C22544A-7EE6-4342-B048-85BDC9FD1C3A}</a:tableStyleId>
              </a:tblPr>
              <a:tblGrid>
                <a:gridCol w="1463040"/>
                <a:gridCol w="9509760"/>
              </a:tblGrid>
              <a:tr h="502920">
                <a:tc>
                  <a:txBody>
                    <a:bodyPr/>
                    <a:lstStyle/>
                    <a:p>
                      <a:r>
                        <a:rPr sz="1600" b="1">
                          <a:solidFill>
                            <a:srgbClr val="FFFFFF"/>
                          </a:solidFill>
                          <a:latin typeface="Arial"/>
                        </a:rPr>
                        <a:t>Element</a:t>
                      </a:r>
                    </a:p>
                  </a:txBody>
                  <a:tcPr marL="73152" marR="73152" marT="36576" marB="36576" anchor="ctr">
                    <a:solidFill>
                      <a:srgbClr val="CC0000"/>
                    </a:solidFill>
                  </a:tcPr>
                </a:tc>
                <a:tc>
                  <a:txBody>
                    <a:bodyPr/>
                    <a:lstStyle/>
                    <a:p>
                      <a:r>
                        <a:rPr sz="1600" b="1">
                          <a:solidFill>
                            <a:srgbClr val="FFFFFF"/>
                          </a:solidFill>
                          <a:latin typeface="Arial"/>
                        </a:rPr>
                        <a:t>Effect on swelling</a:t>
                      </a:r>
                    </a:p>
                  </a:txBody>
                  <a:tcPr marL="73152" marR="73152" marT="36576" marB="36576" anchor="ctr">
                    <a:solidFill>
                      <a:srgbClr val="CC0000"/>
                    </a:solidFill>
                  </a:tcPr>
                </a:tc>
              </a:tr>
              <a:tr h="502920">
                <a:tc>
                  <a:txBody>
                    <a:bodyPr/>
                    <a:lstStyle/>
                    <a:p>
                      <a:r>
                        <a:rPr sz="1600" b="1">
                          <a:solidFill>
                            <a:srgbClr val="000000"/>
                          </a:solidFill>
                          <a:latin typeface="Arial"/>
                        </a:rPr>
                        <a:t>Ni</a:t>
                      </a:r>
                    </a:p>
                  </a:txBody>
                  <a:tcPr marL="73152" marR="73152" marT="36576" marB="36576" anchor="ctr">
                    <a:solidFill>
                      <a:srgbClr val="FFFFFF"/>
                    </a:solidFill>
                  </a:tcPr>
                </a:tc>
                <a:tc>
                  <a:txBody>
                    <a:bodyPr/>
                    <a:lstStyle/>
                    <a:p>
                      <a:r>
                        <a:rPr sz="1600">
                          <a:solidFill>
                            <a:srgbClr val="000000"/>
                          </a:solidFill>
                          <a:latin typeface="Arial"/>
                        </a:rPr>
                        <a:t>Swelling minimum near 30–50% Ni in Fe-15Cr-Ni (~100 dpa); but more Ni means more He [7]</a:t>
                      </a:r>
                    </a:p>
                  </a:txBody>
                  <a:tcPr marL="73152" marR="73152" marT="36576" marB="36576" anchor="ctr">
                    <a:solidFill>
                      <a:srgbClr val="FFFFFF"/>
                    </a:solidFill>
                  </a:tcPr>
                </a:tc>
              </a:tr>
              <a:tr h="502920">
                <a:tc>
                  <a:txBody>
                    <a:bodyPr/>
                    <a:lstStyle/>
                    <a:p>
                      <a:r>
                        <a:rPr sz="1600" b="1">
                          <a:solidFill>
                            <a:srgbClr val="000000"/>
                          </a:solidFill>
                          <a:latin typeface="Arial"/>
                        </a:rPr>
                        <a:t>Si</a:t>
                      </a:r>
                    </a:p>
                  </a:txBody>
                  <a:tcPr marL="73152" marR="73152" marT="36576" marB="36576" anchor="ctr">
                    <a:solidFill>
                      <a:srgbClr val="F2F2F2"/>
                    </a:solidFill>
                  </a:tcPr>
                </a:tc>
                <a:tc>
                  <a:txBody>
                    <a:bodyPr/>
                    <a:lstStyle/>
                    <a:p>
                      <a:r>
                        <a:rPr sz="1600">
                          <a:solidFill>
                            <a:srgbClr val="000000"/>
                          </a:solidFill>
                          <a:latin typeface="Arial"/>
                        </a:rPr>
                        <a:t>Suppresses swelling with little effect on other properties [7]</a:t>
                      </a:r>
                    </a:p>
                  </a:txBody>
                  <a:tcPr marL="73152" marR="73152" marT="36576" marB="36576" anchor="ctr">
                    <a:solidFill>
                      <a:srgbClr val="F2F2F2"/>
                    </a:solidFill>
                  </a:tcPr>
                </a:tc>
              </a:tr>
              <a:tr h="502920">
                <a:tc>
                  <a:txBody>
                    <a:bodyPr/>
                    <a:lstStyle/>
                    <a:p>
                      <a:r>
                        <a:rPr sz="1600" b="1">
                          <a:solidFill>
                            <a:srgbClr val="000000"/>
                          </a:solidFill>
                          <a:latin typeface="Arial"/>
                        </a:rPr>
                        <a:t>P</a:t>
                      </a:r>
                    </a:p>
                  </a:txBody>
                  <a:tcPr marL="73152" marR="73152" marT="36576" marB="36576" anchor="ctr">
                    <a:solidFill>
                      <a:srgbClr val="FFFFFF"/>
                    </a:solidFill>
                  </a:tcPr>
                </a:tc>
                <a:tc>
                  <a:txBody>
                    <a:bodyPr/>
                    <a:lstStyle/>
                    <a:p>
                      <a:r>
                        <a:rPr sz="1600">
                          <a:solidFill>
                            <a:srgbClr val="000000"/>
                          </a:solidFill>
                          <a:latin typeface="Arial"/>
                        </a:rPr>
                        <a:t>Non-monotonic: below ~0.02 wt% often increases swelling; higher levels reduce it [12]</a:t>
                      </a:r>
                    </a:p>
                  </a:txBody>
                  <a:tcPr marL="73152" marR="73152" marT="36576" marB="36576" anchor="ctr">
                    <a:solidFill>
                      <a:srgbClr val="FFFFFF"/>
                    </a:solidFill>
                  </a:tcPr>
                </a:tc>
              </a:tr>
              <a:tr h="502920">
                <a:tc>
                  <a:txBody>
                    <a:bodyPr/>
                    <a:lstStyle/>
                    <a:p>
                      <a:r>
                        <a:rPr sz="1600" b="1">
                          <a:solidFill>
                            <a:srgbClr val="000000"/>
                          </a:solidFill>
                          <a:latin typeface="Arial"/>
                        </a:rPr>
                        <a:t>Ti</a:t>
                      </a:r>
                    </a:p>
                  </a:txBody>
                  <a:tcPr marL="73152" marR="73152" marT="36576" marB="36576" anchor="ctr">
                    <a:solidFill>
                      <a:srgbClr val="F2F2F2"/>
                    </a:solidFill>
                  </a:tcPr>
                </a:tc>
                <a:tc>
                  <a:txBody>
                    <a:bodyPr/>
                    <a:lstStyle/>
                    <a:p>
                      <a:r>
                        <a:rPr sz="1600">
                          <a:solidFill>
                            <a:srgbClr val="000000"/>
                          </a:solidFill>
                          <a:latin typeface="Arial"/>
                        </a:rPr>
                        <a:t>Forms stable precipitates that trap point defects, extending incubation [13]</a:t>
                      </a:r>
                    </a:p>
                  </a:txBody>
                  <a:tcPr marL="73152" marR="73152" marT="36576" marB="36576" anchor="ctr">
                    <a:solidFill>
                      <a:srgbClr val="F2F2F2"/>
                    </a:solidFill>
                  </a:tcPr>
                </a:tc>
              </a:tr>
              <a:tr h="502920">
                <a:tc>
                  <a:txBody>
                    <a:bodyPr/>
                    <a:lstStyle/>
                    <a:p>
                      <a:r>
                        <a:rPr sz="1600" b="1">
                          <a:solidFill>
                            <a:srgbClr val="000000"/>
                          </a:solidFill>
                          <a:latin typeface="Arial"/>
                        </a:rPr>
                        <a:t>B</a:t>
                      </a:r>
                    </a:p>
                  </a:txBody>
                  <a:tcPr marL="73152" marR="73152" marT="36576" marB="36576" anchor="ctr">
                    <a:solidFill>
                      <a:srgbClr val="FFFFFF"/>
                    </a:solidFill>
                  </a:tcPr>
                </a:tc>
                <a:tc>
                  <a:txBody>
                    <a:bodyPr/>
                    <a:lstStyle/>
                    <a:p>
                      <a:r>
                        <a:rPr sz="1600">
                          <a:solidFill>
                            <a:srgbClr val="000000"/>
                          </a:solidFill>
                          <a:latin typeface="Arial"/>
                        </a:rPr>
                        <a:t>Possible contributor to ChS-68's extra ~10 dpa transient over EI-847 [9]</a:t>
                      </a:r>
                    </a:p>
                  </a:txBody>
                  <a:tcPr marL="73152" marR="73152" marT="36576" marB="36576" anchor="ctr">
                    <a:solidFill>
                      <a:srgbClr val="FFFFFF"/>
                    </a:solidFill>
                  </a:tcPr>
                </a:tc>
              </a:tr>
            </a:tbl>
          </a:graphicData>
        </a:graphic>
      </p:graphicFrame>
      <p:sp>
        <p:nvSpPr>
          <p:cNvPr id="8" name="TextBox 7"/>
          <p:cNvSpPr txBox="1"/>
          <p:nvPr/>
        </p:nvSpPr>
        <p:spPr>
          <a:xfrm>
            <a:off x="612648" y="5029200"/>
            <a:ext cx="10972800" cy="731520"/>
          </a:xfrm>
          <a:prstGeom prst="rect">
            <a:avLst/>
          </a:prstGeom>
          <a:noFill/>
        </p:spPr>
        <p:txBody>
          <a:bodyPr wrap="square">
            <a:spAutoFit/>
          </a:bodyPr>
          <a:lstStyle/>
          <a:p>
            <a:pPr algn="l"/>
            <a:r>
              <a:rPr sz="2000" b="1" i="0">
                <a:solidFill>
                  <a:srgbClr val="CC0000"/>
                </a:solidFill>
                <a:latin typeface="Arial"/>
              </a:rPr>
              <a:t>Catch: Ni and Si only help while they stay in solution. Irradiation pulls them out of the matrix (next slides).</a:t>
            </a:r>
          </a:p>
        </p:txBody>
      </p:sp>
      <p:sp>
        <p:nvSpPr>
          <p:cNvPr id="9" name="TextBox 8"/>
          <p:cNvSpPr txBox="1"/>
          <p:nvPr/>
        </p:nvSpPr>
        <p:spPr>
          <a:xfrm>
            <a:off x="612648" y="6199632"/>
            <a:ext cx="7955279" cy="320040"/>
          </a:xfrm>
          <a:prstGeom prst="rect">
            <a:avLst/>
          </a:prstGeom>
          <a:noFill/>
        </p:spPr>
        <p:txBody>
          <a:bodyPr wrap="square">
            <a:spAutoFit/>
          </a:bodyPr>
          <a:lstStyle/>
          <a:p>
            <a:pPr algn="l"/>
            <a:r>
              <a:rPr sz="1100" b="0" i="0">
                <a:solidFill>
                  <a:srgbClr val="595959"/>
                </a:solidFill>
                <a:latin typeface="Arial"/>
              </a:rPr>
              <a:t>Sources: [7], [9], [12], [13]</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Ti Carbide Precipitates</a:t>
            </a:r>
          </a:p>
        </p:txBody>
      </p:sp>
      <p:sp>
        <p:nvSpPr>
          <p:cNvPr id="3" name="Content Placeholder 2"/>
          <p:cNvSpPr>
            <a:spLocks noGrp="1"/>
          </p:cNvSpPr>
          <p:nvPr>
            <p:ph idx="1" sz="half"/>
          </p:nvPr>
        </p:nvSpPr>
        <p:spPr>
          <a:xfrm>
            <a:off x="612648" y="1828800"/>
            <a:ext cx="5852160" cy="4206240"/>
          </a:xfrm>
        </p:spPr>
        <p:txBody>
          <a:bodyPr/>
          <a:lstStyle/>
          <a:p>
            <a:pPr/>
            <a:r>
              <a:rPr sz="2000"/>
              <a:t>Fine intragranular TiC adds sink surface for point defects</a:t>
            </a:r>
          </a:p>
          <a:p>
            <a:pPr lvl="1"/>
            <a:r>
              <a:rPr sz="1800"/>
              <a:t>Longer incubation</a:t>
            </a:r>
          </a:p>
          <a:p>
            <a:pPr/>
            <a:r>
              <a:rPr sz="2000"/>
              <a:t>Traps He in the matrix</a:t>
            </a:r>
          </a:p>
          <a:p>
            <a:pPr lvl="1"/>
            <a:r>
              <a:rPr sz="1800"/>
              <a:t>Dispersed TiC suppressed He embrittlement in DIN 1.4970</a:t>
            </a:r>
          </a:p>
          <a:p>
            <a:pPr lvl="1"/>
            <a:r>
              <a:rPr sz="1800"/>
              <a:t>Benefit depended on the right thermomechanical pre-treatment</a:t>
            </a:r>
          </a:p>
          <a:p>
            <a:pPr/>
            <a:r>
              <a:rPr sz="2000"/>
              <a:t>HT-UPS scales up the idea</a:t>
            </a:r>
          </a:p>
          <a:p>
            <a:pPr lvl="1"/>
            <a:r>
              <a:rPr sz="1800"/>
              <a:t>Ti + Nb + V with B and P for stable nanoscale MC carbides</a:t>
            </a:r>
          </a:p>
        </p:txBody>
      </p:sp>
      <p:sp>
        <p:nvSpPr>
          <p:cNvPr id="4" name="Content Placeholder 3"/>
          <p:cNvSpPr>
            <a:spLocks noGrp="1"/>
          </p:cNvSpPr>
          <p:nvPr>
            <p:ph idx="2" sz="half"/>
          </p:nvPr>
        </p:nvSpPr>
        <p:spPr>
          <a:xfrm>
            <a:off x="6675120" y="1828800"/>
            <a:ext cx="4937760" cy="4206240"/>
          </a:xfrm>
        </p:spPr>
        <p:txBody>
          <a:bodyPr/>
          <a:lstStyle/>
          <a:p>
            <a:pPr/>
            <a:r>
              <a:rPr sz="2000" b="1"/>
              <a:t>Same strategy as ODS steels</a:t>
            </a:r>
          </a:p>
          <a:p>
            <a:pPr lvl="1"/>
            <a:r>
              <a:rPr sz="1800"/>
              <a:t>ODS: stable Y–Ti–O nanoclusters in a ferritic matrix</a:t>
            </a:r>
          </a:p>
          <a:p>
            <a:pPr lvl="1"/>
            <a:r>
              <a:rPr sz="1800"/>
              <a:t>Here: stable MC carbides in an austenitic matrix</a:t>
            </a:r>
          </a:p>
          <a:p>
            <a:pPr lvl="1"/>
            <a:r>
              <a:rPr sz="1800"/>
              <a:t>Both work only while the nanofeatures stay fine under irradiation</a:t>
            </a:r>
          </a:p>
        </p:txBody>
      </p:sp>
      <p:sp>
        <p:nvSpPr>
          <p:cNvPr id="7" name="Slide Number Placeholder 5"/>
          <p:cNvSpPr>
            <a:spLocks noGrp="1"/>
          </p:cNvSpPr>
          <p:nvPr>
            <p:ph type="sldNum" sz="quarter" idx="12"/>
          </p:nvPr>
        </p:nvSpPr>
        <p:spPr/>
        <p:txBody>
          <a:bodyPr/>
          <a:lstStyle>
            <a:lvl1pPr>
              <a:defRPr/>
            </a:lvl1pPr>
          </a:lstStyle>
          <a:p>
            <a:pPr>
              <a:defRPr/>
            </a:pPr>
            <a:fld id="{EC35E9FC-F6D5-0349-BBED-EA7D7A9BC49B}" type="slidenum">
              <a:rPr lang="en-US"/>
              <a:pPr>
                <a:defRPr/>
              </a:pPr>
              <a:t>‹#›</a:t>
            </a:fld>
            <a:endParaRPr lang="en-US"/>
          </a:p>
        </p:txBody>
      </p:sp>
      <p:sp>
        <p:nvSpPr>
          <p:cNvPr id="8" name="TextBox 7"/>
          <p:cNvSpPr txBox="1"/>
          <p:nvPr/>
        </p:nvSpPr>
        <p:spPr>
          <a:xfrm>
            <a:off x="612648" y="6199632"/>
            <a:ext cx="7955279" cy="320040"/>
          </a:xfrm>
          <a:prstGeom prst="rect">
            <a:avLst/>
          </a:prstGeom>
          <a:noFill/>
        </p:spPr>
        <p:txBody>
          <a:bodyPr wrap="square">
            <a:spAutoFit/>
          </a:bodyPr>
          <a:lstStyle/>
          <a:p>
            <a:pPr algn="l"/>
            <a:r>
              <a:rPr sz="1100" b="0" i="0">
                <a:solidFill>
                  <a:srgbClr val="595959"/>
                </a:solidFill>
                <a:latin typeface="Arial"/>
              </a:rPr>
              <a:t>Sources: [8] TiC in 15-15Ti; [13] Ti and incubation; [17] TiC vs. He; [18] HT-UPS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Radiation-Induced Phase Instability</a:t>
            </a:r>
          </a:p>
        </p:txBody>
      </p:sp>
      <p:sp>
        <p:nvSpPr>
          <p:cNvPr id="3" name="Content Placeholder 2"/>
          <p:cNvSpPr>
            <a:spLocks noGrp="1"/>
          </p:cNvSpPr>
          <p:nvPr>
            <p:ph idx="1"/>
          </p:nvPr>
        </p:nvSpPr>
        <p:spPr>
          <a:xfrm>
            <a:off x="612648" y="3749039"/>
            <a:ext cx="10972800" cy="2286000"/>
          </a:xfrm>
        </p:spPr>
        <p:txBody>
          <a:bodyPr/>
          <a:lstStyle/>
          <a:p>
            <a:pPr/>
            <a:r>
              <a:rPr sz="2000"/>
              <a:t>Temperature window: in BN-600, ChS-68's peak swelling (430–460 °C) was where G-phase dominated (~0.5 vol% at 84 dpa)</a:t>
            </a:r>
          </a:p>
          <a:p>
            <a:pPr/>
            <a:r>
              <a:rPr sz="2000"/>
              <a:t>The compositional levers from the previous slides erode with dose</a:t>
            </a:r>
          </a:p>
          <a:p>
            <a:pPr/>
            <a:r>
              <a:rPr sz="2000"/>
              <a:t>Nuance: segregation to void surfaces has been correlated with reduced void swelling, so RIS is not only harmful</a:t>
            </a:r>
          </a:p>
        </p:txBody>
      </p:sp>
      <p:sp>
        <p:nvSpPr>
          <p:cNvPr id="6" name="Slide Number Placeholder 5"/>
          <p:cNvSpPr>
            <a:spLocks noGrp="1"/>
          </p:cNvSpPr>
          <p:nvPr>
            <p:ph type="sldNum" sz="quarter" idx="12"/>
          </p:nvPr>
        </p:nvSpPr>
        <p:spPr/>
        <p:txBody>
          <a:bodyPr/>
          <a:lstStyle>
            <a:lvl1pPr>
              <a:defRPr/>
            </a:lvl1pPr>
          </a:lstStyle>
          <a:p>
            <a:pPr>
              <a:defRPr/>
            </a:pPr>
            <a:fld id="{3FF2C605-4958-CF43-AA48-80339EFDB0AF}" type="slidenum">
              <a:rPr lang="en-US"/>
              <a:pPr>
                <a:defRPr/>
              </a:pPr>
              <a:t>‹#›</a:t>
            </a:fld>
            <a:endParaRPr lang="en-US"/>
          </a:p>
        </p:txBody>
      </p:sp>
      <p:sp>
        <p:nvSpPr>
          <p:cNvPr id="7" name="Rounded Rectangle 6"/>
          <p:cNvSpPr/>
          <p:nvPr/>
        </p:nvSpPr>
        <p:spPr>
          <a:xfrm>
            <a:off x="612648" y="1874519"/>
            <a:ext cx="2331720" cy="1600200"/>
          </a:xfrm>
          <a:prstGeom prst="roundRect">
            <a:avLst>
              <a:gd name="adj" fmla="val 8000"/>
            </a:avLst>
          </a:prstGeom>
          <a:solidFill>
            <a:srgbClr val="F2F2F2"/>
          </a:solidFill>
          <a:ln w="25400">
            <a:solidFill>
              <a:srgbClr val="CC0000"/>
            </a:solidFill>
          </a:ln>
        </p:spPr>
        <p:style>
          <a:lnRef idx="1">
            <a:schemeClr val="accent1"/>
          </a:lnRef>
          <a:fillRef idx="3">
            <a:schemeClr val="accent1"/>
          </a:fillRef>
          <a:effectRef idx="2">
            <a:schemeClr val="accent1"/>
          </a:effectRef>
          <a:fontRef idx="minor">
            <a:schemeClr val="lt1"/>
          </a:fontRef>
        </p:style>
        <p:txBody>
          <a:bodyPr rtlCol="0" anchor="t" wrap="square" lIns="109728" rIns="109728"/>
          <a:lstStyle/>
          <a:p>
            <a:pPr algn="l"/>
            <a:r>
              <a:rPr sz="1800" b="1">
                <a:solidFill>
                  <a:srgbClr val="CC0000"/>
                </a:solidFill>
                <a:latin typeface="Arial"/>
              </a:rPr>
              <a:t>1. RIS</a:t>
            </a:r>
          </a:p>
          <a:p>
            <a:pPr algn="l"/>
            <a:r>
              <a:rPr sz="1600">
                <a:solidFill>
                  <a:srgbClr val="000000"/>
                </a:solidFill>
                <a:latin typeface="Arial"/>
              </a:rPr>
              <a:t>Ni and Si enrich at sinks; Cr depletes</a:t>
            </a:r>
          </a:p>
        </p:txBody>
      </p:sp>
      <p:sp>
        <p:nvSpPr>
          <p:cNvPr id="8" name="Right Arrow 7"/>
          <p:cNvSpPr/>
          <p:nvPr/>
        </p:nvSpPr>
        <p:spPr>
          <a:xfrm>
            <a:off x="3035808" y="2510027"/>
            <a:ext cx="365759" cy="329184"/>
          </a:xfrm>
          <a:prstGeom prst="rightArrow">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3493008" y="1874519"/>
            <a:ext cx="2331720" cy="1600200"/>
          </a:xfrm>
          <a:prstGeom prst="roundRect">
            <a:avLst>
              <a:gd name="adj" fmla="val 8000"/>
            </a:avLst>
          </a:prstGeom>
          <a:solidFill>
            <a:srgbClr val="F2F2F2"/>
          </a:solidFill>
          <a:ln w="25400">
            <a:solidFill>
              <a:srgbClr val="CC0000"/>
            </a:solidFill>
          </a:ln>
        </p:spPr>
        <p:style>
          <a:lnRef idx="1">
            <a:schemeClr val="accent1"/>
          </a:lnRef>
          <a:fillRef idx="3">
            <a:schemeClr val="accent1"/>
          </a:fillRef>
          <a:effectRef idx="2">
            <a:schemeClr val="accent1"/>
          </a:effectRef>
          <a:fontRef idx="minor">
            <a:schemeClr val="lt1"/>
          </a:fontRef>
        </p:style>
        <p:txBody>
          <a:bodyPr rtlCol="0" anchor="t" wrap="square" lIns="109728" rIns="109728"/>
          <a:lstStyle/>
          <a:p>
            <a:pPr algn="l"/>
            <a:r>
              <a:rPr sz="1800" b="1">
                <a:solidFill>
                  <a:srgbClr val="CC0000"/>
                </a:solidFill>
                <a:latin typeface="Arial"/>
              </a:rPr>
              <a:t>2. Precipitation</a:t>
            </a:r>
          </a:p>
          <a:p>
            <a:pPr algn="l"/>
            <a:r>
              <a:rPr sz="1600">
                <a:solidFill>
                  <a:srgbClr val="000000"/>
                </a:solidFill>
                <a:latin typeface="Arial"/>
              </a:rPr>
              <a:t>γ′ (Ni₃Si), G-phase and M₂₃(C,Si)₆ form</a:t>
            </a:r>
          </a:p>
        </p:txBody>
      </p:sp>
      <p:sp>
        <p:nvSpPr>
          <p:cNvPr id="10" name="Right Arrow 9"/>
          <p:cNvSpPr/>
          <p:nvPr/>
        </p:nvSpPr>
        <p:spPr>
          <a:xfrm>
            <a:off x="5916167" y="2510027"/>
            <a:ext cx="365759" cy="329184"/>
          </a:xfrm>
          <a:prstGeom prst="rightArrow">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373368" y="1874519"/>
            <a:ext cx="2331720" cy="1600200"/>
          </a:xfrm>
          <a:prstGeom prst="roundRect">
            <a:avLst>
              <a:gd name="adj" fmla="val 8000"/>
            </a:avLst>
          </a:prstGeom>
          <a:solidFill>
            <a:srgbClr val="F2F2F2"/>
          </a:solidFill>
          <a:ln w="25400">
            <a:solidFill>
              <a:srgbClr val="CC0000"/>
            </a:solidFill>
          </a:ln>
        </p:spPr>
        <p:style>
          <a:lnRef idx="1">
            <a:schemeClr val="accent1"/>
          </a:lnRef>
          <a:fillRef idx="3">
            <a:schemeClr val="accent1"/>
          </a:fillRef>
          <a:effectRef idx="2">
            <a:schemeClr val="accent1"/>
          </a:effectRef>
          <a:fontRef idx="minor">
            <a:schemeClr val="lt1"/>
          </a:fontRef>
        </p:style>
        <p:txBody>
          <a:bodyPr rtlCol="0" anchor="t" wrap="square" lIns="109728" rIns="109728"/>
          <a:lstStyle/>
          <a:p>
            <a:pPr algn="l"/>
            <a:r>
              <a:rPr sz="1800" b="1">
                <a:solidFill>
                  <a:srgbClr val="CC0000"/>
                </a:solidFill>
                <a:latin typeface="Arial"/>
              </a:rPr>
              <a:t>3. Depletion</a:t>
            </a:r>
          </a:p>
          <a:p>
            <a:pPr algn="l"/>
            <a:r>
              <a:rPr sz="1600">
                <a:solidFill>
                  <a:srgbClr val="000000"/>
                </a:solidFill>
                <a:latin typeface="Arial"/>
              </a:rPr>
              <a:t>Matrix loses the Ni and Si that resisted swelling</a:t>
            </a:r>
          </a:p>
        </p:txBody>
      </p:sp>
      <p:sp>
        <p:nvSpPr>
          <p:cNvPr id="12" name="Right Arrow 11"/>
          <p:cNvSpPr/>
          <p:nvPr/>
        </p:nvSpPr>
        <p:spPr>
          <a:xfrm>
            <a:off x="8796528" y="2510027"/>
            <a:ext cx="365759" cy="329184"/>
          </a:xfrm>
          <a:prstGeom prst="rightArrow">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9253728" y="1874519"/>
            <a:ext cx="2331720" cy="1600200"/>
          </a:xfrm>
          <a:prstGeom prst="roundRect">
            <a:avLst>
              <a:gd name="adj" fmla="val 8000"/>
            </a:avLst>
          </a:prstGeom>
          <a:solidFill>
            <a:srgbClr val="F2F2F2"/>
          </a:solidFill>
          <a:ln w="25400">
            <a:solidFill>
              <a:srgbClr val="CC0000"/>
            </a:solidFill>
          </a:ln>
        </p:spPr>
        <p:style>
          <a:lnRef idx="1">
            <a:schemeClr val="accent1"/>
          </a:lnRef>
          <a:fillRef idx="3">
            <a:schemeClr val="accent1"/>
          </a:fillRef>
          <a:effectRef idx="2">
            <a:schemeClr val="accent1"/>
          </a:effectRef>
          <a:fontRef idx="minor">
            <a:schemeClr val="lt1"/>
          </a:fontRef>
        </p:style>
        <p:txBody>
          <a:bodyPr rtlCol="0" anchor="t" wrap="square" lIns="109728" rIns="109728"/>
          <a:lstStyle/>
          <a:p>
            <a:pPr algn="l"/>
            <a:r>
              <a:rPr sz="1800" b="1">
                <a:solidFill>
                  <a:srgbClr val="CC0000"/>
                </a:solidFill>
                <a:latin typeface="Arial"/>
              </a:rPr>
              <a:t>4. Swelling</a:t>
            </a:r>
          </a:p>
          <a:p>
            <a:pPr algn="l"/>
            <a:r>
              <a:rPr sz="1600">
                <a:solidFill>
                  <a:srgbClr val="000000"/>
                </a:solidFill>
                <a:latin typeface="Arial"/>
              </a:rPr>
              <a:t>ChS-68: onset coincided with G-phase formation</a:t>
            </a:r>
          </a:p>
        </p:txBody>
      </p:sp>
      <p:sp>
        <p:nvSpPr>
          <p:cNvPr id="14" name="TextBox 13"/>
          <p:cNvSpPr txBox="1"/>
          <p:nvPr/>
        </p:nvSpPr>
        <p:spPr>
          <a:xfrm>
            <a:off x="612648" y="6199632"/>
            <a:ext cx="7955279" cy="320040"/>
          </a:xfrm>
          <a:prstGeom prst="rect">
            <a:avLst/>
          </a:prstGeom>
          <a:noFill/>
        </p:spPr>
        <p:txBody>
          <a:bodyPr wrap="square">
            <a:spAutoFit/>
          </a:bodyPr>
          <a:lstStyle/>
          <a:p>
            <a:pPr algn="l"/>
            <a:r>
              <a:rPr sz="1100" b="0" i="0">
                <a:solidFill>
                  <a:srgbClr val="595959"/>
                </a:solidFill>
                <a:latin typeface="Arial"/>
              </a:rPr>
              <a:t>Sources: [9] ChS-68 and G-phase; [14] RIS; [15] γ′ and M₂₃(C,Si)₆</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In-Reactor Performance</a:t>
            </a:r>
          </a:p>
        </p:txBody>
      </p:sp>
      <p:sp>
        <p:nvSpPr>
          <p:cNvPr id="6" name="Slide Number Placeholder 5"/>
          <p:cNvSpPr>
            <a:spLocks noGrp="1"/>
          </p:cNvSpPr>
          <p:nvPr>
            <p:ph type="sldNum" sz="quarter" idx="12"/>
          </p:nvPr>
        </p:nvSpPr>
        <p:spPr/>
        <p:txBody>
          <a:bodyPr/>
          <a:lstStyle>
            <a:lvl1pPr>
              <a:defRPr/>
            </a:lvl1pPr>
          </a:lstStyle>
          <a:p>
            <a:pPr>
              <a:defRPr/>
            </a:pPr>
            <a:fld id="{3FF2C605-4958-CF43-AA48-80339EFDB0AF}" type="slidenum">
              <a:rPr lang="en-US"/>
              <a:pPr>
                <a:defRPr/>
              </a:pPr>
              <a:t>‹#›</a:t>
            </a:fld>
            <a:endParaRPr lang="en-US"/>
          </a:p>
        </p:txBody>
      </p:sp>
      <p:graphicFrame>
        <p:nvGraphicFramePr>
          <p:cNvPr id="7" name="Table 6"/>
          <p:cNvGraphicFramePr>
            <a:graphicFrameLocks noGrp="1"/>
          </p:cNvGraphicFramePr>
          <p:nvPr/>
        </p:nvGraphicFramePr>
        <p:xfrm>
          <a:off x="612648" y="1783080"/>
          <a:ext cx="10972800" cy="2743200"/>
        </p:xfrm>
        <a:graphic>
          <a:graphicData uri="http://schemas.openxmlformats.org/drawingml/2006/table">
            <a:tbl>
              <a:tblPr firstRow="1" bandRow="1">
                <a:tableStyleId>{5C22544A-7EE6-4342-B048-85BDC9FD1C3A}</a:tableStyleId>
              </a:tblPr>
              <a:tblGrid>
                <a:gridCol w="2103120"/>
                <a:gridCol w="2377440"/>
                <a:gridCol w="1554480"/>
                <a:gridCol w="4937760"/>
              </a:tblGrid>
              <a:tr h="457200">
                <a:tc>
                  <a:txBody>
                    <a:bodyPr/>
                    <a:lstStyle/>
                    <a:p>
                      <a:r>
                        <a:rPr sz="1600" b="1">
                          <a:solidFill>
                            <a:srgbClr val="FFFFFF"/>
                          </a:solidFill>
                          <a:latin typeface="Arial"/>
                        </a:rPr>
                        <a:t>Alloy</a:t>
                      </a:r>
                    </a:p>
                  </a:txBody>
                  <a:tcPr marL="73152" marR="73152" marT="36576" marB="36576" anchor="ctr">
                    <a:solidFill>
                      <a:srgbClr val="CC0000"/>
                    </a:solidFill>
                  </a:tcPr>
                </a:tc>
                <a:tc>
                  <a:txBody>
                    <a:bodyPr/>
                    <a:lstStyle/>
                    <a:p>
                      <a:r>
                        <a:rPr sz="1600" b="1">
                          <a:solidFill>
                            <a:srgbClr val="FFFFFF"/>
                          </a:solidFill>
                          <a:latin typeface="Arial"/>
                        </a:rPr>
                        <a:t>Where</a:t>
                      </a:r>
                    </a:p>
                  </a:txBody>
                  <a:tcPr marL="73152" marR="73152" marT="36576" marB="36576" anchor="ctr">
                    <a:solidFill>
                      <a:srgbClr val="CC0000"/>
                    </a:solidFill>
                  </a:tcPr>
                </a:tc>
                <a:tc>
                  <a:txBody>
                    <a:bodyPr/>
                    <a:lstStyle/>
                    <a:p>
                      <a:r>
                        <a:rPr sz="1600" b="1">
                          <a:solidFill>
                            <a:srgbClr val="FFFFFF"/>
                          </a:solidFill>
                          <a:latin typeface="Arial"/>
                        </a:rPr>
                        <a:t>Dose</a:t>
                      </a:r>
                    </a:p>
                  </a:txBody>
                  <a:tcPr marL="73152" marR="73152" marT="36576" marB="36576" anchor="ctr">
                    <a:solidFill>
                      <a:srgbClr val="CC0000"/>
                    </a:solidFill>
                  </a:tcPr>
                </a:tc>
                <a:tc>
                  <a:txBody>
                    <a:bodyPr/>
                    <a:lstStyle/>
                    <a:p>
                      <a:r>
                        <a:rPr sz="1600" b="1">
                          <a:solidFill>
                            <a:srgbClr val="FFFFFF"/>
                          </a:solidFill>
                          <a:latin typeface="Arial"/>
                        </a:rPr>
                        <a:t>Result</a:t>
                      </a:r>
                    </a:p>
                  </a:txBody>
                  <a:tcPr marL="73152" marR="73152" marT="36576" marB="36576" anchor="ctr">
                    <a:solidFill>
                      <a:srgbClr val="CC0000"/>
                    </a:solidFill>
                  </a:tcPr>
                </a:tc>
              </a:tr>
              <a:tr h="457200">
                <a:tc>
                  <a:txBody>
                    <a:bodyPr/>
                    <a:lstStyle/>
                    <a:p>
                      <a:r>
                        <a:rPr sz="1600" b="1">
                          <a:solidFill>
                            <a:srgbClr val="000000"/>
                          </a:solidFill>
                          <a:latin typeface="Arial"/>
                        </a:rPr>
                        <a:t>316 vs. D9</a:t>
                      </a:r>
                    </a:p>
                  </a:txBody>
                  <a:tcPr marL="73152" marR="73152" marT="36576" marB="36576" anchor="ctr">
                    <a:solidFill>
                      <a:srgbClr val="FFFFFF"/>
                    </a:solidFill>
                  </a:tcPr>
                </a:tc>
                <a:tc>
                  <a:txBody>
                    <a:bodyPr/>
                    <a:lstStyle/>
                    <a:p>
                      <a:r>
                        <a:rPr sz="1600">
                          <a:solidFill>
                            <a:srgbClr val="000000"/>
                          </a:solidFill>
                          <a:latin typeface="Arial"/>
                        </a:rPr>
                        <a:t>FFTF (US)</a:t>
                      </a:r>
                    </a:p>
                  </a:txBody>
                  <a:tcPr marL="73152" marR="73152" marT="36576" marB="36576" anchor="ctr">
                    <a:solidFill>
                      <a:srgbClr val="FFFFFF"/>
                    </a:solidFill>
                  </a:tcPr>
                </a:tc>
                <a:tc>
                  <a:txBody>
                    <a:bodyPr/>
                    <a:lstStyle/>
                    <a:p>
                      <a:r>
                        <a:rPr sz="1600">
                          <a:solidFill>
                            <a:srgbClr val="000000"/>
                          </a:solidFill>
                          <a:latin typeface="Arial"/>
                        </a:rPr>
                        <a:t>—</a:t>
                      </a:r>
                    </a:p>
                  </a:txBody>
                  <a:tcPr marL="73152" marR="73152" marT="36576" marB="36576" anchor="ctr">
                    <a:solidFill>
                      <a:srgbClr val="FFFFFF"/>
                    </a:solidFill>
                  </a:tcPr>
                </a:tc>
                <a:tc>
                  <a:txBody>
                    <a:bodyPr/>
                    <a:lstStyle/>
                    <a:p>
                      <a:r>
                        <a:rPr sz="1600">
                          <a:solidFill>
                            <a:srgbClr val="000000"/>
                          </a:solidFill>
                          <a:latin typeface="Arial"/>
                        </a:rPr>
                        <a:t>D9 swelled less than 316 in fuel pins</a:t>
                      </a:r>
                    </a:p>
                  </a:txBody>
                  <a:tcPr marL="73152" marR="73152" marT="36576" marB="36576" anchor="ctr">
                    <a:solidFill>
                      <a:srgbClr val="FFFFFF"/>
                    </a:solidFill>
                  </a:tcPr>
                </a:tc>
              </a:tr>
              <a:tr h="457200">
                <a:tc>
                  <a:txBody>
                    <a:bodyPr/>
                    <a:lstStyle/>
                    <a:p>
                      <a:r>
                        <a:rPr sz="1600" b="1">
                          <a:solidFill>
                            <a:srgbClr val="000000"/>
                          </a:solidFill>
                          <a:latin typeface="Arial"/>
                        </a:rPr>
                        <a:t>D9</a:t>
                      </a:r>
                    </a:p>
                  </a:txBody>
                  <a:tcPr marL="73152" marR="73152" marT="36576" marB="36576" anchor="ctr">
                    <a:solidFill>
                      <a:srgbClr val="F2F2F2"/>
                    </a:solidFill>
                  </a:tcPr>
                </a:tc>
                <a:tc>
                  <a:txBody>
                    <a:bodyPr/>
                    <a:lstStyle/>
                    <a:p>
                      <a:r>
                        <a:rPr sz="1600">
                          <a:solidFill>
                            <a:srgbClr val="000000"/>
                          </a:solidFill>
                          <a:latin typeface="Arial"/>
                        </a:rPr>
                        <a:t>FBTR (India)</a:t>
                      </a:r>
                    </a:p>
                  </a:txBody>
                  <a:tcPr marL="73152" marR="73152" marT="36576" marB="36576" anchor="ctr">
                    <a:solidFill>
                      <a:srgbClr val="F2F2F2"/>
                    </a:solidFill>
                  </a:tcPr>
                </a:tc>
                <a:tc>
                  <a:txBody>
                    <a:bodyPr/>
                    <a:lstStyle/>
                    <a:p>
                      <a:r>
                        <a:rPr sz="1600">
                          <a:solidFill>
                            <a:srgbClr val="000000"/>
                          </a:solidFill>
                          <a:latin typeface="Arial"/>
                        </a:rPr>
                        <a:t>40–62 dpa</a:t>
                      </a:r>
                    </a:p>
                  </a:txBody>
                  <a:tcPr marL="73152" marR="73152" marT="36576" marB="36576" anchor="ctr">
                    <a:solidFill>
                      <a:srgbClr val="F2F2F2"/>
                    </a:solidFill>
                  </a:tcPr>
                </a:tc>
                <a:tc>
                  <a:txBody>
                    <a:bodyPr/>
                    <a:lstStyle/>
                    <a:p>
                      <a:r>
                        <a:rPr sz="1600">
                          <a:solidFill>
                            <a:srgbClr val="000000"/>
                          </a:solidFill>
                          <a:latin typeface="Arial"/>
                        </a:rPr>
                        <a:t>Beat 316; supports PFBR target of 85 dpa</a:t>
                      </a:r>
                    </a:p>
                  </a:txBody>
                  <a:tcPr marL="73152" marR="73152" marT="36576" marB="36576" anchor="ctr">
                    <a:solidFill>
                      <a:srgbClr val="F2F2F2"/>
                    </a:solidFill>
                  </a:tcPr>
                </a:tc>
              </a:tr>
              <a:tr h="457200">
                <a:tc>
                  <a:txBody>
                    <a:bodyPr/>
                    <a:lstStyle/>
                    <a:p>
                      <a:r>
                        <a:rPr sz="1600" b="1">
                          <a:solidFill>
                            <a:srgbClr val="000000"/>
                          </a:solidFill>
                          <a:latin typeface="Arial"/>
                        </a:rPr>
                        <a:t>15-15Ti</a:t>
                      </a:r>
                    </a:p>
                  </a:txBody>
                  <a:tcPr marL="73152" marR="73152" marT="36576" marB="36576" anchor="ctr">
                    <a:solidFill>
                      <a:srgbClr val="FFFFFF"/>
                    </a:solidFill>
                  </a:tcPr>
                </a:tc>
                <a:tc>
                  <a:txBody>
                    <a:bodyPr/>
                    <a:lstStyle/>
                    <a:p>
                      <a:r>
                        <a:rPr sz="1600">
                          <a:solidFill>
                            <a:srgbClr val="000000"/>
                          </a:solidFill>
                          <a:latin typeface="Arial"/>
                        </a:rPr>
                        <a:t>Phénix, 1982–98</a:t>
                      </a:r>
                    </a:p>
                  </a:txBody>
                  <a:tcPr marL="73152" marR="73152" marT="36576" marB="36576" anchor="ctr">
                    <a:solidFill>
                      <a:srgbClr val="FFFFFF"/>
                    </a:solidFill>
                  </a:tcPr>
                </a:tc>
                <a:tc>
                  <a:txBody>
                    <a:bodyPr/>
                    <a:lstStyle/>
                    <a:p>
                      <a:r>
                        <a:rPr sz="1600">
                          <a:solidFill>
                            <a:srgbClr val="000000"/>
                          </a:solidFill>
                          <a:latin typeface="Arial"/>
                        </a:rPr>
                        <a:t>≤130 dpa</a:t>
                      </a:r>
                    </a:p>
                  </a:txBody>
                  <a:tcPr marL="73152" marR="73152" marT="36576" marB="36576" anchor="ctr">
                    <a:solidFill>
                      <a:srgbClr val="FFFFFF"/>
                    </a:solidFill>
                  </a:tcPr>
                </a:tc>
                <a:tc>
                  <a:txBody>
                    <a:bodyPr/>
                    <a:lstStyle/>
                    <a:p>
                      <a:r>
                        <a:rPr sz="1600">
                          <a:solidFill>
                            <a:srgbClr val="000000"/>
                          </a:solidFill>
                          <a:latin typeface="Arial"/>
                        </a:rPr>
                        <a:t>Deformation still acceptable</a:t>
                      </a:r>
                    </a:p>
                  </a:txBody>
                  <a:tcPr marL="73152" marR="73152" marT="36576" marB="36576" anchor="ctr">
                    <a:solidFill>
                      <a:srgbClr val="FFFFFF"/>
                    </a:solidFill>
                  </a:tcPr>
                </a:tc>
              </a:tr>
              <a:tr h="457200">
                <a:tc>
                  <a:txBody>
                    <a:bodyPr/>
                    <a:lstStyle/>
                    <a:p>
                      <a:r>
                        <a:rPr sz="1600" b="1">
                          <a:solidFill>
                            <a:srgbClr val="000000"/>
                          </a:solidFill>
                          <a:latin typeface="Arial"/>
                        </a:rPr>
                        <a:t>ChS-68, 20% CW</a:t>
                      </a:r>
                    </a:p>
                  </a:txBody>
                  <a:tcPr marL="73152" marR="73152" marT="36576" marB="36576" anchor="ctr">
                    <a:solidFill>
                      <a:srgbClr val="F2F2F2"/>
                    </a:solidFill>
                  </a:tcPr>
                </a:tc>
                <a:tc>
                  <a:txBody>
                    <a:bodyPr/>
                    <a:lstStyle/>
                    <a:p>
                      <a:r>
                        <a:rPr sz="1600">
                          <a:solidFill>
                            <a:srgbClr val="000000"/>
                          </a:solidFill>
                          <a:latin typeface="Arial"/>
                        </a:rPr>
                        <a:t>BN-600 (Russia)</a:t>
                      </a:r>
                    </a:p>
                  </a:txBody>
                  <a:tcPr marL="73152" marR="73152" marT="36576" marB="36576" anchor="ctr">
                    <a:solidFill>
                      <a:srgbClr val="F2F2F2"/>
                    </a:solidFill>
                  </a:tcPr>
                </a:tc>
                <a:tc>
                  <a:txBody>
                    <a:bodyPr/>
                    <a:lstStyle/>
                    <a:p>
                      <a:r>
                        <a:rPr sz="1600">
                          <a:solidFill>
                            <a:srgbClr val="000000"/>
                          </a:solidFill>
                          <a:latin typeface="Arial"/>
                        </a:rPr>
                        <a:t>56–84 dpa</a:t>
                      </a:r>
                    </a:p>
                  </a:txBody>
                  <a:tcPr marL="73152" marR="73152" marT="36576" marB="36576" anchor="ctr">
                    <a:solidFill>
                      <a:srgbClr val="F2F2F2"/>
                    </a:solidFill>
                  </a:tcPr>
                </a:tc>
                <a:tc>
                  <a:txBody>
                    <a:bodyPr/>
                    <a:lstStyle/>
                    <a:p>
                      <a:r>
                        <a:rPr sz="1600">
                          <a:solidFill>
                            <a:srgbClr val="000000"/>
                          </a:solidFill>
                          <a:latin typeface="Arial"/>
                        </a:rPr>
                        <a:t>~10 dpa longer transient than EI-847</a:t>
                      </a:r>
                    </a:p>
                  </a:txBody>
                  <a:tcPr marL="73152" marR="73152" marT="36576" marB="36576" anchor="ctr">
                    <a:solidFill>
                      <a:srgbClr val="F2F2F2"/>
                    </a:solidFill>
                  </a:tcPr>
                </a:tc>
              </a:tr>
              <a:tr h="457200">
                <a:tc>
                  <a:txBody>
                    <a:bodyPr/>
                    <a:lstStyle/>
                    <a:p>
                      <a:r>
                        <a:rPr sz="1600" b="1">
                          <a:solidFill>
                            <a:srgbClr val="000000"/>
                          </a:solidFill>
                          <a:latin typeface="Arial"/>
                        </a:rPr>
                        <a:t>15-15Ti</a:t>
                      </a:r>
                    </a:p>
                  </a:txBody>
                  <a:tcPr marL="73152" marR="73152" marT="36576" marB="36576" anchor="ctr">
                    <a:solidFill>
                      <a:srgbClr val="FFFFFF"/>
                    </a:solidFill>
                  </a:tcPr>
                </a:tc>
                <a:tc>
                  <a:txBody>
                    <a:bodyPr/>
                    <a:lstStyle/>
                    <a:p>
                      <a:r>
                        <a:rPr sz="1600">
                          <a:solidFill>
                            <a:srgbClr val="000000"/>
                          </a:solidFill>
                          <a:latin typeface="Arial"/>
                        </a:rPr>
                        <a:t>Ions, 580 °C</a:t>
                      </a:r>
                    </a:p>
                  </a:txBody>
                  <a:tcPr marL="73152" marR="73152" marT="36576" marB="36576" anchor="ctr">
                    <a:solidFill>
                      <a:srgbClr val="FFFFFF"/>
                    </a:solidFill>
                  </a:tcPr>
                </a:tc>
                <a:tc>
                  <a:txBody>
                    <a:bodyPr/>
                    <a:lstStyle/>
                    <a:p>
                      <a:r>
                        <a:rPr sz="1600">
                          <a:solidFill>
                            <a:srgbClr val="000000"/>
                          </a:solidFill>
                          <a:latin typeface="Arial"/>
                        </a:rPr>
                        <a:t>to 400 dpa</a:t>
                      </a:r>
                    </a:p>
                  </a:txBody>
                  <a:tcPr marL="73152" marR="73152" marT="36576" marB="36576" anchor="ctr">
                    <a:solidFill>
                      <a:srgbClr val="FFFFFF"/>
                    </a:solidFill>
                  </a:tcPr>
                </a:tc>
                <a:tc>
                  <a:txBody>
                    <a:bodyPr/>
                    <a:lstStyle/>
                    <a:p>
                      <a:r>
                        <a:rPr sz="1600">
                          <a:solidFill>
                            <a:srgbClr val="000000"/>
                          </a:solidFill>
                          <a:latin typeface="Arial"/>
                        </a:rPr>
                        <a:t>Steady swelling stays ~1%/dpa</a:t>
                      </a:r>
                    </a:p>
                  </a:txBody>
                  <a:tcPr marL="73152" marR="73152" marT="36576" marB="36576" anchor="ctr">
                    <a:solidFill>
                      <a:srgbClr val="FFFFFF"/>
                    </a:solidFill>
                  </a:tcPr>
                </a:tc>
              </a:tr>
            </a:tbl>
          </a:graphicData>
        </a:graphic>
      </p:graphicFrame>
      <p:sp>
        <p:nvSpPr>
          <p:cNvPr id="8" name="TextBox 7"/>
          <p:cNvSpPr txBox="1"/>
          <p:nvPr/>
        </p:nvSpPr>
        <p:spPr>
          <a:xfrm>
            <a:off x="612648" y="4846320"/>
            <a:ext cx="10972800" cy="914400"/>
          </a:xfrm>
          <a:prstGeom prst="rect">
            <a:avLst/>
          </a:prstGeom>
          <a:noFill/>
        </p:spPr>
        <p:txBody>
          <a:bodyPr wrap="square">
            <a:spAutoFit/>
          </a:bodyPr>
          <a:lstStyle/>
          <a:p>
            <a:pPr algn="l"/>
            <a:r>
              <a:rPr sz="2000" b="1" i="0">
                <a:solidFill>
                  <a:srgbClr val="CC0000"/>
                </a:solidFill>
                <a:latin typeface="Arial"/>
              </a:rPr>
              <a:t>Future SFR assemblies may reach 200 dpa, beyond the austenitic record. That is one reason F/M and ODS steels are favored for high-burnup cores.</a:t>
            </a:r>
          </a:p>
        </p:txBody>
      </p:sp>
      <p:sp>
        <p:nvSpPr>
          <p:cNvPr id="9" name="TextBox 8"/>
          <p:cNvSpPr txBox="1"/>
          <p:nvPr/>
        </p:nvSpPr>
        <p:spPr>
          <a:xfrm>
            <a:off x="612648" y="6199632"/>
            <a:ext cx="7955279" cy="320040"/>
          </a:xfrm>
          <a:prstGeom prst="rect">
            <a:avLst/>
          </a:prstGeom>
          <a:noFill/>
        </p:spPr>
        <p:txBody>
          <a:bodyPr wrap="square">
            <a:spAutoFit/>
          </a:bodyPr>
          <a:lstStyle/>
          <a:p>
            <a:pPr algn="l"/>
            <a:r>
              <a:rPr sz="1100" b="0" i="0">
                <a:solidFill>
                  <a:srgbClr val="595959"/>
                </a:solidFill>
                <a:latin typeface="Arial"/>
              </a:rPr>
              <a:t>Sources: [8] Phénix, ions, 200 dpa goal; [9] BN-600; [10] FBTR; [11] FFTF</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Helium Effects</a:t>
            </a:r>
          </a:p>
        </p:txBody>
      </p:sp>
      <p:sp>
        <p:nvSpPr>
          <p:cNvPr id="3" name="Content Placeholder 2"/>
          <p:cNvSpPr>
            <a:spLocks noGrp="1"/>
          </p:cNvSpPr>
          <p:nvPr>
            <p:ph idx="1"/>
          </p:nvPr>
        </p:nvSpPr>
        <p:spPr>
          <a:xfrm>
            <a:off x="612648" y="1691640"/>
            <a:ext cx="10972800" cy="4297680"/>
          </a:xfrm>
        </p:spPr>
        <p:txBody>
          <a:bodyPr/>
          <a:lstStyle/>
          <a:p>
            <a:pPr/>
            <a:r>
              <a:rPr sz="2000"/>
              <a:t>Ni helps against swelling but produces He</a:t>
            </a:r>
          </a:p>
          <a:p>
            <a:pPr lvl="1"/>
            <a:r>
              <a:rPr sz="1800"/>
              <a:t>Ni-rich alloys generate He by transmutation, most strongly in thermal or mixed spectra (see Ni alloys)</a:t>
            </a:r>
          </a:p>
          <a:p>
            <a:pPr/>
            <a:r>
              <a:rPr sz="2000"/>
              <a:t>Effects</a:t>
            </a:r>
          </a:p>
          <a:p>
            <a:pPr lvl="1"/>
            <a:r>
              <a:rPr sz="1800"/>
              <a:t>He promotes void swelling at high temperature</a:t>
            </a:r>
          </a:p>
          <a:p>
            <a:pPr lvl="1"/>
            <a:r>
              <a:rPr sz="1800"/>
              <a:t>He bubbles on grain boundaries reduce creep ductility</a:t>
            </a:r>
          </a:p>
          <a:p>
            <a:pPr/>
            <a:r>
              <a:rPr sz="2000"/>
              <a:t>Mitigation</a:t>
            </a:r>
          </a:p>
          <a:p>
            <a:pPr lvl="1"/>
            <a:r>
              <a:rPr sz="1800"/>
              <a:t>Dispersed TiC holds He in the matrix; it suppressed He embrittlement in DIN 1.4970 creep tests</a:t>
            </a:r>
          </a:p>
          <a:p>
            <a:pPr/>
            <a:r>
              <a:rPr sz="2000"/>
              <a:t>Design tension: the Ni lever for swelling has a helium cost</a:t>
            </a:r>
          </a:p>
        </p:txBody>
      </p:sp>
      <p:sp>
        <p:nvSpPr>
          <p:cNvPr id="6" name="Slide Number Placeholder 5"/>
          <p:cNvSpPr>
            <a:spLocks noGrp="1"/>
          </p:cNvSpPr>
          <p:nvPr>
            <p:ph type="sldNum" sz="quarter" idx="12"/>
          </p:nvPr>
        </p:nvSpPr>
        <p:spPr/>
        <p:txBody>
          <a:bodyPr/>
          <a:lstStyle>
            <a:lvl1pPr>
              <a:defRPr/>
            </a:lvl1pPr>
          </a:lstStyle>
          <a:p>
            <a:pPr>
              <a:defRPr/>
            </a:pPr>
            <a:fld id="{3FF2C605-4958-CF43-AA48-80339EFDB0AF}" type="slidenum">
              <a:rPr lang="en-US"/>
              <a:pPr>
                <a:defRPr/>
              </a:pPr>
              <a:t>‹#›</a:t>
            </a:fld>
            <a:endParaRPr lang="en-US"/>
          </a:p>
        </p:txBody>
      </p:sp>
      <p:sp>
        <p:nvSpPr>
          <p:cNvPr id="7" name="TextBox 6"/>
          <p:cNvSpPr txBox="1"/>
          <p:nvPr/>
        </p:nvSpPr>
        <p:spPr>
          <a:xfrm>
            <a:off x="612648" y="6199632"/>
            <a:ext cx="7955279" cy="320040"/>
          </a:xfrm>
          <a:prstGeom prst="rect">
            <a:avLst/>
          </a:prstGeom>
          <a:noFill/>
        </p:spPr>
        <p:txBody>
          <a:bodyPr wrap="square">
            <a:spAutoFit/>
          </a:bodyPr>
          <a:lstStyle/>
          <a:p>
            <a:pPr algn="l"/>
            <a:r>
              <a:rPr sz="1100" b="0" i="0">
                <a:solidFill>
                  <a:srgbClr val="595959"/>
                </a:solidFill>
                <a:latin typeface="Arial"/>
              </a:rPr>
              <a:t>Sources: [7] He and swelling; [17] TiC and He embrittlement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Next-Generation Austenitics</a:t>
            </a:r>
          </a:p>
        </p:txBody>
      </p:sp>
      <p:sp>
        <p:nvSpPr>
          <p:cNvPr id="3" name="Content Placeholder 2"/>
          <p:cNvSpPr>
            <a:spLocks noGrp="1"/>
          </p:cNvSpPr>
          <p:nvPr>
            <p:ph idx="1"/>
          </p:nvPr>
        </p:nvSpPr>
        <p:spPr>
          <a:xfrm>
            <a:off x="612648" y="1691640"/>
            <a:ext cx="10972800" cy="4389120"/>
          </a:xfrm>
        </p:spPr>
        <p:txBody>
          <a:bodyPr/>
          <a:lstStyle/>
          <a:p>
            <a:pPr/>
            <a:r>
              <a:rPr sz="2000"/>
              <a:t>HT-UPS (ORNL): precipitate design</a:t>
            </a:r>
          </a:p>
          <a:p>
            <a:pPr lvl="1"/>
            <a:r>
              <a:rPr sz="1800"/>
              <a:t>Ti + Nb + V with B and P → stable nanoscale MC carbides; from 1970s–80s breeder and fusion programs</a:t>
            </a:r>
          </a:p>
          <a:p>
            <a:pPr lvl="1"/>
            <a:r>
              <a:rPr sz="1800"/>
              <a:t>Creep resistance comparable to Alloy 617 (R&amp;D 100 award, 1990)</a:t>
            </a:r>
          </a:p>
          <a:p>
            <a:pPr/>
            <a:r>
              <a:rPr sz="2000"/>
              <a:t>Alloy 709: SFR structures, not cladding</a:t>
            </a:r>
          </a:p>
          <a:p>
            <a:pPr lvl="1"/>
            <a:r>
              <a:rPr sz="1800"/>
              <a:t>Fe–20Cr–25Ni–1.5Mo with Nb and N; RT yield/UTS 270/640 MPa vs. 205/515 MPa for 316H</a:t>
            </a:r>
          </a:p>
          <a:p>
            <a:pPr lvl="1"/>
            <a:r>
              <a:rPr sz="1800"/>
              <a:t>ASME Section III, Division 5 design data for 100,000 h completed in 2024</a:t>
            </a:r>
          </a:p>
          <a:p>
            <a:pPr/>
            <a:r>
              <a:rPr sz="2000"/>
              <a:t>Alumina-forming austenitic (AFA) steels: Pb and LBE coolants</a:t>
            </a:r>
          </a:p>
          <a:p>
            <a:pPr lvl="1"/>
            <a:r>
              <a:rPr sz="1800"/>
              <a:t>Al forms a protective Al₂O₃ scale (ORNL, 2006)</a:t>
            </a:r>
          </a:p>
          <a:p>
            <a:pPr lvl="1"/>
            <a:r>
              <a:rPr sz="1800"/>
              <a:t>In liquid Pb at 550 °C, 316L and 15-15Ti struggled to form protective oxides; low-Ni AFA resisted, high-Ni AFA dissolved</a:t>
            </a:r>
          </a:p>
        </p:txBody>
      </p:sp>
      <p:sp>
        <p:nvSpPr>
          <p:cNvPr id="6" name="Slide Number Placeholder 5"/>
          <p:cNvSpPr>
            <a:spLocks noGrp="1"/>
          </p:cNvSpPr>
          <p:nvPr>
            <p:ph type="sldNum" sz="quarter" idx="12"/>
          </p:nvPr>
        </p:nvSpPr>
        <p:spPr/>
        <p:txBody>
          <a:bodyPr/>
          <a:lstStyle>
            <a:lvl1pPr>
              <a:defRPr/>
            </a:lvl1pPr>
          </a:lstStyle>
          <a:p>
            <a:pPr>
              <a:defRPr/>
            </a:pPr>
            <a:fld id="{3FF2C605-4958-CF43-AA48-80339EFDB0AF}" type="slidenum">
              <a:rPr lang="en-US"/>
              <a:pPr>
                <a:defRPr/>
              </a:pPr>
              <a:t>‹#›</a:t>
            </a:fld>
            <a:endParaRPr lang="en-US"/>
          </a:p>
        </p:txBody>
      </p:sp>
      <p:sp>
        <p:nvSpPr>
          <p:cNvPr id="7" name="TextBox 6"/>
          <p:cNvSpPr txBox="1"/>
          <p:nvPr/>
        </p:nvSpPr>
        <p:spPr>
          <a:xfrm>
            <a:off x="612648" y="6199632"/>
            <a:ext cx="7955279" cy="320040"/>
          </a:xfrm>
          <a:prstGeom prst="rect">
            <a:avLst/>
          </a:prstGeom>
          <a:noFill/>
        </p:spPr>
        <p:txBody>
          <a:bodyPr wrap="square">
            <a:spAutoFit/>
          </a:bodyPr>
          <a:lstStyle/>
          <a:p>
            <a:pPr algn="l"/>
            <a:r>
              <a:rPr sz="1100" b="0" i="0">
                <a:solidFill>
                  <a:srgbClr val="595959"/>
                </a:solidFill>
                <a:latin typeface="Arial"/>
              </a:rPr>
              <a:t>Sources: [18] HT-UPS, AFA; [19] AFA in Pb; [20] Alloy 709 properties; [21] code qualification</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Austenitic vs. F/M Summary</a:t>
            </a:r>
          </a:p>
        </p:txBody>
      </p:sp>
      <p:sp>
        <p:nvSpPr>
          <p:cNvPr id="6" name="Slide Number Placeholder 5"/>
          <p:cNvSpPr>
            <a:spLocks noGrp="1"/>
          </p:cNvSpPr>
          <p:nvPr>
            <p:ph type="sldNum" sz="quarter" idx="12"/>
          </p:nvPr>
        </p:nvSpPr>
        <p:spPr/>
        <p:txBody>
          <a:bodyPr/>
          <a:lstStyle>
            <a:lvl1pPr>
              <a:defRPr/>
            </a:lvl1pPr>
          </a:lstStyle>
          <a:p>
            <a:pPr>
              <a:defRPr/>
            </a:pPr>
            <a:fld id="{3FF2C605-4958-CF43-AA48-80339EFDB0AF}" type="slidenum">
              <a:rPr lang="en-US"/>
              <a:pPr>
                <a:defRPr/>
              </a:pPr>
              <a:t>‹#›</a:t>
            </a:fld>
            <a:endParaRPr lang="en-US"/>
          </a:p>
        </p:txBody>
      </p:sp>
      <p:graphicFrame>
        <p:nvGraphicFramePr>
          <p:cNvPr id="7" name="Table 6"/>
          <p:cNvGraphicFramePr>
            <a:graphicFrameLocks noGrp="1"/>
          </p:cNvGraphicFramePr>
          <p:nvPr/>
        </p:nvGraphicFramePr>
        <p:xfrm>
          <a:off x="612648" y="1783080"/>
          <a:ext cx="10972800" cy="3520440"/>
        </p:xfrm>
        <a:graphic>
          <a:graphicData uri="http://schemas.openxmlformats.org/drawingml/2006/table">
            <a:tbl>
              <a:tblPr firstRow="1" bandRow="1">
                <a:tableStyleId>{5C22544A-7EE6-4342-B048-85BDC9FD1C3A}</a:tableStyleId>
              </a:tblPr>
              <a:tblGrid>
                <a:gridCol w="2194560"/>
                <a:gridCol w="4389120"/>
                <a:gridCol w="4389120"/>
              </a:tblGrid>
              <a:tr h="502920">
                <a:tc>
                  <a:txBody>
                    <a:bodyPr/>
                    <a:lstStyle/>
                    <a:p>
                      <a:r>
                        <a:rPr sz="1600" b="1">
                          <a:solidFill>
                            <a:srgbClr val="FFFFFF"/>
                          </a:solidFill>
                          <a:latin typeface="Arial"/>
                        </a:rPr>
                        <a:t/>
                      </a:r>
                    </a:p>
                  </a:txBody>
                  <a:tcPr marL="73152" marR="73152" marT="36576" marB="36576" anchor="ctr">
                    <a:solidFill>
                      <a:srgbClr val="CC0000"/>
                    </a:solidFill>
                  </a:tcPr>
                </a:tc>
                <a:tc>
                  <a:txBody>
                    <a:bodyPr/>
                    <a:lstStyle/>
                    <a:p>
                      <a:r>
                        <a:rPr sz="1600" b="1">
                          <a:solidFill>
                            <a:srgbClr val="FFFFFF"/>
                          </a:solidFill>
                          <a:latin typeface="Arial"/>
                        </a:rPr>
                        <a:t>Advanced austenitic (15-15Ti, D9)</a:t>
                      </a:r>
                    </a:p>
                  </a:txBody>
                  <a:tcPr marL="73152" marR="73152" marT="36576" marB="36576" anchor="ctr">
                    <a:solidFill>
                      <a:srgbClr val="CC0000"/>
                    </a:solidFill>
                  </a:tcPr>
                </a:tc>
                <a:tc>
                  <a:txBody>
                    <a:bodyPr/>
                    <a:lstStyle/>
                    <a:p>
                      <a:r>
                        <a:rPr sz="1600" b="1">
                          <a:solidFill>
                            <a:srgbClr val="FFFFFF"/>
                          </a:solidFill>
                          <a:latin typeface="Arial"/>
                        </a:rPr>
                        <a:t>Ferritic-martensitic (HT-9, T91)</a:t>
                      </a:r>
                    </a:p>
                  </a:txBody>
                  <a:tcPr marL="73152" marR="73152" marT="36576" marB="36576" anchor="ctr">
                    <a:solidFill>
                      <a:srgbClr val="CC0000"/>
                    </a:solidFill>
                  </a:tcPr>
                </a:tc>
              </a:tr>
              <a:tr h="502920">
                <a:tc>
                  <a:txBody>
                    <a:bodyPr/>
                    <a:lstStyle/>
                    <a:p>
                      <a:r>
                        <a:rPr sz="1600" b="1">
                          <a:solidFill>
                            <a:srgbClr val="000000"/>
                          </a:solidFill>
                          <a:latin typeface="Arial"/>
                        </a:rPr>
                        <a:t>Structure</a:t>
                      </a:r>
                    </a:p>
                  </a:txBody>
                  <a:tcPr marL="73152" marR="73152" marT="36576" marB="36576" anchor="ctr">
                    <a:solidFill>
                      <a:srgbClr val="FFFFFF"/>
                    </a:solidFill>
                  </a:tcPr>
                </a:tc>
                <a:tc>
                  <a:txBody>
                    <a:bodyPr/>
                    <a:lstStyle/>
                    <a:p>
                      <a:r>
                        <a:rPr sz="1600">
                          <a:solidFill>
                            <a:srgbClr val="000000"/>
                          </a:solidFill>
                          <a:latin typeface="Arial"/>
                        </a:rPr>
                        <a:t>FCC: no DBTT</a:t>
                      </a:r>
                    </a:p>
                  </a:txBody>
                  <a:tcPr marL="73152" marR="73152" marT="36576" marB="36576" anchor="ctr">
                    <a:solidFill>
                      <a:srgbClr val="FFFFFF"/>
                    </a:solidFill>
                  </a:tcPr>
                </a:tc>
                <a:tc>
                  <a:txBody>
                    <a:bodyPr/>
                    <a:lstStyle/>
                    <a:p>
                      <a:r>
                        <a:rPr sz="1600">
                          <a:solidFill>
                            <a:srgbClr val="000000"/>
                          </a:solidFill>
                          <a:latin typeface="Arial"/>
                        </a:rPr>
                        <a:t>BCC: DBTT rises under low-T irradiation</a:t>
                      </a:r>
                    </a:p>
                  </a:txBody>
                  <a:tcPr marL="73152" marR="73152" marT="36576" marB="36576" anchor="ctr">
                    <a:solidFill>
                      <a:srgbClr val="FFFFFF"/>
                    </a:solidFill>
                  </a:tcPr>
                </a:tc>
              </a:tr>
              <a:tr h="502920">
                <a:tc>
                  <a:txBody>
                    <a:bodyPr/>
                    <a:lstStyle/>
                    <a:p>
                      <a:r>
                        <a:rPr sz="1600" b="1">
                          <a:solidFill>
                            <a:srgbClr val="000000"/>
                          </a:solidFill>
                          <a:latin typeface="Arial"/>
                        </a:rPr>
                        <a:t>Swelling</a:t>
                      </a:r>
                    </a:p>
                  </a:txBody>
                  <a:tcPr marL="73152" marR="73152" marT="36576" marB="36576" anchor="ctr">
                    <a:solidFill>
                      <a:srgbClr val="F2F2F2"/>
                    </a:solidFill>
                  </a:tcPr>
                </a:tc>
                <a:tc>
                  <a:txBody>
                    <a:bodyPr/>
                    <a:lstStyle/>
                    <a:p>
                      <a:r>
                        <a:rPr sz="1600">
                          <a:solidFill>
                            <a:srgbClr val="000000"/>
                          </a:solidFill>
                          <a:latin typeface="Arial"/>
                        </a:rPr>
                        <a:t>Incubation, then ~1%/dpa</a:t>
                      </a:r>
                    </a:p>
                  </a:txBody>
                  <a:tcPr marL="73152" marR="73152" marT="36576" marB="36576" anchor="ctr">
                    <a:solidFill>
                      <a:srgbClr val="F2F2F2"/>
                    </a:solidFill>
                  </a:tcPr>
                </a:tc>
                <a:tc>
                  <a:txBody>
                    <a:bodyPr/>
                    <a:lstStyle/>
                    <a:p>
                      <a:r>
                        <a:rPr sz="1600">
                          <a:solidFill>
                            <a:srgbClr val="000000"/>
                          </a:solidFill>
                          <a:latin typeface="Arial"/>
                        </a:rPr>
                        <a:t>Low swelling</a:t>
                      </a:r>
                    </a:p>
                  </a:txBody>
                  <a:tcPr marL="73152" marR="73152" marT="36576" marB="36576" anchor="ctr">
                    <a:solidFill>
                      <a:srgbClr val="F2F2F2"/>
                    </a:solidFill>
                  </a:tcPr>
                </a:tc>
              </a:tr>
              <a:tr h="502920">
                <a:tc>
                  <a:txBody>
                    <a:bodyPr/>
                    <a:lstStyle/>
                    <a:p>
                      <a:r>
                        <a:rPr sz="1600" b="1">
                          <a:solidFill>
                            <a:srgbClr val="000000"/>
                          </a:solidFill>
                          <a:latin typeface="Arial"/>
                        </a:rPr>
                        <a:t>High-T strength</a:t>
                      </a:r>
                    </a:p>
                  </a:txBody>
                  <a:tcPr marL="73152" marR="73152" marT="36576" marB="36576" anchor="ctr">
                    <a:solidFill>
                      <a:srgbClr val="FFFFFF"/>
                    </a:solidFill>
                  </a:tcPr>
                </a:tc>
                <a:tc>
                  <a:txBody>
                    <a:bodyPr/>
                    <a:lstStyle/>
                    <a:p>
                      <a:r>
                        <a:rPr sz="1600">
                          <a:solidFill>
                            <a:srgbClr val="000000"/>
                          </a:solidFill>
                          <a:latin typeface="Arial"/>
                        </a:rPr>
                        <a:t>Strong creep resistance</a:t>
                      </a:r>
                    </a:p>
                  </a:txBody>
                  <a:tcPr marL="73152" marR="73152" marT="36576" marB="36576" anchor="ctr">
                    <a:solidFill>
                      <a:srgbClr val="FFFFFF"/>
                    </a:solidFill>
                  </a:tcPr>
                </a:tc>
                <a:tc>
                  <a:txBody>
                    <a:bodyPr/>
                    <a:lstStyle/>
                    <a:p>
                      <a:r>
                        <a:rPr sz="1600">
                          <a:solidFill>
                            <a:srgbClr val="000000"/>
                          </a:solidFill>
                          <a:latin typeface="Arial"/>
                        </a:rPr>
                        <a:t>Weaker; ODS dispersions compensate</a:t>
                      </a:r>
                    </a:p>
                  </a:txBody>
                  <a:tcPr marL="73152" marR="73152" marT="36576" marB="36576" anchor="ctr">
                    <a:solidFill>
                      <a:srgbClr val="FFFFFF"/>
                    </a:solidFill>
                  </a:tcPr>
                </a:tc>
              </a:tr>
              <a:tr h="502920">
                <a:tc>
                  <a:txBody>
                    <a:bodyPr/>
                    <a:lstStyle/>
                    <a:p>
                      <a:r>
                        <a:rPr sz="1600" b="1">
                          <a:solidFill>
                            <a:srgbClr val="000000"/>
                          </a:solidFill>
                          <a:latin typeface="Arial"/>
                        </a:rPr>
                        <a:t>Helium</a:t>
                      </a:r>
                    </a:p>
                  </a:txBody>
                  <a:tcPr marL="73152" marR="73152" marT="36576" marB="36576" anchor="ctr">
                    <a:solidFill>
                      <a:srgbClr val="F2F2F2"/>
                    </a:solidFill>
                  </a:tcPr>
                </a:tc>
                <a:tc>
                  <a:txBody>
                    <a:bodyPr/>
                    <a:lstStyle/>
                    <a:p>
                      <a:r>
                        <a:rPr sz="1600">
                          <a:solidFill>
                            <a:srgbClr val="000000"/>
                          </a:solidFill>
                          <a:latin typeface="Arial"/>
                        </a:rPr>
                        <a:t>High Ni → more He, GB embrittlement</a:t>
                      </a:r>
                    </a:p>
                  </a:txBody>
                  <a:tcPr marL="73152" marR="73152" marT="36576" marB="36576" anchor="ctr">
                    <a:solidFill>
                      <a:srgbClr val="F2F2F2"/>
                    </a:solidFill>
                  </a:tcPr>
                </a:tc>
                <a:tc>
                  <a:txBody>
                    <a:bodyPr/>
                    <a:lstStyle/>
                    <a:p>
                      <a:r>
                        <a:rPr sz="1600">
                          <a:solidFill>
                            <a:srgbClr val="000000"/>
                          </a:solidFill>
                          <a:latin typeface="Arial"/>
                        </a:rPr>
                        <a:t>Less Ni → less He</a:t>
                      </a:r>
                    </a:p>
                  </a:txBody>
                  <a:tcPr marL="73152" marR="73152" marT="36576" marB="36576" anchor="ctr">
                    <a:solidFill>
                      <a:srgbClr val="F2F2F2"/>
                    </a:solidFill>
                  </a:tcPr>
                </a:tc>
              </a:tr>
              <a:tr h="502920">
                <a:tc>
                  <a:txBody>
                    <a:bodyPr/>
                    <a:lstStyle/>
                    <a:p>
                      <a:r>
                        <a:rPr sz="1600" b="1">
                          <a:solidFill>
                            <a:srgbClr val="000000"/>
                          </a:solidFill>
                          <a:latin typeface="Arial"/>
                        </a:rPr>
                        <a:t>Service record</a:t>
                      </a:r>
                    </a:p>
                  </a:txBody>
                  <a:tcPr marL="73152" marR="73152" marT="36576" marB="36576" anchor="ctr">
                    <a:solidFill>
                      <a:srgbClr val="FFFFFF"/>
                    </a:solidFill>
                  </a:tcPr>
                </a:tc>
                <a:tc>
                  <a:txBody>
                    <a:bodyPr/>
                    <a:lstStyle/>
                    <a:p>
                      <a:r>
                        <a:rPr sz="1600">
                          <a:solidFill>
                            <a:srgbClr val="000000"/>
                          </a:solidFill>
                          <a:latin typeface="Arial"/>
                        </a:rPr>
                        <a:t>≤130 dpa (15-15Ti in Phénix)</a:t>
                      </a:r>
                    </a:p>
                  </a:txBody>
                  <a:tcPr marL="73152" marR="73152" marT="36576" marB="36576" anchor="ctr">
                    <a:solidFill>
                      <a:srgbClr val="FFFFFF"/>
                    </a:solidFill>
                  </a:tcPr>
                </a:tc>
                <a:tc>
                  <a:txBody>
                    <a:bodyPr/>
                    <a:lstStyle/>
                    <a:p>
                      <a:r>
                        <a:rPr sz="1600">
                          <a:solidFill>
                            <a:srgbClr val="000000"/>
                          </a:solidFill>
                          <a:latin typeface="Arial"/>
                        </a:rPr>
                        <a:t>Favored for higher-dose cores</a:t>
                      </a:r>
                    </a:p>
                  </a:txBody>
                  <a:tcPr marL="73152" marR="73152" marT="36576" marB="36576" anchor="ctr">
                    <a:solidFill>
                      <a:srgbClr val="FFFFFF"/>
                    </a:solidFill>
                  </a:tcPr>
                </a:tc>
              </a:tr>
              <a:tr h="502920">
                <a:tc>
                  <a:txBody>
                    <a:bodyPr/>
                    <a:lstStyle/>
                    <a:p>
                      <a:r>
                        <a:rPr sz="1600" b="1">
                          <a:solidFill>
                            <a:srgbClr val="000000"/>
                          </a:solidFill>
                          <a:latin typeface="Arial"/>
                        </a:rPr>
                        <a:t>Best fit</a:t>
                      </a:r>
                    </a:p>
                  </a:txBody>
                  <a:tcPr marL="73152" marR="73152" marT="36576" marB="36576" anchor="ctr">
                    <a:solidFill>
                      <a:srgbClr val="F2F2F2"/>
                    </a:solidFill>
                  </a:tcPr>
                </a:tc>
                <a:tc>
                  <a:txBody>
                    <a:bodyPr/>
                    <a:lstStyle/>
                    <a:p>
                      <a:r>
                        <a:rPr sz="1600">
                          <a:solidFill>
                            <a:srgbClr val="000000"/>
                          </a:solidFill>
                          <a:latin typeface="Arial"/>
                        </a:rPr>
                        <a:t>Moderate dose, higher temperature</a:t>
                      </a:r>
                    </a:p>
                  </a:txBody>
                  <a:tcPr marL="73152" marR="73152" marT="36576" marB="36576" anchor="ctr">
                    <a:solidFill>
                      <a:srgbClr val="F2F2F2"/>
                    </a:solidFill>
                  </a:tcPr>
                </a:tc>
                <a:tc>
                  <a:txBody>
                    <a:bodyPr/>
                    <a:lstStyle/>
                    <a:p>
                      <a:r>
                        <a:rPr sz="1600">
                          <a:solidFill>
                            <a:srgbClr val="000000"/>
                          </a:solidFill>
                          <a:latin typeface="Arial"/>
                        </a:rPr>
                        <a:t>High dose, long residence</a:t>
                      </a:r>
                    </a:p>
                  </a:txBody>
                  <a:tcPr marL="73152" marR="73152" marT="36576" marB="36576" anchor="ctr">
                    <a:solidFill>
                      <a:srgbClr val="F2F2F2"/>
                    </a:solidFill>
                  </a:tcPr>
                </a:tc>
              </a:tr>
            </a:tbl>
          </a:graphicData>
        </a:graphic>
      </p:graphicFrame>
      <p:sp>
        <p:nvSpPr>
          <p:cNvPr id="8" name="TextBox 7"/>
          <p:cNvSpPr txBox="1"/>
          <p:nvPr/>
        </p:nvSpPr>
        <p:spPr>
          <a:xfrm>
            <a:off x="612648" y="6199632"/>
            <a:ext cx="7955279" cy="320040"/>
          </a:xfrm>
          <a:prstGeom prst="rect">
            <a:avLst/>
          </a:prstGeom>
          <a:noFill/>
        </p:spPr>
        <p:txBody>
          <a:bodyPr wrap="square">
            <a:spAutoFit/>
          </a:bodyPr>
          <a:lstStyle/>
          <a:p>
            <a:pPr algn="l"/>
            <a:r>
              <a:rPr sz="1100" b="0" i="0">
                <a:solidFill>
                  <a:srgbClr val="595959"/>
                </a:solidFill>
                <a:latin typeface="Arial"/>
              </a:rPr>
              <a:t>Sources: [7], [8]; F/M column summarizes the F/M and ODS lectures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HEA design: CALPHAD and ML</a:t>
            </a:r>
          </a:p>
        </p:txBody>
      </p:sp>
      <p:sp>
        <p:nvSpPr>
          <p:cNvPr id="3" name="Text Placeholder 2"/>
          <p:cNvSpPr>
            <a:spLocks noGrp="1"/>
          </p:cNvSpPr>
          <p:nvPr>
            <p:ph type="body" idx="1"/>
          </p:nvPr>
        </p:nvSpPr>
        <p:spPr/>
        <p:txBody>
          <a:bodyPr/>
          <a:lstStyle/>
          <a:p/>
        </p:txBody>
      </p:sp>
      <p:sp>
        <p:nvSpPr>
          <p:cNvPr id="6" name="Slide Number Placeholder 5"/>
          <p:cNvSpPr>
            <a:spLocks noGrp="1"/>
          </p:cNvSpPr>
          <p:nvPr>
            <p:ph type="sldNum" sz="quarter" idx="12"/>
          </p:nvPr>
        </p:nvSpPr>
        <p:spPr/>
        <p:txBody>
          <a:bodyPr/>
          <a:lstStyle>
            <a:lvl1pPr>
              <a:defRPr/>
            </a:lvl1pPr>
          </a:lstStyle>
          <a:p>
            <a:pPr>
              <a:defRPr/>
            </a:pPr>
            <a:fld id="{0DA6BD0F-ABBC-C14D-BC96-77BE126A748B}" type="slidenum">
              <a:rPr lang="en-US"/>
              <a:pPr>
                <a:defRPr/>
              </a:pPr>
              <a:t>‹#›</a:t>
            </a:fld>
            <a:endParaRPr lang="en-US"/>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CALPHAD Screening of HEAs</a:t>
            </a:r>
          </a:p>
        </p:txBody>
      </p:sp>
      <p:sp>
        <p:nvSpPr>
          <p:cNvPr id="3" name="Content Placeholder 2"/>
          <p:cNvSpPr>
            <a:spLocks noGrp="1"/>
          </p:cNvSpPr>
          <p:nvPr>
            <p:ph idx="1" sz="half"/>
          </p:nvPr>
        </p:nvSpPr>
        <p:spPr>
          <a:xfrm>
            <a:off x="612648" y="1828800"/>
            <a:ext cx="5760720" cy="3566160"/>
          </a:xfrm>
        </p:spPr>
        <p:txBody>
          <a:bodyPr/>
          <a:lstStyle/>
          <a:p>
            <a:pPr/>
            <a:r>
              <a:rPr sz="2000"/>
              <a:t>Senkov et al. screened &gt;130,000 alloy systems</a:t>
            </a:r>
          </a:p>
          <a:p>
            <a:pPr lvl="1"/>
            <a:r>
              <a:rPr sz="1800"/>
              <a:t>Kept only alloys whose binaries were fully assessed; &gt;95% excluded</a:t>
            </a:r>
          </a:p>
          <a:p>
            <a:pPr lvl="1"/>
            <a:r>
              <a:rPr sz="1800"/>
              <a:t>Single-phase solid solutions got rarer with more elements: 16% (3 elements) → 1.2% (6)</a:t>
            </a:r>
          </a:p>
          <a:p>
            <a:pPr lvl="1"/>
            <a:r>
              <a:rPr sz="1800"/>
              <a:t>Configurational entropy grows as ln N; element pairs grow as N(N−1)/2, and one intermetallic-forming pair is enough</a:t>
            </a:r>
          </a:p>
        </p:txBody>
      </p:sp>
      <p:sp>
        <p:nvSpPr>
          <p:cNvPr id="4" name="Content Placeholder 3"/>
          <p:cNvSpPr>
            <a:spLocks noGrp="1"/>
          </p:cNvSpPr>
          <p:nvPr>
            <p:ph idx="2" sz="half"/>
          </p:nvPr>
        </p:nvSpPr>
        <p:spPr>
          <a:xfrm>
            <a:off x="6583680" y="1828800"/>
            <a:ext cx="5029200" cy="3566160"/>
          </a:xfrm>
        </p:spPr>
        <p:txBody>
          <a:bodyPr/>
          <a:lstStyle/>
          <a:p>
            <a:pPr/>
            <a:r>
              <a:rPr sz="2000" b="1"/>
              <a:t>Nuclear example: low-cross-section refractory HEAs</a:t>
            </a:r>
          </a:p>
          <a:p>
            <a:pPr lvl="1"/>
            <a:r>
              <a:rPr sz="1800"/>
              <a:t>Screen: VEC ≤ 4.8, neutron cross-section &lt; 2.4 b, BCC stable above 800 °C</a:t>
            </a:r>
          </a:p>
          <a:p>
            <a:pPr lvl="1"/>
            <a:r>
              <a:rPr sz="1800"/>
              <a:t>Result: Al₉.₅Mo₄.₇Nb₂₀.₂Ti₄.₆Zr₆₁.₀, single-phase BCC as cast, 0.77 b</a:t>
            </a:r>
          </a:p>
          <a:p>
            <a:pPr lvl="1"/>
            <a:r>
              <a:rPr sz="1800"/>
              <a:t>Not yet tested: ductility, oxidation, irradiation</a:t>
            </a:r>
          </a:p>
        </p:txBody>
      </p:sp>
      <p:sp>
        <p:nvSpPr>
          <p:cNvPr id="7" name="Slide Number Placeholder 5"/>
          <p:cNvSpPr>
            <a:spLocks noGrp="1"/>
          </p:cNvSpPr>
          <p:nvPr>
            <p:ph type="sldNum" sz="quarter" idx="12"/>
          </p:nvPr>
        </p:nvSpPr>
        <p:spPr/>
        <p:txBody>
          <a:bodyPr/>
          <a:lstStyle>
            <a:lvl1pPr>
              <a:defRPr/>
            </a:lvl1pPr>
          </a:lstStyle>
          <a:p>
            <a:pPr>
              <a:defRPr/>
            </a:pPr>
            <a:fld id="{EC35E9FC-F6D5-0349-BBED-EA7D7A9BC49B}" type="slidenum">
              <a:rPr lang="en-US"/>
              <a:pPr>
                <a:defRPr/>
              </a:pPr>
              <a:t>‹#›</a:t>
            </a:fld>
            <a:endParaRPr lang="en-US"/>
          </a:p>
        </p:txBody>
      </p:sp>
      <p:sp>
        <p:nvSpPr>
          <p:cNvPr id="8" name="TextBox 7"/>
          <p:cNvSpPr txBox="1"/>
          <p:nvPr/>
        </p:nvSpPr>
        <p:spPr>
          <a:xfrm>
            <a:off x="612648" y="5440680"/>
            <a:ext cx="10972800" cy="640080"/>
          </a:xfrm>
          <a:prstGeom prst="rect">
            <a:avLst/>
          </a:prstGeom>
          <a:noFill/>
        </p:spPr>
        <p:txBody>
          <a:bodyPr wrap="square">
            <a:spAutoFit/>
          </a:bodyPr>
          <a:lstStyle/>
          <a:p>
            <a:pPr algn="l"/>
            <a:r>
              <a:rPr sz="1800" b="1" i="0">
                <a:solidFill>
                  <a:srgbClr val="CC0000"/>
                </a:solidFill>
                <a:latin typeface="Arial"/>
              </a:rPr>
              <a:t>CALPHAD predicts equilibrium. Irradiation drives segregation and precipitation away from it, the same lesson as austenitic phase instability.</a:t>
            </a:r>
          </a:p>
        </p:txBody>
      </p:sp>
      <p:sp>
        <p:nvSpPr>
          <p:cNvPr id="9" name="TextBox 8"/>
          <p:cNvSpPr txBox="1"/>
          <p:nvPr/>
        </p:nvSpPr>
        <p:spPr>
          <a:xfrm>
            <a:off x="612648" y="6199632"/>
            <a:ext cx="7955279" cy="320040"/>
          </a:xfrm>
          <a:prstGeom prst="rect">
            <a:avLst/>
          </a:prstGeom>
          <a:noFill/>
        </p:spPr>
        <p:txBody>
          <a:bodyPr wrap="square">
            <a:spAutoFit/>
          </a:bodyPr>
          <a:lstStyle/>
          <a:p>
            <a:pPr algn="l"/>
            <a:r>
              <a:rPr sz="1100" b="0" i="0">
                <a:solidFill>
                  <a:srgbClr val="595959"/>
                </a:solidFill>
                <a:latin typeface="Arial"/>
              </a:rPr>
              <a:t>Sources: [22] Senkov et al.; [23] Li et al.</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Machine Learning for HEA Design</a:t>
            </a:r>
          </a:p>
        </p:txBody>
      </p:sp>
      <p:sp>
        <p:nvSpPr>
          <p:cNvPr id="3" name="Content Placeholder 2"/>
          <p:cNvSpPr>
            <a:spLocks noGrp="1"/>
          </p:cNvSpPr>
          <p:nvPr>
            <p:ph idx="1"/>
          </p:nvPr>
        </p:nvSpPr>
        <p:spPr>
          <a:xfrm>
            <a:off x="612648" y="1691640"/>
            <a:ext cx="10972800" cy="3657600"/>
          </a:xfrm>
        </p:spPr>
        <p:txBody>
          <a:bodyPr/>
          <a:lstStyle/>
          <a:p>
            <a:pPr/>
            <a:r>
              <a:rPr sz="1800"/>
              <a:t>Phase classification</a:t>
            </a:r>
          </a:p>
          <a:p>
            <a:pPr lvl="1"/>
            <a:r>
              <a:rPr sz="1600"/>
              <a:t>ANN, CNN, SVM trained on 601 alloys with 13 descriptors (δ, ΔHmix, Sid, Δχ, VEC…): ~94–99% test accuracy by phase class [24]</a:t>
            </a:r>
          </a:p>
          <a:p>
            <a:pPr/>
            <a:r>
              <a:rPr sz="1800"/>
              <a:t>Property model → CALPHAD</a:t>
            </a:r>
          </a:p>
          <a:p>
            <a:pPr lvl="1"/>
            <a:r>
              <a:rPr sz="1600"/>
              <a:t>Random forest on 392 points (74 systems), R² = 0.89 for BCC alloys; Mo and Al top strengtheners; output fed a CALPHAD screen [23]</a:t>
            </a:r>
          </a:p>
          <a:p>
            <a:pPr/>
            <a:r>
              <a:rPr sz="1800"/>
              <a:t>Closed-loop active learning</a:t>
            </a:r>
          </a:p>
          <a:p>
            <a:pPr lvl="1"/>
            <a:r>
              <a:rPr sz="1600"/>
              <a:t>ML + DFT + thermodynamics + experiments: 17 alloys made, 2 Invar HEAs with CTE ≈ 2×10⁻⁶ K⁻¹ at 300 K [25]</a:t>
            </a:r>
          </a:p>
          <a:p>
            <a:pPr/>
            <a:r>
              <a:rPr sz="1800"/>
              <a:t>Machine-learned interatomic potentials</a:t>
            </a:r>
          </a:p>
          <a:p>
            <a:pPr lvl="1"/>
            <a:r>
              <a:rPr sz="1600"/>
              <a:t>Cascades in MoNbTaVW: more surviving defects than W but fewer interstitial clusters, attributed to subcascade splitting [26]</a:t>
            </a:r>
          </a:p>
        </p:txBody>
      </p:sp>
      <p:sp>
        <p:nvSpPr>
          <p:cNvPr id="6" name="Slide Number Placeholder 5"/>
          <p:cNvSpPr>
            <a:spLocks noGrp="1"/>
          </p:cNvSpPr>
          <p:nvPr>
            <p:ph type="sldNum" sz="quarter" idx="12"/>
          </p:nvPr>
        </p:nvSpPr>
        <p:spPr/>
        <p:txBody>
          <a:bodyPr/>
          <a:lstStyle>
            <a:lvl1pPr>
              <a:defRPr/>
            </a:lvl1pPr>
          </a:lstStyle>
          <a:p>
            <a:pPr>
              <a:defRPr/>
            </a:pPr>
            <a:fld id="{3FF2C605-4958-CF43-AA48-80339EFDB0AF}" type="slidenum">
              <a:rPr lang="en-US"/>
              <a:pPr>
                <a:defRPr/>
              </a:pPr>
              <a:t>‹#›</a:t>
            </a:fld>
            <a:endParaRPr lang="en-US"/>
          </a:p>
        </p:txBody>
      </p:sp>
      <p:sp>
        <p:nvSpPr>
          <p:cNvPr id="7" name="TextBox 6"/>
          <p:cNvSpPr txBox="1"/>
          <p:nvPr/>
        </p:nvSpPr>
        <p:spPr>
          <a:xfrm>
            <a:off x="612648" y="5440680"/>
            <a:ext cx="10972800" cy="640080"/>
          </a:xfrm>
          <a:prstGeom prst="rect">
            <a:avLst/>
          </a:prstGeom>
          <a:noFill/>
        </p:spPr>
        <p:txBody>
          <a:bodyPr wrap="square">
            <a:spAutoFit/>
          </a:bodyPr>
          <a:lstStyle/>
          <a:p>
            <a:pPr algn="l"/>
            <a:r>
              <a:rPr sz="1800" b="1" i="0">
                <a:solidFill>
                  <a:srgbClr val="CC0000"/>
                </a:solidFill>
                <a:latin typeface="Arial"/>
              </a:rPr>
              <a:t>Gap: training data are mostly as-cast, unirradiated alloys. Radiation-tolerance ML still depends on simulation plus targeted ion-irradiation checks.</a:t>
            </a:r>
          </a:p>
        </p:txBody>
      </p:sp>
      <p:sp>
        <p:nvSpPr>
          <p:cNvPr id="8" name="TextBox 7"/>
          <p:cNvSpPr txBox="1"/>
          <p:nvPr/>
        </p:nvSpPr>
        <p:spPr>
          <a:xfrm>
            <a:off x="612648" y="6199632"/>
            <a:ext cx="7955279" cy="320040"/>
          </a:xfrm>
          <a:prstGeom prst="rect">
            <a:avLst/>
          </a:prstGeom>
          <a:noFill/>
        </p:spPr>
        <p:txBody>
          <a:bodyPr wrap="square">
            <a:spAutoFit/>
          </a:bodyPr>
          <a:lstStyle/>
          <a:p>
            <a:pPr algn="l"/>
            <a:r>
              <a:rPr sz="1100" b="0" i="0">
                <a:solidFill>
                  <a:srgbClr val="595959"/>
                </a:solidFill>
                <a:latin typeface="Arial"/>
              </a:rPr>
              <a:t>Sources: [23]–[26]</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References (1/3)</a:t>
            </a:r>
          </a:p>
        </p:txBody>
      </p:sp>
      <p:sp>
        <p:nvSpPr>
          <p:cNvPr id="3" name="Content Placeholder 2"/>
          <p:cNvSpPr>
            <a:spLocks noGrp="1"/>
          </p:cNvSpPr>
          <p:nvPr>
            <p:ph idx="1"/>
          </p:nvPr>
        </p:nvSpPr>
        <p:spPr>
          <a:xfrm>
            <a:off x="612648" y="1691640"/>
            <a:ext cx="10972800" cy="4480560"/>
          </a:xfrm>
        </p:spPr>
        <p:txBody>
          <a:bodyPr/>
          <a:lstStyle/>
          <a:p>
            <a:pPr marL="0" indent="0">
              <a:spcAft>
                <a:spcPts val="400"/>
              </a:spcAft>
              <a:buNone/>
            </a:pPr>
            <a:r>
              <a:rPr sz="1400">
                <a:hlinkClick r:id="rId3"/>
              </a:rPr>
              <a:t>[1] F. Salliot et al. (2024) Dislocation hardening in a new manufacturing route of ferritic ODS Fe-14Cr cladding tube. Materials 17, 1146</a:t>
            </a:r>
          </a:p>
          <a:p>
            <a:pPr marL="0" indent="0">
              <a:spcAft>
                <a:spcPts val="400"/>
              </a:spcAft>
              <a:buNone/>
            </a:pPr>
            <a:r>
              <a:rPr sz="1400">
                <a:hlinkClick r:id="rId4"/>
              </a:rPr>
              <a:t>[2] N. Jerred et al. (2010) Pressure resistance welding of high temperature metallic materials. INL report</a:t>
            </a:r>
          </a:p>
          <a:p>
            <a:pPr marL="0" indent="0">
              <a:spcAft>
                <a:spcPts val="400"/>
              </a:spcAft>
              <a:buNone/>
            </a:pPr>
            <a:r>
              <a:rPr sz="1400">
                <a:hlinkClick r:id="rId5"/>
              </a:rPr>
              <a:t>[3] O. Doyen et al. (2019) Ferritic and martensitic ODS steel resistance upset welding of fuel claddings. J. Nucl. Mater. 518, 326</a:t>
            </a:r>
          </a:p>
          <a:p>
            <a:pPr marL="0" indent="0">
              <a:spcAft>
                <a:spcPts val="400"/>
              </a:spcAft>
              <a:buNone/>
            </a:pPr>
            <a:r>
              <a:rPr sz="1400">
                <a:hlinkClick r:id="rId6"/>
              </a:rPr>
              <a:t>[4] Research progress on laser additive manufacturing of oxide dispersion-strengthened alloys: a review. Materials (2025)</a:t>
            </a:r>
          </a:p>
          <a:p>
            <a:pPr marL="0" indent="0">
              <a:spcAft>
                <a:spcPts val="400"/>
              </a:spcAft>
              <a:buNone/>
            </a:pPr>
            <a:r>
              <a:rPr sz="1400">
                <a:hlinkClick r:id="rId7"/>
              </a:rPr>
              <a:t>[5] Laser powder bed fusion AM of ODS steel using gas atomized reaction synthesis powder. Materials &amp; Design 216 (2022)</a:t>
            </a:r>
          </a:p>
          <a:p>
            <a:pPr marL="0" indent="0">
              <a:spcAft>
                <a:spcPts val="400"/>
              </a:spcAft>
              <a:buNone/>
            </a:pPr>
            <a:r>
              <a:rPr sz="1400">
                <a:hlinkClick r:id="rId8"/>
              </a:rPr>
              <a:t>[6] H.M. Chung (2006) Assessment of void swelling in austenitic stainless steel core internals. NUREG/CR-6897</a:t>
            </a:r>
          </a:p>
          <a:p>
            <a:pPr marL="0" indent="0">
              <a:spcAft>
                <a:spcPts val="400"/>
              </a:spcAft>
              <a:buNone/>
            </a:pPr>
            <a:r>
              <a:rPr sz="1400">
                <a:hlinkClick r:id="rId9"/>
              </a:rPr>
              <a:t>[7] M. Griffiths (2021) Effect of neutron irradiation on the mechanical properties, swelling and creep of austenitic stainless steels. Materials 14, 2622</a:t>
            </a:r>
          </a:p>
          <a:p>
            <a:pPr marL="0" indent="0">
              <a:spcAft>
                <a:spcPts val="400"/>
              </a:spcAft>
              <a:buNone/>
            </a:pPr>
            <a:r>
              <a:rPr sz="1400">
                <a:hlinkClick r:id="rId10"/>
              </a:rPr>
              <a:t>[8] Liu et al. (2024) Cavity swelling of 15-15Ti steel at high doses by ion irradiation. Materials 17, 925</a:t>
            </a:r>
          </a:p>
          <a:p>
            <a:pPr marL="0" indent="0">
              <a:spcAft>
                <a:spcPts val="400"/>
              </a:spcAft>
              <a:buNone/>
            </a:pPr>
            <a:r>
              <a:rPr sz="1400">
                <a:hlinkClick r:id="rId11"/>
              </a:rPr>
              <a:t>[9] S.I. Porollo, Yu.V. Konobeev, F.A. Garner (2009) Swelling and microstructure of austenitic stainless steel ChS-68 CW after high dose neutron irradiation. J. Nucl. Mater. 393, 61</a:t>
            </a:r>
          </a:p>
        </p:txBody>
      </p:sp>
      <p:sp>
        <p:nvSpPr>
          <p:cNvPr id="6" name="Slide Number Placeholder 5"/>
          <p:cNvSpPr>
            <a:spLocks noGrp="1"/>
          </p:cNvSpPr>
          <p:nvPr>
            <p:ph type="sldNum" sz="quarter" idx="12"/>
          </p:nvPr>
        </p:nvSpPr>
        <p:spPr/>
        <p:txBody>
          <a:bodyPr/>
          <a:lstStyle>
            <a:lvl1pPr>
              <a:defRPr/>
            </a:lvl1pPr>
          </a:lstStyle>
          <a:p>
            <a:pPr>
              <a:defRPr/>
            </a:pPr>
            <a:fld id="{3FF2C605-4958-CF43-AA48-80339EFDB0AF}" type="slidenum">
              <a:rPr lang="en-US"/>
              <a:pPr>
                <a:defRPr/>
              </a:pPr>
              <a:t>‹#›</a:t>
            </a:fld>
            <a:endParaRPr lang="en-US"/>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References (2/3)</a:t>
            </a:r>
          </a:p>
        </p:txBody>
      </p:sp>
      <p:sp>
        <p:nvSpPr>
          <p:cNvPr id="3" name="Content Placeholder 2"/>
          <p:cNvSpPr>
            <a:spLocks noGrp="1"/>
          </p:cNvSpPr>
          <p:nvPr>
            <p:ph idx="1"/>
          </p:nvPr>
        </p:nvSpPr>
        <p:spPr>
          <a:xfrm>
            <a:off x="612648" y="1691640"/>
            <a:ext cx="10972800" cy="4480560"/>
          </a:xfrm>
        </p:spPr>
        <p:txBody>
          <a:bodyPr/>
          <a:lstStyle/>
          <a:p>
            <a:pPr marL="0" indent="0">
              <a:spcAft>
                <a:spcPts val="400"/>
              </a:spcAft>
              <a:buNone/>
            </a:pPr>
            <a:r>
              <a:rPr sz="1400">
                <a:hlinkClick r:id="rId3"/>
              </a:rPr>
              <a:t>[10] V. Karthik et al. (2022) Irradiation behaviour of alloy D9 clad and wrapper in FBTR. J. Nucl. Mater. 565, 153711</a:t>
            </a:r>
          </a:p>
          <a:p>
            <a:pPr marL="0" indent="0">
              <a:spcAft>
                <a:spcPts val="400"/>
              </a:spcAft>
              <a:buNone/>
            </a:pPr>
            <a:r>
              <a:rPr sz="1400">
                <a:hlinkClick r:id="rId4"/>
              </a:rPr>
              <a:t>[11] Swelling of 316 stainless steel and D9 cladding in FFTF (1986). Conference paper, OSTI 6047164</a:t>
            </a:r>
          </a:p>
          <a:p>
            <a:pPr marL="0" indent="0">
              <a:spcAft>
                <a:spcPts val="400"/>
              </a:spcAft>
              <a:buNone/>
            </a:pPr>
            <a:r>
              <a:rPr sz="1400">
                <a:hlinkClick r:id="rId5"/>
              </a:rPr>
              <a:t>[12] F.A. Garner, M.A. Mitchell (1992) The complex role of phosphorus in the neutron-induced swelling of titanium-modified austenitic stainless steels. J. Nucl. Mater. 187, 223</a:t>
            </a:r>
          </a:p>
          <a:p>
            <a:pPr marL="0" indent="0">
              <a:spcAft>
                <a:spcPts val="400"/>
              </a:spcAft>
              <a:buNone/>
            </a:pPr>
            <a:r>
              <a:rPr sz="1400">
                <a:hlinkClick r:id="rId6"/>
              </a:rPr>
              <a:t>[13] T. Yoshiie, Q. Xu (2021) Effects of alloying elements Mn, Mo, Ti, Si, P and C on the incubation period of void swelling in austenitic stainless steels. Tungsten 3, 3</a:t>
            </a:r>
          </a:p>
          <a:p>
            <a:pPr marL="0" indent="0">
              <a:spcAft>
                <a:spcPts val="400"/>
              </a:spcAft>
              <a:buNone/>
            </a:pPr>
            <a:r>
              <a:rPr sz="1400">
                <a:hlinkClick r:id="rId7"/>
              </a:rPr>
              <a:t>[14] T.R. Allen, J.I. Cole, G.S. Was, E.A. Kenik (2002) Radiation-induced segregation and the relationship to physical properties in irradiated austenitic alloys. ANL</a:t>
            </a:r>
          </a:p>
          <a:p>
            <a:pPr marL="0" indent="0">
              <a:spcAft>
                <a:spcPts val="400"/>
              </a:spcAft>
              <a:buNone/>
            </a:pPr>
            <a:r>
              <a:rPr sz="1400">
                <a:hlinkClick r:id="rId8"/>
              </a:rPr>
              <a:t>[15] Swelling as a consequence of gamma prime (γ′) and M₂₃(C,Si)₆ formation in neutron irradiated 316 stainless steel. J. Nucl. Mater. (1978)</a:t>
            </a:r>
          </a:p>
          <a:p>
            <a:pPr marL="0" indent="0">
              <a:spcAft>
                <a:spcPts val="400"/>
              </a:spcAft>
              <a:buNone/>
            </a:pPr>
            <a:r>
              <a:rPr sz="1400">
                <a:hlinkClick r:id="rId9"/>
              </a:rPr>
              <a:t>[16] T.R. Allen et al. (1999) The effect of low dose rate irradiation on the swelling of 12% cold-worked 316 stainless steel. OSTI 10981</a:t>
            </a:r>
          </a:p>
          <a:p>
            <a:pPr marL="0" indent="0">
              <a:spcAft>
                <a:spcPts val="400"/>
              </a:spcAft>
              <a:buNone/>
            </a:pPr>
            <a:r>
              <a:rPr sz="1400">
                <a:hlinkClick r:id="rId10"/>
              </a:rPr>
              <a:t>[17] W. Kesternich, M.K. Matta, J. Rothaut (1984) Influence of TiC precipitation in austenitic stainless steel on strength, ductility and helium embrittlement. J. Nucl. Mater. 122, 130</a:t>
            </a:r>
          </a:p>
          <a:p>
            <a:pPr marL="0" indent="0">
              <a:spcAft>
                <a:spcPts val="400"/>
              </a:spcAft>
              <a:buNone/>
            </a:pPr>
            <a:r>
              <a:rPr sz="1400">
                <a:hlinkClick r:id="rId11"/>
              </a:rPr>
              <a:t>[18] P.J. Maziasz (2018) Development of creep-resistant and oxidation-resistant austenitic stainless steels for high temperature applications. JOM 70, 66</a:t>
            </a:r>
          </a:p>
        </p:txBody>
      </p:sp>
      <p:sp>
        <p:nvSpPr>
          <p:cNvPr id="6" name="Slide Number Placeholder 5"/>
          <p:cNvSpPr>
            <a:spLocks noGrp="1"/>
          </p:cNvSpPr>
          <p:nvPr>
            <p:ph type="sldNum" sz="quarter" idx="12"/>
          </p:nvPr>
        </p:nvSpPr>
        <p:spPr/>
        <p:txBody>
          <a:bodyPr/>
          <a:lstStyle>
            <a:lvl1pPr>
              <a:defRPr/>
            </a:lvl1pPr>
          </a:lstStyle>
          <a:p>
            <a:pPr>
              <a:defRPr/>
            </a:pPr>
            <a:fld id="{3FF2C605-4958-CF43-AA48-80339EFDB0AF}" type="slidenum">
              <a:rPr lang="en-US"/>
              <a:pPr>
                <a:defRPr/>
              </a:pPr>
              <a:t>‹#›</a:t>
            </a:fld>
            <a:endParaRPr lang="en-US"/>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References (3/3)</a:t>
            </a:r>
          </a:p>
        </p:txBody>
      </p:sp>
      <p:sp>
        <p:nvSpPr>
          <p:cNvPr id="3" name="Content Placeholder 2"/>
          <p:cNvSpPr>
            <a:spLocks noGrp="1"/>
          </p:cNvSpPr>
          <p:nvPr>
            <p:ph idx="1"/>
          </p:nvPr>
        </p:nvSpPr>
        <p:spPr>
          <a:xfrm>
            <a:off x="612648" y="1691640"/>
            <a:ext cx="10972800" cy="4480560"/>
          </a:xfrm>
        </p:spPr>
        <p:txBody>
          <a:bodyPr/>
          <a:lstStyle/>
          <a:p>
            <a:pPr marL="0" indent="0">
              <a:spcAft>
                <a:spcPts val="400"/>
              </a:spcAft>
              <a:buNone/>
            </a:pPr>
            <a:r>
              <a:rPr sz="1400">
                <a:hlinkClick r:id="rId3"/>
              </a:rPr>
              <a:t>[19] J. Ejenstam, P. Szakálos (2015) Long term corrosion resistance of alumina forming austenitic stainless steels in liquid lead. J. Nucl. Mater. 461, 164</a:t>
            </a:r>
          </a:p>
          <a:p>
            <a:pPr marL="0" indent="0">
              <a:spcAft>
                <a:spcPts val="400"/>
              </a:spcAft>
              <a:buNone/>
            </a:pPr>
            <a:r>
              <a:rPr sz="1400">
                <a:hlinkClick r:id="rId4"/>
              </a:rPr>
              <a:t>[20] T.-L. Sham, M.D. McMurtrey (2021) Alloy 709 advanced austenitic stainless steel. INL</a:t>
            </a:r>
          </a:p>
          <a:p>
            <a:pPr marL="0" indent="0">
              <a:spcAft>
                <a:spcPts val="400"/>
              </a:spcAft>
              <a:buNone/>
            </a:pPr>
            <a:r>
              <a:rPr sz="1400">
                <a:hlinkClick r:id="rId5"/>
              </a:rPr>
              <a:t>[21] Y. Wang et al. (2025) Code qualification of Alloy 709 for high temperature reactor applications. ORNL</a:t>
            </a:r>
          </a:p>
          <a:p>
            <a:pPr marL="0" indent="0">
              <a:spcAft>
                <a:spcPts val="400"/>
              </a:spcAft>
              <a:buNone/>
            </a:pPr>
            <a:r>
              <a:rPr sz="1400">
                <a:hlinkClick r:id="rId6"/>
              </a:rPr>
              <a:t>[22] O.N. Senkov, J.D. Miller, D.B. Miracle, C. Woodward (2015) Accelerated exploration of multi-principal element alloys with solid solution phases. Nat. Commun. 6, 6529</a:t>
            </a:r>
          </a:p>
          <a:p>
            <a:pPr marL="0" indent="0">
              <a:spcAft>
                <a:spcPts val="400"/>
              </a:spcAft>
              <a:buNone/>
            </a:pPr>
            <a:r>
              <a:rPr sz="1400">
                <a:hlinkClick r:id="rId7"/>
              </a:rPr>
              <a:t>[23] D. Li et al. (2026) Machine learning and Calphad guided exploration of low-neutron-cross-section refractory multi-principal element alloys. Intermetallics 198</a:t>
            </a:r>
          </a:p>
          <a:p>
            <a:pPr marL="0" indent="0">
              <a:spcAft>
                <a:spcPts val="400"/>
              </a:spcAft>
              <a:buNone/>
            </a:pPr>
            <a:r>
              <a:rPr sz="1400">
                <a:hlinkClick r:id="rId8"/>
              </a:rPr>
              <a:t>[24] Z. Zhou et al. (2019) Machine learning guided appraisal and exploration of phase design for high entropy alloys. npj Comput. Mater. 5, 128</a:t>
            </a:r>
          </a:p>
          <a:p>
            <a:pPr marL="0" indent="0">
              <a:spcAft>
                <a:spcPts val="400"/>
              </a:spcAft>
              <a:buNone/>
            </a:pPr>
            <a:r>
              <a:rPr sz="1400">
                <a:hlinkClick r:id="rId9"/>
              </a:rPr>
              <a:t>[25] Z. Rao et al. (2022) Machine learning–enabled high-entropy alloy discovery. Science</a:t>
            </a:r>
          </a:p>
          <a:p>
            <a:pPr marL="0" indent="0">
              <a:spcAft>
                <a:spcPts val="400"/>
              </a:spcAft>
              <a:buNone/>
            </a:pPr>
            <a:r>
              <a:rPr sz="1400">
                <a:hlinkClick r:id="rId10"/>
              </a:rPr>
              <a:t>[26] J. Liu, J. Byggmästar et al. (2025) Utilizing a machine-learned potential to explore enhanced radiation tolerance in the MoNbTaVW high-entropy alloy. J. Nucl. Mater.</a:t>
            </a:r>
          </a:p>
        </p:txBody>
      </p:sp>
      <p:sp>
        <p:nvSpPr>
          <p:cNvPr id="6" name="Slide Number Placeholder 5"/>
          <p:cNvSpPr>
            <a:spLocks noGrp="1"/>
          </p:cNvSpPr>
          <p:nvPr>
            <p:ph type="sldNum" sz="quarter" idx="12"/>
          </p:nvPr>
        </p:nvSpPr>
        <p:spPr/>
        <p:txBody>
          <a:bodyPr/>
          <a:lstStyle>
            <a:lvl1pPr>
              <a:defRPr/>
            </a:lvl1pPr>
          </a:lstStyle>
          <a:p>
            <a:pPr>
              <a:defRPr/>
            </a:pPr>
            <a:fld id="{3FF2C605-4958-CF43-AA48-80339EFDB0AF}" type="slidenum">
              <a:rPr lang="en-US"/>
              <a:pPr>
                <a:defRPr/>
              </a:pPr>
              <a:t>‹#›</a:t>
            </a:fld>
            <a:endParaRPr lang="en-US"/>
          </a:p>
        </p:txBody>
      </p:sp>
    </p:spTree>
  </p:cSld>
  <p:clrMapOvr>
    <a:masterClrMapping/>
  </p:clrMapOvr>
</p:sld>
</file>

<file path=ppt/theme/theme1.xml><?xml version="1.0" encoding="utf-8"?>
<a:theme xmlns:a="http://schemas.openxmlformats.org/drawingml/2006/main" name="2_NCStateU-horizontal-left-logo">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6319</TotalTime>
  <Words>2307</Words>
  <Application>Microsoft Macintosh PowerPoint</Application>
  <PresentationFormat>Widescreen</PresentationFormat>
  <Paragraphs>202</Paragraphs>
  <Slides>30</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30</vt:i4>
      </vt:variant>
    </vt:vector>
  </HeadingPairs>
  <TitlesOfParts>
    <vt:vector size="34" baseType="lpstr">
      <vt:lpstr>Arial</vt:lpstr>
      <vt:lpstr>Calibri</vt:lpstr>
      <vt:lpstr>Helvetica</vt:lpstr>
      <vt:lpstr>2_NCStateU-horizontal-left-logo</vt:lpstr>
      <vt:lpstr>NE 763: Advanced Reactor Materials</vt:lpstr>
      <vt:lpstr>Last Time</vt:lpstr>
      <vt:lpstr>HEAs and Radiation Damage</vt:lpstr>
      <vt:lpstr>Notable HEAs</vt:lpstr>
      <vt:lpstr>HEAs outlook</vt:lpstr>
      <vt:lpstr>Ni alloys</vt:lpstr>
      <vt:lpstr>Ni Alloys</vt:lpstr>
      <vt:lpstr>Structures</vt:lpstr>
      <vt:lpstr>He generation</vt:lpstr>
      <vt:lpstr>Void Swelling</vt:lpstr>
      <vt:lpstr>Dislocations</vt:lpstr>
      <vt:lpstr>Precipitation</vt:lpstr>
      <vt:lpstr>Swelling</vt:lpstr>
      <vt:lpstr>Irradiation Hardening</vt:lpstr>
      <vt:lpstr>Higher Doses</vt:lpstr>
      <vt:lpstr>Embrittlement</vt:lpstr>
      <vt:lpstr>Ni Alloys Summary</vt:lpstr>
      <vt:lpstr>Research reactors</vt:lpstr>
      <vt:lpstr>Intermetallic Fuels</vt:lpstr>
      <vt:lpstr>Intermetallic Fuels</vt:lpstr>
      <vt:lpstr>U-Al Alloys</vt:lpstr>
      <vt:lpstr>U-Al Phases</vt:lpstr>
      <vt:lpstr>U-Al Alloys</vt:lpstr>
      <vt:lpstr>Fuel Swelling</vt:lpstr>
      <vt:lpstr>Fuel Swelling</vt:lpstr>
      <vt:lpstr>Fuel Swelling</vt:lpstr>
      <vt:lpstr>Fuel Swelling</vt:lpstr>
      <vt:lpstr>Amorphization</vt:lpstr>
      <vt:lpstr>UAl-Al Interaction</vt:lpstr>
      <vt:lpstr>Fission Gas Bubbles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NE 591: Advanced Reactor Materials</dc:title>
  <dc:creator>Benjamin W. Beeler</dc:creator>
  <cp:lastModifiedBy>Benjamin Beeler</cp:lastModifiedBy>
  <cp:revision>50</cp:revision>
  <dcterms:created xsi:type="dcterms:W3CDTF">2021-06-30T18:29:00Z</dcterms:created>
  <dcterms:modified xsi:type="dcterms:W3CDTF">2025-11-18T16:35:02Z</dcterms:modified>
</cp:coreProperties>
</file>
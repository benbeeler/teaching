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5"/>
  </p:notesMasterIdLst>
  <p:sldIdLst>
    <p:sldId id="256" r:id="rId2"/>
    <p:sldId id="507" r:id="rId3"/>
    <p:sldId id="415" r:id="rId4"/>
    <p:sldId id="416" r:id="rId5"/>
    <p:sldId id="417" r:id="rId6"/>
    <p:sldId id="452" r:id="rId7"/>
    <p:sldId id="453" r:id="rId8"/>
    <p:sldId id="454" r:id="rId9"/>
    <p:sldId id="508" r:id="rId10"/>
    <p:sldId id="461" r:id="rId11"/>
    <p:sldId id="451" r:id="rId12"/>
    <p:sldId id="430" r:id="rId13"/>
    <p:sldId id="433" r:id="rId14"/>
    <p:sldId id="434" r:id="rId15"/>
    <p:sldId id="441" r:id="rId16"/>
    <p:sldId id="457" r:id="rId17"/>
    <p:sldId id="458" r:id="rId18"/>
    <p:sldId id="509" r:id="rId19"/>
    <p:sldId id="435" r:id="rId20"/>
    <p:sldId id="284" r:id="rId21"/>
    <p:sldId id="436" r:id="rId22"/>
    <p:sldId id="437" r:id="rId23"/>
    <p:sldId id="438" r:id="rId24"/>
    <p:sldId id="440" r:id="rId25"/>
    <p:sldId id="459" r:id="rId26"/>
    <p:sldId id="460" r:id="rId27"/>
    <p:sldId id="462" r:id="rId28"/>
    <p:sldId id="469" r:id="rId29"/>
    <p:sldId id="468" r:id="rId30"/>
    <p:sldId id="477" r:id="rId31"/>
    <p:sldId id="478" r:id="rId32"/>
    <p:sldId id="479" r:id="rId33"/>
    <p:sldId id="480"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06"/>
    <p:restoredTop sz="94726"/>
  </p:normalViewPr>
  <p:slideViewPr>
    <p:cSldViewPr snapToGrid="0" snapToObjects="1">
      <p:cViewPr varScale="1">
        <p:scale>
          <a:sx n="120" d="100"/>
          <a:sy n="120" d="100"/>
        </p:scale>
        <p:origin x="6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0137FF6-46D6-B849-A6CD-85860317B6E6}" type="slidenum">
              <a:rPr lang="en-US" smtClean="0"/>
              <a:t>12</a:t>
            </a:fld>
            <a:endParaRPr lang="en-US"/>
          </a:p>
        </p:txBody>
      </p:sp>
    </p:spTree>
    <p:extLst>
      <p:ext uri="{BB962C8B-B14F-4D97-AF65-F5344CB8AC3E}">
        <p14:creationId xmlns:p14="http://schemas.microsoft.com/office/powerpoint/2010/main" val="31284077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7EF8CCA7-042D-4344-9F38-A30A24316FF0}" type="datetime1">
              <a:rPr lang="en-US" smtClean="0"/>
              <a:t>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1968500"/>
            <a:ext cx="10972800" cy="4157664"/>
          </a:xfrm>
        </p:spPr>
        <p:txBody>
          <a:bodyPr/>
          <a:lstStyle>
            <a:lvl1pPr>
              <a:defRPr sz="2400"/>
            </a:lvl1pPr>
            <a:lvl2pPr>
              <a:defRPr sz="2400"/>
            </a:lvl2pPr>
            <a:lvl3pPr>
              <a:defRPr sz="1600"/>
            </a:lvl3pPr>
            <a:lvl4pPr>
              <a:defRPr sz="1600"/>
            </a:lvl4pPr>
            <a:lvl5pPr>
              <a:defRPr sz="14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F85CAF1B-B7C8-8347-AE4A-EC343217B68C}" type="datetime1">
              <a:rPr lang="en-US" smtClean="0"/>
              <a:t>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44FF136D-307A-4941-889F-E9EB8268902E}" type="datetime1">
              <a:rPr lang="en-US" smtClean="0"/>
              <a:t>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400"/>
            </a:lvl1pPr>
            <a:lvl2pPr>
              <a:defRPr sz="1800"/>
            </a:lvl2pPr>
            <a:lvl3pPr>
              <a:defRPr sz="1600"/>
            </a:lvl3pPr>
            <a:lvl4pPr>
              <a:defRPr sz="1400"/>
            </a:lvl4pPr>
            <a:lvl5pPr>
              <a:defRPr sz="1400"/>
            </a:lvl5pPr>
            <a:lvl6pPr>
              <a:defRPr sz="2400"/>
            </a:lvl6pPr>
            <a:lvl7pPr>
              <a:defRPr sz="2400"/>
            </a:lvl7pPr>
            <a:lvl8pPr>
              <a:defRPr sz="2400"/>
            </a:lvl8pPr>
            <a:lvl9pPr>
              <a:defRPr sz="24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B51F76C3-E96E-A54F-A122-6303A871D871}" type="datetime1">
              <a:rPr lang="en-US" smtClean="0"/>
              <a:t>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1935726"/>
            <a:ext cx="5386917" cy="4190437"/>
          </a:xfrm>
        </p:spPr>
        <p:txBody>
          <a:bodyPr/>
          <a:lstStyle>
            <a:lvl1pPr>
              <a:defRPr sz="2400"/>
            </a:lvl1pPr>
            <a:lvl2pPr>
              <a:defRPr sz="2000"/>
            </a:lvl2pPr>
            <a:lvl3pPr>
              <a:defRPr sz="1800"/>
            </a:lvl3pPr>
            <a:lvl4pPr>
              <a:defRPr sz="1800"/>
            </a:lvl4pPr>
            <a:lvl5pPr>
              <a:defRPr sz="1800"/>
            </a:lvl5pPr>
            <a:lvl6pPr>
              <a:defRPr sz="2133"/>
            </a:lvl6pPr>
            <a:lvl7pPr>
              <a:defRPr sz="2133"/>
            </a:lvl7pPr>
            <a:lvl8pPr>
              <a:defRPr sz="2133"/>
            </a:lvl8pPr>
            <a:lvl9pPr>
              <a:defRPr sz="2133"/>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4040392-1101-8A42-BEB5-9592F30E3A91}" type="datetime1">
              <a:rPr lang="en-US" smtClean="0"/>
              <a:t>8/20/26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65C72F20-AC2E-6D46-8A6B-0183BC6D49D1}" type="datetime1">
              <a:rPr lang="en-US" smtClean="0"/>
              <a:t>8/20/26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6FEA4AC-8DBD-3E4B-B61C-36A721F07D61}" type="datetime1">
              <a:rPr lang="en-US" smtClean="0"/>
              <a:t>8/20/26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71BFB7E-23D3-E748-98B9-B9A8C558BBAC}" type="datetime1">
              <a:rPr lang="en-US" smtClean="0"/>
              <a:t>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C690E0F4-A999-A54E-B545-67F2F70C10FB}" type="datetime1">
              <a:rPr lang="en-US" smtClean="0"/>
              <a:t>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1013E56-4916-404E-AAB2-B4BA03F90FC2}" type="datetime1">
              <a:rPr lang="en-US" smtClean="0"/>
              <a:t>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81713883-51E5-FD4C-BFE2-284CCAA85938}" type="datetime1">
              <a:rPr lang="en-US" smtClean="0"/>
              <a:t>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50A6D047-5534-0641-AA46-5C16F49FBEAF}" type="datetime1">
              <a:rPr lang="en-US" smtClean="0"/>
              <a:t>8/20/26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1.tiff"/><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tif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0.tif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2.tiff"/><Relationship Id="rId2" Type="http://schemas.openxmlformats.org/officeDocument/2006/relationships/image" Target="../media/image21.tiff"/><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BF1E015E-2E6F-6B40-94AC-A2FDB6C7B9A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3DC84-0091-574A-9F80-9BA14DB58A53}"/>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C5249696-DAB3-3B49-B4C8-AEDA11EFD906}"/>
              </a:ext>
            </a:extLst>
          </p:cNvPr>
          <p:cNvSpPr>
            <a:spLocks noGrp="1"/>
          </p:cNvSpPr>
          <p:nvPr>
            <p:ph idx="1"/>
          </p:nvPr>
        </p:nvSpPr>
        <p:spPr>
          <a:xfrm>
            <a:off x="609599" y="2280746"/>
            <a:ext cx="11183007" cy="3845418"/>
          </a:xfrm>
        </p:spPr>
        <p:txBody>
          <a:bodyPr/>
          <a:lstStyle/>
          <a:p>
            <a:r>
              <a:rPr lang="en-US" sz="2400" dirty="0"/>
              <a:t>Intro to course and Gen I to Gen IV reactor concepts</a:t>
            </a:r>
          </a:p>
          <a:p>
            <a:r>
              <a:rPr lang="en-US" sz="2400" dirty="0"/>
              <a:t>Background and history of HTGRs/TRISO particles</a:t>
            </a:r>
          </a:p>
          <a:p>
            <a:r>
              <a:rPr lang="en-US" sz="2400" dirty="0"/>
              <a:t>Differences from LWRs</a:t>
            </a:r>
          </a:p>
          <a:p>
            <a:pPr lvl="1"/>
            <a:r>
              <a:rPr lang="en-US" sz="2400" dirty="0"/>
              <a:t>helium cooled; much higher temperatures; thermal/fast options; extensive utilization of graphite; flexibility of fuel</a:t>
            </a:r>
          </a:p>
          <a:p>
            <a:r>
              <a:rPr lang="en-US" sz="2400" dirty="0"/>
              <a:t>Two geometric types of HTGRs: </a:t>
            </a:r>
          </a:p>
          <a:p>
            <a:pPr lvl="1"/>
            <a:r>
              <a:rPr lang="en-US" sz="2400" dirty="0"/>
              <a:t>Pebble Bed vs Prismatic Reactors</a:t>
            </a:r>
          </a:p>
          <a:p>
            <a:endParaRPr lang="en-US" sz="2400" dirty="0"/>
          </a:p>
          <a:p>
            <a:endParaRPr lang="en-US" sz="2400" dirty="0"/>
          </a:p>
        </p:txBody>
      </p:sp>
      <p:sp>
        <p:nvSpPr>
          <p:cNvPr id="4" name="Slide Number Placeholder 3">
            <a:extLst>
              <a:ext uri="{FF2B5EF4-FFF2-40B4-BE49-F238E27FC236}">
                <a16:creationId xmlns:a16="http://schemas.microsoft.com/office/drawing/2014/main" id="{E63D0608-22D0-4848-AAC2-5EDF7821481A}"/>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08810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A377-D559-4D48-8EFD-E673D2D1BD58}"/>
              </a:ext>
            </a:extLst>
          </p:cNvPr>
          <p:cNvSpPr>
            <a:spLocks noGrp="1"/>
          </p:cNvSpPr>
          <p:nvPr>
            <p:ph type="title"/>
          </p:nvPr>
        </p:nvSpPr>
        <p:spPr/>
        <p:txBody>
          <a:bodyPr/>
          <a:lstStyle/>
          <a:p>
            <a:r>
              <a:rPr lang="en-US" dirty="0"/>
              <a:t>TRISO Particles</a:t>
            </a:r>
          </a:p>
        </p:txBody>
      </p:sp>
      <p:sp>
        <p:nvSpPr>
          <p:cNvPr id="3" name="Content Placeholder 2">
            <a:extLst>
              <a:ext uri="{FF2B5EF4-FFF2-40B4-BE49-F238E27FC236}">
                <a16:creationId xmlns:a16="http://schemas.microsoft.com/office/drawing/2014/main" id="{A1F668EB-6F83-6D45-AF5A-2C4B2F5F3429}"/>
              </a:ext>
            </a:extLst>
          </p:cNvPr>
          <p:cNvSpPr>
            <a:spLocks noGrp="1"/>
          </p:cNvSpPr>
          <p:nvPr>
            <p:ph sz="half" idx="2"/>
          </p:nvPr>
        </p:nvSpPr>
        <p:spPr/>
        <p:txBody>
          <a:bodyPr>
            <a:normAutofit/>
          </a:bodyPr>
          <a:lstStyle/>
          <a:p>
            <a:r>
              <a:rPr lang="en-US" dirty="0"/>
              <a:t>TRISO: </a:t>
            </a:r>
            <a:r>
              <a:rPr lang="en-US" dirty="0" err="1"/>
              <a:t>TRistructural</a:t>
            </a:r>
            <a:r>
              <a:rPr lang="en-US" dirty="0"/>
              <a:t> </a:t>
            </a:r>
            <a:r>
              <a:rPr lang="en-US" dirty="0" err="1"/>
              <a:t>ISOtropic</a:t>
            </a:r>
            <a:r>
              <a:rPr lang="en-US" dirty="0"/>
              <a:t> particle fuel</a:t>
            </a:r>
          </a:p>
          <a:p>
            <a:r>
              <a:rPr lang="en-US" dirty="0"/>
              <a:t>Layered fuel in mm-sized particles</a:t>
            </a:r>
          </a:p>
          <a:p>
            <a:r>
              <a:rPr lang="en-US" dirty="0"/>
              <a:t>Layers:</a:t>
            </a:r>
          </a:p>
          <a:p>
            <a:pPr lvl="1"/>
            <a:r>
              <a:rPr lang="en-US" dirty="0"/>
              <a:t>Fuel Kernel</a:t>
            </a:r>
          </a:p>
          <a:p>
            <a:pPr lvl="1"/>
            <a:r>
              <a:rPr lang="en-US" dirty="0"/>
              <a:t>Buffer</a:t>
            </a:r>
          </a:p>
          <a:p>
            <a:pPr lvl="1"/>
            <a:r>
              <a:rPr lang="en-US" dirty="0"/>
              <a:t>Inner </a:t>
            </a:r>
            <a:r>
              <a:rPr lang="en-US" dirty="0" err="1"/>
              <a:t>Pyrolitic</a:t>
            </a:r>
            <a:r>
              <a:rPr lang="en-US" dirty="0"/>
              <a:t> Carbon (</a:t>
            </a:r>
            <a:r>
              <a:rPr lang="en-US" dirty="0" err="1"/>
              <a:t>IPyC</a:t>
            </a:r>
            <a:r>
              <a:rPr lang="en-US" dirty="0"/>
              <a:t>)</a:t>
            </a:r>
          </a:p>
          <a:p>
            <a:pPr lvl="1"/>
            <a:r>
              <a:rPr lang="en-US" dirty="0" err="1"/>
              <a:t>SiC</a:t>
            </a:r>
            <a:endParaRPr lang="en-US" dirty="0"/>
          </a:p>
          <a:p>
            <a:pPr lvl="1"/>
            <a:r>
              <a:rPr lang="en-US" dirty="0"/>
              <a:t>Outer </a:t>
            </a:r>
            <a:r>
              <a:rPr lang="en-US" dirty="0" err="1"/>
              <a:t>Pyrolitic</a:t>
            </a:r>
            <a:r>
              <a:rPr lang="en-US" dirty="0"/>
              <a:t> Carbon (</a:t>
            </a:r>
            <a:r>
              <a:rPr lang="en-US" dirty="0" err="1"/>
              <a:t>OPyC</a:t>
            </a:r>
            <a:r>
              <a:rPr lang="en-US" dirty="0"/>
              <a:t>)</a:t>
            </a:r>
          </a:p>
          <a:p>
            <a:endParaRPr lang="en-US" dirty="0"/>
          </a:p>
        </p:txBody>
      </p:sp>
      <p:pic>
        <p:nvPicPr>
          <p:cNvPr id="5" name="Content Placeholder 4" descr="Cutout showing different layers in a TRISO particle">
            <a:extLst>
              <a:ext uri="{FF2B5EF4-FFF2-40B4-BE49-F238E27FC236}">
                <a16:creationId xmlns:a16="http://schemas.microsoft.com/office/drawing/2014/main" id="{2686042D-3A9B-524E-8731-AB59AA8DCA14}"/>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7248781" y="2174875"/>
            <a:ext cx="3561463" cy="3561463"/>
          </a:xfrm>
          <a:prstGeom prst="rect">
            <a:avLst/>
          </a:prstGeom>
        </p:spPr>
      </p:pic>
      <p:cxnSp>
        <p:nvCxnSpPr>
          <p:cNvPr id="6" name="Straight Connector 5">
            <a:extLst>
              <a:ext uri="{FF2B5EF4-FFF2-40B4-BE49-F238E27FC236}">
                <a16:creationId xmlns:a16="http://schemas.microsoft.com/office/drawing/2014/main" id="{65980FE6-EA36-B444-98E6-3BCAD7A18406}"/>
              </a:ext>
              <a:ext uri="{C183D7F6-B498-43B3-948B-1728B52AA6E4}">
                <adec:decorative xmlns:adec="http://schemas.microsoft.com/office/drawing/2017/decorative" val="1"/>
              </a:ext>
            </a:extLst>
          </p:cNvPr>
          <p:cNvCxnSpPr>
            <a:cxnSpLocks/>
          </p:cNvCxnSpPr>
          <p:nvPr/>
        </p:nvCxnSpPr>
        <p:spPr>
          <a:xfrm flipV="1">
            <a:off x="3802147" y="3410226"/>
            <a:ext cx="4987313" cy="404725"/>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3FFCEBB-79B6-4B42-8EB1-D44DBC8B207B}"/>
              </a:ext>
              <a:ext uri="{C183D7F6-B498-43B3-948B-1728B52AA6E4}">
                <adec:decorative xmlns:adec="http://schemas.microsoft.com/office/drawing/2017/decorative" val="1"/>
              </a:ext>
            </a:extLst>
          </p:cNvPr>
          <p:cNvCxnSpPr>
            <a:cxnSpLocks/>
          </p:cNvCxnSpPr>
          <p:nvPr/>
        </p:nvCxnSpPr>
        <p:spPr>
          <a:xfrm>
            <a:off x="3609190" y="4054100"/>
            <a:ext cx="4313817" cy="15262"/>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0B9DCC7-8711-6645-9706-8CA4FA7C9A95}"/>
              </a:ext>
              <a:ext uri="{C183D7F6-B498-43B3-948B-1728B52AA6E4}">
                <adec:decorative xmlns:adec="http://schemas.microsoft.com/office/drawing/2017/decorative" val="1"/>
              </a:ext>
            </a:extLst>
          </p:cNvPr>
          <p:cNvCxnSpPr>
            <a:cxnSpLocks/>
          </p:cNvCxnSpPr>
          <p:nvPr/>
        </p:nvCxnSpPr>
        <p:spPr>
          <a:xfrm flipV="1">
            <a:off x="4943220" y="4489440"/>
            <a:ext cx="3133648" cy="89461"/>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2B245E1-54D9-BC4F-8214-CE5F67A686CF}"/>
              </a:ext>
              <a:ext uri="{C183D7F6-B498-43B3-948B-1728B52AA6E4}">
                <adec:decorative xmlns:adec="http://schemas.microsoft.com/office/drawing/2017/decorative" val="1"/>
              </a:ext>
            </a:extLst>
          </p:cNvPr>
          <p:cNvCxnSpPr>
            <a:cxnSpLocks/>
          </p:cNvCxnSpPr>
          <p:nvPr/>
        </p:nvCxnSpPr>
        <p:spPr>
          <a:xfrm flipV="1">
            <a:off x="4739063" y="4737328"/>
            <a:ext cx="3390463" cy="200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10F8C70-ABAF-E640-BD5D-38055364D8DB}"/>
              </a:ext>
              <a:ext uri="{C183D7F6-B498-43B3-948B-1728B52AA6E4}">
                <adec:decorative xmlns:adec="http://schemas.microsoft.com/office/drawing/2017/decorative" val="1"/>
              </a:ext>
            </a:extLst>
          </p:cNvPr>
          <p:cNvCxnSpPr>
            <a:cxnSpLocks/>
          </p:cNvCxnSpPr>
          <p:nvPr/>
        </p:nvCxnSpPr>
        <p:spPr>
          <a:xfrm flipV="1">
            <a:off x="5160579" y="5197358"/>
            <a:ext cx="3513267" cy="11206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69629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3720-A247-824F-A89A-B5DD65E1FD0C}"/>
              </a:ext>
            </a:extLst>
          </p:cNvPr>
          <p:cNvSpPr>
            <a:spLocks noGrp="1"/>
          </p:cNvSpPr>
          <p:nvPr>
            <p:ph type="title"/>
          </p:nvPr>
        </p:nvSpPr>
        <p:spPr/>
        <p:txBody>
          <a:bodyPr/>
          <a:lstStyle/>
          <a:p>
            <a:r>
              <a:rPr lang="en-US" dirty="0"/>
              <a:t>Fuel Kernel + Buffer</a:t>
            </a:r>
          </a:p>
        </p:txBody>
      </p:sp>
      <p:sp>
        <p:nvSpPr>
          <p:cNvPr id="3" name="Content Placeholder 2">
            <a:extLst>
              <a:ext uri="{FF2B5EF4-FFF2-40B4-BE49-F238E27FC236}">
                <a16:creationId xmlns:a16="http://schemas.microsoft.com/office/drawing/2014/main" id="{C707EB7C-BD3B-DF44-912E-86D0003CD4A5}"/>
              </a:ext>
            </a:extLst>
          </p:cNvPr>
          <p:cNvSpPr>
            <a:spLocks noGrp="1"/>
          </p:cNvSpPr>
          <p:nvPr>
            <p:ph sz="half" idx="1"/>
          </p:nvPr>
        </p:nvSpPr>
        <p:spPr/>
        <p:txBody>
          <a:bodyPr>
            <a:normAutofit fontScale="92500" lnSpcReduction="20000"/>
          </a:bodyPr>
          <a:lstStyle/>
          <a:p>
            <a:r>
              <a:rPr lang="en-US" dirty="0"/>
              <a:t>A variety of fissile and fertile kernels have been used in particles, including ThC2, ThO2, PuO2, (</a:t>
            </a:r>
            <a:r>
              <a:rPr lang="en-US" dirty="0" err="1"/>
              <a:t>Th,U</a:t>
            </a:r>
            <a:r>
              <a:rPr lang="en-US" dirty="0"/>
              <a:t>)O2, UC2, UO2, and UCO</a:t>
            </a:r>
          </a:p>
          <a:p>
            <a:r>
              <a:rPr lang="en-US" dirty="0"/>
              <a:t>Nominal fuel kernel diameters range between 100 and 500 microns</a:t>
            </a:r>
          </a:p>
          <a:p>
            <a:r>
              <a:rPr lang="en-US" dirty="0"/>
              <a:t>The fuel kernel is surrounded by a porous graphite buffer layer that absorbs fission recoils and allows space for swelling and fission gases produced during irradiation</a:t>
            </a:r>
          </a:p>
          <a:p>
            <a:r>
              <a:rPr lang="en-US" dirty="0"/>
              <a:t>The buffer layer is generally about 100-micron thick</a:t>
            </a:r>
          </a:p>
          <a:p>
            <a:endParaRPr lang="en-US" dirty="0"/>
          </a:p>
          <a:p>
            <a:endParaRPr lang="en-US" dirty="0"/>
          </a:p>
          <a:p>
            <a:endParaRPr lang="en-US" dirty="0"/>
          </a:p>
        </p:txBody>
      </p:sp>
      <p:pic>
        <p:nvPicPr>
          <p:cNvPr id="9" name="Content Placeholder 8" descr="Labeled cross section of a TRISO particle">
            <a:extLst>
              <a:ext uri="{FF2B5EF4-FFF2-40B4-BE49-F238E27FC236}">
                <a16:creationId xmlns:a16="http://schemas.microsoft.com/office/drawing/2014/main" id="{73B099FA-CE73-1548-92E5-DCD7557289D4}"/>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724650" y="2421731"/>
            <a:ext cx="4330700" cy="3251200"/>
          </a:xfrm>
          <a:prstGeom prst="rect">
            <a:avLst/>
          </a:prstGeom>
        </p:spPr>
      </p:pic>
    </p:spTree>
    <p:extLst>
      <p:ext uri="{BB962C8B-B14F-4D97-AF65-F5344CB8AC3E}">
        <p14:creationId xmlns:p14="http://schemas.microsoft.com/office/powerpoint/2010/main" val="3860654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F12EA-B786-354B-A946-F5B9B6841044}"/>
              </a:ext>
            </a:extLst>
          </p:cNvPr>
          <p:cNvSpPr>
            <a:spLocks noGrp="1"/>
          </p:cNvSpPr>
          <p:nvPr>
            <p:ph type="title"/>
          </p:nvPr>
        </p:nvSpPr>
        <p:spPr/>
        <p:txBody>
          <a:bodyPr/>
          <a:lstStyle/>
          <a:p>
            <a:r>
              <a:rPr lang="en-US" dirty="0" err="1"/>
              <a:t>IPyC-SiC-OPyC</a:t>
            </a:r>
            <a:endParaRPr lang="en-US" dirty="0"/>
          </a:p>
        </p:txBody>
      </p:sp>
      <p:sp>
        <p:nvSpPr>
          <p:cNvPr id="3" name="Content Placeholder 2">
            <a:extLst>
              <a:ext uri="{FF2B5EF4-FFF2-40B4-BE49-F238E27FC236}">
                <a16:creationId xmlns:a16="http://schemas.microsoft.com/office/drawing/2014/main" id="{C74BFC5B-50A5-0743-9F4D-53F002D05217}"/>
              </a:ext>
            </a:extLst>
          </p:cNvPr>
          <p:cNvSpPr>
            <a:spLocks noGrp="1"/>
          </p:cNvSpPr>
          <p:nvPr>
            <p:ph sz="half" idx="1"/>
          </p:nvPr>
        </p:nvSpPr>
        <p:spPr>
          <a:xfrm>
            <a:off x="609600" y="1968502"/>
            <a:ext cx="5554532" cy="4313963"/>
          </a:xfrm>
        </p:spPr>
        <p:txBody>
          <a:bodyPr>
            <a:normAutofit fontScale="85000" lnSpcReduction="10000"/>
          </a:bodyPr>
          <a:lstStyle/>
          <a:p>
            <a:r>
              <a:rPr lang="en-US" dirty="0"/>
              <a:t>Surrounding this inner buffer layer is a layer of dense pyrolytic carbon (</a:t>
            </a:r>
            <a:r>
              <a:rPr lang="en-US" dirty="0" err="1"/>
              <a:t>IPyC</a:t>
            </a:r>
            <a:r>
              <a:rPr lang="en-US" dirty="0"/>
              <a:t>), a silicon carbide (</a:t>
            </a:r>
            <a:r>
              <a:rPr lang="en-US" dirty="0" err="1"/>
              <a:t>SiC</a:t>
            </a:r>
            <a:r>
              <a:rPr lang="en-US" dirty="0"/>
              <a:t>) layer, and a dense outer pyrolytic carbon (</a:t>
            </a:r>
            <a:r>
              <a:rPr lang="en-US" dirty="0" err="1"/>
              <a:t>OPyC</a:t>
            </a:r>
            <a:r>
              <a:rPr lang="en-US" dirty="0"/>
              <a:t>) layer</a:t>
            </a:r>
          </a:p>
          <a:p>
            <a:r>
              <a:rPr lang="en-US" dirty="0"/>
              <a:t>The pyrolytic carbon layers protect the </a:t>
            </a:r>
            <a:r>
              <a:rPr lang="en-US" dirty="0" err="1"/>
              <a:t>SiC</a:t>
            </a:r>
            <a:r>
              <a:rPr lang="en-US" dirty="0"/>
              <a:t> layer, which is the pressure boundary</a:t>
            </a:r>
          </a:p>
          <a:p>
            <a:r>
              <a:rPr lang="en-US" dirty="0"/>
              <a:t>The pyrolytic carbon layers are approximately 40-micron thick; the </a:t>
            </a:r>
            <a:r>
              <a:rPr lang="en-US" dirty="0" err="1"/>
              <a:t>SiC</a:t>
            </a:r>
            <a:r>
              <a:rPr lang="en-US" dirty="0"/>
              <a:t> layer is usually about 35-micron thick</a:t>
            </a:r>
          </a:p>
          <a:p>
            <a:r>
              <a:rPr lang="en-US" dirty="0"/>
              <a:t>Each microsphere acts as a mini pressure vessel, which is designed to impart robustness to the gas reactor fuel system</a:t>
            </a:r>
          </a:p>
          <a:p>
            <a:r>
              <a:rPr lang="en-US" dirty="0"/>
              <a:t>TRISO diameter is typically ~700 microns</a:t>
            </a:r>
          </a:p>
          <a:p>
            <a:endParaRPr lang="en-US" dirty="0"/>
          </a:p>
          <a:p>
            <a:endParaRPr lang="en-US" dirty="0"/>
          </a:p>
        </p:txBody>
      </p:sp>
      <p:pic>
        <p:nvPicPr>
          <p:cNvPr id="5" name="Content Placeholder 8" descr="Labeled cross section of a TRISO particle">
            <a:extLst>
              <a:ext uri="{FF2B5EF4-FFF2-40B4-BE49-F238E27FC236}">
                <a16:creationId xmlns:a16="http://schemas.microsoft.com/office/drawing/2014/main" id="{39A3D914-4EC7-F54A-8301-62E1AFDF0A6D}"/>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724650" y="2421731"/>
            <a:ext cx="4330700" cy="3251200"/>
          </a:xfrm>
          <a:prstGeom prst="rect">
            <a:avLst/>
          </a:prstGeom>
        </p:spPr>
      </p:pic>
    </p:spTree>
    <p:extLst>
      <p:ext uri="{BB962C8B-B14F-4D97-AF65-F5344CB8AC3E}">
        <p14:creationId xmlns:p14="http://schemas.microsoft.com/office/powerpoint/2010/main" val="1163435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54AA3-9CA7-4C49-8535-ACF1BC2F34C8}"/>
              </a:ext>
            </a:extLst>
          </p:cNvPr>
          <p:cNvSpPr>
            <a:spLocks noGrp="1"/>
          </p:cNvSpPr>
          <p:nvPr>
            <p:ph type="title"/>
          </p:nvPr>
        </p:nvSpPr>
        <p:spPr/>
        <p:txBody>
          <a:bodyPr/>
          <a:lstStyle/>
          <a:p>
            <a:r>
              <a:rPr lang="en-US" dirty="0"/>
              <a:t>Early Concepts</a:t>
            </a:r>
          </a:p>
        </p:txBody>
      </p:sp>
      <p:sp>
        <p:nvSpPr>
          <p:cNvPr id="3" name="Content Placeholder 2">
            <a:extLst>
              <a:ext uri="{FF2B5EF4-FFF2-40B4-BE49-F238E27FC236}">
                <a16:creationId xmlns:a16="http://schemas.microsoft.com/office/drawing/2014/main" id="{A9F5C77A-D31F-9742-8D0B-2866FF4C08AD}"/>
              </a:ext>
            </a:extLst>
          </p:cNvPr>
          <p:cNvSpPr>
            <a:spLocks noGrp="1"/>
          </p:cNvSpPr>
          <p:nvPr>
            <p:ph sz="half" idx="1"/>
          </p:nvPr>
        </p:nvSpPr>
        <p:spPr>
          <a:xfrm>
            <a:off x="609599" y="1968503"/>
            <a:ext cx="6468933" cy="4157663"/>
          </a:xfrm>
        </p:spPr>
        <p:txBody>
          <a:bodyPr/>
          <a:lstStyle/>
          <a:p>
            <a:r>
              <a:rPr lang="en-US" sz="2000" dirty="0"/>
              <a:t>The concept of nuclear fuel microspheres with refractory ceramic coatings to contain fission products during operation in HTGRs can be traced to the Dragon Project in the 1960s</a:t>
            </a:r>
          </a:p>
          <a:p>
            <a:r>
              <a:rPr lang="en-US" sz="2000" dirty="0"/>
              <a:t>The earliest versions involved fuel kernels coated with only a single pyrolytic carbon layer intended to protect the kernel during fabrication, this rapidly evolved in the following decade into more complex and more effective particle designs</a:t>
            </a:r>
          </a:p>
          <a:p>
            <a:r>
              <a:rPr lang="en-US" sz="2000" dirty="0"/>
              <a:t>It was recognized almost from the beginning that the coating layers could provide some degree of advantageous fission product retention when properly designed</a:t>
            </a:r>
          </a:p>
          <a:p>
            <a:endParaRPr lang="en-US" sz="2000" dirty="0"/>
          </a:p>
        </p:txBody>
      </p:sp>
      <p:pic>
        <p:nvPicPr>
          <p:cNvPr id="5" name="Content Placeholder 4" descr="a) BISO particle, (b) Particles with “laminated” pyrocarbon layer structure, (c) Particle with “Triplex” structure">
            <a:extLst>
              <a:ext uri="{FF2B5EF4-FFF2-40B4-BE49-F238E27FC236}">
                <a16:creationId xmlns:a16="http://schemas.microsoft.com/office/drawing/2014/main" id="{DFC08ED2-CB34-5643-A180-91C635F7C28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336715" y="2270122"/>
            <a:ext cx="4708264" cy="3107852"/>
          </a:xfrm>
          <a:prstGeom prst="rect">
            <a:avLst/>
          </a:prstGeom>
        </p:spPr>
      </p:pic>
      <p:sp>
        <p:nvSpPr>
          <p:cNvPr id="6" name="Rectangle 5">
            <a:extLst>
              <a:ext uri="{FF2B5EF4-FFF2-40B4-BE49-F238E27FC236}">
                <a16:creationId xmlns:a16="http://schemas.microsoft.com/office/drawing/2014/main" id="{99B23D4C-EE43-4A49-AA75-36BA80F9C7F8}"/>
              </a:ext>
            </a:extLst>
          </p:cNvPr>
          <p:cNvSpPr/>
          <p:nvPr/>
        </p:nvSpPr>
        <p:spPr>
          <a:xfrm>
            <a:off x="7336714" y="5529431"/>
            <a:ext cx="4708265" cy="830997"/>
          </a:xfrm>
          <a:prstGeom prst="rect">
            <a:avLst/>
          </a:prstGeom>
        </p:spPr>
        <p:txBody>
          <a:bodyPr wrap="square">
            <a:spAutoFit/>
          </a:bodyPr>
          <a:lstStyle/>
          <a:p>
            <a:r>
              <a:rPr lang="en-US" sz="1200" dirty="0">
                <a:latin typeface="Times" pitchFamily="2" charset="0"/>
              </a:rPr>
              <a:t>(a) BISO particle, (b) Particles with </a:t>
            </a:r>
            <a:r>
              <a:rPr lang="en-US" sz="1200" dirty="0">
                <a:latin typeface="Helvetica" pitchFamily="2" charset="0"/>
              </a:rPr>
              <a:t>“</a:t>
            </a:r>
            <a:r>
              <a:rPr lang="en-US" sz="1200" dirty="0">
                <a:latin typeface="Times" pitchFamily="2" charset="0"/>
              </a:rPr>
              <a:t>laminated</a:t>
            </a:r>
            <a:r>
              <a:rPr lang="en-US" sz="1200" dirty="0">
                <a:latin typeface="Helvetica" pitchFamily="2" charset="0"/>
              </a:rPr>
              <a:t>” </a:t>
            </a:r>
            <a:r>
              <a:rPr lang="en-US" sz="1200" dirty="0" err="1">
                <a:latin typeface="Times" pitchFamily="2" charset="0"/>
              </a:rPr>
              <a:t>pyrocarbon</a:t>
            </a:r>
            <a:r>
              <a:rPr lang="en-US" sz="1200" dirty="0">
                <a:latin typeface="Times" pitchFamily="2" charset="0"/>
              </a:rPr>
              <a:t> layer structure, (c) Particle with </a:t>
            </a:r>
            <a:r>
              <a:rPr lang="en-US" sz="1200" dirty="0">
                <a:latin typeface="Helvetica" pitchFamily="2" charset="0"/>
              </a:rPr>
              <a:t>“</a:t>
            </a:r>
            <a:r>
              <a:rPr lang="en-US" sz="1200" dirty="0">
                <a:latin typeface="Times" pitchFamily="2" charset="0"/>
              </a:rPr>
              <a:t>Triplex</a:t>
            </a:r>
            <a:r>
              <a:rPr lang="en-US" sz="1200" dirty="0">
                <a:latin typeface="Helvetica" pitchFamily="2" charset="0"/>
              </a:rPr>
              <a:t>” </a:t>
            </a:r>
            <a:r>
              <a:rPr lang="en-US" sz="1200" dirty="0">
                <a:latin typeface="Times" pitchFamily="2" charset="0"/>
              </a:rPr>
              <a:t>structure, (d) Fertile (</a:t>
            </a:r>
            <a:r>
              <a:rPr lang="en-US" sz="1200" dirty="0" err="1">
                <a:latin typeface="Times" pitchFamily="2" charset="0"/>
              </a:rPr>
              <a:t>Th,U</a:t>
            </a:r>
            <a:r>
              <a:rPr lang="en-US" sz="1200" dirty="0">
                <a:latin typeface="Times" pitchFamily="2" charset="0"/>
              </a:rPr>
              <a:t>)C2 with of </a:t>
            </a:r>
            <a:r>
              <a:rPr lang="en-US" sz="1200" dirty="0" err="1">
                <a:latin typeface="Times" pitchFamily="2" charset="0"/>
              </a:rPr>
              <a:t>PyC-SiC-PyC</a:t>
            </a:r>
            <a:r>
              <a:rPr lang="en-US" sz="1200" dirty="0">
                <a:latin typeface="Times" pitchFamily="2" charset="0"/>
              </a:rPr>
              <a:t> structure, (e) Carbide particle with single </a:t>
            </a:r>
            <a:r>
              <a:rPr lang="en-US" sz="1200" dirty="0" err="1">
                <a:latin typeface="Times" pitchFamily="2" charset="0"/>
              </a:rPr>
              <a:t>PyC</a:t>
            </a:r>
            <a:r>
              <a:rPr lang="en-US" sz="1200" dirty="0">
                <a:latin typeface="Times" pitchFamily="2" charset="0"/>
              </a:rPr>
              <a:t> coating, (f) </a:t>
            </a:r>
            <a:r>
              <a:rPr lang="en-US" sz="1200" dirty="0">
                <a:latin typeface="Helvetica" pitchFamily="2" charset="0"/>
              </a:rPr>
              <a:t>“</a:t>
            </a:r>
            <a:r>
              <a:rPr lang="en-US" sz="1200" dirty="0">
                <a:latin typeface="Times" pitchFamily="2" charset="0"/>
              </a:rPr>
              <a:t>Duplex</a:t>
            </a:r>
            <a:r>
              <a:rPr lang="en-US" sz="1200" dirty="0">
                <a:latin typeface="Helvetica" pitchFamily="2" charset="0"/>
              </a:rPr>
              <a:t>” </a:t>
            </a:r>
            <a:r>
              <a:rPr lang="en-US" sz="1200" dirty="0">
                <a:latin typeface="Times" pitchFamily="2" charset="0"/>
              </a:rPr>
              <a:t>(</a:t>
            </a:r>
            <a:r>
              <a:rPr lang="en-US" sz="1200" dirty="0" err="1">
                <a:latin typeface="Times" pitchFamily="2" charset="0"/>
              </a:rPr>
              <a:t>Th,U</a:t>
            </a:r>
            <a:r>
              <a:rPr lang="en-US" sz="1200" dirty="0">
                <a:latin typeface="Times" pitchFamily="2" charset="0"/>
              </a:rPr>
              <a:t>)C2 particle</a:t>
            </a:r>
            <a:endParaRPr lang="en-US" sz="1200" dirty="0">
              <a:effectLst/>
              <a:latin typeface="Times" pitchFamily="2" charset="0"/>
            </a:endParaRPr>
          </a:p>
        </p:txBody>
      </p:sp>
    </p:spTree>
    <p:extLst>
      <p:ext uri="{BB962C8B-B14F-4D97-AF65-F5344CB8AC3E}">
        <p14:creationId xmlns:p14="http://schemas.microsoft.com/office/powerpoint/2010/main" val="2177156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6066B-2352-174F-943B-ED6828BF732D}"/>
              </a:ext>
            </a:extLst>
          </p:cNvPr>
          <p:cNvSpPr>
            <a:spLocks noGrp="1"/>
          </p:cNvSpPr>
          <p:nvPr>
            <p:ph type="title"/>
          </p:nvPr>
        </p:nvSpPr>
        <p:spPr/>
        <p:txBody>
          <a:bodyPr/>
          <a:lstStyle/>
          <a:p>
            <a:r>
              <a:rPr lang="en-US" dirty="0"/>
              <a:t>Early Failure</a:t>
            </a:r>
          </a:p>
        </p:txBody>
      </p:sp>
      <p:sp>
        <p:nvSpPr>
          <p:cNvPr id="3" name="Content Placeholder 2">
            <a:extLst>
              <a:ext uri="{FF2B5EF4-FFF2-40B4-BE49-F238E27FC236}">
                <a16:creationId xmlns:a16="http://schemas.microsoft.com/office/drawing/2014/main" id="{4BBFD35F-7047-5F4E-9575-FED845943DE3}"/>
              </a:ext>
            </a:extLst>
          </p:cNvPr>
          <p:cNvSpPr>
            <a:spLocks noGrp="1"/>
          </p:cNvSpPr>
          <p:nvPr>
            <p:ph sz="half" idx="1"/>
          </p:nvPr>
        </p:nvSpPr>
        <p:spPr>
          <a:xfrm>
            <a:off x="609599" y="1968503"/>
            <a:ext cx="7028329" cy="4157663"/>
          </a:xfrm>
        </p:spPr>
        <p:txBody>
          <a:bodyPr/>
          <a:lstStyle/>
          <a:p>
            <a:r>
              <a:rPr lang="en-US" sz="2200" dirty="0"/>
              <a:t>Fracturing of the </a:t>
            </a:r>
            <a:r>
              <a:rPr lang="en-US" sz="2200" dirty="0" err="1"/>
              <a:t>pyrocarbon</a:t>
            </a:r>
            <a:r>
              <a:rPr lang="en-US" sz="2200" dirty="0"/>
              <a:t> layer in these particles during irradiation was found to be a concern</a:t>
            </a:r>
          </a:p>
          <a:p>
            <a:r>
              <a:rPr lang="en-US" sz="2200" dirty="0"/>
              <a:t>Causes included kernel swelling, radiation-induced </a:t>
            </a:r>
            <a:r>
              <a:rPr lang="en-US" sz="2200" dirty="0" err="1"/>
              <a:t>pyrocarbon</a:t>
            </a:r>
            <a:r>
              <a:rPr lang="en-US" sz="2200" dirty="0"/>
              <a:t> dimensional change, damage from fission recoils, fission gas pressure, and chemical reaction of fission products with the coating</a:t>
            </a:r>
          </a:p>
          <a:p>
            <a:r>
              <a:rPr lang="en-US" sz="2200" dirty="0"/>
              <a:t>A design modification was the introduction of a sacrificial layer of </a:t>
            </a:r>
            <a:r>
              <a:rPr lang="en-US" sz="2200" dirty="0" err="1"/>
              <a:t>pyrocarbon</a:t>
            </a:r>
            <a:r>
              <a:rPr lang="en-US" sz="2200" dirty="0"/>
              <a:t> between the kernel and the dense, outer </a:t>
            </a:r>
            <a:r>
              <a:rPr lang="en-US" sz="2200" dirty="0" err="1"/>
              <a:t>pyrocarbon</a:t>
            </a:r>
            <a:r>
              <a:rPr lang="en-US" sz="2200" dirty="0"/>
              <a:t> layer</a:t>
            </a:r>
          </a:p>
          <a:p>
            <a:r>
              <a:rPr lang="en-US" sz="2200" dirty="0"/>
              <a:t>This two-layered particle design was termed “BISO” for Buffer-isotropic</a:t>
            </a:r>
          </a:p>
          <a:p>
            <a:endParaRPr lang="en-US" sz="2200" dirty="0"/>
          </a:p>
          <a:p>
            <a:endParaRPr lang="en-US" sz="2200" dirty="0"/>
          </a:p>
        </p:txBody>
      </p:sp>
      <p:pic>
        <p:nvPicPr>
          <p:cNvPr id="5" name="Content Placeholder 4" descr="Cross section of a BISO particle">
            <a:extLst>
              <a:ext uri="{FF2B5EF4-FFF2-40B4-BE49-F238E27FC236}">
                <a16:creationId xmlns:a16="http://schemas.microsoft.com/office/drawing/2014/main" id="{A8065822-CCC8-E84D-A002-6A1189F29878}"/>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637928" y="2259363"/>
            <a:ext cx="3583751" cy="3420675"/>
          </a:xfrm>
          <a:prstGeom prst="rect">
            <a:avLst/>
          </a:prstGeom>
        </p:spPr>
      </p:pic>
    </p:spTree>
    <p:extLst>
      <p:ext uri="{BB962C8B-B14F-4D97-AF65-F5344CB8AC3E}">
        <p14:creationId xmlns:p14="http://schemas.microsoft.com/office/powerpoint/2010/main" val="1659984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76C12-E90A-2D40-9A09-4D3E150832D3}"/>
              </a:ext>
            </a:extLst>
          </p:cNvPr>
          <p:cNvSpPr>
            <a:spLocks noGrp="1"/>
          </p:cNvSpPr>
          <p:nvPr>
            <p:ph type="title"/>
          </p:nvPr>
        </p:nvSpPr>
        <p:spPr/>
        <p:txBody>
          <a:bodyPr/>
          <a:lstStyle/>
          <a:p>
            <a:r>
              <a:rPr lang="en-US" dirty="0"/>
              <a:t>Transition to TRISO</a:t>
            </a:r>
          </a:p>
        </p:txBody>
      </p:sp>
      <p:sp>
        <p:nvSpPr>
          <p:cNvPr id="3" name="Content Placeholder 2">
            <a:extLst>
              <a:ext uri="{FF2B5EF4-FFF2-40B4-BE49-F238E27FC236}">
                <a16:creationId xmlns:a16="http://schemas.microsoft.com/office/drawing/2014/main" id="{A7D9CC2D-E1F2-AA4D-8105-6B642BBAE90C}"/>
              </a:ext>
            </a:extLst>
          </p:cNvPr>
          <p:cNvSpPr>
            <a:spLocks noGrp="1"/>
          </p:cNvSpPr>
          <p:nvPr>
            <p:ph sz="half" idx="1"/>
          </p:nvPr>
        </p:nvSpPr>
        <p:spPr>
          <a:xfrm>
            <a:off x="609599" y="1968503"/>
            <a:ext cx="6199991" cy="4157663"/>
          </a:xfrm>
        </p:spPr>
        <p:txBody>
          <a:bodyPr/>
          <a:lstStyle/>
          <a:p>
            <a:r>
              <a:rPr lang="en-US" sz="2200" dirty="0"/>
              <a:t>The notion that refractory ceramics could provide significantly improved particle strength and retention of fission products compared to </a:t>
            </a:r>
            <a:r>
              <a:rPr lang="en-US" sz="2200" dirty="0" err="1"/>
              <a:t>pyrocarbon</a:t>
            </a:r>
            <a:r>
              <a:rPr lang="en-US" sz="2200" dirty="0"/>
              <a:t> alone was suggested near the very beginning of coated particle development</a:t>
            </a:r>
          </a:p>
          <a:p>
            <a:r>
              <a:rPr lang="en-US" sz="2200" dirty="0"/>
              <a:t>This led to the addition of a silicon carbide layer placed between two layers of dense </a:t>
            </a:r>
            <a:r>
              <a:rPr lang="en-US" sz="2200" dirty="0" err="1"/>
              <a:t>pyrocarbon</a:t>
            </a:r>
            <a:endParaRPr lang="en-US" sz="2200" dirty="0"/>
          </a:p>
          <a:p>
            <a:r>
              <a:rPr lang="en-US" sz="2200" dirty="0"/>
              <a:t>This </a:t>
            </a:r>
            <a:r>
              <a:rPr lang="en-US" sz="2200" dirty="0" err="1"/>
              <a:t>SiC</a:t>
            </a:r>
            <a:r>
              <a:rPr lang="en-US" sz="2200" dirty="0"/>
              <a:t> layer, along with the porous buffer layer of BISO particles, formed the basis for the modern TRISO coating design</a:t>
            </a:r>
          </a:p>
        </p:txBody>
      </p:sp>
      <p:pic>
        <p:nvPicPr>
          <p:cNvPr id="5" name="Content Placeholder 4" descr="Cross section of a TRISO particle">
            <a:extLst>
              <a:ext uri="{FF2B5EF4-FFF2-40B4-BE49-F238E27FC236}">
                <a16:creationId xmlns:a16="http://schemas.microsoft.com/office/drawing/2014/main" id="{5B09CE50-660F-9C44-8BA1-C5ED9A5B3C5E}"/>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315200" y="2104807"/>
            <a:ext cx="4130935" cy="4021359"/>
          </a:xfrm>
          <a:prstGeom prst="rect">
            <a:avLst/>
          </a:prstGeom>
        </p:spPr>
      </p:pic>
    </p:spTree>
    <p:extLst>
      <p:ext uri="{BB962C8B-B14F-4D97-AF65-F5344CB8AC3E}">
        <p14:creationId xmlns:p14="http://schemas.microsoft.com/office/powerpoint/2010/main" val="28752030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4EF6E-A1D0-8435-9EC7-6FF98FFFD866}"/>
              </a:ext>
            </a:extLst>
          </p:cNvPr>
          <p:cNvSpPr>
            <a:spLocks noGrp="1"/>
          </p:cNvSpPr>
          <p:nvPr>
            <p:ph type="title"/>
          </p:nvPr>
        </p:nvSpPr>
        <p:spPr/>
        <p:txBody>
          <a:bodyPr/>
          <a:lstStyle/>
          <a:p>
            <a:r>
              <a:rPr lang="en-US" dirty="0"/>
              <a:t>Brief Review</a:t>
            </a:r>
          </a:p>
        </p:txBody>
      </p:sp>
      <p:sp>
        <p:nvSpPr>
          <p:cNvPr id="3" name="Content Placeholder 2">
            <a:extLst>
              <a:ext uri="{FF2B5EF4-FFF2-40B4-BE49-F238E27FC236}">
                <a16:creationId xmlns:a16="http://schemas.microsoft.com/office/drawing/2014/main" id="{B2B055CD-3A57-679B-6353-8C6CB2295446}"/>
              </a:ext>
            </a:extLst>
          </p:cNvPr>
          <p:cNvSpPr>
            <a:spLocks noGrp="1"/>
          </p:cNvSpPr>
          <p:nvPr>
            <p:ph sz="half" idx="1"/>
          </p:nvPr>
        </p:nvSpPr>
        <p:spPr>
          <a:xfrm>
            <a:off x="609600" y="1968503"/>
            <a:ext cx="10972800" cy="4157663"/>
          </a:xfrm>
        </p:spPr>
        <p:txBody>
          <a:bodyPr/>
          <a:lstStyle/>
          <a:p>
            <a:r>
              <a:rPr lang="en-US" dirty="0"/>
              <a:t>TRISO layers and their functions…</a:t>
            </a:r>
          </a:p>
          <a:p>
            <a:r>
              <a:rPr lang="en-US" dirty="0"/>
              <a:t>Fuel kernel:</a:t>
            </a:r>
          </a:p>
          <a:p>
            <a:pPr lvl="1"/>
            <a:r>
              <a:rPr lang="en-US" dirty="0"/>
              <a:t>the fuel! does the fission stuff</a:t>
            </a:r>
          </a:p>
          <a:p>
            <a:r>
              <a:rPr lang="en-US" dirty="0"/>
              <a:t>Buffer layer:</a:t>
            </a:r>
          </a:p>
          <a:p>
            <a:pPr lvl="1"/>
            <a:r>
              <a:rPr lang="en-US" dirty="0"/>
              <a:t>allows for isotropic particles, allows fuel swelling and gas release without excess layer stresses</a:t>
            </a:r>
          </a:p>
          <a:p>
            <a:r>
              <a:rPr lang="en-US" dirty="0" err="1"/>
              <a:t>IPyC</a:t>
            </a:r>
            <a:r>
              <a:rPr lang="en-US" dirty="0"/>
              <a:t>:</a:t>
            </a:r>
          </a:p>
          <a:p>
            <a:pPr lvl="1"/>
            <a:r>
              <a:rPr lang="en-US" dirty="0"/>
              <a:t>protects </a:t>
            </a:r>
            <a:r>
              <a:rPr lang="en-US" dirty="0" err="1"/>
              <a:t>SiC</a:t>
            </a:r>
            <a:r>
              <a:rPr lang="en-US" dirty="0"/>
              <a:t> from internal fission product attack, also puts </a:t>
            </a:r>
            <a:r>
              <a:rPr lang="en-US" dirty="0" err="1"/>
              <a:t>SiC</a:t>
            </a:r>
            <a:r>
              <a:rPr lang="en-US" dirty="0"/>
              <a:t> into compression</a:t>
            </a:r>
          </a:p>
          <a:p>
            <a:r>
              <a:rPr lang="en-US" dirty="0" err="1"/>
              <a:t>SiC</a:t>
            </a:r>
            <a:r>
              <a:rPr lang="en-US" dirty="0"/>
              <a:t>:</a:t>
            </a:r>
          </a:p>
          <a:p>
            <a:pPr lvl="1"/>
            <a:r>
              <a:rPr lang="en-US" dirty="0"/>
              <a:t>primary fission product barrier and pressure vessel</a:t>
            </a:r>
          </a:p>
          <a:p>
            <a:r>
              <a:rPr lang="en-US" dirty="0" err="1"/>
              <a:t>OPyC</a:t>
            </a:r>
            <a:r>
              <a:rPr lang="en-US" dirty="0"/>
              <a:t>:</a:t>
            </a:r>
          </a:p>
          <a:p>
            <a:pPr lvl="1"/>
            <a:r>
              <a:rPr lang="en-US" dirty="0"/>
              <a:t>protects </a:t>
            </a:r>
            <a:r>
              <a:rPr lang="en-US" dirty="0" err="1"/>
              <a:t>SiC</a:t>
            </a:r>
            <a:r>
              <a:rPr lang="en-US" dirty="0"/>
              <a:t> layer during manufacturing, also puts </a:t>
            </a:r>
            <a:r>
              <a:rPr lang="en-US" dirty="0" err="1"/>
              <a:t>SiC</a:t>
            </a:r>
            <a:r>
              <a:rPr lang="en-US" dirty="0"/>
              <a:t> into compression</a:t>
            </a:r>
          </a:p>
        </p:txBody>
      </p:sp>
      <p:sp>
        <p:nvSpPr>
          <p:cNvPr id="5" name="Slide Number Placeholder 4">
            <a:extLst>
              <a:ext uri="{FF2B5EF4-FFF2-40B4-BE49-F238E27FC236}">
                <a16:creationId xmlns:a16="http://schemas.microsoft.com/office/drawing/2014/main" id="{29903166-03B4-8B6A-B511-BB0CECA04ADE}"/>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4001636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fuel kernel</a:t>
            </a:r>
          </a:p>
        </p:txBody>
      </p:sp>
    </p:spTree>
    <p:extLst>
      <p:ext uri="{BB962C8B-B14F-4D97-AF65-F5344CB8AC3E}">
        <p14:creationId xmlns:p14="http://schemas.microsoft.com/office/powerpoint/2010/main" val="19850200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A426-8E4E-2A45-B604-6FB9892BF36C}"/>
              </a:ext>
            </a:extLst>
          </p:cNvPr>
          <p:cNvSpPr>
            <a:spLocks noGrp="1"/>
          </p:cNvSpPr>
          <p:nvPr>
            <p:ph type="title"/>
          </p:nvPr>
        </p:nvSpPr>
        <p:spPr/>
        <p:txBody>
          <a:bodyPr/>
          <a:lstStyle/>
          <a:p>
            <a:r>
              <a:rPr lang="en-US" dirty="0"/>
              <a:t>Fuel Kernel</a:t>
            </a:r>
          </a:p>
        </p:txBody>
      </p:sp>
      <p:sp>
        <p:nvSpPr>
          <p:cNvPr id="3" name="Content Placeholder 2">
            <a:extLst>
              <a:ext uri="{FF2B5EF4-FFF2-40B4-BE49-F238E27FC236}">
                <a16:creationId xmlns:a16="http://schemas.microsoft.com/office/drawing/2014/main" id="{3792B525-2753-0A47-8E39-C908B167DA17}"/>
              </a:ext>
            </a:extLst>
          </p:cNvPr>
          <p:cNvSpPr>
            <a:spLocks noGrp="1"/>
          </p:cNvSpPr>
          <p:nvPr>
            <p:ph sz="half" idx="1"/>
          </p:nvPr>
        </p:nvSpPr>
        <p:spPr>
          <a:xfrm>
            <a:off x="609599" y="1968503"/>
            <a:ext cx="6006353" cy="4157663"/>
          </a:xfrm>
        </p:spPr>
        <p:txBody>
          <a:bodyPr/>
          <a:lstStyle/>
          <a:p>
            <a:r>
              <a:rPr lang="en-US" sz="2200" dirty="0"/>
              <a:t>Coated particle fuel allows flexibility in kernel material</a:t>
            </a:r>
          </a:p>
          <a:p>
            <a:r>
              <a:rPr lang="en-US" sz="2200" dirty="0"/>
              <a:t>The porous buffer layer mechanically decouples the kernel from the outer coating, allowing for some degree of kernel swelling</a:t>
            </a:r>
          </a:p>
          <a:p>
            <a:r>
              <a:rPr lang="en-US" sz="2200" dirty="0"/>
              <a:t>Choice of kernel material is influenced by fabrication concerns, kernel behavior under irradiation, and reactor design</a:t>
            </a:r>
          </a:p>
          <a:p>
            <a:r>
              <a:rPr lang="en-US" sz="2200" dirty="0"/>
              <a:t>Early designs primarily included fertile carbide fuels (</a:t>
            </a:r>
            <a:r>
              <a:rPr lang="en-US" sz="2200" dirty="0" err="1"/>
              <a:t>ThC</a:t>
            </a:r>
            <a:r>
              <a:rPr lang="en-US" sz="2200" dirty="0"/>
              <a:t>)</a:t>
            </a:r>
          </a:p>
          <a:p>
            <a:endParaRPr lang="en-US" sz="2200" dirty="0"/>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6636D8B4-D2ED-BF4E-9897-D0FE096AA648}"/>
              </a:ext>
            </a:extLst>
          </p:cNvPr>
          <p:cNvSpPr>
            <a:spLocks noGrp="1"/>
          </p:cNvSpPr>
          <p:nvPr>
            <p:ph sz="half" idx="2"/>
          </p:nvPr>
        </p:nvSpPr>
        <p:spPr>
          <a:xfrm>
            <a:off x="6766560" y="1968503"/>
            <a:ext cx="4815840" cy="4157663"/>
          </a:xfrm>
        </p:spPr>
        <p:txBody>
          <a:bodyPr/>
          <a:lstStyle/>
          <a:p>
            <a:r>
              <a:rPr lang="en-US" sz="2200" dirty="0"/>
              <a:t>Carbide kernels have excellent high-temperature compatibility with the surrounding graphite fuel elements</a:t>
            </a:r>
          </a:p>
          <a:p>
            <a:r>
              <a:rPr lang="en-US" sz="2200" dirty="0"/>
              <a:t>However, oxide kernels simplify the overall fabrication process (don’t have to worry about oxidation) and maintain better chemical stability during the high temperature heat treatment of fuel pebbles during manufacture</a:t>
            </a:r>
          </a:p>
          <a:p>
            <a:endParaRPr lang="en-US" sz="2200" dirty="0"/>
          </a:p>
        </p:txBody>
      </p:sp>
    </p:spTree>
    <p:extLst>
      <p:ext uri="{BB962C8B-B14F-4D97-AF65-F5344CB8AC3E}">
        <p14:creationId xmlns:p14="http://schemas.microsoft.com/office/powerpoint/2010/main" val="4247784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19695-FE47-2843-9E2A-092F150E82AD}"/>
              </a:ext>
            </a:extLst>
          </p:cNvPr>
          <p:cNvSpPr>
            <a:spLocks noGrp="1"/>
          </p:cNvSpPr>
          <p:nvPr>
            <p:ph type="title"/>
          </p:nvPr>
        </p:nvSpPr>
        <p:spPr/>
        <p:txBody>
          <a:bodyPr/>
          <a:lstStyle/>
          <a:p>
            <a:r>
              <a:rPr lang="en-US" dirty="0"/>
              <a:t>Fuel Chemistry</a:t>
            </a:r>
          </a:p>
        </p:txBody>
      </p:sp>
      <p:sp>
        <p:nvSpPr>
          <p:cNvPr id="3" name="Content Placeholder 2">
            <a:extLst>
              <a:ext uri="{FF2B5EF4-FFF2-40B4-BE49-F238E27FC236}">
                <a16:creationId xmlns:a16="http://schemas.microsoft.com/office/drawing/2014/main" id="{C1062A17-7279-4E48-A742-F33128A3315C}"/>
              </a:ext>
            </a:extLst>
          </p:cNvPr>
          <p:cNvSpPr>
            <a:spLocks noGrp="1"/>
          </p:cNvSpPr>
          <p:nvPr>
            <p:ph sz="half" idx="1"/>
          </p:nvPr>
        </p:nvSpPr>
        <p:spPr/>
        <p:txBody>
          <a:bodyPr>
            <a:noAutofit/>
          </a:bodyPr>
          <a:lstStyle/>
          <a:p>
            <a:r>
              <a:rPr lang="en-US" sz="2000" dirty="0"/>
              <a:t>An important consequence of UO2 fission is the creation of free oxygen since only a part of the O2 recombines with the fission products</a:t>
            </a:r>
          </a:p>
          <a:p>
            <a:r>
              <a:rPr lang="en-US" sz="2000" dirty="0"/>
              <a:t>In the TRISO particle, a portion of this free oxygen combines with carbon from the buffer/</a:t>
            </a:r>
            <a:r>
              <a:rPr lang="en-US" sz="2000" dirty="0" err="1"/>
              <a:t>PyC</a:t>
            </a:r>
            <a:r>
              <a:rPr lang="en-US" sz="2000" dirty="0"/>
              <a:t> coatings to form CO and CO2 gases</a:t>
            </a:r>
          </a:p>
          <a:p>
            <a:r>
              <a:rPr lang="en-US" sz="2000" dirty="0"/>
              <a:t>Identification of those compounds (solid and gaseous) that can form in fuel during normal and off-normal conditions and which elements remain in elemental form, is fuel chemistry</a:t>
            </a:r>
          </a:p>
          <a:p>
            <a:endParaRPr lang="en-US" sz="2000" dirty="0"/>
          </a:p>
        </p:txBody>
      </p:sp>
      <p:sp>
        <p:nvSpPr>
          <p:cNvPr id="4" name="Content Placeholder 3">
            <a:extLst>
              <a:ext uri="{FF2B5EF4-FFF2-40B4-BE49-F238E27FC236}">
                <a16:creationId xmlns:a16="http://schemas.microsoft.com/office/drawing/2014/main" id="{74931362-8FE0-DB41-8EDA-4A5633741A71}"/>
              </a:ext>
            </a:extLst>
          </p:cNvPr>
          <p:cNvSpPr>
            <a:spLocks noGrp="1"/>
          </p:cNvSpPr>
          <p:nvPr>
            <p:ph sz="half" idx="2"/>
          </p:nvPr>
        </p:nvSpPr>
        <p:spPr/>
        <p:txBody>
          <a:bodyPr>
            <a:noAutofit/>
          </a:bodyPr>
          <a:lstStyle/>
          <a:p>
            <a:r>
              <a:rPr lang="en-US" sz="2000" dirty="0"/>
              <a:t>Changes in fuel chemistry may lead to many important mechanisms affecting fuel performance, e.g., kernel size (swelling), kernel migration (amoeba effect), stresses in the coatings (particle pressurization due to fission products and carbon oxide gases), thermal conductivity, creep properties modification, etc.</a:t>
            </a:r>
          </a:p>
          <a:p>
            <a:r>
              <a:rPr lang="en-US" sz="2000" dirty="0"/>
              <a:t>The oxygen potential, the partial pressure of oxygen in the gas phase within the fuel, is the critical parameter determining which elements in their competition for oxygen form oxides</a:t>
            </a:r>
          </a:p>
          <a:p>
            <a:endParaRPr lang="en-US" sz="2000" dirty="0"/>
          </a:p>
        </p:txBody>
      </p:sp>
    </p:spTree>
    <p:extLst>
      <p:ext uri="{BB962C8B-B14F-4D97-AF65-F5344CB8AC3E}">
        <p14:creationId xmlns:p14="http://schemas.microsoft.com/office/powerpoint/2010/main" val="3932721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5BD39-B979-3749-BBEC-14C58F1AF114}"/>
              </a:ext>
            </a:extLst>
          </p:cNvPr>
          <p:cNvSpPr>
            <a:spLocks noGrp="1"/>
          </p:cNvSpPr>
          <p:nvPr>
            <p:ph type="title"/>
          </p:nvPr>
        </p:nvSpPr>
        <p:spPr/>
        <p:txBody>
          <a:bodyPr/>
          <a:lstStyle/>
          <a:p>
            <a:r>
              <a:rPr lang="en-US" dirty="0"/>
              <a:t>Oxygen Potential</a:t>
            </a:r>
          </a:p>
        </p:txBody>
      </p:sp>
      <p:sp>
        <p:nvSpPr>
          <p:cNvPr id="3" name="Content Placeholder 2">
            <a:extLst>
              <a:ext uri="{FF2B5EF4-FFF2-40B4-BE49-F238E27FC236}">
                <a16:creationId xmlns:a16="http://schemas.microsoft.com/office/drawing/2014/main" id="{9841BD13-E796-C04F-8153-2503519CCEA4}"/>
              </a:ext>
            </a:extLst>
          </p:cNvPr>
          <p:cNvSpPr>
            <a:spLocks noGrp="1"/>
          </p:cNvSpPr>
          <p:nvPr>
            <p:ph sz="half" idx="1"/>
          </p:nvPr>
        </p:nvSpPr>
        <p:spPr/>
        <p:txBody>
          <a:bodyPr/>
          <a:lstStyle/>
          <a:p>
            <a:r>
              <a:rPr lang="en-US" sz="2000" dirty="0"/>
              <a:t>Calculation of the oxygen potential is complex since it generally varies with distance from the particle center and with temperature, fuel burnup, fission product yields, chemical state of fission products including solid and gas phases, and the effectiveness of the coating layers to absorb fission products and oxygen</a:t>
            </a:r>
          </a:p>
          <a:p>
            <a:r>
              <a:rPr lang="en-US" sz="2000" dirty="0"/>
              <a:t>The oxygen potential is represented by:</a:t>
            </a:r>
          </a:p>
          <a:p>
            <a:endParaRPr lang="en-US" sz="2000" dirty="0"/>
          </a:p>
          <a:p>
            <a:r>
              <a:rPr lang="en-US" sz="2000" dirty="0"/>
              <a:t>where P(O2) is the oxygen partial pressure, R is the gas constant, T is the temperature</a:t>
            </a:r>
          </a:p>
          <a:p>
            <a:endParaRPr lang="en-US" sz="2000" dirty="0"/>
          </a:p>
        </p:txBody>
      </p:sp>
      <p:sp>
        <p:nvSpPr>
          <p:cNvPr id="4" name="Content Placeholder 3">
            <a:extLst>
              <a:ext uri="{FF2B5EF4-FFF2-40B4-BE49-F238E27FC236}">
                <a16:creationId xmlns:a16="http://schemas.microsoft.com/office/drawing/2014/main" id="{FA33115E-158B-8D44-8CC9-A0C427A82101}"/>
              </a:ext>
            </a:extLst>
          </p:cNvPr>
          <p:cNvSpPr>
            <a:spLocks noGrp="1"/>
          </p:cNvSpPr>
          <p:nvPr>
            <p:ph sz="half" idx="2"/>
          </p:nvPr>
        </p:nvSpPr>
        <p:spPr/>
        <p:txBody>
          <a:bodyPr/>
          <a:lstStyle/>
          <a:p>
            <a:r>
              <a:rPr lang="en-US" sz="2000" dirty="0"/>
              <a:t>In fresh fuel (simpler case), where we assume the fuel reaches thermodynamic equilibrium with its surrounding coatings, the main product of the reaction between UO2+x (x&gt;0) and carbon is gaseous carbon monoxide, CO, by the following reactions:</a:t>
            </a:r>
          </a:p>
          <a:p>
            <a:endParaRPr lang="en-US" sz="2000" dirty="0"/>
          </a:p>
          <a:p>
            <a:endParaRPr lang="en-US" sz="2000" dirty="0"/>
          </a:p>
          <a:p>
            <a:r>
              <a:rPr lang="en-US" sz="2000" dirty="0"/>
              <a:t>which can be rearranged as:</a:t>
            </a:r>
          </a:p>
          <a:p>
            <a:endParaRPr lang="en-US" sz="2000" dirty="0"/>
          </a:p>
          <a:p>
            <a:r>
              <a:rPr lang="en-US" sz="2000" dirty="0"/>
              <a:t>Utilizing an equilibrium rate constant K, </a:t>
            </a:r>
          </a:p>
          <a:p>
            <a:pPr marL="0" indent="0">
              <a:buNone/>
            </a:pPr>
            <a:endParaRPr lang="en-US" sz="2000" dirty="0"/>
          </a:p>
          <a:p>
            <a:endParaRPr lang="en-US" sz="2000" dirty="0"/>
          </a:p>
        </p:txBody>
      </p:sp>
      <p:pic>
        <p:nvPicPr>
          <p:cNvPr id="6" name="Picture 5" descr="Oxygen potential equation">
            <a:extLst>
              <a:ext uri="{FF2B5EF4-FFF2-40B4-BE49-F238E27FC236}">
                <a16:creationId xmlns:a16="http://schemas.microsoft.com/office/drawing/2014/main" id="{DF620424-A390-E343-BAE9-A0F513F2492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107903" y="4803140"/>
            <a:ext cx="2235200" cy="482600"/>
          </a:xfrm>
          <a:prstGeom prst="rect">
            <a:avLst/>
          </a:prstGeom>
        </p:spPr>
      </p:pic>
      <p:pic>
        <p:nvPicPr>
          <p:cNvPr id="8" name="Picture 7" descr="Chemical reactions of UO2 and C">
            <a:extLst>
              <a:ext uri="{FF2B5EF4-FFF2-40B4-BE49-F238E27FC236}">
                <a16:creationId xmlns:a16="http://schemas.microsoft.com/office/drawing/2014/main" id="{1FAA5A2F-0083-BD44-83B1-5203D5E15B5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6569" y="3901440"/>
            <a:ext cx="3048000" cy="901700"/>
          </a:xfrm>
          <a:prstGeom prst="rect">
            <a:avLst/>
          </a:prstGeom>
        </p:spPr>
      </p:pic>
      <p:pic>
        <p:nvPicPr>
          <p:cNvPr id="9" name="Picture 8" descr="Chemical reactions of UO2 and C">
            <a:extLst>
              <a:ext uri="{FF2B5EF4-FFF2-40B4-BE49-F238E27FC236}">
                <a16:creationId xmlns:a16="http://schemas.microsoft.com/office/drawing/2014/main" id="{68E4A752-2E0D-7B48-9262-834A217A088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92869" y="5242708"/>
            <a:ext cx="3441700" cy="469900"/>
          </a:xfrm>
          <a:prstGeom prst="rect">
            <a:avLst/>
          </a:prstGeom>
        </p:spPr>
      </p:pic>
      <p:pic>
        <p:nvPicPr>
          <p:cNvPr id="10" name="Picture 9" descr="Equation for CO production">
            <a:extLst>
              <a:ext uri="{FF2B5EF4-FFF2-40B4-BE49-F238E27FC236}">
                <a16:creationId xmlns:a16="http://schemas.microsoft.com/office/drawing/2014/main" id="{5D44852B-77B9-264A-8FCE-1E7258FFF0D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293311" y="6017558"/>
            <a:ext cx="3365500" cy="406400"/>
          </a:xfrm>
          <a:prstGeom prst="rect">
            <a:avLst/>
          </a:prstGeom>
        </p:spPr>
      </p:pic>
    </p:spTree>
    <p:extLst>
      <p:ext uri="{BB962C8B-B14F-4D97-AF65-F5344CB8AC3E}">
        <p14:creationId xmlns:p14="http://schemas.microsoft.com/office/powerpoint/2010/main" val="2063284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71E35-E65C-9F4C-BBEE-29966BE13358}"/>
              </a:ext>
            </a:extLst>
          </p:cNvPr>
          <p:cNvSpPr>
            <a:spLocks noGrp="1"/>
          </p:cNvSpPr>
          <p:nvPr>
            <p:ph type="title"/>
          </p:nvPr>
        </p:nvSpPr>
        <p:spPr/>
        <p:txBody>
          <a:bodyPr/>
          <a:lstStyle/>
          <a:p>
            <a:r>
              <a:rPr lang="en-US" dirty="0"/>
              <a:t>Oxygen Potential</a:t>
            </a:r>
          </a:p>
        </p:txBody>
      </p:sp>
      <p:sp>
        <p:nvSpPr>
          <p:cNvPr id="3" name="Content Placeholder 2">
            <a:extLst>
              <a:ext uri="{FF2B5EF4-FFF2-40B4-BE49-F238E27FC236}">
                <a16:creationId xmlns:a16="http://schemas.microsoft.com/office/drawing/2014/main" id="{3765A720-C67B-404B-9575-428168B31901}"/>
              </a:ext>
            </a:extLst>
          </p:cNvPr>
          <p:cNvSpPr>
            <a:spLocks noGrp="1"/>
          </p:cNvSpPr>
          <p:nvPr>
            <p:ph sz="half" idx="1"/>
          </p:nvPr>
        </p:nvSpPr>
        <p:spPr/>
        <p:txBody>
          <a:bodyPr/>
          <a:lstStyle/>
          <a:p>
            <a:r>
              <a:rPr lang="en-US" sz="2000" dirty="0"/>
              <a:t>Reactions to generate CO2 are also possible, but at applicable temperatures and values of the oxygen potential, CO production dominates</a:t>
            </a:r>
          </a:p>
          <a:p>
            <a:r>
              <a:rPr lang="en-US" sz="2000" dirty="0"/>
              <a:t>As the oxygen potential, i.e., oxygen partial pressure, is increased we are generating more CO</a:t>
            </a:r>
          </a:p>
          <a:p>
            <a:r>
              <a:rPr lang="en-US" sz="2000" dirty="0"/>
              <a:t>The result of CO formation is internal pressurization of the particle which may lead, in extreme conditions, to particle failure</a:t>
            </a:r>
          </a:p>
          <a:p>
            <a:endParaRPr lang="en-US" sz="2000" dirty="0"/>
          </a:p>
          <a:p>
            <a:endParaRPr lang="en-US" sz="2000" dirty="0"/>
          </a:p>
        </p:txBody>
      </p:sp>
      <p:sp>
        <p:nvSpPr>
          <p:cNvPr id="4" name="Content Placeholder 3">
            <a:extLst>
              <a:ext uri="{FF2B5EF4-FFF2-40B4-BE49-F238E27FC236}">
                <a16:creationId xmlns:a16="http://schemas.microsoft.com/office/drawing/2014/main" id="{9E61F892-F952-004F-BC4B-BBE772401D16}"/>
              </a:ext>
            </a:extLst>
          </p:cNvPr>
          <p:cNvSpPr>
            <a:spLocks noGrp="1"/>
          </p:cNvSpPr>
          <p:nvPr>
            <p:ph sz="half" idx="2"/>
          </p:nvPr>
        </p:nvSpPr>
        <p:spPr/>
        <p:txBody>
          <a:bodyPr/>
          <a:lstStyle/>
          <a:p>
            <a:r>
              <a:rPr lang="en-US" sz="2000" dirty="0"/>
              <a:t>To limit this pressurization, other fuel kernel concepts have been and are being studied, of particular interest is the </a:t>
            </a:r>
            <a:r>
              <a:rPr lang="en-US" sz="2000" dirty="0" err="1"/>
              <a:t>oxycarbide</a:t>
            </a:r>
            <a:r>
              <a:rPr lang="en-US" sz="2000" dirty="0"/>
              <a:t> fuel (or UCO) comprising a mixture of UC2 and UO2</a:t>
            </a:r>
          </a:p>
          <a:p>
            <a:r>
              <a:rPr lang="en-US" sz="2000" dirty="0"/>
              <a:t>Gas formation is effectively reduced within the UCO particle as compared to a UO2 particle due primarily to their lower oxygen inventory</a:t>
            </a:r>
          </a:p>
          <a:p>
            <a:r>
              <a:rPr lang="en-US" sz="2000" dirty="0"/>
              <a:t>Additionally, there is a gettering effect of the UC2 on the oxygen released during UO2 fission which forms a condensed oxide rather than CO gas</a:t>
            </a:r>
          </a:p>
        </p:txBody>
      </p:sp>
    </p:spTree>
    <p:extLst>
      <p:ext uri="{BB962C8B-B14F-4D97-AF65-F5344CB8AC3E}">
        <p14:creationId xmlns:p14="http://schemas.microsoft.com/office/powerpoint/2010/main" val="11304624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CO Pressurization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p:txBody>
          <a:bodyPr/>
          <a:lstStyle/>
          <a:p>
            <a:r>
              <a:rPr lang="en-US" sz="2000" dirty="0"/>
              <a:t>The result of CO formation is internal pressurizing of the particle that increases with burnup and adds to the pressurization from fission gases</a:t>
            </a:r>
          </a:p>
          <a:p>
            <a:r>
              <a:rPr lang="en-US" sz="2000" dirty="0"/>
              <a:t>At lower burnup (≤ 6 % FIMA), pressurization of the particle arises principally from fission-gas release from the fuel kernel</a:t>
            </a:r>
          </a:p>
          <a:p>
            <a:r>
              <a:rPr lang="en-US" sz="2000" dirty="0"/>
              <a:t>At higher burnup (9% FIMA, at 1450 K), the pressure resulting from fission gases can represent half of the contribution of CO in an HTGR TRISO coated particle</a:t>
            </a:r>
          </a:p>
          <a:p>
            <a:r>
              <a:rPr lang="en-US" sz="2000" dirty="0"/>
              <a:t>CO pressurization dominates at high BU</a:t>
            </a:r>
          </a:p>
          <a:p>
            <a:endParaRPr lang="en-US" sz="2000" dirty="0"/>
          </a:p>
          <a:p>
            <a:endParaRPr lang="en-US" sz="2000" dirty="0"/>
          </a:p>
        </p:txBody>
      </p:sp>
      <p:sp>
        <p:nvSpPr>
          <p:cNvPr id="7" name="Content Placeholder 6">
            <a:extLst>
              <a:ext uri="{FF2B5EF4-FFF2-40B4-BE49-F238E27FC236}">
                <a16:creationId xmlns:a16="http://schemas.microsoft.com/office/drawing/2014/main" id="{B799FDD1-CD91-E949-A4D4-D80A166D27AC}"/>
              </a:ext>
            </a:extLst>
          </p:cNvPr>
          <p:cNvSpPr>
            <a:spLocks noGrp="1"/>
          </p:cNvSpPr>
          <p:nvPr>
            <p:ph sz="half" idx="2"/>
          </p:nvPr>
        </p:nvSpPr>
        <p:spPr/>
        <p:txBody>
          <a:bodyPr/>
          <a:lstStyle/>
          <a:p>
            <a:r>
              <a:rPr lang="en-US" sz="2000" dirty="0"/>
              <a:t>The suppression of excessive CO formation during oxidation of a UO2 based particle remains an important design objective at moderate and high burnup</a:t>
            </a:r>
          </a:p>
          <a:p>
            <a:r>
              <a:rPr lang="en-US" sz="2000" dirty="0"/>
              <a:t>The failure of the </a:t>
            </a:r>
            <a:r>
              <a:rPr lang="en-US" sz="2000" dirty="0" err="1"/>
              <a:t>SiC</a:t>
            </a:r>
            <a:r>
              <a:rPr lang="en-US" sz="2000" dirty="0"/>
              <a:t> layer may happen because of over-pressurization due to CO formation</a:t>
            </a:r>
          </a:p>
          <a:p>
            <a:r>
              <a:rPr lang="en-US" sz="2000" dirty="0"/>
              <a:t>CO pressures are suspected of being partly responsible for the mechanical weakening of the </a:t>
            </a:r>
            <a:r>
              <a:rPr lang="en-US" sz="2000" dirty="0" err="1"/>
              <a:t>IPyC</a:t>
            </a:r>
            <a:r>
              <a:rPr lang="en-US" sz="2000" dirty="0"/>
              <a:t> coating</a:t>
            </a:r>
          </a:p>
          <a:p>
            <a:r>
              <a:rPr lang="en-US" sz="2000" dirty="0"/>
              <a:t>Corrosion of the </a:t>
            </a:r>
            <a:r>
              <a:rPr lang="en-US" sz="2000" dirty="0" err="1"/>
              <a:t>SiC</a:t>
            </a:r>
            <a:r>
              <a:rPr lang="en-US" sz="2000" dirty="0"/>
              <a:t> layer by CO can occur as a result from failure of the </a:t>
            </a:r>
            <a:r>
              <a:rPr lang="en-US" sz="2000" dirty="0" err="1"/>
              <a:t>IPyC</a:t>
            </a:r>
            <a:r>
              <a:rPr lang="en-US" sz="2000" dirty="0"/>
              <a:t> coating</a:t>
            </a:r>
          </a:p>
          <a:p>
            <a:endParaRPr lang="en-US" sz="2000" dirty="0"/>
          </a:p>
          <a:p>
            <a:endParaRPr lang="en-US" sz="2000" dirty="0"/>
          </a:p>
        </p:txBody>
      </p:sp>
    </p:spTree>
    <p:extLst>
      <p:ext uri="{BB962C8B-B14F-4D97-AF65-F5344CB8AC3E}">
        <p14:creationId xmlns:p14="http://schemas.microsoft.com/office/powerpoint/2010/main" val="13357049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03745-050A-DB4E-99B3-F0AC16933998}"/>
              </a:ext>
            </a:extLst>
          </p:cNvPr>
          <p:cNvSpPr>
            <a:spLocks noGrp="1"/>
          </p:cNvSpPr>
          <p:nvPr>
            <p:ph type="title"/>
          </p:nvPr>
        </p:nvSpPr>
        <p:spPr/>
        <p:txBody>
          <a:bodyPr/>
          <a:lstStyle/>
          <a:p>
            <a:r>
              <a:rPr lang="en-US" dirty="0"/>
              <a:t>Uranium </a:t>
            </a:r>
            <a:r>
              <a:rPr lang="en-US" dirty="0" err="1"/>
              <a:t>Oxycarbide</a:t>
            </a:r>
            <a:r>
              <a:rPr lang="en-US" dirty="0"/>
              <a:t> (UCO)</a:t>
            </a:r>
          </a:p>
        </p:txBody>
      </p:sp>
      <p:sp>
        <p:nvSpPr>
          <p:cNvPr id="3" name="Content Placeholder 2">
            <a:extLst>
              <a:ext uri="{FF2B5EF4-FFF2-40B4-BE49-F238E27FC236}">
                <a16:creationId xmlns:a16="http://schemas.microsoft.com/office/drawing/2014/main" id="{247E5378-E8FF-8147-8C65-2AB6A4EE0254}"/>
              </a:ext>
            </a:extLst>
          </p:cNvPr>
          <p:cNvSpPr>
            <a:spLocks noGrp="1"/>
          </p:cNvSpPr>
          <p:nvPr>
            <p:ph sz="half" idx="1"/>
          </p:nvPr>
        </p:nvSpPr>
        <p:spPr>
          <a:xfrm>
            <a:off x="609600" y="1968503"/>
            <a:ext cx="6606507" cy="4157663"/>
          </a:xfrm>
        </p:spPr>
        <p:txBody>
          <a:bodyPr/>
          <a:lstStyle/>
          <a:p>
            <a:r>
              <a:rPr lang="en-US" sz="2000" dirty="0"/>
              <a:t>European TRISO still largely focused on UO2 fuel kernels</a:t>
            </a:r>
          </a:p>
          <a:p>
            <a:r>
              <a:rPr lang="en-US" sz="2000" dirty="0"/>
              <a:t>Work in the US retained the carbide kernel design, because the HTGR designs of required high peak fuel temperatures, high burnup, and high power densities that would result in excessive kernel migration</a:t>
            </a:r>
          </a:p>
          <a:p>
            <a:r>
              <a:rPr lang="en-US" sz="2000" dirty="0"/>
              <a:t>With UC fuel, no worries about CO production</a:t>
            </a:r>
          </a:p>
          <a:p>
            <a:r>
              <a:rPr lang="en-US" sz="2000" dirty="0"/>
              <a:t>However, it was found that rare earth fission product elements migrating from carbide kernels during irradiation could chemically attack the </a:t>
            </a:r>
            <a:r>
              <a:rPr lang="en-US" sz="2000" dirty="0" err="1"/>
              <a:t>SiC</a:t>
            </a:r>
            <a:r>
              <a:rPr lang="en-US" sz="2000" dirty="0"/>
              <a:t> layer of TRISO particles and compromise the structural integrity</a:t>
            </a:r>
          </a:p>
          <a:p>
            <a:endParaRPr lang="en-US" sz="2000" dirty="0"/>
          </a:p>
        </p:txBody>
      </p:sp>
      <p:pic>
        <p:nvPicPr>
          <p:cNvPr id="5" name="Content Placeholder 4" descr="Micrograph showing fission product attack on the SiC layer">
            <a:extLst>
              <a:ext uri="{FF2B5EF4-FFF2-40B4-BE49-F238E27FC236}">
                <a16:creationId xmlns:a16="http://schemas.microsoft.com/office/drawing/2014/main" id="{F30A091E-82B5-3448-9EBE-6C625FB977B4}"/>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320160" y="2151530"/>
            <a:ext cx="4262240" cy="4071452"/>
          </a:xfrm>
          <a:prstGeom prst="rect">
            <a:avLst/>
          </a:prstGeom>
        </p:spPr>
      </p:pic>
      <p:sp>
        <p:nvSpPr>
          <p:cNvPr id="4" name="TextBox 3">
            <a:extLst>
              <a:ext uri="{FF2B5EF4-FFF2-40B4-BE49-F238E27FC236}">
                <a16:creationId xmlns:a16="http://schemas.microsoft.com/office/drawing/2014/main" id="{CA88BFC9-C75D-58CE-A9DD-990C5A6A761B}"/>
              </a:ext>
            </a:extLst>
          </p:cNvPr>
          <p:cNvSpPr txBox="1"/>
          <p:nvPr/>
        </p:nvSpPr>
        <p:spPr>
          <a:xfrm>
            <a:off x="8408275" y="6126166"/>
            <a:ext cx="1072055" cy="369332"/>
          </a:xfrm>
          <a:prstGeom prst="rect">
            <a:avLst/>
          </a:prstGeom>
          <a:noFill/>
        </p:spPr>
        <p:txBody>
          <a:bodyPr wrap="square" rtlCol="0">
            <a:spAutoFit/>
          </a:bodyPr>
          <a:lstStyle/>
          <a:p>
            <a:r>
              <a:rPr lang="en-US" dirty="0"/>
              <a:t>FP Attack</a:t>
            </a:r>
          </a:p>
        </p:txBody>
      </p:sp>
      <p:cxnSp>
        <p:nvCxnSpPr>
          <p:cNvPr id="7" name="Straight Arrow Connector 6">
            <a:extLst>
              <a:ext uri="{FF2B5EF4-FFF2-40B4-BE49-F238E27FC236}">
                <a16:creationId xmlns:a16="http://schemas.microsoft.com/office/drawing/2014/main" id="{23785569-9C8F-CDFF-44D0-20C3AC2E5DF4}"/>
              </a:ext>
              <a:ext uri="{C183D7F6-B498-43B3-948B-1728B52AA6E4}">
                <adec:decorative xmlns:adec="http://schemas.microsoft.com/office/drawing/2017/decorative" val="1"/>
              </a:ext>
            </a:extLst>
          </p:cNvPr>
          <p:cNvCxnSpPr/>
          <p:nvPr/>
        </p:nvCxnSpPr>
        <p:spPr>
          <a:xfrm flipV="1">
            <a:off x="8944303" y="5150069"/>
            <a:ext cx="640080" cy="97609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3612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88A32-35DD-B34D-A507-4BC545791886}"/>
              </a:ext>
            </a:extLst>
          </p:cNvPr>
          <p:cNvSpPr>
            <a:spLocks noGrp="1"/>
          </p:cNvSpPr>
          <p:nvPr>
            <p:ph type="title"/>
          </p:nvPr>
        </p:nvSpPr>
        <p:spPr/>
        <p:txBody>
          <a:bodyPr/>
          <a:lstStyle/>
          <a:p>
            <a:r>
              <a:rPr lang="en-US" dirty="0"/>
              <a:t>UCO</a:t>
            </a:r>
          </a:p>
        </p:txBody>
      </p:sp>
      <p:sp>
        <p:nvSpPr>
          <p:cNvPr id="3" name="Content Placeholder 2">
            <a:extLst>
              <a:ext uri="{FF2B5EF4-FFF2-40B4-BE49-F238E27FC236}">
                <a16:creationId xmlns:a16="http://schemas.microsoft.com/office/drawing/2014/main" id="{F3D8DD16-5570-A44A-94D5-F4DC1B043134}"/>
              </a:ext>
            </a:extLst>
          </p:cNvPr>
          <p:cNvSpPr>
            <a:spLocks noGrp="1"/>
          </p:cNvSpPr>
          <p:nvPr>
            <p:ph sz="half" idx="1"/>
          </p:nvPr>
        </p:nvSpPr>
        <p:spPr/>
        <p:txBody>
          <a:bodyPr/>
          <a:lstStyle/>
          <a:p>
            <a:r>
              <a:rPr lang="en-US" sz="2400" dirty="0"/>
              <a:t>We have two fuel kernel problems:</a:t>
            </a:r>
          </a:p>
          <a:p>
            <a:pPr lvl="1"/>
            <a:r>
              <a:rPr lang="en-US" sz="2400" dirty="0"/>
              <a:t>CO production (UO2)</a:t>
            </a:r>
          </a:p>
          <a:p>
            <a:pPr lvl="1"/>
            <a:r>
              <a:rPr lang="en-US" sz="2400" dirty="0"/>
              <a:t>fission product release (UC)</a:t>
            </a:r>
          </a:p>
          <a:p>
            <a:r>
              <a:rPr lang="en-US" sz="2400" dirty="0"/>
              <a:t>This led to the suggestion of a kernel comprised of a mixture of both oxide and carbide phases</a:t>
            </a:r>
          </a:p>
          <a:p>
            <a:r>
              <a:rPr lang="en-US" sz="2400" dirty="0"/>
              <a:t>Thus, a design was made to include sufficient UC2 to getter the excess oxygen produced by UO2 fission</a:t>
            </a:r>
          </a:p>
          <a:p>
            <a:endParaRPr lang="en-US" sz="2400" dirty="0"/>
          </a:p>
          <a:p>
            <a:endParaRPr lang="en-US" sz="2400" dirty="0"/>
          </a:p>
        </p:txBody>
      </p:sp>
      <p:sp>
        <p:nvSpPr>
          <p:cNvPr id="4" name="Content Placeholder 3">
            <a:extLst>
              <a:ext uri="{FF2B5EF4-FFF2-40B4-BE49-F238E27FC236}">
                <a16:creationId xmlns:a16="http://schemas.microsoft.com/office/drawing/2014/main" id="{1A83AD90-B67D-F541-8595-33ADEFADC7B2}"/>
              </a:ext>
            </a:extLst>
          </p:cNvPr>
          <p:cNvSpPr>
            <a:spLocks noGrp="1"/>
          </p:cNvSpPr>
          <p:nvPr>
            <p:ph sz="half" idx="2"/>
          </p:nvPr>
        </p:nvSpPr>
        <p:spPr/>
        <p:txBody>
          <a:bodyPr/>
          <a:lstStyle/>
          <a:p>
            <a:r>
              <a:rPr lang="en-US" sz="2400" dirty="0"/>
              <a:t>UCO avoids the formation of CO, while still taking advantage of the retention of the metal oxide fission products in the predominantly UO2 kernel</a:t>
            </a:r>
          </a:p>
          <a:p>
            <a:r>
              <a:rPr lang="en-US" sz="2400" dirty="0"/>
              <a:t>The success of UCO kernels by the US program led to the adoption of UCO fuel as the reference fissile particle design by the early 1980s, with a UO2/UC2 mixture of about 80/20</a:t>
            </a:r>
          </a:p>
          <a:p>
            <a:endParaRPr lang="en-US" sz="2400" dirty="0"/>
          </a:p>
          <a:p>
            <a:endParaRPr lang="en-US" sz="2400" dirty="0"/>
          </a:p>
        </p:txBody>
      </p:sp>
    </p:spTree>
    <p:extLst>
      <p:ext uri="{BB962C8B-B14F-4D97-AF65-F5344CB8AC3E}">
        <p14:creationId xmlns:p14="http://schemas.microsoft.com/office/powerpoint/2010/main" val="2383056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5E4F2-C3F5-77E8-7D4D-E5F32E381E00}"/>
              </a:ext>
            </a:extLst>
          </p:cNvPr>
          <p:cNvSpPr>
            <a:spLocks noGrp="1"/>
          </p:cNvSpPr>
          <p:nvPr>
            <p:ph type="title"/>
          </p:nvPr>
        </p:nvSpPr>
        <p:spPr/>
        <p:txBody>
          <a:bodyPr/>
          <a:lstStyle/>
          <a:p>
            <a:r>
              <a:rPr lang="en-US" dirty="0"/>
              <a:t>Interlude…</a:t>
            </a:r>
          </a:p>
        </p:txBody>
      </p:sp>
      <p:sp>
        <p:nvSpPr>
          <p:cNvPr id="3" name="Content Placeholder 2">
            <a:extLst>
              <a:ext uri="{FF2B5EF4-FFF2-40B4-BE49-F238E27FC236}">
                <a16:creationId xmlns:a16="http://schemas.microsoft.com/office/drawing/2014/main" id="{5706E243-EDE9-E118-CA9F-B557BD509F5C}"/>
              </a:ext>
            </a:extLst>
          </p:cNvPr>
          <p:cNvSpPr>
            <a:spLocks noGrp="1"/>
          </p:cNvSpPr>
          <p:nvPr>
            <p:ph sz="half" idx="1"/>
          </p:nvPr>
        </p:nvSpPr>
        <p:spPr>
          <a:xfrm>
            <a:off x="609599" y="1968503"/>
            <a:ext cx="10972799" cy="4157663"/>
          </a:xfrm>
        </p:spPr>
        <p:txBody>
          <a:bodyPr/>
          <a:lstStyle/>
          <a:p>
            <a:r>
              <a:rPr lang="en-US" dirty="0"/>
              <a:t>Oxygen potential</a:t>
            </a:r>
          </a:p>
          <a:p>
            <a:r>
              <a:rPr lang="en-US" dirty="0"/>
              <a:t>UO2 and UC kernels</a:t>
            </a:r>
          </a:p>
          <a:p>
            <a:r>
              <a:rPr lang="en-US" dirty="0"/>
              <a:t>CO production</a:t>
            </a:r>
          </a:p>
          <a:p>
            <a:r>
              <a:rPr lang="en-US" dirty="0"/>
              <a:t>Fission product release/attack</a:t>
            </a:r>
          </a:p>
          <a:p>
            <a:r>
              <a:rPr lang="en-US" dirty="0"/>
              <a:t>UCO kernels </a:t>
            </a:r>
          </a:p>
          <a:p>
            <a:endParaRPr lang="en-US" dirty="0"/>
          </a:p>
          <a:p>
            <a:r>
              <a:rPr lang="en-US" dirty="0"/>
              <a:t>Questions…?</a:t>
            </a:r>
          </a:p>
        </p:txBody>
      </p:sp>
      <p:sp>
        <p:nvSpPr>
          <p:cNvPr id="5" name="Slide Number Placeholder 4">
            <a:extLst>
              <a:ext uri="{FF2B5EF4-FFF2-40B4-BE49-F238E27FC236}">
                <a16:creationId xmlns:a16="http://schemas.microsoft.com/office/drawing/2014/main" id="{ECB5C96D-D0B1-8CA5-DB57-CE7FC115133E}"/>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030862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p:txBody>
          <a:bodyPr/>
          <a:lstStyle/>
          <a:p>
            <a:r>
              <a:rPr lang="en-US" sz="1800" dirty="0"/>
              <a:t>The rate of change of each nuclide is a function of three processes:</a:t>
            </a:r>
          </a:p>
          <a:p>
            <a:pPr lvl="1"/>
            <a:r>
              <a:rPr lang="en-US" sz="1800" dirty="0"/>
              <a:t>depletion of heavy nuclei by fission and corresponding production of lighter nuclei (fission products)</a:t>
            </a:r>
          </a:p>
          <a:p>
            <a:pPr lvl="1"/>
            <a:r>
              <a:rPr lang="en-US" sz="1800" dirty="0"/>
              <a:t>production by radioactive decay (actinides and fission products) and/or by neutron capture (actinides)</a:t>
            </a:r>
          </a:p>
          <a:p>
            <a:pPr lvl="1"/>
            <a:r>
              <a:rPr lang="en-US" sz="1800" dirty="0"/>
              <a:t>loss by radioactive decay (actinides and fission products) and/or by neutron capture (actinides)</a:t>
            </a:r>
          </a:p>
          <a:p>
            <a:r>
              <a:rPr lang="en-US" sz="1800" dirty="0"/>
              <a:t>Element inventory for a UO2 kernel @ 5.5% FIMA on the right</a:t>
            </a:r>
          </a:p>
          <a:p>
            <a:endParaRPr lang="en-US" sz="1800" dirty="0"/>
          </a:p>
        </p:txBody>
      </p:sp>
      <p:pic>
        <p:nvPicPr>
          <p:cNvPr id="7" name="Picture 6" descr="Table showing fission product inventory">
            <a:extLst>
              <a:ext uri="{FF2B5EF4-FFF2-40B4-BE49-F238E27FC236}">
                <a16:creationId xmlns:a16="http://schemas.microsoft.com/office/drawing/2014/main" id="{0748C378-CC6A-6A89-C341-295C796FED8C}"/>
              </a:ext>
            </a:extLst>
          </p:cNvPr>
          <p:cNvPicPr>
            <a:picLocks noChangeAspect="1"/>
          </p:cNvPicPr>
          <p:nvPr/>
        </p:nvPicPr>
        <p:blipFill>
          <a:blip r:embed="rId2"/>
          <a:stretch>
            <a:fillRect/>
          </a:stretch>
        </p:blipFill>
        <p:spPr>
          <a:xfrm>
            <a:off x="6054251" y="1851597"/>
            <a:ext cx="5959948" cy="3508679"/>
          </a:xfrm>
          <a:prstGeom prst="rect">
            <a:avLst/>
          </a:prstGeom>
        </p:spPr>
      </p:pic>
      <p:sp>
        <p:nvSpPr>
          <p:cNvPr id="9" name="TextBox 8">
            <a:extLst>
              <a:ext uri="{FF2B5EF4-FFF2-40B4-BE49-F238E27FC236}">
                <a16:creationId xmlns:a16="http://schemas.microsoft.com/office/drawing/2014/main" id="{0EB9BCCF-A97B-EBA6-DE3B-60147B78BB8F}"/>
              </a:ext>
            </a:extLst>
          </p:cNvPr>
          <p:cNvSpPr txBox="1"/>
          <p:nvPr/>
        </p:nvSpPr>
        <p:spPr>
          <a:xfrm>
            <a:off x="7680416" y="5206387"/>
            <a:ext cx="2697655" cy="307777"/>
          </a:xfrm>
          <a:prstGeom prst="rect">
            <a:avLst/>
          </a:prstGeom>
          <a:noFill/>
        </p:spPr>
        <p:txBody>
          <a:bodyPr wrap="square">
            <a:spAutoFit/>
          </a:bodyPr>
          <a:lstStyle/>
          <a:p>
            <a:pPr algn="ctr">
              <a:buNone/>
            </a:pPr>
            <a:r>
              <a:rPr lang="en-US" sz="1400" dirty="0">
                <a:effectLst/>
                <a:latin typeface="Helvetica" pitchFamily="2" charset="0"/>
              </a:rPr>
              <a:t>IAEA-TECDOC-1645</a:t>
            </a:r>
          </a:p>
        </p:txBody>
      </p:sp>
    </p:spTree>
    <p:extLst>
      <p:ext uri="{BB962C8B-B14F-4D97-AF65-F5344CB8AC3E}">
        <p14:creationId xmlns:p14="http://schemas.microsoft.com/office/powerpoint/2010/main" val="3050188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BA781-7ECE-6641-88BB-68160FD767F1}"/>
              </a:ext>
            </a:extLst>
          </p:cNvPr>
          <p:cNvSpPr>
            <a:spLocks noGrp="1"/>
          </p:cNvSpPr>
          <p:nvPr>
            <p:ph type="title"/>
          </p:nvPr>
        </p:nvSpPr>
        <p:spPr/>
        <p:txBody>
          <a:bodyPr/>
          <a:lstStyle/>
          <a:p>
            <a:r>
              <a:rPr lang="en-US" sz="3200" dirty="0"/>
              <a:t>There are various types of fission products that form</a:t>
            </a:r>
          </a:p>
        </p:txBody>
      </p:sp>
      <p:sp>
        <p:nvSpPr>
          <p:cNvPr id="4" name="Slide Number Placeholder 3">
            <a:extLst>
              <a:ext uri="{FF2B5EF4-FFF2-40B4-BE49-F238E27FC236}">
                <a16:creationId xmlns:a16="http://schemas.microsoft.com/office/drawing/2014/main" id="{FED3BFFA-532D-A248-A8F3-258A223465F8}"/>
              </a:ext>
            </a:extLst>
          </p:cNvPr>
          <p:cNvSpPr>
            <a:spLocks noGrp="1"/>
          </p:cNvSpPr>
          <p:nvPr>
            <p:ph type="sldNum" sz="quarter" idx="12"/>
          </p:nvPr>
        </p:nvSpPr>
        <p:spPr>
          <a:xfrm>
            <a:off x="8737600" y="6356351"/>
            <a:ext cx="2844800" cy="365125"/>
          </a:xfrm>
        </p:spPr>
        <p:txBody>
          <a:bodyPr/>
          <a:lstStyle/>
          <a:p>
            <a:pPr>
              <a:defRPr/>
            </a:pPr>
            <a:fld id="{3FF2C605-4958-CF43-AA48-80339EFDB0AF}" type="slidenum">
              <a:rPr lang="en-US" smtClean="0"/>
              <a:pPr>
                <a:defRPr/>
              </a:pPr>
              <a:t>20</a:t>
            </a:fld>
            <a:endParaRPr lang="en-US"/>
          </a:p>
        </p:txBody>
      </p:sp>
      <p:grpSp>
        <p:nvGrpSpPr>
          <p:cNvPr id="21" name="Group 20" descr="Different categories of fission products and where they reside in UO2">
            <a:extLst>
              <a:ext uri="{FF2B5EF4-FFF2-40B4-BE49-F238E27FC236}">
                <a16:creationId xmlns:a16="http://schemas.microsoft.com/office/drawing/2014/main" id="{2BB16C56-AB5E-3345-B5D1-C17ED6ED40EF}"/>
              </a:ext>
            </a:extLst>
          </p:cNvPr>
          <p:cNvGrpSpPr/>
          <p:nvPr/>
        </p:nvGrpSpPr>
        <p:grpSpPr>
          <a:xfrm>
            <a:off x="2307822" y="2151063"/>
            <a:ext cx="7576356" cy="4387850"/>
            <a:chOff x="1782797" y="1146678"/>
            <a:chExt cx="8720221" cy="5209673"/>
          </a:xfrm>
        </p:grpSpPr>
        <p:pic>
          <p:nvPicPr>
            <p:cNvPr id="5" name="Picture 4">
              <a:extLst>
                <a:ext uri="{FF2B5EF4-FFF2-40B4-BE49-F238E27FC236}">
                  <a16:creationId xmlns:a16="http://schemas.microsoft.com/office/drawing/2014/main" id="{D6CA30CB-24D3-9D42-9B49-6FF3DE94B7A6}"/>
                </a:ext>
              </a:extLst>
            </p:cNvPr>
            <p:cNvPicPr>
              <a:picLocks noChangeAspect="1"/>
            </p:cNvPicPr>
            <p:nvPr/>
          </p:nvPicPr>
          <p:blipFill>
            <a:blip r:embed="rId2"/>
            <a:stretch>
              <a:fillRect/>
            </a:stretch>
          </p:blipFill>
          <p:spPr>
            <a:xfrm>
              <a:off x="1782797" y="2202246"/>
              <a:ext cx="3550899" cy="3017788"/>
            </a:xfrm>
            <a:prstGeom prst="rect">
              <a:avLst/>
            </a:prstGeom>
          </p:spPr>
        </p:pic>
        <p:grpSp>
          <p:nvGrpSpPr>
            <p:cNvPr id="6" name="Group 5">
              <a:extLst>
                <a:ext uri="{FF2B5EF4-FFF2-40B4-BE49-F238E27FC236}">
                  <a16:creationId xmlns:a16="http://schemas.microsoft.com/office/drawing/2014/main" id="{80E71837-A94D-674A-B3E4-EBEE788289C3}"/>
                </a:ext>
              </a:extLst>
            </p:cNvPr>
            <p:cNvGrpSpPr/>
            <p:nvPr/>
          </p:nvGrpSpPr>
          <p:grpSpPr>
            <a:xfrm>
              <a:off x="3344229" y="4631825"/>
              <a:ext cx="7158789" cy="1724526"/>
              <a:chOff x="1838158" y="5013158"/>
              <a:chExt cx="7158789" cy="1724526"/>
            </a:xfrm>
          </p:grpSpPr>
          <p:sp>
            <p:nvSpPr>
              <p:cNvPr id="7" name="Rounded Rectangle 6">
                <a:extLst>
                  <a:ext uri="{FF2B5EF4-FFF2-40B4-BE49-F238E27FC236}">
                    <a16:creationId xmlns:a16="http://schemas.microsoft.com/office/drawing/2014/main" id="{279510D7-9F25-DE47-BCC2-A743D4394290}"/>
                  </a:ext>
                </a:extLst>
              </p:cNvPr>
              <p:cNvSpPr/>
              <p:nvPr/>
            </p:nvSpPr>
            <p:spPr>
              <a:xfrm>
                <a:off x="3903579" y="5434263"/>
                <a:ext cx="5093368" cy="1303421"/>
              </a:xfrm>
              <a:prstGeom prst="roundRect">
                <a:avLst>
                  <a:gd name="adj" fmla="val 10000"/>
                </a:avLst>
              </a:prstGeom>
            </p:spPr>
            <p:style>
              <a:lnRef idx="1">
                <a:schemeClr val="accent2"/>
              </a:lnRef>
              <a:fillRef idx="2">
                <a:schemeClr val="accent2"/>
              </a:fillRef>
              <a:effectRef idx="1">
                <a:schemeClr val="accent2"/>
              </a:effectRef>
              <a:fontRef idx="minor">
                <a:schemeClr val="dk1"/>
              </a:fontRef>
            </p:style>
            <p:txBody>
              <a:bodyPr rtlCol="0" anchor="t"/>
              <a:lstStyle/>
              <a:p>
                <a:r>
                  <a:rPr lang="en-US" sz="1400" b="1" dirty="0"/>
                  <a:t>Noble gases (</a:t>
                </a:r>
                <a:r>
                  <a:rPr lang="en-US" sz="1400" b="1" dirty="0" err="1"/>
                  <a:t>Xe</a:t>
                </a:r>
                <a:r>
                  <a:rPr lang="en-US" sz="1400" b="1" dirty="0"/>
                  <a:t>, Kr)</a:t>
                </a:r>
              </a:p>
              <a:p>
                <a:pPr marL="173038" indent="-173038">
                  <a:buFont typeface="Arial"/>
                  <a:buChar char="•"/>
                </a:pPr>
                <a:r>
                  <a:rPr lang="en-US" sz="1400" dirty="0"/>
                  <a:t>Essentially insoluble in the fuel matrix </a:t>
                </a:r>
              </a:p>
              <a:p>
                <a:pPr marL="173038" indent="-173038">
                  <a:buFont typeface="Arial"/>
                  <a:buChar char="•"/>
                </a:pPr>
                <a:r>
                  <a:rPr lang="en-US" sz="1400" dirty="0"/>
                  <a:t>Form either </a:t>
                </a:r>
                <a:r>
                  <a:rPr lang="en-US" sz="1400" dirty="0" err="1"/>
                  <a:t>intragranular</a:t>
                </a:r>
                <a:r>
                  <a:rPr lang="en-US" sz="1400" dirty="0"/>
                  <a:t> (within grain) voids or bubbles or </a:t>
                </a:r>
                <a:r>
                  <a:rPr lang="en-US" sz="1400" dirty="0" err="1"/>
                  <a:t>intergranular</a:t>
                </a:r>
                <a:r>
                  <a:rPr lang="en-US" sz="1400" dirty="0"/>
                  <a:t> (grain boundary) bubbles </a:t>
                </a:r>
              </a:p>
              <a:p>
                <a:pPr marL="173038" indent="-173038">
                  <a:buFont typeface="Arial"/>
                  <a:buChar char="•"/>
                </a:pPr>
                <a:endParaRPr lang="en-US" sz="1400" dirty="0"/>
              </a:p>
            </p:txBody>
          </p:sp>
          <p:cxnSp>
            <p:nvCxnSpPr>
              <p:cNvPr id="8" name="Straight Arrow Connector 7">
                <a:extLst>
                  <a:ext uri="{FF2B5EF4-FFF2-40B4-BE49-F238E27FC236}">
                    <a16:creationId xmlns:a16="http://schemas.microsoft.com/office/drawing/2014/main" id="{ACEE9338-FC9E-844D-B777-ACB4548A3797}"/>
                  </a:ext>
                </a:extLst>
              </p:cNvPr>
              <p:cNvCxnSpPr>
                <a:stCxn id="7" idx="1"/>
              </p:cNvCxnSpPr>
              <p:nvPr/>
            </p:nvCxnSpPr>
            <p:spPr>
              <a:xfrm flipH="1" flipV="1">
                <a:off x="1838158" y="5013158"/>
                <a:ext cx="2065421" cy="1072816"/>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grpSp>
        <p:grpSp>
          <p:nvGrpSpPr>
            <p:cNvPr id="9" name="Group 8">
              <a:extLst>
                <a:ext uri="{FF2B5EF4-FFF2-40B4-BE49-F238E27FC236}">
                  <a16:creationId xmlns:a16="http://schemas.microsoft.com/office/drawing/2014/main" id="{F524C206-EA46-0741-9CB4-505637424DA3}"/>
                </a:ext>
              </a:extLst>
            </p:cNvPr>
            <p:cNvGrpSpPr/>
            <p:nvPr/>
          </p:nvGrpSpPr>
          <p:grpSpPr>
            <a:xfrm>
              <a:off x="3344229" y="3667961"/>
              <a:ext cx="7158789" cy="1303421"/>
              <a:chOff x="1838158" y="4049294"/>
              <a:chExt cx="7158789" cy="1303421"/>
            </a:xfrm>
          </p:grpSpPr>
          <p:sp>
            <p:nvSpPr>
              <p:cNvPr id="10" name="Rounded Rectangle 9">
                <a:extLst>
                  <a:ext uri="{FF2B5EF4-FFF2-40B4-BE49-F238E27FC236}">
                    <a16:creationId xmlns:a16="http://schemas.microsoft.com/office/drawing/2014/main" id="{00776D69-9FD5-1547-B265-F1E13ED02C3E}"/>
                  </a:ext>
                </a:extLst>
              </p:cNvPr>
              <p:cNvSpPr/>
              <p:nvPr/>
            </p:nvSpPr>
            <p:spPr>
              <a:xfrm>
                <a:off x="3903579" y="4049294"/>
                <a:ext cx="5093368" cy="1303421"/>
              </a:xfrm>
              <a:prstGeom prst="roundRect">
                <a:avLst>
                  <a:gd name="adj" fmla="val 10000"/>
                </a:avLst>
              </a:prstGeom>
            </p:spPr>
            <p:style>
              <a:lnRef idx="1">
                <a:schemeClr val="accent2"/>
              </a:lnRef>
              <a:fillRef idx="2">
                <a:schemeClr val="accent2"/>
              </a:fillRef>
              <a:effectRef idx="1">
                <a:schemeClr val="accent2"/>
              </a:effectRef>
              <a:fontRef idx="minor">
                <a:schemeClr val="dk1"/>
              </a:fontRef>
            </p:style>
            <p:txBody>
              <a:bodyPr rtlCol="0" anchor="t"/>
              <a:lstStyle/>
              <a:p>
                <a:r>
                  <a:rPr lang="en-US" sz="1400" b="1" dirty="0"/>
                  <a:t>Volatiles (Br, </a:t>
                </a:r>
                <a:r>
                  <a:rPr lang="en-US" sz="1400" b="1" dirty="0" err="1"/>
                  <a:t>Rb</a:t>
                </a:r>
                <a:r>
                  <a:rPr lang="en-US" sz="1400" b="1" dirty="0"/>
                  <a:t>, </a:t>
                </a:r>
                <a:r>
                  <a:rPr lang="en-US" sz="1400" b="1" dirty="0" err="1"/>
                  <a:t>Te</a:t>
                </a:r>
                <a:r>
                  <a:rPr lang="en-US" sz="1400" b="1" dirty="0"/>
                  <a:t>, I and Cs) </a:t>
                </a:r>
              </a:p>
              <a:p>
                <a:pPr marL="173038" indent="-173038">
                  <a:buFont typeface="Arial"/>
                  <a:buChar char="•"/>
                </a:pPr>
                <a:r>
                  <a:rPr lang="en-US" sz="1400" dirty="0"/>
                  <a:t>Exist as gases at high temperatures of the pellet interior </a:t>
                </a:r>
              </a:p>
              <a:p>
                <a:pPr marL="173038" indent="-173038">
                  <a:buFont typeface="Arial"/>
                  <a:buChar char="•"/>
                </a:pPr>
                <a:r>
                  <a:rPr lang="en-US" sz="1400" dirty="0"/>
                  <a:t>Also exist as solids at the cooler pellet exterior</a:t>
                </a:r>
              </a:p>
            </p:txBody>
          </p:sp>
          <p:cxnSp>
            <p:nvCxnSpPr>
              <p:cNvPr id="11" name="Straight Arrow Connector 10">
                <a:extLst>
                  <a:ext uri="{FF2B5EF4-FFF2-40B4-BE49-F238E27FC236}">
                    <a16:creationId xmlns:a16="http://schemas.microsoft.com/office/drawing/2014/main" id="{C0BB876E-2031-AE4C-8420-2C7E0A495BC0}"/>
                  </a:ext>
                </a:extLst>
              </p:cNvPr>
              <p:cNvCxnSpPr>
                <a:stCxn id="10" idx="1"/>
              </p:cNvCxnSpPr>
              <p:nvPr/>
            </p:nvCxnSpPr>
            <p:spPr>
              <a:xfrm flipH="1">
                <a:off x="1838158" y="4701005"/>
                <a:ext cx="2065421" cy="312153"/>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grpSp>
        <p:grpSp>
          <p:nvGrpSpPr>
            <p:cNvPr id="12" name="Group 11">
              <a:extLst>
                <a:ext uri="{FF2B5EF4-FFF2-40B4-BE49-F238E27FC236}">
                  <a16:creationId xmlns:a16="http://schemas.microsoft.com/office/drawing/2014/main" id="{C5BDDD7F-BCCE-FD46-9E84-0A204250B574}"/>
                </a:ext>
              </a:extLst>
            </p:cNvPr>
            <p:cNvGrpSpPr/>
            <p:nvPr/>
          </p:nvGrpSpPr>
          <p:grpSpPr>
            <a:xfrm>
              <a:off x="3885650" y="2827088"/>
              <a:ext cx="6617368" cy="755316"/>
              <a:chOff x="2379579" y="3208421"/>
              <a:chExt cx="6617368" cy="755316"/>
            </a:xfrm>
          </p:grpSpPr>
          <p:sp>
            <p:nvSpPr>
              <p:cNvPr id="13" name="Rounded Rectangle 12">
                <a:extLst>
                  <a:ext uri="{FF2B5EF4-FFF2-40B4-BE49-F238E27FC236}">
                    <a16:creationId xmlns:a16="http://schemas.microsoft.com/office/drawing/2014/main" id="{353FD2B6-2B0A-1246-9EC9-3EB0EDFD65A4}"/>
                  </a:ext>
                </a:extLst>
              </p:cNvPr>
              <p:cNvSpPr/>
              <p:nvPr/>
            </p:nvSpPr>
            <p:spPr>
              <a:xfrm>
                <a:off x="3903579" y="3208421"/>
                <a:ext cx="5093368" cy="755316"/>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r>
                  <a:rPr lang="en-US" sz="1400" b="1" dirty="0"/>
                  <a:t>Metals (Mo, </a:t>
                </a:r>
                <a:r>
                  <a:rPr lang="en-US" sz="1400" b="1" dirty="0" err="1"/>
                  <a:t>Ru</a:t>
                </a:r>
                <a:r>
                  <a:rPr lang="en-US" sz="1400" b="1" dirty="0"/>
                  <a:t>, </a:t>
                </a:r>
                <a:r>
                  <a:rPr lang="en-US" sz="1400" b="1" dirty="0" err="1"/>
                  <a:t>Pd</a:t>
                </a:r>
                <a:r>
                  <a:rPr lang="en-US" sz="1400" b="1" dirty="0"/>
                  <a:t>, and </a:t>
                </a:r>
                <a:r>
                  <a:rPr lang="en-US" sz="1400" b="1" dirty="0" err="1"/>
                  <a:t>Tc</a:t>
                </a:r>
                <a:r>
                  <a:rPr lang="en-US" sz="1400" b="1" dirty="0"/>
                  <a:t>) </a:t>
                </a:r>
              </a:p>
              <a:p>
                <a:pPr marL="173038" indent="-173038">
                  <a:buFont typeface="Arial"/>
                  <a:buChar char="•"/>
                </a:pPr>
                <a:r>
                  <a:rPr lang="en-US" sz="1400" dirty="0"/>
                  <a:t>Form metallic precipitates</a:t>
                </a:r>
              </a:p>
            </p:txBody>
          </p:sp>
          <p:cxnSp>
            <p:nvCxnSpPr>
              <p:cNvPr id="14" name="Straight Arrow Connector 13">
                <a:extLst>
                  <a:ext uri="{FF2B5EF4-FFF2-40B4-BE49-F238E27FC236}">
                    <a16:creationId xmlns:a16="http://schemas.microsoft.com/office/drawing/2014/main" id="{A9EE72CD-82B6-284E-909E-18E4D3BB98EF}"/>
                  </a:ext>
                </a:extLst>
              </p:cNvPr>
              <p:cNvCxnSpPr>
                <a:stCxn id="13" idx="1"/>
              </p:cNvCxnSpPr>
              <p:nvPr/>
            </p:nvCxnSpPr>
            <p:spPr>
              <a:xfrm flipH="1" flipV="1">
                <a:off x="2379579" y="3208421"/>
                <a:ext cx="1524000" cy="377658"/>
              </a:xfrm>
              <a:prstGeom prst="straightConnector1">
                <a:avLst/>
              </a:prstGeom>
              <a:ln>
                <a:solidFill>
                  <a:schemeClr val="tx2"/>
                </a:solidFill>
                <a:tailEnd type="arrow"/>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6566A03F-3F0F-9C4C-824F-17969C31C307}"/>
                </a:ext>
              </a:extLst>
            </p:cNvPr>
            <p:cNvGrpSpPr/>
            <p:nvPr/>
          </p:nvGrpSpPr>
          <p:grpSpPr>
            <a:xfrm>
              <a:off x="4340176" y="1996909"/>
              <a:ext cx="6162842" cy="755316"/>
              <a:chOff x="2834105" y="2378242"/>
              <a:chExt cx="6162842" cy="755316"/>
            </a:xfrm>
          </p:grpSpPr>
          <p:sp>
            <p:nvSpPr>
              <p:cNvPr id="16" name="Rounded Rectangle 15">
                <a:extLst>
                  <a:ext uri="{FF2B5EF4-FFF2-40B4-BE49-F238E27FC236}">
                    <a16:creationId xmlns:a16="http://schemas.microsoft.com/office/drawing/2014/main" id="{CB9CC1C6-BE85-CD49-A288-086BFB5FE403}"/>
                  </a:ext>
                </a:extLst>
              </p:cNvPr>
              <p:cNvSpPr/>
              <p:nvPr/>
            </p:nvSpPr>
            <p:spPr>
              <a:xfrm>
                <a:off x="3903579" y="2378242"/>
                <a:ext cx="5093368" cy="755316"/>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r>
                  <a:rPr lang="en-US" sz="1400" b="1" dirty="0"/>
                  <a:t>Insoluble oxides (</a:t>
                </a:r>
                <a:r>
                  <a:rPr lang="en-US" sz="1400" b="1" dirty="0" err="1"/>
                  <a:t>Zr</a:t>
                </a:r>
                <a:r>
                  <a:rPr lang="en-US" sz="1400" b="1" dirty="0"/>
                  <a:t>, Ba and </a:t>
                </a:r>
                <a:r>
                  <a:rPr lang="en-US" sz="1400" b="1" dirty="0" err="1"/>
                  <a:t>Sr</a:t>
                </a:r>
                <a:r>
                  <a:rPr lang="en-US" sz="1400" b="1" dirty="0"/>
                  <a:t>) </a:t>
                </a:r>
              </a:p>
              <a:p>
                <a:pPr marL="173038" indent="-173038">
                  <a:buFont typeface="Arial"/>
                  <a:buChar char="•"/>
                </a:pPr>
                <a:r>
                  <a:rPr lang="en-US" sz="1400" dirty="0"/>
                  <a:t>Form insoluble oxides in the fluorite lattice</a:t>
                </a:r>
              </a:p>
            </p:txBody>
          </p:sp>
          <p:cxnSp>
            <p:nvCxnSpPr>
              <p:cNvPr id="17" name="Straight Arrow Connector 16">
                <a:extLst>
                  <a:ext uri="{FF2B5EF4-FFF2-40B4-BE49-F238E27FC236}">
                    <a16:creationId xmlns:a16="http://schemas.microsoft.com/office/drawing/2014/main" id="{8DA1B70E-5C6D-DE45-A2B5-BE638A5A33D6}"/>
                  </a:ext>
                </a:extLst>
              </p:cNvPr>
              <p:cNvCxnSpPr>
                <a:stCxn id="16" idx="1"/>
              </p:cNvCxnSpPr>
              <p:nvPr/>
            </p:nvCxnSpPr>
            <p:spPr>
              <a:xfrm flipH="1">
                <a:off x="2834105" y="2755900"/>
                <a:ext cx="1069474" cy="104942"/>
              </a:xfrm>
              <a:prstGeom prst="straightConnector1">
                <a:avLst/>
              </a:prstGeom>
              <a:ln>
                <a:solidFill>
                  <a:schemeClr val="tx2"/>
                </a:solidFill>
                <a:tailEnd type="arrow"/>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127D186B-09FE-5445-812E-A8F63FB322B3}"/>
                </a:ext>
              </a:extLst>
            </p:cNvPr>
            <p:cNvGrpSpPr/>
            <p:nvPr/>
          </p:nvGrpSpPr>
          <p:grpSpPr>
            <a:xfrm>
              <a:off x="3411071" y="1146678"/>
              <a:ext cx="7091947" cy="1332831"/>
              <a:chOff x="1905000" y="1528011"/>
              <a:chExt cx="7091947" cy="1332831"/>
            </a:xfrm>
          </p:grpSpPr>
          <p:sp>
            <p:nvSpPr>
              <p:cNvPr id="19" name="Rounded Rectangle 18">
                <a:extLst>
                  <a:ext uri="{FF2B5EF4-FFF2-40B4-BE49-F238E27FC236}">
                    <a16:creationId xmlns:a16="http://schemas.microsoft.com/office/drawing/2014/main" id="{DF5E3AD6-3FB0-8546-833C-D67488532FF1}"/>
                  </a:ext>
                </a:extLst>
              </p:cNvPr>
              <p:cNvSpPr/>
              <p:nvPr/>
            </p:nvSpPr>
            <p:spPr>
              <a:xfrm>
                <a:off x="3903579" y="1528011"/>
                <a:ext cx="5093368" cy="755316"/>
              </a:xfrm>
              <a:prstGeom prst="roundRect">
                <a:avLst/>
              </a:prstGeom>
            </p:spPr>
            <p:style>
              <a:lnRef idx="1">
                <a:schemeClr val="dk1"/>
              </a:lnRef>
              <a:fillRef idx="2">
                <a:schemeClr val="dk1"/>
              </a:fillRef>
              <a:effectRef idx="1">
                <a:schemeClr val="dk1"/>
              </a:effectRef>
              <a:fontRef idx="minor">
                <a:schemeClr val="dk1"/>
              </a:fontRef>
            </p:style>
            <p:txBody>
              <a:bodyPr rtlCol="0" anchor="t"/>
              <a:lstStyle/>
              <a:p>
                <a:r>
                  <a:rPr lang="en-US" sz="1400" b="1" dirty="0"/>
                  <a:t>Soluble oxides (Y, La and the rare earths) </a:t>
                </a:r>
              </a:p>
              <a:p>
                <a:pPr marL="173038" indent="-173038">
                  <a:buFont typeface="Arial"/>
                  <a:buChar char="•"/>
                </a:pPr>
                <a:r>
                  <a:rPr lang="en-US" sz="1400" dirty="0"/>
                  <a:t>Dissolved in the </a:t>
                </a:r>
                <a:r>
                  <a:rPr lang="en-US" sz="1400" dirty="0" err="1"/>
                  <a:t>cation</a:t>
                </a:r>
                <a:r>
                  <a:rPr lang="en-US" sz="1400" dirty="0"/>
                  <a:t> </a:t>
                </a:r>
                <a:r>
                  <a:rPr lang="en-US" sz="1400" dirty="0" err="1"/>
                  <a:t>sublattice</a:t>
                </a:r>
                <a:endParaRPr lang="en-US" sz="1400" dirty="0"/>
              </a:p>
            </p:txBody>
          </p:sp>
          <p:cxnSp>
            <p:nvCxnSpPr>
              <p:cNvPr id="20" name="Straight Arrow Connector 19">
                <a:extLst>
                  <a:ext uri="{FF2B5EF4-FFF2-40B4-BE49-F238E27FC236}">
                    <a16:creationId xmlns:a16="http://schemas.microsoft.com/office/drawing/2014/main" id="{8176EAFF-45AE-3447-82D4-2D53B9799433}"/>
                  </a:ext>
                </a:extLst>
              </p:cNvPr>
              <p:cNvCxnSpPr>
                <a:stCxn id="19" idx="1"/>
              </p:cNvCxnSpPr>
              <p:nvPr/>
            </p:nvCxnSpPr>
            <p:spPr>
              <a:xfrm flipH="1">
                <a:off x="1905000" y="1905669"/>
                <a:ext cx="1998579" cy="95517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grpSp>
      </p:grpSp>
    </p:spTree>
    <p:extLst>
      <p:ext uri="{BB962C8B-B14F-4D97-AF65-F5344CB8AC3E}">
        <p14:creationId xmlns:p14="http://schemas.microsoft.com/office/powerpoint/2010/main" val="280197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a:xfrm>
            <a:off x="609599" y="1968503"/>
            <a:ext cx="6253655" cy="4157663"/>
          </a:xfrm>
        </p:spPr>
        <p:txBody>
          <a:bodyPr/>
          <a:lstStyle/>
          <a:p>
            <a:r>
              <a:rPr lang="en-US" sz="1800" dirty="0"/>
              <a:t>Fission products in UO2 are primarily located as substitutional atoms, commonly paired with additional vacancies</a:t>
            </a:r>
          </a:p>
          <a:p>
            <a:r>
              <a:rPr lang="en-US" sz="1800" dirty="0"/>
              <a:t>A large number of fission products are highly insoluble in UO2, including Xe, I, and Br</a:t>
            </a:r>
          </a:p>
          <a:p>
            <a:r>
              <a:rPr lang="en-US" sz="1800" dirty="0"/>
              <a:t>Some solubility exists for transition metals such as Zr and alkaline metals such as Sr, and high solubility exists for some rare earth elements, such as Ce</a:t>
            </a:r>
          </a:p>
          <a:p>
            <a:r>
              <a:rPr lang="en-US" sz="1800" dirty="0"/>
              <a:t>Fission products in the fuel lattice can diffuse out of the UO2 to grain boundaries</a:t>
            </a:r>
          </a:p>
          <a:p>
            <a:r>
              <a:rPr lang="en-US" sz="1800" dirty="0"/>
              <a:t>The diffusion mechanism depends on the nature of the fission product trap sites and on the fission product intrinsic characteristics</a:t>
            </a:r>
          </a:p>
          <a:p>
            <a:r>
              <a:rPr lang="en-US" sz="1800" dirty="0"/>
              <a:t>Irradiation effects can greatly enhance or reduce this diffusion by trapping mechanisms on extended defects</a:t>
            </a:r>
          </a:p>
          <a:p>
            <a:endParaRPr lang="en-US" sz="1800" dirty="0"/>
          </a:p>
        </p:txBody>
      </p:sp>
      <p:pic>
        <p:nvPicPr>
          <p:cNvPr id="7" name="Content Placeholder 6" descr="Supercell showing fission product defect in UO2">
            <a:extLst>
              <a:ext uri="{FF2B5EF4-FFF2-40B4-BE49-F238E27FC236}">
                <a16:creationId xmlns:a16="http://schemas.microsoft.com/office/drawing/2014/main" id="{29B8F966-1E7F-D546-B2B4-113CB6FDC5A4}"/>
              </a:ext>
            </a:extLst>
          </p:cNvPr>
          <p:cNvPicPr>
            <a:picLocks noGrp="1" noChangeAspect="1"/>
          </p:cNvPicPr>
          <p:nvPr>
            <p:ph sz="half" idx="2"/>
          </p:nvPr>
        </p:nvPicPr>
        <p:blipFill>
          <a:blip r:embed="rId2"/>
          <a:stretch>
            <a:fillRect/>
          </a:stretch>
        </p:blipFill>
        <p:spPr>
          <a:xfrm>
            <a:off x="7530352" y="2334260"/>
            <a:ext cx="3086474" cy="3058668"/>
          </a:xfrm>
          <a:prstGeom prst="rect">
            <a:avLst/>
          </a:prstGeom>
        </p:spPr>
      </p:pic>
    </p:spTree>
    <p:extLst>
      <p:ext uri="{BB962C8B-B14F-4D97-AF65-F5344CB8AC3E}">
        <p14:creationId xmlns:p14="http://schemas.microsoft.com/office/powerpoint/2010/main" val="1941162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a:xfrm>
            <a:off x="609600" y="1968503"/>
            <a:ext cx="5963322" cy="4157663"/>
          </a:xfrm>
        </p:spPr>
        <p:txBody>
          <a:bodyPr/>
          <a:lstStyle/>
          <a:p>
            <a:r>
              <a:rPr lang="en-US" sz="1800" dirty="0"/>
              <a:t>The fission gases precipitate primarily as intragranular bubbles which can grow by gas-atom and vacancy absorption</a:t>
            </a:r>
          </a:p>
          <a:p>
            <a:r>
              <a:rPr lang="en-US" sz="1800" dirty="0"/>
              <a:t>Fission gases can migrate to grain boundaries by atomic or bubble diffusion to form intergranular bubbles where they can grow by addition of gas and vacancies</a:t>
            </a:r>
          </a:p>
          <a:p>
            <a:r>
              <a:rPr lang="en-US" sz="1800" dirty="0"/>
              <a:t>Fission-rate helps to strongly limit bubble size and maintain a substantial fission-gas atom population in the fuel lattice by re-solution of gas from bubbles</a:t>
            </a:r>
          </a:p>
          <a:p>
            <a:r>
              <a:rPr lang="en-US" sz="1800" dirty="0"/>
              <a:t>Once intergranular-bubble growth becomes significant causing interconnection of porosity, a path from within the kernel to the buffer is created leading to fission-gas release by a percolation mechanism – 3 stage gas release</a:t>
            </a:r>
          </a:p>
          <a:p>
            <a:endParaRPr lang="en-US" sz="1800" dirty="0"/>
          </a:p>
          <a:p>
            <a:endParaRPr lang="en-US" sz="1800" dirty="0"/>
          </a:p>
          <a:p>
            <a:endParaRPr lang="en-US" sz="1800" dirty="0"/>
          </a:p>
        </p:txBody>
      </p:sp>
      <p:pic>
        <p:nvPicPr>
          <p:cNvPr id="7" name="Content Placeholder 6" descr="initial stage of bubble nucleation">
            <a:extLst>
              <a:ext uri="{FF2B5EF4-FFF2-40B4-BE49-F238E27FC236}">
                <a16:creationId xmlns:a16="http://schemas.microsoft.com/office/drawing/2014/main" id="{6A33344C-3C9D-3149-9E73-AB1FF8157CE3}"/>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191902" y="1593704"/>
            <a:ext cx="3186593" cy="2273238"/>
          </a:xfrm>
          <a:prstGeom prst="rect">
            <a:avLst/>
          </a:prstGeom>
        </p:spPr>
      </p:pic>
      <p:pic>
        <p:nvPicPr>
          <p:cNvPr id="8" name="Picture 7" descr="bubbles growing along the grain boundaries">
            <a:extLst>
              <a:ext uri="{FF2B5EF4-FFF2-40B4-BE49-F238E27FC236}">
                <a16:creationId xmlns:a16="http://schemas.microsoft.com/office/drawing/2014/main" id="{9B4038FD-339D-C543-9578-C36D11F8DC9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098162" y="4047334"/>
            <a:ext cx="3374072" cy="2619487"/>
          </a:xfrm>
          <a:prstGeom prst="rect">
            <a:avLst/>
          </a:prstGeom>
        </p:spPr>
      </p:pic>
    </p:spTree>
    <p:extLst>
      <p:ext uri="{BB962C8B-B14F-4D97-AF65-F5344CB8AC3E}">
        <p14:creationId xmlns:p14="http://schemas.microsoft.com/office/powerpoint/2010/main" val="36040778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Bubble Resolution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p:txBody>
          <a:bodyPr/>
          <a:lstStyle/>
          <a:p>
            <a:r>
              <a:rPr lang="en-US" sz="3200" dirty="0"/>
              <a:t>Homogeneous resolution</a:t>
            </a:r>
          </a:p>
          <a:p>
            <a:pPr lvl="1"/>
            <a:r>
              <a:rPr lang="en-US" sz="2400" dirty="0"/>
              <a:t>individual gas atoms are ejected from the gas bubble through collisions with energetic fission fragments or recoil uranium atoms</a:t>
            </a:r>
          </a:p>
          <a:p>
            <a:r>
              <a:rPr lang="en-US" sz="3200" dirty="0"/>
              <a:t>Heterogeneous resolution</a:t>
            </a:r>
          </a:p>
          <a:p>
            <a:pPr lvl="1"/>
            <a:r>
              <a:rPr lang="en-US" sz="2400" dirty="0"/>
              <a:t>bubble are almost completely destroyed by the passage of a fission fragment</a:t>
            </a:r>
          </a:p>
        </p:txBody>
      </p:sp>
      <p:pic>
        <p:nvPicPr>
          <p:cNvPr id="5" name="Content Placeholder 4" descr="schematic of homogeneous resolution">
            <a:extLst>
              <a:ext uri="{FF2B5EF4-FFF2-40B4-BE49-F238E27FC236}">
                <a16:creationId xmlns:a16="http://schemas.microsoft.com/office/drawing/2014/main" id="{DFC50B05-43A9-C544-81ED-9CDF15DFA52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532220" y="1968500"/>
            <a:ext cx="2512359" cy="2482685"/>
          </a:xfrm>
          <a:prstGeom prst="rect">
            <a:avLst/>
          </a:prstGeom>
        </p:spPr>
      </p:pic>
      <p:pic>
        <p:nvPicPr>
          <p:cNvPr id="6" name="Picture 5" descr="schematic of heterogeneous resolution">
            <a:extLst>
              <a:ext uri="{FF2B5EF4-FFF2-40B4-BE49-F238E27FC236}">
                <a16:creationId xmlns:a16="http://schemas.microsoft.com/office/drawing/2014/main" id="{C1EDDD2E-4917-A04E-AE30-AE37AB6F1DB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326841" y="4569015"/>
            <a:ext cx="5255559" cy="1694603"/>
          </a:xfrm>
          <a:prstGeom prst="rect">
            <a:avLst/>
          </a:prstGeom>
        </p:spPr>
      </p:pic>
    </p:spTree>
    <p:extLst>
      <p:ext uri="{BB962C8B-B14F-4D97-AF65-F5344CB8AC3E}">
        <p14:creationId xmlns:p14="http://schemas.microsoft.com/office/powerpoint/2010/main" val="19313704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Fission Product Chemistry</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599" y="1968503"/>
            <a:ext cx="6554993" cy="4157663"/>
          </a:xfrm>
        </p:spPr>
        <p:txBody>
          <a:bodyPr/>
          <a:lstStyle/>
          <a:p>
            <a:r>
              <a:rPr lang="en-US" sz="2000" dirty="0"/>
              <a:t>Rare earth elements have high solubility in UO2 and form rare earth oxides (REOs)</a:t>
            </a:r>
          </a:p>
          <a:p>
            <a:r>
              <a:rPr lang="en-US" sz="2000" dirty="0"/>
              <a:t>Zr, </a:t>
            </a:r>
            <a:r>
              <a:rPr lang="en-US" sz="2000" dirty="0" err="1"/>
              <a:t>Nb</a:t>
            </a:r>
            <a:r>
              <a:rPr lang="en-US" sz="2000" dirty="0"/>
              <a:t> and Sr have significant solubility in UO2 and oxidize to form ZrO2, Nb2O3 and </a:t>
            </a:r>
            <a:r>
              <a:rPr lang="en-US" sz="2000" dirty="0" err="1"/>
              <a:t>SrO</a:t>
            </a:r>
            <a:endParaRPr lang="en-US" sz="2000" dirty="0"/>
          </a:p>
          <a:p>
            <a:r>
              <a:rPr lang="en-US" sz="2000" dirty="0"/>
              <a:t>Fission products that either have lower solubility or are less likely to form stable oxides, such as Ba, </a:t>
            </a:r>
            <a:r>
              <a:rPr lang="en-US" sz="2000" dirty="0" err="1"/>
              <a:t>Te</a:t>
            </a:r>
            <a:r>
              <a:rPr lang="en-US" sz="2000" dirty="0"/>
              <a:t> and Mo, diffuse to the grain boundaries and form perovskite or intermetallic precipitates</a:t>
            </a:r>
          </a:p>
          <a:p>
            <a:r>
              <a:rPr lang="en-US" sz="2000" dirty="0"/>
              <a:t>These grain boundary inclusions can allow for release from the fuel kernel</a:t>
            </a:r>
          </a:p>
          <a:p>
            <a:r>
              <a:rPr lang="en-US" sz="2000" dirty="0"/>
              <a:t>Ag and </a:t>
            </a:r>
            <a:r>
              <a:rPr lang="en-US" sz="2000" dirty="0" err="1"/>
              <a:t>Pd</a:t>
            </a:r>
            <a:r>
              <a:rPr lang="en-US" sz="2000" dirty="0"/>
              <a:t> are known to form intermetallic precipitates and are readily release from the fuel kernel</a:t>
            </a:r>
          </a:p>
          <a:p>
            <a:pPr marL="0" indent="0">
              <a:buNone/>
            </a:pPr>
            <a:endParaRPr lang="en-US" sz="2000" dirty="0"/>
          </a:p>
          <a:p>
            <a:endParaRPr lang="en-US" sz="2000" dirty="0"/>
          </a:p>
          <a:p>
            <a:endParaRPr lang="en-US" sz="2000" dirty="0"/>
          </a:p>
        </p:txBody>
      </p:sp>
      <p:pic>
        <p:nvPicPr>
          <p:cNvPr id="4" name="Content Placeholder 3" descr="ellingham diagram for oxide reactions">
            <a:extLst>
              <a:ext uri="{FF2B5EF4-FFF2-40B4-BE49-F238E27FC236}">
                <a16:creationId xmlns:a16="http://schemas.microsoft.com/office/drawing/2014/main" id="{6F73A779-28CB-D34B-BDED-97056D85AD1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891480" y="1968500"/>
            <a:ext cx="3221169" cy="3445594"/>
          </a:xfrm>
          <a:prstGeom prst="rect">
            <a:avLst/>
          </a:prstGeom>
        </p:spPr>
      </p:pic>
      <p:sp>
        <p:nvSpPr>
          <p:cNvPr id="6" name="Rectangle 5">
            <a:extLst>
              <a:ext uri="{FF2B5EF4-FFF2-40B4-BE49-F238E27FC236}">
                <a16:creationId xmlns:a16="http://schemas.microsoft.com/office/drawing/2014/main" id="{E7331E16-4B54-9F4D-82D5-9ED441280EDC}"/>
              </a:ext>
            </a:extLst>
          </p:cNvPr>
          <p:cNvSpPr/>
          <p:nvPr/>
        </p:nvSpPr>
        <p:spPr>
          <a:xfrm>
            <a:off x="8541047" y="5549085"/>
            <a:ext cx="2259106" cy="577081"/>
          </a:xfrm>
          <a:prstGeom prst="rect">
            <a:avLst/>
          </a:prstGeom>
        </p:spPr>
        <p:txBody>
          <a:bodyPr wrap="square">
            <a:spAutoFit/>
          </a:bodyPr>
          <a:lstStyle/>
          <a:p>
            <a:r>
              <a:rPr lang="en-US" sz="1050" dirty="0">
                <a:solidFill>
                  <a:srgbClr val="202122"/>
                </a:solidFill>
                <a:latin typeface="Arial" panose="020B0604020202020204" pitchFamily="34" charset="0"/>
              </a:rPr>
              <a:t>Ellingham diagram showing the temperature dependence of the stability of compounds</a:t>
            </a:r>
            <a:endParaRPr lang="en-US" sz="1050" dirty="0"/>
          </a:p>
        </p:txBody>
      </p:sp>
    </p:spTree>
    <p:extLst>
      <p:ext uri="{BB962C8B-B14F-4D97-AF65-F5344CB8AC3E}">
        <p14:creationId xmlns:p14="http://schemas.microsoft.com/office/powerpoint/2010/main" val="20235867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AAB6E-E62F-BE4E-9F6F-93E59231DE29}"/>
              </a:ext>
            </a:extLst>
          </p:cNvPr>
          <p:cNvSpPr>
            <a:spLocks noGrp="1"/>
          </p:cNvSpPr>
          <p:nvPr>
            <p:ph type="title"/>
          </p:nvPr>
        </p:nvSpPr>
        <p:spPr/>
        <p:txBody>
          <a:bodyPr/>
          <a:lstStyle/>
          <a:p>
            <a:r>
              <a:rPr lang="en-US" dirty="0"/>
              <a:t>Fission Product Carbides</a:t>
            </a:r>
          </a:p>
        </p:txBody>
      </p:sp>
      <p:sp>
        <p:nvSpPr>
          <p:cNvPr id="3" name="Content Placeholder 2">
            <a:extLst>
              <a:ext uri="{FF2B5EF4-FFF2-40B4-BE49-F238E27FC236}">
                <a16:creationId xmlns:a16="http://schemas.microsoft.com/office/drawing/2014/main" id="{F32C55E2-E78F-E146-B98D-08BD4413294D}"/>
              </a:ext>
            </a:extLst>
          </p:cNvPr>
          <p:cNvSpPr>
            <a:spLocks noGrp="1"/>
          </p:cNvSpPr>
          <p:nvPr>
            <p:ph sz="half" idx="1"/>
          </p:nvPr>
        </p:nvSpPr>
        <p:spPr>
          <a:xfrm>
            <a:off x="609600" y="1968503"/>
            <a:ext cx="7243482" cy="4157663"/>
          </a:xfrm>
        </p:spPr>
        <p:txBody>
          <a:bodyPr/>
          <a:lstStyle/>
          <a:p>
            <a:r>
              <a:rPr lang="en-US" sz="2200" dirty="0"/>
              <a:t>In the UCO-type fuel kernel, oxygen liberated during the fission process of UO2, first oxidizes the carbide UC2 phase and then the RE fission products because of their high affinity for oxygen</a:t>
            </a:r>
          </a:p>
          <a:p>
            <a:r>
              <a:rPr lang="en-US" sz="2200" dirty="0"/>
              <a:t>Those fission product elements with lower affinity for oxygen (Sr, Eu, Zr, Ba) exist as carbide compounds</a:t>
            </a:r>
          </a:p>
          <a:p>
            <a:r>
              <a:rPr lang="en-US" sz="2200" dirty="0"/>
              <a:t>As the burnup increases, the UC2 phase in the kernel decreases</a:t>
            </a:r>
          </a:p>
          <a:p>
            <a:r>
              <a:rPr lang="en-US" sz="2200" dirty="0"/>
              <a:t>When UC2 has fully disappeared, the oxygen potential then increases, and oxygen is available to form oxide compounds with these fission products</a:t>
            </a:r>
          </a:p>
          <a:p>
            <a:endParaRPr lang="en-US" sz="2200" dirty="0"/>
          </a:p>
        </p:txBody>
      </p:sp>
      <p:sp>
        <p:nvSpPr>
          <p:cNvPr id="6" name="Rectangle 5">
            <a:extLst>
              <a:ext uri="{FF2B5EF4-FFF2-40B4-BE49-F238E27FC236}">
                <a16:creationId xmlns:a16="http://schemas.microsoft.com/office/drawing/2014/main" id="{84DF8B90-968D-9D4D-B3FE-6BEA1FA8C356}"/>
              </a:ext>
            </a:extLst>
          </p:cNvPr>
          <p:cNvSpPr/>
          <p:nvPr/>
        </p:nvSpPr>
        <p:spPr>
          <a:xfrm>
            <a:off x="8311402" y="5314684"/>
            <a:ext cx="3027576" cy="276999"/>
          </a:xfrm>
          <a:prstGeom prst="rect">
            <a:avLst/>
          </a:prstGeom>
        </p:spPr>
        <p:txBody>
          <a:bodyPr wrap="square">
            <a:spAutoFit/>
          </a:bodyPr>
          <a:lstStyle/>
          <a:p>
            <a:r>
              <a:rPr lang="en-US" sz="1200" dirty="0">
                <a:latin typeface="Times" pitchFamily="2" charset="0"/>
              </a:rPr>
              <a:t>Oxidation diagram for carbides of interest</a:t>
            </a:r>
            <a:endParaRPr lang="en-US" sz="1200" dirty="0">
              <a:effectLst/>
              <a:latin typeface="Times" pitchFamily="2" charset="0"/>
            </a:endParaRPr>
          </a:p>
        </p:txBody>
      </p:sp>
      <p:pic>
        <p:nvPicPr>
          <p:cNvPr id="7" name="Content Placeholder 6" descr="oxidation diagram for carbides">
            <a:extLst>
              <a:ext uri="{FF2B5EF4-FFF2-40B4-BE49-F238E27FC236}">
                <a16:creationId xmlns:a16="http://schemas.microsoft.com/office/drawing/2014/main" id="{79A3A9ED-E0B2-C441-8C3B-E4B403694081}"/>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853082" y="2629065"/>
            <a:ext cx="4073489" cy="2685619"/>
          </a:xfrm>
          <a:prstGeom prst="rect">
            <a:avLst/>
          </a:prstGeom>
        </p:spPr>
      </p:pic>
    </p:spTree>
    <p:extLst>
      <p:ext uri="{BB962C8B-B14F-4D97-AF65-F5344CB8AC3E}">
        <p14:creationId xmlns:p14="http://schemas.microsoft.com/office/powerpoint/2010/main" val="26435391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A6B0B-B29A-F246-9B03-23AD13457CC4}"/>
              </a:ext>
            </a:extLst>
          </p:cNvPr>
          <p:cNvSpPr>
            <a:spLocks noGrp="1"/>
          </p:cNvSpPr>
          <p:nvPr>
            <p:ph type="title"/>
          </p:nvPr>
        </p:nvSpPr>
        <p:spPr/>
        <p:txBody>
          <a:bodyPr/>
          <a:lstStyle/>
          <a:p>
            <a:r>
              <a:rPr lang="en-US" dirty="0"/>
              <a:t>Fuel Kernel Summary</a:t>
            </a:r>
          </a:p>
        </p:txBody>
      </p:sp>
      <p:sp>
        <p:nvSpPr>
          <p:cNvPr id="3" name="Content Placeholder 2">
            <a:extLst>
              <a:ext uri="{FF2B5EF4-FFF2-40B4-BE49-F238E27FC236}">
                <a16:creationId xmlns:a16="http://schemas.microsoft.com/office/drawing/2014/main" id="{9D2F2C8C-3A0E-E143-8C88-4C19B0AEBC61}"/>
              </a:ext>
            </a:extLst>
          </p:cNvPr>
          <p:cNvSpPr>
            <a:spLocks noGrp="1"/>
          </p:cNvSpPr>
          <p:nvPr>
            <p:ph sz="half" idx="1"/>
          </p:nvPr>
        </p:nvSpPr>
        <p:spPr>
          <a:xfrm>
            <a:off x="609599" y="1968503"/>
            <a:ext cx="10890325" cy="4157663"/>
          </a:xfrm>
        </p:spPr>
        <p:txBody>
          <a:bodyPr/>
          <a:lstStyle/>
          <a:p>
            <a:r>
              <a:rPr lang="en-US" sz="2400" dirty="0"/>
              <a:t>Flexible composition, allowing for commercial power, fertile, breeder, and burner options; mainly carbide and </a:t>
            </a:r>
            <a:r>
              <a:rPr lang="en-US" dirty="0"/>
              <a:t>o</a:t>
            </a:r>
            <a:r>
              <a:rPr lang="en-US" sz="2400" dirty="0"/>
              <a:t>xide options</a:t>
            </a:r>
          </a:p>
          <a:p>
            <a:r>
              <a:rPr lang="en-US" sz="2400" dirty="0"/>
              <a:t>Carbides allow for higher power density and higher temperatures, reduce CO production</a:t>
            </a:r>
          </a:p>
          <a:p>
            <a:r>
              <a:rPr lang="en-US" dirty="0"/>
              <a:t>O</a:t>
            </a:r>
            <a:r>
              <a:rPr lang="en-US" sz="2400" dirty="0"/>
              <a:t>xides retain fission products, easier to fabricate</a:t>
            </a:r>
          </a:p>
          <a:p>
            <a:r>
              <a:rPr lang="en-US" sz="2400" dirty="0"/>
              <a:t>US utilizes UCO 80(UO2)/20(UC2) mix</a:t>
            </a:r>
          </a:p>
          <a:p>
            <a:r>
              <a:rPr lang="en-US" sz="2400" dirty="0"/>
              <a:t>UC2 gets oxidized, then other fission fission products will form oxides</a:t>
            </a:r>
          </a:p>
          <a:p>
            <a:r>
              <a:rPr lang="en-US" dirty="0"/>
              <a:t>Five different fission product groupings – main fuel is UO2, similar behavior to UO2</a:t>
            </a:r>
            <a:endParaRPr lang="en-US" sz="2400" dirty="0"/>
          </a:p>
          <a:p>
            <a:r>
              <a:rPr lang="en-US" sz="2400" dirty="0"/>
              <a:t>Will cover some other fuel kernel related failure mechanisms later</a:t>
            </a:r>
          </a:p>
          <a:p>
            <a:pPr marL="0" indent="0">
              <a:buNone/>
            </a:pPr>
            <a:endParaRPr lang="en-US" sz="2400" dirty="0"/>
          </a:p>
        </p:txBody>
      </p:sp>
    </p:spTree>
    <p:extLst>
      <p:ext uri="{BB962C8B-B14F-4D97-AF65-F5344CB8AC3E}">
        <p14:creationId xmlns:p14="http://schemas.microsoft.com/office/powerpoint/2010/main" val="4879564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Silicon Carbide</a:t>
            </a:r>
          </a:p>
        </p:txBody>
      </p:sp>
      <p:sp>
        <p:nvSpPr>
          <p:cNvPr id="3" name="Slide Number Placeholder 2">
            <a:extLst>
              <a:ext uri="{FF2B5EF4-FFF2-40B4-BE49-F238E27FC236}">
                <a16:creationId xmlns:a16="http://schemas.microsoft.com/office/drawing/2014/main" id="{5C119F45-AD4E-DB44-9BDF-31513E0DD6DB}"/>
              </a:ext>
            </a:extLst>
          </p:cNvPr>
          <p:cNvSpPr>
            <a:spLocks noGrp="1"/>
          </p:cNvSpPr>
          <p:nvPr>
            <p:ph type="sldNum" sz="quarter" idx="12"/>
          </p:nvPr>
        </p:nvSpPr>
        <p:spPr/>
        <p:txBody>
          <a:bodyPr/>
          <a:lstStyle/>
          <a:p>
            <a:pPr>
              <a:defRPr/>
            </a:pPr>
            <a:fld id="{0DA6BD0F-ABBC-C14D-BC96-77BE126A748B}" type="slidenum">
              <a:rPr lang="en-US" smtClean="0"/>
              <a:pPr>
                <a:defRPr/>
              </a:pPr>
              <a:t>27</a:t>
            </a:fld>
            <a:endParaRPr lang="en-US"/>
          </a:p>
        </p:txBody>
      </p:sp>
    </p:spTree>
    <p:extLst>
      <p:ext uri="{BB962C8B-B14F-4D97-AF65-F5344CB8AC3E}">
        <p14:creationId xmlns:p14="http://schemas.microsoft.com/office/powerpoint/2010/main" val="2755803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0A1E1-6E18-384F-B1A3-3F786D8E46EF}"/>
              </a:ext>
            </a:extLst>
          </p:cNvPr>
          <p:cNvSpPr>
            <a:spLocks noGrp="1"/>
          </p:cNvSpPr>
          <p:nvPr>
            <p:ph type="title"/>
          </p:nvPr>
        </p:nvSpPr>
        <p:spPr/>
        <p:txBody>
          <a:bodyPr/>
          <a:lstStyle/>
          <a:p>
            <a:r>
              <a:rPr lang="en-US" dirty="0"/>
              <a:t>Silicon Carbide (</a:t>
            </a:r>
            <a:r>
              <a:rPr lang="en-US" dirty="0" err="1"/>
              <a:t>SiC</a:t>
            </a:r>
            <a:r>
              <a:rPr lang="en-US" dirty="0"/>
              <a:t>)</a:t>
            </a:r>
          </a:p>
        </p:txBody>
      </p:sp>
      <p:sp>
        <p:nvSpPr>
          <p:cNvPr id="3" name="Content Placeholder 2">
            <a:extLst>
              <a:ext uri="{FF2B5EF4-FFF2-40B4-BE49-F238E27FC236}">
                <a16:creationId xmlns:a16="http://schemas.microsoft.com/office/drawing/2014/main" id="{A780FC78-65F0-0D49-94D5-96503B56A597}"/>
              </a:ext>
            </a:extLst>
          </p:cNvPr>
          <p:cNvSpPr>
            <a:spLocks noGrp="1"/>
          </p:cNvSpPr>
          <p:nvPr>
            <p:ph sz="half" idx="1"/>
          </p:nvPr>
        </p:nvSpPr>
        <p:spPr>
          <a:xfrm>
            <a:off x="609599" y="1968503"/>
            <a:ext cx="5705139" cy="4157663"/>
          </a:xfrm>
        </p:spPr>
        <p:txBody>
          <a:bodyPr/>
          <a:lstStyle/>
          <a:p>
            <a:r>
              <a:rPr lang="en-US" sz="2000" dirty="0" err="1"/>
              <a:t>SiC</a:t>
            </a:r>
            <a:r>
              <a:rPr lang="en-US" sz="2000" dirty="0"/>
              <a:t> is a very hard and strong non-oxide ceramic that possesses unique thermal and electronic properties</a:t>
            </a:r>
          </a:p>
          <a:p>
            <a:r>
              <a:rPr lang="en-US" sz="2000" dirty="0"/>
              <a:t>Polycrystalline </a:t>
            </a:r>
            <a:r>
              <a:rPr lang="en-US" sz="2000" dirty="0" err="1"/>
              <a:t>SiC</a:t>
            </a:r>
            <a:r>
              <a:rPr lang="en-US" sz="2000" dirty="0"/>
              <a:t> has a strength of 15 GPa and has excellent creep resistance</a:t>
            </a:r>
          </a:p>
          <a:p>
            <a:r>
              <a:rPr lang="en-US" sz="2000" dirty="0" err="1"/>
              <a:t>SiC’s</a:t>
            </a:r>
            <a:r>
              <a:rPr lang="en-US" sz="2000" dirty="0"/>
              <a:t> upper limit of stability is around 2500C and has a melting temperature of around 2830C</a:t>
            </a:r>
          </a:p>
          <a:p>
            <a:r>
              <a:rPr lang="en-US" sz="2000" dirty="0" err="1"/>
              <a:t>SiC</a:t>
            </a:r>
            <a:r>
              <a:rPr lang="en-US" sz="2000" dirty="0"/>
              <a:t> also has excellent thermal conductivity</a:t>
            </a:r>
          </a:p>
          <a:p>
            <a:r>
              <a:rPr lang="en-US" sz="2000" dirty="0" err="1"/>
              <a:t>SiC</a:t>
            </a:r>
            <a:r>
              <a:rPr lang="en-US" sz="2000" dirty="0"/>
              <a:t> is a highly covalent material that forms tetrahedra that are centered around either carbon or silicon atoms</a:t>
            </a:r>
          </a:p>
        </p:txBody>
      </p:sp>
      <p:sp>
        <p:nvSpPr>
          <p:cNvPr id="4" name="Content Placeholder 3">
            <a:extLst>
              <a:ext uri="{FF2B5EF4-FFF2-40B4-BE49-F238E27FC236}">
                <a16:creationId xmlns:a16="http://schemas.microsoft.com/office/drawing/2014/main" id="{BEB02EDE-6F11-CD4C-813D-89AFE8189A18}"/>
              </a:ext>
            </a:extLst>
          </p:cNvPr>
          <p:cNvSpPr>
            <a:spLocks noGrp="1"/>
          </p:cNvSpPr>
          <p:nvPr>
            <p:ph sz="half" idx="2"/>
          </p:nvPr>
        </p:nvSpPr>
        <p:spPr>
          <a:xfrm>
            <a:off x="6476104" y="4467188"/>
            <a:ext cx="5106296" cy="1658978"/>
          </a:xfrm>
        </p:spPr>
        <p:txBody>
          <a:bodyPr/>
          <a:lstStyle/>
          <a:p>
            <a:r>
              <a:rPr lang="el-GR" sz="2000" dirty="0"/>
              <a:t>β-</a:t>
            </a:r>
            <a:r>
              <a:rPr lang="en-US" sz="2000" dirty="0" err="1"/>
              <a:t>SiC</a:t>
            </a:r>
            <a:r>
              <a:rPr lang="en-US" sz="2000" dirty="0"/>
              <a:t> takes the diamond cubic structure with half of the carbons being replaced with silicon; this is a very stable structure that is conducive to </a:t>
            </a:r>
            <a:r>
              <a:rPr lang="en-US" sz="2000" dirty="0" err="1"/>
              <a:t>phononic</a:t>
            </a:r>
            <a:r>
              <a:rPr lang="en-US" sz="2000" dirty="0"/>
              <a:t> heat conduction</a:t>
            </a:r>
            <a:endParaRPr lang="en-US" sz="1100" dirty="0"/>
          </a:p>
        </p:txBody>
      </p:sp>
      <p:pic>
        <p:nvPicPr>
          <p:cNvPr id="6" name="Picture 5" descr="SiC Phase diagram">
            <a:extLst>
              <a:ext uri="{FF2B5EF4-FFF2-40B4-BE49-F238E27FC236}">
                <a16:creationId xmlns:a16="http://schemas.microsoft.com/office/drawing/2014/main" id="{B6BA2D98-6AF1-2A42-9978-8D9B37CEBA9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476104" y="1749388"/>
            <a:ext cx="2400300" cy="2717800"/>
          </a:xfrm>
          <a:prstGeom prst="rect">
            <a:avLst/>
          </a:prstGeom>
        </p:spPr>
      </p:pic>
      <p:pic>
        <p:nvPicPr>
          <p:cNvPr id="8" name="Picture 7" descr="SiC unit cell">
            <a:extLst>
              <a:ext uri="{FF2B5EF4-FFF2-40B4-BE49-F238E27FC236}">
                <a16:creationId xmlns:a16="http://schemas.microsoft.com/office/drawing/2014/main" id="{81D27F00-753B-564B-81F4-3CEDDA5F22B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140033" y="1905678"/>
            <a:ext cx="2530243" cy="2405219"/>
          </a:xfrm>
          <a:prstGeom prst="rect">
            <a:avLst/>
          </a:prstGeom>
        </p:spPr>
      </p:pic>
      <p:sp>
        <p:nvSpPr>
          <p:cNvPr id="5" name="Slide Number Placeholder 4">
            <a:extLst>
              <a:ext uri="{FF2B5EF4-FFF2-40B4-BE49-F238E27FC236}">
                <a16:creationId xmlns:a16="http://schemas.microsoft.com/office/drawing/2014/main" id="{F1479196-67C6-E04E-813D-F068C1E7C61B}"/>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3309799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6D832-8525-2A41-9BF2-D0B2618EED92}"/>
              </a:ext>
            </a:extLst>
          </p:cNvPr>
          <p:cNvSpPr>
            <a:spLocks noGrp="1"/>
          </p:cNvSpPr>
          <p:nvPr>
            <p:ph type="title"/>
          </p:nvPr>
        </p:nvSpPr>
        <p:spPr/>
        <p:txBody>
          <a:bodyPr/>
          <a:lstStyle/>
          <a:p>
            <a:r>
              <a:rPr lang="en-US" dirty="0"/>
              <a:t>Silicon Carbide (</a:t>
            </a:r>
            <a:r>
              <a:rPr lang="en-US" dirty="0" err="1"/>
              <a:t>SiC</a:t>
            </a:r>
            <a:r>
              <a:rPr lang="en-US" dirty="0"/>
              <a:t>)</a:t>
            </a:r>
          </a:p>
        </p:txBody>
      </p:sp>
      <p:sp>
        <p:nvSpPr>
          <p:cNvPr id="3" name="Content Placeholder 2">
            <a:extLst>
              <a:ext uri="{FF2B5EF4-FFF2-40B4-BE49-F238E27FC236}">
                <a16:creationId xmlns:a16="http://schemas.microsoft.com/office/drawing/2014/main" id="{F65AF318-667E-0544-9A8B-CF772AABFFA4}"/>
              </a:ext>
            </a:extLst>
          </p:cNvPr>
          <p:cNvSpPr>
            <a:spLocks noGrp="1"/>
          </p:cNvSpPr>
          <p:nvPr>
            <p:ph sz="half" idx="1"/>
          </p:nvPr>
        </p:nvSpPr>
        <p:spPr/>
        <p:txBody>
          <a:bodyPr/>
          <a:lstStyle/>
          <a:p>
            <a:r>
              <a:rPr lang="en-US" sz="2400" dirty="0"/>
              <a:t>Silicon carbide (</a:t>
            </a:r>
            <a:r>
              <a:rPr lang="en-US" sz="2400" dirty="0" err="1"/>
              <a:t>SiC</a:t>
            </a:r>
            <a:r>
              <a:rPr lang="en-US" sz="2400" dirty="0"/>
              <a:t>) has been studied and utilized in nuclear systems for decades, primarily as the micro pressure vessel for high-temperature gas-cooled reactor fuels</a:t>
            </a:r>
          </a:p>
          <a:p>
            <a:r>
              <a:rPr lang="en-US" sz="2400" dirty="0"/>
              <a:t>The </a:t>
            </a:r>
            <a:r>
              <a:rPr lang="en-US" sz="2400" dirty="0" err="1"/>
              <a:t>SiC</a:t>
            </a:r>
            <a:r>
              <a:rPr lang="en-US" sz="2400" dirty="0"/>
              <a:t> must be strong enough to withstand the pressure buildup from the fission product gas liberated and CO produced</a:t>
            </a:r>
          </a:p>
          <a:p>
            <a:endParaRPr lang="en-US" sz="2400" dirty="0"/>
          </a:p>
        </p:txBody>
      </p:sp>
      <p:sp>
        <p:nvSpPr>
          <p:cNvPr id="4" name="Content Placeholder 3">
            <a:extLst>
              <a:ext uri="{FF2B5EF4-FFF2-40B4-BE49-F238E27FC236}">
                <a16:creationId xmlns:a16="http://schemas.microsoft.com/office/drawing/2014/main" id="{10CAB368-801F-BB4B-B5EE-A710FA1FA98C}"/>
              </a:ext>
            </a:extLst>
          </p:cNvPr>
          <p:cNvSpPr>
            <a:spLocks noGrp="1"/>
          </p:cNvSpPr>
          <p:nvPr>
            <p:ph sz="half" idx="2"/>
          </p:nvPr>
        </p:nvSpPr>
        <p:spPr/>
        <p:txBody>
          <a:bodyPr/>
          <a:lstStyle/>
          <a:p>
            <a:r>
              <a:rPr lang="en-US" sz="2400" dirty="0"/>
              <a:t>The </a:t>
            </a:r>
            <a:r>
              <a:rPr lang="en-US" sz="2400" dirty="0" err="1"/>
              <a:t>SiC</a:t>
            </a:r>
            <a:r>
              <a:rPr lang="en-US" sz="2400" dirty="0"/>
              <a:t> layer must withstand chemical attack from metallic fission products such as palladium </a:t>
            </a:r>
          </a:p>
          <a:p>
            <a:r>
              <a:rPr lang="en-US" sz="2400" dirty="0"/>
              <a:t>The </a:t>
            </a:r>
            <a:r>
              <a:rPr lang="en-US" sz="2400" dirty="0" err="1"/>
              <a:t>SiC</a:t>
            </a:r>
            <a:r>
              <a:rPr lang="en-US" sz="2400" dirty="0"/>
              <a:t> must be able to handle the mechanical loads derived from irradiation-induced dimensional changes occurring in the PyC layers</a:t>
            </a:r>
          </a:p>
          <a:p>
            <a:r>
              <a:rPr lang="en-US" sz="2400" dirty="0"/>
              <a:t>The </a:t>
            </a:r>
            <a:r>
              <a:rPr lang="en-US" sz="2400" dirty="0" err="1"/>
              <a:t>SiC</a:t>
            </a:r>
            <a:r>
              <a:rPr lang="en-US" sz="2400" dirty="0"/>
              <a:t> must maintain its properties during irradiation</a:t>
            </a:r>
          </a:p>
          <a:p>
            <a:endParaRPr lang="en-US" sz="2400" dirty="0"/>
          </a:p>
          <a:p>
            <a:endParaRPr lang="en-US" sz="2400" dirty="0"/>
          </a:p>
          <a:p>
            <a:endParaRPr lang="en-US" sz="2400" dirty="0"/>
          </a:p>
        </p:txBody>
      </p:sp>
      <p:sp>
        <p:nvSpPr>
          <p:cNvPr id="5" name="Slide Number Placeholder 4">
            <a:extLst>
              <a:ext uri="{FF2B5EF4-FFF2-40B4-BE49-F238E27FC236}">
                <a16:creationId xmlns:a16="http://schemas.microsoft.com/office/drawing/2014/main" id="{BA40622E-583F-FE4C-B306-6E354AF59138}"/>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spTree>
    <p:extLst>
      <p:ext uri="{BB962C8B-B14F-4D97-AF65-F5344CB8AC3E}">
        <p14:creationId xmlns:p14="http://schemas.microsoft.com/office/powerpoint/2010/main" val="933389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87F84-1F20-054D-BC38-64CEA5C7F41D}"/>
              </a:ext>
            </a:extLst>
          </p:cNvPr>
          <p:cNvSpPr>
            <a:spLocks noGrp="1"/>
          </p:cNvSpPr>
          <p:nvPr>
            <p:ph type="title"/>
          </p:nvPr>
        </p:nvSpPr>
        <p:spPr/>
        <p:txBody>
          <a:bodyPr/>
          <a:lstStyle/>
          <a:p>
            <a:r>
              <a:rPr lang="en-US" dirty="0"/>
              <a:t>Radiation Effects in </a:t>
            </a:r>
            <a:r>
              <a:rPr lang="en-US" dirty="0" err="1"/>
              <a:t>SiC</a:t>
            </a:r>
            <a:endParaRPr lang="en-US" dirty="0"/>
          </a:p>
        </p:txBody>
      </p:sp>
      <p:sp>
        <p:nvSpPr>
          <p:cNvPr id="3" name="Content Placeholder 2">
            <a:extLst>
              <a:ext uri="{FF2B5EF4-FFF2-40B4-BE49-F238E27FC236}">
                <a16:creationId xmlns:a16="http://schemas.microsoft.com/office/drawing/2014/main" id="{0DBC7A60-A43F-F14B-B647-991B6AA0A553}"/>
              </a:ext>
            </a:extLst>
          </p:cNvPr>
          <p:cNvSpPr>
            <a:spLocks noGrp="1"/>
          </p:cNvSpPr>
          <p:nvPr>
            <p:ph sz="half" idx="1"/>
          </p:nvPr>
        </p:nvSpPr>
        <p:spPr>
          <a:xfrm>
            <a:off x="609600" y="1968503"/>
            <a:ext cx="10972800" cy="4157663"/>
          </a:xfrm>
        </p:spPr>
        <p:txBody>
          <a:bodyPr/>
          <a:lstStyle/>
          <a:p>
            <a:r>
              <a:rPr lang="en-US" sz="2400" dirty="0"/>
              <a:t>The neutron-induced swelling of </a:t>
            </a:r>
            <a:r>
              <a:rPr lang="en-US" sz="2400" dirty="0" err="1"/>
              <a:t>SiC</a:t>
            </a:r>
            <a:r>
              <a:rPr lang="en-US" sz="2400" dirty="0"/>
              <a:t> has been well studied for low and intermediate temperatures (up to 1000 C)</a:t>
            </a:r>
          </a:p>
          <a:p>
            <a:r>
              <a:rPr lang="en-US" sz="2400" dirty="0"/>
              <a:t>It is well understood that the presence of significant second phases and/or poorly crystallized phases in these materials leads to unstable behavior under neutron irradiation</a:t>
            </a:r>
          </a:p>
          <a:p>
            <a:r>
              <a:rPr lang="en-US" sz="2400" dirty="0"/>
              <a:t>High purity, stoichiometric, near-theoretical density </a:t>
            </a:r>
            <a:r>
              <a:rPr lang="en-US" sz="2400" dirty="0" err="1"/>
              <a:t>SiC</a:t>
            </a:r>
            <a:r>
              <a:rPr lang="en-US" sz="2400" dirty="0"/>
              <a:t> can show excellent radiation resistance</a:t>
            </a:r>
          </a:p>
          <a:p>
            <a:r>
              <a:rPr lang="en-US" sz="2400" dirty="0"/>
              <a:t>Here I will be talking about the good </a:t>
            </a:r>
            <a:r>
              <a:rPr lang="en-US" sz="2400" dirty="0" err="1"/>
              <a:t>SiC</a:t>
            </a:r>
            <a:r>
              <a:rPr lang="en-US" sz="2400" dirty="0"/>
              <a:t>, assuming that the fabrication process has produced appropriately clean coatings</a:t>
            </a:r>
          </a:p>
        </p:txBody>
      </p:sp>
      <p:sp>
        <p:nvSpPr>
          <p:cNvPr id="4" name="Slide Number Placeholder 3">
            <a:extLst>
              <a:ext uri="{FF2B5EF4-FFF2-40B4-BE49-F238E27FC236}">
                <a16:creationId xmlns:a16="http://schemas.microsoft.com/office/drawing/2014/main" id="{1685D81B-471F-B247-997A-1F5F4CC3C576}"/>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35363267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E8619-8F8B-E649-98FB-551E85B3BA6A}"/>
              </a:ext>
            </a:extLst>
          </p:cNvPr>
          <p:cNvSpPr>
            <a:spLocks noGrp="1"/>
          </p:cNvSpPr>
          <p:nvPr>
            <p:ph type="title"/>
          </p:nvPr>
        </p:nvSpPr>
        <p:spPr/>
        <p:txBody>
          <a:bodyPr/>
          <a:lstStyle/>
          <a:p>
            <a:r>
              <a:rPr lang="en-US" dirty="0"/>
              <a:t>Radiation Effects in </a:t>
            </a:r>
            <a:r>
              <a:rPr lang="en-US" dirty="0" err="1"/>
              <a:t>SiC</a:t>
            </a:r>
            <a:endParaRPr lang="en-US" dirty="0"/>
          </a:p>
        </p:txBody>
      </p:sp>
      <p:sp>
        <p:nvSpPr>
          <p:cNvPr id="3" name="Content Placeholder 2">
            <a:extLst>
              <a:ext uri="{FF2B5EF4-FFF2-40B4-BE49-F238E27FC236}">
                <a16:creationId xmlns:a16="http://schemas.microsoft.com/office/drawing/2014/main" id="{7E4F582F-09B3-F047-9EDC-67C6C1814419}"/>
              </a:ext>
            </a:extLst>
          </p:cNvPr>
          <p:cNvSpPr>
            <a:spLocks noGrp="1"/>
          </p:cNvSpPr>
          <p:nvPr>
            <p:ph sz="half" idx="1"/>
          </p:nvPr>
        </p:nvSpPr>
        <p:spPr>
          <a:xfrm>
            <a:off x="609600" y="1968503"/>
            <a:ext cx="5381297" cy="4157663"/>
          </a:xfrm>
        </p:spPr>
        <p:txBody>
          <a:bodyPr/>
          <a:lstStyle/>
          <a:p>
            <a:r>
              <a:rPr lang="en-US" dirty="0"/>
              <a:t>The microstructural evolution map is shown on the right</a:t>
            </a:r>
          </a:p>
          <a:p>
            <a:r>
              <a:rPr lang="en-US" dirty="0"/>
              <a:t>Different types of defects form at different temperatures</a:t>
            </a:r>
          </a:p>
          <a:p>
            <a:r>
              <a:rPr lang="en-US" dirty="0"/>
              <a:t>Swelling behavior of </a:t>
            </a:r>
            <a:r>
              <a:rPr lang="en-US" dirty="0" err="1"/>
              <a:t>SiC</a:t>
            </a:r>
            <a:r>
              <a:rPr lang="en-US" dirty="0"/>
              <a:t> is relatively well understood</a:t>
            </a:r>
          </a:p>
          <a:p>
            <a:r>
              <a:rPr lang="en-US" dirty="0"/>
              <a:t>But the contribution of the defects themselves to the swelling in </a:t>
            </a:r>
            <a:r>
              <a:rPr lang="en-US" dirty="0" err="1"/>
              <a:t>SiC</a:t>
            </a:r>
            <a:r>
              <a:rPr lang="en-US" dirty="0"/>
              <a:t> is not well understood</a:t>
            </a:r>
          </a:p>
          <a:p>
            <a:endParaRPr lang="en-US" dirty="0"/>
          </a:p>
        </p:txBody>
      </p:sp>
      <p:pic>
        <p:nvPicPr>
          <p:cNvPr id="5" name="Content Placeholder 4" descr="Kinds of defects that form in different irradiation temperature and fluence regimes">
            <a:extLst>
              <a:ext uri="{FF2B5EF4-FFF2-40B4-BE49-F238E27FC236}">
                <a16:creationId xmlns:a16="http://schemas.microsoft.com/office/drawing/2014/main" id="{05493A0B-EBC6-1341-A32D-84DC6A8107C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528076" y="1968500"/>
            <a:ext cx="4723848" cy="4157663"/>
          </a:xfrm>
          <a:prstGeom prst="rect">
            <a:avLst/>
          </a:prstGeom>
        </p:spPr>
      </p:pic>
      <p:sp>
        <p:nvSpPr>
          <p:cNvPr id="4" name="Slide Number Placeholder 3">
            <a:extLst>
              <a:ext uri="{FF2B5EF4-FFF2-40B4-BE49-F238E27FC236}">
                <a16:creationId xmlns:a16="http://schemas.microsoft.com/office/drawing/2014/main" id="{1251886F-9E4C-7B46-8BC9-3409E487EB65}"/>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5069006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03049-4B0D-0947-9A8D-33B38D2E0C3B}"/>
              </a:ext>
            </a:extLst>
          </p:cNvPr>
          <p:cNvSpPr>
            <a:spLocks noGrp="1"/>
          </p:cNvSpPr>
          <p:nvPr>
            <p:ph type="title"/>
          </p:nvPr>
        </p:nvSpPr>
        <p:spPr/>
        <p:txBody>
          <a:bodyPr/>
          <a:lstStyle/>
          <a:p>
            <a:r>
              <a:rPr lang="en-US" dirty="0"/>
              <a:t>Low T Radiation Effects in </a:t>
            </a:r>
            <a:r>
              <a:rPr lang="en-US" dirty="0" err="1"/>
              <a:t>SiC</a:t>
            </a:r>
            <a:endParaRPr lang="en-US" dirty="0"/>
          </a:p>
        </p:txBody>
      </p:sp>
      <p:sp>
        <p:nvSpPr>
          <p:cNvPr id="3" name="Content Placeholder 2">
            <a:extLst>
              <a:ext uri="{FF2B5EF4-FFF2-40B4-BE49-F238E27FC236}">
                <a16:creationId xmlns:a16="http://schemas.microsoft.com/office/drawing/2014/main" id="{3A775B20-5E00-B145-9346-A0CC7F4F2B14}"/>
              </a:ext>
            </a:extLst>
          </p:cNvPr>
          <p:cNvSpPr>
            <a:spLocks noGrp="1"/>
          </p:cNvSpPr>
          <p:nvPr>
            <p:ph sz="half" idx="1"/>
          </p:nvPr>
        </p:nvSpPr>
        <p:spPr>
          <a:xfrm>
            <a:off x="609599" y="1968503"/>
            <a:ext cx="6422973" cy="4157663"/>
          </a:xfrm>
        </p:spPr>
        <p:txBody>
          <a:bodyPr/>
          <a:lstStyle/>
          <a:p>
            <a:r>
              <a:rPr lang="en-US" sz="2000" dirty="0"/>
              <a:t>Below 400 K, neutron irradiated </a:t>
            </a:r>
            <a:r>
              <a:rPr lang="en-US" sz="2000" dirty="0" err="1"/>
              <a:t>SiC</a:t>
            </a:r>
            <a:r>
              <a:rPr lang="en-US" sz="2000" dirty="0"/>
              <a:t> microstructure is described as black spot defects, which are most likely clusters of self-interstitial atoms</a:t>
            </a:r>
          </a:p>
          <a:p>
            <a:r>
              <a:rPr lang="en-US" sz="2000" dirty="0"/>
              <a:t>For irradiation temperatures less than about 423 K, accumulation of strain due to the irradiation-produced defects can exceed a critical level above which the crystal becomes amorphous</a:t>
            </a:r>
          </a:p>
          <a:p>
            <a:r>
              <a:rPr lang="en-US" sz="2000" dirty="0"/>
              <a:t>The swelling under self-ion irradiation increases logarithmically with dose until amorphization occurs</a:t>
            </a:r>
          </a:p>
          <a:p>
            <a:r>
              <a:rPr lang="en-US" sz="2000" dirty="0"/>
              <a:t>The swelling of neutron- and ion-amorphized </a:t>
            </a:r>
            <a:r>
              <a:rPr lang="en-US" sz="2000" dirty="0" err="1"/>
              <a:t>SiC</a:t>
            </a:r>
            <a:r>
              <a:rPr lang="en-US" sz="2000" dirty="0"/>
              <a:t> has been reported to be as high as 10.8% at 343K</a:t>
            </a:r>
          </a:p>
          <a:p>
            <a:endParaRPr lang="en-US" sz="2000" dirty="0"/>
          </a:p>
        </p:txBody>
      </p:sp>
      <p:pic>
        <p:nvPicPr>
          <p:cNvPr id="5" name="Content Placeholder 4" descr="kinds of defects that form in different temperature and fluence regimes">
            <a:extLst>
              <a:ext uri="{FF2B5EF4-FFF2-40B4-BE49-F238E27FC236}">
                <a16:creationId xmlns:a16="http://schemas.microsoft.com/office/drawing/2014/main" id="{24C70F64-58F7-E242-AB90-A542BD2FDA5F}"/>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032572" y="1968500"/>
            <a:ext cx="4723848" cy="4157663"/>
          </a:xfrm>
          <a:prstGeom prst="rect">
            <a:avLst/>
          </a:prstGeom>
        </p:spPr>
      </p:pic>
      <p:sp>
        <p:nvSpPr>
          <p:cNvPr id="4" name="Slide Number Placeholder 3">
            <a:extLst>
              <a:ext uri="{FF2B5EF4-FFF2-40B4-BE49-F238E27FC236}">
                <a16:creationId xmlns:a16="http://schemas.microsoft.com/office/drawing/2014/main" id="{EEF4DE5D-0656-2E45-B4C7-692BA49F0600}"/>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spTree>
    <p:extLst>
      <p:ext uri="{BB962C8B-B14F-4D97-AF65-F5344CB8AC3E}">
        <p14:creationId xmlns:p14="http://schemas.microsoft.com/office/powerpoint/2010/main" val="37783925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03049-4B0D-0947-9A8D-33B38D2E0C3B}"/>
              </a:ext>
            </a:extLst>
          </p:cNvPr>
          <p:cNvSpPr>
            <a:spLocks noGrp="1"/>
          </p:cNvSpPr>
          <p:nvPr>
            <p:ph type="title"/>
          </p:nvPr>
        </p:nvSpPr>
        <p:spPr/>
        <p:txBody>
          <a:bodyPr/>
          <a:lstStyle/>
          <a:p>
            <a:r>
              <a:rPr lang="en-US" dirty="0"/>
              <a:t>Low-Med T Radiation Effects in </a:t>
            </a:r>
            <a:r>
              <a:rPr lang="en-US" dirty="0" err="1"/>
              <a:t>SiC</a:t>
            </a:r>
            <a:endParaRPr lang="en-US" dirty="0"/>
          </a:p>
        </p:txBody>
      </p:sp>
      <p:sp>
        <p:nvSpPr>
          <p:cNvPr id="3" name="Content Placeholder 2">
            <a:extLst>
              <a:ext uri="{FF2B5EF4-FFF2-40B4-BE49-F238E27FC236}">
                <a16:creationId xmlns:a16="http://schemas.microsoft.com/office/drawing/2014/main" id="{3A775B20-5E00-B145-9346-A0CC7F4F2B14}"/>
              </a:ext>
            </a:extLst>
          </p:cNvPr>
          <p:cNvSpPr>
            <a:spLocks noGrp="1"/>
          </p:cNvSpPr>
          <p:nvPr>
            <p:ph sz="half" idx="1"/>
          </p:nvPr>
        </p:nvSpPr>
        <p:spPr>
          <a:xfrm>
            <a:off x="609600" y="1968503"/>
            <a:ext cx="5918476" cy="4157663"/>
          </a:xfrm>
        </p:spPr>
        <p:txBody>
          <a:bodyPr/>
          <a:lstStyle/>
          <a:p>
            <a:r>
              <a:rPr lang="en-US" sz="2000" dirty="0"/>
              <a:t>Above the critical amorphization temperature (423 K), the swelling increases logarithmically with dose until it reaches saturation</a:t>
            </a:r>
          </a:p>
          <a:p>
            <a:r>
              <a:rPr lang="en-US" sz="2000" dirty="0"/>
              <a:t>The saturation level decreases with increasing irradiation temperature</a:t>
            </a:r>
          </a:p>
          <a:p>
            <a:r>
              <a:rPr lang="en-US" sz="2000" dirty="0"/>
              <a:t>The dose exponents of swelling during the log period are often close to 2/3, in line with assumptions based on interstitial clusters</a:t>
            </a:r>
          </a:p>
          <a:p>
            <a:r>
              <a:rPr lang="en-US" sz="2000" dirty="0"/>
              <a:t>This temperature regime is referred to as the point-defect swelling regime and goes from critical amorphization temperature to about 1273 K</a:t>
            </a:r>
          </a:p>
          <a:p>
            <a:endParaRPr lang="en-US" sz="2000" dirty="0"/>
          </a:p>
          <a:p>
            <a:endParaRPr lang="en-US" sz="2000" dirty="0"/>
          </a:p>
          <a:p>
            <a:endParaRPr lang="en-US" sz="2000" dirty="0"/>
          </a:p>
        </p:txBody>
      </p:sp>
      <p:sp>
        <p:nvSpPr>
          <p:cNvPr id="11" name="Slide Number Placeholder 10">
            <a:extLst>
              <a:ext uri="{FF2B5EF4-FFF2-40B4-BE49-F238E27FC236}">
                <a16:creationId xmlns:a16="http://schemas.microsoft.com/office/drawing/2014/main" id="{857752AB-4E91-654B-9BEA-04BA868B82CC}"/>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pic>
        <p:nvPicPr>
          <p:cNvPr id="5" name="Content Placeholder 9" descr="Swelling percent of SiC as a function of dose at different temperatures">
            <a:extLst>
              <a:ext uri="{FF2B5EF4-FFF2-40B4-BE49-F238E27FC236}">
                <a16:creationId xmlns:a16="http://schemas.microsoft.com/office/drawing/2014/main" id="{0A87967C-DDCE-3C8D-A5C4-7988D9C284F9}"/>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563015" y="1968499"/>
            <a:ext cx="3494660" cy="3989387"/>
          </a:xfrm>
          <a:prstGeom prst="rect">
            <a:avLst/>
          </a:prstGeom>
        </p:spPr>
      </p:pic>
    </p:spTree>
    <p:extLst>
      <p:ext uri="{BB962C8B-B14F-4D97-AF65-F5344CB8AC3E}">
        <p14:creationId xmlns:p14="http://schemas.microsoft.com/office/powerpoint/2010/main" val="3937104751"/>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87583</TotalTime>
  <Words>2871</Words>
  <Application>Microsoft Macintosh PowerPoint</Application>
  <PresentationFormat>Widescreen</PresentationFormat>
  <Paragraphs>231</Paragraphs>
  <Slides>33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Helvetica</vt:lpstr>
      <vt:lpstr>Times</vt:lpstr>
      <vt:lpstr>1_NCStateU-horizontal-left-logo</vt:lpstr>
      <vt:lpstr>NE 763: Advanced Reactor Materials</vt:lpstr>
      <vt:lpstr>Last Time</vt:lpstr>
      <vt:lpstr>TRISO Particles</vt:lpstr>
      <vt:lpstr>Fuel Kernel + Buffer</vt:lpstr>
      <vt:lpstr>IPyC-SiC-OPyC</vt:lpstr>
      <vt:lpstr>Early Concepts</vt:lpstr>
      <vt:lpstr>Early Failure</vt:lpstr>
      <vt:lpstr>Transition to TRISO</vt:lpstr>
      <vt:lpstr>Brief Review</vt:lpstr>
      <vt:lpstr>fuel kernel</vt:lpstr>
      <vt:lpstr>Fuel Kernel</vt:lpstr>
      <vt:lpstr>Fuel Chemistry</vt:lpstr>
      <vt:lpstr>Oxygen Potential</vt:lpstr>
      <vt:lpstr>Oxygen Potential</vt:lpstr>
      <vt:lpstr>CO Pressurization</vt:lpstr>
      <vt:lpstr>Uranium Oxycarbide (UCO)</vt:lpstr>
      <vt:lpstr>UCO</vt:lpstr>
      <vt:lpstr>Interlude…</vt:lpstr>
      <vt:lpstr>Fission Products</vt:lpstr>
      <vt:lpstr>There are various types of fission products that form</vt:lpstr>
      <vt:lpstr>Fission Products</vt:lpstr>
      <vt:lpstr>Fission Products</vt:lpstr>
      <vt:lpstr>Bubble Resolution</vt:lpstr>
      <vt:lpstr>Fission Product Chemistry</vt:lpstr>
      <vt:lpstr>Fission Product Carbides</vt:lpstr>
      <vt:lpstr>Fuel Kernel Summary</vt:lpstr>
      <vt:lpstr>Silicon Carbide</vt:lpstr>
      <vt:lpstr>Silicon Carbide (SiC)</vt:lpstr>
      <vt:lpstr>Silicon Carbide (SiC)</vt:lpstr>
      <vt:lpstr>Radiation Effects in SiC</vt:lpstr>
      <vt:lpstr>Radiation Effects in SiC</vt:lpstr>
      <vt:lpstr>Low T Radiation Effects in SiC</vt:lpstr>
      <vt:lpstr>Low-Med T Radiation Effects in SiC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195</cp:revision>
  <dcterms:created xsi:type="dcterms:W3CDTF">2019-12-09T16:44:02Z</dcterms:created>
  <dcterms:modified xsi:type="dcterms:W3CDTF">2026-08-20T18:55:17Z</dcterms:modified>
</cp:coreProperties>
</file>
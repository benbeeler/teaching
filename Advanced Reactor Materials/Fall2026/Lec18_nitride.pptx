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5"/>
  </p:notesMasterIdLst>
  <p:sldIdLst>
    <p:sldId id="257" r:id="rId2"/>
    <p:sldId id="431" r:id="rId3"/>
    <p:sldId id="439" r:id="rId4"/>
    <p:sldId id="435" r:id="rId5"/>
    <p:sldId id="440" r:id="rId6"/>
    <p:sldId id="441" r:id="rId7"/>
    <p:sldId id="446" r:id="rId8"/>
    <p:sldId id="445" r:id="rId9"/>
    <p:sldId id="448" r:id="rId10"/>
    <p:sldId id="449" r:id="rId11"/>
    <p:sldId id="447" r:id="rId12"/>
    <p:sldId id="450" r:id="rId13"/>
    <p:sldId id="451" r:id="rId14"/>
    <p:sldId id="452" r:id="rId15"/>
    <p:sldId id="453" r:id="rId16"/>
    <p:sldId id="485" r:id="rId17"/>
    <p:sldId id="487" r:id="rId18"/>
    <p:sldId id="486" r:id="rId19"/>
    <p:sldId id="455" r:id="rId20"/>
    <p:sldId id="436" r:id="rId21"/>
    <p:sldId id="442" r:id="rId22"/>
    <p:sldId id="443" r:id="rId23"/>
    <p:sldId id="444" r:id="rId24"/>
    <p:sldId id="488" r:id="rId25"/>
    <p:sldId id="424" r:id="rId26"/>
    <p:sldId id="421" r:id="rId27"/>
    <p:sldId id="432" r:id="rId28"/>
    <p:sldId id="433" r:id="rId29"/>
    <p:sldId id="422" r:id="rId30"/>
    <p:sldId id="428" r:id="rId31"/>
    <p:sldId id="429" r:id="rId32"/>
    <p:sldId id="430" r:id="rId33"/>
    <p:sldId id="454"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6"/>
    <p:restoredTop sz="96654"/>
  </p:normalViewPr>
  <p:slideViewPr>
    <p:cSldViewPr snapToGrid="0" snapToObjects="1">
      <p:cViewPr varScale="1">
        <p:scale>
          <a:sx n="126" d="100"/>
          <a:sy n="126" d="100"/>
        </p:scale>
        <p:origin x="36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8CAEED-5450-EE4D-B412-7C72FD553928}" type="datetimeFigureOut">
              <a:rPr lang="en-US" smtClean="0"/>
              <a:t>10/13/26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5D4152-B4F7-6E48-87AE-D080B5F5F819}" type="slidenum">
              <a:rPr lang="en-US" smtClean="0"/>
              <a:t>‹#›</a:t>
            </a:fld>
            <a:endParaRPr lang="en-US"/>
          </a:p>
        </p:txBody>
      </p:sp>
    </p:spTree>
    <p:extLst>
      <p:ext uri="{BB962C8B-B14F-4D97-AF65-F5344CB8AC3E}">
        <p14:creationId xmlns:p14="http://schemas.microsoft.com/office/powerpoint/2010/main" val="7357210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B94AA4F1-E60E-ED49-8C20-82C5C22F290D}"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41020660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endParaRPr lang="en-US" dirty="0"/>
          </a:p>
        </p:txBody>
      </p:sp>
      <p:sp>
        <p:nvSpPr>
          <p:cNvPr id="3" name="Content Placeholder 2"/>
          <p:cNvSpPr>
            <a:spLocks noGrp="1"/>
          </p:cNvSpPr>
          <p:nvPr>
            <p:ph idx="1"/>
          </p:nvPr>
        </p:nvSpPr>
        <p:spPr>
          <a:xfrm>
            <a:off x="609600" y="1968500"/>
            <a:ext cx="10972800" cy="4157664"/>
          </a:xfrm>
        </p:spPr>
        <p:txBody>
          <a:bodyPr/>
          <a:lstStyle>
            <a:lvl1pPr>
              <a:defRPr sz="2000"/>
            </a:lvl1pPr>
            <a:lvl2pPr>
              <a:defRPr sz="2000"/>
            </a:lvl2pPr>
            <a:lvl3pPr>
              <a:defRPr sz="2000"/>
            </a:lvl3pPr>
            <a:lvl4pPr>
              <a:defRPr sz="2000"/>
            </a:lvl4pPr>
            <a:lvl5pPr>
              <a:defRPr sz="20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1BD2A092-D95B-2F45-9AE1-6EFCF7AE7B47}"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70502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F3B8BFC1-C5A3-FC42-B47E-2330D93F4E7B}"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13911220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2000"/>
            </a:lvl1pPr>
            <a:lvl2pPr>
              <a:defRPr sz="2000"/>
            </a:lvl2pPr>
            <a:lvl3pPr>
              <a:defRPr sz="2000"/>
            </a:lvl3pPr>
            <a:lvl4pPr>
              <a:defRPr sz="2000"/>
            </a:lvl4pPr>
            <a:lvl5pPr>
              <a:defRPr sz="20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2582718-A77B-9048-9272-D0B6D7D4EB49}"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68776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lgn="l">
              <a:defRPr sz="3200"/>
            </a:lvl1pPr>
          </a:lstStyle>
          <a:p>
            <a:r>
              <a:rPr lang="en-US"/>
              <a:t>Click to edit Master title style</a:t>
            </a:r>
            <a:endParaRPr lang="en-US" dirty="0"/>
          </a:p>
        </p:txBody>
      </p:sp>
      <p:sp>
        <p:nvSpPr>
          <p:cNvPr id="4" name="Content Placeholder 3"/>
          <p:cNvSpPr>
            <a:spLocks noGrp="1"/>
          </p:cNvSpPr>
          <p:nvPr>
            <p:ph sz="half" idx="2"/>
          </p:nvPr>
        </p:nvSpPr>
        <p:spPr>
          <a:xfrm>
            <a:off x="609600" y="1935726"/>
            <a:ext cx="5386917"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1935726"/>
            <a:ext cx="5389033" cy="4190437"/>
          </a:xfrm>
        </p:spPr>
        <p:txBody>
          <a:bodyPr/>
          <a:lstStyle>
            <a:lvl1pPr>
              <a:defRPr sz="2000"/>
            </a:lvl1pPr>
            <a:lvl2pPr>
              <a:defRPr sz="2000"/>
            </a:lvl2pPr>
            <a:lvl3pPr>
              <a:defRPr sz="2000"/>
            </a:lvl3pPr>
            <a:lvl4pPr>
              <a:defRPr sz="2000"/>
            </a:lvl4pPr>
            <a:lvl5pPr>
              <a:defRPr sz="2000"/>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4EF29A29-DE41-AE44-84CD-E2DC9D0A4AEF}"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9979396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3200"/>
            </a:lvl1p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2D88F258-9F55-9A4A-8F7B-E6D573AE7D17}" type="datetime1">
              <a:rPr lang="en-US" smtClean="0"/>
              <a:t>10/13/26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4190147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E90C9A10-6892-2C47-9186-E7C225E7EF67}" type="datetime1">
              <a:rPr lang="en-US" smtClean="0"/>
              <a:t>10/13/26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20113076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2B0F250-9D6A-4F4C-B5DC-E5BB3C55173B}"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1696343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6AFAADB8-F38D-2C42-A4A0-2C734CD2343F}" type="datetime1">
              <a:rPr lang="en-US" smtClean="0"/>
              <a:t>10/13/26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2165509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B2A76008-4EAC-D34C-B1EB-04DA1310F40F}"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1465542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7929ADC1-8B12-034F-A960-24F99F4EC07D}" type="datetime1">
              <a:rPr lang="en-US" smtClean="0"/>
              <a:t>10/13/26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19243047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05529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20181156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2C8D95E-0433-3E41-A2B7-DA6DB5BC1DF2}" type="datetime1">
              <a:rPr lang="en-US" smtClean="0"/>
              <a:t>10/13/26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8872395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29A14411-20DE-BF4C-B2EF-F03C6EB9FD11}" type="datetime1">
              <a:rPr lang="en-US" smtClean="0"/>
              <a:t>10/13/26</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176984920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65" r:id="rId14"/>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2026</a:t>
            </a:r>
          </a:p>
          <a:p>
            <a:r>
              <a:rPr lang="en-US" dirty="0"/>
              <a:t>Dr. Benjamin Beeler</a:t>
            </a:r>
          </a:p>
        </p:txBody>
      </p:sp>
      <p:sp>
        <p:nvSpPr>
          <p:cNvPr id="4" name="Slide Number Placeholder 3">
            <a:extLst>
              <a:ext uri="{FF2B5EF4-FFF2-40B4-BE49-F238E27FC236}">
                <a16:creationId xmlns:a16="http://schemas.microsoft.com/office/drawing/2014/main" id="{D3A59C09-7130-3E40-BE71-8FD8881EF0C1}"/>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340782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498CF-D290-5B48-A527-C9D88D378394}"/>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B59AFB9E-7F06-1E43-AD25-87B4B04B8914}"/>
              </a:ext>
            </a:extLst>
          </p:cNvPr>
          <p:cNvSpPr>
            <a:spLocks noGrp="1"/>
          </p:cNvSpPr>
          <p:nvPr>
            <p:ph idx="1"/>
          </p:nvPr>
        </p:nvSpPr>
        <p:spPr>
          <a:xfrm>
            <a:off x="609600" y="1888435"/>
            <a:ext cx="10972800" cy="4237729"/>
          </a:xfrm>
        </p:spPr>
        <p:txBody>
          <a:bodyPr/>
          <a:lstStyle/>
          <a:p>
            <a:r>
              <a:rPr lang="en-US" sz="2000" dirty="0"/>
              <a:t>UC restructuring:</a:t>
            </a:r>
          </a:p>
          <a:p>
            <a:pPr lvl="1"/>
            <a:r>
              <a:rPr lang="en-US" sz="2000" dirty="0"/>
              <a:t>3 main zones: 1) interior with large interconnected porosity, 3) high microscopic swelling with grain growth, 4) low porosity, no grain growth</a:t>
            </a:r>
          </a:p>
          <a:p>
            <a:pPr lvl="1"/>
            <a:r>
              <a:rPr lang="en-US" sz="2000" dirty="0"/>
              <a:t>zone 2 only forms at high powers: has columnar grains</a:t>
            </a:r>
          </a:p>
          <a:p>
            <a:r>
              <a:rPr lang="en-US" sz="2000" dirty="0"/>
              <a:t>UC FCCI:</a:t>
            </a:r>
          </a:p>
          <a:p>
            <a:pPr lvl="1"/>
            <a:r>
              <a:rPr lang="en-US" sz="2000" dirty="0"/>
              <a:t>primary concern is carburization, formation of Cr-C precipitates along grain boundaries and then crystallographic planes; governed by C diffusion into the cladding; FCCI is worse for Na-bonded pins, as C transport to cladding is faster</a:t>
            </a:r>
          </a:p>
          <a:p>
            <a:r>
              <a:rPr lang="en-US" sz="2000" dirty="0"/>
              <a:t>Carbide fabrication: carbothermic reduction</a:t>
            </a:r>
          </a:p>
          <a:p>
            <a:endParaRPr lang="en-US" sz="2000" dirty="0"/>
          </a:p>
          <a:p>
            <a:r>
              <a:rPr lang="en-US" sz="2000" dirty="0"/>
              <a:t>Started on nitrides: Similar benefits to UC fuels, options for reprocessing, interest from a variety of reactor concepts</a:t>
            </a:r>
          </a:p>
          <a:p>
            <a:r>
              <a:rPr lang="en-US" sz="2000" dirty="0"/>
              <a:t>UN and U2N3 are main phases, depends on N partial pressure</a:t>
            </a:r>
          </a:p>
          <a:p>
            <a:endParaRPr lang="en-US" sz="2000" dirty="0"/>
          </a:p>
          <a:p>
            <a:endParaRPr lang="en-US" sz="2000" dirty="0"/>
          </a:p>
        </p:txBody>
      </p:sp>
      <p:sp>
        <p:nvSpPr>
          <p:cNvPr id="4" name="Slide Number Placeholder 3">
            <a:extLst>
              <a:ext uri="{FF2B5EF4-FFF2-40B4-BE49-F238E27FC236}">
                <a16:creationId xmlns:a16="http://schemas.microsoft.com/office/drawing/2014/main" id="{4A8E7BC0-4DA6-2E40-A3B2-211A244F7957}"/>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1818881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26685-13ED-444E-87A4-49AB167CFC56}"/>
              </a:ext>
            </a:extLst>
          </p:cNvPr>
          <p:cNvSpPr>
            <a:spLocks noGrp="1"/>
          </p:cNvSpPr>
          <p:nvPr>
            <p:ph type="title"/>
          </p:nvPr>
        </p:nvSpPr>
        <p:spPr/>
        <p:txBody>
          <a:bodyPr/>
          <a:lstStyle/>
          <a:p>
            <a:r>
              <a:rPr lang="en-US" dirty="0"/>
              <a:t>UN Decomposition</a:t>
            </a:r>
          </a:p>
        </p:txBody>
      </p:sp>
      <p:sp>
        <p:nvSpPr>
          <p:cNvPr id="3" name="Content Placeholder 2">
            <a:extLst>
              <a:ext uri="{FF2B5EF4-FFF2-40B4-BE49-F238E27FC236}">
                <a16:creationId xmlns:a16="http://schemas.microsoft.com/office/drawing/2014/main" id="{354DF1C9-0C8A-3643-9CE5-81DC14A3225E}"/>
              </a:ext>
            </a:extLst>
          </p:cNvPr>
          <p:cNvSpPr>
            <a:spLocks noGrp="1"/>
          </p:cNvSpPr>
          <p:nvPr>
            <p:ph sz="half" idx="1"/>
          </p:nvPr>
        </p:nvSpPr>
        <p:spPr>
          <a:xfrm>
            <a:off x="609600" y="1968500"/>
            <a:ext cx="4876800" cy="4157663"/>
          </a:xfrm>
        </p:spPr>
        <p:txBody>
          <a:bodyPr/>
          <a:lstStyle/>
          <a:p>
            <a:r>
              <a:rPr lang="en-US" sz="2200" dirty="0"/>
              <a:t>The decomposition of U2N3 is the last stage in the formation of UN through carbothermic reduction, thus the equilibrium nitrogen pressure of UN and U2N3 is very important from the viewpoint of their use as nuclear fuels</a:t>
            </a:r>
          </a:p>
          <a:p>
            <a:r>
              <a:rPr lang="en-US" sz="2200" dirty="0"/>
              <a:t>UN decomposes at 3073K and U2N3 decomposes 1620K at nitrogen pressure of 1 atm</a:t>
            </a:r>
          </a:p>
          <a:p>
            <a:endParaRPr lang="en-US" sz="2200" dirty="0"/>
          </a:p>
          <a:p>
            <a:endParaRPr lang="en-US" sz="2200" dirty="0"/>
          </a:p>
        </p:txBody>
      </p:sp>
      <p:pic>
        <p:nvPicPr>
          <p:cNvPr id="6" name="Content Placeholder 5">
            <a:extLst>
              <a:ext uri="{FF2B5EF4-FFF2-40B4-BE49-F238E27FC236}">
                <a16:creationId xmlns:a16="http://schemas.microsoft.com/office/drawing/2014/main" id="{A1E2469C-144E-CC43-B818-EA10CAD3F7AC}"/>
              </a:ext>
            </a:extLst>
          </p:cNvPr>
          <p:cNvPicPr>
            <a:picLocks noGrp="1" noChangeAspect="1"/>
          </p:cNvPicPr>
          <p:nvPr>
            <p:ph sz="half" idx="2"/>
          </p:nvPr>
        </p:nvPicPr>
        <p:blipFill>
          <a:blip r:embed="rId2"/>
          <a:stretch>
            <a:fillRect/>
          </a:stretch>
        </p:blipFill>
        <p:spPr>
          <a:xfrm>
            <a:off x="5780595" y="2230644"/>
            <a:ext cx="3164915" cy="3393455"/>
          </a:xfrm>
          <a:prstGeom prst="rect">
            <a:avLst/>
          </a:prstGeom>
        </p:spPr>
      </p:pic>
      <p:sp>
        <p:nvSpPr>
          <p:cNvPr id="5" name="Slide Number Placeholder 4">
            <a:extLst>
              <a:ext uri="{FF2B5EF4-FFF2-40B4-BE49-F238E27FC236}">
                <a16:creationId xmlns:a16="http://schemas.microsoft.com/office/drawing/2014/main" id="{5691C838-D6AE-EB4E-84B6-D8842425A6B3}"/>
              </a:ext>
            </a:extLst>
          </p:cNvPr>
          <p:cNvSpPr>
            <a:spLocks noGrp="1"/>
          </p:cNvSpPr>
          <p:nvPr>
            <p:ph type="sldNum" sz="quarter" idx="12"/>
          </p:nvPr>
        </p:nvSpPr>
        <p:spPr/>
        <p:txBody>
          <a:bodyPr/>
          <a:lstStyle/>
          <a:p>
            <a:pPr>
              <a:defRPr/>
            </a:pPr>
            <a:fld id="{EC35E9FC-F6D5-0349-BBED-EA7D7A9BC49B}" type="slidenum">
              <a:rPr lang="en-US" smtClean="0"/>
              <a:pPr>
                <a:defRPr/>
              </a:pPr>
              <a:t>3</a:t>
            </a:fld>
            <a:endParaRPr lang="en-US"/>
          </a:p>
        </p:txBody>
      </p:sp>
      <p:pic>
        <p:nvPicPr>
          <p:cNvPr id="7" name="Picture 6">
            <a:extLst>
              <a:ext uri="{FF2B5EF4-FFF2-40B4-BE49-F238E27FC236}">
                <a16:creationId xmlns:a16="http://schemas.microsoft.com/office/drawing/2014/main" id="{252EA2E1-748C-764A-AA20-2104F33CE300}"/>
              </a:ext>
            </a:extLst>
          </p:cNvPr>
          <p:cNvPicPr>
            <a:picLocks noChangeAspect="1"/>
          </p:cNvPicPr>
          <p:nvPr/>
        </p:nvPicPr>
        <p:blipFill>
          <a:blip r:embed="rId3"/>
          <a:stretch>
            <a:fillRect/>
          </a:stretch>
        </p:blipFill>
        <p:spPr>
          <a:xfrm>
            <a:off x="8945510" y="2222601"/>
            <a:ext cx="3135097" cy="3480373"/>
          </a:xfrm>
          <a:prstGeom prst="rect">
            <a:avLst/>
          </a:prstGeom>
        </p:spPr>
      </p:pic>
    </p:spTree>
    <p:extLst>
      <p:ext uri="{BB962C8B-B14F-4D97-AF65-F5344CB8AC3E}">
        <p14:creationId xmlns:p14="http://schemas.microsoft.com/office/powerpoint/2010/main" val="3378986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83658-E0BE-2948-AC93-3B382352071A}"/>
              </a:ext>
            </a:extLst>
          </p:cNvPr>
          <p:cNvSpPr>
            <a:spLocks noGrp="1"/>
          </p:cNvSpPr>
          <p:nvPr>
            <p:ph type="title"/>
          </p:nvPr>
        </p:nvSpPr>
        <p:spPr/>
        <p:txBody>
          <a:bodyPr/>
          <a:lstStyle/>
          <a:p>
            <a:pPr algn="l"/>
            <a:r>
              <a:rPr lang="en-US" dirty="0"/>
              <a:t>MN Crystal Structure</a:t>
            </a:r>
          </a:p>
        </p:txBody>
      </p:sp>
      <p:pic>
        <p:nvPicPr>
          <p:cNvPr id="6" name="Content Placeholder 5">
            <a:extLst>
              <a:ext uri="{FF2B5EF4-FFF2-40B4-BE49-F238E27FC236}">
                <a16:creationId xmlns:a16="http://schemas.microsoft.com/office/drawing/2014/main" id="{D4AB77CD-DF9F-B749-88BF-61C4792A6F76}"/>
              </a:ext>
            </a:extLst>
          </p:cNvPr>
          <p:cNvPicPr>
            <a:picLocks noGrp="1" noChangeAspect="1"/>
          </p:cNvPicPr>
          <p:nvPr>
            <p:ph sz="half" idx="1"/>
          </p:nvPr>
        </p:nvPicPr>
        <p:blipFill>
          <a:blip r:embed="rId2"/>
          <a:stretch>
            <a:fillRect/>
          </a:stretch>
        </p:blipFill>
        <p:spPr>
          <a:xfrm>
            <a:off x="4622801" y="2414440"/>
            <a:ext cx="3184938" cy="2712334"/>
          </a:xfrm>
          <a:prstGeom prst="rect">
            <a:avLst/>
          </a:prstGeom>
        </p:spPr>
      </p:pic>
      <p:pic>
        <p:nvPicPr>
          <p:cNvPr id="7" name="Content Placeholder 6">
            <a:extLst>
              <a:ext uri="{FF2B5EF4-FFF2-40B4-BE49-F238E27FC236}">
                <a16:creationId xmlns:a16="http://schemas.microsoft.com/office/drawing/2014/main" id="{F7BBACBA-F349-E646-8B0E-E0EA2CCDCFC2}"/>
              </a:ext>
            </a:extLst>
          </p:cNvPr>
          <p:cNvPicPr>
            <a:picLocks noGrp="1" noChangeAspect="1"/>
          </p:cNvPicPr>
          <p:nvPr>
            <p:ph sz="half" idx="2"/>
          </p:nvPr>
        </p:nvPicPr>
        <p:blipFill>
          <a:blip r:embed="rId3"/>
          <a:stretch>
            <a:fillRect/>
          </a:stretch>
        </p:blipFill>
        <p:spPr>
          <a:xfrm>
            <a:off x="8009780" y="1968500"/>
            <a:ext cx="4097186" cy="3360411"/>
          </a:xfrm>
          <a:prstGeom prst="rect">
            <a:avLst/>
          </a:prstGeom>
        </p:spPr>
      </p:pic>
      <p:sp>
        <p:nvSpPr>
          <p:cNvPr id="5" name="Slide Number Placeholder 4">
            <a:extLst>
              <a:ext uri="{FF2B5EF4-FFF2-40B4-BE49-F238E27FC236}">
                <a16:creationId xmlns:a16="http://schemas.microsoft.com/office/drawing/2014/main" id="{83F84630-7890-6B48-AAEC-F02D377DB60E}"/>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
        <p:nvSpPr>
          <p:cNvPr id="3" name="Content Placeholder 2">
            <a:extLst>
              <a:ext uri="{FF2B5EF4-FFF2-40B4-BE49-F238E27FC236}">
                <a16:creationId xmlns:a16="http://schemas.microsoft.com/office/drawing/2014/main" id="{0865A1F8-65F7-33F5-B618-27887D280DF9}"/>
              </a:ext>
            </a:extLst>
          </p:cNvPr>
          <p:cNvSpPr txBox="1">
            <a:spLocks/>
          </p:cNvSpPr>
          <p:nvPr/>
        </p:nvSpPr>
        <p:spPr bwMode="auto">
          <a:xfrm>
            <a:off x="609600" y="1968500"/>
            <a:ext cx="4290391"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r>
              <a:rPr lang="en-US" sz="2200" dirty="0"/>
              <a:t>UN has same NaCl-type close-packed structure as UC</a:t>
            </a:r>
          </a:p>
          <a:p>
            <a:r>
              <a:rPr lang="en-US" sz="2200" dirty="0"/>
              <a:t>Several actinides also share this NaCl-type structure, and thus can exist as substitutional species in UN/</a:t>
            </a:r>
            <a:r>
              <a:rPr lang="en-US" sz="2200" dirty="0" err="1"/>
              <a:t>PuN</a:t>
            </a:r>
            <a:endParaRPr lang="en-US" sz="2200" dirty="0"/>
          </a:p>
          <a:p>
            <a:r>
              <a:rPr lang="en-US" sz="2200" dirty="0"/>
              <a:t>Allows for fabrication of homogeneous mixed nitride fuels, including MA-bearing fuels </a:t>
            </a:r>
          </a:p>
          <a:p>
            <a:endParaRPr lang="en-US" sz="2200" dirty="0"/>
          </a:p>
          <a:p>
            <a:endParaRPr lang="en-US" sz="2200" dirty="0"/>
          </a:p>
        </p:txBody>
      </p:sp>
    </p:spTree>
    <p:extLst>
      <p:ext uri="{BB962C8B-B14F-4D97-AF65-F5344CB8AC3E}">
        <p14:creationId xmlns:p14="http://schemas.microsoft.com/office/powerpoint/2010/main" val="36030781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C1B2D8-0A89-6E41-8D76-2EB715645836}"/>
              </a:ext>
            </a:extLst>
          </p:cNvPr>
          <p:cNvSpPr>
            <a:spLocks noGrp="1"/>
          </p:cNvSpPr>
          <p:nvPr>
            <p:ph type="title"/>
          </p:nvPr>
        </p:nvSpPr>
        <p:spPr/>
        <p:txBody>
          <a:bodyPr/>
          <a:lstStyle/>
          <a:p>
            <a:r>
              <a:rPr lang="en-US" dirty="0"/>
              <a:t>Ternary U/Pu-N</a:t>
            </a:r>
          </a:p>
        </p:txBody>
      </p:sp>
      <p:sp>
        <p:nvSpPr>
          <p:cNvPr id="3" name="Content Placeholder 2">
            <a:extLst>
              <a:ext uri="{FF2B5EF4-FFF2-40B4-BE49-F238E27FC236}">
                <a16:creationId xmlns:a16="http://schemas.microsoft.com/office/drawing/2014/main" id="{B283B449-B0E5-7649-BDB0-4DFADBEBB2EA}"/>
              </a:ext>
            </a:extLst>
          </p:cNvPr>
          <p:cNvSpPr>
            <a:spLocks noGrp="1"/>
          </p:cNvSpPr>
          <p:nvPr>
            <p:ph sz="half" idx="1"/>
          </p:nvPr>
        </p:nvSpPr>
        <p:spPr/>
        <p:txBody>
          <a:bodyPr/>
          <a:lstStyle/>
          <a:p>
            <a:r>
              <a:rPr lang="en-US" sz="2200" dirty="0"/>
              <a:t>The ternary system is characterized by a complete solubility of UN and </a:t>
            </a:r>
            <a:r>
              <a:rPr lang="en-US" sz="2200" dirty="0" err="1"/>
              <a:t>PuN</a:t>
            </a:r>
            <a:endParaRPr lang="en-US" sz="2200" dirty="0"/>
          </a:p>
          <a:p>
            <a:r>
              <a:rPr lang="en-US" sz="2200" dirty="0"/>
              <a:t>The (</a:t>
            </a:r>
            <a:r>
              <a:rPr lang="en-US" sz="2200" dirty="0" err="1"/>
              <a:t>U,Pu</a:t>
            </a:r>
            <a:r>
              <a:rPr lang="en-US" sz="2200" dirty="0"/>
              <a:t>)N phase has a narrow composition range of the N/(</a:t>
            </a:r>
            <a:r>
              <a:rPr lang="en-US" sz="2200" dirty="0" err="1"/>
              <a:t>U+Pu</a:t>
            </a:r>
            <a:r>
              <a:rPr lang="en-US" sz="2200" dirty="0"/>
              <a:t>) molar ratio</a:t>
            </a:r>
          </a:p>
          <a:p>
            <a:r>
              <a:rPr lang="en-US" sz="2200" dirty="0"/>
              <a:t>Although Pu2N3 does not exist in the Pu–N system, a </a:t>
            </a:r>
            <a:r>
              <a:rPr lang="en-US" sz="2200" dirty="0" err="1"/>
              <a:t>sesquinitride</a:t>
            </a:r>
            <a:r>
              <a:rPr lang="en-US" sz="2200" dirty="0"/>
              <a:t> phase was identified in the U–Pu–N system at a Pu/(</a:t>
            </a:r>
            <a:r>
              <a:rPr lang="en-US" sz="2200" dirty="0" err="1"/>
              <a:t>U+Pu</a:t>
            </a:r>
            <a:r>
              <a:rPr lang="en-US" sz="2200" dirty="0"/>
              <a:t>) molar ratio of 0.15</a:t>
            </a:r>
          </a:p>
          <a:p>
            <a:endParaRPr lang="en-US" sz="2200" dirty="0"/>
          </a:p>
        </p:txBody>
      </p:sp>
      <p:sp>
        <p:nvSpPr>
          <p:cNvPr id="4" name="Content Placeholder 3">
            <a:extLst>
              <a:ext uri="{FF2B5EF4-FFF2-40B4-BE49-F238E27FC236}">
                <a16:creationId xmlns:a16="http://schemas.microsoft.com/office/drawing/2014/main" id="{9F01189D-7A4E-DF47-93AD-6BF2AA1DFE0B}"/>
              </a:ext>
            </a:extLst>
          </p:cNvPr>
          <p:cNvSpPr>
            <a:spLocks noGrp="1"/>
          </p:cNvSpPr>
          <p:nvPr>
            <p:ph sz="half" idx="2"/>
          </p:nvPr>
        </p:nvSpPr>
        <p:spPr/>
        <p:txBody>
          <a:bodyPr/>
          <a:lstStyle/>
          <a:p>
            <a:r>
              <a:rPr lang="en-US" sz="2200" dirty="0"/>
              <a:t>In a mononitride lattice with NaCl-type structure, small nitrogen atoms are incorporated into a dense face-centered cubic packing of metal atoms</a:t>
            </a:r>
          </a:p>
          <a:p>
            <a:endParaRPr lang="en-US" sz="2200" dirty="0"/>
          </a:p>
        </p:txBody>
      </p:sp>
      <p:sp>
        <p:nvSpPr>
          <p:cNvPr id="5" name="Slide Number Placeholder 4">
            <a:extLst>
              <a:ext uri="{FF2B5EF4-FFF2-40B4-BE49-F238E27FC236}">
                <a16:creationId xmlns:a16="http://schemas.microsoft.com/office/drawing/2014/main" id="{AC0980D8-C0F8-D54F-8AA3-6D305D4EE32F}"/>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pic>
        <p:nvPicPr>
          <p:cNvPr id="7" name="Content Placeholder 6">
            <a:extLst>
              <a:ext uri="{FF2B5EF4-FFF2-40B4-BE49-F238E27FC236}">
                <a16:creationId xmlns:a16="http://schemas.microsoft.com/office/drawing/2014/main" id="{47F34E8C-7265-364E-9819-4A5C6B25A1CB}"/>
              </a:ext>
            </a:extLst>
          </p:cNvPr>
          <p:cNvPicPr>
            <a:picLocks noChangeAspect="1"/>
          </p:cNvPicPr>
          <p:nvPr/>
        </p:nvPicPr>
        <p:blipFill rotWithShape="1">
          <a:blip r:embed="rId2"/>
          <a:srcRect r="51246" b="47584"/>
          <a:stretch/>
        </p:blipFill>
        <p:spPr bwMode="auto">
          <a:xfrm>
            <a:off x="7533033" y="3684277"/>
            <a:ext cx="2844800" cy="28349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pic>
    </p:spTree>
    <p:extLst>
      <p:ext uri="{BB962C8B-B14F-4D97-AF65-F5344CB8AC3E}">
        <p14:creationId xmlns:p14="http://schemas.microsoft.com/office/powerpoint/2010/main" val="608770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E5D1F7C-4A5C-0440-9AE9-6F62181F0D57}"/>
              </a:ext>
            </a:extLst>
          </p:cNvPr>
          <p:cNvPicPr>
            <a:picLocks noChangeAspect="1"/>
          </p:cNvPicPr>
          <p:nvPr/>
        </p:nvPicPr>
        <p:blipFill>
          <a:blip r:embed="rId2"/>
          <a:stretch>
            <a:fillRect/>
          </a:stretch>
        </p:blipFill>
        <p:spPr>
          <a:xfrm>
            <a:off x="8007626" y="4001097"/>
            <a:ext cx="3574774" cy="2706282"/>
          </a:xfrm>
          <a:prstGeom prst="rect">
            <a:avLst/>
          </a:prstGeom>
        </p:spPr>
      </p:pic>
      <p:sp>
        <p:nvSpPr>
          <p:cNvPr id="2" name="Title 1">
            <a:extLst>
              <a:ext uri="{FF2B5EF4-FFF2-40B4-BE49-F238E27FC236}">
                <a16:creationId xmlns:a16="http://schemas.microsoft.com/office/drawing/2014/main" id="{1DB45949-24EC-7D4D-90DC-323367E6A753}"/>
              </a:ext>
            </a:extLst>
          </p:cNvPr>
          <p:cNvSpPr>
            <a:spLocks noGrp="1"/>
          </p:cNvSpPr>
          <p:nvPr>
            <p:ph type="title"/>
          </p:nvPr>
        </p:nvSpPr>
        <p:spPr/>
        <p:txBody>
          <a:bodyPr/>
          <a:lstStyle/>
          <a:p>
            <a:r>
              <a:rPr lang="en-US" dirty="0"/>
              <a:t>Effect of Pu on U/Pu N Properties</a:t>
            </a:r>
          </a:p>
        </p:txBody>
      </p:sp>
      <p:sp>
        <p:nvSpPr>
          <p:cNvPr id="3" name="Content Placeholder 2">
            <a:extLst>
              <a:ext uri="{FF2B5EF4-FFF2-40B4-BE49-F238E27FC236}">
                <a16:creationId xmlns:a16="http://schemas.microsoft.com/office/drawing/2014/main" id="{4993ED67-FAC7-4740-8173-9AC6766AC290}"/>
              </a:ext>
            </a:extLst>
          </p:cNvPr>
          <p:cNvSpPr>
            <a:spLocks noGrp="1"/>
          </p:cNvSpPr>
          <p:nvPr>
            <p:ph sz="half" idx="1"/>
          </p:nvPr>
        </p:nvSpPr>
        <p:spPr>
          <a:xfrm>
            <a:off x="609600" y="1968503"/>
            <a:ext cx="10972800" cy="1987271"/>
          </a:xfrm>
        </p:spPr>
        <p:txBody>
          <a:bodyPr/>
          <a:lstStyle/>
          <a:p>
            <a:r>
              <a:rPr lang="en-US" sz="2200" dirty="0"/>
              <a:t>The addition of Pu can dramatically affect thermophysical properties</a:t>
            </a:r>
          </a:p>
          <a:p>
            <a:r>
              <a:rPr lang="en-US" sz="2200" dirty="0"/>
              <a:t>Pu is more volatile than U, and has a higher vapor pressure</a:t>
            </a:r>
          </a:p>
          <a:p>
            <a:r>
              <a:rPr lang="en-US" sz="2200" dirty="0"/>
              <a:t>Pu degrades the thermal conductivity by as much as 2X</a:t>
            </a:r>
          </a:p>
          <a:p>
            <a:r>
              <a:rPr lang="en-US" sz="2200" dirty="0" err="1"/>
              <a:t>PuN</a:t>
            </a:r>
            <a:r>
              <a:rPr lang="en-US" sz="2200" dirty="0"/>
              <a:t> is less stable than UN, and could be susceptible to radiolysis</a:t>
            </a:r>
          </a:p>
        </p:txBody>
      </p:sp>
      <p:pic>
        <p:nvPicPr>
          <p:cNvPr id="6" name="Content Placeholder 5">
            <a:extLst>
              <a:ext uri="{FF2B5EF4-FFF2-40B4-BE49-F238E27FC236}">
                <a16:creationId xmlns:a16="http://schemas.microsoft.com/office/drawing/2014/main" id="{9E6DB7B1-0C9F-5646-BC6F-150828BA484B}"/>
              </a:ext>
            </a:extLst>
          </p:cNvPr>
          <p:cNvPicPr>
            <a:picLocks noGrp="1" noChangeAspect="1"/>
          </p:cNvPicPr>
          <p:nvPr>
            <p:ph sz="half" idx="2"/>
          </p:nvPr>
        </p:nvPicPr>
        <p:blipFill>
          <a:blip r:embed="rId3"/>
          <a:stretch>
            <a:fillRect/>
          </a:stretch>
        </p:blipFill>
        <p:spPr>
          <a:xfrm>
            <a:off x="4296327" y="4001097"/>
            <a:ext cx="3708136" cy="2720379"/>
          </a:xfrm>
          <a:prstGeom prst="rect">
            <a:avLst/>
          </a:prstGeom>
        </p:spPr>
      </p:pic>
      <p:sp>
        <p:nvSpPr>
          <p:cNvPr id="5" name="Slide Number Placeholder 4">
            <a:extLst>
              <a:ext uri="{FF2B5EF4-FFF2-40B4-BE49-F238E27FC236}">
                <a16:creationId xmlns:a16="http://schemas.microsoft.com/office/drawing/2014/main" id="{C9BB71B1-8395-9746-80A3-F456182A5726}"/>
              </a:ext>
            </a:extLst>
          </p:cNvPr>
          <p:cNvSpPr>
            <a:spLocks noGrp="1"/>
          </p:cNvSpPr>
          <p:nvPr>
            <p:ph type="sldNum" sz="quarter" idx="12"/>
          </p:nvPr>
        </p:nvSpPr>
        <p:spPr/>
        <p:txBody>
          <a:bodyPr/>
          <a:lstStyle/>
          <a:p>
            <a:pPr>
              <a:defRPr/>
            </a:pPr>
            <a:fld id="{EC35E9FC-F6D5-0349-BBED-EA7D7A9BC49B}" type="slidenum">
              <a:rPr lang="en-US" smtClean="0"/>
              <a:pPr>
                <a:defRPr/>
              </a:pPr>
              <a:t>6</a:t>
            </a:fld>
            <a:endParaRPr lang="en-US"/>
          </a:p>
        </p:txBody>
      </p:sp>
      <p:pic>
        <p:nvPicPr>
          <p:cNvPr id="8" name="Picture 7">
            <a:extLst>
              <a:ext uri="{FF2B5EF4-FFF2-40B4-BE49-F238E27FC236}">
                <a16:creationId xmlns:a16="http://schemas.microsoft.com/office/drawing/2014/main" id="{4C697AB1-67DC-0D49-B671-34F1C6D984B8}"/>
              </a:ext>
            </a:extLst>
          </p:cNvPr>
          <p:cNvPicPr>
            <a:picLocks noChangeAspect="1"/>
          </p:cNvPicPr>
          <p:nvPr/>
        </p:nvPicPr>
        <p:blipFill>
          <a:blip r:embed="rId4"/>
          <a:stretch>
            <a:fillRect/>
          </a:stretch>
        </p:blipFill>
        <p:spPr>
          <a:xfrm>
            <a:off x="439254" y="4086154"/>
            <a:ext cx="3861076" cy="2771846"/>
          </a:xfrm>
          <a:prstGeom prst="rect">
            <a:avLst/>
          </a:prstGeom>
        </p:spPr>
      </p:pic>
    </p:spTree>
    <p:extLst>
      <p:ext uri="{BB962C8B-B14F-4D97-AF65-F5344CB8AC3E}">
        <p14:creationId xmlns:p14="http://schemas.microsoft.com/office/powerpoint/2010/main" val="156138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6BE2D-0FEC-AF46-A862-DE697C0BB9EA}"/>
              </a:ext>
            </a:extLst>
          </p:cNvPr>
          <p:cNvSpPr>
            <a:spLocks noGrp="1"/>
          </p:cNvSpPr>
          <p:nvPr>
            <p:ph type="title"/>
          </p:nvPr>
        </p:nvSpPr>
        <p:spPr/>
        <p:txBody>
          <a:bodyPr/>
          <a:lstStyle/>
          <a:p>
            <a:r>
              <a:rPr lang="en-US" dirty="0"/>
              <a:t>UN Irradiation Performance</a:t>
            </a:r>
          </a:p>
        </p:txBody>
      </p:sp>
      <p:sp>
        <p:nvSpPr>
          <p:cNvPr id="3" name="Content Placeholder 2">
            <a:extLst>
              <a:ext uri="{FF2B5EF4-FFF2-40B4-BE49-F238E27FC236}">
                <a16:creationId xmlns:a16="http://schemas.microsoft.com/office/drawing/2014/main" id="{B693C1B5-D736-0640-87AB-2E82C1C143BA}"/>
              </a:ext>
            </a:extLst>
          </p:cNvPr>
          <p:cNvSpPr>
            <a:spLocks noGrp="1"/>
          </p:cNvSpPr>
          <p:nvPr>
            <p:ph sz="half" idx="1"/>
          </p:nvPr>
        </p:nvSpPr>
        <p:spPr>
          <a:xfrm>
            <a:off x="609599" y="1968504"/>
            <a:ext cx="10972799" cy="1930400"/>
          </a:xfrm>
        </p:spPr>
        <p:txBody>
          <a:bodyPr/>
          <a:lstStyle/>
          <a:p>
            <a:r>
              <a:rPr lang="en-US" sz="2200" dirty="0"/>
              <a:t>The irradiation experience of nitride fuel is rather limited in comparison with the other fuels for fast reactors, such as oxide, metallic, and carbide fuels</a:t>
            </a:r>
          </a:p>
          <a:p>
            <a:r>
              <a:rPr lang="en-US" sz="2200" dirty="0"/>
              <a:t>The number of (</a:t>
            </a:r>
            <a:r>
              <a:rPr lang="en-US" sz="2200" dirty="0" err="1"/>
              <a:t>U,Pu</a:t>
            </a:r>
            <a:r>
              <a:rPr lang="en-US" sz="2200" dirty="0"/>
              <a:t>)N fuel pins irradiated in fast reactors so far is smaller than 200</a:t>
            </a:r>
          </a:p>
          <a:p>
            <a:r>
              <a:rPr lang="en-US" sz="2200" dirty="0"/>
              <a:t>UN pins have reached 10% FIMA in fast reactors, and greater than 15% FIMA in thermal reactors</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342547D4-5220-0E45-8495-514E9C2201A3}"/>
              </a:ext>
            </a:extLst>
          </p:cNvPr>
          <p:cNvSpPr>
            <a:spLocks noGrp="1"/>
          </p:cNvSpPr>
          <p:nvPr>
            <p:ph type="sldNum" sz="quarter" idx="12"/>
          </p:nvPr>
        </p:nvSpPr>
        <p:spPr/>
        <p:txBody>
          <a:bodyPr/>
          <a:lstStyle/>
          <a:p>
            <a:pPr>
              <a:defRPr/>
            </a:pPr>
            <a:fld id="{EC35E9FC-F6D5-0349-BBED-EA7D7A9BC49B}" type="slidenum">
              <a:rPr lang="en-US" smtClean="0"/>
              <a:pPr>
                <a:defRPr/>
              </a:pPr>
              <a:t>7</a:t>
            </a:fld>
            <a:endParaRPr lang="en-US"/>
          </a:p>
        </p:txBody>
      </p:sp>
      <p:pic>
        <p:nvPicPr>
          <p:cNvPr id="6" name="Picture 5">
            <a:extLst>
              <a:ext uri="{FF2B5EF4-FFF2-40B4-BE49-F238E27FC236}">
                <a16:creationId xmlns:a16="http://schemas.microsoft.com/office/drawing/2014/main" id="{192BE554-2153-6347-A4C1-82686B70DD91}"/>
              </a:ext>
            </a:extLst>
          </p:cNvPr>
          <p:cNvPicPr>
            <a:picLocks noChangeAspect="1"/>
          </p:cNvPicPr>
          <p:nvPr/>
        </p:nvPicPr>
        <p:blipFill>
          <a:blip r:embed="rId2"/>
          <a:stretch>
            <a:fillRect/>
          </a:stretch>
        </p:blipFill>
        <p:spPr>
          <a:xfrm>
            <a:off x="1130298" y="4246148"/>
            <a:ext cx="9931400" cy="1930400"/>
          </a:xfrm>
          <a:prstGeom prst="rect">
            <a:avLst/>
          </a:prstGeom>
        </p:spPr>
      </p:pic>
    </p:spTree>
    <p:extLst>
      <p:ext uri="{BB962C8B-B14F-4D97-AF65-F5344CB8AC3E}">
        <p14:creationId xmlns:p14="http://schemas.microsoft.com/office/powerpoint/2010/main" val="12064353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590E5-3B64-7F4C-9556-D50396C0EC1F}"/>
              </a:ext>
            </a:extLst>
          </p:cNvPr>
          <p:cNvSpPr>
            <a:spLocks noGrp="1"/>
          </p:cNvSpPr>
          <p:nvPr>
            <p:ph type="title"/>
          </p:nvPr>
        </p:nvSpPr>
        <p:spPr/>
        <p:txBody>
          <a:bodyPr/>
          <a:lstStyle/>
          <a:p>
            <a:r>
              <a:rPr lang="en-US" dirty="0"/>
              <a:t>UN Pins</a:t>
            </a:r>
          </a:p>
        </p:txBody>
      </p:sp>
      <p:sp>
        <p:nvSpPr>
          <p:cNvPr id="3" name="Content Placeholder 2">
            <a:extLst>
              <a:ext uri="{FF2B5EF4-FFF2-40B4-BE49-F238E27FC236}">
                <a16:creationId xmlns:a16="http://schemas.microsoft.com/office/drawing/2014/main" id="{CFC202C0-3DA6-F546-975D-0AF26B787E64}"/>
              </a:ext>
            </a:extLst>
          </p:cNvPr>
          <p:cNvSpPr>
            <a:spLocks noGrp="1"/>
          </p:cNvSpPr>
          <p:nvPr>
            <p:ph sz="half" idx="1"/>
          </p:nvPr>
        </p:nvSpPr>
        <p:spPr/>
        <p:txBody>
          <a:bodyPr/>
          <a:lstStyle/>
          <a:p>
            <a:r>
              <a:rPr lang="en-US" sz="2200" dirty="0"/>
              <a:t>Similar to carbides, pin designs are either He-bonded or Na-bonded</a:t>
            </a:r>
          </a:p>
          <a:p>
            <a:r>
              <a:rPr lang="en-US" sz="2200" dirty="0"/>
              <a:t>He-bonded fuel pin is characterized by low-density pellets (80–85% of theoretical density (TD)) and a small gap </a:t>
            </a:r>
          </a:p>
          <a:p>
            <a:r>
              <a:rPr lang="en-US" sz="2200" dirty="0"/>
              <a:t>Na-bonded fuel pin is characterized by high-density pellets (&gt;90% TD) and a large gap</a:t>
            </a:r>
          </a:p>
          <a:p>
            <a:endParaRPr lang="en-US" sz="2200" dirty="0"/>
          </a:p>
        </p:txBody>
      </p:sp>
      <p:sp>
        <p:nvSpPr>
          <p:cNvPr id="4" name="Content Placeholder 3">
            <a:extLst>
              <a:ext uri="{FF2B5EF4-FFF2-40B4-BE49-F238E27FC236}">
                <a16:creationId xmlns:a16="http://schemas.microsoft.com/office/drawing/2014/main" id="{BF408CDA-E6C4-8D4B-9659-301CF6DD6B1D}"/>
              </a:ext>
            </a:extLst>
          </p:cNvPr>
          <p:cNvSpPr>
            <a:spLocks noGrp="1"/>
          </p:cNvSpPr>
          <p:nvPr>
            <p:ph sz="half" idx="2"/>
          </p:nvPr>
        </p:nvSpPr>
        <p:spPr/>
        <p:txBody>
          <a:bodyPr/>
          <a:lstStyle/>
          <a:p>
            <a:r>
              <a:rPr lang="en-US" sz="2200" dirty="0"/>
              <a:t>Na-bonded concept has the advantage of keeping the fuel temperature relatively low due to good thermal conductivity of liquid Na</a:t>
            </a:r>
          </a:p>
          <a:p>
            <a:r>
              <a:rPr lang="en-US" sz="2200" dirty="0"/>
              <a:t>Difficulties with Na are the reactivity in air, and additional hurdles in fabrication and reprocessing</a:t>
            </a:r>
          </a:p>
          <a:p>
            <a:endParaRPr lang="en-US" sz="2200" dirty="0"/>
          </a:p>
        </p:txBody>
      </p:sp>
      <p:sp>
        <p:nvSpPr>
          <p:cNvPr id="5" name="Slide Number Placeholder 4">
            <a:extLst>
              <a:ext uri="{FF2B5EF4-FFF2-40B4-BE49-F238E27FC236}">
                <a16:creationId xmlns:a16="http://schemas.microsoft.com/office/drawing/2014/main" id="{C8C022D4-2FFB-F34E-884C-ADAE783ECD35}"/>
              </a:ext>
            </a:extLst>
          </p:cNvPr>
          <p:cNvSpPr>
            <a:spLocks noGrp="1"/>
          </p:cNvSpPr>
          <p:nvPr>
            <p:ph type="sldNum" sz="quarter" idx="12"/>
          </p:nvPr>
        </p:nvSpPr>
        <p:spPr/>
        <p:txBody>
          <a:bodyPr/>
          <a:lstStyle/>
          <a:p>
            <a:pPr>
              <a:defRPr/>
            </a:pPr>
            <a:fld id="{EC35E9FC-F6D5-0349-BBED-EA7D7A9BC49B}" type="slidenum">
              <a:rPr lang="en-US" smtClean="0"/>
              <a:pPr>
                <a:defRPr/>
              </a:pPr>
              <a:t>8</a:t>
            </a:fld>
            <a:endParaRPr lang="en-US"/>
          </a:p>
        </p:txBody>
      </p:sp>
    </p:spTree>
    <p:extLst>
      <p:ext uri="{BB962C8B-B14F-4D97-AF65-F5344CB8AC3E}">
        <p14:creationId xmlns:p14="http://schemas.microsoft.com/office/powerpoint/2010/main" val="42146895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06AD-4071-E144-BFEA-DE21A18868C0}"/>
              </a:ext>
            </a:extLst>
          </p:cNvPr>
          <p:cNvSpPr>
            <a:spLocks noGrp="1"/>
          </p:cNvSpPr>
          <p:nvPr>
            <p:ph type="title"/>
          </p:nvPr>
        </p:nvSpPr>
        <p:spPr/>
        <p:txBody>
          <a:bodyPr/>
          <a:lstStyle/>
          <a:p>
            <a:r>
              <a:rPr lang="en-US" dirty="0"/>
              <a:t>UN Pins</a:t>
            </a:r>
          </a:p>
        </p:txBody>
      </p:sp>
      <p:sp>
        <p:nvSpPr>
          <p:cNvPr id="3" name="Content Placeholder 2">
            <a:extLst>
              <a:ext uri="{FF2B5EF4-FFF2-40B4-BE49-F238E27FC236}">
                <a16:creationId xmlns:a16="http://schemas.microsoft.com/office/drawing/2014/main" id="{9367DB9B-7D3E-8440-8B4D-45B193FE2A95}"/>
              </a:ext>
            </a:extLst>
          </p:cNvPr>
          <p:cNvSpPr>
            <a:spLocks noGrp="1"/>
          </p:cNvSpPr>
          <p:nvPr>
            <p:ph sz="half" idx="1"/>
          </p:nvPr>
        </p:nvSpPr>
        <p:spPr/>
        <p:txBody>
          <a:bodyPr/>
          <a:lstStyle/>
          <a:p>
            <a:r>
              <a:rPr lang="en-US" sz="2200" dirty="0"/>
              <a:t>The He-bonding concept is considered as the reference for (</a:t>
            </a:r>
            <a:r>
              <a:rPr lang="en-US" sz="2200" dirty="0" err="1"/>
              <a:t>U,Pu</a:t>
            </a:r>
            <a:r>
              <a:rPr lang="en-US" sz="2200" dirty="0"/>
              <a:t>)N fuel</a:t>
            </a:r>
          </a:p>
          <a:p>
            <a:r>
              <a:rPr lang="en-US" sz="2200" dirty="0"/>
              <a:t>The temperature of fuel pellets becomes high in comparison with the fuel with Na bonding, especially at an early stage of irradiation</a:t>
            </a:r>
          </a:p>
          <a:p>
            <a:r>
              <a:rPr lang="en-US" sz="2200" dirty="0"/>
              <a:t>The small gap is closed by free swelling of fuel pellets at a burnup of 2–3% FIMA</a:t>
            </a:r>
          </a:p>
          <a:p>
            <a:endParaRPr lang="en-US" sz="2200" dirty="0"/>
          </a:p>
          <a:p>
            <a:endParaRPr lang="en-US" sz="2200" dirty="0"/>
          </a:p>
        </p:txBody>
      </p:sp>
      <p:pic>
        <p:nvPicPr>
          <p:cNvPr id="6" name="Content Placeholder 5">
            <a:extLst>
              <a:ext uri="{FF2B5EF4-FFF2-40B4-BE49-F238E27FC236}">
                <a16:creationId xmlns:a16="http://schemas.microsoft.com/office/drawing/2014/main" id="{FC3272A5-4408-1143-9B48-6C218B3D0781}"/>
              </a:ext>
            </a:extLst>
          </p:cNvPr>
          <p:cNvPicPr>
            <a:picLocks noGrp="1" noChangeAspect="1"/>
          </p:cNvPicPr>
          <p:nvPr>
            <p:ph sz="half" idx="2"/>
          </p:nvPr>
        </p:nvPicPr>
        <p:blipFill>
          <a:blip r:embed="rId2"/>
          <a:stretch>
            <a:fillRect/>
          </a:stretch>
        </p:blipFill>
        <p:spPr>
          <a:xfrm>
            <a:off x="6571753" y="1968500"/>
            <a:ext cx="4636494" cy="4157663"/>
          </a:xfrm>
          <a:prstGeom prst="rect">
            <a:avLst/>
          </a:prstGeom>
        </p:spPr>
      </p:pic>
      <p:sp>
        <p:nvSpPr>
          <p:cNvPr id="5" name="Slide Number Placeholder 4">
            <a:extLst>
              <a:ext uri="{FF2B5EF4-FFF2-40B4-BE49-F238E27FC236}">
                <a16:creationId xmlns:a16="http://schemas.microsoft.com/office/drawing/2014/main" id="{6C015CED-94EA-284E-BF63-B8181C13C277}"/>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3104214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106AD-4071-E144-BFEA-DE21A18868C0}"/>
              </a:ext>
            </a:extLst>
          </p:cNvPr>
          <p:cNvSpPr>
            <a:spLocks noGrp="1"/>
          </p:cNvSpPr>
          <p:nvPr>
            <p:ph type="title"/>
          </p:nvPr>
        </p:nvSpPr>
        <p:spPr/>
        <p:txBody>
          <a:bodyPr/>
          <a:lstStyle/>
          <a:p>
            <a:r>
              <a:rPr lang="en-US" dirty="0"/>
              <a:t>Temperature with Burnup</a:t>
            </a:r>
          </a:p>
        </p:txBody>
      </p:sp>
      <p:sp>
        <p:nvSpPr>
          <p:cNvPr id="3" name="Content Placeholder 2">
            <a:extLst>
              <a:ext uri="{FF2B5EF4-FFF2-40B4-BE49-F238E27FC236}">
                <a16:creationId xmlns:a16="http://schemas.microsoft.com/office/drawing/2014/main" id="{9367DB9B-7D3E-8440-8B4D-45B193FE2A95}"/>
              </a:ext>
            </a:extLst>
          </p:cNvPr>
          <p:cNvSpPr>
            <a:spLocks noGrp="1"/>
          </p:cNvSpPr>
          <p:nvPr>
            <p:ph sz="half" idx="1"/>
          </p:nvPr>
        </p:nvSpPr>
        <p:spPr>
          <a:xfrm>
            <a:off x="609600" y="1968503"/>
            <a:ext cx="5588000" cy="4157663"/>
          </a:xfrm>
        </p:spPr>
        <p:txBody>
          <a:bodyPr/>
          <a:lstStyle/>
          <a:p>
            <a:r>
              <a:rPr lang="en-US" sz="2200" dirty="0"/>
              <a:t>Similar to carbides, have three stages in temperature</a:t>
            </a:r>
          </a:p>
          <a:p>
            <a:r>
              <a:rPr lang="en-US" sz="2200" dirty="0"/>
              <a:t>Stage A is the first rise of power and lasts for one to several days</a:t>
            </a:r>
          </a:p>
          <a:p>
            <a:r>
              <a:rPr lang="en-US" sz="2200" dirty="0"/>
              <a:t>Stage B has the </a:t>
            </a:r>
            <a:r>
              <a:rPr lang="en-US" sz="2200" dirty="0" err="1"/>
              <a:t>resintering</a:t>
            </a:r>
            <a:r>
              <a:rPr lang="en-US" sz="2200" dirty="0"/>
              <a:t> of pellets center + swelling and closure of He gap</a:t>
            </a:r>
          </a:p>
          <a:p>
            <a:r>
              <a:rPr lang="en-US" sz="2200" dirty="0"/>
              <a:t>Stage C is the quasi steady-state irradiation period in which FCMI begins</a:t>
            </a:r>
          </a:p>
          <a:p>
            <a:r>
              <a:rPr lang="en-US" sz="2200" dirty="0"/>
              <a:t>The smear density of the fuel is reduced to ~80% to avoid excessive strain on the cladding</a:t>
            </a:r>
          </a:p>
          <a:p>
            <a:endParaRPr lang="en-US" sz="2200" dirty="0"/>
          </a:p>
          <a:p>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FC3272A5-4408-1143-9B48-6C218B3D0781}"/>
              </a:ext>
            </a:extLst>
          </p:cNvPr>
          <p:cNvPicPr>
            <a:picLocks noGrp="1" noChangeAspect="1"/>
          </p:cNvPicPr>
          <p:nvPr>
            <p:ph sz="half" idx="2"/>
          </p:nvPr>
        </p:nvPicPr>
        <p:blipFill>
          <a:blip r:embed="rId2"/>
          <a:stretch>
            <a:fillRect/>
          </a:stretch>
        </p:blipFill>
        <p:spPr>
          <a:xfrm>
            <a:off x="6571753" y="1968500"/>
            <a:ext cx="4636494" cy="4157663"/>
          </a:xfrm>
          <a:prstGeom prst="rect">
            <a:avLst/>
          </a:prstGeom>
        </p:spPr>
      </p:pic>
      <p:sp>
        <p:nvSpPr>
          <p:cNvPr id="5" name="Slide Number Placeholder 4">
            <a:extLst>
              <a:ext uri="{FF2B5EF4-FFF2-40B4-BE49-F238E27FC236}">
                <a16:creationId xmlns:a16="http://schemas.microsoft.com/office/drawing/2014/main" id="{6C015CED-94EA-284E-BF63-B8181C13C277}"/>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spTree>
    <p:extLst>
      <p:ext uri="{BB962C8B-B14F-4D97-AF65-F5344CB8AC3E}">
        <p14:creationId xmlns:p14="http://schemas.microsoft.com/office/powerpoint/2010/main" val="9818000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75BEB9-4892-864E-B1F2-CC12B1A990E4}"/>
              </a:ext>
            </a:extLst>
          </p:cNvPr>
          <p:cNvSpPr>
            <a:spLocks noGrp="1"/>
          </p:cNvSpPr>
          <p:nvPr>
            <p:ph type="title"/>
          </p:nvPr>
        </p:nvSpPr>
        <p:spPr/>
        <p:txBody>
          <a:bodyPr/>
          <a:lstStyle/>
          <a:p>
            <a:r>
              <a:rPr lang="en-US" dirty="0"/>
              <a:t>Fission Products</a:t>
            </a:r>
          </a:p>
        </p:txBody>
      </p:sp>
      <p:sp>
        <p:nvSpPr>
          <p:cNvPr id="3" name="Content Placeholder 2">
            <a:extLst>
              <a:ext uri="{FF2B5EF4-FFF2-40B4-BE49-F238E27FC236}">
                <a16:creationId xmlns:a16="http://schemas.microsoft.com/office/drawing/2014/main" id="{4E563FAF-CFBB-EC45-8549-80E177EDCF75}"/>
              </a:ext>
            </a:extLst>
          </p:cNvPr>
          <p:cNvSpPr>
            <a:spLocks noGrp="1"/>
          </p:cNvSpPr>
          <p:nvPr>
            <p:ph sz="half" idx="1"/>
          </p:nvPr>
        </p:nvSpPr>
        <p:spPr>
          <a:xfrm>
            <a:off x="609599" y="1968503"/>
            <a:ext cx="6274641" cy="4157663"/>
          </a:xfrm>
        </p:spPr>
        <p:txBody>
          <a:bodyPr/>
          <a:lstStyle/>
          <a:p>
            <a:r>
              <a:rPr lang="en-US" sz="2200" dirty="0"/>
              <a:t>Fission products can form various nitride phases in the fuel matrix</a:t>
            </a:r>
          </a:p>
          <a:p>
            <a:r>
              <a:rPr lang="en-US" sz="2200" dirty="0"/>
              <a:t>Noble gases will not react with N, and volatile species (Cs, I, </a:t>
            </a:r>
            <a:r>
              <a:rPr lang="en-US" sz="2200" dirty="0" err="1"/>
              <a:t>Te</a:t>
            </a:r>
            <a:r>
              <a:rPr lang="en-US" sz="2200" dirty="0"/>
              <a:t>) will form volatile compounds</a:t>
            </a:r>
          </a:p>
          <a:p>
            <a:r>
              <a:rPr lang="en-US" sz="2200" dirty="0"/>
              <a:t>Pd, Rh, Ru, Mo, Tc form metallic precipitates</a:t>
            </a:r>
          </a:p>
          <a:p>
            <a:r>
              <a:rPr lang="en-US" sz="2200" dirty="0"/>
              <a:t>Rare earths and transition metals are dissolved in the U/Pu-N matrix</a:t>
            </a:r>
          </a:p>
          <a:p>
            <a:r>
              <a:rPr lang="en-US" sz="2200" dirty="0"/>
              <a:t>The N/U ratio was evaluated and reported to increase by 2% at a burnup of 10%</a:t>
            </a:r>
          </a:p>
          <a:p>
            <a:r>
              <a:rPr lang="en-US" sz="2200" dirty="0"/>
              <a:t>The increase in N can form U2N3 phases</a:t>
            </a:r>
          </a:p>
        </p:txBody>
      </p:sp>
      <p:pic>
        <p:nvPicPr>
          <p:cNvPr id="6" name="Content Placeholder 5">
            <a:extLst>
              <a:ext uri="{FF2B5EF4-FFF2-40B4-BE49-F238E27FC236}">
                <a16:creationId xmlns:a16="http://schemas.microsoft.com/office/drawing/2014/main" id="{74729DAC-4C9A-F144-8288-C1A45B757759}"/>
              </a:ext>
            </a:extLst>
          </p:cNvPr>
          <p:cNvPicPr>
            <a:picLocks noGrp="1" noChangeAspect="1"/>
          </p:cNvPicPr>
          <p:nvPr>
            <p:ph sz="half" idx="2"/>
          </p:nvPr>
        </p:nvPicPr>
        <p:blipFill>
          <a:blip r:embed="rId2"/>
          <a:stretch>
            <a:fillRect/>
          </a:stretch>
        </p:blipFill>
        <p:spPr>
          <a:xfrm>
            <a:off x="7159663" y="1968500"/>
            <a:ext cx="4914900" cy="3390900"/>
          </a:xfrm>
          <a:prstGeom prst="rect">
            <a:avLst/>
          </a:prstGeom>
        </p:spPr>
      </p:pic>
      <p:sp>
        <p:nvSpPr>
          <p:cNvPr id="5" name="Slide Number Placeholder 4">
            <a:extLst>
              <a:ext uri="{FF2B5EF4-FFF2-40B4-BE49-F238E27FC236}">
                <a16:creationId xmlns:a16="http://schemas.microsoft.com/office/drawing/2014/main" id="{70AF60A1-5FD8-1A4A-BCD7-A135A888B200}"/>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spTree>
    <p:extLst>
      <p:ext uri="{BB962C8B-B14F-4D97-AF65-F5344CB8AC3E}">
        <p14:creationId xmlns:p14="http://schemas.microsoft.com/office/powerpoint/2010/main" val="7588318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DE838-7768-7F46-AB19-032370226DCF}"/>
              </a:ext>
            </a:extLst>
          </p:cNvPr>
          <p:cNvSpPr>
            <a:spLocks noGrp="1"/>
          </p:cNvSpPr>
          <p:nvPr>
            <p:ph type="title"/>
          </p:nvPr>
        </p:nvSpPr>
        <p:spPr/>
        <p:txBody>
          <a:bodyPr/>
          <a:lstStyle/>
          <a:p>
            <a:r>
              <a:rPr lang="en-US" dirty="0"/>
              <a:t>Nitride Restructuring</a:t>
            </a:r>
          </a:p>
        </p:txBody>
      </p:sp>
      <p:sp>
        <p:nvSpPr>
          <p:cNvPr id="3" name="Content Placeholder 2">
            <a:extLst>
              <a:ext uri="{FF2B5EF4-FFF2-40B4-BE49-F238E27FC236}">
                <a16:creationId xmlns:a16="http://schemas.microsoft.com/office/drawing/2014/main" id="{EABDFFEA-C8C5-B44E-886C-F69B8FC4F8D4}"/>
              </a:ext>
            </a:extLst>
          </p:cNvPr>
          <p:cNvSpPr>
            <a:spLocks noGrp="1"/>
          </p:cNvSpPr>
          <p:nvPr>
            <p:ph sz="half" idx="1"/>
          </p:nvPr>
        </p:nvSpPr>
        <p:spPr>
          <a:xfrm>
            <a:off x="609600" y="1968504"/>
            <a:ext cx="11098696" cy="2106540"/>
          </a:xfrm>
        </p:spPr>
        <p:txBody>
          <a:bodyPr/>
          <a:lstStyle/>
          <a:p>
            <a:r>
              <a:rPr lang="en-US" sz="2200" dirty="0"/>
              <a:t>Because of relatively low fuel temperature and temperature gradient, the restructuring of (</a:t>
            </a:r>
            <a:r>
              <a:rPr lang="en-US" sz="2200" dirty="0" err="1"/>
              <a:t>U,Pu</a:t>
            </a:r>
            <a:r>
              <a:rPr lang="en-US" sz="2200" dirty="0"/>
              <a:t>)N fuel is mild in comparison to MOX fuel for fast reactors</a:t>
            </a:r>
          </a:p>
          <a:p>
            <a:r>
              <a:rPr lang="en-US" sz="2200" dirty="0"/>
              <a:t>For He bonded pins at high power, restructuring occurs with three distinct zones</a:t>
            </a:r>
          </a:p>
          <a:p>
            <a:r>
              <a:rPr lang="en-US" sz="2200" dirty="0"/>
              <a:t>Zone 1 is found in the central of the fuel pellet was characterized by very porous structure; a small central hole was sometimes observed (not due to pore migration)</a:t>
            </a:r>
          </a:p>
          <a:p>
            <a:endParaRPr lang="en-US" sz="2200" dirty="0"/>
          </a:p>
          <a:p>
            <a:endParaRPr lang="en-US" sz="2200" dirty="0"/>
          </a:p>
        </p:txBody>
      </p:sp>
      <p:sp>
        <p:nvSpPr>
          <p:cNvPr id="5" name="Slide Number Placeholder 4">
            <a:extLst>
              <a:ext uri="{FF2B5EF4-FFF2-40B4-BE49-F238E27FC236}">
                <a16:creationId xmlns:a16="http://schemas.microsoft.com/office/drawing/2014/main" id="{15C71BDE-8D4E-1145-B2E7-D911EB894F50}"/>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pic>
        <p:nvPicPr>
          <p:cNvPr id="6" name="Picture 5">
            <a:extLst>
              <a:ext uri="{FF2B5EF4-FFF2-40B4-BE49-F238E27FC236}">
                <a16:creationId xmlns:a16="http://schemas.microsoft.com/office/drawing/2014/main" id="{0F86D300-E1EC-1A48-8E82-DBFFB350155E}"/>
              </a:ext>
            </a:extLst>
          </p:cNvPr>
          <p:cNvPicPr>
            <a:picLocks noChangeAspect="1"/>
          </p:cNvPicPr>
          <p:nvPr/>
        </p:nvPicPr>
        <p:blipFill>
          <a:blip r:embed="rId2"/>
          <a:stretch>
            <a:fillRect/>
          </a:stretch>
        </p:blipFill>
        <p:spPr>
          <a:xfrm>
            <a:off x="2254252" y="3937000"/>
            <a:ext cx="7886700" cy="2921000"/>
          </a:xfrm>
          <a:prstGeom prst="rect">
            <a:avLst/>
          </a:prstGeom>
        </p:spPr>
      </p:pic>
      <p:cxnSp>
        <p:nvCxnSpPr>
          <p:cNvPr id="7" name="Straight Connector 6">
            <a:extLst>
              <a:ext uri="{FF2B5EF4-FFF2-40B4-BE49-F238E27FC236}">
                <a16:creationId xmlns:a16="http://schemas.microsoft.com/office/drawing/2014/main" id="{9D46622E-0A52-90CB-AF85-98D1AE916543}"/>
              </a:ext>
            </a:extLst>
          </p:cNvPr>
          <p:cNvCxnSpPr/>
          <p:nvPr/>
        </p:nvCxnSpPr>
        <p:spPr>
          <a:xfrm>
            <a:off x="6361043" y="4691270"/>
            <a:ext cx="1620079" cy="123245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29080ABF-AEA5-C1F6-A9B1-A5DA30B6814B}"/>
              </a:ext>
            </a:extLst>
          </p:cNvPr>
          <p:cNvCxnSpPr>
            <a:cxnSpLocks/>
          </p:cNvCxnSpPr>
          <p:nvPr/>
        </p:nvCxnSpPr>
        <p:spPr>
          <a:xfrm flipH="1">
            <a:off x="6361043" y="4691270"/>
            <a:ext cx="1620079" cy="123245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71529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DE838-7768-7F46-AB19-032370226DCF}"/>
              </a:ext>
            </a:extLst>
          </p:cNvPr>
          <p:cNvSpPr>
            <a:spLocks noGrp="1"/>
          </p:cNvSpPr>
          <p:nvPr>
            <p:ph type="title"/>
          </p:nvPr>
        </p:nvSpPr>
        <p:spPr/>
        <p:txBody>
          <a:bodyPr/>
          <a:lstStyle/>
          <a:p>
            <a:r>
              <a:rPr lang="en-US" dirty="0"/>
              <a:t>Nitride Restructuring</a:t>
            </a:r>
          </a:p>
        </p:txBody>
      </p:sp>
      <p:sp>
        <p:nvSpPr>
          <p:cNvPr id="3" name="Content Placeholder 2">
            <a:extLst>
              <a:ext uri="{FF2B5EF4-FFF2-40B4-BE49-F238E27FC236}">
                <a16:creationId xmlns:a16="http://schemas.microsoft.com/office/drawing/2014/main" id="{EABDFFEA-C8C5-B44E-886C-F69B8FC4F8D4}"/>
              </a:ext>
            </a:extLst>
          </p:cNvPr>
          <p:cNvSpPr>
            <a:spLocks noGrp="1"/>
          </p:cNvSpPr>
          <p:nvPr>
            <p:ph sz="half" idx="1"/>
          </p:nvPr>
        </p:nvSpPr>
        <p:spPr>
          <a:xfrm>
            <a:off x="609600" y="1968504"/>
            <a:ext cx="10972800" cy="2106540"/>
          </a:xfrm>
        </p:spPr>
        <p:txBody>
          <a:bodyPr/>
          <a:lstStyle/>
          <a:p>
            <a:r>
              <a:rPr lang="en-US" sz="2200" dirty="0"/>
              <a:t>Zone 2 is found in MOX fuels and sometimes in carbide fuels, but NOT in UN fuels</a:t>
            </a:r>
          </a:p>
          <a:p>
            <a:r>
              <a:rPr lang="en-US" sz="2200" dirty="0"/>
              <a:t>Zone 3 displays grain growth, grain boundary bubbles, and healing of cracks</a:t>
            </a:r>
          </a:p>
          <a:p>
            <a:r>
              <a:rPr lang="en-US" sz="2200" dirty="0"/>
              <a:t>Zone 4 has the as-fabricated structure, low swelling, small bubbles</a:t>
            </a:r>
          </a:p>
          <a:p>
            <a:r>
              <a:rPr lang="en-US" sz="2200" dirty="0"/>
              <a:t>Fission gas release is prevalent in zone 1 and zone 3, with large amount of UN swelling</a:t>
            </a:r>
          </a:p>
          <a:p>
            <a:endParaRPr lang="en-US" sz="2200" dirty="0"/>
          </a:p>
          <a:p>
            <a:endParaRPr lang="en-US" sz="2200" dirty="0"/>
          </a:p>
          <a:p>
            <a:endParaRPr lang="en-US" sz="2200" dirty="0"/>
          </a:p>
        </p:txBody>
      </p:sp>
      <p:sp>
        <p:nvSpPr>
          <p:cNvPr id="5" name="Slide Number Placeholder 4">
            <a:extLst>
              <a:ext uri="{FF2B5EF4-FFF2-40B4-BE49-F238E27FC236}">
                <a16:creationId xmlns:a16="http://schemas.microsoft.com/office/drawing/2014/main" id="{15C71BDE-8D4E-1145-B2E7-D911EB894F50}"/>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pic>
        <p:nvPicPr>
          <p:cNvPr id="6" name="Picture 5">
            <a:extLst>
              <a:ext uri="{FF2B5EF4-FFF2-40B4-BE49-F238E27FC236}">
                <a16:creationId xmlns:a16="http://schemas.microsoft.com/office/drawing/2014/main" id="{0F86D300-E1EC-1A48-8E82-DBFFB350155E}"/>
              </a:ext>
            </a:extLst>
          </p:cNvPr>
          <p:cNvPicPr>
            <a:picLocks noChangeAspect="1"/>
          </p:cNvPicPr>
          <p:nvPr/>
        </p:nvPicPr>
        <p:blipFill>
          <a:blip r:embed="rId2"/>
          <a:stretch>
            <a:fillRect/>
          </a:stretch>
        </p:blipFill>
        <p:spPr>
          <a:xfrm>
            <a:off x="2254252" y="3937000"/>
            <a:ext cx="7886700" cy="2921000"/>
          </a:xfrm>
          <a:prstGeom prst="rect">
            <a:avLst/>
          </a:prstGeom>
        </p:spPr>
      </p:pic>
      <p:cxnSp>
        <p:nvCxnSpPr>
          <p:cNvPr id="4" name="Straight Connector 3">
            <a:extLst>
              <a:ext uri="{FF2B5EF4-FFF2-40B4-BE49-F238E27FC236}">
                <a16:creationId xmlns:a16="http://schemas.microsoft.com/office/drawing/2014/main" id="{FE243206-41EE-6F01-C18A-901506D33787}"/>
              </a:ext>
            </a:extLst>
          </p:cNvPr>
          <p:cNvCxnSpPr/>
          <p:nvPr/>
        </p:nvCxnSpPr>
        <p:spPr>
          <a:xfrm>
            <a:off x="6361043" y="4691270"/>
            <a:ext cx="1620079" cy="123245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1626EEAE-2847-EF6D-9DBE-D1591D54ABDA}"/>
              </a:ext>
            </a:extLst>
          </p:cNvPr>
          <p:cNvCxnSpPr>
            <a:cxnSpLocks/>
          </p:cNvCxnSpPr>
          <p:nvPr/>
        </p:nvCxnSpPr>
        <p:spPr>
          <a:xfrm flipH="1">
            <a:off x="6361043" y="4691270"/>
            <a:ext cx="1620079" cy="1232452"/>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3119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88C543C-235E-8E90-70AE-3146FE6D58FD}"/>
              </a:ext>
            </a:extLst>
          </p:cNvPr>
          <p:cNvPicPr>
            <a:picLocks noChangeAspect="1"/>
          </p:cNvPicPr>
          <p:nvPr/>
        </p:nvPicPr>
        <p:blipFill>
          <a:blip r:embed="rId2"/>
          <a:stretch>
            <a:fillRect/>
          </a:stretch>
        </p:blipFill>
        <p:spPr>
          <a:xfrm>
            <a:off x="2445168" y="5724805"/>
            <a:ext cx="3939208" cy="984802"/>
          </a:xfrm>
          <a:prstGeom prst="rect">
            <a:avLst/>
          </a:prstGeom>
        </p:spPr>
      </p:pic>
      <p:sp>
        <p:nvSpPr>
          <p:cNvPr id="2" name="Title 1">
            <a:extLst>
              <a:ext uri="{FF2B5EF4-FFF2-40B4-BE49-F238E27FC236}">
                <a16:creationId xmlns:a16="http://schemas.microsoft.com/office/drawing/2014/main" id="{8123C133-DE12-E649-91C5-EA8F61227FCD}"/>
              </a:ext>
            </a:extLst>
          </p:cNvPr>
          <p:cNvSpPr>
            <a:spLocks noGrp="1"/>
          </p:cNvSpPr>
          <p:nvPr>
            <p:ph type="title"/>
          </p:nvPr>
        </p:nvSpPr>
        <p:spPr/>
        <p:txBody>
          <a:bodyPr/>
          <a:lstStyle/>
          <a:p>
            <a:r>
              <a:rPr lang="en-US" dirty="0"/>
              <a:t>Fission Gas Release</a:t>
            </a:r>
          </a:p>
        </p:txBody>
      </p:sp>
      <p:sp>
        <p:nvSpPr>
          <p:cNvPr id="3" name="Content Placeholder 2">
            <a:extLst>
              <a:ext uri="{FF2B5EF4-FFF2-40B4-BE49-F238E27FC236}">
                <a16:creationId xmlns:a16="http://schemas.microsoft.com/office/drawing/2014/main" id="{BD55E5C7-0644-DF47-8990-D6B12F0D02E2}"/>
              </a:ext>
            </a:extLst>
          </p:cNvPr>
          <p:cNvSpPr>
            <a:spLocks noGrp="1"/>
          </p:cNvSpPr>
          <p:nvPr>
            <p:ph sz="half" idx="1"/>
          </p:nvPr>
        </p:nvSpPr>
        <p:spPr>
          <a:xfrm>
            <a:off x="609600" y="1968503"/>
            <a:ext cx="6755296" cy="4157663"/>
          </a:xfrm>
        </p:spPr>
        <p:txBody>
          <a:bodyPr/>
          <a:lstStyle/>
          <a:p>
            <a:r>
              <a:rPr lang="en-US" sz="2200" dirty="0"/>
              <a:t>It is generally known that FP gas release of nitride fuel is much lower than that of MOX fuel; Likely due to lower temperatures</a:t>
            </a:r>
          </a:p>
          <a:p>
            <a:r>
              <a:rPr lang="en-US" sz="2200" dirty="0"/>
              <a:t>There have been no systematic results dealing with fission gas release of nitride fuel, due to limited irradiations</a:t>
            </a:r>
          </a:p>
          <a:p>
            <a:r>
              <a:rPr lang="en-US" sz="2200" dirty="0"/>
              <a:t>Gas release will be influenced by burnup, pellet density, grain size, the characteristics of porosities, and temperature</a:t>
            </a:r>
          </a:p>
          <a:p>
            <a:r>
              <a:rPr lang="en-US" sz="2200" dirty="0"/>
              <a:t>Different relations have been developed to account for these factors</a:t>
            </a:r>
          </a:p>
          <a:p>
            <a:endParaRPr lang="en-US" sz="2200" dirty="0"/>
          </a:p>
          <a:p>
            <a:endParaRPr lang="en-US" sz="2200" dirty="0"/>
          </a:p>
        </p:txBody>
      </p:sp>
      <p:pic>
        <p:nvPicPr>
          <p:cNvPr id="6" name="Content Placeholder 5">
            <a:extLst>
              <a:ext uri="{FF2B5EF4-FFF2-40B4-BE49-F238E27FC236}">
                <a16:creationId xmlns:a16="http://schemas.microsoft.com/office/drawing/2014/main" id="{102A2875-53FE-094E-A079-57D6C77F59F9}"/>
              </a:ext>
            </a:extLst>
          </p:cNvPr>
          <p:cNvPicPr>
            <a:picLocks noGrp="1" noChangeAspect="1"/>
          </p:cNvPicPr>
          <p:nvPr>
            <p:ph sz="half" idx="2"/>
          </p:nvPr>
        </p:nvPicPr>
        <p:blipFill>
          <a:blip r:embed="rId3"/>
          <a:stretch>
            <a:fillRect/>
          </a:stretch>
        </p:blipFill>
        <p:spPr>
          <a:xfrm>
            <a:off x="7320029" y="1968500"/>
            <a:ext cx="3139942" cy="4157663"/>
          </a:xfrm>
          <a:prstGeom prst="rect">
            <a:avLst/>
          </a:prstGeom>
        </p:spPr>
      </p:pic>
      <p:sp>
        <p:nvSpPr>
          <p:cNvPr id="5" name="Slide Number Placeholder 4">
            <a:extLst>
              <a:ext uri="{FF2B5EF4-FFF2-40B4-BE49-F238E27FC236}">
                <a16:creationId xmlns:a16="http://schemas.microsoft.com/office/drawing/2014/main" id="{7F78C85F-FE84-204E-A28B-5D0889B2AEBF}"/>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sp>
        <p:nvSpPr>
          <p:cNvPr id="7" name="TextBox 6">
            <a:extLst>
              <a:ext uri="{FF2B5EF4-FFF2-40B4-BE49-F238E27FC236}">
                <a16:creationId xmlns:a16="http://schemas.microsoft.com/office/drawing/2014/main" id="{6762668D-1B69-C947-9252-219AD69ED34D}"/>
              </a:ext>
            </a:extLst>
          </p:cNvPr>
          <p:cNvSpPr txBox="1"/>
          <p:nvPr/>
        </p:nvSpPr>
        <p:spPr>
          <a:xfrm>
            <a:off x="8388626" y="6126166"/>
            <a:ext cx="2295939" cy="369332"/>
          </a:xfrm>
          <a:prstGeom prst="rect">
            <a:avLst/>
          </a:prstGeom>
          <a:noFill/>
        </p:spPr>
        <p:txBody>
          <a:bodyPr wrap="square" rtlCol="0">
            <a:spAutoFit/>
          </a:bodyPr>
          <a:lstStyle/>
          <a:p>
            <a:pPr algn="ctr"/>
            <a:r>
              <a:rPr lang="en-US" dirty="0"/>
              <a:t>Fuel at 4.3% FIMA</a:t>
            </a:r>
          </a:p>
        </p:txBody>
      </p:sp>
      <p:cxnSp>
        <p:nvCxnSpPr>
          <p:cNvPr id="10" name="Straight Arrow Connector 9">
            <a:extLst>
              <a:ext uri="{FF2B5EF4-FFF2-40B4-BE49-F238E27FC236}">
                <a16:creationId xmlns:a16="http://schemas.microsoft.com/office/drawing/2014/main" id="{8ABAAA6E-F6F4-B335-7275-0D5E9300A429}"/>
              </a:ext>
            </a:extLst>
          </p:cNvPr>
          <p:cNvCxnSpPr>
            <a:stCxn id="7" idx="0"/>
          </p:cNvCxnSpPr>
          <p:nvPr/>
        </p:nvCxnSpPr>
        <p:spPr>
          <a:xfrm flipH="1" flipV="1">
            <a:off x="9273209" y="4721087"/>
            <a:ext cx="263387" cy="140507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02068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A2A570-DDCB-DE43-927F-B686A3CEE253}"/>
              </a:ext>
            </a:extLst>
          </p:cNvPr>
          <p:cNvSpPr>
            <a:spLocks noGrp="1"/>
          </p:cNvSpPr>
          <p:nvPr>
            <p:ph type="title"/>
          </p:nvPr>
        </p:nvSpPr>
        <p:spPr/>
        <p:txBody>
          <a:bodyPr/>
          <a:lstStyle/>
          <a:p>
            <a:r>
              <a:rPr lang="en-US" dirty="0"/>
              <a:t>Swelling and FCMI</a:t>
            </a:r>
          </a:p>
        </p:txBody>
      </p:sp>
      <p:sp>
        <p:nvSpPr>
          <p:cNvPr id="3" name="Content Placeholder 2">
            <a:extLst>
              <a:ext uri="{FF2B5EF4-FFF2-40B4-BE49-F238E27FC236}">
                <a16:creationId xmlns:a16="http://schemas.microsoft.com/office/drawing/2014/main" id="{19E02174-AE43-9641-9223-8613A05C6AAA}"/>
              </a:ext>
            </a:extLst>
          </p:cNvPr>
          <p:cNvSpPr>
            <a:spLocks noGrp="1"/>
          </p:cNvSpPr>
          <p:nvPr>
            <p:ph sz="half" idx="1"/>
          </p:nvPr>
        </p:nvSpPr>
        <p:spPr/>
        <p:txBody>
          <a:bodyPr/>
          <a:lstStyle/>
          <a:p>
            <a:r>
              <a:rPr lang="en-US" sz="2200" dirty="0"/>
              <a:t>Since FG release is low, its possible that swelling is large</a:t>
            </a:r>
          </a:p>
          <a:p>
            <a:r>
              <a:rPr lang="en-US" sz="2200" dirty="0"/>
              <a:t>Volumetric swelling is caused by the accumulation of solid FP and crack formation in the pellets</a:t>
            </a:r>
          </a:p>
          <a:p>
            <a:r>
              <a:rPr lang="en-US" sz="2200" dirty="0"/>
              <a:t>The volumetric swelling rate of (</a:t>
            </a:r>
            <a:r>
              <a:rPr lang="en-US" sz="2200" dirty="0" err="1"/>
              <a:t>U,Pu</a:t>
            </a:r>
            <a:r>
              <a:rPr lang="en-US" sz="2200" dirty="0"/>
              <a:t>)N fuel irradiated to 9.3% FIMA was evaluated at 1.83% per FIMA% without the constraint of the cladding tube</a:t>
            </a:r>
          </a:p>
          <a:p>
            <a:r>
              <a:rPr lang="en-US" sz="2200" dirty="0"/>
              <a:t>This is considerably higher than UO2 fuels, but lower than metallic fuels</a:t>
            </a:r>
          </a:p>
          <a:p>
            <a:endParaRPr lang="en-US" sz="2200" dirty="0"/>
          </a:p>
          <a:p>
            <a:endParaRPr lang="en-US" sz="2200" dirty="0"/>
          </a:p>
        </p:txBody>
      </p:sp>
      <p:sp>
        <p:nvSpPr>
          <p:cNvPr id="4" name="Content Placeholder 3">
            <a:extLst>
              <a:ext uri="{FF2B5EF4-FFF2-40B4-BE49-F238E27FC236}">
                <a16:creationId xmlns:a16="http://schemas.microsoft.com/office/drawing/2014/main" id="{BF756485-D3F6-9749-8638-142601EA6286}"/>
              </a:ext>
            </a:extLst>
          </p:cNvPr>
          <p:cNvSpPr>
            <a:spLocks noGrp="1"/>
          </p:cNvSpPr>
          <p:nvPr>
            <p:ph sz="half" idx="2"/>
          </p:nvPr>
        </p:nvSpPr>
        <p:spPr/>
        <p:txBody>
          <a:bodyPr/>
          <a:lstStyle/>
          <a:p>
            <a:r>
              <a:rPr lang="en-US" sz="2200" dirty="0"/>
              <a:t>The creep rate of (</a:t>
            </a:r>
            <a:r>
              <a:rPr lang="en-US" sz="2200" dirty="0" err="1"/>
              <a:t>U,Pu</a:t>
            </a:r>
            <a:r>
              <a:rPr lang="en-US" sz="2200" dirty="0"/>
              <a:t>)N fuel is low in comparison with MOX or metallic fuel at operating temperatures due to a slow diffusion rate of metal atoms in nitride fuel</a:t>
            </a:r>
          </a:p>
          <a:p>
            <a:r>
              <a:rPr lang="en-US" sz="2200" dirty="0"/>
              <a:t>Thus, focus has been placed upon the degree of FCMI in UN fuels</a:t>
            </a:r>
          </a:p>
          <a:p>
            <a:r>
              <a:rPr lang="en-US" sz="2200" dirty="0"/>
              <a:t>FCMI in a general sense can be mitigated by the reduced TD and operating at a reasonable linear power (&lt;100kW/m)</a:t>
            </a:r>
          </a:p>
        </p:txBody>
      </p:sp>
      <p:sp>
        <p:nvSpPr>
          <p:cNvPr id="5" name="Slide Number Placeholder 4">
            <a:extLst>
              <a:ext uri="{FF2B5EF4-FFF2-40B4-BE49-F238E27FC236}">
                <a16:creationId xmlns:a16="http://schemas.microsoft.com/office/drawing/2014/main" id="{84507994-CA66-1845-89D7-73F805E5F9CB}"/>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1889358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76E0E-FCF6-1263-5ECB-BCFCAB791139}"/>
              </a:ext>
            </a:extLst>
          </p:cNvPr>
          <p:cNvSpPr>
            <a:spLocks noGrp="1"/>
          </p:cNvSpPr>
          <p:nvPr>
            <p:ph type="title"/>
          </p:nvPr>
        </p:nvSpPr>
        <p:spPr/>
        <p:txBody>
          <a:bodyPr/>
          <a:lstStyle/>
          <a:p>
            <a:r>
              <a:rPr lang="en-US" dirty="0"/>
              <a:t>Swelling and FCMI</a:t>
            </a:r>
          </a:p>
        </p:txBody>
      </p:sp>
      <p:sp>
        <p:nvSpPr>
          <p:cNvPr id="3" name="Content Placeholder 2">
            <a:extLst>
              <a:ext uri="{FF2B5EF4-FFF2-40B4-BE49-F238E27FC236}">
                <a16:creationId xmlns:a16="http://schemas.microsoft.com/office/drawing/2014/main" id="{5BB9EAF7-1997-3BAA-344A-00A5480F163E}"/>
              </a:ext>
            </a:extLst>
          </p:cNvPr>
          <p:cNvSpPr>
            <a:spLocks noGrp="1"/>
          </p:cNvSpPr>
          <p:nvPr>
            <p:ph sz="half" idx="1"/>
          </p:nvPr>
        </p:nvSpPr>
        <p:spPr/>
        <p:txBody>
          <a:bodyPr/>
          <a:lstStyle/>
          <a:p>
            <a:r>
              <a:rPr lang="en-US" sz="2400" dirty="0"/>
              <a:t>High power He-bonded pins with high TD caused a number of cladding failures, leading to suggested conditions of &lt;80 kW/m and TD ~ 75%</a:t>
            </a:r>
          </a:p>
          <a:p>
            <a:r>
              <a:rPr lang="en-US" sz="2400" dirty="0"/>
              <a:t>Thus, FG swelling is is highly temperature dependent (power and kth)</a:t>
            </a:r>
          </a:p>
        </p:txBody>
      </p:sp>
      <p:sp>
        <p:nvSpPr>
          <p:cNvPr id="4" name="Content Placeholder 3">
            <a:extLst>
              <a:ext uri="{FF2B5EF4-FFF2-40B4-BE49-F238E27FC236}">
                <a16:creationId xmlns:a16="http://schemas.microsoft.com/office/drawing/2014/main" id="{F6AD0262-A3BF-8107-50C6-7038505F7349}"/>
              </a:ext>
            </a:extLst>
          </p:cNvPr>
          <p:cNvSpPr>
            <a:spLocks noGrp="1"/>
          </p:cNvSpPr>
          <p:nvPr>
            <p:ph sz="half" idx="2"/>
          </p:nvPr>
        </p:nvSpPr>
        <p:spPr/>
        <p:txBody>
          <a:bodyPr/>
          <a:lstStyle/>
          <a:p>
            <a:r>
              <a:rPr lang="en-US" sz="2400" dirty="0"/>
              <a:t>Solid swelling is estimated at 0.5% per % FIMA</a:t>
            </a:r>
          </a:p>
          <a:p>
            <a:r>
              <a:rPr lang="en-US" sz="2400" dirty="0"/>
              <a:t>This is significantly lower than metallic fuels</a:t>
            </a:r>
          </a:p>
          <a:p>
            <a:r>
              <a:rPr lang="en-US" sz="2400" dirty="0"/>
              <a:t>Swelling correlations have been developed taking temperature, burnup, and as-fabricated density into account</a:t>
            </a:r>
          </a:p>
        </p:txBody>
      </p:sp>
      <p:sp>
        <p:nvSpPr>
          <p:cNvPr id="5" name="Slide Number Placeholder 4">
            <a:extLst>
              <a:ext uri="{FF2B5EF4-FFF2-40B4-BE49-F238E27FC236}">
                <a16:creationId xmlns:a16="http://schemas.microsoft.com/office/drawing/2014/main" id="{E395E525-C704-DA39-EFA1-CFAD8E635432}"/>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pic>
        <p:nvPicPr>
          <p:cNvPr id="6" name="Picture 5">
            <a:extLst>
              <a:ext uri="{FF2B5EF4-FFF2-40B4-BE49-F238E27FC236}">
                <a16:creationId xmlns:a16="http://schemas.microsoft.com/office/drawing/2014/main" id="{02A41D10-0E9F-C9D3-514F-12489ABA7D3E}"/>
              </a:ext>
            </a:extLst>
          </p:cNvPr>
          <p:cNvPicPr>
            <a:picLocks noChangeAspect="1"/>
          </p:cNvPicPr>
          <p:nvPr/>
        </p:nvPicPr>
        <p:blipFill>
          <a:blip r:embed="rId2"/>
          <a:stretch>
            <a:fillRect/>
          </a:stretch>
        </p:blipFill>
        <p:spPr>
          <a:xfrm>
            <a:off x="857250" y="5145087"/>
            <a:ext cx="4889500" cy="584200"/>
          </a:xfrm>
          <a:prstGeom prst="rect">
            <a:avLst/>
          </a:prstGeom>
        </p:spPr>
      </p:pic>
    </p:spTree>
    <p:extLst>
      <p:ext uri="{BB962C8B-B14F-4D97-AF65-F5344CB8AC3E}">
        <p14:creationId xmlns:p14="http://schemas.microsoft.com/office/powerpoint/2010/main" val="31660000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91933-4715-8EA9-4665-5F1A90DF5459}"/>
              </a:ext>
            </a:extLst>
          </p:cNvPr>
          <p:cNvSpPr>
            <a:spLocks noGrp="1"/>
          </p:cNvSpPr>
          <p:nvPr>
            <p:ph type="title"/>
          </p:nvPr>
        </p:nvSpPr>
        <p:spPr/>
        <p:txBody>
          <a:bodyPr/>
          <a:lstStyle/>
          <a:p>
            <a:r>
              <a:rPr lang="en-US" dirty="0"/>
              <a:t>FCCI in UN</a:t>
            </a:r>
          </a:p>
        </p:txBody>
      </p:sp>
      <p:sp>
        <p:nvSpPr>
          <p:cNvPr id="3" name="Content Placeholder 2">
            <a:extLst>
              <a:ext uri="{FF2B5EF4-FFF2-40B4-BE49-F238E27FC236}">
                <a16:creationId xmlns:a16="http://schemas.microsoft.com/office/drawing/2014/main" id="{7E6FDE33-4013-7FEA-0FFC-D7FED68E63BF}"/>
              </a:ext>
            </a:extLst>
          </p:cNvPr>
          <p:cNvSpPr>
            <a:spLocks noGrp="1"/>
          </p:cNvSpPr>
          <p:nvPr>
            <p:ph sz="half" idx="1"/>
          </p:nvPr>
        </p:nvSpPr>
        <p:spPr/>
        <p:txBody>
          <a:bodyPr/>
          <a:lstStyle/>
          <a:p>
            <a:r>
              <a:rPr lang="en-US" sz="2400" dirty="0"/>
              <a:t>Similar to carbide fuels, but without the problems of carburization</a:t>
            </a:r>
          </a:p>
          <a:p>
            <a:r>
              <a:rPr lang="en-US" sz="2400" dirty="0"/>
              <a:t>Pure UN and </a:t>
            </a:r>
            <a:r>
              <a:rPr lang="en-US" sz="2400" dirty="0" err="1"/>
              <a:t>PuN</a:t>
            </a:r>
            <a:r>
              <a:rPr lang="en-US" sz="2400" dirty="0"/>
              <a:t> are stable with respect to most major cladding constituents</a:t>
            </a:r>
          </a:p>
          <a:p>
            <a:r>
              <a:rPr lang="en-US" sz="2400" dirty="0" err="1"/>
              <a:t>Hypostoichiometric</a:t>
            </a:r>
            <a:r>
              <a:rPr lang="en-US" sz="2400" dirty="0"/>
              <a:t> MN that contains free U or Pu should be avoided as a eutectic melting reaction with the cladding can occur</a:t>
            </a:r>
          </a:p>
        </p:txBody>
      </p:sp>
      <p:sp>
        <p:nvSpPr>
          <p:cNvPr id="4" name="Content Placeholder 3">
            <a:extLst>
              <a:ext uri="{FF2B5EF4-FFF2-40B4-BE49-F238E27FC236}">
                <a16:creationId xmlns:a16="http://schemas.microsoft.com/office/drawing/2014/main" id="{1CD92755-F3D3-EBF2-88FB-61D09D269B97}"/>
              </a:ext>
            </a:extLst>
          </p:cNvPr>
          <p:cNvSpPr>
            <a:spLocks noGrp="1"/>
          </p:cNvSpPr>
          <p:nvPr>
            <p:ph sz="half" idx="2"/>
          </p:nvPr>
        </p:nvSpPr>
        <p:spPr/>
        <p:txBody>
          <a:bodyPr/>
          <a:lstStyle/>
          <a:p>
            <a:r>
              <a:rPr lang="en-US" sz="2400" dirty="0"/>
              <a:t>Formation of (</a:t>
            </a:r>
            <a:r>
              <a:rPr lang="en-US" sz="2400" dirty="0" err="1"/>
              <a:t>U,Pu</a:t>
            </a:r>
            <a:r>
              <a:rPr lang="en-US" sz="2400" dirty="0"/>
              <a:t>)Fe2 and (</a:t>
            </a:r>
            <a:r>
              <a:rPr lang="en-US" sz="2400" dirty="0" err="1"/>
              <a:t>U,Pu</a:t>
            </a:r>
            <a:r>
              <a:rPr lang="en-US" sz="2400" dirty="0"/>
              <a:t>)Ni5-type intermetallic compounds – same as carbides</a:t>
            </a:r>
          </a:p>
          <a:p>
            <a:r>
              <a:rPr lang="en-US" sz="2400" dirty="0"/>
              <a:t>In systems with excess N, U2N3 can be stripped of N to form Fe, Ni, and Mo nitrides</a:t>
            </a:r>
          </a:p>
          <a:p>
            <a:r>
              <a:rPr lang="en-US" sz="2400" dirty="0"/>
              <a:t>Thus, </a:t>
            </a:r>
            <a:r>
              <a:rPr lang="en-US" sz="2400" dirty="0" err="1"/>
              <a:t>hyperstoichiometric</a:t>
            </a:r>
            <a:r>
              <a:rPr lang="en-US" sz="2400" dirty="0"/>
              <a:t> UN is less compatible with cladding</a:t>
            </a:r>
          </a:p>
        </p:txBody>
      </p:sp>
      <p:sp>
        <p:nvSpPr>
          <p:cNvPr id="5" name="Slide Number Placeholder 4">
            <a:extLst>
              <a:ext uri="{FF2B5EF4-FFF2-40B4-BE49-F238E27FC236}">
                <a16:creationId xmlns:a16="http://schemas.microsoft.com/office/drawing/2014/main" id="{1085590B-5DCB-EA08-4C95-4061F9A8DAE4}"/>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spTree>
    <p:extLst>
      <p:ext uri="{BB962C8B-B14F-4D97-AF65-F5344CB8AC3E}">
        <p14:creationId xmlns:p14="http://schemas.microsoft.com/office/powerpoint/2010/main" val="17751290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E21D8F-6F31-6714-0BD1-79A43BDFE8D7}"/>
              </a:ext>
            </a:extLst>
          </p:cNvPr>
          <p:cNvSpPr>
            <a:spLocks noGrp="1"/>
          </p:cNvSpPr>
          <p:nvPr>
            <p:ph type="title"/>
          </p:nvPr>
        </p:nvSpPr>
        <p:spPr/>
        <p:txBody>
          <a:bodyPr/>
          <a:lstStyle/>
          <a:p>
            <a:r>
              <a:rPr lang="en-US" dirty="0"/>
              <a:t>Cladding Nitriding</a:t>
            </a:r>
          </a:p>
        </p:txBody>
      </p:sp>
      <p:sp>
        <p:nvSpPr>
          <p:cNvPr id="3" name="Content Placeholder 2">
            <a:extLst>
              <a:ext uri="{FF2B5EF4-FFF2-40B4-BE49-F238E27FC236}">
                <a16:creationId xmlns:a16="http://schemas.microsoft.com/office/drawing/2014/main" id="{091FB13C-DF19-2668-BFE2-D1FD62A68642}"/>
              </a:ext>
            </a:extLst>
          </p:cNvPr>
          <p:cNvSpPr>
            <a:spLocks noGrp="1"/>
          </p:cNvSpPr>
          <p:nvPr>
            <p:ph sz="half" idx="1"/>
          </p:nvPr>
        </p:nvSpPr>
        <p:spPr>
          <a:xfrm>
            <a:off x="609600" y="1968503"/>
            <a:ext cx="5632174" cy="4157663"/>
          </a:xfrm>
        </p:spPr>
        <p:txBody>
          <a:bodyPr/>
          <a:lstStyle/>
          <a:p>
            <a:r>
              <a:rPr lang="en-US" sz="2200" dirty="0" err="1"/>
              <a:t>Hyperstoichiometric</a:t>
            </a:r>
            <a:r>
              <a:rPr lang="en-US" sz="2200" dirty="0"/>
              <a:t> MN containing sesquinitride (U2N3) can cause nitrogen penetration and form a reaction layer at the cladding inner surface</a:t>
            </a:r>
          </a:p>
          <a:p>
            <a:r>
              <a:rPr lang="en-US" sz="2200" dirty="0"/>
              <a:t>Since N/U increases with burnup, more N becomes available with time</a:t>
            </a:r>
          </a:p>
          <a:p>
            <a:r>
              <a:rPr lang="en-US" sz="2200" dirty="0"/>
              <a:t>Oxygen impurities present can convert the fuel into oxide form, freeing nitrogen and allowing for nitriding</a:t>
            </a:r>
          </a:p>
          <a:p>
            <a:r>
              <a:rPr lang="en-US" sz="2200" dirty="0"/>
              <a:t>Excessive nitriding of cladding materials has not been reported</a:t>
            </a:r>
          </a:p>
        </p:txBody>
      </p:sp>
      <p:sp>
        <p:nvSpPr>
          <p:cNvPr id="5" name="Slide Number Placeholder 4">
            <a:extLst>
              <a:ext uri="{FF2B5EF4-FFF2-40B4-BE49-F238E27FC236}">
                <a16:creationId xmlns:a16="http://schemas.microsoft.com/office/drawing/2014/main" id="{CB4F1F51-7688-0829-E545-D4F377493086}"/>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pic>
        <p:nvPicPr>
          <p:cNvPr id="6" name="Picture 5">
            <a:extLst>
              <a:ext uri="{FF2B5EF4-FFF2-40B4-BE49-F238E27FC236}">
                <a16:creationId xmlns:a16="http://schemas.microsoft.com/office/drawing/2014/main" id="{01A7FAB4-208F-8290-4397-B86684730B55}"/>
              </a:ext>
            </a:extLst>
          </p:cNvPr>
          <p:cNvPicPr>
            <a:picLocks noChangeAspect="1"/>
          </p:cNvPicPr>
          <p:nvPr/>
        </p:nvPicPr>
        <p:blipFill>
          <a:blip r:embed="rId2"/>
          <a:stretch>
            <a:fillRect/>
          </a:stretch>
        </p:blipFill>
        <p:spPr>
          <a:xfrm>
            <a:off x="8163890" y="2302013"/>
            <a:ext cx="2997200" cy="2870200"/>
          </a:xfrm>
          <a:prstGeom prst="rect">
            <a:avLst/>
          </a:prstGeom>
        </p:spPr>
      </p:pic>
      <p:sp>
        <p:nvSpPr>
          <p:cNvPr id="8" name="TextBox 7">
            <a:extLst>
              <a:ext uri="{FF2B5EF4-FFF2-40B4-BE49-F238E27FC236}">
                <a16:creationId xmlns:a16="http://schemas.microsoft.com/office/drawing/2014/main" id="{93C83545-2D03-F123-DC01-266620CBBF83}"/>
              </a:ext>
            </a:extLst>
          </p:cNvPr>
          <p:cNvSpPr txBox="1"/>
          <p:nvPr/>
        </p:nvSpPr>
        <p:spPr>
          <a:xfrm>
            <a:off x="7126356" y="5306247"/>
            <a:ext cx="5072269" cy="523220"/>
          </a:xfrm>
          <a:prstGeom prst="rect">
            <a:avLst/>
          </a:prstGeom>
          <a:noFill/>
        </p:spPr>
        <p:txBody>
          <a:bodyPr wrap="square">
            <a:spAutoFit/>
          </a:bodyPr>
          <a:lstStyle/>
          <a:p>
            <a:pPr algn="ctr"/>
            <a:r>
              <a:rPr lang="en-US" sz="1400" dirty="0">
                <a:effectLst/>
                <a:latin typeface="Helvetica" pitchFamily="2" charset="0"/>
              </a:rPr>
              <a:t>Appearance of clad nitriding of Type 304 stainless steel cladding</a:t>
            </a:r>
          </a:p>
        </p:txBody>
      </p:sp>
      <p:pic>
        <p:nvPicPr>
          <p:cNvPr id="9" name="Picture 8">
            <a:extLst>
              <a:ext uri="{FF2B5EF4-FFF2-40B4-BE49-F238E27FC236}">
                <a16:creationId xmlns:a16="http://schemas.microsoft.com/office/drawing/2014/main" id="{C530EE3E-32B9-F63F-116D-3A6492A939CF}"/>
              </a:ext>
            </a:extLst>
          </p:cNvPr>
          <p:cNvPicPr>
            <a:picLocks noChangeAspect="1"/>
          </p:cNvPicPr>
          <p:nvPr/>
        </p:nvPicPr>
        <p:blipFill>
          <a:blip r:embed="rId3"/>
          <a:stretch>
            <a:fillRect/>
          </a:stretch>
        </p:blipFill>
        <p:spPr>
          <a:xfrm>
            <a:off x="8233740" y="1842504"/>
            <a:ext cx="2857500" cy="406400"/>
          </a:xfrm>
          <a:prstGeom prst="rect">
            <a:avLst/>
          </a:prstGeom>
        </p:spPr>
      </p:pic>
    </p:spTree>
    <p:extLst>
      <p:ext uri="{BB962C8B-B14F-4D97-AF65-F5344CB8AC3E}">
        <p14:creationId xmlns:p14="http://schemas.microsoft.com/office/powerpoint/2010/main" val="28747808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43086-42D1-D146-90E2-D4F14FECAC44}"/>
              </a:ext>
            </a:extLst>
          </p:cNvPr>
          <p:cNvSpPr>
            <a:spLocks noGrp="1"/>
          </p:cNvSpPr>
          <p:nvPr>
            <p:ph type="title"/>
          </p:nvPr>
        </p:nvSpPr>
        <p:spPr/>
        <p:txBody>
          <a:bodyPr/>
          <a:lstStyle/>
          <a:p>
            <a:r>
              <a:rPr lang="en-US" dirty="0"/>
              <a:t>Reprocessing</a:t>
            </a:r>
          </a:p>
        </p:txBody>
      </p:sp>
      <p:sp>
        <p:nvSpPr>
          <p:cNvPr id="3" name="Content Placeholder 2">
            <a:extLst>
              <a:ext uri="{FF2B5EF4-FFF2-40B4-BE49-F238E27FC236}">
                <a16:creationId xmlns:a16="http://schemas.microsoft.com/office/drawing/2014/main" id="{BCCDC42E-05C2-0349-ACFA-DB08C68DBFBB}"/>
              </a:ext>
            </a:extLst>
          </p:cNvPr>
          <p:cNvSpPr>
            <a:spLocks noGrp="1"/>
          </p:cNvSpPr>
          <p:nvPr>
            <p:ph sz="half" idx="1"/>
          </p:nvPr>
        </p:nvSpPr>
        <p:spPr/>
        <p:txBody>
          <a:bodyPr/>
          <a:lstStyle/>
          <a:p>
            <a:r>
              <a:rPr lang="en-US" sz="2200" dirty="0"/>
              <a:t>Both </a:t>
            </a:r>
            <a:r>
              <a:rPr lang="en-US" sz="2200" dirty="0" err="1"/>
              <a:t>hydrochemical</a:t>
            </a:r>
            <a:r>
              <a:rPr lang="en-US" sz="2200" dirty="0"/>
              <a:t> and pyrochemical processes were proposed for the reprocessing techniques</a:t>
            </a:r>
          </a:p>
          <a:p>
            <a:r>
              <a:rPr lang="en-US" sz="2200" dirty="0"/>
              <a:t>The disposal of long-lived </a:t>
            </a:r>
            <a:r>
              <a:rPr lang="en-US" sz="2200" baseline="30000" dirty="0"/>
              <a:t>14</a:t>
            </a:r>
            <a:r>
              <a:rPr lang="en-US" sz="2200" dirty="0"/>
              <a:t>C and the recovery of expensive </a:t>
            </a:r>
            <a:r>
              <a:rPr lang="en-US" sz="2200" baseline="30000" dirty="0"/>
              <a:t>15</a:t>
            </a:r>
            <a:r>
              <a:rPr lang="en-US" sz="2200" dirty="0"/>
              <a:t>N are key topics in reprocessing</a:t>
            </a:r>
          </a:p>
          <a:p>
            <a:r>
              <a:rPr lang="en-US" sz="2200" dirty="0" err="1"/>
              <a:t>Hydrochemical</a:t>
            </a:r>
            <a:r>
              <a:rPr lang="en-US" sz="2200" dirty="0"/>
              <a:t> processes produce a nitric acid solution of </a:t>
            </a:r>
            <a:r>
              <a:rPr lang="en-US" sz="2200" dirty="0" err="1"/>
              <a:t>U+Pu</a:t>
            </a:r>
            <a:r>
              <a:rPr lang="en-US" sz="2200" dirty="0"/>
              <a:t> to be converted to oxide, and then to nitride by carbothermic reduction</a:t>
            </a:r>
          </a:p>
        </p:txBody>
      </p:sp>
      <p:sp>
        <p:nvSpPr>
          <p:cNvPr id="4" name="Content Placeholder 3">
            <a:extLst>
              <a:ext uri="{FF2B5EF4-FFF2-40B4-BE49-F238E27FC236}">
                <a16:creationId xmlns:a16="http://schemas.microsoft.com/office/drawing/2014/main" id="{16E0C32A-2F3D-2548-825D-45F4E8A1D31D}"/>
              </a:ext>
            </a:extLst>
          </p:cNvPr>
          <p:cNvSpPr>
            <a:spLocks noGrp="1"/>
          </p:cNvSpPr>
          <p:nvPr>
            <p:ph sz="half" idx="2"/>
          </p:nvPr>
        </p:nvSpPr>
        <p:spPr/>
        <p:txBody>
          <a:bodyPr/>
          <a:lstStyle/>
          <a:p>
            <a:r>
              <a:rPr lang="en-US" sz="2200" dirty="0"/>
              <a:t>Pyrochemical processing similar to that for metallic fuel can also be applied for nitrides</a:t>
            </a:r>
          </a:p>
          <a:p>
            <a:r>
              <a:rPr lang="en-US" sz="2200" dirty="0"/>
              <a:t>Conversion to an oxide may be performed for the purpose of N-15 recovering via exposure to air</a:t>
            </a:r>
          </a:p>
          <a:p>
            <a:endParaRPr lang="en-US" sz="2200" dirty="0"/>
          </a:p>
        </p:txBody>
      </p:sp>
      <p:sp>
        <p:nvSpPr>
          <p:cNvPr id="5" name="Slide Number Placeholder 4">
            <a:extLst>
              <a:ext uri="{FF2B5EF4-FFF2-40B4-BE49-F238E27FC236}">
                <a16:creationId xmlns:a16="http://schemas.microsoft.com/office/drawing/2014/main" id="{2B569280-E9CC-8C4C-98D2-96C6DB16A610}"/>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spTree>
    <p:extLst>
      <p:ext uri="{BB962C8B-B14F-4D97-AF65-F5344CB8AC3E}">
        <p14:creationId xmlns:p14="http://schemas.microsoft.com/office/powerpoint/2010/main" val="648911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E1878-00CA-8F4C-87E0-758D93D0C4F7}"/>
              </a:ext>
            </a:extLst>
          </p:cNvPr>
          <p:cNvSpPr>
            <a:spLocks noGrp="1"/>
          </p:cNvSpPr>
          <p:nvPr>
            <p:ph type="title"/>
          </p:nvPr>
        </p:nvSpPr>
        <p:spPr/>
        <p:txBody>
          <a:bodyPr/>
          <a:lstStyle/>
          <a:p>
            <a:r>
              <a:rPr lang="en-US" dirty="0"/>
              <a:t>Nitride Fabrication</a:t>
            </a:r>
          </a:p>
        </p:txBody>
      </p:sp>
      <p:sp>
        <p:nvSpPr>
          <p:cNvPr id="3" name="Content Placeholder 2">
            <a:extLst>
              <a:ext uri="{FF2B5EF4-FFF2-40B4-BE49-F238E27FC236}">
                <a16:creationId xmlns:a16="http://schemas.microsoft.com/office/drawing/2014/main" id="{69B8B896-E415-2B4B-91EE-7CCDDACE4435}"/>
              </a:ext>
            </a:extLst>
          </p:cNvPr>
          <p:cNvSpPr>
            <a:spLocks noGrp="1"/>
          </p:cNvSpPr>
          <p:nvPr>
            <p:ph sz="half" idx="1"/>
          </p:nvPr>
        </p:nvSpPr>
        <p:spPr>
          <a:xfrm>
            <a:off x="609600" y="1968503"/>
            <a:ext cx="5588000" cy="4157663"/>
          </a:xfrm>
        </p:spPr>
        <p:txBody>
          <a:bodyPr/>
          <a:lstStyle/>
          <a:p>
            <a:r>
              <a:rPr lang="en-US" sz="2200" dirty="0"/>
              <a:t>Similar to carbide fuels, preparation of nitrides from either metallic sources or from the </a:t>
            </a:r>
            <a:r>
              <a:rPr lang="en-US" sz="2200" dirty="0" err="1"/>
              <a:t>hydriding</a:t>
            </a:r>
            <a:r>
              <a:rPr lang="en-US" sz="2200" dirty="0"/>
              <a:t>-dehydriding process were explored in the 1960s and remain an option for laboratory implementation</a:t>
            </a:r>
          </a:p>
          <a:p>
            <a:r>
              <a:rPr lang="en-US" sz="2200" dirty="0"/>
              <a:t>These reactions are exothermic and should be carried out slowly by temperature cycling for better control of the products</a:t>
            </a:r>
          </a:p>
          <a:p>
            <a:r>
              <a:rPr lang="en-US" sz="2200" dirty="0"/>
              <a:t>It is difficult to apply the metal or hydride route for large scale production</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70C5C040-3C32-1548-83F7-0BA1D190299F}"/>
              </a:ext>
            </a:extLst>
          </p:cNvPr>
          <p:cNvSpPr>
            <a:spLocks noGrp="1"/>
          </p:cNvSpPr>
          <p:nvPr>
            <p:ph sz="half" idx="2"/>
          </p:nvPr>
        </p:nvSpPr>
        <p:spPr/>
        <p:txBody>
          <a:bodyPr/>
          <a:lstStyle/>
          <a:p>
            <a:r>
              <a:rPr lang="en-US" sz="2200" dirty="0"/>
              <a:t>These processes include the nitridation of U or Pu metal in N2 or NH3 at 1073–1173 K, arc-melting of U or Pu metal under N2 pressure, nitridation of fine-grained U or Pu powder formed by the decomposition of hydrides with N2 or NH3 and direct reaction of UH3 or PuH</a:t>
            </a:r>
            <a:r>
              <a:rPr lang="en-US" sz="2200" baseline="-25000" dirty="0"/>
              <a:t>2.7 </a:t>
            </a:r>
            <a:r>
              <a:rPr lang="en-US" sz="2200" dirty="0"/>
              <a:t>with N2 or NH3</a:t>
            </a:r>
          </a:p>
          <a:p>
            <a:endParaRPr lang="en-US" sz="2200" dirty="0"/>
          </a:p>
        </p:txBody>
      </p:sp>
      <p:sp>
        <p:nvSpPr>
          <p:cNvPr id="5" name="Slide Number Placeholder 4">
            <a:extLst>
              <a:ext uri="{FF2B5EF4-FFF2-40B4-BE49-F238E27FC236}">
                <a16:creationId xmlns:a16="http://schemas.microsoft.com/office/drawing/2014/main" id="{CE371DDD-2697-F04E-8EED-29C10B6EB5C4}"/>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spTree>
    <p:extLst>
      <p:ext uri="{BB962C8B-B14F-4D97-AF65-F5344CB8AC3E}">
        <p14:creationId xmlns:p14="http://schemas.microsoft.com/office/powerpoint/2010/main" val="25318688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21212-DE00-4E47-943C-0378CBEF722D}"/>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76F9ADF2-AFD8-234E-BA7A-F9C6C4574FBC}"/>
              </a:ext>
            </a:extLst>
          </p:cNvPr>
          <p:cNvSpPr>
            <a:spLocks noGrp="1"/>
          </p:cNvSpPr>
          <p:nvPr>
            <p:ph sz="half" idx="1"/>
          </p:nvPr>
        </p:nvSpPr>
        <p:spPr/>
        <p:txBody>
          <a:bodyPr/>
          <a:lstStyle/>
          <a:p>
            <a:r>
              <a:rPr lang="en-US" sz="2200" dirty="0"/>
              <a:t>Carbothermic reduction is the most widely used process for preparing nitride fuel</a:t>
            </a:r>
          </a:p>
          <a:p>
            <a:r>
              <a:rPr lang="en-US" sz="2200" dirty="0"/>
              <a:t>The starting material is a dioxide and carbon, and the general reaction is</a:t>
            </a:r>
          </a:p>
          <a:p>
            <a:endParaRPr lang="en-US" sz="2200" dirty="0"/>
          </a:p>
          <a:p>
            <a:r>
              <a:rPr lang="en-US" sz="2200" dirty="0"/>
              <a:t>The mixture of dioxide and carbon is heated in N2 gas stream, usually at 1773–1973 K</a:t>
            </a:r>
          </a:p>
          <a:p>
            <a:r>
              <a:rPr lang="en-US" sz="2200" dirty="0"/>
              <a:t>An excess amount of carbon is usually added to the mixture to reduce the oxygen content</a:t>
            </a:r>
          </a:p>
          <a:p>
            <a:endParaRPr lang="en-US" sz="2200" dirty="0"/>
          </a:p>
          <a:p>
            <a:endParaRPr lang="en-US" sz="2200" dirty="0"/>
          </a:p>
        </p:txBody>
      </p:sp>
      <p:sp>
        <p:nvSpPr>
          <p:cNvPr id="4" name="Content Placeholder 3">
            <a:extLst>
              <a:ext uri="{FF2B5EF4-FFF2-40B4-BE49-F238E27FC236}">
                <a16:creationId xmlns:a16="http://schemas.microsoft.com/office/drawing/2014/main" id="{B8FD1222-F8F2-2141-9E11-5AB9C7210AFE}"/>
              </a:ext>
            </a:extLst>
          </p:cNvPr>
          <p:cNvSpPr>
            <a:spLocks noGrp="1"/>
          </p:cNvSpPr>
          <p:nvPr>
            <p:ph sz="half" idx="2"/>
          </p:nvPr>
        </p:nvSpPr>
        <p:spPr/>
        <p:txBody>
          <a:bodyPr/>
          <a:lstStyle/>
          <a:p>
            <a:r>
              <a:rPr lang="en-US" sz="2200" dirty="0"/>
              <a:t>The initial C/MO2 mixing ratio was historically chosen at 2.2–2.5 for the preparation of UN and (</a:t>
            </a:r>
            <a:r>
              <a:rPr lang="en-US" sz="2200" dirty="0" err="1"/>
              <a:t>U,Pu</a:t>
            </a:r>
            <a:r>
              <a:rPr lang="en-US" sz="2200" dirty="0"/>
              <a:t>)N</a:t>
            </a:r>
          </a:p>
          <a:p>
            <a:r>
              <a:rPr lang="en-US" sz="2200" dirty="0"/>
              <a:t>The residual carbon is removed from the products by heating in a N2-H2 stream</a:t>
            </a:r>
          </a:p>
          <a:p>
            <a:r>
              <a:rPr lang="en-US" sz="2200" dirty="0"/>
              <a:t>After removal of excess carbon, the atmosphere is changed to </a:t>
            </a:r>
            <a:r>
              <a:rPr lang="en-US" sz="2200" dirty="0" err="1"/>
              <a:t>Ar</a:t>
            </a:r>
            <a:r>
              <a:rPr lang="en-US" sz="2200" dirty="0"/>
              <a:t> or He from N2 or N2–H2 to prevent the formation of higher nitrides</a:t>
            </a:r>
          </a:p>
        </p:txBody>
      </p:sp>
      <p:sp>
        <p:nvSpPr>
          <p:cNvPr id="5" name="Slide Number Placeholder 4">
            <a:extLst>
              <a:ext uri="{FF2B5EF4-FFF2-40B4-BE49-F238E27FC236}">
                <a16:creationId xmlns:a16="http://schemas.microsoft.com/office/drawing/2014/main" id="{61D5D283-6276-634A-AE4C-FEF72C627AB9}"/>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pic>
        <p:nvPicPr>
          <p:cNvPr id="6" name="Picture 5">
            <a:extLst>
              <a:ext uri="{FF2B5EF4-FFF2-40B4-BE49-F238E27FC236}">
                <a16:creationId xmlns:a16="http://schemas.microsoft.com/office/drawing/2014/main" id="{2A0526AE-6358-764D-862C-CFBD3CACC072}"/>
              </a:ext>
            </a:extLst>
          </p:cNvPr>
          <p:cNvPicPr>
            <a:picLocks noChangeAspect="1"/>
          </p:cNvPicPr>
          <p:nvPr/>
        </p:nvPicPr>
        <p:blipFill rotWithShape="1">
          <a:blip r:embed="rId2"/>
          <a:srcRect t="22193"/>
          <a:stretch/>
        </p:blipFill>
        <p:spPr>
          <a:xfrm>
            <a:off x="1366079" y="3849706"/>
            <a:ext cx="4013200" cy="395256"/>
          </a:xfrm>
          <a:prstGeom prst="rect">
            <a:avLst/>
          </a:prstGeom>
        </p:spPr>
      </p:pic>
    </p:spTree>
    <p:extLst>
      <p:ext uri="{BB962C8B-B14F-4D97-AF65-F5344CB8AC3E}">
        <p14:creationId xmlns:p14="http://schemas.microsoft.com/office/powerpoint/2010/main" val="38409596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0091D6-9E84-F444-AC12-8E0A9B28EB74}"/>
              </a:ext>
            </a:extLst>
          </p:cNvPr>
          <p:cNvSpPr>
            <a:spLocks noGrp="1"/>
          </p:cNvSpPr>
          <p:nvPr>
            <p:ph type="title"/>
          </p:nvPr>
        </p:nvSpPr>
        <p:spPr/>
        <p:txBody>
          <a:bodyPr/>
          <a:lstStyle/>
          <a:p>
            <a:r>
              <a:rPr lang="en-US" dirty="0"/>
              <a:t>Carbothermic Reduction</a:t>
            </a:r>
          </a:p>
        </p:txBody>
      </p:sp>
      <p:sp>
        <p:nvSpPr>
          <p:cNvPr id="3" name="Content Placeholder 2">
            <a:extLst>
              <a:ext uri="{FF2B5EF4-FFF2-40B4-BE49-F238E27FC236}">
                <a16:creationId xmlns:a16="http://schemas.microsoft.com/office/drawing/2014/main" id="{623BAA2F-DBDD-344C-A6B2-0B3215E95DC4}"/>
              </a:ext>
            </a:extLst>
          </p:cNvPr>
          <p:cNvSpPr>
            <a:spLocks noGrp="1"/>
          </p:cNvSpPr>
          <p:nvPr>
            <p:ph sz="half" idx="1"/>
          </p:nvPr>
        </p:nvSpPr>
        <p:spPr/>
        <p:txBody>
          <a:bodyPr/>
          <a:lstStyle/>
          <a:p>
            <a:r>
              <a:rPr lang="en-US" sz="2200" dirty="0"/>
              <a:t>Typical impurities in nitride fuel prepared by carbothermic reduction are oxygen and carbon</a:t>
            </a:r>
          </a:p>
          <a:p>
            <a:r>
              <a:rPr lang="en-US" sz="2200" dirty="0"/>
              <a:t>The level of impurities can be kept lower than 1000 ppm for both oxygen and carbon by adjusting the initial C/MO2 mixing ratio</a:t>
            </a:r>
          </a:p>
          <a:p>
            <a:r>
              <a:rPr lang="en-US" sz="2200" dirty="0"/>
              <a:t>Carbonitrides (U/Pu-C-N) have complete solubility in the MN systems, while oxides have solubility around 10%</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C02A8442-E9E2-AE47-B42B-2B2400A27495}"/>
              </a:ext>
            </a:extLst>
          </p:cNvPr>
          <p:cNvSpPr>
            <a:spLocks noGrp="1"/>
          </p:cNvSpPr>
          <p:nvPr>
            <p:ph sz="half" idx="2"/>
          </p:nvPr>
        </p:nvSpPr>
        <p:spPr/>
        <p:txBody>
          <a:bodyPr/>
          <a:lstStyle/>
          <a:p>
            <a:r>
              <a:rPr lang="en-US" sz="2200" dirty="0"/>
              <a:t>MA-N can be manufactured in the same way, but has different C, N, and O potentials, requiring slightly different mixtures of streams</a:t>
            </a:r>
          </a:p>
          <a:p>
            <a:r>
              <a:rPr lang="en-US" sz="2200" dirty="0"/>
              <a:t>Am also has a high vapor pressure and it is a challenge to keep it from vaporizing during fabrication, this requires operating at lower temperatures for the N2 stream</a:t>
            </a:r>
          </a:p>
          <a:p>
            <a:r>
              <a:rPr lang="en-US" sz="2200" dirty="0"/>
              <a:t>Unlike carbides, Pu volatilization is not an issue</a:t>
            </a:r>
          </a:p>
        </p:txBody>
      </p:sp>
      <p:sp>
        <p:nvSpPr>
          <p:cNvPr id="5" name="Slide Number Placeholder 4">
            <a:extLst>
              <a:ext uri="{FF2B5EF4-FFF2-40B4-BE49-F238E27FC236}">
                <a16:creationId xmlns:a16="http://schemas.microsoft.com/office/drawing/2014/main" id="{D9CB219D-1350-FA40-9552-D375C8FB11D9}"/>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Tree>
    <p:extLst>
      <p:ext uri="{BB962C8B-B14F-4D97-AF65-F5344CB8AC3E}">
        <p14:creationId xmlns:p14="http://schemas.microsoft.com/office/powerpoint/2010/main" val="18030734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EDC9269-B59F-414E-BE68-2EA4F5C65EAB}"/>
              </a:ext>
            </a:extLst>
          </p:cNvPr>
          <p:cNvPicPr>
            <a:picLocks noChangeAspect="1"/>
          </p:cNvPicPr>
          <p:nvPr/>
        </p:nvPicPr>
        <p:blipFill>
          <a:blip r:embed="rId2"/>
          <a:stretch>
            <a:fillRect/>
          </a:stretch>
        </p:blipFill>
        <p:spPr>
          <a:xfrm>
            <a:off x="6197600" y="4418289"/>
            <a:ext cx="5092976" cy="2120625"/>
          </a:xfrm>
          <a:prstGeom prst="rect">
            <a:avLst/>
          </a:prstGeom>
        </p:spPr>
      </p:pic>
      <p:sp>
        <p:nvSpPr>
          <p:cNvPr id="2" name="Title 1">
            <a:extLst>
              <a:ext uri="{FF2B5EF4-FFF2-40B4-BE49-F238E27FC236}">
                <a16:creationId xmlns:a16="http://schemas.microsoft.com/office/drawing/2014/main" id="{4244E1AB-6190-4C48-BCF7-45148FF365F0}"/>
              </a:ext>
            </a:extLst>
          </p:cNvPr>
          <p:cNvSpPr>
            <a:spLocks noGrp="1"/>
          </p:cNvSpPr>
          <p:nvPr>
            <p:ph type="title"/>
          </p:nvPr>
        </p:nvSpPr>
        <p:spPr/>
        <p:txBody>
          <a:bodyPr/>
          <a:lstStyle/>
          <a:p>
            <a:r>
              <a:rPr lang="en-US" dirty="0"/>
              <a:t>Nitride Pellets</a:t>
            </a:r>
          </a:p>
        </p:txBody>
      </p:sp>
      <p:sp>
        <p:nvSpPr>
          <p:cNvPr id="3" name="Content Placeholder 2">
            <a:extLst>
              <a:ext uri="{FF2B5EF4-FFF2-40B4-BE49-F238E27FC236}">
                <a16:creationId xmlns:a16="http://schemas.microsoft.com/office/drawing/2014/main" id="{2FF73539-8B67-6547-BCDC-B8469018A596}"/>
              </a:ext>
            </a:extLst>
          </p:cNvPr>
          <p:cNvSpPr>
            <a:spLocks noGrp="1"/>
          </p:cNvSpPr>
          <p:nvPr>
            <p:ph sz="half" idx="1"/>
          </p:nvPr>
        </p:nvSpPr>
        <p:spPr/>
        <p:txBody>
          <a:bodyPr/>
          <a:lstStyle/>
          <a:p>
            <a:r>
              <a:rPr lang="en-US" sz="2000" dirty="0"/>
              <a:t>Nitride fuel pellets are usually prepared by a classical powder metallurgical manner; the product of carbothermic reduction is ground to powder by use of a ball mill, pressed into green pellets and sintered in a furnace at 1923–2023 K</a:t>
            </a:r>
          </a:p>
          <a:p>
            <a:r>
              <a:rPr lang="en-US" sz="2000" dirty="0"/>
              <a:t>Actinide nitride powder has a low </a:t>
            </a:r>
            <a:r>
              <a:rPr lang="en-US" sz="2000" dirty="0" err="1"/>
              <a:t>sinterability</a:t>
            </a:r>
            <a:r>
              <a:rPr lang="en-US" sz="2000" dirty="0"/>
              <a:t> in comparison with that of oxide or carbide powder, which is derived from a low diffusion rate of metal atoms in mononitrides</a:t>
            </a:r>
          </a:p>
          <a:p>
            <a:endParaRPr lang="en-US" sz="2000" dirty="0"/>
          </a:p>
          <a:p>
            <a:endParaRPr lang="en-US" sz="2000" dirty="0"/>
          </a:p>
        </p:txBody>
      </p:sp>
      <p:sp>
        <p:nvSpPr>
          <p:cNvPr id="4" name="Content Placeholder 3">
            <a:extLst>
              <a:ext uri="{FF2B5EF4-FFF2-40B4-BE49-F238E27FC236}">
                <a16:creationId xmlns:a16="http://schemas.microsoft.com/office/drawing/2014/main" id="{44201773-EE77-384D-916C-3681711465DB}"/>
              </a:ext>
            </a:extLst>
          </p:cNvPr>
          <p:cNvSpPr>
            <a:spLocks noGrp="1"/>
          </p:cNvSpPr>
          <p:nvPr>
            <p:ph sz="half" idx="2"/>
          </p:nvPr>
        </p:nvSpPr>
        <p:spPr/>
        <p:txBody>
          <a:bodyPr/>
          <a:lstStyle/>
          <a:p>
            <a:r>
              <a:rPr lang="en-US" sz="2000" dirty="0"/>
              <a:t>A high sintering temperature (i.e., T&gt;1973 K) is necessary for preparing dense UN or (</a:t>
            </a:r>
            <a:r>
              <a:rPr lang="en-US" sz="2000" dirty="0" err="1"/>
              <a:t>U,Pu</a:t>
            </a:r>
            <a:r>
              <a:rPr lang="en-US" sz="2000" dirty="0"/>
              <a:t>)N pellets higher than 90% TD</a:t>
            </a:r>
          </a:p>
          <a:p>
            <a:r>
              <a:rPr lang="en-US" sz="2000" dirty="0"/>
              <a:t>Oxygen impurities tend to promote the sintering of UN, but greater than 1 wt% decreases the density and results in an overly fine grain structure</a:t>
            </a:r>
          </a:p>
          <a:p>
            <a:endParaRPr lang="en-US" sz="2000" dirty="0"/>
          </a:p>
          <a:p>
            <a:endParaRPr lang="en-US" sz="2000" dirty="0"/>
          </a:p>
        </p:txBody>
      </p:sp>
      <p:sp>
        <p:nvSpPr>
          <p:cNvPr id="5" name="Slide Number Placeholder 4">
            <a:extLst>
              <a:ext uri="{FF2B5EF4-FFF2-40B4-BE49-F238E27FC236}">
                <a16:creationId xmlns:a16="http://schemas.microsoft.com/office/drawing/2014/main" id="{456DB4CF-AF54-374C-BD6E-8080D04B88D7}"/>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dirty="0"/>
          </a:p>
        </p:txBody>
      </p:sp>
    </p:spTree>
    <p:extLst>
      <p:ext uri="{BB962C8B-B14F-4D97-AF65-F5344CB8AC3E}">
        <p14:creationId xmlns:p14="http://schemas.microsoft.com/office/powerpoint/2010/main" val="29493816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D8D6A-02F7-28D7-AFFC-68D71A35F632}"/>
              </a:ext>
            </a:extLst>
          </p:cNvPr>
          <p:cNvSpPr>
            <a:spLocks noGrp="1"/>
          </p:cNvSpPr>
          <p:nvPr>
            <p:ph type="title"/>
          </p:nvPr>
        </p:nvSpPr>
        <p:spPr/>
        <p:txBody>
          <a:bodyPr/>
          <a:lstStyle/>
          <a:p>
            <a:r>
              <a:rPr lang="en-US" dirty="0"/>
              <a:t>Nitrogen enrichment</a:t>
            </a:r>
          </a:p>
        </p:txBody>
      </p:sp>
      <p:sp>
        <p:nvSpPr>
          <p:cNvPr id="3" name="Content Placeholder 2">
            <a:extLst>
              <a:ext uri="{FF2B5EF4-FFF2-40B4-BE49-F238E27FC236}">
                <a16:creationId xmlns:a16="http://schemas.microsoft.com/office/drawing/2014/main" id="{9CFE3688-A6A4-7681-88E7-4E45058DD3DB}"/>
              </a:ext>
            </a:extLst>
          </p:cNvPr>
          <p:cNvSpPr>
            <a:spLocks noGrp="1"/>
          </p:cNvSpPr>
          <p:nvPr>
            <p:ph sz="half" idx="1"/>
          </p:nvPr>
        </p:nvSpPr>
        <p:spPr/>
        <p:txBody>
          <a:bodyPr/>
          <a:lstStyle/>
          <a:p>
            <a:r>
              <a:rPr lang="en-US" sz="2200" dirty="0"/>
              <a:t>Nitrogen enrichment is critical for utilization in thermal reactors, and provides significant benefits for fast reactors</a:t>
            </a:r>
          </a:p>
          <a:p>
            <a:r>
              <a:rPr lang="en-US" sz="2200" dirty="0"/>
              <a:t>The cost of nitrogen enrichment is currently about 10x that which is needed for economical fuel development</a:t>
            </a:r>
          </a:p>
        </p:txBody>
      </p:sp>
      <p:sp>
        <p:nvSpPr>
          <p:cNvPr id="5" name="Slide Number Placeholder 4">
            <a:extLst>
              <a:ext uri="{FF2B5EF4-FFF2-40B4-BE49-F238E27FC236}">
                <a16:creationId xmlns:a16="http://schemas.microsoft.com/office/drawing/2014/main" id="{9033E821-EDFC-D019-E27D-3ACC54D340DF}"/>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pic>
        <p:nvPicPr>
          <p:cNvPr id="6" name="Picture 5">
            <a:extLst>
              <a:ext uri="{FF2B5EF4-FFF2-40B4-BE49-F238E27FC236}">
                <a16:creationId xmlns:a16="http://schemas.microsoft.com/office/drawing/2014/main" id="{C4A79A9C-A202-92A7-E9D2-4CE43D695741}"/>
              </a:ext>
            </a:extLst>
          </p:cNvPr>
          <p:cNvPicPr>
            <a:picLocks noChangeAspect="1"/>
          </p:cNvPicPr>
          <p:nvPr/>
        </p:nvPicPr>
        <p:blipFill>
          <a:blip r:embed="rId2"/>
          <a:stretch>
            <a:fillRect/>
          </a:stretch>
        </p:blipFill>
        <p:spPr>
          <a:xfrm>
            <a:off x="7001304" y="2115445"/>
            <a:ext cx="4254500" cy="3556000"/>
          </a:xfrm>
          <a:prstGeom prst="rect">
            <a:avLst/>
          </a:prstGeom>
        </p:spPr>
      </p:pic>
      <p:sp>
        <p:nvSpPr>
          <p:cNvPr id="8" name="TextBox 7">
            <a:extLst>
              <a:ext uri="{FF2B5EF4-FFF2-40B4-BE49-F238E27FC236}">
                <a16:creationId xmlns:a16="http://schemas.microsoft.com/office/drawing/2014/main" id="{63632715-9D11-24C0-FDF4-CF6A68F09874}"/>
              </a:ext>
            </a:extLst>
          </p:cNvPr>
          <p:cNvSpPr txBox="1"/>
          <p:nvPr/>
        </p:nvSpPr>
        <p:spPr>
          <a:xfrm>
            <a:off x="7001304" y="5818389"/>
            <a:ext cx="4348412" cy="307777"/>
          </a:xfrm>
          <a:prstGeom prst="rect">
            <a:avLst/>
          </a:prstGeom>
          <a:noFill/>
        </p:spPr>
        <p:txBody>
          <a:bodyPr wrap="square">
            <a:spAutoFit/>
          </a:bodyPr>
          <a:lstStyle/>
          <a:p>
            <a:pPr algn="ctr"/>
            <a:r>
              <a:rPr lang="en-US" sz="1400" dirty="0">
                <a:effectLst/>
                <a:latin typeface="Helvetica" pitchFamily="2" charset="0"/>
              </a:rPr>
              <a:t>UN pellet produced by spark plasma sintering</a:t>
            </a:r>
          </a:p>
        </p:txBody>
      </p:sp>
    </p:spTree>
    <p:extLst>
      <p:ext uri="{BB962C8B-B14F-4D97-AF65-F5344CB8AC3E}">
        <p14:creationId xmlns:p14="http://schemas.microsoft.com/office/powerpoint/2010/main" val="180786112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41343-7E3B-BF45-9EF4-B01300897CC8}"/>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AFCB3387-0B48-9C46-9281-C5F4A164DE9B}"/>
              </a:ext>
            </a:extLst>
          </p:cNvPr>
          <p:cNvSpPr>
            <a:spLocks noGrp="1"/>
          </p:cNvSpPr>
          <p:nvPr>
            <p:ph sz="half" idx="1"/>
          </p:nvPr>
        </p:nvSpPr>
        <p:spPr>
          <a:xfrm>
            <a:off x="609599" y="1968503"/>
            <a:ext cx="10972799" cy="4157663"/>
          </a:xfrm>
        </p:spPr>
        <p:txBody>
          <a:bodyPr/>
          <a:lstStyle/>
          <a:p>
            <a:r>
              <a:rPr lang="en-US" sz="2200" dirty="0"/>
              <a:t>Nitrides have a higher U density and higher thermal conductivity than oxides, with a higher melting point than carbides</a:t>
            </a:r>
          </a:p>
          <a:p>
            <a:r>
              <a:rPr lang="en-US" sz="2200" dirty="0"/>
              <a:t>Difficult fabrication, requiring atmospheric controls and enrichment of N, especially in thermal or transmutation applications</a:t>
            </a:r>
          </a:p>
          <a:p>
            <a:r>
              <a:rPr lang="en-US" sz="2200" dirty="0"/>
              <a:t>Carbothermic reduction is the primary fabrication route</a:t>
            </a:r>
          </a:p>
          <a:p>
            <a:r>
              <a:rPr lang="en-US" sz="2200" dirty="0"/>
              <a:t>Very few irradiations have been performed, none to especially high burnups</a:t>
            </a:r>
          </a:p>
          <a:p>
            <a:r>
              <a:rPr lang="en-US" sz="2200" dirty="0"/>
              <a:t>Three stages in temperature, with gap closure leading to steady state behavior</a:t>
            </a:r>
          </a:p>
          <a:p>
            <a:r>
              <a:rPr lang="en-US" sz="2200" dirty="0"/>
              <a:t>Nitride fuel undergoes restructuring, with central porous region, large grained region, and as-fabricated microstructure</a:t>
            </a:r>
          </a:p>
          <a:p>
            <a:r>
              <a:rPr lang="en-US" sz="2200" dirty="0"/>
              <a:t>FCMI is a key life limiting phenomenon due to little creep in UN fuels</a:t>
            </a:r>
          </a:p>
          <a:p>
            <a:pPr marL="0" indent="0">
              <a:buNone/>
            </a:pPr>
            <a:endParaRPr lang="en-US" sz="2200" dirty="0"/>
          </a:p>
        </p:txBody>
      </p:sp>
      <p:sp>
        <p:nvSpPr>
          <p:cNvPr id="5" name="Slide Number Placeholder 4">
            <a:extLst>
              <a:ext uri="{FF2B5EF4-FFF2-40B4-BE49-F238E27FC236}">
                <a16:creationId xmlns:a16="http://schemas.microsoft.com/office/drawing/2014/main" id="{5B5E56AE-70A3-094D-82C5-3DE09B9C3AB5}"/>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Tree>
    <p:extLst>
      <p:ext uri="{BB962C8B-B14F-4D97-AF65-F5344CB8AC3E}">
        <p14:creationId xmlns:p14="http://schemas.microsoft.com/office/powerpoint/2010/main" val="38770335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Lead Cooled reactors</a:t>
            </a:r>
          </a:p>
        </p:txBody>
      </p:sp>
      <p:sp>
        <p:nvSpPr>
          <p:cNvPr id="3" name="Slide Number Placeholder 2">
            <a:extLst>
              <a:ext uri="{FF2B5EF4-FFF2-40B4-BE49-F238E27FC236}">
                <a16:creationId xmlns:a16="http://schemas.microsoft.com/office/drawing/2014/main" id="{975CE2A5-2FD6-6F4D-9D13-257FBB46D3B1}"/>
              </a:ext>
            </a:extLst>
          </p:cNvPr>
          <p:cNvSpPr>
            <a:spLocks noGrp="1"/>
          </p:cNvSpPr>
          <p:nvPr>
            <p:ph type="sldNum" sz="quarter" idx="12"/>
          </p:nvPr>
        </p:nvSpPr>
        <p:spPr/>
        <p:txBody>
          <a:bodyPr/>
          <a:lstStyle/>
          <a:p>
            <a:pPr>
              <a:defRPr/>
            </a:pPr>
            <a:fld id="{0DA6BD0F-ABBC-C14D-BC96-77BE126A748B}" type="slidenum">
              <a:rPr lang="en-US" smtClean="0"/>
              <a:pPr>
                <a:defRPr/>
              </a:pPr>
              <a:t>26</a:t>
            </a:fld>
            <a:endParaRPr lang="en-US"/>
          </a:p>
        </p:txBody>
      </p:sp>
    </p:spTree>
    <p:extLst>
      <p:ext uri="{BB962C8B-B14F-4D97-AF65-F5344CB8AC3E}">
        <p14:creationId xmlns:p14="http://schemas.microsoft.com/office/powerpoint/2010/main" val="28551617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3937B-6E61-A745-89AD-CD7725F9C5FA}"/>
              </a:ext>
            </a:extLst>
          </p:cNvPr>
          <p:cNvSpPr>
            <a:spLocks noGrp="1"/>
          </p:cNvSpPr>
          <p:nvPr>
            <p:ph type="title"/>
          </p:nvPr>
        </p:nvSpPr>
        <p:spPr/>
        <p:txBody>
          <a:bodyPr/>
          <a:lstStyle/>
          <a:p>
            <a:r>
              <a:rPr lang="en-US" dirty="0"/>
              <a:t>ALFRED Reactor</a:t>
            </a:r>
          </a:p>
        </p:txBody>
      </p:sp>
      <p:sp>
        <p:nvSpPr>
          <p:cNvPr id="3" name="Content Placeholder 2">
            <a:extLst>
              <a:ext uri="{FF2B5EF4-FFF2-40B4-BE49-F238E27FC236}">
                <a16:creationId xmlns:a16="http://schemas.microsoft.com/office/drawing/2014/main" id="{E40663B0-473C-9C44-828F-F510C0A2861A}"/>
              </a:ext>
            </a:extLst>
          </p:cNvPr>
          <p:cNvSpPr>
            <a:spLocks noGrp="1"/>
          </p:cNvSpPr>
          <p:nvPr>
            <p:ph sz="half" idx="1"/>
          </p:nvPr>
        </p:nvSpPr>
        <p:spPr>
          <a:xfrm>
            <a:off x="609600" y="1968503"/>
            <a:ext cx="6759388" cy="4157663"/>
          </a:xfrm>
        </p:spPr>
        <p:txBody>
          <a:bodyPr/>
          <a:lstStyle/>
          <a:p>
            <a:r>
              <a:rPr lang="en-US" sz="2400" dirty="0"/>
              <a:t>ALFRED, the advanced lead-cooled fast reactor European demonstrator</a:t>
            </a:r>
          </a:p>
          <a:p>
            <a:r>
              <a:rPr lang="en-US" sz="2400" dirty="0"/>
              <a:t>ALFRED is a planned demonstrator reactor designed with the specific purpose to test and qualify innovative components and procedures to be used in commercial reactors</a:t>
            </a:r>
          </a:p>
          <a:p>
            <a:r>
              <a:rPr lang="en-US" sz="2400" dirty="0"/>
              <a:t>Pool type, MOX hollowed fuel pellets, natural and forced circulation</a:t>
            </a:r>
          </a:p>
          <a:p>
            <a:r>
              <a:rPr lang="en-US" sz="2400" dirty="0"/>
              <a:t>Planned commercial operation in 2035-2040</a:t>
            </a:r>
          </a:p>
        </p:txBody>
      </p:sp>
      <p:pic>
        <p:nvPicPr>
          <p:cNvPr id="6" name="Content Placeholder 5">
            <a:extLst>
              <a:ext uri="{FF2B5EF4-FFF2-40B4-BE49-F238E27FC236}">
                <a16:creationId xmlns:a16="http://schemas.microsoft.com/office/drawing/2014/main" id="{6A9C38B6-6504-3F49-9AAE-C312D49420A3}"/>
              </a:ext>
            </a:extLst>
          </p:cNvPr>
          <p:cNvPicPr>
            <a:picLocks noGrp="1" noChangeAspect="1"/>
          </p:cNvPicPr>
          <p:nvPr>
            <p:ph sz="half" idx="2"/>
          </p:nvPr>
        </p:nvPicPr>
        <p:blipFill>
          <a:blip r:embed="rId2"/>
          <a:stretch>
            <a:fillRect/>
          </a:stretch>
        </p:blipFill>
        <p:spPr>
          <a:xfrm>
            <a:off x="7286457" y="1968500"/>
            <a:ext cx="3207086" cy="4157663"/>
          </a:xfrm>
          <a:prstGeom prst="rect">
            <a:avLst/>
          </a:prstGeom>
        </p:spPr>
      </p:pic>
      <p:sp>
        <p:nvSpPr>
          <p:cNvPr id="5" name="Slide Number Placeholder 4">
            <a:extLst>
              <a:ext uri="{FF2B5EF4-FFF2-40B4-BE49-F238E27FC236}">
                <a16:creationId xmlns:a16="http://schemas.microsoft.com/office/drawing/2014/main" id="{E818DA7B-4DEA-494D-83E8-FD49593C8AFA}"/>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Tree>
    <p:extLst>
      <p:ext uri="{BB962C8B-B14F-4D97-AF65-F5344CB8AC3E}">
        <p14:creationId xmlns:p14="http://schemas.microsoft.com/office/powerpoint/2010/main" val="219588383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C44F6E-3B0D-2445-94AE-26592AB8B8B3}"/>
              </a:ext>
            </a:extLst>
          </p:cNvPr>
          <p:cNvSpPr>
            <a:spLocks noGrp="1"/>
          </p:cNvSpPr>
          <p:nvPr>
            <p:ph type="title"/>
          </p:nvPr>
        </p:nvSpPr>
        <p:spPr/>
        <p:txBody>
          <a:bodyPr/>
          <a:lstStyle/>
          <a:p>
            <a:r>
              <a:rPr lang="en-US" dirty="0"/>
              <a:t>ALFRED Reactor</a:t>
            </a:r>
          </a:p>
        </p:txBody>
      </p:sp>
      <p:sp>
        <p:nvSpPr>
          <p:cNvPr id="3" name="Content Placeholder 2">
            <a:extLst>
              <a:ext uri="{FF2B5EF4-FFF2-40B4-BE49-F238E27FC236}">
                <a16:creationId xmlns:a16="http://schemas.microsoft.com/office/drawing/2014/main" id="{47CEA109-B50B-3646-9A71-551EEBF76E14}"/>
              </a:ext>
            </a:extLst>
          </p:cNvPr>
          <p:cNvSpPr>
            <a:spLocks noGrp="1"/>
          </p:cNvSpPr>
          <p:nvPr>
            <p:ph sz="half" idx="1"/>
          </p:nvPr>
        </p:nvSpPr>
        <p:spPr>
          <a:xfrm>
            <a:off x="609600" y="1968503"/>
            <a:ext cx="4511040" cy="4157663"/>
          </a:xfrm>
        </p:spPr>
        <p:txBody>
          <a:bodyPr/>
          <a:lstStyle/>
          <a:p>
            <a:r>
              <a:rPr lang="en-US" sz="2200" dirty="0"/>
              <a:t>ALFRED plans to operate in a staged manner for licensing purposes, ramping up activities</a:t>
            </a:r>
          </a:p>
          <a:p>
            <a:r>
              <a:rPr lang="en-US" sz="2200" dirty="0"/>
              <a:t>Currently planned materials are listed for the different stages, relying heavily on coatings and austenitic steels</a:t>
            </a:r>
          </a:p>
          <a:p>
            <a:r>
              <a:rPr lang="en-US" sz="2200" dirty="0"/>
              <a:t>An example 15-15Ti steel in the US is D9</a:t>
            </a:r>
          </a:p>
        </p:txBody>
      </p:sp>
      <p:sp>
        <p:nvSpPr>
          <p:cNvPr id="5" name="Slide Number Placeholder 4">
            <a:extLst>
              <a:ext uri="{FF2B5EF4-FFF2-40B4-BE49-F238E27FC236}">
                <a16:creationId xmlns:a16="http://schemas.microsoft.com/office/drawing/2014/main" id="{90C4AE86-4CCD-AA4D-84B1-9A2E6F88C9C8}"/>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a:p>
        </p:txBody>
      </p:sp>
      <p:pic>
        <p:nvPicPr>
          <p:cNvPr id="6" name="Picture 5">
            <a:extLst>
              <a:ext uri="{FF2B5EF4-FFF2-40B4-BE49-F238E27FC236}">
                <a16:creationId xmlns:a16="http://schemas.microsoft.com/office/drawing/2014/main" id="{1EB83C83-2757-6548-8F38-FFD24928D8F6}"/>
              </a:ext>
            </a:extLst>
          </p:cNvPr>
          <p:cNvPicPr>
            <a:picLocks noChangeAspect="1"/>
          </p:cNvPicPr>
          <p:nvPr/>
        </p:nvPicPr>
        <p:blipFill>
          <a:blip r:embed="rId2"/>
          <a:stretch>
            <a:fillRect/>
          </a:stretch>
        </p:blipFill>
        <p:spPr>
          <a:xfrm>
            <a:off x="5525505" y="2366593"/>
            <a:ext cx="6424190" cy="1205454"/>
          </a:xfrm>
          <a:prstGeom prst="rect">
            <a:avLst/>
          </a:prstGeom>
        </p:spPr>
      </p:pic>
      <p:pic>
        <p:nvPicPr>
          <p:cNvPr id="7" name="Picture 6">
            <a:extLst>
              <a:ext uri="{FF2B5EF4-FFF2-40B4-BE49-F238E27FC236}">
                <a16:creationId xmlns:a16="http://schemas.microsoft.com/office/drawing/2014/main" id="{A7617974-B781-4347-B301-75838AFA5F9F}"/>
              </a:ext>
            </a:extLst>
          </p:cNvPr>
          <p:cNvPicPr>
            <a:picLocks noChangeAspect="1"/>
          </p:cNvPicPr>
          <p:nvPr/>
        </p:nvPicPr>
        <p:blipFill>
          <a:blip r:embed="rId3"/>
          <a:stretch>
            <a:fillRect/>
          </a:stretch>
        </p:blipFill>
        <p:spPr>
          <a:xfrm>
            <a:off x="5491629" y="3970140"/>
            <a:ext cx="6491941" cy="1413568"/>
          </a:xfrm>
          <a:prstGeom prst="rect">
            <a:avLst/>
          </a:prstGeom>
        </p:spPr>
      </p:pic>
    </p:spTree>
    <p:extLst>
      <p:ext uri="{BB962C8B-B14F-4D97-AF65-F5344CB8AC3E}">
        <p14:creationId xmlns:p14="http://schemas.microsoft.com/office/powerpoint/2010/main" val="143165567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86539-AF5F-DC42-BBDF-CB879235B700}"/>
              </a:ext>
            </a:extLst>
          </p:cNvPr>
          <p:cNvSpPr>
            <a:spLocks noGrp="1"/>
          </p:cNvSpPr>
          <p:nvPr>
            <p:ph type="title"/>
          </p:nvPr>
        </p:nvSpPr>
        <p:spPr/>
        <p:txBody>
          <a:bodyPr/>
          <a:lstStyle/>
          <a:p>
            <a:r>
              <a:rPr lang="en-US" dirty="0"/>
              <a:t>Lead Corrosion</a:t>
            </a:r>
          </a:p>
        </p:txBody>
      </p:sp>
      <p:sp>
        <p:nvSpPr>
          <p:cNvPr id="3" name="Content Placeholder 2">
            <a:extLst>
              <a:ext uri="{FF2B5EF4-FFF2-40B4-BE49-F238E27FC236}">
                <a16:creationId xmlns:a16="http://schemas.microsoft.com/office/drawing/2014/main" id="{C681D500-36F6-8D46-B809-9BCE16645D37}"/>
              </a:ext>
            </a:extLst>
          </p:cNvPr>
          <p:cNvSpPr>
            <a:spLocks noGrp="1"/>
          </p:cNvSpPr>
          <p:nvPr>
            <p:ph sz="half" idx="1"/>
          </p:nvPr>
        </p:nvSpPr>
        <p:spPr/>
        <p:txBody>
          <a:bodyPr/>
          <a:lstStyle/>
          <a:p>
            <a:r>
              <a:rPr lang="en-US" sz="2200" dirty="0"/>
              <a:t>The challenge of using heavy liquid metal coolant (lead and lead-bismuth) is the compatibility with structural materials at high temperature</a:t>
            </a:r>
          </a:p>
          <a:p>
            <a:r>
              <a:rPr lang="en-US" sz="2200" dirty="0"/>
              <a:t>Pb and lead-bismuth eutectic (LBE) provide highly corrosive conditions for most structural and cladding materials</a:t>
            </a:r>
          </a:p>
          <a:p>
            <a:r>
              <a:rPr lang="en-US" sz="2200" dirty="0"/>
              <a:t>This is most problematic for thin-walled components such as cladding tubes or heat exchangers</a:t>
            </a:r>
          </a:p>
        </p:txBody>
      </p:sp>
      <p:sp>
        <p:nvSpPr>
          <p:cNvPr id="4" name="Content Placeholder 3">
            <a:extLst>
              <a:ext uri="{FF2B5EF4-FFF2-40B4-BE49-F238E27FC236}">
                <a16:creationId xmlns:a16="http://schemas.microsoft.com/office/drawing/2014/main" id="{64C1A7AB-1700-BF4A-8B1F-464A9948A770}"/>
              </a:ext>
            </a:extLst>
          </p:cNvPr>
          <p:cNvSpPr>
            <a:spLocks noGrp="1"/>
          </p:cNvSpPr>
          <p:nvPr>
            <p:ph sz="half" idx="2"/>
          </p:nvPr>
        </p:nvSpPr>
        <p:spPr/>
        <p:txBody>
          <a:bodyPr/>
          <a:lstStyle/>
          <a:p>
            <a:r>
              <a:rPr lang="en-US" sz="2200" dirty="0"/>
              <a:t>Corrosion in Pb and LBE is due to the dissolution of different constituent elements, their transport, and their chemical reactions with oxygen and nitrogen</a:t>
            </a:r>
          </a:p>
        </p:txBody>
      </p:sp>
      <p:sp>
        <p:nvSpPr>
          <p:cNvPr id="5" name="Slide Number Placeholder 4">
            <a:extLst>
              <a:ext uri="{FF2B5EF4-FFF2-40B4-BE49-F238E27FC236}">
                <a16:creationId xmlns:a16="http://schemas.microsoft.com/office/drawing/2014/main" id="{02DC0C8A-EF1D-E644-B75E-95DA1A1D302F}"/>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1026" name="Picture 2" descr="Solved Figure 1 on the next page presents the phase diagram ...">
            <a:extLst>
              <a:ext uri="{FF2B5EF4-FFF2-40B4-BE49-F238E27FC236}">
                <a16:creationId xmlns:a16="http://schemas.microsoft.com/office/drawing/2014/main" id="{EFB4D0B0-F71E-8557-13DF-5C57B80CA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43080" y="3679703"/>
            <a:ext cx="4389039" cy="31057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54467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E75B9-C967-F243-A088-3600ACB494A1}"/>
              </a:ext>
            </a:extLst>
          </p:cNvPr>
          <p:cNvSpPr>
            <a:spLocks noGrp="1"/>
          </p:cNvSpPr>
          <p:nvPr>
            <p:ph type="title"/>
          </p:nvPr>
        </p:nvSpPr>
        <p:spPr/>
        <p:txBody>
          <a:bodyPr/>
          <a:lstStyle/>
          <a:p>
            <a:r>
              <a:rPr lang="en-US" dirty="0"/>
              <a:t>Oxide Passivation</a:t>
            </a:r>
          </a:p>
        </p:txBody>
      </p:sp>
      <p:sp>
        <p:nvSpPr>
          <p:cNvPr id="3" name="Content Placeholder 2">
            <a:extLst>
              <a:ext uri="{FF2B5EF4-FFF2-40B4-BE49-F238E27FC236}">
                <a16:creationId xmlns:a16="http://schemas.microsoft.com/office/drawing/2014/main" id="{BC840934-139A-F741-8536-335BEEB474D8}"/>
              </a:ext>
            </a:extLst>
          </p:cNvPr>
          <p:cNvSpPr>
            <a:spLocks noGrp="1"/>
          </p:cNvSpPr>
          <p:nvPr>
            <p:ph sz="half" idx="1"/>
          </p:nvPr>
        </p:nvSpPr>
        <p:spPr>
          <a:xfrm>
            <a:off x="609600" y="1968503"/>
            <a:ext cx="5588000" cy="4157663"/>
          </a:xfrm>
        </p:spPr>
        <p:txBody>
          <a:bodyPr/>
          <a:lstStyle/>
          <a:p>
            <a:r>
              <a:rPr lang="en-US" sz="2400" dirty="0"/>
              <a:t>Adequate control of the oxygen concentration allows one to maintain the oxide film, without oxidizing the LBE</a:t>
            </a:r>
          </a:p>
          <a:p>
            <a:r>
              <a:rPr lang="en-US" sz="2400" dirty="0"/>
              <a:t>If insufficient oxygen is present, the steel will suffer dissolution corrosion</a:t>
            </a:r>
          </a:p>
          <a:p>
            <a:r>
              <a:rPr lang="en-US" sz="2400" dirty="0"/>
              <a:t>The oxide layer can form as a multi-layered structure dependent upon O content, temperature, and flow, with Fe3O4 and FeCrO2 phases</a:t>
            </a:r>
          </a:p>
        </p:txBody>
      </p:sp>
      <p:pic>
        <p:nvPicPr>
          <p:cNvPr id="6" name="Content Placeholder 5">
            <a:extLst>
              <a:ext uri="{FF2B5EF4-FFF2-40B4-BE49-F238E27FC236}">
                <a16:creationId xmlns:a16="http://schemas.microsoft.com/office/drawing/2014/main" id="{347B0CB6-5A84-D74B-99E0-3D59BBA7146A}"/>
              </a:ext>
            </a:extLst>
          </p:cNvPr>
          <p:cNvPicPr>
            <a:picLocks noGrp="1" noChangeAspect="1"/>
          </p:cNvPicPr>
          <p:nvPr>
            <p:ph sz="half" idx="2"/>
          </p:nvPr>
        </p:nvPicPr>
        <p:blipFill>
          <a:blip r:embed="rId2"/>
          <a:stretch>
            <a:fillRect/>
          </a:stretch>
        </p:blipFill>
        <p:spPr>
          <a:xfrm>
            <a:off x="6197600" y="2057297"/>
            <a:ext cx="5384800" cy="3980069"/>
          </a:xfrm>
          <a:prstGeom prst="rect">
            <a:avLst/>
          </a:prstGeom>
        </p:spPr>
      </p:pic>
      <p:sp>
        <p:nvSpPr>
          <p:cNvPr id="5" name="Slide Number Placeholder 4">
            <a:extLst>
              <a:ext uri="{FF2B5EF4-FFF2-40B4-BE49-F238E27FC236}">
                <a16:creationId xmlns:a16="http://schemas.microsoft.com/office/drawing/2014/main" id="{E8CC08E3-AF7E-EF42-9242-DE1117706EFD}"/>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spTree>
    <p:extLst>
      <p:ext uri="{BB962C8B-B14F-4D97-AF65-F5344CB8AC3E}">
        <p14:creationId xmlns:p14="http://schemas.microsoft.com/office/powerpoint/2010/main" val="2365698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1F4CE-7176-394A-97F4-3445C87BA524}"/>
              </a:ext>
            </a:extLst>
          </p:cNvPr>
          <p:cNvSpPr>
            <a:spLocks noGrp="1"/>
          </p:cNvSpPr>
          <p:nvPr>
            <p:ph type="title"/>
          </p:nvPr>
        </p:nvSpPr>
        <p:spPr/>
        <p:txBody>
          <a:bodyPr/>
          <a:lstStyle/>
          <a:p>
            <a:r>
              <a:rPr lang="en-US" dirty="0"/>
              <a:t>Mechanical Property Effects</a:t>
            </a:r>
          </a:p>
        </p:txBody>
      </p:sp>
      <p:sp>
        <p:nvSpPr>
          <p:cNvPr id="3" name="Content Placeholder 2">
            <a:extLst>
              <a:ext uri="{FF2B5EF4-FFF2-40B4-BE49-F238E27FC236}">
                <a16:creationId xmlns:a16="http://schemas.microsoft.com/office/drawing/2014/main" id="{4C051407-96FF-9246-998F-9F46A5EFE7F5}"/>
              </a:ext>
            </a:extLst>
          </p:cNvPr>
          <p:cNvSpPr>
            <a:spLocks noGrp="1"/>
          </p:cNvSpPr>
          <p:nvPr>
            <p:ph sz="half" idx="1"/>
          </p:nvPr>
        </p:nvSpPr>
        <p:spPr>
          <a:xfrm>
            <a:off x="609599" y="1968503"/>
            <a:ext cx="5812715" cy="4157663"/>
          </a:xfrm>
        </p:spPr>
        <p:txBody>
          <a:bodyPr/>
          <a:lstStyle/>
          <a:p>
            <a:r>
              <a:rPr lang="en-US" sz="2400" dirty="0"/>
              <a:t>Liquid metal embrittlement (LME) is a known phenomenon, but its mechanism is not fully understood</a:t>
            </a:r>
          </a:p>
          <a:p>
            <a:r>
              <a:rPr lang="en-US" sz="2400" dirty="0"/>
              <a:t>Contact with LM causes a decrease in ductility, resulting in a premature brittle failure in an otherwise ductile material</a:t>
            </a:r>
          </a:p>
          <a:p>
            <a:r>
              <a:rPr lang="en-US" sz="2400" dirty="0"/>
              <a:t>LME occurs by nucleation of a crack at the wetted surface of a solid and the subsequent propagation into the bulk until ultimate failure</a:t>
            </a:r>
          </a:p>
          <a:p>
            <a:endParaRPr lang="en-US" sz="2400" dirty="0"/>
          </a:p>
        </p:txBody>
      </p:sp>
      <p:pic>
        <p:nvPicPr>
          <p:cNvPr id="6" name="Content Placeholder 5">
            <a:extLst>
              <a:ext uri="{FF2B5EF4-FFF2-40B4-BE49-F238E27FC236}">
                <a16:creationId xmlns:a16="http://schemas.microsoft.com/office/drawing/2014/main" id="{559E11C8-075C-E447-A1F2-8AD1C9DBA3F8}"/>
              </a:ext>
            </a:extLst>
          </p:cNvPr>
          <p:cNvPicPr>
            <a:picLocks noGrp="1" noChangeAspect="1"/>
          </p:cNvPicPr>
          <p:nvPr>
            <p:ph sz="half" idx="2"/>
          </p:nvPr>
        </p:nvPicPr>
        <p:blipFill>
          <a:blip r:embed="rId2"/>
          <a:stretch>
            <a:fillRect/>
          </a:stretch>
        </p:blipFill>
        <p:spPr>
          <a:xfrm>
            <a:off x="6330950" y="2142331"/>
            <a:ext cx="5118100" cy="3810000"/>
          </a:xfrm>
          <a:prstGeom prst="rect">
            <a:avLst/>
          </a:prstGeom>
        </p:spPr>
      </p:pic>
      <p:sp>
        <p:nvSpPr>
          <p:cNvPr id="5" name="Slide Number Placeholder 4">
            <a:extLst>
              <a:ext uri="{FF2B5EF4-FFF2-40B4-BE49-F238E27FC236}">
                <a16:creationId xmlns:a16="http://schemas.microsoft.com/office/drawing/2014/main" id="{764D423A-AB32-7841-B219-26F7259819DD}"/>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spTree>
    <p:extLst>
      <p:ext uri="{BB962C8B-B14F-4D97-AF65-F5344CB8AC3E}">
        <p14:creationId xmlns:p14="http://schemas.microsoft.com/office/powerpoint/2010/main" val="39493134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3C313-AC80-3940-A23B-C3F6B8653C4F}"/>
              </a:ext>
            </a:extLst>
          </p:cNvPr>
          <p:cNvSpPr>
            <a:spLocks noGrp="1"/>
          </p:cNvSpPr>
          <p:nvPr>
            <p:ph type="title"/>
          </p:nvPr>
        </p:nvSpPr>
        <p:spPr/>
        <p:txBody>
          <a:bodyPr/>
          <a:lstStyle/>
          <a:p>
            <a:r>
              <a:rPr lang="en-US" dirty="0"/>
              <a:t>LME</a:t>
            </a:r>
          </a:p>
        </p:txBody>
      </p:sp>
      <p:sp>
        <p:nvSpPr>
          <p:cNvPr id="3" name="Content Placeholder 2">
            <a:extLst>
              <a:ext uri="{FF2B5EF4-FFF2-40B4-BE49-F238E27FC236}">
                <a16:creationId xmlns:a16="http://schemas.microsoft.com/office/drawing/2014/main" id="{288824B7-D49F-4248-BB19-99F4607AB560}"/>
              </a:ext>
            </a:extLst>
          </p:cNvPr>
          <p:cNvSpPr>
            <a:spLocks noGrp="1"/>
          </p:cNvSpPr>
          <p:nvPr>
            <p:ph sz="half" idx="1"/>
          </p:nvPr>
        </p:nvSpPr>
        <p:spPr/>
        <p:txBody>
          <a:bodyPr/>
          <a:lstStyle/>
          <a:p>
            <a:r>
              <a:rPr lang="en-US" sz="2400" dirty="0"/>
              <a:t>The loss of ductility of solid metals when in contact with liquid metal appears to be limited to a particular temperature range known as the ductility trough</a:t>
            </a:r>
          </a:p>
          <a:p>
            <a:r>
              <a:rPr lang="en-US" sz="2400" dirty="0"/>
              <a:t>For the F/M T91 steel in liquid lead, a ductility trough between 160C and 425C was found</a:t>
            </a:r>
          </a:p>
          <a:p>
            <a:r>
              <a:rPr lang="en-US" sz="2400" dirty="0"/>
              <a:t>The ductility trough is detected by following the evolution of the ultimate tensile stress or energy to rupture with temperature</a:t>
            </a:r>
          </a:p>
          <a:p>
            <a:endParaRPr lang="en-US" sz="2400" dirty="0"/>
          </a:p>
          <a:p>
            <a:endParaRPr lang="en-US" sz="2400" dirty="0"/>
          </a:p>
          <a:p>
            <a:endParaRPr lang="en-US" sz="2400" dirty="0"/>
          </a:p>
        </p:txBody>
      </p:sp>
      <p:sp>
        <p:nvSpPr>
          <p:cNvPr id="4" name="Content Placeholder 3">
            <a:extLst>
              <a:ext uri="{FF2B5EF4-FFF2-40B4-BE49-F238E27FC236}">
                <a16:creationId xmlns:a16="http://schemas.microsoft.com/office/drawing/2014/main" id="{8BCA18A3-C9BD-9F4D-9D88-1CE811DFCE38}"/>
              </a:ext>
            </a:extLst>
          </p:cNvPr>
          <p:cNvSpPr>
            <a:spLocks noGrp="1"/>
          </p:cNvSpPr>
          <p:nvPr>
            <p:ph sz="half" idx="2"/>
          </p:nvPr>
        </p:nvSpPr>
        <p:spPr/>
        <p:txBody>
          <a:bodyPr/>
          <a:lstStyle/>
          <a:p>
            <a:r>
              <a:rPr lang="en-US" sz="2400" dirty="0"/>
              <a:t>The working theory on LME is based on a reduction of the surface energy by absorption of liquid metal atoms at the crack tip of the solid</a:t>
            </a:r>
          </a:p>
          <a:p>
            <a:endParaRPr lang="en-US" sz="2400" dirty="0"/>
          </a:p>
        </p:txBody>
      </p:sp>
      <p:sp>
        <p:nvSpPr>
          <p:cNvPr id="5" name="Slide Number Placeholder 4">
            <a:extLst>
              <a:ext uri="{FF2B5EF4-FFF2-40B4-BE49-F238E27FC236}">
                <a16:creationId xmlns:a16="http://schemas.microsoft.com/office/drawing/2014/main" id="{A3692F74-7C38-4041-B43B-A5C56AB07865}"/>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a:p>
        </p:txBody>
      </p:sp>
      <p:pic>
        <p:nvPicPr>
          <p:cNvPr id="6" name="Picture 5">
            <a:extLst>
              <a:ext uri="{FF2B5EF4-FFF2-40B4-BE49-F238E27FC236}">
                <a16:creationId xmlns:a16="http://schemas.microsoft.com/office/drawing/2014/main" id="{84B8D41C-D7CA-6049-B0A1-099AE640EAE6}"/>
              </a:ext>
            </a:extLst>
          </p:cNvPr>
          <p:cNvPicPr>
            <a:picLocks noChangeAspect="1"/>
          </p:cNvPicPr>
          <p:nvPr/>
        </p:nvPicPr>
        <p:blipFill>
          <a:blip r:embed="rId2"/>
          <a:stretch>
            <a:fillRect/>
          </a:stretch>
        </p:blipFill>
        <p:spPr>
          <a:xfrm>
            <a:off x="7570470" y="3937299"/>
            <a:ext cx="2570916" cy="2920701"/>
          </a:xfrm>
          <a:prstGeom prst="rect">
            <a:avLst/>
          </a:prstGeom>
        </p:spPr>
      </p:pic>
    </p:spTree>
    <p:extLst>
      <p:ext uri="{BB962C8B-B14F-4D97-AF65-F5344CB8AC3E}">
        <p14:creationId xmlns:p14="http://schemas.microsoft.com/office/powerpoint/2010/main" val="37541623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B515C-2911-8E42-8BF0-56F3F31142F6}"/>
              </a:ext>
            </a:extLst>
          </p:cNvPr>
          <p:cNvSpPr>
            <a:spLocks noGrp="1"/>
          </p:cNvSpPr>
          <p:nvPr>
            <p:ph type="title"/>
          </p:nvPr>
        </p:nvSpPr>
        <p:spPr/>
        <p:txBody>
          <a:bodyPr/>
          <a:lstStyle/>
          <a:p>
            <a:r>
              <a:rPr lang="en-US" dirty="0"/>
              <a:t>End of Module 3</a:t>
            </a:r>
          </a:p>
        </p:txBody>
      </p:sp>
      <p:sp>
        <p:nvSpPr>
          <p:cNvPr id="3" name="Content Placeholder 2">
            <a:extLst>
              <a:ext uri="{FF2B5EF4-FFF2-40B4-BE49-F238E27FC236}">
                <a16:creationId xmlns:a16="http://schemas.microsoft.com/office/drawing/2014/main" id="{E7EEA3F8-1FBA-CF4C-80C5-98B5AB067EA9}"/>
              </a:ext>
            </a:extLst>
          </p:cNvPr>
          <p:cNvSpPr>
            <a:spLocks noGrp="1"/>
          </p:cNvSpPr>
          <p:nvPr>
            <p:ph sz="half" idx="1"/>
          </p:nvPr>
        </p:nvSpPr>
        <p:spPr>
          <a:xfrm>
            <a:off x="609599" y="1968503"/>
            <a:ext cx="10972799" cy="4157663"/>
          </a:xfrm>
        </p:spPr>
        <p:txBody>
          <a:bodyPr/>
          <a:lstStyle/>
          <a:p>
            <a:r>
              <a:rPr lang="en-US" sz="2400" dirty="0"/>
              <a:t>This concludes our module 3</a:t>
            </a:r>
          </a:p>
          <a:p>
            <a:r>
              <a:rPr lang="en-US" sz="2400" dirty="0"/>
              <a:t>Exam will take place next Tuesday (11/4)</a:t>
            </a:r>
          </a:p>
          <a:p>
            <a:r>
              <a:rPr lang="en-US" sz="2400" dirty="0"/>
              <a:t>Will cover molten salts, carbides and nitrides (and Pb-cooled reactors?)</a:t>
            </a:r>
          </a:p>
        </p:txBody>
      </p:sp>
      <p:sp>
        <p:nvSpPr>
          <p:cNvPr id="5" name="Slide Number Placeholder 4">
            <a:extLst>
              <a:ext uri="{FF2B5EF4-FFF2-40B4-BE49-F238E27FC236}">
                <a16:creationId xmlns:a16="http://schemas.microsoft.com/office/drawing/2014/main" id="{53B5B91A-353F-C840-9DB8-C36688B9577D}"/>
              </a:ext>
            </a:extLst>
          </p:cNvPr>
          <p:cNvSpPr>
            <a:spLocks noGrp="1"/>
          </p:cNvSpPr>
          <p:nvPr>
            <p:ph type="sldNum" sz="quarter" idx="12"/>
          </p:nvPr>
        </p:nvSpPr>
        <p:spPr/>
        <p:txBody>
          <a:bodyPr/>
          <a:lstStyle/>
          <a:p>
            <a:pPr>
              <a:defRPr/>
            </a:pPr>
            <a:fld id="{EC35E9FC-F6D5-0349-BBED-EA7D7A9BC49B}" type="slidenum">
              <a:rPr lang="en-US" smtClean="0"/>
              <a:pPr>
                <a:defRPr/>
              </a:pPr>
              <a:t>33</a:t>
            </a:fld>
            <a:endParaRPr lang="en-US"/>
          </a:p>
        </p:txBody>
      </p:sp>
    </p:spTree>
    <p:extLst>
      <p:ext uri="{BB962C8B-B14F-4D97-AF65-F5344CB8AC3E}">
        <p14:creationId xmlns:p14="http://schemas.microsoft.com/office/powerpoint/2010/main" val="4017687733"/>
      </p:ext>
    </p:extLst>
  </p:cSld>
  <p:clrMapOvr>
    <a:masterClrMapping/>
  </p:clrMapOvr>
</p:sld>
</file>

<file path=ppt/theme/theme1.xml><?xml version="1.0" encoding="utf-8"?>
<a:theme xmlns:a="http://schemas.openxmlformats.org/drawingml/2006/main" name="2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9705</TotalTime>
  <Words>2581</Words>
  <Application>Microsoft Macintosh PowerPoint</Application>
  <PresentationFormat>Widescreen</PresentationFormat>
  <Paragraphs>215</Paragraphs>
  <Slides>33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Helvetica</vt:lpstr>
      <vt:lpstr>2_NCStateU-horizontal-left-logo</vt:lpstr>
      <vt:lpstr>NE 763: Advanced Reactor Materials</vt:lpstr>
      <vt:lpstr>Last Time</vt:lpstr>
      <vt:lpstr>UN Decomposition</vt:lpstr>
      <vt:lpstr>MN Crystal Structure</vt:lpstr>
      <vt:lpstr>Ternary U/Pu-N</vt:lpstr>
      <vt:lpstr>Effect of Pu on U/Pu N Properties</vt:lpstr>
      <vt:lpstr>UN Irradiation Performance</vt:lpstr>
      <vt:lpstr>UN Pins</vt:lpstr>
      <vt:lpstr>UN Pins</vt:lpstr>
      <vt:lpstr>Temperature with Burnup</vt:lpstr>
      <vt:lpstr>Fission Products</vt:lpstr>
      <vt:lpstr>Nitride Restructuring</vt:lpstr>
      <vt:lpstr>Nitride Restructuring</vt:lpstr>
      <vt:lpstr>Fission Gas Release</vt:lpstr>
      <vt:lpstr>Swelling and FCMI</vt:lpstr>
      <vt:lpstr>Swelling and FCMI</vt:lpstr>
      <vt:lpstr>FCCI in UN</vt:lpstr>
      <vt:lpstr>Cladding Nitriding</vt:lpstr>
      <vt:lpstr>Reprocessing</vt:lpstr>
      <vt:lpstr>Nitride Fabrication</vt:lpstr>
      <vt:lpstr>Carbothermic Reduction</vt:lpstr>
      <vt:lpstr>Carbothermic Reduction</vt:lpstr>
      <vt:lpstr>Nitride Pellets</vt:lpstr>
      <vt:lpstr>Nitrogen enrichment</vt:lpstr>
      <vt:lpstr>Summary</vt:lpstr>
      <vt:lpstr>Lead Cooled reactors</vt:lpstr>
      <vt:lpstr>ALFRED Reactor</vt:lpstr>
      <vt:lpstr>ALFRED Reactor</vt:lpstr>
      <vt:lpstr>Lead Corrosion</vt:lpstr>
      <vt:lpstr>Oxide Passivation</vt:lpstr>
      <vt:lpstr>Mechanical Property Effects</vt:lpstr>
      <vt:lpstr>LME</vt:lpstr>
      <vt:lpstr>End of Module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 591: Advanced Reactor Materials</dc:title>
  <dc:creator>Benjamin W. Beeler</dc:creator>
  <cp:lastModifiedBy>Benjamin Beeler</cp:lastModifiedBy>
  <cp:revision>51</cp:revision>
  <dcterms:created xsi:type="dcterms:W3CDTF">2021-06-30T18:29:00Z</dcterms:created>
  <dcterms:modified xsi:type="dcterms:W3CDTF">2026-10-13T16:01:55Z</dcterms:modified>
</cp:coreProperties>
</file>
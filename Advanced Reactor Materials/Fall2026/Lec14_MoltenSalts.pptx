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4"/>
  </p:notesMasterIdLst>
  <p:sldIdLst>
    <p:sldId id="257" r:id="rId2"/>
    <p:sldId id="454" r:id="rId3"/>
    <p:sldId id="471" r:id="rId4"/>
    <p:sldId id="435" r:id="rId5"/>
    <p:sldId id="444" r:id="rId6"/>
    <p:sldId id="436" r:id="rId7"/>
    <p:sldId id="414" r:id="rId8"/>
    <p:sldId id="412" r:id="rId9"/>
    <p:sldId id="413" r:id="rId10"/>
    <p:sldId id="472" r:id="rId11"/>
    <p:sldId id="415" r:id="rId12"/>
    <p:sldId id="416" r:id="rId13"/>
    <p:sldId id="417" r:id="rId14"/>
    <p:sldId id="438" r:id="rId15"/>
    <p:sldId id="418" r:id="rId16"/>
    <p:sldId id="420" r:id="rId17"/>
    <p:sldId id="419" r:id="rId18"/>
    <p:sldId id="422" r:id="rId19"/>
    <p:sldId id="442" r:id="rId20"/>
    <p:sldId id="441" r:id="rId21"/>
    <p:sldId id="423" r:id="rId22"/>
    <p:sldId id="443"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6654"/>
  </p:normalViewPr>
  <p:slideViewPr>
    <p:cSldViewPr snapToGrid="0" snapToObjects="1">
      <p:cViewPr varScale="1">
        <p:scale>
          <a:sx n="126" d="100"/>
          <a:sy n="126" d="100"/>
        </p:scale>
        <p:origin x="58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AE75BA2-54D3-3E4F-9D2A-86ABF69FCF28}" type="datetimeFigureOut">
              <a:rPr lang="en-US" smtClean="0"/>
              <a:t>10/6/26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AFB08E-3F2D-8742-A5CF-ED2C61999138}" type="slidenum">
              <a:rPr lang="en-US" smtClean="0"/>
              <a:t>‹#›</a:t>
            </a:fld>
            <a:endParaRPr lang="en-US"/>
          </a:p>
        </p:txBody>
      </p:sp>
    </p:spTree>
    <p:extLst>
      <p:ext uri="{BB962C8B-B14F-4D97-AF65-F5344CB8AC3E}">
        <p14:creationId xmlns:p14="http://schemas.microsoft.com/office/powerpoint/2010/main" val="31469230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B94AA4F1-E60E-ED49-8C20-82C5C22F290D}" type="datetime1">
              <a:rPr lang="en-US" smtClean="0"/>
              <a:t>10/6/26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1E82176-A547-F94B-AC51-D6E9C882CB88}" type="slidenum">
              <a:rPr lang="en-US"/>
              <a:pPr>
                <a:defRPr/>
              </a:pPr>
              <a:t>‹#›</a:t>
            </a:fld>
            <a:endParaRPr lang="en-US"/>
          </a:p>
        </p:txBody>
      </p:sp>
    </p:spTree>
    <p:extLst>
      <p:ext uri="{BB962C8B-B14F-4D97-AF65-F5344CB8AC3E}">
        <p14:creationId xmlns:p14="http://schemas.microsoft.com/office/powerpoint/2010/main" val="15038914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3200"/>
            </a:lvl1pPr>
          </a:lstStyle>
          <a:p>
            <a:r>
              <a:rPr lang="en-US"/>
              <a:t>Click to edit Master title style</a:t>
            </a:r>
            <a:endParaRPr lang="en-US" dirty="0"/>
          </a:p>
        </p:txBody>
      </p:sp>
      <p:sp>
        <p:nvSpPr>
          <p:cNvPr id="3" name="Content Placeholder 2"/>
          <p:cNvSpPr>
            <a:spLocks noGrp="1"/>
          </p:cNvSpPr>
          <p:nvPr>
            <p:ph idx="1"/>
          </p:nvPr>
        </p:nvSpPr>
        <p:spPr>
          <a:xfrm>
            <a:off x="609600" y="1968500"/>
            <a:ext cx="10972800" cy="4157664"/>
          </a:xfrm>
        </p:spPr>
        <p:txBody>
          <a:bodyPr/>
          <a:lstStyle>
            <a:lvl1pPr>
              <a:defRPr sz="2000"/>
            </a:lvl1pPr>
            <a:lvl2pPr>
              <a:defRPr sz="2000"/>
            </a:lvl2pPr>
            <a:lvl3pPr>
              <a:defRPr sz="2000"/>
            </a:lvl3pPr>
            <a:lvl4pPr>
              <a:defRPr sz="2000"/>
            </a:lvl4pPr>
            <a:lvl5pPr>
              <a:defRPr sz="200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1BD2A092-D95B-2F45-9AE1-6EFCF7AE7B47}" type="datetime1">
              <a:rPr lang="en-US" smtClean="0"/>
              <a:t>10/6/26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3FF2C605-4958-CF43-AA48-80339EFDB0AF}" type="slidenum">
              <a:rPr lang="en-US"/>
              <a:pPr>
                <a:defRPr/>
              </a:pPr>
              <a:t>‹#›</a:t>
            </a:fld>
            <a:endParaRPr lang="en-US"/>
          </a:p>
        </p:txBody>
      </p:sp>
    </p:spTree>
    <p:extLst>
      <p:ext uri="{BB962C8B-B14F-4D97-AF65-F5344CB8AC3E}">
        <p14:creationId xmlns:p14="http://schemas.microsoft.com/office/powerpoint/2010/main" val="24102589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380751"/>
            <a:ext cx="10363200" cy="1362075"/>
          </a:xfrm>
        </p:spPr>
        <p:txBody>
          <a:bodyPr anchor="t"/>
          <a:lstStyle>
            <a:lvl1pPr algn="l">
              <a:defRPr sz="5333" b="1" cap="all"/>
            </a:lvl1pPr>
          </a:lstStyle>
          <a:p>
            <a:r>
              <a:rPr lang="en-US"/>
              <a:t>Click to edit Master title style</a:t>
            </a:r>
            <a:endParaRPr lang="en-US" dirty="0"/>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667">
                <a:solidFill>
                  <a:schemeClr val="tx1">
                    <a:tint val="75000"/>
                  </a:schemeClr>
                </a:solidFill>
              </a:defRPr>
            </a:lvl1pPr>
            <a:lvl2pPr marL="609585" indent="0">
              <a:buNone/>
              <a:defRPr sz="2400">
                <a:solidFill>
                  <a:schemeClr val="tx1">
                    <a:tint val="75000"/>
                  </a:schemeClr>
                </a:solidFill>
              </a:defRPr>
            </a:lvl2pPr>
            <a:lvl3pPr marL="1219170" indent="0">
              <a:buNone/>
              <a:defRPr sz="2133">
                <a:solidFill>
                  <a:schemeClr val="tx1">
                    <a:tint val="75000"/>
                  </a:schemeClr>
                </a:solidFill>
              </a:defRPr>
            </a:lvl3pPr>
            <a:lvl4pPr marL="1828754" indent="0">
              <a:buNone/>
              <a:defRPr sz="1867">
                <a:solidFill>
                  <a:schemeClr val="tx1">
                    <a:tint val="75000"/>
                  </a:schemeClr>
                </a:solidFill>
              </a:defRPr>
            </a:lvl4pPr>
            <a:lvl5pPr marL="2438339" indent="0">
              <a:buNone/>
              <a:defRPr sz="1867">
                <a:solidFill>
                  <a:schemeClr val="tx1">
                    <a:tint val="75000"/>
                  </a:schemeClr>
                </a:solidFill>
              </a:defRPr>
            </a:lvl5pPr>
            <a:lvl6pPr marL="3047924" indent="0">
              <a:buNone/>
              <a:defRPr sz="1867">
                <a:solidFill>
                  <a:schemeClr val="tx1">
                    <a:tint val="75000"/>
                  </a:schemeClr>
                </a:solidFill>
              </a:defRPr>
            </a:lvl6pPr>
            <a:lvl7pPr marL="3657509" indent="0">
              <a:buNone/>
              <a:defRPr sz="1867">
                <a:solidFill>
                  <a:schemeClr val="tx1">
                    <a:tint val="75000"/>
                  </a:schemeClr>
                </a:solidFill>
              </a:defRPr>
            </a:lvl7pPr>
            <a:lvl8pPr marL="4267093" indent="0">
              <a:buNone/>
              <a:defRPr sz="1867">
                <a:solidFill>
                  <a:schemeClr val="tx1">
                    <a:tint val="75000"/>
                  </a:schemeClr>
                </a:solidFill>
              </a:defRPr>
            </a:lvl8pPr>
            <a:lvl9pPr marL="4876678" indent="0">
              <a:buNone/>
              <a:defRPr sz="1867">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lvl1pPr>
              <a:defRPr/>
            </a:lvl1pPr>
          </a:lstStyle>
          <a:p>
            <a:pPr>
              <a:defRPr/>
            </a:pPr>
            <a:fld id="{F3B8BFC1-C5A3-FC42-B47E-2330D93F4E7B}" type="datetime1">
              <a:rPr lang="en-US" smtClean="0"/>
              <a:t>10/6/26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0DA6BD0F-ABBC-C14D-BC96-77BE126A748B}" type="slidenum">
              <a:rPr lang="en-US"/>
              <a:pPr>
                <a:defRPr/>
              </a:pPr>
              <a:t>‹#›</a:t>
            </a:fld>
            <a:endParaRPr lang="en-US"/>
          </a:p>
        </p:txBody>
      </p:sp>
    </p:spTree>
    <p:extLst>
      <p:ext uri="{BB962C8B-B14F-4D97-AF65-F5344CB8AC3E}">
        <p14:creationId xmlns:p14="http://schemas.microsoft.com/office/powerpoint/2010/main" val="37579149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3200"/>
            </a:lvl1pPr>
          </a:lstStyle>
          <a:p>
            <a:r>
              <a:rPr lang="en-US"/>
              <a:t>Click to edit Master title style</a:t>
            </a:r>
          </a:p>
        </p:txBody>
      </p:sp>
      <p:sp>
        <p:nvSpPr>
          <p:cNvPr id="3" name="Content Placeholder 2"/>
          <p:cNvSpPr>
            <a:spLocks noGrp="1"/>
          </p:cNvSpPr>
          <p:nvPr>
            <p:ph sz="half" idx="1"/>
          </p:nvPr>
        </p:nvSpPr>
        <p:spPr>
          <a:xfrm>
            <a:off x="609600" y="1968503"/>
            <a:ext cx="5384800" cy="4157663"/>
          </a:xfrm>
        </p:spPr>
        <p:txBody>
          <a:bodyPr/>
          <a:lstStyle>
            <a:lvl1pPr>
              <a:defRPr sz="2000"/>
            </a:lvl1pPr>
            <a:lvl2pPr>
              <a:defRPr sz="2000"/>
            </a:lvl2pPr>
            <a:lvl3pPr>
              <a:defRPr sz="2000"/>
            </a:lvl3pPr>
            <a:lvl4pPr>
              <a:defRPr sz="2000"/>
            </a:lvl4pPr>
            <a:lvl5pPr>
              <a:defRPr sz="20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97600" y="1968503"/>
            <a:ext cx="5384800" cy="4157663"/>
          </a:xfrm>
        </p:spPr>
        <p:txBody>
          <a:bodyPr/>
          <a:lstStyle>
            <a:lvl1pPr>
              <a:defRPr sz="2000"/>
            </a:lvl1pPr>
            <a:lvl2pPr>
              <a:defRPr sz="2000"/>
            </a:lvl2pPr>
            <a:lvl3pPr>
              <a:defRPr sz="2000"/>
            </a:lvl3pPr>
            <a:lvl4pPr>
              <a:defRPr sz="2000"/>
            </a:lvl4pPr>
            <a:lvl5pPr>
              <a:defRPr sz="2000"/>
            </a:lvl5pPr>
            <a:lvl6pPr>
              <a:defRPr sz="2400"/>
            </a:lvl6pPr>
            <a:lvl7pPr>
              <a:defRPr sz="2400"/>
            </a:lvl7pPr>
            <a:lvl8pPr>
              <a:defRPr sz="2400"/>
            </a:lvl8pPr>
            <a:lvl9pPr>
              <a:defRPr sz="24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3"/>
          <p:cNvSpPr>
            <a:spLocks noGrp="1"/>
          </p:cNvSpPr>
          <p:nvPr>
            <p:ph type="dt" sz="half" idx="10"/>
          </p:nvPr>
        </p:nvSpPr>
        <p:spPr/>
        <p:txBody>
          <a:bodyPr/>
          <a:lstStyle>
            <a:lvl1pPr>
              <a:defRPr/>
            </a:lvl1pPr>
          </a:lstStyle>
          <a:p>
            <a:pPr>
              <a:defRPr/>
            </a:pPr>
            <a:fld id="{22582718-A77B-9048-9272-D0B6D7D4EB49}" type="datetime1">
              <a:rPr lang="en-US" smtClean="0"/>
              <a:t>10/6/26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0699759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4" y="867339"/>
            <a:ext cx="10972800" cy="1068387"/>
          </a:xfrm>
        </p:spPr>
        <p:txBody>
          <a:bodyPr/>
          <a:lstStyle>
            <a:lvl1pPr algn="l">
              <a:defRPr sz="3200"/>
            </a:lvl1pPr>
          </a:lstStyle>
          <a:p>
            <a:r>
              <a:rPr lang="en-US"/>
              <a:t>Click to edit Master title style</a:t>
            </a:r>
            <a:endParaRPr lang="en-US" dirty="0"/>
          </a:p>
        </p:txBody>
      </p:sp>
      <p:sp>
        <p:nvSpPr>
          <p:cNvPr id="4" name="Content Placeholder 3"/>
          <p:cNvSpPr>
            <a:spLocks noGrp="1"/>
          </p:cNvSpPr>
          <p:nvPr>
            <p:ph sz="half" idx="2"/>
          </p:nvPr>
        </p:nvSpPr>
        <p:spPr>
          <a:xfrm>
            <a:off x="609600" y="1935726"/>
            <a:ext cx="5386917" cy="4190437"/>
          </a:xfrm>
        </p:spPr>
        <p:txBody>
          <a:bodyPr/>
          <a:lstStyle>
            <a:lvl1pPr>
              <a:defRPr sz="2000"/>
            </a:lvl1pPr>
            <a:lvl2pPr>
              <a:defRPr sz="2000"/>
            </a:lvl2pPr>
            <a:lvl3pPr>
              <a:defRPr sz="2000"/>
            </a:lvl3pPr>
            <a:lvl4pPr>
              <a:defRPr sz="2000"/>
            </a:lvl4pPr>
            <a:lvl5pPr>
              <a:defRPr sz="2000"/>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6193372" y="1935726"/>
            <a:ext cx="5389033" cy="4190437"/>
          </a:xfrm>
        </p:spPr>
        <p:txBody>
          <a:bodyPr/>
          <a:lstStyle>
            <a:lvl1pPr>
              <a:defRPr sz="2000"/>
            </a:lvl1pPr>
            <a:lvl2pPr>
              <a:defRPr sz="2000"/>
            </a:lvl2pPr>
            <a:lvl3pPr>
              <a:defRPr sz="2000"/>
            </a:lvl3pPr>
            <a:lvl4pPr>
              <a:defRPr sz="2000"/>
            </a:lvl4pPr>
            <a:lvl5pPr>
              <a:defRPr sz="2000"/>
            </a:lvl5pPr>
            <a:lvl6pPr>
              <a:defRPr sz="2133"/>
            </a:lvl6pPr>
            <a:lvl7pPr>
              <a:defRPr sz="2133"/>
            </a:lvl7pPr>
            <a:lvl8pPr>
              <a:defRPr sz="2133"/>
            </a:lvl8pPr>
            <a:lvl9pPr>
              <a:defRPr sz="2133"/>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lvl1pPr>
              <a:defRPr/>
            </a:lvl1pPr>
          </a:lstStyle>
          <a:p>
            <a:pPr>
              <a:defRPr/>
            </a:pPr>
            <a:fld id="{4EF29A29-DE41-AE44-84CD-E2DC9D0A4AEF}" type="datetime1">
              <a:rPr lang="en-US" smtClean="0"/>
              <a:t>10/6/26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BB5B94E0-5E06-6D42-A41D-50D581B40900}" type="slidenum">
              <a:rPr lang="en-US"/>
              <a:pPr>
                <a:defRPr/>
              </a:pPr>
              <a:t>‹#›</a:t>
            </a:fld>
            <a:endParaRPr lang="en-US"/>
          </a:p>
        </p:txBody>
      </p:sp>
    </p:spTree>
    <p:extLst>
      <p:ext uri="{BB962C8B-B14F-4D97-AF65-F5344CB8AC3E}">
        <p14:creationId xmlns:p14="http://schemas.microsoft.com/office/powerpoint/2010/main" val="1887239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3200"/>
            </a:lvl1p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2D88F258-9F55-9A4A-8F7B-E6D573AE7D17}" type="datetime1">
              <a:rPr lang="en-US" smtClean="0"/>
              <a:t>10/6/26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C2AB7D4D-4E81-5B40-91F6-CF14C25F8623}" type="slidenum">
              <a:rPr lang="en-US"/>
              <a:pPr>
                <a:defRPr/>
              </a:pPr>
              <a:t>‹#›</a:t>
            </a:fld>
            <a:endParaRPr lang="en-US"/>
          </a:p>
        </p:txBody>
      </p:sp>
    </p:spTree>
    <p:extLst>
      <p:ext uri="{BB962C8B-B14F-4D97-AF65-F5344CB8AC3E}">
        <p14:creationId xmlns:p14="http://schemas.microsoft.com/office/powerpoint/2010/main" val="29050041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E90C9A10-6892-2C47-9186-E7C225E7EF67}" type="datetime1">
              <a:rPr lang="en-US" smtClean="0"/>
              <a:t>10/6/26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B35B2FA7-4FDB-5643-811E-7991DEE50B01}" type="slidenum">
              <a:rPr lang="en-US"/>
              <a:pPr>
                <a:defRPr/>
              </a:pPr>
              <a:t>‹#›</a:t>
            </a:fld>
            <a:endParaRPr lang="en-US"/>
          </a:p>
        </p:txBody>
      </p:sp>
    </p:spTree>
    <p:extLst>
      <p:ext uri="{BB962C8B-B14F-4D97-AF65-F5344CB8AC3E}">
        <p14:creationId xmlns:p14="http://schemas.microsoft.com/office/powerpoint/2010/main" val="34272067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5" y="273049"/>
            <a:ext cx="4011084" cy="1162051"/>
          </a:xfrm>
        </p:spPr>
        <p:txBody>
          <a:bodyPr anchor="b"/>
          <a:lstStyle>
            <a:lvl1pPr algn="l">
              <a:defRPr sz="2667"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4267"/>
            </a:lvl1pPr>
            <a:lvl2pPr>
              <a:defRPr sz="3733"/>
            </a:lvl2pPr>
            <a:lvl3pPr>
              <a:defRPr sz="3200"/>
            </a:lvl3pPr>
            <a:lvl4pPr>
              <a:defRPr sz="2667"/>
            </a:lvl4pPr>
            <a:lvl5pPr>
              <a:defRPr sz="2667"/>
            </a:lvl5pPr>
            <a:lvl6pPr>
              <a:defRPr sz="2667"/>
            </a:lvl6pPr>
            <a:lvl7pPr>
              <a:defRPr sz="2667"/>
            </a:lvl7pPr>
            <a:lvl8pPr>
              <a:defRPr sz="2667"/>
            </a:lvl8pPr>
            <a:lvl9pPr>
              <a:defRPr sz="2667"/>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5" y="1435103"/>
            <a:ext cx="4011084" cy="46910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92B0F250-9D6A-4F4C-B5DC-E5BB3C55173B}" type="datetime1">
              <a:rPr lang="en-US" smtClean="0"/>
              <a:t>10/6/26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DD8B14-AE1E-054C-8668-93D0F0400A18}" type="slidenum">
              <a:rPr lang="en-US"/>
              <a:pPr>
                <a:defRPr/>
              </a:pPr>
              <a:t>‹#›</a:t>
            </a:fld>
            <a:endParaRPr lang="en-US"/>
          </a:p>
        </p:txBody>
      </p:sp>
    </p:spTree>
    <p:extLst>
      <p:ext uri="{BB962C8B-B14F-4D97-AF65-F5344CB8AC3E}">
        <p14:creationId xmlns:p14="http://schemas.microsoft.com/office/powerpoint/2010/main" val="20264683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1"/>
            <a:ext cx="7315200" cy="566739"/>
          </a:xfrm>
        </p:spPr>
        <p:txBody>
          <a:bodyPr anchor="b"/>
          <a:lstStyle>
            <a:lvl1pPr algn="l">
              <a:defRPr sz="2667" b="1"/>
            </a:lvl1pPr>
          </a:lstStyle>
          <a:p>
            <a:r>
              <a:rPr lang="en-US"/>
              <a:t>Click to edit Master title style</a:t>
            </a:r>
            <a:endParaRPr lang="en-US" dirty="0"/>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4267"/>
            </a:lvl1pPr>
            <a:lvl2pPr marL="609585" indent="0">
              <a:buNone/>
              <a:defRPr sz="3733"/>
            </a:lvl2pPr>
            <a:lvl3pPr marL="1219170" indent="0">
              <a:buNone/>
              <a:defRPr sz="3200"/>
            </a:lvl3pPr>
            <a:lvl4pPr marL="1828754" indent="0">
              <a:buNone/>
              <a:defRPr sz="2667"/>
            </a:lvl4pPr>
            <a:lvl5pPr marL="2438339" indent="0">
              <a:buNone/>
              <a:defRPr sz="2667"/>
            </a:lvl5pPr>
            <a:lvl6pPr marL="3047924" indent="0">
              <a:buNone/>
              <a:defRPr sz="2667"/>
            </a:lvl6pPr>
            <a:lvl7pPr marL="3657509" indent="0">
              <a:buNone/>
              <a:defRPr sz="2667"/>
            </a:lvl7pPr>
            <a:lvl8pPr marL="4267093" indent="0">
              <a:buNone/>
              <a:defRPr sz="2667"/>
            </a:lvl8pPr>
            <a:lvl9pPr marL="4876678" indent="0">
              <a:buNone/>
              <a:defRPr sz="2667"/>
            </a:lvl9pPr>
          </a:lstStyle>
          <a:p>
            <a:pPr lvl="0"/>
            <a:r>
              <a:rPr lang="en-US" noProof="0"/>
              <a:t>Click icon to add picture</a:t>
            </a:r>
            <a:endParaRPr lang="en-US" noProof="0" dirty="0"/>
          </a:p>
        </p:txBody>
      </p:sp>
      <p:sp>
        <p:nvSpPr>
          <p:cNvPr id="4" name="Text Placeholder 3"/>
          <p:cNvSpPr>
            <a:spLocks noGrp="1"/>
          </p:cNvSpPr>
          <p:nvPr>
            <p:ph type="body" sz="half" idx="2"/>
          </p:nvPr>
        </p:nvSpPr>
        <p:spPr>
          <a:xfrm>
            <a:off x="2389717" y="5367339"/>
            <a:ext cx="7315200" cy="804863"/>
          </a:xfrm>
        </p:spPr>
        <p:txBody>
          <a:bodyPr/>
          <a:lstStyle>
            <a:lvl1pPr marL="0" indent="0">
              <a:buNone/>
              <a:defRPr sz="1867"/>
            </a:lvl1pPr>
            <a:lvl2pPr marL="609585" indent="0">
              <a:buNone/>
              <a:defRPr sz="1600"/>
            </a:lvl2pPr>
            <a:lvl3pPr marL="1219170" indent="0">
              <a:buNone/>
              <a:defRPr sz="1333"/>
            </a:lvl3pPr>
            <a:lvl4pPr marL="1828754" indent="0">
              <a:buNone/>
              <a:defRPr sz="1200"/>
            </a:lvl4pPr>
            <a:lvl5pPr marL="2438339" indent="0">
              <a:buNone/>
              <a:defRPr sz="1200"/>
            </a:lvl5pPr>
            <a:lvl6pPr marL="3047924" indent="0">
              <a:buNone/>
              <a:defRPr sz="1200"/>
            </a:lvl6pPr>
            <a:lvl7pPr marL="3657509" indent="0">
              <a:buNone/>
              <a:defRPr sz="1200"/>
            </a:lvl7pPr>
            <a:lvl8pPr marL="4267093" indent="0">
              <a:buNone/>
              <a:defRPr sz="1200"/>
            </a:lvl8pPr>
            <a:lvl9pPr marL="4876678" indent="0">
              <a:buNone/>
              <a:defRPr sz="1200"/>
            </a:lvl9pPr>
          </a:lstStyle>
          <a:p>
            <a:pPr lvl="0"/>
            <a:r>
              <a:rPr lang="en-US"/>
              <a:t>Edit Master text styles</a:t>
            </a:r>
          </a:p>
        </p:txBody>
      </p:sp>
      <p:sp>
        <p:nvSpPr>
          <p:cNvPr id="5" name="Date Placeholder 3"/>
          <p:cNvSpPr>
            <a:spLocks noGrp="1"/>
          </p:cNvSpPr>
          <p:nvPr>
            <p:ph type="dt" sz="half" idx="10"/>
          </p:nvPr>
        </p:nvSpPr>
        <p:spPr/>
        <p:txBody>
          <a:bodyPr/>
          <a:lstStyle>
            <a:lvl1pPr>
              <a:defRPr/>
            </a:lvl1pPr>
          </a:lstStyle>
          <a:p>
            <a:pPr>
              <a:defRPr/>
            </a:pPr>
            <a:fld id="{6AFAADB8-F38D-2C42-A4A0-2C734CD2343F}" type="datetime1">
              <a:rPr lang="en-US" smtClean="0"/>
              <a:t>10/6/26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8FEF0004-A563-C64B-9FAD-6198662E1BD1}" type="slidenum">
              <a:rPr lang="en-US"/>
              <a:pPr>
                <a:defRPr/>
              </a:pPr>
              <a:t>‹#›</a:t>
            </a:fld>
            <a:endParaRPr lang="en-US"/>
          </a:p>
        </p:txBody>
      </p:sp>
    </p:spTree>
    <p:extLst>
      <p:ext uri="{BB962C8B-B14F-4D97-AF65-F5344CB8AC3E}">
        <p14:creationId xmlns:p14="http://schemas.microsoft.com/office/powerpoint/2010/main" val="1493394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76008-4EAC-D34C-B1EB-04DA1310F40F}" type="datetime1">
              <a:rPr lang="en-US" smtClean="0"/>
              <a:t>10/6/26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B9610A8-B29A-B34A-A0B5-3DF26A2EB850}" type="slidenum">
              <a:rPr lang="en-US"/>
              <a:pPr>
                <a:defRPr/>
              </a:pPr>
              <a:t>‹#›</a:t>
            </a:fld>
            <a:endParaRPr lang="en-US"/>
          </a:p>
        </p:txBody>
      </p:sp>
    </p:spTree>
    <p:extLst>
      <p:ext uri="{BB962C8B-B14F-4D97-AF65-F5344CB8AC3E}">
        <p14:creationId xmlns:p14="http://schemas.microsoft.com/office/powerpoint/2010/main" val="21726283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0"/>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0"/>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929ADC1-8B12-034F-A960-24F99F4EC07D}" type="datetime1">
              <a:rPr lang="en-US" smtClean="0"/>
              <a:t>10/6/26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E12D0221-73D0-6245-9CCD-73A1D8FCB5E4}" type="slidenum">
              <a:rPr lang="en-US"/>
              <a:pPr>
                <a:defRPr/>
              </a:pPr>
              <a:t>‹#›</a:t>
            </a:fld>
            <a:endParaRPr lang="en-US"/>
          </a:p>
        </p:txBody>
      </p:sp>
    </p:spTree>
    <p:extLst>
      <p:ext uri="{BB962C8B-B14F-4D97-AF65-F5344CB8AC3E}">
        <p14:creationId xmlns:p14="http://schemas.microsoft.com/office/powerpoint/2010/main" val="27657379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675521"/>
            <a:ext cx="10972800" cy="1068387"/>
          </a:xfrm>
        </p:spPr>
        <p:txBody>
          <a:bodyPr/>
          <a:lstStyle>
            <a:lvl1pPr algn="l">
              <a:defRPr sz="3200"/>
            </a:lvl1pPr>
          </a:lstStyle>
          <a:p>
            <a:r>
              <a:rPr lang="en-US"/>
              <a:t>Click to edit Master title style</a:t>
            </a:r>
          </a:p>
        </p:txBody>
      </p:sp>
      <p:sp>
        <p:nvSpPr>
          <p:cNvPr id="3" name="Content Placeholder 2"/>
          <p:cNvSpPr>
            <a:spLocks noGrp="1"/>
          </p:cNvSpPr>
          <p:nvPr>
            <p:ph sz="half" idx="1"/>
          </p:nvPr>
        </p:nvSpPr>
        <p:spPr>
          <a:xfrm>
            <a:off x="609600" y="1743909"/>
            <a:ext cx="5384800" cy="4382258"/>
          </a:xfrm>
        </p:spPr>
        <p:txBody>
          <a:bodyPr/>
          <a:lstStyle>
            <a:lvl1pPr>
              <a:defRPr sz="2000"/>
            </a:lvl1pPr>
            <a:lvl2pPr>
              <a:defRPr sz="1600"/>
            </a:lvl2pPr>
            <a:lvl3pPr>
              <a:defRPr sz="1400"/>
            </a:lvl3pPr>
            <a:lvl4pPr>
              <a:defRPr sz="1200"/>
            </a:lvl4pPr>
            <a:lvl5pPr>
              <a:defRPr sz="1200"/>
            </a:lvl5pPr>
            <a:lvl6pPr>
              <a:defRPr sz="2400"/>
            </a:lvl6pPr>
            <a:lvl7pPr>
              <a:defRPr sz="2400"/>
            </a:lvl7pPr>
            <a:lvl8pPr>
              <a:defRPr sz="2400"/>
            </a:lvl8pPr>
            <a:lvl9pPr>
              <a:defRPr sz="2400"/>
            </a:lvl9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3"/>
          <p:cNvSpPr>
            <a:spLocks noGrp="1"/>
          </p:cNvSpPr>
          <p:nvPr>
            <p:ph type="dt" sz="half" idx="10"/>
          </p:nvPr>
        </p:nvSpPr>
        <p:spPr/>
        <p:txBody>
          <a:bodyPr/>
          <a:lstStyle>
            <a:lvl1pPr>
              <a:defRPr/>
            </a:lvl1pPr>
          </a:lstStyle>
          <a:p>
            <a:pPr>
              <a:defRPr/>
            </a:pPr>
            <a:fld id="{4FFB2EB5-5DD5-D045-817C-F27A871F0002}" type="datetime1">
              <a:rPr lang="en-US" smtClean="0"/>
              <a:t>10/6/26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C35E9FC-F6D5-0349-BBED-EA7D7A9BC49B}" type="slidenum">
              <a:rPr lang="en-US"/>
              <a:pPr>
                <a:defRPr/>
              </a:pPr>
              <a:t>‹#›</a:t>
            </a:fld>
            <a:endParaRPr lang="en-US"/>
          </a:p>
        </p:txBody>
      </p:sp>
    </p:spTree>
    <p:extLst>
      <p:ext uri="{BB962C8B-B14F-4D97-AF65-F5344CB8AC3E}">
        <p14:creationId xmlns:p14="http://schemas.microsoft.com/office/powerpoint/2010/main" val="312920032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900113"/>
            <a:ext cx="10972800" cy="106838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ctr" anchorCtr="0" compatLnSpc="1">
            <a:prstTxWarp prst="textNoShape">
              <a:avLst/>
            </a:prstTxWarp>
          </a:bodyPr>
          <a:lstStyle/>
          <a:p>
            <a:pPr lvl="0"/>
            <a:r>
              <a:rPr lang="en-US" dirty="0"/>
              <a:t>Headline Line One</a:t>
            </a:r>
            <a:br>
              <a:rPr lang="en-US" dirty="0"/>
            </a:br>
            <a:r>
              <a:rPr lang="en-US" dirty="0"/>
              <a:t>Headline Line Two</a:t>
            </a:r>
          </a:p>
        </p:txBody>
      </p:sp>
      <p:sp>
        <p:nvSpPr>
          <p:cNvPr id="1027" name="Text Placeholder 2"/>
          <p:cNvSpPr>
            <a:spLocks noGrp="1"/>
          </p:cNvSpPr>
          <p:nvPr>
            <p:ph type="body" idx="1"/>
          </p:nvPr>
        </p:nvSpPr>
        <p:spPr bwMode="auto">
          <a:xfrm>
            <a:off x="609600" y="3022600"/>
            <a:ext cx="10972800" cy="310356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FAA26D3D-D897-4be2-8F04-BA451C77F1D7}">
              <ma14:placeholderFlag xmlns:ma14="http://schemas.microsoft.com/office/mac/drawingml/2011/main" xmlns="" val="1"/>
            </a:ext>
          </a:extLst>
        </p:spPr>
        <p:txBody>
          <a:bodyPr vert="horz" wrap="square" lIns="91440" tIns="45720" rIns="91440" bIns="45720" numCol="1" anchor="t" anchorCtr="0" compatLnSpc="1">
            <a:prstTxWarp prst="textNoShape">
              <a:avLst/>
            </a:prstTxWarp>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2"/>
            <a:ext cx="2844800" cy="365125"/>
          </a:xfrm>
          <a:prstGeom prst="rect">
            <a:avLst/>
          </a:prstGeom>
        </p:spPr>
        <p:txBody>
          <a:bodyPr vert="horz" lIns="91440" tIns="45720" rIns="91440" bIns="45720" rtlCol="0" anchor="ctr"/>
          <a:lstStyle>
            <a:lvl1pPr algn="l" fontAlgn="auto">
              <a:spcBef>
                <a:spcPts val="0"/>
              </a:spcBef>
              <a:spcAft>
                <a:spcPts val="0"/>
              </a:spcAft>
              <a:defRPr sz="1600" smtClean="0">
                <a:solidFill>
                  <a:schemeClr val="tx1">
                    <a:tint val="75000"/>
                  </a:schemeClr>
                </a:solidFill>
                <a:latin typeface="Arial" panose="020B0604020202020204" pitchFamily="34" charset="0"/>
                <a:ea typeface="+mn-ea"/>
                <a:cs typeface="Arial" panose="020B0604020202020204" pitchFamily="34" charset="0"/>
              </a:defRPr>
            </a:lvl1pPr>
          </a:lstStyle>
          <a:p>
            <a:pPr>
              <a:defRPr/>
            </a:pPr>
            <a:fld id="{29A14411-20DE-BF4C-B2EF-F03C6EB9FD11}" type="datetime1">
              <a:rPr lang="en-US" smtClean="0"/>
              <a:t>10/6/26</a:t>
            </a:fld>
            <a:endParaRPr lang="en-US" dirty="0"/>
          </a:p>
        </p:txBody>
      </p:sp>
      <p:sp>
        <p:nvSpPr>
          <p:cNvPr id="5" name="Footer Placeholder 4"/>
          <p:cNvSpPr>
            <a:spLocks noGrp="1"/>
          </p:cNvSpPr>
          <p:nvPr>
            <p:ph type="ftr" sz="quarter" idx="3"/>
          </p:nvPr>
        </p:nvSpPr>
        <p:spPr>
          <a:xfrm>
            <a:off x="4165600" y="6356352"/>
            <a:ext cx="3860800" cy="365125"/>
          </a:xfrm>
          <a:prstGeom prst="rect">
            <a:avLst/>
          </a:prstGeom>
        </p:spPr>
        <p:txBody>
          <a:bodyPr vert="horz" lIns="91440" tIns="45720" rIns="91440" bIns="45720" rtlCol="0" anchor="ctr"/>
          <a:lstStyle>
            <a:lvl1pPr algn="ctr" fontAlgn="auto">
              <a:spcBef>
                <a:spcPts val="0"/>
              </a:spcBef>
              <a:spcAft>
                <a:spcPts val="0"/>
              </a:spcAft>
              <a:defRPr sz="1600">
                <a:solidFill>
                  <a:schemeClr val="tx1">
                    <a:tint val="75000"/>
                  </a:schemeClr>
                </a:solidFill>
                <a:latin typeface="Arial" panose="020B0604020202020204" pitchFamily="34" charset="0"/>
                <a:ea typeface="+mn-ea"/>
                <a:cs typeface="Arial" panose="020B0604020202020204" pitchFamily="34" charset="0"/>
              </a:defRPr>
            </a:lvl1pPr>
          </a:lstStyle>
          <a:p>
            <a:pPr>
              <a:defRPr/>
            </a:pPr>
            <a:endParaRPr lang="en-US" dirty="0"/>
          </a:p>
        </p:txBody>
      </p:sp>
      <p:sp>
        <p:nvSpPr>
          <p:cNvPr id="6" name="Slide Number Placeholder 5"/>
          <p:cNvSpPr>
            <a:spLocks noGrp="1"/>
          </p:cNvSpPr>
          <p:nvPr>
            <p:ph type="sldNum" sz="quarter" idx="4"/>
          </p:nvPr>
        </p:nvSpPr>
        <p:spPr>
          <a:xfrm>
            <a:off x="8737600" y="6356352"/>
            <a:ext cx="2844800" cy="365125"/>
          </a:xfrm>
          <a:prstGeom prst="rect">
            <a:avLst/>
          </a:prstGeom>
        </p:spPr>
        <p:txBody>
          <a:bodyPr vert="horz" lIns="91440" tIns="45720" rIns="91440" bIns="45720" rtlCol="0" anchor="ctr"/>
          <a:lstStyle>
            <a:lvl1pPr algn="r" fontAlgn="auto">
              <a:spcBef>
                <a:spcPts val="0"/>
              </a:spcBef>
              <a:spcAft>
                <a:spcPts val="0"/>
              </a:spcAft>
              <a:defRPr sz="1600" smtClean="0">
                <a:solidFill>
                  <a:schemeClr val="tx1">
                    <a:tint val="75000"/>
                  </a:schemeClr>
                </a:solidFill>
                <a:latin typeface="+mn-lt"/>
                <a:ea typeface="+mn-ea"/>
                <a:cs typeface="+mn-cs"/>
              </a:defRPr>
            </a:lvl1pPr>
          </a:lstStyle>
          <a:p>
            <a:pPr>
              <a:defRPr/>
            </a:pPr>
            <a:fld id="{0EF7D53D-272A-624E-BE3D-99D13E2B4193}" type="slidenum">
              <a:rPr lang="en-US"/>
              <a:pPr>
                <a:defRPr/>
              </a:pPr>
              <a:t>‹#›</a:t>
            </a:fld>
            <a:endParaRPr lang="en-US" dirty="0"/>
          </a:p>
        </p:txBody>
      </p:sp>
      <p:pic>
        <p:nvPicPr>
          <p:cNvPr id="8" name="Picture 7"/>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 y="0"/>
            <a:ext cx="12202925" cy="609600"/>
          </a:xfrm>
          <a:prstGeom prst="rect">
            <a:avLst/>
          </a:prstGeom>
        </p:spPr>
      </p:pic>
    </p:spTree>
    <p:extLst>
      <p:ext uri="{BB962C8B-B14F-4D97-AF65-F5344CB8AC3E}">
        <p14:creationId xmlns:p14="http://schemas.microsoft.com/office/powerpoint/2010/main" val="239037415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hf hdr="0" ftr="0" dt="0"/>
  <p:txStyles>
    <p:titleStyle>
      <a:lvl1pPr algn="ctr" defTabSz="609585" rtl="0" eaLnBrk="1" fontAlgn="base" hangingPunct="1">
        <a:spcBef>
          <a:spcPct val="0"/>
        </a:spcBef>
        <a:spcAft>
          <a:spcPct val="0"/>
        </a:spcAft>
        <a:defRPr sz="4267" b="1" kern="1200">
          <a:solidFill>
            <a:schemeClr val="tx1"/>
          </a:solidFill>
          <a:latin typeface="Arial"/>
          <a:ea typeface="ＭＳ Ｐゴシック" charset="0"/>
          <a:cs typeface="Arial"/>
        </a:defRPr>
      </a:lvl1pPr>
      <a:lvl2pPr algn="ctr" defTabSz="609585" rtl="0" eaLnBrk="1" fontAlgn="base" hangingPunct="1">
        <a:spcBef>
          <a:spcPct val="0"/>
        </a:spcBef>
        <a:spcAft>
          <a:spcPct val="0"/>
        </a:spcAft>
        <a:defRPr sz="4267" b="1">
          <a:solidFill>
            <a:schemeClr val="tx1"/>
          </a:solidFill>
          <a:latin typeface="Arial" charset="0"/>
          <a:ea typeface="ＭＳ Ｐゴシック" charset="0"/>
        </a:defRPr>
      </a:lvl2pPr>
      <a:lvl3pPr algn="ctr" defTabSz="609585" rtl="0" eaLnBrk="1" fontAlgn="base" hangingPunct="1">
        <a:spcBef>
          <a:spcPct val="0"/>
        </a:spcBef>
        <a:spcAft>
          <a:spcPct val="0"/>
        </a:spcAft>
        <a:defRPr sz="4267" b="1">
          <a:solidFill>
            <a:schemeClr val="tx1"/>
          </a:solidFill>
          <a:latin typeface="Arial" charset="0"/>
          <a:ea typeface="ＭＳ Ｐゴシック" charset="0"/>
        </a:defRPr>
      </a:lvl3pPr>
      <a:lvl4pPr algn="ctr" defTabSz="609585" rtl="0" eaLnBrk="1" fontAlgn="base" hangingPunct="1">
        <a:spcBef>
          <a:spcPct val="0"/>
        </a:spcBef>
        <a:spcAft>
          <a:spcPct val="0"/>
        </a:spcAft>
        <a:defRPr sz="4267" b="1">
          <a:solidFill>
            <a:schemeClr val="tx1"/>
          </a:solidFill>
          <a:latin typeface="Arial" charset="0"/>
          <a:ea typeface="ＭＳ Ｐゴシック" charset="0"/>
        </a:defRPr>
      </a:lvl4pPr>
      <a:lvl5pPr algn="ctr" defTabSz="609585" rtl="0" eaLnBrk="1" fontAlgn="base" hangingPunct="1">
        <a:spcBef>
          <a:spcPct val="0"/>
        </a:spcBef>
        <a:spcAft>
          <a:spcPct val="0"/>
        </a:spcAft>
        <a:defRPr sz="4267" b="1">
          <a:solidFill>
            <a:schemeClr val="tx1"/>
          </a:solidFill>
          <a:latin typeface="Arial" charset="0"/>
          <a:ea typeface="ＭＳ Ｐゴシック" charset="0"/>
        </a:defRPr>
      </a:lvl5pPr>
      <a:lvl6pPr marL="609585" algn="ctr" defTabSz="609585" rtl="0" eaLnBrk="1" fontAlgn="base" hangingPunct="1">
        <a:spcBef>
          <a:spcPct val="0"/>
        </a:spcBef>
        <a:spcAft>
          <a:spcPct val="0"/>
        </a:spcAft>
        <a:defRPr sz="4267" b="1">
          <a:solidFill>
            <a:schemeClr val="tx1"/>
          </a:solidFill>
          <a:latin typeface="Arial" charset="0"/>
          <a:ea typeface="ＭＳ Ｐゴシック" charset="0"/>
        </a:defRPr>
      </a:lvl6pPr>
      <a:lvl7pPr marL="1219170" algn="ctr" defTabSz="609585" rtl="0" eaLnBrk="1" fontAlgn="base" hangingPunct="1">
        <a:spcBef>
          <a:spcPct val="0"/>
        </a:spcBef>
        <a:spcAft>
          <a:spcPct val="0"/>
        </a:spcAft>
        <a:defRPr sz="4267" b="1">
          <a:solidFill>
            <a:schemeClr val="tx1"/>
          </a:solidFill>
          <a:latin typeface="Arial" charset="0"/>
          <a:ea typeface="ＭＳ Ｐゴシック" charset="0"/>
        </a:defRPr>
      </a:lvl7pPr>
      <a:lvl8pPr marL="1828754" algn="ctr" defTabSz="609585" rtl="0" eaLnBrk="1" fontAlgn="base" hangingPunct="1">
        <a:spcBef>
          <a:spcPct val="0"/>
        </a:spcBef>
        <a:spcAft>
          <a:spcPct val="0"/>
        </a:spcAft>
        <a:defRPr sz="4267" b="1">
          <a:solidFill>
            <a:schemeClr val="tx1"/>
          </a:solidFill>
          <a:latin typeface="Arial" charset="0"/>
          <a:ea typeface="ＭＳ Ｐゴシック" charset="0"/>
        </a:defRPr>
      </a:lvl8pPr>
      <a:lvl9pPr marL="2438339" algn="ctr" defTabSz="609585" rtl="0" eaLnBrk="1" fontAlgn="base" hangingPunct="1">
        <a:spcBef>
          <a:spcPct val="0"/>
        </a:spcBef>
        <a:spcAft>
          <a:spcPct val="0"/>
        </a:spcAft>
        <a:defRPr sz="4267" b="1">
          <a:solidFill>
            <a:schemeClr val="tx1"/>
          </a:solidFill>
          <a:latin typeface="Arial" charset="0"/>
          <a:ea typeface="ＭＳ Ｐゴシック" charset="0"/>
        </a:defRPr>
      </a:lvl9pPr>
    </p:titleStyle>
    <p:bodyStyle>
      <a:lvl1pPr marL="457189" indent="-457189"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1pPr>
      <a:lvl2pPr marL="990575" indent="-380990" algn="l" defTabSz="609585" rtl="0" eaLnBrk="1" fontAlgn="base" hangingPunct="1">
        <a:spcBef>
          <a:spcPct val="20000"/>
        </a:spcBef>
        <a:spcAft>
          <a:spcPct val="0"/>
        </a:spcAft>
        <a:buFont typeface="Arial" charset="0"/>
        <a:buChar char="–"/>
        <a:defRPr sz="3200" kern="1200">
          <a:solidFill>
            <a:schemeClr val="tx1"/>
          </a:solidFill>
          <a:latin typeface="Arial"/>
          <a:ea typeface="ＭＳ Ｐゴシック" charset="0"/>
          <a:cs typeface="Arial"/>
        </a:defRPr>
      </a:lvl2pPr>
      <a:lvl3pPr marL="1523962" indent="-304792" algn="l" defTabSz="609585" rtl="0" eaLnBrk="1" fontAlgn="base" hangingPunct="1">
        <a:spcBef>
          <a:spcPct val="20000"/>
        </a:spcBef>
        <a:spcAft>
          <a:spcPct val="0"/>
        </a:spcAft>
        <a:buFont typeface="Arial" charset="0"/>
        <a:buChar char="•"/>
        <a:defRPr kern="1200">
          <a:solidFill>
            <a:schemeClr val="tx1"/>
          </a:solidFill>
          <a:latin typeface="Arial"/>
          <a:ea typeface="ＭＳ Ｐゴシック" charset="0"/>
          <a:cs typeface="Arial"/>
        </a:defRPr>
      </a:lvl3pPr>
      <a:lvl4pPr marL="2133547" indent="-304792" algn="l" defTabSz="609585" rtl="0" eaLnBrk="1" fontAlgn="base" hangingPunct="1">
        <a:spcBef>
          <a:spcPct val="20000"/>
        </a:spcBef>
        <a:spcAft>
          <a:spcPct val="0"/>
        </a:spcAft>
        <a:buFont typeface="Arial" charset="0"/>
        <a:buChar char="–"/>
        <a:defRPr sz="1867" kern="1200">
          <a:solidFill>
            <a:schemeClr val="tx1"/>
          </a:solidFill>
          <a:latin typeface="Arial"/>
          <a:ea typeface="ＭＳ Ｐゴシック" charset="0"/>
          <a:cs typeface="Arial"/>
        </a:defRPr>
      </a:lvl4pPr>
      <a:lvl5pPr marL="2743131" indent="-304792" algn="l" defTabSz="609585" rtl="0" eaLnBrk="1" fontAlgn="base" hangingPunct="1">
        <a:spcBef>
          <a:spcPct val="20000"/>
        </a:spcBef>
        <a:spcAft>
          <a:spcPct val="0"/>
        </a:spcAft>
        <a:buFont typeface="Arial" charset="0"/>
        <a:buChar char="»"/>
        <a:defRPr sz="1333" kern="1200">
          <a:solidFill>
            <a:schemeClr val="tx1"/>
          </a:solidFill>
          <a:latin typeface="Arial"/>
          <a:ea typeface="ＭＳ Ｐゴシック" charset="0"/>
          <a:cs typeface="Arial"/>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en-US"/>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2.xml"/><Relationship Id="rId5" Type="http://schemas.openxmlformats.org/officeDocument/2006/relationships/image" Target="../media/image11.png"/><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2.xml"/><Relationship Id="rId5" Type="http://schemas.openxmlformats.org/officeDocument/2006/relationships/image" Target="../media/image15.emf"/><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12.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tiff"/><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B98C24-8575-8644-833E-593D27AC502F}"/>
              </a:ext>
            </a:extLst>
          </p:cNvPr>
          <p:cNvSpPr>
            <a:spLocks noGrp="1"/>
          </p:cNvSpPr>
          <p:nvPr>
            <p:ph type="ctrTitle"/>
          </p:nvPr>
        </p:nvSpPr>
        <p:spPr/>
        <p:txBody>
          <a:bodyPr/>
          <a:lstStyle/>
          <a:p>
            <a:r>
              <a:rPr lang="en-US" sz="4000" dirty="0"/>
              <a:t>NE 763: Advanced Reactor Materials</a:t>
            </a:r>
          </a:p>
        </p:txBody>
      </p:sp>
      <p:sp>
        <p:nvSpPr>
          <p:cNvPr id="3" name="Subtitle 2">
            <a:extLst>
              <a:ext uri="{FF2B5EF4-FFF2-40B4-BE49-F238E27FC236}">
                <a16:creationId xmlns:a16="http://schemas.microsoft.com/office/drawing/2014/main" id="{62187F49-5DA5-4E46-B793-DAB018625C3A}"/>
              </a:ext>
            </a:extLst>
          </p:cNvPr>
          <p:cNvSpPr>
            <a:spLocks noGrp="1"/>
          </p:cNvSpPr>
          <p:nvPr>
            <p:ph type="subTitle" idx="1"/>
          </p:nvPr>
        </p:nvSpPr>
        <p:spPr/>
        <p:txBody>
          <a:bodyPr/>
          <a:lstStyle/>
          <a:p>
            <a:r>
              <a:rPr lang="en-US" dirty="0"/>
              <a:t>Fall 2026</a:t>
            </a:r>
          </a:p>
          <a:p>
            <a:r>
              <a:rPr lang="en-US" dirty="0"/>
              <a:t>Dr. Benjamin Beeler</a:t>
            </a:r>
          </a:p>
        </p:txBody>
      </p:sp>
      <p:sp>
        <p:nvSpPr>
          <p:cNvPr id="4" name="Slide Number Placeholder 3">
            <a:extLst>
              <a:ext uri="{FF2B5EF4-FFF2-40B4-BE49-F238E27FC236}">
                <a16:creationId xmlns:a16="http://schemas.microsoft.com/office/drawing/2014/main" id="{571D87AF-F2E1-4B41-AF72-207662B132A4}"/>
              </a:ext>
            </a:extLst>
          </p:cNvPr>
          <p:cNvSpPr>
            <a:spLocks noGrp="1"/>
          </p:cNvSpPr>
          <p:nvPr>
            <p:ph type="sldNum" sz="quarter" idx="12"/>
          </p:nvPr>
        </p:nvSpPr>
        <p:spPr/>
        <p:txBody>
          <a:bodyPr/>
          <a:lstStyle/>
          <a:p>
            <a:pPr>
              <a:defRPr/>
            </a:pPr>
            <a:fld id="{01E82176-A547-F94B-AC51-D6E9C882CB88}" type="slidenum">
              <a:rPr lang="en-US" smtClean="0"/>
              <a:pPr>
                <a:defRPr/>
              </a:pPr>
              <a:t>1</a:t>
            </a:fld>
            <a:endParaRPr lang="en-US"/>
          </a:p>
        </p:txBody>
      </p:sp>
    </p:spTree>
    <p:extLst>
      <p:ext uri="{BB962C8B-B14F-4D97-AF65-F5344CB8AC3E}">
        <p14:creationId xmlns:p14="http://schemas.microsoft.com/office/powerpoint/2010/main" val="33407828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B84B06-32EE-AE49-924A-D322C6ABE988}"/>
              </a:ext>
            </a:extLst>
          </p:cNvPr>
          <p:cNvSpPr>
            <a:spLocks noGrp="1"/>
          </p:cNvSpPr>
          <p:nvPr>
            <p:ph type="title"/>
          </p:nvPr>
        </p:nvSpPr>
        <p:spPr>
          <a:xfrm>
            <a:off x="609600" y="592000"/>
            <a:ext cx="10972800" cy="1068387"/>
          </a:xfrm>
        </p:spPr>
        <p:txBody>
          <a:bodyPr/>
          <a:lstStyle/>
          <a:p>
            <a:r>
              <a:rPr lang="en-US" dirty="0"/>
              <a:t>Last Time</a:t>
            </a:r>
          </a:p>
        </p:txBody>
      </p:sp>
      <p:sp>
        <p:nvSpPr>
          <p:cNvPr id="3" name="Content Placeholder 2">
            <a:extLst>
              <a:ext uri="{FF2B5EF4-FFF2-40B4-BE49-F238E27FC236}">
                <a16:creationId xmlns:a16="http://schemas.microsoft.com/office/drawing/2014/main" id="{83C51977-FB07-8C48-A95D-24C17469F14C}"/>
              </a:ext>
            </a:extLst>
          </p:cNvPr>
          <p:cNvSpPr>
            <a:spLocks noGrp="1"/>
          </p:cNvSpPr>
          <p:nvPr>
            <p:ph idx="1"/>
          </p:nvPr>
        </p:nvSpPr>
        <p:spPr>
          <a:xfrm>
            <a:off x="609600" y="1660387"/>
            <a:ext cx="10972800" cy="4655173"/>
          </a:xfrm>
        </p:spPr>
        <p:txBody>
          <a:bodyPr/>
          <a:lstStyle/>
          <a:p>
            <a:r>
              <a:rPr lang="en-US" dirty="0"/>
              <a:t>Intro to molten salts</a:t>
            </a:r>
          </a:p>
          <a:p>
            <a:r>
              <a:rPr lang="en-US" dirty="0"/>
              <a:t>Salt reactor designs</a:t>
            </a:r>
          </a:p>
          <a:p>
            <a:pPr lvl="1"/>
            <a:r>
              <a:rPr lang="en-US" dirty="0"/>
              <a:t>Salt Cooled Reactor, </a:t>
            </a:r>
            <a:r>
              <a:rPr lang="en-US" b="1" dirty="0"/>
              <a:t>Flowing Salt Fueled Reactor</a:t>
            </a:r>
            <a:r>
              <a:rPr lang="en-US" dirty="0"/>
              <a:t>, Static Salt Fueled Reactor</a:t>
            </a:r>
          </a:p>
          <a:p>
            <a:r>
              <a:rPr lang="en-US" dirty="0"/>
              <a:t>Benefits of salt reactors</a:t>
            </a:r>
          </a:p>
          <a:p>
            <a:pPr lvl="1"/>
            <a:r>
              <a:rPr lang="en-US" dirty="0"/>
              <a:t>operate close to atmospheric pressure, negative reactivity feedback coefficient, fission gas behavior, higher temperatures</a:t>
            </a:r>
          </a:p>
          <a:p>
            <a:r>
              <a:rPr lang="en-US" dirty="0"/>
              <a:t>Requirements for fuel salts</a:t>
            </a:r>
          </a:p>
          <a:p>
            <a:pPr lvl="1"/>
            <a:r>
              <a:rPr lang="en-US" dirty="0"/>
              <a:t>low neutron absorption, good thermal properties, high stability, low melting point, high boiling point, low vapor pressure, etc.</a:t>
            </a:r>
          </a:p>
        </p:txBody>
      </p:sp>
      <p:sp>
        <p:nvSpPr>
          <p:cNvPr id="4" name="Slide Number Placeholder 3">
            <a:extLst>
              <a:ext uri="{FF2B5EF4-FFF2-40B4-BE49-F238E27FC236}">
                <a16:creationId xmlns:a16="http://schemas.microsoft.com/office/drawing/2014/main" id="{7CBC4B28-BA21-EF4C-875A-5D4274D0CFA9}"/>
              </a:ext>
            </a:extLst>
          </p:cNvPr>
          <p:cNvSpPr>
            <a:spLocks noGrp="1"/>
          </p:cNvSpPr>
          <p:nvPr>
            <p:ph type="sldNum" sz="quarter" idx="12"/>
          </p:nvPr>
        </p:nvSpPr>
        <p:spPr/>
        <p:txBody>
          <a:bodyPr/>
          <a:lstStyle/>
          <a:p>
            <a:pPr>
              <a:defRPr/>
            </a:pPr>
            <a:fld id="{3FF2C605-4958-CF43-AA48-80339EFDB0AF}" type="slidenum">
              <a:rPr lang="en-US" smtClean="0"/>
              <a:pPr>
                <a:defRPr/>
              </a:pPr>
              <a:t>2</a:t>
            </a:fld>
            <a:endParaRPr lang="en-US"/>
          </a:p>
        </p:txBody>
      </p:sp>
    </p:spTree>
    <p:extLst>
      <p:ext uri="{BB962C8B-B14F-4D97-AF65-F5344CB8AC3E}">
        <p14:creationId xmlns:p14="http://schemas.microsoft.com/office/powerpoint/2010/main" val="24697264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C2710D-3C96-EB52-B242-85816BFF1D37}"/>
              </a:ext>
            </a:extLst>
          </p:cNvPr>
          <p:cNvSpPr>
            <a:spLocks noGrp="1"/>
          </p:cNvSpPr>
          <p:nvPr>
            <p:ph type="title"/>
          </p:nvPr>
        </p:nvSpPr>
        <p:spPr/>
        <p:txBody>
          <a:bodyPr/>
          <a:lstStyle/>
          <a:p>
            <a:r>
              <a:rPr lang="en-US" dirty="0"/>
              <a:t>Solution Species</a:t>
            </a:r>
          </a:p>
        </p:txBody>
      </p:sp>
      <p:sp>
        <p:nvSpPr>
          <p:cNvPr id="3" name="Content Placeholder 2">
            <a:extLst>
              <a:ext uri="{FF2B5EF4-FFF2-40B4-BE49-F238E27FC236}">
                <a16:creationId xmlns:a16="http://schemas.microsoft.com/office/drawing/2014/main" id="{8C955985-1BC2-CD3B-49D0-3A5297F43E0A}"/>
              </a:ext>
            </a:extLst>
          </p:cNvPr>
          <p:cNvSpPr>
            <a:spLocks noGrp="1"/>
          </p:cNvSpPr>
          <p:nvPr>
            <p:ph sz="half" idx="1"/>
          </p:nvPr>
        </p:nvSpPr>
        <p:spPr/>
        <p:txBody>
          <a:bodyPr/>
          <a:lstStyle/>
          <a:p>
            <a:r>
              <a:rPr lang="en-US" sz="2200" dirty="0"/>
              <a:t>Solute species serve to modify salt properties: lower the melting point, lower viscosity, etc., and can dually serve as an oxygen getter</a:t>
            </a:r>
          </a:p>
          <a:p>
            <a:r>
              <a:rPr lang="en-US" sz="2200" dirty="0"/>
              <a:t>Must have low neutron absorption cross section and be chemically compatible with cladding</a:t>
            </a:r>
          </a:p>
          <a:p>
            <a:r>
              <a:rPr lang="en-US" sz="2200" dirty="0"/>
              <a:t>BeF2, </a:t>
            </a:r>
            <a:r>
              <a:rPr lang="en-US" sz="2200" dirty="0" err="1"/>
              <a:t>LiF</a:t>
            </a:r>
            <a:r>
              <a:rPr lang="en-US" sz="2200" dirty="0"/>
              <a:t>, </a:t>
            </a:r>
            <a:r>
              <a:rPr lang="en-US" sz="2200" dirty="0" err="1"/>
              <a:t>ZrF</a:t>
            </a:r>
            <a:r>
              <a:rPr lang="en-US" sz="2200" dirty="0"/>
              <a:t>, and </a:t>
            </a:r>
            <a:r>
              <a:rPr lang="en-US" sz="2200" dirty="0" err="1"/>
              <a:t>NaF</a:t>
            </a:r>
            <a:r>
              <a:rPr lang="en-US" sz="2200" dirty="0"/>
              <a:t> are commonly utilized due to the combination of these properties</a:t>
            </a:r>
          </a:p>
          <a:p>
            <a:r>
              <a:rPr lang="en-US" sz="2200" dirty="0"/>
              <a:t>Eutectic concept: lowest melting point</a:t>
            </a:r>
          </a:p>
        </p:txBody>
      </p:sp>
      <p:sp>
        <p:nvSpPr>
          <p:cNvPr id="5" name="Slide Number Placeholder 4">
            <a:extLst>
              <a:ext uri="{FF2B5EF4-FFF2-40B4-BE49-F238E27FC236}">
                <a16:creationId xmlns:a16="http://schemas.microsoft.com/office/drawing/2014/main" id="{10644F11-773E-26BE-EF86-C7D6EFA68EDA}"/>
              </a:ext>
            </a:extLst>
          </p:cNvPr>
          <p:cNvSpPr>
            <a:spLocks noGrp="1"/>
          </p:cNvSpPr>
          <p:nvPr>
            <p:ph type="sldNum" sz="quarter" idx="12"/>
          </p:nvPr>
        </p:nvSpPr>
        <p:spPr/>
        <p:txBody>
          <a:bodyPr/>
          <a:lstStyle/>
          <a:p>
            <a:pPr>
              <a:defRPr/>
            </a:pPr>
            <a:fld id="{EC35E9FC-F6D5-0349-BBED-EA7D7A9BC49B}" type="slidenum">
              <a:rPr lang="en-US" smtClean="0"/>
              <a:pPr>
                <a:defRPr/>
              </a:pPr>
              <a:t>3</a:t>
            </a:fld>
            <a:endParaRPr lang="en-US"/>
          </a:p>
        </p:txBody>
      </p:sp>
      <p:pic>
        <p:nvPicPr>
          <p:cNvPr id="6" name="Picture 5">
            <a:extLst>
              <a:ext uri="{FF2B5EF4-FFF2-40B4-BE49-F238E27FC236}">
                <a16:creationId xmlns:a16="http://schemas.microsoft.com/office/drawing/2014/main" id="{88ECBEE2-16D7-9A9D-D78B-4EF08C6797CA}"/>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299200" y="1049869"/>
            <a:ext cx="5384800" cy="2397653"/>
          </a:xfrm>
          <a:prstGeom prst="rect">
            <a:avLst/>
          </a:prstGeom>
        </p:spPr>
      </p:pic>
      <p:pic>
        <p:nvPicPr>
          <p:cNvPr id="4" name="Picture 3" descr="Phase Diagram NaF-LiF [83] | Download Scientific Diagram">
            <a:extLst>
              <a:ext uri="{FF2B5EF4-FFF2-40B4-BE49-F238E27FC236}">
                <a16:creationId xmlns:a16="http://schemas.microsoft.com/office/drawing/2014/main" id="{D7A31AC9-1AC1-B326-39CE-3C82C6A693DA}"/>
              </a:ext>
            </a:extLst>
          </p:cNvPr>
          <p:cNvPicPr>
            <a:picLocks noChangeAspect="1"/>
          </p:cNvPicPr>
          <p:nvPr/>
        </p:nvPicPr>
        <p:blipFill>
          <a:blip r:embed="rId3"/>
          <a:stretch>
            <a:fillRect/>
          </a:stretch>
        </p:blipFill>
        <p:spPr>
          <a:xfrm>
            <a:off x="6680200" y="3617914"/>
            <a:ext cx="4114800" cy="2921000"/>
          </a:xfrm>
          <a:prstGeom prst="rect">
            <a:avLst/>
          </a:prstGeom>
        </p:spPr>
      </p:pic>
    </p:spTree>
    <p:extLst>
      <p:ext uri="{BB962C8B-B14F-4D97-AF65-F5344CB8AC3E}">
        <p14:creationId xmlns:p14="http://schemas.microsoft.com/office/powerpoint/2010/main" val="29841858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D845EB-F9C4-5547-8178-2080C109DAC3}"/>
              </a:ext>
            </a:extLst>
          </p:cNvPr>
          <p:cNvSpPr>
            <a:spLocks noGrp="1"/>
          </p:cNvSpPr>
          <p:nvPr>
            <p:ph type="title"/>
          </p:nvPr>
        </p:nvSpPr>
        <p:spPr/>
        <p:txBody>
          <a:bodyPr/>
          <a:lstStyle/>
          <a:p>
            <a:r>
              <a:rPr lang="en-US" dirty="0"/>
              <a:t>Fuel Salt Classes</a:t>
            </a:r>
          </a:p>
        </p:txBody>
      </p:sp>
      <p:sp>
        <p:nvSpPr>
          <p:cNvPr id="3" name="Content Placeholder 2">
            <a:extLst>
              <a:ext uri="{FF2B5EF4-FFF2-40B4-BE49-F238E27FC236}">
                <a16:creationId xmlns:a16="http://schemas.microsoft.com/office/drawing/2014/main" id="{01E22A80-6F08-F941-955E-4A0F806654B0}"/>
              </a:ext>
            </a:extLst>
          </p:cNvPr>
          <p:cNvSpPr>
            <a:spLocks noGrp="1"/>
          </p:cNvSpPr>
          <p:nvPr>
            <p:ph sz="half" idx="1"/>
          </p:nvPr>
        </p:nvSpPr>
        <p:spPr>
          <a:xfrm>
            <a:off x="609600" y="1743909"/>
            <a:ext cx="10972800" cy="4382258"/>
          </a:xfrm>
        </p:spPr>
        <p:txBody>
          <a:bodyPr/>
          <a:lstStyle/>
          <a:p>
            <a:r>
              <a:rPr lang="en-US" sz="2400" dirty="0"/>
              <a:t>Thermal spectrum reprocessing-optimized fluoride salts </a:t>
            </a:r>
          </a:p>
          <a:p>
            <a:pPr lvl="1"/>
            <a:r>
              <a:rPr lang="en-US" sz="2000" dirty="0" err="1"/>
              <a:t>FLiBe</a:t>
            </a:r>
            <a:r>
              <a:rPr lang="en-US" sz="2000" dirty="0"/>
              <a:t> (</a:t>
            </a:r>
            <a:r>
              <a:rPr lang="en-US" sz="2000" baseline="30000" dirty="0"/>
              <a:t>7</a:t>
            </a:r>
            <a:r>
              <a:rPr lang="en-US" sz="2000" dirty="0"/>
              <a:t>LiF-BeF</a:t>
            </a:r>
            <a:r>
              <a:rPr lang="en-US" sz="2000" baseline="-25000" dirty="0"/>
              <a:t>2</a:t>
            </a:r>
            <a:r>
              <a:rPr lang="en-US" sz="2000" dirty="0"/>
              <a:t>) and NaF-ZrF</a:t>
            </a:r>
            <a:r>
              <a:rPr lang="en-US" sz="2000" baseline="-25000" dirty="0"/>
              <a:t>4</a:t>
            </a:r>
            <a:endParaRPr lang="en-US" sz="2000" dirty="0"/>
          </a:p>
          <a:p>
            <a:pPr lvl="1"/>
            <a:r>
              <a:rPr lang="en-US" sz="2000" dirty="0"/>
              <a:t>Issues: </a:t>
            </a:r>
            <a:r>
              <a:rPr lang="en-US" sz="2000" dirty="0" err="1"/>
              <a:t>FLiBe</a:t>
            </a:r>
            <a:r>
              <a:rPr lang="en-US" sz="2000" dirty="0"/>
              <a:t> produces tritium, while NaF-ZrF</a:t>
            </a:r>
            <a:r>
              <a:rPr lang="en-US" sz="2000" baseline="-25000" dirty="0"/>
              <a:t>4</a:t>
            </a:r>
            <a:r>
              <a:rPr lang="en-US" sz="2000" dirty="0"/>
              <a:t> has a higher vapor pressure</a:t>
            </a:r>
            <a:endParaRPr lang="en-US" sz="2800" dirty="0"/>
          </a:p>
          <a:p>
            <a:r>
              <a:rPr lang="en-US" sz="2400" dirty="0"/>
              <a:t>Fast spectrum and thermal spectrum, once-through fuel cycle optimized fluoride salts</a:t>
            </a:r>
          </a:p>
          <a:p>
            <a:pPr lvl="1"/>
            <a:r>
              <a:rPr lang="en-US" sz="2000" dirty="0"/>
              <a:t>LiF-ThF</a:t>
            </a:r>
            <a:r>
              <a:rPr lang="en-US" sz="2000" baseline="-25000" dirty="0"/>
              <a:t>4</a:t>
            </a:r>
            <a:r>
              <a:rPr lang="en-US" sz="2000" dirty="0"/>
              <a:t>-UF</a:t>
            </a:r>
            <a:r>
              <a:rPr lang="en-US" sz="2000" baseline="-25000" dirty="0"/>
              <a:t>4</a:t>
            </a:r>
            <a:r>
              <a:rPr lang="en-US" sz="2000" dirty="0"/>
              <a:t>-(TRU)F</a:t>
            </a:r>
            <a:r>
              <a:rPr lang="en-US" sz="2000" baseline="-25000" dirty="0"/>
              <a:t>3</a:t>
            </a:r>
          </a:p>
          <a:p>
            <a:pPr lvl="1"/>
            <a:r>
              <a:rPr lang="en-US" sz="2000" dirty="0"/>
              <a:t>Much higher fissile loading (actinide-rich eutectics)</a:t>
            </a:r>
          </a:p>
          <a:p>
            <a:pPr lvl="1"/>
            <a:r>
              <a:rPr lang="en-US" sz="2000" dirty="0"/>
              <a:t>Adequate fissile material content is a significant design challenge</a:t>
            </a:r>
            <a:endParaRPr lang="en-US" sz="2800" dirty="0"/>
          </a:p>
          <a:p>
            <a:r>
              <a:rPr lang="en-US" sz="2400" dirty="0"/>
              <a:t>Chloride salts</a:t>
            </a:r>
          </a:p>
          <a:p>
            <a:pPr lvl="1"/>
            <a:r>
              <a:rPr lang="en-US" sz="2000" dirty="0"/>
              <a:t>Enables harder neutron spectrum and enhanced breeding</a:t>
            </a:r>
          </a:p>
          <a:p>
            <a:pPr lvl="1"/>
            <a:r>
              <a:rPr lang="en-US" sz="2000" dirty="0"/>
              <a:t>Isotopically separated chlorine preferable - </a:t>
            </a:r>
            <a:r>
              <a:rPr lang="en-US" sz="2000" baseline="30000" dirty="0"/>
              <a:t>35</a:t>
            </a:r>
            <a:r>
              <a:rPr lang="en-US" sz="2000" dirty="0"/>
              <a:t>Cl from </a:t>
            </a:r>
            <a:r>
              <a:rPr lang="en-US" sz="2000" baseline="30000" dirty="0"/>
              <a:t>37</a:t>
            </a:r>
            <a:r>
              <a:rPr lang="en-US" sz="2000" dirty="0"/>
              <a:t>Cl, due to moderate capture cross section of </a:t>
            </a:r>
            <a:r>
              <a:rPr lang="en-US" sz="2000" baseline="30000" dirty="0"/>
              <a:t>35</a:t>
            </a:r>
            <a:r>
              <a:rPr lang="en-US" sz="2000" dirty="0"/>
              <a:t>Cl</a:t>
            </a:r>
          </a:p>
          <a:p>
            <a:endParaRPr lang="en-US" sz="2800" dirty="0"/>
          </a:p>
          <a:p>
            <a:endParaRPr lang="en-US" sz="2800" dirty="0"/>
          </a:p>
          <a:p>
            <a:endParaRPr lang="en-US" sz="2800" dirty="0"/>
          </a:p>
        </p:txBody>
      </p:sp>
      <p:sp>
        <p:nvSpPr>
          <p:cNvPr id="4" name="Slide Number Placeholder 3">
            <a:extLst>
              <a:ext uri="{FF2B5EF4-FFF2-40B4-BE49-F238E27FC236}">
                <a16:creationId xmlns:a16="http://schemas.microsoft.com/office/drawing/2014/main" id="{8EB8106B-800A-274F-B4F5-58CF823658F4}"/>
              </a:ext>
            </a:extLst>
          </p:cNvPr>
          <p:cNvSpPr>
            <a:spLocks noGrp="1"/>
          </p:cNvSpPr>
          <p:nvPr>
            <p:ph type="sldNum" sz="quarter" idx="12"/>
          </p:nvPr>
        </p:nvSpPr>
        <p:spPr/>
        <p:txBody>
          <a:bodyPr/>
          <a:lstStyle/>
          <a:p>
            <a:pPr>
              <a:defRPr/>
            </a:pPr>
            <a:fld id="{EC35E9FC-F6D5-0349-BBED-EA7D7A9BC49B}" type="slidenum">
              <a:rPr lang="en-US" smtClean="0"/>
              <a:pPr>
                <a:defRPr/>
              </a:pPr>
              <a:t>4</a:t>
            </a:fld>
            <a:endParaRPr lang="en-US"/>
          </a:p>
        </p:txBody>
      </p:sp>
    </p:spTree>
    <p:extLst>
      <p:ext uri="{BB962C8B-B14F-4D97-AF65-F5344CB8AC3E}">
        <p14:creationId xmlns:p14="http://schemas.microsoft.com/office/powerpoint/2010/main" val="8486154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48564-B93B-6DCD-86E6-25AD46960C23}"/>
              </a:ext>
            </a:extLst>
          </p:cNvPr>
          <p:cNvSpPr>
            <a:spLocks noGrp="1"/>
          </p:cNvSpPr>
          <p:nvPr>
            <p:ph type="title"/>
          </p:nvPr>
        </p:nvSpPr>
        <p:spPr/>
        <p:txBody>
          <a:bodyPr/>
          <a:lstStyle/>
          <a:p>
            <a:r>
              <a:rPr lang="en-US" dirty="0"/>
              <a:t>Coolant Salts</a:t>
            </a:r>
          </a:p>
        </p:txBody>
      </p:sp>
      <p:sp>
        <p:nvSpPr>
          <p:cNvPr id="3" name="Content Placeholder 2">
            <a:extLst>
              <a:ext uri="{FF2B5EF4-FFF2-40B4-BE49-F238E27FC236}">
                <a16:creationId xmlns:a16="http://schemas.microsoft.com/office/drawing/2014/main" id="{CCA7E875-960E-895E-1AE9-155DB4118AAD}"/>
              </a:ext>
            </a:extLst>
          </p:cNvPr>
          <p:cNvSpPr>
            <a:spLocks noGrp="1"/>
          </p:cNvSpPr>
          <p:nvPr>
            <p:ph sz="half" idx="1"/>
          </p:nvPr>
        </p:nvSpPr>
        <p:spPr>
          <a:xfrm>
            <a:off x="609599" y="1968504"/>
            <a:ext cx="10972799" cy="2574778"/>
          </a:xfrm>
        </p:spPr>
        <p:txBody>
          <a:bodyPr/>
          <a:lstStyle/>
          <a:p>
            <a:r>
              <a:rPr lang="en-US" sz="2200" dirty="0"/>
              <a:t>Coolants have the same requirements as fuel salts, but without the consideration of fission product solubility, and a higher focus on chemical compatibility and thermal properties</a:t>
            </a:r>
          </a:p>
          <a:p>
            <a:r>
              <a:rPr lang="en-US" sz="2200" dirty="0"/>
              <a:t>Some secondary systems also consider nitrate salts, such as NaNO3 and KNO3 or a mixture of the two, often referred to as solar salt; or fluoroborates such as NaF-NaBF3</a:t>
            </a:r>
          </a:p>
        </p:txBody>
      </p:sp>
      <p:sp>
        <p:nvSpPr>
          <p:cNvPr id="5" name="Slide Number Placeholder 4">
            <a:extLst>
              <a:ext uri="{FF2B5EF4-FFF2-40B4-BE49-F238E27FC236}">
                <a16:creationId xmlns:a16="http://schemas.microsoft.com/office/drawing/2014/main" id="{0813A614-16B2-A6A6-0A10-807C624C5669}"/>
              </a:ext>
            </a:extLst>
          </p:cNvPr>
          <p:cNvSpPr>
            <a:spLocks noGrp="1"/>
          </p:cNvSpPr>
          <p:nvPr>
            <p:ph type="sldNum" sz="quarter" idx="12"/>
          </p:nvPr>
        </p:nvSpPr>
        <p:spPr/>
        <p:txBody>
          <a:bodyPr/>
          <a:lstStyle/>
          <a:p>
            <a:pPr>
              <a:defRPr/>
            </a:pPr>
            <a:fld id="{EC35E9FC-F6D5-0349-BBED-EA7D7A9BC49B}" type="slidenum">
              <a:rPr lang="en-US" smtClean="0"/>
              <a:pPr>
                <a:defRPr/>
              </a:pPr>
              <a:t>5</a:t>
            </a:fld>
            <a:endParaRPr lang="en-US"/>
          </a:p>
        </p:txBody>
      </p:sp>
      <p:pic>
        <p:nvPicPr>
          <p:cNvPr id="6" name="Picture 5">
            <a:extLst>
              <a:ext uri="{FF2B5EF4-FFF2-40B4-BE49-F238E27FC236}">
                <a16:creationId xmlns:a16="http://schemas.microsoft.com/office/drawing/2014/main" id="{6717CFE5-86A7-7C4E-EB46-58D7A00B44CE}"/>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1298199" y="4140441"/>
            <a:ext cx="9595597" cy="2215911"/>
          </a:xfrm>
          <a:prstGeom prst="rect">
            <a:avLst/>
          </a:prstGeom>
        </p:spPr>
      </p:pic>
    </p:spTree>
    <p:extLst>
      <p:ext uri="{BB962C8B-B14F-4D97-AF65-F5344CB8AC3E}">
        <p14:creationId xmlns:p14="http://schemas.microsoft.com/office/powerpoint/2010/main" val="36714784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A37F8E-1E4D-6E4A-B172-D665E5D95466}"/>
              </a:ext>
            </a:extLst>
          </p:cNvPr>
          <p:cNvSpPr>
            <a:spLocks noGrp="1"/>
          </p:cNvSpPr>
          <p:nvPr>
            <p:ph type="title"/>
          </p:nvPr>
        </p:nvSpPr>
        <p:spPr/>
        <p:txBody>
          <a:bodyPr/>
          <a:lstStyle/>
          <a:p>
            <a:r>
              <a:rPr lang="en-US" dirty="0"/>
              <a:t>Fluorides or Chlorides</a:t>
            </a:r>
          </a:p>
        </p:txBody>
      </p:sp>
      <p:sp>
        <p:nvSpPr>
          <p:cNvPr id="3" name="Content Placeholder 2">
            <a:extLst>
              <a:ext uri="{FF2B5EF4-FFF2-40B4-BE49-F238E27FC236}">
                <a16:creationId xmlns:a16="http://schemas.microsoft.com/office/drawing/2014/main" id="{9AC56C41-D2A2-CD4B-BD15-E5F1A8F952F1}"/>
              </a:ext>
            </a:extLst>
          </p:cNvPr>
          <p:cNvSpPr>
            <a:spLocks noGrp="1"/>
          </p:cNvSpPr>
          <p:nvPr>
            <p:ph idx="1"/>
          </p:nvPr>
        </p:nvSpPr>
        <p:spPr>
          <a:xfrm>
            <a:off x="609600" y="1968500"/>
            <a:ext cx="10972800" cy="4157664"/>
          </a:xfrm>
        </p:spPr>
        <p:txBody>
          <a:bodyPr/>
          <a:lstStyle/>
          <a:p>
            <a:r>
              <a:rPr lang="en-US" sz="2400" dirty="0"/>
              <a:t>Fluoride fuel salts have substantially more experimental data than chloride fuel salts, primarily due to history of MSRs in the thermal spectrum</a:t>
            </a:r>
          </a:p>
          <a:p>
            <a:r>
              <a:rPr lang="en-US" sz="2400" dirty="0"/>
              <a:t>Fluorides have been operated in molten salt reactors, been tested in multiple in-pile loops, with many capsule tests</a:t>
            </a:r>
          </a:p>
          <a:p>
            <a:r>
              <a:rPr lang="en-US" sz="2400" dirty="0"/>
              <a:t>Chloride salts have a history of laboratory measurements of physical properties, but no in-core testing of fuel salts</a:t>
            </a:r>
          </a:p>
          <a:p>
            <a:pPr lvl="1"/>
            <a:r>
              <a:rPr lang="en-US" sz="2400" dirty="0"/>
              <a:t>have extensive use in pyro-processing</a:t>
            </a:r>
          </a:p>
          <a:p>
            <a:r>
              <a:rPr lang="en-US" sz="2400" dirty="0"/>
              <a:t>Chlorides typically have lower melting points, which is preferable</a:t>
            </a:r>
          </a:p>
          <a:p>
            <a:endParaRPr lang="en-US" sz="2400" dirty="0"/>
          </a:p>
          <a:p>
            <a:endParaRPr lang="en-US" sz="2400" dirty="0"/>
          </a:p>
          <a:p>
            <a:endParaRPr lang="en-US" sz="2400" dirty="0"/>
          </a:p>
        </p:txBody>
      </p:sp>
      <p:sp>
        <p:nvSpPr>
          <p:cNvPr id="4" name="Slide Number Placeholder 3">
            <a:extLst>
              <a:ext uri="{FF2B5EF4-FFF2-40B4-BE49-F238E27FC236}">
                <a16:creationId xmlns:a16="http://schemas.microsoft.com/office/drawing/2014/main" id="{9F48A182-5E6A-1548-82FE-7D9BD64DD1C0}"/>
              </a:ext>
            </a:extLst>
          </p:cNvPr>
          <p:cNvSpPr>
            <a:spLocks noGrp="1"/>
          </p:cNvSpPr>
          <p:nvPr>
            <p:ph type="sldNum" sz="quarter" idx="12"/>
          </p:nvPr>
        </p:nvSpPr>
        <p:spPr/>
        <p:txBody>
          <a:bodyPr/>
          <a:lstStyle/>
          <a:p>
            <a:pPr>
              <a:defRPr/>
            </a:pPr>
            <a:fld id="{3FF2C605-4958-CF43-AA48-80339EFDB0AF}" type="slidenum">
              <a:rPr lang="en-US" smtClean="0"/>
              <a:pPr>
                <a:defRPr/>
              </a:pPr>
              <a:t>6</a:t>
            </a:fld>
            <a:endParaRPr lang="en-US"/>
          </a:p>
        </p:txBody>
      </p:sp>
    </p:spTree>
    <p:extLst>
      <p:ext uri="{BB962C8B-B14F-4D97-AF65-F5344CB8AC3E}">
        <p14:creationId xmlns:p14="http://schemas.microsoft.com/office/powerpoint/2010/main" val="334432914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BDC57-3073-184C-84B8-3CE90BA1FD7F}"/>
              </a:ext>
            </a:extLst>
          </p:cNvPr>
          <p:cNvSpPr>
            <a:spLocks noGrp="1"/>
          </p:cNvSpPr>
          <p:nvPr>
            <p:ph type="title"/>
          </p:nvPr>
        </p:nvSpPr>
        <p:spPr/>
        <p:txBody>
          <a:bodyPr/>
          <a:lstStyle/>
          <a:p>
            <a:r>
              <a:rPr lang="en-US" dirty="0"/>
              <a:t>MSR Fuel Candidates</a:t>
            </a:r>
          </a:p>
        </p:txBody>
      </p:sp>
      <p:sp>
        <p:nvSpPr>
          <p:cNvPr id="3" name="Content Placeholder 2">
            <a:extLst>
              <a:ext uri="{FF2B5EF4-FFF2-40B4-BE49-F238E27FC236}">
                <a16:creationId xmlns:a16="http://schemas.microsoft.com/office/drawing/2014/main" id="{19A2A207-DD9D-444F-8B50-F8248AA755E2}"/>
              </a:ext>
            </a:extLst>
          </p:cNvPr>
          <p:cNvSpPr>
            <a:spLocks noGrp="1"/>
          </p:cNvSpPr>
          <p:nvPr>
            <p:ph sz="half" idx="1"/>
          </p:nvPr>
        </p:nvSpPr>
        <p:spPr>
          <a:xfrm>
            <a:off x="609599" y="1968504"/>
            <a:ext cx="10721009" cy="2205932"/>
          </a:xfrm>
        </p:spPr>
        <p:txBody>
          <a:bodyPr/>
          <a:lstStyle/>
          <a:p>
            <a:r>
              <a:rPr lang="en-US" sz="2400" dirty="0"/>
              <a:t>The fuel in the MSR must fulfill several requirements with respect to its physical and chemical properties</a:t>
            </a:r>
          </a:p>
          <a:p>
            <a:r>
              <a:rPr lang="en-US" sz="2400" dirty="0"/>
              <a:t>These include low melting point, high solubility of relevant species, low viscosity, high heat capacity, high thermal conductivity, low volatility/vapor pressure, neutron transparency</a:t>
            </a:r>
          </a:p>
          <a:p>
            <a:endParaRPr lang="en-US" sz="2400" dirty="0"/>
          </a:p>
        </p:txBody>
      </p:sp>
      <p:pic>
        <p:nvPicPr>
          <p:cNvPr id="8" name="Content Placeholder 7">
            <a:extLst>
              <a:ext uri="{FF2B5EF4-FFF2-40B4-BE49-F238E27FC236}">
                <a16:creationId xmlns:a16="http://schemas.microsoft.com/office/drawing/2014/main" id="{B29C923F-5A9D-8E4E-8D6F-5D55CEEDE9AF}"/>
              </a:ext>
            </a:extLst>
          </p:cNvPr>
          <p:cNvPicPr>
            <a:picLocks noGrp="1" noChangeAspect="1"/>
          </p:cNvPicPr>
          <p:nvPr>
            <p:ph sz="half" idx="4294967295"/>
          </p:nvPr>
        </p:nvPicPr>
        <p:blipFill rotWithShape="1">
          <a:blip r:embed="rId2" cstate="screen">
            <a:extLst>
              <a:ext uri="{28A0092B-C50C-407E-A947-70E740481C1C}">
                <a14:useLocalDpi xmlns:a14="http://schemas.microsoft.com/office/drawing/2010/main"/>
              </a:ext>
            </a:extLst>
          </a:blip>
          <a:srcRect t="51573"/>
          <a:stretch/>
        </p:blipFill>
        <p:spPr>
          <a:xfrm>
            <a:off x="2197301" y="4079260"/>
            <a:ext cx="7797398" cy="2120696"/>
          </a:xfrm>
          <a:prstGeom prst="rect">
            <a:avLst/>
          </a:prstGeom>
        </p:spPr>
      </p:pic>
      <p:sp>
        <p:nvSpPr>
          <p:cNvPr id="4" name="Slide Number Placeholder 3">
            <a:extLst>
              <a:ext uri="{FF2B5EF4-FFF2-40B4-BE49-F238E27FC236}">
                <a16:creationId xmlns:a16="http://schemas.microsoft.com/office/drawing/2014/main" id="{CB998CBE-9AC4-0044-A802-4F15F780E81F}"/>
              </a:ext>
            </a:extLst>
          </p:cNvPr>
          <p:cNvSpPr>
            <a:spLocks noGrp="1"/>
          </p:cNvSpPr>
          <p:nvPr>
            <p:ph type="sldNum" sz="quarter" idx="12"/>
          </p:nvPr>
        </p:nvSpPr>
        <p:spPr/>
        <p:txBody>
          <a:bodyPr/>
          <a:lstStyle/>
          <a:p>
            <a:pPr>
              <a:defRPr/>
            </a:pPr>
            <a:fld id="{EC35E9FC-F6D5-0349-BBED-EA7D7A9BC49B}" type="slidenum">
              <a:rPr lang="en-US" smtClean="0"/>
              <a:pPr>
                <a:defRPr/>
              </a:pPr>
              <a:t>7</a:t>
            </a:fld>
            <a:endParaRPr lang="en-US"/>
          </a:p>
        </p:txBody>
      </p:sp>
    </p:spTree>
    <p:extLst>
      <p:ext uri="{BB962C8B-B14F-4D97-AF65-F5344CB8AC3E}">
        <p14:creationId xmlns:p14="http://schemas.microsoft.com/office/powerpoint/2010/main" val="38897161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BDC57-3073-184C-84B8-3CE90BA1FD7F}"/>
              </a:ext>
            </a:extLst>
          </p:cNvPr>
          <p:cNvSpPr>
            <a:spLocks noGrp="1"/>
          </p:cNvSpPr>
          <p:nvPr>
            <p:ph type="title"/>
          </p:nvPr>
        </p:nvSpPr>
        <p:spPr/>
        <p:txBody>
          <a:bodyPr/>
          <a:lstStyle/>
          <a:p>
            <a:r>
              <a:rPr lang="en-US" dirty="0"/>
              <a:t>Neutron Economy</a:t>
            </a:r>
          </a:p>
        </p:txBody>
      </p:sp>
      <p:sp>
        <p:nvSpPr>
          <p:cNvPr id="3" name="Content Placeholder 2">
            <a:extLst>
              <a:ext uri="{FF2B5EF4-FFF2-40B4-BE49-F238E27FC236}">
                <a16:creationId xmlns:a16="http://schemas.microsoft.com/office/drawing/2014/main" id="{19A2A207-DD9D-444F-8B50-F8248AA755E2}"/>
              </a:ext>
            </a:extLst>
          </p:cNvPr>
          <p:cNvSpPr>
            <a:spLocks noGrp="1"/>
          </p:cNvSpPr>
          <p:nvPr>
            <p:ph sz="half" idx="1"/>
          </p:nvPr>
        </p:nvSpPr>
        <p:spPr>
          <a:xfrm>
            <a:off x="609599" y="1968503"/>
            <a:ext cx="5583383" cy="4157663"/>
          </a:xfrm>
        </p:spPr>
        <p:txBody>
          <a:bodyPr/>
          <a:lstStyle/>
          <a:p>
            <a:r>
              <a:rPr lang="en-US" sz="2400" dirty="0"/>
              <a:t>Thermal spectrum molten salt fuels were identified as candidates for breeding (converting fertile into fissile), specifically in the thorium fuel cycle</a:t>
            </a:r>
          </a:p>
          <a:p>
            <a:r>
              <a:rPr lang="en-US" sz="2400" dirty="0"/>
              <a:t>Li-Be-F salts were selected because of the low thermal neutron cross sections of </a:t>
            </a:r>
            <a:r>
              <a:rPr lang="en-US" sz="2400" baseline="30000" dirty="0"/>
              <a:t>7</a:t>
            </a:r>
            <a:r>
              <a:rPr lang="en-US" sz="2400" dirty="0"/>
              <a:t>Li (</a:t>
            </a:r>
            <a:r>
              <a:rPr lang="en-US" sz="2400" dirty="0" err="1">
                <a:latin typeface="Symbol" pitchFamily="2" charset="2"/>
              </a:rPr>
              <a:t>s</a:t>
            </a:r>
            <a:r>
              <a:rPr lang="en-US" sz="2400" baseline="-25000" dirty="0" err="1"/>
              <a:t>th</a:t>
            </a:r>
            <a:r>
              <a:rPr lang="en-US" sz="2400" dirty="0"/>
              <a:t> = 0.045 b) and Be (</a:t>
            </a:r>
            <a:r>
              <a:rPr lang="en-US" sz="2400" dirty="0" err="1">
                <a:latin typeface="Symbol" pitchFamily="2" charset="2"/>
              </a:rPr>
              <a:t>s</a:t>
            </a:r>
            <a:r>
              <a:rPr lang="en-US" sz="2400" baseline="-25000" dirty="0" err="1"/>
              <a:t>th</a:t>
            </a:r>
            <a:r>
              <a:rPr lang="en-US" sz="2400" dirty="0"/>
              <a:t> =0.0088 b) </a:t>
            </a:r>
          </a:p>
          <a:p>
            <a:endParaRPr lang="en-US" sz="2400" dirty="0"/>
          </a:p>
        </p:txBody>
      </p:sp>
      <p:sp>
        <p:nvSpPr>
          <p:cNvPr id="4" name="Content Placeholder 3">
            <a:extLst>
              <a:ext uri="{FF2B5EF4-FFF2-40B4-BE49-F238E27FC236}">
                <a16:creationId xmlns:a16="http://schemas.microsoft.com/office/drawing/2014/main" id="{D401AAF9-8215-DD42-A148-CD10AF4AF6A2}"/>
              </a:ext>
            </a:extLst>
          </p:cNvPr>
          <p:cNvSpPr>
            <a:spLocks noGrp="1"/>
          </p:cNvSpPr>
          <p:nvPr>
            <p:ph sz="half" idx="4294967295"/>
          </p:nvPr>
        </p:nvSpPr>
        <p:spPr>
          <a:xfrm>
            <a:off x="6197599" y="1968503"/>
            <a:ext cx="5486915" cy="4157663"/>
          </a:xfrm>
        </p:spPr>
        <p:txBody>
          <a:bodyPr/>
          <a:lstStyle/>
          <a:p>
            <a:r>
              <a:rPr lang="en-US" sz="2400" dirty="0"/>
              <a:t>Natural lithium cannot be used as part of the nuclear fuel as it contains about 7.6% of </a:t>
            </a:r>
            <a:r>
              <a:rPr lang="en-US" sz="2400" baseline="30000" dirty="0"/>
              <a:t>6</a:t>
            </a:r>
            <a:r>
              <a:rPr lang="en-US" sz="2400" dirty="0"/>
              <a:t>Li (the remaining 92.4% is </a:t>
            </a:r>
            <a:r>
              <a:rPr lang="en-US" sz="2400" baseline="30000" dirty="0"/>
              <a:t>7</a:t>
            </a:r>
            <a:r>
              <a:rPr lang="en-US" sz="2400" dirty="0"/>
              <a:t>Li), which has a very high parasitic neutron capture cross-section (</a:t>
            </a:r>
            <a:r>
              <a:rPr lang="en-US" sz="2400" dirty="0" err="1">
                <a:latin typeface="Symbol" pitchFamily="2" charset="2"/>
              </a:rPr>
              <a:t>s</a:t>
            </a:r>
            <a:r>
              <a:rPr lang="en-US" sz="2400" baseline="-25000" dirty="0" err="1"/>
              <a:t>th</a:t>
            </a:r>
            <a:r>
              <a:rPr lang="en-US" sz="2400" baseline="-25000" dirty="0"/>
              <a:t> </a:t>
            </a:r>
            <a:r>
              <a:rPr lang="en-US" sz="2400" dirty="0"/>
              <a:t>= 940 b)</a:t>
            </a:r>
          </a:p>
          <a:p>
            <a:r>
              <a:rPr lang="en-US" sz="2400" dirty="0"/>
              <a:t>Therefore, enrichment of </a:t>
            </a:r>
            <a:r>
              <a:rPr lang="en-US" sz="2400" baseline="30000" dirty="0"/>
              <a:t>7</a:t>
            </a:r>
            <a:r>
              <a:rPr lang="en-US" sz="2400" dirty="0"/>
              <a:t>Li is required before it can be used in the core</a:t>
            </a:r>
          </a:p>
          <a:p>
            <a:r>
              <a:rPr lang="en-US" sz="2400" dirty="0"/>
              <a:t>Tritium production can become a problem without enrichment</a:t>
            </a:r>
          </a:p>
        </p:txBody>
      </p:sp>
      <p:sp>
        <p:nvSpPr>
          <p:cNvPr id="5" name="Slide Number Placeholder 4">
            <a:extLst>
              <a:ext uri="{FF2B5EF4-FFF2-40B4-BE49-F238E27FC236}">
                <a16:creationId xmlns:a16="http://schemas.microsoft.com/office/drawing/2014/main" id="{44F8E09E-A7E2-1B4D-BE32-4ABA10F5F4F7}"/>
              </a:ext>
            </a:extLst>
          </p:cNvPr>
          <p:cNvSpPr>
            <a:spLocks noGrp="1"/>
          </p:cNvSpPr>
          <p:nvPr>
            <p:ph type="sldNum" sz="quarter" idx="12"/>
          </p:nvPr>
        </p:nvSpPr>
        <p:spPr/>
        <p:txBody>
          <a:bodyPr/>
          <a:lstStyle/>
          <a:p>
            <a:pPr>
              <a:defRPr/>
            </a:pPr>
            <a:fld id="{EC35E9FC-F6D5-0349-BBED-EA7D7A9BC49B}" type="slidenum">
              <a:rPr lang="en-US" smtClean="0"/>
              <a:pPr>
                <a:defRPr/>
              </a:pPr>
              <a:t>8</a:t>
            </a:fld>
            <a:endParaRPr lang="en-US"/>
          </a:p>
        </p:txBody>
      </p:sp>
    </p:spTree>
    <p:extLst>
      <p:ext uri="{BB962C8B-B14F-4D97-AF65-F5344CB8AC3E}">
        <p14:creationId xmlns:p14="http://schemas.microsoft.com/office/powerpoint/2010/main" val="28322446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BDC57-3073-184C-84B8-3CE90BA1FD7F}"/>
              </a:ext>
            </a:extLst>
          </p:cNvPr>
          <p:cNvSpPr>
            <a:spLocks noGrp="1"/>
          </p:cNvSpPr>
          <p:nvPr>
            <p:ph type="title"/>
          </p:nvPr>
        </p:nvSpPr>
        <p:spPr/>
        <p:txBody>
          <a:bodyPr/>
          <a:lstStyle/>
          <a:p>
            <a:r>
              <a:rPr lang="en-US" dirty="0"/>
              <a:t>Fast Spectrum MSRs</a:t>
            </a:r>
          </a:p>
        </p:txBody>
      </p:sp>
      <p:sp>
        <p:nvSpPr>
          <p:cNvPr id="3" name="Content Placeholder 2">
            <a:extLst>
              <a:ext uri="{FF2B5EF4-FFF2-40B4-BE49-F238E27FC236}">
                <a16:creationId xmlns:a16="http://schemas.microsoft.com/office/drawing/2014/main" id="{19A2A207-DD9D-444F-8B50-F8248AA755E2}"/>
              </a:ext>
            </a:extLst>
          </p:cNvPr>
          <p:cNvSpPr>
            <a:spLocks noGrp="1"/>
          </p:cNvSpPr>
          <p:nvPr>
            <p:ph sz="half" idx="1"/>
          </p:nvPr>
        </p:nvSpPr>
        <p:spPr>
          <a:xfrm>
            <a:off x="609600" y="1968503"/>
            <a:ext cx="5588000" cy="4157663"/>
          </a:xfrm>
        </p:spPr>
        <p:txBody>
          <a:bodyPr/>
          <a:lstStyle/>
          <a:p>
            <a:r>
              <a:rPr lang="en-US" sz="2400" dirty="0"/>
              <a:t>Current MSR designs move away from thermal graphite-moderated concepts, and favor non-moderated concepts that have a fast(</a:t>
            </a:r>
            <a:r>
              <a:rPr lang="en-US" sz="2400" dirty="0" err="1"/>
              <a:t>er</a:t>
            </a:r>
            <a:r>
              <a:rPr lang="en-US" sz="2400" dirty="0"/>
              <a:t>) neutron spectrum and can function to burn radioactive waste</a:t>
            </a:r>
          </a:p>
          <a:p>
            <a:r>
              <a:rPr lang="en-US" sz="2400" dirty="0"/>
              <a:t>Fuel selection for the non-moderated reactor concepts is more flexible, and elements other than </a:t>
            </a:r>
            <a:r>
              <a:rPr lang="en-US" sz="2400" baseline="30000" dirty="0"/>
              <a:t>7</a:t>
            </a:r>
            <a:r>
              <a:rPr lang="en-US" sz="2400" dirty="0"/>
              <a:t>Li can be considered</a:t>
            </a:r>
          </a:p>
        </p:txBody>
      </p:sp>
      <p:sp>
        <p:nvSpPr>
          <p:cNvPr id="4" name="Content Placeholder 3">
            <a:extLst>
              <a:ext uri="{FF2B5EF4-FFF2-40B4-BE49-F238E27FC236}">
                <a16:creationId xmlns:a16="http://schemas.microsoft.com/office/drawing/2014/main" id="{D401AAF9-8215-DD42-A148-CD10AF4AF6A2}"/>
              </a:ext>
            </a:extLst>
          </p:cNvPr>
          <p:cNvSpPr>
            <a:spLocks noGrp="1"/>
          </p:cNvSpPr>
          <p:nvPr>
            <p:ph sz="half" idx="4294967295"/>
          </p:nvPr>
        </p:nvSpPr>
        <p:spPr>
          <a:xfrm>
            <a:off x="6197600" y="1968503"/>
            <a:ext cx="5384800" cy="4157663"/>
          </a:xfrm>
        </p:spPr>
        <p:txBody>
          <a:bodyPr/>
          <a:lstStyle/>
          <a:p>
            <a:r>
              <a:rPr lang="en-US" sz="2400" dirty="0"/>
              <a:t>The neutron capture cross-section of the alkali halides and alkali-earth halides is generally lower in the fast spectrum than in the thermal spectrum </a:t>
            </a:r>
          </a:p>
          <a:p>
            <a:r>
              <a:rPr lang="en-US" sz="2400" dirty="0"/>
              <a:t>Compounds like </a:t>
            </a:r>
            <a:r>
              <a:rPr lang="en-US" sz="2400" dirty="0" err="1"/>
              <a:t>NaF</a:t>
            </a:r>
            <a:r>
              <a:rPr lang="en-US" sz="2400" dirty="0"/>
              <a:t>, KF, </a:t>
            </a:r>
            <a:r>
              <a:rPr lang="en-US" sz="2400" dirty="0" err="1"/>
              <a:t>RbF</a:t>
            </a:r>
            <a:r>
              <a:rPr lang="en-US" sz="2400" dirty="0"/>
              <a:t>, or CaF2 can be considered as part of the fuel matrix</a:t>
            </a:r>
          </a:p>
          <a:p>
            <a:r>
              <a:rPr lang="en-US" sz="2400" dirty="0"/>
              <a:t>There are also fast MSR concepts which are based on chloride salts</a:t>
            </a:r>
          </a:p>
          <a:p>
            <a:endParaRPr lang="en-US" sz="2400" dirty="0"/>
          </a:p>
        </p:txBody>
      </p:sp>
      <p:sp>
        <p:nvSpPr>
          <p:cNvPr id="5" name="Slide Number Placeholder 4">
            <a:extLst>
              <a:ext uri="{FF2B5EF4-FFF2-40B4-BE49-F238E27FC236}">
                <a16:creationId xmlns:a16="http://schemas.microsoft.com/office/drawing/2014/main" id="{2BADECE3-5414-AF43-893B-68796C0F6B9E}"/>
              </a:ext>
            </a:extLst>
          </p:cNvPr>
          <p:cNvSpPr>
            <a:spLocks noGrp="1"/>
          </p:cNvSpPr>
          <p:nvPr>
            <p:ph type="sldNum" sz="quarter" idx="12"/>
          </p:nvPr>
        </p:nvSpPr>
        <p:spPr/>
        <p:txBody>
          <a:bodyPr/>
          <a:lstStyle/>
          <a:p>
            <a:pPr>
              <a:defRPr/>
            </a:pPr>
            <a:fld id="{EC35E9FC-F6D5-0349-BBED-EA7D7A9BC49B}" type="slidenum">
              <a:rPr lang="en-US" smtClean="0"/>
              <a:pPr>
                <a:defRPr/>
              </a:pPr>
              <a:t>9</a:t>
            </a:fld>
            <a:endParaRPr lang="en-US"/>
          </a:p>
        </p:txBody>
      </p:sp>
    </p:spTree>
    <p:extLst>
      <p:ext uri="{BB962C8B-B14F-4D97-AF65-F5344CB8AC3E}">
        <p14:creationId xmlns:p14="http://schemas.microsoft.com/office/powerpoint/2010/main" val="12452000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BDBC00-A403-2960-3672-C1F346FAD2AF}"/>
              </a:ext>
            </a:extLst>
          </p:cNvPr>
          <p:cNvSpPr>
            <a:spLocks noGrp="1"/>
          </p:cNvSpPr>
          <p:nvPr>
            <p:ph type="title"/>
          </p:nvPr>
        </p:nvSpPr>
        <p:spPr/>
        <p:txBody>
          <a:bodyPr/>
          <a:lstStyle/>
          <a:p>
            <a:r>
              <a:rPr lang="en-US" dirty="0"/>
              <a:t>key salt properties/concepts</a:t>
            </a:r>
          </a:p>
        </p:txBody>
      </p:sp>
      <p:sp>
        <p:nvSpPr>
          <p:cNvPr id="3" name="Text Placeholder 2">
            <a:extLst>
              <a:ext uri="{FF2B5EF4-FFF2-40B4-BE49-F238E27FC236}">
                <a16:creationId xmlns:a16="http://schemas.microsoft.com/office/drawing/2014/main" id="{E1B040A0-E423-B925-7831-E112B343F561}"/>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CB1525B-6B91-36FF-E43B-1ABFDF606CE3}"/>
              </a:ext>
            </a:extLst>
          </p:cNvPr>
          <p:cNvSpPr>
            <a:spLocks noGrp="1"/>
          </p:cNvSpPr>
          <p:nvPr>
            <p:ph type="sldNum" sz="quarter" idx="12"/>
          </p:nvPr>
        </p:nvSpPr>
        <p:spPr/>
        <p:txBody>
          <a:bodyPr/>
          <a:lstStyle/>
          <a:p>
            <a:pPr>
              <a:defRPr/>
            </a:pPr>
            <a:fld id="{0DA6BD0F-ABBC-C14D-BC96-77BE126A748B}" type="slidenum">
              <a:rPr lang="en-US" smtClean="0"/>
              <a:pPr>
                <a:defRPr/>
              </a:pPr>
              <a:t>10</a:t>
            </a:fld>
            <a:endParaRPr lang="en-US"/>
          </a:p>
        </p:txBody>
      </p:sp>
    </p:spTree>
    <p:extLst>
      <p:ext uri="{BB962C8B-B14F-4D97-AF65-F5344CB8AC3E}">
        <p14:creationId xmlns:p14="http://schemas.microsoft.com/office/powerpoint/2010/main" val="33071599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BDC57-3073-184C-84B8-3CE90BA1FD7F}"/>
              </a:ext>
            </a:extLst>
          </p:cNvPr>
          <p:cNvSpPr>
            <a:spLocks noGrp="1"/>
          </p:cNvSpPr>
          <p:nvPr>
            <p:ph type="title"/>
          </p:nvPr>
        </p:nvSpPr>
        <p:spPr/>
        <p:txBody>
          <a:bodyPr/>
          <a:lstStyle/>
          <a:p>
            <a:r>
              <a:rPr lang="en-US" dirty="0"/>
              <a:t>Solubility</a:t>
            </a:r>
          </a:p>
        </p:txBody>
      </p:sp>
      <p:sp>
        <p:nvSpPr>
          <p:cNvPr id="3" name="Content Placeholder 2">
            <a:extLst>
              <a:ext uri="{FF2B5EF4-FFF2-40B4-BE49-F238E27FC236}">
                <a16:creationId xmlns:a16="http://schemas.microsoft.com/office/drawing/2014/main" id="{19A2A207-DD9D-444F-8B50-F8248AA755E2}"/>
              </a:ext>
            </a:extLst>
          </p:cNvPr>
          <p:cNvSpPr>
            <a:spLocks noGrp="1"/>
          </p:cNvSpPr>
          <p:nvPr>
            <p:ph sz="half" idx="1"/>
          </p:nvPr>
        </p:nvSpPr>
        <p:spPr>
          <a:xfrm>
            <a:off x="609599" y="1917703"/>
            <a:ext cx="7025553" cy="4157663"/>
          </a:xfrm>
        </p:spPr>
        <p:txBody>
          <a:bodyPr/>
          <a:lstStyle/>
          <a:p>
            <a:r>
              <a:rPr lang="en-US" sz="2200" dirty="0"/>
              <a:t>The solubility of ThF4 in a matrix of </a:t>
            </a:r>
            <a:r>
              <a:rPr lang="en-US" sz="2200" dirty="0" err="1"/>
              <a:t>LiF</a:t>
            </a:r>
            <a:r>
              <a:rPr lang="en-US" sz="2200" dirty="0"/>
              <a:t> can be deduced from the binary phase diagram</a:t>
            </a:r>
          </a:p>
          <a:p>
            <a:r>
              <a:rPr lang="en-US" sz="2200" dirty="0"/>
              <a:t>For example, the solubility of ThF4 in a melt of </a:t>
            </a:r>
            <a:r>
              <a:rPr lang="en-US" sz="2200" dirty="0" err="1"/>
              <a:t>LiF</a:t>
            </a:r>
            <a:r>
              <a:rPr lang="en-US" sz="2200" dirty="0"/>
              <a:t> for T~903K (inlet temperature of the MSFR) is between 20.0 and 32.3 mol%</a:t>
            </a:r>
          </a:p>
          <a:p>
            <a:r>
              <a:rPr lang="en-US" sz="2200" dirty="0"/>
              <a:t>Compositions in this range are, thus, of interest as fuel for MSRs</a:t>
            </a:r>
          </a:p>
          <a:p>
            <a:r>
              <a:rPr lang="en-US" sz="2200" dirty="0"/>
              <a:t>Similarly, eutectic composition and melting temperature are key factors that govern the utilization of specific salts</a:t>
            </a:r>
          </a:p>
          <a:p>
            <a:r>
              <a:rPr lang="en-US" sz="2200" dirty="0"/>
              <a:t>Many fission products will form some kind of salt species, with varying degrees of solubility</a:t>
            </a:r>
          </a:p>
        </p:txBody>
      </p:sp>
      <p:pic>
        <p:nvPicPr>
          <p:cNvPr id="5" name="Content Placeholder 4">
            <a:extLst>
              <a:ext uri="{FF2B5EF4-FFF2-40B4-BE49-F238E27FC236}">
                <a16:creationId xmlns:a16="http://schemas.microsoft.com/office/drawing/2014/main" id="{796F2921-BDE8-194D-877E-83633E04DF12}"/>
              </a:ext>
            </a:extLst>
          </p:cNvPr>
          <p:cNvPicPr>
            <a:picLocks noGrp="1" noChangeAspect="1"/>
          </p:cNvPicPr>
          <p:nvPr>
            <p:ph sz="half" idx="4294967295"/>
          </p:nvPr>
        </p:nvPicPr>
        <p:blipFill>
          <a:blip r:embed="rId2" cstate="screen">
            <a:extLst>
              <a:ext uri="{28A0092B-C50C-407E-A947-70E740481C1C}">
                <a14:useLocalDpi xmlns:a14="http://schemas.microsoft.com/office/drawing/2010/main"/>
              </a:ext>
            </a:extLst>
          </a:blip>
          <a:stretch>
            <a:fillRect/>
          </a:stretch>
        </p:blipFill>
        <p:spPr>
          <a:xfrm>
            <a:off x="7835130" y="1088970"/>
            <a:ext cx="3849756" cy="2686164"/>
          </a:xfrm>
          <a:prstGeom prst="rect">
            <a:avLst/>
          </a:prstGeom>
        </p:spPr>
      </p:pic>
      <p:sp>
        <p:nvSpPr>
          <p:cNvPr id="4" name="Slide Number Placeholder 3">
            <a:extLst>
              <a:ext uri="{FF2B5EF4-FFF2-40B4-BE49-F238E27FC236}">
                <a16:creationId xmlns:a16="http://schemas.microsoft.com/office/drawing/2014/main" id="{102514BD-06A2-5A47-9078-ECBAD1693474}"/>
              </a:ext>
            </a:extLst>
          </p:cNvPr>
          <p:cNvSpPr>
            <a:spLocks noGrp="1"/>
          </p:cNvSpPr>
          <p:nvPr>
            <p:ph type="sldNum" sz="quarter" idx="12"/>
          </p:nvPr>
        </p:nvSpPr>
        <p:spPr/>
        <p:txBody>
          <a:bodyPr/>
          <a:lstStyle/>
          <a:p>
            <a:pPr>
              <a:defRPr/>
            </a:pPr>
            <a:fld id="{EC35E9FC-F6D5-0349-BBED-EA7D7A9BC49B}" type="slidenum">
              <a:rPr lang="en-US" smtClean="0"/>
              <a:pPr>
                <a:defRPr/>
              </a:pPr>
              <a:t>11</a:t>
            </a:fld>
            <a:endParaRPr lang="en-US"/>
          </a:p>
        </p:txBody>
      </p:sp>
      <p:pic>
        <p:nvPicPr>
          <p:cNvPr id="6" name="Picture 5">
            <a:extLst>
              <a:ext uri="{FF2B5EF4-FFF2-40B4-BE49-F238E27FC236}">
                <a16:creationId xmlns:a16="http://schemas.microsoft.com/office/drawing/2014/main" id="{2F2ACB3F-5D78-16BE-B8E7-E2A39F66F041}"/>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7737639" y="3775134"/>
            <a:ext cx="3461552" cy="2686164"/>
          </a:xfrm>
          <a:prstGeom prst="rect">
            <a:avLst/>
          </a:prstGeom>
        </p:spPr>
      </p:pic>
    </p:spTree>
    <p:extLst>
      <p:ext uri="{BB962C8B-B14F-4D97-AF65-F5344CB8AC3E}">
        <p14:creationId xmlns:p14="http://schemas.microsoft.com/office/powerpoint/2010/main" val="224527979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BDC57-3073-184C-84B8-3CE90BA1FD7F}"/>
              </a:ext>
            </a:extLst>
          </p:cNvPr>
          <p:cNvSpPr>
            <a:spLocks noGrp="1"/>
          </p:cNvSpPr>
          <p:nvPr>
            <p:ph type="title"/>
          </p:nvPr>
        </p:nvSpPr>
        <p:spPr/>
        <p:txBody>
          <a:bodyPr/>
          <a:lstStyle/>
          <a:p>
            <a:r>
              <a:rPr lang="en-US" dirty="0"/>
              <a:t>Low Viscosity</a:t>
            </a:r>
          </a:p>
        </p:txBody>
      </p:sp>
      <p:sp>
        <p:nvSpPr>
          <p:cNvPr id="3" name="Content Placeholder 2">
            <a:extLst>
              <a:ext uri="{FF2B5EF4-FFF2-40B4-BE49-F238E27FC236}">
                <a16:creationId xmlns:a16="http://schemas.microsoft.com/office/drawing/2014/main" id="{19A2A207-DD9D-444F-8B50-F8248AA755E2}"/>
              </a:ext>
            </a:extLst>
          </p:cNvPr>
          <p:cNvSpPr>
            <a:spLocks noGrp="1"/>
          </p:cNvSpPr>
          <p:nvPr>
            <p:ph sz="half" idx="1"/>
          </p:nvPr>
        </p:nvSpPr>
        <p:spPr>
          <a:xfrm>
            <a:off x="609598" y="1805943"/>
            <a:ext cx="7550427" cy="4157663"/>
          </a:xfrm>
        </p:spPr>
        <p:txBody>
          <a:bodyPr/>
          <a:lstStyle/>
          <a:p>
            <a:r>
              <a:rPr lang="en-US" sz="2000" dirty="0"/>
              <a:t>The viscosity of a fluid is a measure of its resistance to deformation at a given rate; conceptualized as the internal frictional force that arises between adjacent layers of fluid that are in relative motion</a:t>
            </a:r>
          </a:p>
          <a:p>
            <a:r>
              <a:rPr lang="en-US" sz="2000" dirty="0"/>
              <a:t>Lower viscosity results in less force to move the fluid at a given velocity, thus less pumping power required</a:t>
            </a:r>
          </a:p>
          <a:p>
            <a:r>
              <a:rPr lang="en-US" sz="2000" dirty="0"/>
              <a:t>It is sometimes more convenient to utilize the kinematic viscosity, defined as the ratio of the dynamic viscosity </a:t>
            </a:r>
            <a:r>
              <a:rPr lang="el-GR" sz="2000" dirty="0"/>
              <a:t>μ</a:t>
            </a:r>
            <a:r>
              <a:rPr lang="en-US" sz="2000" dirty="0"/>
              <a:t> (or </a:t>
            </a:r>
            <a:r>
              <a:rPr lang="en-US" sz="2000" dirty="0">
                <a:latin typeface="Symbol" pitchFamily="2" charset="2"/>
              </a:rPr>
              <a:t>h</a:t>
            </a:r>
            <a:r>
              <a:rPr lang="en-US" sz="2000" dirty="0"/>
              <a:t>) to the density of the fluid </a:t>
            </a:r>
            <a:r>
              <a:rPr lang="el-GR" sz="2000" dirty="0"/>
              <a:t>ρ</a:t>
            </a:r>
            <a:endParaRPr lang="en-US" sz="2000" dirty="0"/>
          </a:p>
          <a:p>
            <a:r>
              <a:rPr lang="en-US" sz="2000" dirty="0"/>
              <a:t>The viscosity of fluoride systems shows significant non-ideal mixing behavior</a:t>
            </a:r>
          </a:p>
          <a:p>
            <a:r>
              <a:rPr lang="en-US" sz="2000" dirty="0"/>
              <a:t>Thus, it is not possible to accurately estimate the viscosity of the fluoride salts from its constituents, and therefore more measurements are required</a:t>
            </a:r>
          </a:p>
        </p:txBody>
      </p:sp>
      <p:pic>
        <p:nvPicPr>
          <p:cNvPr id="5" name="Content Placeholder 4">
            <a:extLst>
              <a:ext uri="{FF2B5EF4-FFF2-40B4-BE49-F238E27FC236}">
                <a16:creationId xmlns:a16="http://schemas.microsoft.com/office/drawing/2014/main" id="{F4D953CA-251F-8E4B-B2A2-F7D4A260A3E1}"/>
              </a:ext>
            </a:extLst>
          </p:cNvPr>
          <p:cNvPicPr>
            <a:picLocks noGrp="1" noChangeAspect="1"/>
          </p:cNvPicPr>
          <p:nvPr>
            <p:ph sz="half" idx="4294967295"/>
          </p:nvPr>
        </p:nvPicPr>
        <p:blipFill>
          <a:blip r:embed="rId2" cstate="screen">
            <a:extLst>
              <a:ext uri="{28A0092B-C50C-407E-A947-70E740481C1C}">
                <a14:useLocalDpi xmlns:a14="http://schemas.microsoft.com/office/drawing/2010/main"/>
              </a:ext>
            </a:extLst>
          </a:blip>
          <a:stretch>
            <a:fillRect/>
          </a:stretch>
        </p:blipFill>
        <p:spPr>
          <a:xfrm>
            <a:off x="8324821" y="825500"/>
            <a:ext cx="3340706" cy="3428363"/>
          </a:xfrm>
          <a:prstGeom prst="rect">
            <a:avLst/>
          </a:prstGeom>
        </p:spPr>
      </p:pic>
      <p:pic>
        <p:nvPicPr>
          <p:cNvPr id="6" name="Picture 5">
            <a:extLst>
              <a:ext uri="{FF2B5EF4-FFF2-40B4-BE49-F238E27FC236}">
                <a16:creationId xmlns:a16="http://schemas.microsoft.com/office/drawing/2014/main" id="{D4AD65D3-2B3C-4143-B8AD-9D671B6F13D7}"/>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324821" y="4205432"/>
            <a:ext cx="3342044" cy="2652568"/>
          </a:xfrm>
          <a:prstGeom prst="rect">
            <a:avLst/>
          </a:prstGeom>
        </p:spPr>
      </p:pic>
      <p:pic>
        <p:nvPicPr>
          <p:cNvPr id="7" name="Picture 6">
            <a:extLst>
              <a:ext uri="{FF2B5EF4-FFF2-40B4-BE49-F238E27FC236}">
                <a16:creationId xmlns:a16="http://schemas.microsoft.com/office/drawing/2014/main" id="{F8B786C0-6D8B-2D4E-A39D-1345F058EC94}"/>
              </a:ext>
            </a:extLst>
          </p:cNvPr>
          <p:cNvPicPr>
            <a:picLocks noChangeAspect="1"/>
          </p:cNvPicPr>
          <p:nvPr/>
        </p:nvPicPr>
        <p:blipFill rotWithShape="1">
          <a:blip r:embed="rId4" cstate="screen">
            <a:extLst>
              <a:ext uri="{28A0092B-C50C-407E-A947-70E740481C1C}">
                <a14:useLocalDpi xmlns:a14="http://schemas.microsoft.com/office/drawing/2010/main"/>
              </a:ext>
            </a:extLst>
          </a:blip>
          <a:srcRect/>
          <a:stretch/>
        </p:blipFill>
        <p:spPr>
          <a:xfrm>
            <a:off x="9470159" y="4570268"/>
            <a:ext cx="1406948" cy="177169"/>
          </a:xfrm>
          <a:prstGeom prst="rect">
            <a:avLst/>
          </a:prstGeom>
        </p:spPr>
      </p:pic>
      <p:pic>
        <p:nvPicPr>
          <p:cNvPr id="8" name="Picture 7">
            <a:extLst>
              <a:ext uri="{FF2B5EF4-FFF2-40B4-BE49-F238E27FC236}">
                <a16:creationId xmlns:a16="http://schemas.microsoft.com/office/drawing/2014/main" id="{3556AD50-0F32-474C-A791-5C5BF9D9AB13}"/>
              </a:ext>
            </a:extLst>
          </p:cNvPr>
          <p:cNvPicPr>
            <a:picLocks noChangeAspect="1"/>
          </p:cNvPicPr>
          <p:nvPr/>
        </p:nvPicPr>
        <p:blipFill>
          <a:blip r:embed="rId5"/>
          <a:stretch>
            <a:fillRect/>
          </a:stretch>
        </p:blipFill>
        <p:spPr>
          <a:xfrm>
            <a:off x="8949459" y="1434306"/>
            <a:ext cx="2273300" cy="228600"/>
          </a:xfrm>
          <a:prstGeom prst="rect">
            <a:avLst/>
          </a:prstGeom>
        </p:spPr>
      </p:pic>
      <p:sp>
        <p:nvSpPr>
          <p:cNvPr id="4" name="Slide Number Placeholder 3">
            <a:extLst>
              <a:ext uri="{FF2B5EF4-FFF2-40B4-BE49-F238E27FC236}">
                <a16:creationId xmlns:a16="http://schemas.microsoft.com/office/drawing/2014/main" id="{79DF976C-0188-BA46-8832-DE6525E60FFB}"/>
              </a:ext>
            </a:extLst>
          </p:cNvPr>
          <p:cNvSpPr>
            <a:spLocks noGrp="1"/>
          </p:cNvSpPr>
          <p:nvPr>
            <p:ph type="sldNum" sz="quarter" idx="12"/>
          </p:nvPr>
        </p:nvSpPr>
        <p:spPr/>
        <p:txBody>
          <a:bodyPr/>
          <a:lstStyle/>
          <a:p>
            <a:pPr>
              <a:defRPr/>
            </a:pPr>
            <a:fld id="{EC35E9FC-F6D5-0349-BBED-EA7D7A9BC49B}" type="slidenum">
              <a:rPr lang="en-US" smtClean="0"/>
              <a:pPr>
                <a:defRPr/>
              </a:pPr>
              <a:t>12</a:t>
            </a:fld>
            <a:endParaRPr lang="en-US"/>
          </a:p>
        </p:txBody>
      </p:sp>
    </p:spTree>
    <p:extLst>
      <p:ext uri="{BB962C8B-B14F-4D97-AF65-F5344CB8AC3E}">
        <p14:creationId xmlns:p14="http://schemas.microsoft.com/office/powerpoint/2010/main" val="40017261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BDC57-3073-184C-84B8-3CE90BA1FD7F}"/>
              </a:ext>
            </a:extLst>
          </p:cNvPr>
          <p:cNvSpPr>
            <a:spLocks noGrp="1"/>
          </p:cNvSpPr>
          <p:nvPr>
            <p:ph type="title"/>
          </p:nvPr>
        </p:nvSpPr>
        <p:spPr/>
        <p:txBody>
          <a:bodyPr/>
          <a:lstStyle/>
          <a:p>
            <a:r>
              <a:rPr lang="en-US" dirty="0"/>
              <a:t>Heat Capacity and Thermal Conductivity</a:t>
            </a:r>
          </a:p>
        </p:txBody>
      </p:sp>
      <p:sp>
        <p:nvSpPr>
          <p:cNvPr id="3" name="Content Placeholder 2">
            <a:extLst>
              <a:ext uri="{FF2B5EF4-FFF2-40B4-BE49-F238E27FC236}">
                <a16:creationId xmlns:a16="http://schemas.microsoft.com/office/drawing/2014/main" id="{19A2A207-DD9D-444F-8B50-F8248AA755E2}"/>
              </a:ext>
            </a:extLst>
          </p:cNvPr>
          <p:cNvSpPr>
            <a:spLocks noGrp="1"/>
          </p:cNvSpPr>
          <p:nvPr>
            <p:ph sz="half" idx="1"/>
          </p:nvPr>
        </p:nvSpPr>
        <p:spPr>
          <a:xfrm>
            <a:off x="609598" y="1639957"/>
            <a:ext cx="5486401" cy="4486209"/>
          </a:xfrm>
        </p:spPr>
        <p:txBody>
          <a:bodyPr/>
          <a:lstStyle/>
          <a:p>
            <a:r>
              <a:rPr lang="en-US" sz="2200" dirty="0"/>
              <a:t>Heat Capacity is defined as the amount of heat to be supplied to an object to produce a unit change in its temperature</a:t>
            </a:r>
          </a:p>
          <a:p>
            <a:r>
              <a:rPr lang="en-US" sz="2200" dirty="0"/>
              <a:t>High heat capacity enables a small amount of the refrigerant to transfer a large amount of heat very efficiently</a:t>
            </a:r>
          </a:p>
          <a:p>
            <a:r>
              <a:rPr lang="en-US" sz="2200" dirty="0"/>
              <a:t>The thermal conductivity of a material is a measure of its ability to conduct heat</a:t>
            </a:r>
          </a:p>
          <a:p>
            <a:r>
              <a:rPr lang="en-US" sz="2200" dirty="0"/>
              <a:t>High thermal conductivity and thermal diffusivity will increase the rate of heat transfer through the fluid</a:t>
            </a:r>
          </a:p>
          <a:p>
            <a:endParaRPr lang="en-US" sz="2200" dirty="0"/>
          </a:p>
        </p:txBody>
      </p:sp>
      <p:sp>
        <p:nvSpPr>
          <p:cNvPr id="4" name="Content Placeholder 3">
            <a:extLst>
              <a:ext uri="{FF2B5EF4-FFF2-40B4-BE49-F238E27FC236}">
                <a16:creationId xmlns:a16="http://schemas.microsoft.com/office/drawing/2014/main" id="{D401AAF9-8215-DD42-A148-CD10AF4AF6A2}"/>
              </a:ext>
            </a:extLst>
          </p:cNvPr>
          <p:cNvSpPr>
            <a:spLocks noGrp="1"/>
          </p:cNvSpPr>
          <p:nvPr>
            <p:ph sz="half" idx="4294967295"/>
          </p:nvPr>
        </p:nvSpPr>
        <p:spPr>
          <a:xfrm>
            <a:off x="5931762" y="1639957"/>
            <a:ext cx="5650637" cy="4486209"/>
          </a:xfrm>
        </p:spPr>
        <p:txBody>
          <a:bodyPr/>
          <a:lstStyle/>
          <a:p>
            <a:r>
              <a:rPr lang="en-US" sz="2200" dirty="0"/>
              <a:t>While salts have good heat capacity, data on experimental heat capacity and thermal conductivity of molten fluoride systems containing actinide fluorides are generally lacking</a:t>
            </a:r>
          </a:p>
          <a:p>
            <a:endParaRPr lang="en-US" sz="2200" dirty="0"/>
          </a:p>
        </p:txBody>
      </p:sp>
      <p:pic>
        <p:nvPicPr>
          <p:cNvPr id="5" name="Picture 4">
            <a:extLst>
              <a:ext uri="{FF2B5EF4-FFF2-40B4-BE49-F238E27FC236}">
                <a16:creationId xmlns:a16="http://schemas.microsoft.com/office/drawing/2014/main" id="{CD4B2C85-2BBB-644E-8D15-7356106BD689}"/>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033514" y="3637419"/>
            <a:ext cx="3802927" cy="2912881"/>
          </a:xfrm>
          <a:prstGeom prst="rect">
            <a:avLst/>
          </a:prstGeom>
        </p:spPr>
      </p:pic>
      <p:pic>
        <p:nvPicPr>
          <p:cNvPr id="6" name="Picture 5">
            <a:extLst>
              <a:ext uri="{FF2B5EF4-FFF2-40B4-BE49-F238E27FC236}">
                <a16:creationId xmlns:a16="http://schemas.microsoft.com/office/drawing/2014/main" id="{7E79E0D1-1799-ED46-895B-1FDB765D0984}"/>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6782828" y="3925886"/>
            <a:ext cx="2734841" cy="178697"/>
          </a:xfrm>
          <a:prstGeom prst="rect">
            <a:avLst/>
          </a:prstGeom>
        </p:spPr>
      </p:pic>
      <p:sp>
        <p:nvSpPr>
          <p:cNvPr id="7" name="Slide Number Placeholder 6">
            <a:extLst>
              <a:ext uri="{FF2B5EF4-FFF2-40B4-BE49-F238E27FC236}">
                <a16:creationId xmlns:a16="http://schemas.microsoft.com/office/drawing/2014/main" id="{1B11E85F-AB02-6347-9F63-D2D76CC225C1}"/>
              </a:ext>
            </a:extLst>
          </p:cNvPr>
          <p:cNvSpPr>
            <a:spLocks noGrp="1"/>
          </p:cNvSpPr>
          <p:nvPr>
            <p:ph type="sldNum" sz="quarter" idx="12"/>
          </p:nvPr>
        </p:nvSpPr>
        <p:spPr/>
        <p:txBody>
          <a:bodyPr/>
          <a:lstStyle/>
          <a:p>
            <a:pPr>
              <a:defRPr/>
            </a:pPr>
            <a:fld id="{EC35E9FC-F6D5-0349-BBED-EA7D7A9BC49B}" type="slidenum">
              <a:rPr lang="en-US" smtClean="0"/>
              <a:pPr>
                <a:defRPr/>
              </a:pPr>
              <a:t>13</a:t>
            </a:fld>
            <a:endParaRPr lang="en-US"/>
          </a:p>
        </p:txBody>
      </p:sp>
      <p:pic>
        <p:nvPicPr>
          <p:cNvPr id="8" name="Picture 7">
            <a:extLst>
              <a:ext uri="{FF2B5EF4-FFF2-40B4-BE49-F238E27FC236}">
                <a16:creationId xmlns:a16="http://schemas.microsoft.com/office/drawing/2014/main" id="{69BD10B2-4141-AEB9-1902-49A2B20AB350}"/>
              </a:ext>
            </a:extLst>
          </p:cNvPr>
          <p:cNvPicPr>
            <a:picLocks noChangeAspect="1"/>
          </p:cNvPicPr>
          <p:nvPr/>
        </p:nvPicPr>
        <p:blipFill>
          <a:blip r:embed="rId4"/>
          <a:stretch>
            <a:fillRect/>
          </a:stretch>
        </p:blipFill>
        <p:spPr>
          <a:xfrm>
            <a:off x="10160000" y="3706775"/>
            <a:ext cx="1384300" cy="800100"/>
          </a:xfrm>
          <a:prstGeom prst="rect">
            <a:avLst/>
          </a:prstGeom>
        </p:spPr>
      </p:pic>
      <p:pic>
        <p:nvPicPr>
          <p:cNvPr id="9" name="Picture 8">
            <a:extLst>
              <a:ext uri="{FF2B5EF4-FFF2-40B4-BE49-F238E27FC236}">
                <a16:creationId xmlns:a16="http://schemas.microsoft.com/office/drawing/2014/main" id="{105AC4E8-BB61-8611-D8E3-5EC9B1760DB3}"/>
              </a:ext>
            </a:extLst>
          </p:cNvPr>
          <p:cNvPicPr>
            <a:picLocks noChangeAspect="1"/>
          </p:cNvPicPr>
          <p:nvPr/>
        </p:nvPicPr>
        <p:blipFill>
          <a:blip r:embed="rId5"/>
          <a:stretch>
            <a:fillRect/>
          </a:stretch>
        </p:blipFill>
        <p:spPr>
          <a:xfrm>
            <a:off x="9810890" y="4685141"/>
            <a:ext cx="2082520" cy="408719"/>
          </a:xfrm>
          <a:prstGeom prst="rect">
            <a:avLst/>
          </a:prstGeom>
        </p:spPr>
      </p:pic>
    </p:spTree>
    <p:extLst>
      <p:ext uri="{BB962C8B-B14F-4D97-AF65-F5344CB8AC3E}">
        <p14:creationId xmlns:p14="http://schemas.microsoft.com/office/powerpoint/2010/main" val="4399094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A71B1-525A-124D-B5AB-07F29AE751F8}"/>
              </a:ext>
            </a:extLst>
          </p:cNvPr>
          <p:cNvSpPr>
            <a:spLocks noGrp="1"/>
          </p:cNvSpPr>
          <p:nvPr>
            <p:ph type="title"/>
          </p:nvPr>
        </p:nvSpPr>
        <p:spPr/>
        <p:txBody>
          <a:bodyPr/>
          <a:lstStyle/>
          <a:p>
            <a:r>
              <a:rPr lang="en-US" dirty="0"/>
              <a:t>Heat Transfer</a:t>
            </a:r>
          </a:p>
        </p:txBody>
      </p:sp>
      <p:sp>
        <p:nvSpPr>
          <p:cNvPr id="3" name="Content Placeholder 2">
            <a:extLst>
              <a:ext uri="{FF2B5EF4-FFF2-40B4-BE49-F238E27FC236}">
                <a16:creationId xmlns:a16="http://schemas.microsoft.com/office/drawing/2014/main" id="{A985FFD0-7347-B44E-B2E6-75B5589528D9}"/>
              </a:ext>
            </a:extLst>
          </p:cNvPr>
          <p:cNvSpPr>
            <a:spLocks noGrp="1"/>
          </p:cNvSpPr>
          <p:nvPr>
            <p:ph sz="half" idx="1"/>
          </p:nvPr>
        </p:nvSpPr>
        <p:spPr>
          <a:xfrm>
            <a:off x="609599" y="1968503"/>
            <a:ext cx="5943601" cy="4157663"/>
          </a:xfrm>
        </p:spPr>
        <p:txBody>
          <a:bodyPr/>
          <a:lstStyle/>
          <a:p>
            <a:r>
              <a:rPr lang="en-US" sz="2200" dirty="0"/>
              <a:t>Large heat capacity and low viscosity are key properties allowing good heat transfer in molten salts</a:t>
            </a:r>
          </a:p>
          <a:p>
            <a:r>
              <a:rPr lang="en-US" sz="2200" dirty="0"/>
              <a:t>In both forced flow and passive cooling conditions, molten salts outperform liquid metals in turbulent flow for heat transfer</a:t>
            </a:r>
          </a:p>
          <a:p>
            <a:r>
              <a:rPr lang="en-US" sz="2200" dirty="0"/>
              <a:t>Figures on the right indicate relative pumping power for cooling</a:t>
            </a:r>
          </a:p>
          <a:p>
            <a:r>
              <a:rPr lang="en-US" sz="2200" dirty="0"/>
              <a:t>However, experimental data for heat transfer is still significantly scattered for the range of relevant MSR conditions</a:t>
            </a:r>
          </a:p>
          <a:p>
            <a:endParaRPr lang="en-US" sz="2200" dirty="0"/>
          </a:p>
        </p:txBody>
      </p:sp>
      <p:pic>
        <p:nvPicPr>
          <p:cNvPr id="5" name="Content Placeholder 4">
            <a:extLst>
              <a:ext uri="{FF2B5EF4-FFF2-40B4-BE49-F238E27FC236}">
                <a16:creationId xmlns:a16="http://schemas.microsoft.com/office/drawing/2014/main" id="{20A625DE-3721-8444-A868-03AFC61D7006}"/>
              </a:ext>
            </a:extLst>
          </p:cNvPr>
          <p:cNvPicPr>
            <a:picLocks noGrp="1" noChangeAspect="1"/>
          </p:cNvPicPr>
          <p:nvPr>
            <p:ph sz="half" idx="4294967295"/>
          </p:nvPr>
        </p:nvPicPr>
        <p:blipFill>
          <a:blip r:embed="rId2" cstate="screen">
            <a:extLst>
              <a:ext uri="{28A0092B-C50C-407E-A947-70E740481C1C}">
                <a14:useLocalDpi xmlns:a14="http://schemas.microsoft.com/office/drawing/2010/main"/>
              </a:ext>
            </a:extLst>
          </a:blip>
          <a:stretch>
            <a:fillRect/>
          </a:stretch>
        </p:blipFill>
        <p:spPr>
          <a:xfrm>
            <a:off x="7143898" y="1641306"/>
            <a:ext cx="4290090" cy="2493746"/>
          </a:xfrm>
          <a:prstGeom prst="rect">
            <a:avLst/>
          </a:prstGeom>
        </p:spPr>
      </p:pic>
      <p:pic>
        <p:nvPicPr>
          <p:cNvPr id="6" name="Picture 5">
            <a:extLst>
              <a:ext uri="{FF2B5EF4-FFF2-40B4-BE49-F238E27FC236}">
                <a16:creationId xmlns:a16="http://schemas.microsoft.com/office/drawing/2014/main" id="{7DE1B477-D1F1-694A-9536-96E630E349AE}"/>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7143898" y="4205370"/>
            <a:ext cx="4286102" cy="2333544"/>
          </a:xfrm>
          <a:prstGeom prst="rect">
            <a:avLst/>
          </a:prstGeom>
        </p:spPr>
      </p:pic>
      <p:sp>
        <p:nvSpPr>
          <p:cNvPr id="4" name="Slide Number Placeholder 3">
            <a:extLst>
              <a:ext uri="{FF2B5EF4-FFF2-40B4-BE49-F238E27FC236}">
                <a16:creationId xmlns:a16="http://schemas.microsoft.com/office/drawing/2014/main" id="{3BCBD3DF-6F2F-554D-A698-B78A50E65015}"/>
              </a:ext>
            </a:extLst>
          </p:cNvPr>
          <p:cNvSpPr>
            <a:spLocks noGrp="1"/>
          </p:cNvSpPr>
          <p:nvPr>
            <p:ph type="sldNum" sz="quarter" idx="12"/>
          </p:nvPr>
        </p:nvSpPr>
        <p:spPr/>
        <p:txBody>
          <a:bodyPr/>
          <a:lstStyle/>
          <a:p>
            <a:pPr>
              <a:defRPr/>
            </a:pPr>
            <a:fld id="{EC35E9FC-F6D5-0349-BBED-EA7D7A9BC49B}" type="slidenum">
              <a:rPr lang="en-US" smtClean="0"/>
              <a:pPr>
                <a:defRPr/>
              </a:pPr>
              <a:t>14</a:t>
            </a:fld>
            <a:endParaRPr lang="en-US"/>
          </a:p>
        </p:txBody>
      </p:sp>
    </p:spTree>
    <p:extLst>
      <p:ext uri="{BB962C8B-B14F-4D97-AF65-F5344CB8AC3E}">
        <p14:creationId xmlns:p14="http://schemas.microsoft.com/office/powerpoint/2010/main" val="412240122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BDC57-3073-184C-84B8-3CE90BA1FD7F}"/>
              </a:ext>
            </a:extLst>
          </p:cNvPr>
          <p:cNvSpPr>
            <a:spLocks noGrp="1"/>
          </p:cNvSpPr>
          <p:nvPr>
            <p:ph type="title"/>
          </p:nvPr>
        </p:nvSpPr>
        <p:spPr/>
        <p:txBody>
          <a:bodyPr/>
          <a:lstStyle/>
          <a:p>
            <a:r>
              <a:rPr lang="en-US" dirty="0"/>
              <a:t>Vapor Pressure (Volatility)</a:t>
            </a:r>
          </a:p>
        </p:txBody>
      </p:sp>
      <p:sp>
        <p:nvSpPr>
          <p:cNvPr id="3" name="Content Placeholder 2">
            <a:extLst>
              <a:ext uri="{FF2B5EF4-FFF2-40B4-BE49-F238E27FC236}">
                <a16:creationId xmlns:a16="http://schemas.microsoft.com/office/drawing/2014/main" id="{19A2A207-DD9D-444F-8B50-F8248AA755E2}"/>
              </a:ext>
            </a:extLst>
          </p:cNvPr>
          <p:cNvSpPr>
            <a:spLocks noGrp="1"/>
          </p:cNvSpPr>
          <p:nvPr>
            <p:ph sz="half" idx="1"/>
          </p:nvPr>
        </p:nvSpPr>
        <p:spPr>
          <a:xfrm>
            <a:off x="609600" y="1917703"/>
            <a:ext cx="5943600" cy="4157663"/>
          </a:xfrm>
        </p:spPr>
        <p:txBody>
          <a:bodyPr/>
          <a:lstStyle/>
          <a:p>
            <a:r>
              <a:rPr lang="en-US" sz="2200" dirty="0"/>
              <a:t>Volatility is a material quality which describes how readily a substance vaporizes</a:t>
            </a:r>
          </a:p>
          <a:p>
            <a:r>
              <a:rPr lang="en-US" sz="2200" dirty="0"/>
              <a:t>A substance with high volatility is more likely to exist as a vapor, while a substance with low volatility is more likely to be a liquid or solid</a:t>
            </a:r>
          </a:p>
          <a:p>
            <a:r>
              <a:rPr lang="en-US" sz="2200" dirty="0"/>
              <a:t>Vapor pressure is a measurement of how readily a condensed phase forms a vapor at a given temperature</a:t>
            </a:r>
          </a:p>
          <a:p>
            <a:r>
              <a:rPr lang="en-US" sz="2200" dirty="0"/>
              <a:t>High vapor pressures indicate a high volatility, while high boiling points usually indicate low volatility</a:t>
            </a:r>
          </a:p>
          <a:p>
            <a:endParaRPr lang="en-US" sz="2200" dirty="0"/>
          </a:p>
          <a:p>
            <a:endParaRPr lang="en-US" sz="2200" dirty="0"/>
          </a:p>
          <a:p>
            <a:endParaRPr lang="en-US" sz="2200" dirty="0"/>
          </a:p>
        </p:txBody>
      </p:sp>
      <p:sp>
        <p:nvSpPr>
          <p:cNvPr id="4" name="Content Placeholder 3">
            <a:extLst>
              <a:ext uri="{FF2B5EF4-FFF2-40B4-BE49-F238E27FC236}">
                <a16:creationId xmlns:a16="http://schemas.microsoft.com/office/drawing/2014/main" id="{D401AAF9-8215-DD42-A148-CD10AF4AF6A2}"/>
              </a:ext>
            </a:extLst>
          </p:cNvPr>
          <p:cNvSpPr>
            <a:spLocks noGrp="1"/>
          </p:cNvSpPr>
          <p:nvPr>
            <p:ph sz="half" idx="4294967295"/>
          </p:nvPr>
        </p:nvSpPr>
        <p:spPr>
          <a:xfrm>
            <a:off x="6360160" y="1968503"/>
            <a:ext cx="5561764" cy="4157663"/>
          </a:xfrm>
        </p:spPr>
        <p:txBody>
          <a:bodyPr/>
          <a:lstStyle/>
          <a:p>
            <a:r>
              <a:rPr lang="en-US" sz="2200" dirty="0"/>
              <a:t>Salts should have high boiling and low freezing points, in addition to a low vapor pressure (low volatility)</a:t>
            </a:r>
          </a:p>
          <a:p>
            <a:endParaRPr lang="en-US" sz="2200" dirty="0"/>
          </a:p>
        </p:txBody>
      </p:sp>
      <p:pic>
        <p:nvPicPr>
          <p:cNvPr id="5" name="Picture 4">
            <a:extLst>
              <a:ext uri="{FF2B5EF4-FFF2-40B4-BE49-F238E27FC236}">
                <a16:creationId xmlns:a16="http://schemas.microsoft.com/office/drawing/2014/main" id="{BD92925E-D547-3943-B745-838B3E0CD33F}"/>
              </a:ext>
            </a:extLst>
          </p:cNvPr>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7251357" y="3231405"/>
            <a:ext cx="4066883" cy="2945561"/>
          </a:xfrm>
          <a:prstGeom prst="rect">
            <a:avLst/>
          </a:prstGeom>
        </p:spPr>
      </p:pic>
      <p:sp>
        <p:nvSpPr>
          <p:cNvPr id="6" name="Slide Number Placeholder 5">
            <a:extLst>
              <a:ext uri="{FF2B5EF4-FFF2-40B4-BE49-F238E27FC236}">
                <a16:creationId xmlns:a16="http://schemas.microsoft.com/office/drawing/2014/main" id="{DBE4EF2A-A18C-9041-B72C-B2205BBD975C}"/>
              </a:ext>
            </a:extLst>
          </p:cNvPr>
          <p:cNvSpPr>
            <a:spLocks noGrp="1"/>
          </p:cNvSpPr>
          <p:nvPr>
            <p:ph type="sldNum" sz="quarter" idx="12"/>
          </p:nvPr>
        </p:nvSpPr>
        <p:spPr/>
        <p:txBody>
          <a:bodyPr/>
          <a:lstStyle/>
          <a:p>
            <a:pPr>
              <a:defRPr/>
            </a:pPr>
            <a:fld id="{EC35E9FC-F6D5-0349-BBED-EA7D7A9BC49B}" type="slidenum">
              <a:rPr lang="en-US" smtClean="0"/>
              <a:pPr>
                <a:defRPr/>
              </a:pPr>
              <a:t>15</a:t>
            </a:fld>
            <a:endParaRPr lang="en-US" dirty="0"/>
          </a:p>
        </p:txBody>
      </p:sp>
      <p:sp>
        <p:nvSpPr>
          <p:cNvPr id="7" name="TextBox 6">
            <a:extLst>
              <a:ext uri="{FF2B5EF4-FFF2-40B4-BE49-F238E27FC236}">
                <a16:creationId xmlns:a16="http://schemas.microsoft.com/office/drawing/2014/main" id="{A9E2DFF8-CC4A-C115-F82E-CE6B3EC765BB}"/>
              </a:ext>
            </a:extLst>
          </p:cNvPr>
          <p:cNvSpPr txBox="1"/>
          <p:nvPr/>
        </p:nvSpPr>
        <p:spPr>
          <a:xfrm>
            <a:off x="8056880" y="3728720"/>
            <a:ext cx="1084162" cy="276999"/>
          </a:xfrm>
          <a:prstGeom prst="rect">
            <a:avLst/>
          </a:prstGeom>
          <a:noFill/>
        </p:spPr>
        <p:txBody>
          <a:bodyPr wrap="square" rtlCol="0">
            <a:spAutoFit/>
          </a:bodyPr>
          <a:lstStyle/>
          <a:p>
            <a:r>
              <a:rPr lang="en-US" sz="1200" dirty="0"/>
              <a:t>LiF-NaF-BeF2</a:t>
            </a:r>
          </a:p>
        </p:txBody>
      </p:sp>
    </p:spTree>
    <p:extLst>
      <p:ext uri="{BB962C8B-B14F-4D97-AF65-F5344CB8AC3E}">
        <p14:creationId xmlns:p14="http://schemas.microsoft.com/office/powerpoint/2010/main" val="6302282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BDC57-3073-184C-84B8-3CE90BA1FD7F}"/>
              </a:ext>
            </a:extLst>
          </p:cNvPr>
          <p:cNvSpPr>
            <a:spLocks noGrp="1"/>
          </p:cNvSpPr>
          <p:nvPr>
            <p:ph type="title"/>
          </p:nvPr>
        </p:nvSpPr>
        <p:spPr/>
        <p:txBody>
          <a:bodyPr/>
          <a:lstStyle/>
          <a:p>
            <a:r>
              <a:rPr lang="en-US" dirty="0"/>
              <a:t>Chemical Compatibility</a:t>
            </a:r>
          </a:p>
        </p:txBody>
      </p:sp>
      <p:sp>
        <p:nvSpPr>
          <p:cNvPr id="3" name="Content Placeholder 2">
            <a:extLst>
              <a:ext uri="{FF2B5EF4-FFF2-40B4-BE49-F238E27FC236}">
                <a16:creationId xmlns:a16="http://schemas.microsoft.com/office/drawing/2014/main" id="{19A2A207-DD9D-444F-8B50-F8248AA755E2}"/>
              </a:ext>
            </a:extLst>
          </p:cNvPr>
          <p:cNvSpPr>
            <a:spLocks noGrp="1"/>
          </p:cNvSpPr>
          <p:nvPr>
            <p:ph sz="half" idx="1"/>
          </p:nvPr>
        </p:nvSpPr>
        <p:spPr>
          <a:xfrm>
            <a:off x="609600" y="1968503"/>
            <a:ext cx="5588000" cy="4157663"/>
          </a:xfrm>
        </p:spPr>
        <p:txBody>
          <a:bodyPr/>
          <a:lstStyle/>
          <a:p>
            <a:r>
              <a:rPr lang="en-US" sz="2200" dirty="0"/>
              <a:t>For any high-temperature application, corrosion of the metallic container alloy is a primary concern</a:t>
            </a:r>
          </a:p>
          <a:p>
            <a:r>
              <a:rPr lang="en-US" sz="2200" dirty="0"/>
              <a:t>The products of oxidation of metals by molten salts tend to be completely soluble in the corroding media</a:t>
            </a:r>
          </a:p>
          <a:p>
            <a:r>
              <a:rPr lang="en-US" sz="2200" dirty="0"/>
              <a:t>Due to this solubility, passivation is precluded, and the corrosion rate depends on other factors, including oxidants, thermal gradients, salt flow rate, and galvanic coupling</a:t>
            </a:r>
          </a:p>
          <a:p>
            <a:endParaRPr lang="en-US" sz="2200" dirty="0"/>
          </a:p>
        </p:txBody>
      </p:sp>
      <p:sp>
        <p:nvSpPr>
          <p:cNvPr id="4" name="Content Placeholder 3">
            <a:extLst>
              <a:ext uri="{FF2B5EF4-FFF2-40B4-BE49-F238E27FC236}">
                <a16:creationId xmlns:a16="http://schemas.microsoft.com/office/drawing/2014/main" id="{D401AAF9-8215-DD42-A148-CD10AF4AF6A2}"/>
              </a:ext>
            </a:extLst>
          </p:cNvPr>
          <p:cNvSpPr>
            <a:spLocks noGrp="1"/>
          </p:cNvSpPr>
          <p:nvPr>
            <p:ph sz="half" idx="4294967295"/>
          </p:nvPr>
        </p:nvSpPr>
        <p:spPr>
          <a:xfrm>
            <a:off x="6197600" y="1968503"/>
            <a:ext cx="5620152" cy="4157663"/>
          </a:xfrm>
        </p:spPr>
        <p:txBody>
          <a:bodyPr/>
          <a:lstStyle/>
          <a:p>
            <a:r>
              <a:rPr lang="en-US" sz="2200" dirty="0"/>
              <a:t>Examination of the free energies of formation for typical alloy components shows that chromium is the most active metal component</a:t>
            </a:r>
          </a:p>
          <a:p>
            <a:r>
              <a:rPr lang="en-US" sz="2200" dirty="0"/>
              <a:t>Thus, any oxidative attachment to these alloys should be expected to show selective attack on the chromium</a:t>
            </a:r>
          </a:p>
          <a:p>
            <a:r>
              <a:rPr lang="en-US" sz="2200" dirty="0"/>
              <a:t>Stainless steels, having more chromium than Ni-based alloys, are more susceptible to corrosion by fluoride melts</a:t>
            </a:r>
          </a:p>
          <a:p>
            <a:endParaRPr lang="en-US" sz="2200" dirty="0"/>
          </a:p>
        </p:txBody>
      </p:sp>
      <p:sp>
        <p:nvSpPr>
          <p:cNvPr id="5" name="Slide Number Placeholder 4">
            <a:extLst>
              <a:ext uri="{FF2B5EF4-FFF2-40B4-BE49-F238E27FC236}">
                <a16:creationId xmlns:a16="http://schemas.microsoft.com/office/drawing/2014/main" id="{6C71B474-6ECF-B04F-9B08-D5D5509C2162}"/>
              </a:ext>
            </a:extLst>
          </p:cNvPr>
          <p:cNvSpPr>
            <a:spLocks noGrp="1"/>
          </p:cNvSpPr>
          <p:nvPr>
            <p:ph type="sldNum" sz="quarter" idx="12"/>
          </p:nvPr>
        </p:nvSpPr>
        <p:spPr/>
        <p:txBody>
          <a:bodyPr/>
          <a:lstStyle/>
          <a:p>
            <a:pPr>
              <a:defRPr/>
            </a:pPr>
            <a:fld id="{EC35E9FC-F6D5-0349-BBED-EA7D7A9BC49B}" type="slidenum">
              <a:rPr lang="en-US" smtClean="0"/>
              <a:pPr>
                <a:defRPr/>
              </a:pPr>
              <a:t>16</a:t>
            </a:fld>
            <a:endParaRPr lang="en-US"/>
          </a:p>
        </p:txBody>
      </p:sp>
    </p:spTree>
    <p:extLst>
      <p:ext uri="{BB962C8B-B14F-4D97-AF65-F5344CB8AC3E}">
        <p14:creationId xmlns:p14="http://schemas.microsoft.com/office/powerpoint/2010/main" val="8773110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BDC57-3073-184C-84B8-3CE90BA1FD7F}"/>
              </a:ext>
            </a:extLst>
          </p:cNvPr>
          <p:cNvSpPr>
            <a:spLocks noGrp="1"/>
          </p:cNvSpPr>
          <p:nvPr>
            <p:ph type="title"/>
          </p:nvPr>
        </p:nvSpPr>
        <p:spPr/>
        <p:txBody>
          <a:bodyPr/>
          <a:lstStyle/>
          <a:p>
            <a:r>
              <a:rPr lang="en-US" dirty="0"/>
              <a:t>Role of Oxygen Impurities</a:t>
            </a:r>
          </a:p>
        </p:txBody>
      </p:sp>
      <p:sp>
        <p:nvSpPr>
          <p:cNvPr id="3" name="Content Placeholder 2">
            <a:extLst>
              <a:ext uri="{FF2B5EF4-FFF2-40B4-BE49-F238E27FC236}">
                <a16:creationId xmlns:a16="http://schemas.microsoft.com/office/drawing/2014/main" id="{19A2A207-DD9D-444F-8B50-F8248AA755E2}"/>
              </a:ext>
            </a:extLst>
          </p:cNvPr>
          <p:cNvSpPr>
            <a:spLocks noGrp="1"/>
          </p:cNvSpPr>
          <p:nvPr>
            <p:ph sz="half" idx="1"/>
          </p:nvPr>
        </p:nvSpPr>
        <p:spPr>
          <a:xfrm>
            <a:off x="609599" y="1968503"/>
            <a:ext cx="6252288" cy="4157663"/>
          </a:xfrm>
        </p:spPr>
        <p:txBody>
          <a:bodyPr/>
          <a:lstStyle/>
          <a:p>
            <a:r>
              <a:rPr lang="en-US" sz="2200" dirty="0"/>
              <a:t>The behavior of these systems can be significantly affected by the presence of the oxygen that might be resulting from contamination of the salt system</a:t>
            </a:r>
          </a:p>
          <a:p>
            <a:r>
              <a:rPr lang="en-US" sz="2200" dirty="0"/>
              <a:t>Actinide oxides, such as UO2, can precipitate out for oxygen concentrations as low as 1E-4 </a:t>
            </a:r>
          </a:p>
          <a:p>
            <a:r>
              <a:rPr lang="en-US" sz="2200" dirty="0"/>
              <a:t>Metal oxides have much higher melting points and therefore appear as insoluble components at operating temperatures</a:t>
            </a:r>
          </a:p>
          <a:p>
            <a:r>
              <a:rPr lang="en-US" sz="2200" dirty="0"/>
              <a:t>Oxygen also plays a key role in corrosion processes</a:t>
            </a:r>
          </a:p>
          <a:p>
            <a:endParaRPr lang="en-US" sz="2200" dirty="0"/>
          </a:p>
        </p:txBody>
      </p:sp>
      <p:sp>
        <p:nvSpPr>
          <p:cNvPr id="4" name="Content Placeholder 3">
            <a:extLst>
              <a:ext uri="{FF2B5EF4-FFF2-40B4-BE49-F238E27FC236}">
                <a16:creationId xmlns:a16="http://schemas.microsoft.com/office/drawing/2014/main" id="{D401AAF9-8215-DD42-A148-CD10AF4AF6A2}"/>
              </a:ext>
            </a:extLst>
          </p:cNvPr>
          <p:cNvSpPr>
            <a:spLocks noGrp="1"/>
          </p:cNvSpPr>
          <p:nvPr>
            <p:ph sz="half" idx="4294967295"/>
          </p:nvPr>
        </p:nvSpPr>
        <p:spPr>
          <a:xfrm>
            <a:off x="6863786" y="1968503"/>
            <a:ext cx="4718613" cy="4157663"/>
          </a:xfrm>
        </p:spPr>
        <p:txBody>
          <a:bodyPr/>
          <a:lstStyle/>
          <a:p>
            <a:r>
              <a:rPr lang="en-US" sz="2200" dirty="0"/>
              <a:t>ZrF4 was implemented as an oxygen getter in the original MSRE fuels</a:t>
            </a:r>
          </a:p>
          <a:p>
            <a:endParaRPr lang="en-US" sz="2200" dirty="0"/>
          </a:p>
          <a:p>
            <a:endParaRPr lang="en-US" sz="2200" dirty="0"/>
          </a:p>
          <a:p>
            <a:endParaRPr lang="en-US" sz="2200" dirty="0"/>
          </a:p>
          <a:p>
            <a:endParaRPr lang="en-US" sz="2200" dirty="0"/>
          </a:p>
          <a:p>
            <a:r>
              <a:rPr lang="en-US" sz="2200" dirty="0"/>
              <a:t>AlCl</a:t>
            </a:r>
            <a:r>
              <a:rPr lang="en-US" sz="2200" baseline="-25000" dirty="0"/>
              <a:t>3</a:t>
            </a:r>
            <a:r>
              <a:rPr lang="en-US" sz="2200" dirty="0"/>
              <a:t> or CCl</a:t>
            </a:r>
            <a:r>
              <a:rPr lang="en-US" sz="2200" baseline="-25000" dirty="0"/>
              <a:t>4</a:t>
            </a:r>
            <a:r>
              <a:rPr lang="en-US" sz="2200" dirty="0"/>
              <a:t> can also be used as reactants to tie up oxygen, or strip O from UO2</a:t>
            </a:r>
          </a:p>
        </p:txBody>
      </p:sp>
      <p:pic>
        <p:nvPicPr>
          <p:cNvPr id="5" name="Picture 4">
            <a:extLst>
              <a:ext uri="{FF2B5EF4-FFF2-40B4-BE49-F238E27FC236}">
                <a16:creationId xmlns:a16="http://schemas.microsoft.com/office/drawing/2014/main" id="{42854898-538F-034A-AC0E-4580AAFB83D1}"/>
              </a:ext>
            </a:extLst>
          </p:cNvPr>
          <p:cNvPicPr>
            <a:picLocks noChangeAspect="1"/>
          </p:cNvPicPr>
          <p:nvPr/>
        </p:nvPicPr>
        <p:blipFill>
          <a:blip r:embed="rId2"/>
          <a:stretch>
            <a:fillRect/>
          </a:stretch>
        </p:blipFill>
        <p:spPr>
          <a:xfrm>
            <a:off x="7746451" y="3120250"/>
            <a:ext cx="3060700" cy="431800"/>
          </a:xfrm>
          <a:prstGeom prst="rect">
            <a:avLst/>
          </a:prstGeom>
        </p:spPr>
      </p:pic>
      <p:pic>
        <p:nvPicPr>
          <p:cNvPr id="6" name="Picture 5">
            <a:extLst>
              <a:ext uri="{FF2B5EF4-FFF2-40B4-BE49-F238E27FC236}">
                <a16:creationId xmlns:a16="http://schemas.microsoft.com/office/drawing/2014/main" id="{545259AA-9310-D94E-A589-4ADAFEE53F6F}"/>
              </a:ext>
            </a:extLst>
          </p:cNvPr>
          <p:cNvPicPr>
            <a:picLocks noChangeAspect="1"/>
          </p:cNvPicPr>
          <p:nvPr/>
        </p:nvPicPr>
        <p:blipFill>
          <a:blip r:embed="rId3"/>
          <a:stretch>
            <a:fillRect/>
          </a:stretch>
        </p:blipFill>
        <p:spPr>
          <a:xfrm>
            <a:off x="7746451" y="3640251"/>
            <a:ext cx="3162300" cy="457200"/>
          </a:xfrm>
          <a:prstGeom prst="rect">
            <a:avLst/>
          </a:prstGeom>
        </p:spPr>
      </p:pic>
      <p:pic>
        <p:nvPicPr>
          <p:cNvPr id="7" name="Picture 6">
            <a:extLst>
              <a:ext uri="{FF2B5EF4-FFF2-40B4-BE49-F238E27FC236}">
                <a16:creationId xmlns:a16="http://schemas.microsoft.com/office/drawing/2014/main" id="{0AA12594-B6B3-8C4E-B514-7FDEA82E6FCC}"/>
              </a:ext>
            </a:extLst>
          </p:cNvPr>
          <p:cNvPicPr>
            <a:picLocks noChangeAspect="1"/>
          </p:cNvPicPr>
          <p:nvPr/>
        </p:nvPicPr>
        <p:blipFill>
          <a:blip r:embed="rId4"/>
          <a:stretch>
            <a:fillRect/>
          </a:stretch>
        </p:blipFill>
        <p:spPr>
          <a:xfrm>
            <a:off x="7742593" y="4182217"/>
            <a:ext cx="2959100" cy="482600"/>
          </a:xfrm>
          <a:prstGeom prst="rect">
            <a:avLst/>
          </a:prstGeom>
        </p:spPr>
      </p:pic>
      <p:sp>
        <p:nvSpPr>
          <p:cNvPr id="8" name="Slide Number Placeholder 7">
            <a:extLst>
              <a:ext uri="{FF2B5EF4-FFF2-40B4-BE49-F238E27FC236}">
                <a16:creationId xmlns:a16="http://schemas.microsoft.com/office/drawing/2014/main" id="{9DF00FDD-1C77-C245-870D-4ACD5E7EF159}"/>
              </a:ext>
            </a:extLst>
          </p:cNvPr>
          <p:cNvSpPr>
            <a:spLocks noGrp="1"/>
          </p:cNvSpPr>
          <p:nvPr>
            <p:ph type="sldNum" sz="quarter" idx="12"/>
          </p:nvPr>
        </p:nvSpPr>
        <p:spPr/>
        <p:txBody>
          <a:bodyPr/>
          <a:lstStyle/>
          <a:p>
            <a:pPr>
              <a:defRPr/>
            </a:pPr>
            <a:fld id="{EC35E9FC-F6D5-0349-BBED-EA7D7A9BC49B}" type="slidenum">
              <a:rPr lang="en-US" smtClean="0"/>
              <a:pPr>
                <a:defRPr/>
              </a:pPr>
              <a:t>17</a:t>
            </a:fld>
            <a:endParaRPr lang="en-US"/>
          </a:p>
        </p:txBody>
      </p:sp>
    </p:spTree>
    <p:extLst>
      <p:ext uri="{BB962C8B-B14F-4D97-AF65-F5344CB8AC3E}">
        <p14:creationId xmlns:p14="http://schemas.microsoft.com/office/powerpoint/2010/main" val="13494366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BDC57-3073-184C-84B8-3CE90BA1FD7F}"/>
              </a:ext>
            </a:extLst>
          </p:cNvPr>
          <p:cNvSpPr>
            <a:spLocks noGrp="1"/>
          </p:cNvSpPr>
          <p:nvPr>
            <p:ph type="title"/>
          </p:nvPr>
        </p:nvSpPr>
        <p:spPr/>
        <p:txBody>
          <a:bodyPr/>
          <a:lstStyle/>
          <a:p>
            <a:pPr algn="l"/>
            <a:r>
              <a:rPr lang="en-US" sz="3200" dirty="0"/>
              <a:t>Control of Chemistry</a:t>
            </a:r>
          </a:p>
        </p:txBody>
      </p:sp>
      <p:sp>
        <p:nvSpPr>
          <p:cNvPr id="3" name="Content Placeholder 2">
            <a:extLst>
              <a:ext uri="{FF2B5EF4-FFF2-40B4-BE49-F238E27FC236}">
                <a16:creationId xmlns:a16="http://schemas.microsoft.com/office/drawing/2014/main" id="{19A2A207-DD9D-444F-8B50-F8248AA755E2}"/>
              </a:ext>
            </a:extLst>
          </p:cNvPr>
          <p:cNvSpPr>
            <a:spLocks noGrp="1"/>
          </p:cNvSpPr>
          <p:nvPr>
            <p:ph sz="half" idx="1"/>
          </p:nvPr>
        </p:nvSpPr>
        <p:spPr/>
        <p:txBody>
          <a:bodyPr/>
          <a:lstStyle/>
          <a:p>
            <a:r>
              <a:rPr lang="en-US" sz="2400" dirty="0"/>
              <a:t>Avoiding corrosion in an MSR or in fuel-processing units with metallic components is significantly more challenging than avoiding corrosion in clean salt coolant applications</a:t>
            </a:r>
          </a:p>
          <a:p>
            <a:r>
              <a:rPr lang="en-US" sz="2400" dirty="0"/>
              <a:t>The dissolved uranium and other such species in the fuel salt result in the presence of additional corrosion mechanisms</a:t>
            </a:r>
          </a:p>
          <a:p>
            <a:endParaRPr lang="en-US" sz="2400" dirty="0"/>
          </a:p>
          <a:p>
            <a:endParaRPr lang="en-US" sz="2400" dirty="0"/>
          </a:p>
        </p:txBody>
      </p:sp>
      <p:sp>
        <p:nvSpPr>
          <p:cNvPr id="4" name="Content Placeholder 3">
            <a:extLst>
              <a:ext uri="{FF2B5EF4-FFF2-40B4-BE49-F238E27FC236}">
                <a16:creationId xmlns:a16="http://schemas.microsoft.com/office/drawing/2014/main" id="{D401AAF9-8215-DD42-A148-CD10AF4AF6A2}"/>
              </a:ext>
            </a:extLst>
          </p:cNvPr>
          <p:cNvSpPr>
            <a:spLocks noGrp="1"/>
          </p:cNvSpPr>
          <p:nvPr>
            <p:ph sz="half" idx="2"/>
          </p:nvPr>
        </p:nvSpPr>
        <p:spPr/>
        <p:txBody>
          <a:bodyPr/>
          <a:lstStyle/>
          <a:p>
            <a:r>
              <a:rPr lang="en-US" sz="2400" dirty="0"/>
              <a:t>In clean salt applications, these types of corrosion mechanisms can be reduced or eliminated by (1) using purified salts that do not contain chemical species that can transport chromium and other alloy constituents or (2) operating under chemically reducing conditions</a:t>
            </a:r>
          </a:p>
          <a:p>
            <a:r>
              <a:rPr lang="en-US" sz="2400" dirty="0"/>
              <a:t>Redox control could be accomplished by including an HF/H</a:t>
            </a:r>
            <a:r>
              <a:rPr lang="en-US" sz="2400" baseline="-25000" dirty="0"/>
              <a:t>2</a:t>
            </a:r>
            <a:r>
              <a:rPr lang="en-US" sz="2400" dirty="0"/>
              <a:t> mixture</a:t>
            </a:r>
          </a:p>
          <a:p>
            <a:pPr marL="0" indent="0">
              <a:buNone/>
            </a:pPr>
            <a:endParaRPr lang="en-US" sz="2400" dirty="0"/>
          </a:p>
          <a:p>
            <a:endParaRPr lang="en-US" sz="1400" dirty="0"/>
          </a:p>
        </p:txBody>
      </p:sp>
      <p:sp>
        <p:nvSpPr>
          <p:cNvPr id="5" name="Slide Number Placeholder 4">
            <a:extLst>
              <a:ext uri="{FF2B5EF4-FFF2-40B4-BE49-F238E27FC236}">
                <a16:creationId xmlns:a16="http://schemas.microsoft.com/office/drawing/2014/main" id="{2356AA1A-2F28-CB49-8F8A-AF5BB5CFB402}"/>
              </a:ext>
            </a:extLst>
          </p:cNvPr>
          <p:cNvSpPr>
            <a:spLocks noGrp="1"/>
          </p:cNvSpPr>
          <p:nvPr>
            <p:ph type="sldNum" sz="quarter" idx="12"/>
          </p:nvPr>
        </p:nvSpPr>
        <p:spPr/>
        <p:txBody>
          <a:bodyPr/>
          <a:lstStyle/>
          <a:p>
            <a:pPr>
              <a:defRPr/>
            </a:pPr>
            <a:fld id="{EC35E9FC-F6D5-0349-BBED-EA7D7A9BC49B}" type="slidenum">
              <a:rPr lang="en-US" smtClean="0"/>
              <a:pPr>
                <a:defRPr/>
              </a:pPr>
              <a:t>18</a:t>
            </a:fld>
            <a:endParaRPr lang="en-US"/>
          </a:p>
        </p:txBody>
      </p:sp>
    </p:spTree>
    <p:extLst>
      <p:ext uri="{BB962C8B-B14F-4D97-AF65-F5344CB8AC3E}">
        <p14:creationId xmlns:p14="http://schemas.microsoft.com/office/powerpoint/2010/main" val="366791616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14FAD-093F-1742-A5D9-812E3A10E0F8}"/>
              </a:ext>
            </a:extLst>
          </p:cNvPr>
          <p:cNvSpPr>
            <a:spLocks noGrp="1"/>
          </p:cNvSpPr>
          <p:nvPr>
            <p:ph type="title"/>
          </p:nvPr>
        </p:nvSpPr>
        <p:spPr/>
        <p:txBody>
          <a:bodyPr/>
          <a:lstStyle/>
          <a:p>
            <a:r>
              <a:rPr lang="en-US" dirty="0"/>
              <a:t>Changes During Fission</a:t>
            </a:r>
          </a:p>
        </p:txBody>
      </p:sp>
      <p:sp>
        <p:nvSpPr>
          <p:cNvPr id="3" name="Content Placeholder 2">
            <a:extLst>
              <a:ext uri="{FF2B5EF4-FFF2-40B4-BE49-F238E27FC236}">
                <a16:creationId xmlns:a16="http://schemas.microsoft.com/office/drawing/2014/main" id="{E4A11412-2806-EC45-8DBC-64EF23BF5127}"/>
              </a:ext>
            </a:extLst>
          </p:cNvPr>
          <p:cNvSpPr>
            <a:spLocks noGrp="1"/>
          </p:cNvSpPr>
          <p:nvPr>
            <p:ph sz="half" idx="1"/>
          </p:nvPr>
        </p:nvSpPr>
        <p:spPr>
          <a:xfrm>
            <a:off x="609599" y="1968503"/>
            <a:ext cx="7035209" cy="4157663"/>
          </a:xfrm>
        </p:spPr>
        <p:txBody>
          <a:bodyPr/>
          <a:lstStyle/>
          <a:p>
            <a:r>
              <a:rPr lang="en-US" sz="2000" dirty="0"/>
              <a:t>The redox potential is a measure of the tendency of a chemical species to acquire electrons from or lose electrons and thereby be reduced or oxidized</a:t>
            </a:r>
          </a:p>
          <a:p>
            <a:r>
              <a:rPr lang="en-US" sz="2000" dirty="0"/>
              <a:t>The fission process continuously alters the fuel salt redox conditions</a:t>
            </a:r>
          </a:p>
          <a:p>
            <a:r>
              <a:rPr lang="en-US" sz="2000" dirty="0"/>
              <a:t>When a U or Pu ion fissions, the available electrons will rearrange on each fission product to satisfy its valence requirements and produce either net oxidizing or reducing conditions in the melt</a:t>
            </a:r>
          </a:p>
          <a:p>
            <a:r>
              <a:rPr lang="en-US" sz="2000" dirty="0"/>
              <a:t>For UF4, four F ions are released; often fission products require less than four and thus there will be an excess of F ions with net oxidizing conditions (same for Cl)</a:t>
            </a:r>
          </a:p>
          <a:p>
            <a:endParaRPr lang="en-US" sz="2000" dirty="0"/>
          </a:p>
        </p:txBody>
      </p:sp>
      <p:pic>
        <p:nvPicPr>
          <p:cNvPr id="5" name="Content Placeholder 4">
            <a:extLst>
              <a:ext uri="{FF2B5EF4-FFF2-40B4-BE49-F238E27FC236}">
                <a16:creationId xmlns:a16="http://schemas.microsoft.com/office/drawing/2014/main" id="{DBE1C536-9340-684D-AEDF-97C00AF91503}"/>
              </a:ext>
            </a:extLst>
          </p:cNvPr>
          <p:cNvPicPr>
            <a:picLocks noGrp="1" noChangeAspect="1"/>
          </p:cNvPicPr>
          <p:nvPr>
            <p:ph sz="half" idx="2"/>
          </p:nvPr>
        </p:nvPicPr>
        <p:blipFill>
          <a:blip r:embed="rId2"/>
          <a:stretch>
            <a:fillRect/>
          </a:stretch>
        </p:blipFill>
        <p:spPr>
          <a:xfrm>
            <a:off x="7826330" y="1968503"/>
            <a:ext cx="3756070" cy="4157663"/>
          </a:xfrm>
          <a:prstGeom prst="rect">
            <a:avLst/>
          </a:prstGeom>
        </p:spPr>
      </p:pic>
      <p:sp>
        <p:nvSpPr>
          <p:cNvPr id="4" name="Slide Number Placeholder 3">
            <a:extLst>
              <a:ext uri="{FF2B5EF4-FFF2-40B4-BE49-F238E27FC236}">
                <a16:creationId xmlns:a16="http://schemas.microsoft.com/office/drawing/2014/main" id="{1F50EE3E-3767-4E4E-8AFD-985FEB9F4AC6}"/>
              </a:ext>
            </a:extLst>
          </p:cNvPr>
          <p:cNvSpPr>
            <a:spLocks noGrp="1"/>
          </p:cNvSpPr>
          <p:nvPr>
            <p:ph type="sldNum" sz="quarter" idx="12"/>
          </p:nvPr>
        </p:nvSpPr>
        <p:spPr/>
        <p:txBody>
          <a:bodyPr/>
          <a:lstStyle/>
          <a:p>
            <a:pPr>
              <a:defRPr/>
            </a:pPr>
            <a:fld id="{EC35E9FC-F6D5-0349-BBED-EA7D7A9BC49B}" type="slidenum">
              <a:rPr lang="en-US" smtClean="0"/>
              <a:pPr>
                <a:defRPr/>
              </a:pPr>
              <a:t>19</a:t>
            </a:fld>
            <a:endParaRPr lang="en-US"/>
          </a:p>
        </p:txBody>
      </p:sp>
    </p:spTree>
    <p:extLst>
      <p:ext uri="{BB962C8B-B14F-4D97-AF65-F5344CB8AC3E}">
        <p14:creationId xmlns:p14="http://schemas.microsoft.com/office/powerpoint/2010/main" val="39484375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Content Placeholder 9">
            <a:extLst>
              <a:ext uri="{FF2B5EF4-FFF2-40B4-BE49-F238E27FC236}">
                <a16:creationId xmlns:a16="http://schemas.microsoft.com/office/drawing/2014/main" id="{FAE01C80-0AC0-F649-9541-BDC219D16017}"/>
              </a:ext>
            </a:extLst>
          </p:cNvPr>
          <p:cNvPicPr>
            <a:picLocks noGrp="1" noChangeAspect="1"/>
          </p:cNvPicPr>
          <p:nvPr>
            <p:ph sz="half" idx="2"/>
          </p:nvPr>
        </p:nvPicPr>
        <p:blipFill>
          <a:blip r:embed="rId2"/>
          <a:stretch>
            <a:fillRect/>
          </a:stretch>
        </p:blipFill>
        <p:spPr>
          <a:xfrm>
            <a:off x="7474226" y="1469936"/>
            <a:ext cx="4659861" cy="2649946"/>
          </a:xfrm>
          <a:prstGeom prst="rect">
            <a:avLst/>
          </a:prstGeom>
        </p:spPr>
      </p:pic>
      <p:sp>
        <p:nvSpPr>
          <p:cNvPr id="2" name="Title 1">
            <a:extLst>
              <a:ext uri="{FF2B5EF4-FFF2-40B4-BE49-F238E27FC236}">
                <a16:creationId xmlns:a16="http://schemas.microsoft.com/office/drawing/2014/main" id="{07E824C7-7820-F549-9976-74B35B3B2176}"/>
              </a:ext>
            </a:extLst>
          </p:cNvPr>
          <p:cNvSpPr>
            <a:spLocks noGrp="1"/>
          </p:cNvSpPr>
          <p:nvPr>
            <p:ph type="title"/>
          </p:nvPr>
        </p:nvSpPr>
        <p:spPr/>
        <p:txBody>
          <a:bodyPr/>
          <a:lstStyle/>
          <a:p>
            <a:pPr algn="l"/>
            <a:r>
              <a:rPr lang="en-US" sz="3200" dirty="0"/>
              <a:t>Maintaining Reducing Redox Conditions</a:t>
            </a:r>
          </a:p>
        </p:txBody>
      </p:sp>
      <p:sp>
        <p:nvSpPr>
          <p:cNvPr id="3" name="Content Placeholder 2">
            <a:extLst>
              <a:ext uri="{FF2B5EF4-FFF2-40B4-BE49-F238E27FC236}">
                <a16:creationId xmlns:a16="http://schemas.microsoft.com/office/drawing/2014/main" id="{41C6B774-20F2-C742-AC62-21B2646D8B84}"/>
              </a:ext>
            </a:extLst>
          </p:cNvPr>
          <p:cNvSpPr>
            <a:spLocks noGrp="1"/>
          </p:cNvSpPr>
          <p:nvPr>
            <p:ph sz="half" idx="1"/>
          </p:nvPr>
        </p:nvSpPr>
        <p:spPr>
          <a:xfrm>
            <a:off x="609599" y="1968503"/>
            <a:ext cx="6864627" cy="4157663"/>
          </a:xfrm>
        </p:spPr>
        <p:txBody>
          <a:bodyPr/>
          <a:lstStyle/>
          <a:p>
            <a:r>
              <a:rPr lang="en-US" dirty="0"/>
              <a:t>Maintaining mildly reducing redox conditions is the key to enabling use of engineering alloys</a:t>
            </a:r>
          </a:p>
          <a:p>
            <a:r>
              <a:rPr lang="en-US" dirty="0"/>
              <a:t>Use of a circulating redox buffer provides means to maintain redox condition, while the oxidation states are changing due to fission</a:t>
            </a:r>
          </a:p>
          <a:p>
            <a:r>
              <a:rPr lang="en-US" dirty="0"/>
              <a:t>The ratio of U4+/U3+ serves as a measure of the redox potential of the salt for both chlorides and fluorides</a:t>
            </a:r>
          </a:p>
          <a:p>
            <a:r>
              <a:rPr lang="en-US" dirty="0"/>
              <a:t>Bottom right is the variation of equilibrium concentration of structural metal fluorides as a function of the UF4/UF3 ratio in a molten salt reactor fuel</a:t>
            </a:r>
          </a:p>
          <a:p>
            <a:r>
              <a:rPr lang="en-US" dirty="0"/>
              <a:t>Too high values lead to corrosion of structural materials; too low values lead to formation of UC phases from the graphite</a:t>
            </a:r>
          </a:p>
          <a:p>
            <a:endParaRPr lang="en-US" dirty="0"/>
          </a:p>
          <a:p>
            <a:endParaRPr lang="en-US" dirty="0"/>
          </a:p>
        </p:txBody>
      </p:sp>
      <p:pic>
        <p:nvPicPr>
          <p:cNvPr id="9" name="Picture 8">
            <a:extLst>
              <a:ext uri="{FF2B5EF4-FFF2-40B4-BE49-F238E27FC236}">
                <a16:creationId xmlns:a16="http://schemas.microsoft.com/office/drawing/2014/main" id="{001F3A06-51BA-3347-B608-6D310B1CB83D}"/>
              </a:ext>
            </a:extLst>
          </p:cNvPr>
          <p:cNvPicPr>
            <a:picLocks noChangeAspect="1"/>
          </p:cNvPicPr>
          <p:nvPr/>
        </p:nvPicPr>
        <p:blipFill>
          <a:blip r:embed="rId3"/>
          <a:stretch>
            <a:fillRect/>
          </a:stretch>
        </p:blipFill>
        <p:spPr>
          <a:xfrm>
            <a:off x="8208335" y="4119882"/>
            <a:ext cx="3452776" cy="2601595"/>
          </a:xfrm>
          <a:prstGeom prst="rect">
            <a:avLst/>
          </a:prstGeom>
        </p:spPr>
      </p:pic>
      <p:sp>
        <p:nvSpPr>
          <p:cNvPr id="4" name="Slide Number Placeholder 3">
            <a:extLst>
              <a:ext uri="{FF2B5EF4-FFF2-40B4-BE49-F238E27FC236}">
                <a16:creationId xmlns:a16="http://schemas.microsoft.com/office/drawing/2014/main" id="{1D35DF54-5809-9641-A900-6A7990748FAC}"/>
              </a:ext>
            </a:extLst>
          </p:cNvPr>
          <p:cNvSpPr>
            <a:spLocks noGrp="1"/>
          </p:cNvSpPr>
          <p:nvPr>
            <p:ph type="sldNum" sz="quarter" idx="12"/>
          </p:nvPr>
        </p:nvSpPr>
        <p:spPr/>
        <p:txBody>
          <a:bodyPr/>
          <a:lstStyle/>
          <a:p>
            <a:pPr>
              <a:defRPr/>
            </a:pPr>
            <a:fld id="{EC35E9FC-F6D5-0349-BBED-EA7D7A9BC49B}" type="slidenum">
              <a:rPr lang="en-US" smtClean="0"/>
              <a:pPr>
                <a:defRPr/>
              </a:pPr>
              <a:t>20</a:t>
            </a:fld>
            <a:endParaRPr lang="en-US"/>
          </a:p>
        </p:txBody>
      </p:sp>
    </p:spTree>
    <p:extLst>
      <p:ext uri="{BB962C8B-B14F-4D97-AF65-F5344CB8AC3E}">
        <p14:creationId xmlns:p14="http://schemas.microsoft.com/office/powerpoint/2010/main" val="2761252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FBDC57-3073-184C-84B8-3CE90BA1FD7F}"/>
              </a:ext>
            </a:extLst>
          </p:cNvPr>
          <p:cNvSpPr>
            <a:spLocks noGrp="1"/>
          </p:cNvSpPr>
          <p:nvPr>
            <p:ph type="title"/>
          </p:nvPr>
        </p:nvSpPr>
        <p:spPr/>
        <p:txBody>
          <a:bodyPr/>
          <a:lstStyle/>
          <a:p>
            <a:r>
              <a:rPr lang="en-US" dirty="0"/>
              <a:t>Fission Products</a:t>
            </a:r>
          </a:p>
        </p:txBody>
      </p:sp>
      <p:sp>
        <p:nvSpPr>
          <p:cNvPr id="3" name="Content Placeholder 2">
            <a:extLst>
              <a:ext uri="{FF2B5EF4-FFF2-40B4-BE49-F238E27FC236}">
                <a16:creationId xmlns:a16="http://schemas.microsoft.com/office/drawing/2014/main" id="{19A2A207-DD9D-444F-8B50-F8248AA755E2}"/>
              </a:ext>
            </a:extLst>
          </p:cNvPr>
          <p:cNvSpPr>
            <a:spLocks noGrp="1"/>
          </p:cNvSpPr>
          <p:nvPr>
            <p:ph sz="half" idx="1"/>
          </p:nvPr>
        </p:nvSpPr>
        <p:spPr>
          <a:xfrm>
            <a:off x="609600" y="1968503"/>
            <a:ext cx="5588000" cy="4157663"/>
          </a:xfrm>
        </p:spPr>
        <p:txBody>
          <a:bodyPr/>
          <a:lstStyle/>
          <a:p>
            <a:r>
              <a:rPr lang="en-US" sz="2200" dirty="0"/>
              <a:t>Distribution of fission products is a central safety issue</a:t>
            </a:r>
          </a:p>
          <a:p>
            <a:r>
              <a:rPr lang="en-US" sz="2200" dirty="0"/>
              <a:t>Fission products may be gaseous, solid, or dissolved</a:t>
            </a:r>
          </a:p>
          <a:p>
            <a:r>
              <a:rPr lang="en-US" sz="2200" dirty="0"/>
              <a:t>Alkali and alkaline earth fission products form stable salts – Rb, Cs, Sr, Ba</a:t>
            </a:r>
          </a:p>
          <a:p>
            <a:r>
              <a:rPr lang="en-US" sz="2200" dirty="0"/>
              <a:t>Lanthanides and some transition metals can form stable salts</a:t>
            </a:r>
          </a:p>
          <a:p>
            <a:r>
              <a:rPr lang="en-US" sz="2200" dirty="0"/>
              <a:t>Semi-noble fission products can plate out on metal surfaces – Nb, Mo, Tc</a:t>
            </a:r>
          </a:p>
          <a:p>
            <a:endParaRPr lang="en-US" sz="2200" dirty="0"/>
          </a:p>
          <a:p>
            <a:endParaRPr lang="en-US" sz="2200" dirty="0"/>
          </a:p>
        </p:txBody>
      </p:sp>
      <p:sp>
        <p:nvSpPr>
          <p:cNvPr id="4" name="Content Placeholder 3">
            <a:extLst>
              <a:ext uri="{FF2B5EF4-FFF2-40B4-BE49-F238E27FC236}">
                <a16:creationId xmlns:a16="http://schemas.microsoft.com/office/drawing/2014/main" id="{D401AAF9-8215-DD42-A148-CD10AF4AF6A2}"/>
              </a:ext>
            </a:extLst>
          </p:cNvPr>
          <p:cNvSpPr>
            <a:spLocks noGrp="1"/>
          </p:cNvSpPr>
          <p:nvPr>
            <p:ph sz="half" idx="2"/>
          </p:nvPr>
        </p:nvSpPr>
        <p:spPr/>
        <p:txBody>
          <a:bodyPr/>
          <a:lstStyle/>
          <a:p>
            <a:r>
              <a:rPr lang="en-US" sz="2200" dirty="0"/>
              <a:t>A few elements are very sensitive to redox changes</a:t>
            </a:r>
          </a:p>
          <a:p>
            <a:r>
              <a:rPr lang="en-US" sz="2200" dirty="0"/>
              <a:t>May elect to actively remove gaseous fission products, but requires cooling fission product traps</a:t>
            </a:r>
          </a:p>
          <a:p>
            <a:pPr lvl="1"/>
            <a:r>
              <a:rPr lang="en-US" sz="2200" dirty="0"/>
              <a:t>Lowers the in-core accident source term</a:t>
            </a:r>
          </a:p>
          <a:p>
            <a:pPr lvl="1"/>
            <a:r>
              <a:rPr lang="en-US" sz="2200" dirty="0"/>
              <a:t>Prevents bubble formation and collapse, which results in reactivity jumps</a:t>
            </a:r>
          </a:p>
          <a:p>
            <a:endParaRPr lang="en-US" sz="2200" dirty="0"/>
          </a:p>
        </p:txBody>
      </p:sp>
      <p:sp>
        <p:nvSpPr>
          <p:cNvPr id="5" name="Slide Number Placeholder 4">
            <a:extLst>
              <a:ext uri="{FF2B5EF4-FFF2-40B4-BE49-F238E27FC236}">
                <a16:creationId xmlns:a16="http://schemas.microsoft.com/office/drawing/2014/main" id="{B8ADFA33-BE7D-CE4F-B517-7D9A72AB6A43}"/>
              </a:ext>
            </a:extLst>
          </p:cNvPr>
          <p:cNvSpPr>
            <a:spLocks noGrp="1"/>
          </p:cNvSpPr>
          <p:nvPr>
            <p:ph type="sldNum" sz="quarter" idx="12"/>
          </p:nvPr>
        </p:nvSpPr>
        <p:spPr/>
        <p:txBody>
          <a:bodyPr/>
          <a:lstStyle/>
          <a:p>
            <a:pPr>
              <a:defRPr/>
            </a:pPr>
            <a:fld id="{EC35E9FC-F6D5-0349-BBED-EA7D7A9BC49B}" type="slidenum">
              <a:rPr lang="en-US" smtClean="0"/>
              <a:pPr>
                <a:defRPr/>
              </a:pPr>
              <a:t>21</a:t>
            </a:fld>
            <a:endParaRPr lang="en-US"/>
          </a:p>
        </p:txBody>
      </p:sp>
    </p:spTree>
    <p:extLst>
      <p:ext uri="{BB962C8B-B14F-4D97-AF65-F5344CB8AC3E}">
        <p14:creationId xmlns:p14="http://schemas.microsoft.com/office/powerpoint/2010/main" val="21157242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B42514-D7E3-5F41-91DE-2F2D041554CF}"/>
              </a:ext>
            </a:extLst>
          </p:cNvPr>
          <p:cNvSpPr>
            <a:spLocks noGrp="1"/>
          </p:cNvSpPr>
          <p:nvPr>
            <p:ph type="title"/>
          </p:nvPr>
        </p:nvSpPr>
        <p:spPr/>
        <p:txBody>
          <a:bodyPr/>
          <a:lstStyle/>
          <a:p>
            <a:r>
              <a:rPr lang="en-US" dirty="0"/>
              <a:t>Fission Product Plating</a:t>
            </a:r>
          </a:p>
        </p:txBody>
      </p:sp>
      <p:sp>
        <p:nvSpPr>
          <p:cNvPr id="3" name="Content Placeholder 2">
            <a:extLst>
              <a:ext uri="{FF2B5EF4-FFF2-40B4-BE49-F238E27FC236}">
                <a16:creationId xmlns:a16="http://schemas.microsoft.com/office/drawing/2014/main" id="{34B11B6E-EC40-B141-A9E7-F35287E063A1}"/>
              </a:ext>
            </a:extLst>
          </p:cNvPr>
          <p:cNvSpPr>
            <a:spLocks noGrp="1"/>
          </p:cNvSpPr>
          <p:nvPr>
            <p:ph sz="half" idx="1"/>
          </p:nvPr>
        </p:nvSpPr>
        <p:spPr/>
        <p:txBody>
          <a:bodyPr/>
          <a:lstStyle/>
          <a:p>
            <a:r>
              <a:rPr lang="en-US" sz="2200" dirty="0"/>
              <a:t>Noble metals are insoluble in the fluoride salt and can be found in helium </a:t>
            </a:r>
            <a:r>
              <a:rPr lang="en-US" sz="2200" dirty="0" err="1"/>
              <a:t>sparge</a:t>
            </a:r>
            <a:r>
              <a:rPr lang="en-US" sz="2200" dirty="0"/>
              <a:t> gas, on the graphite, or deposited on the metallic surfaces of the primary circuit</a:t>
            </a:r>
          </a:p>
          <a:p>
            <a:r>
              <a:rPr lang="en-US" sz="2200" dirty="0"/>
              <a:t>The deposited material contributes to the heat generation from its decay even after the reactor shutdown, which is a safety concern</a:t>
            </a:r>
          </a:p>
          <a:p>
            <a:endParaRPr lang="en-US" sz="2200" dirty="0"/>
          </a:p>
          <a:p>
            <a:endParaRPr lang="en-US" sz="2200" dirty="0"/>
          </a:p>
        </p:txBody>
      </p:sp>
      <p:sp>
        <p:nvSpPr>
          <p:cNvPr id="4" name="Content Placeholder 3">
            <a:extLst>
              <a:ext uri="{FF2B5EF4-FFF2-40B4-BE49-F238E27FC236}">
                <a16:creationId xmlns:a16="http://schemas.microsoft.com/office/drawing/2014/main" id="{7E0D2472-141E-7545-AF41-E95D03576324}"/>
              </a:ext>
            </a:extLst>
          </p:cNvPr>
          <p:cNvSpPr>
            <a:spLocks noGrp="1"/>
          </p:cNvSpPr>
          <p:nvPr>
            <p:ph sz="half" idx="2"/>
          </p:nvPr>
        </p:nvSpPr>
        <p:spPr/>
        <p:txBody>
          <a:bodyPr/>
          <a:lstStyle/>
          <a:p>
            <a:r>
              <a:rPr lang="en-US" sz="2200" dirty="0"/>
              <a:t>The deposits on the graphite (in the case of thermal reactors) absorb neutrons during the operation and lead to lower efficiency of the reactor</a:t>
            </a:r>
          </a:p>
          <a:p>
            <a:r>
              <a:rPr lang="en-US" sz="2200" dirty="0"/>
              <a:t>One way of avoiding this detrimental precipitation is to remove the insoluble fission products by helium bubbling before they interact with the structural materials</a:t>
            </a:r>
          </a:p>
          <a:p>
            <a:endParaRPr lang="en-US" sz="2200" dirty="0"/>
          </a:p>
        </p:txBody>
      </p:sp>
      <p:sp>
        <p:nvSpPr>
          <p:cNvPr id="5" name="Slide Number Placeholder 4">
            <a:extLst>
              <a:ext uri="{FF2B5EF4-FFF2-40B4-BE49-F238E27FC236}">
                <a16:creationId xmlns:a16="http://schemas.microsoft.com/office/drawing/2014/main" id="{4647D82B-C36A-8044-80EE-81F3927A06AD}"/>
              </a:ext>
            </a:extLst>
          </p:cNvPr>
          <p:cNvSpPr>
            <a:spLocks noGrp="1"/>
          </p:cNvSpPr>
          <p:nvPr>
            <p:ph type="sldNum" sz="quarter" idx="12"/>
          </p:nvPr>
        </p:nvSpPr>
        <p:spPr/>
        <p:txBody>
          <a:bodyPr/>
          <a:lstStyle/>
          <a:p>
            <a:pPr>
              <a:defRPr/>
            </a:pPr>
            <a:fld id="{EC35E9FC-F6D5-0349-BBED-EA7D7A9BC49B}" type="slidenum">
              <a:rPr lang="en-US" smtClean="0"/>
              <a:pPr>
                <a:defRPr/>
              </a:pPr>
              <a:t>22</a:t>
            </a:fld>
            <a:endParaRPr lang="en-US"/>
          </a:p>
        </p:txBody>
      </p:sp>
    </p:spTree>
    <p:extLst>
      <p:ext uri="{BB962C8B-B14F-4D97-AF65-F5344CB8AC3E}">
        <p14:creationId xmlns:p14="http://schemas.microsoft.com/office/powerpoint/2010/main" val="1336505634"/>
      </p:ext>
    </p:extLst>
  </p:cSld>
  <p:clrMapOvr>
    <a:masterClrMapping/>
  </p:clrMapOvr>
</p:sld>
</file>

<file path=ppt/theme/theme1.xml><?xml version="1.0" encoding="utf-8"?>
<a:theme xmlns:a="http://schemas.openxmlformats.org/drawingml/2006/main" name="1_NCStateU-horizontal-left-logo">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12351</TotalTime>
  <Words>1925</Words>
  <Application>Microsoft Macintosh PowerPoint</Application>
  <PresentationFormat>Widescreen</PresentationFormat>
  <Paragraphs>156</Paragraphs>
  <Slides>22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Symbol</vt:lpstr>
      <vt:lpstr>1_NCStateU-horizontal-left-logo</vt:lpstr>
      <vt:lpstr>NE 763: Advanced Reactor Materials</vt:lpstr>
      <vt:lpstr>Last Time</vt:lpstr>
      <vt:lpstr>Solution Species</vt:lpstr>
      <vt:lpstr>Fuel Salt Classes</vt:lpstr>
      <vt:lpstr>Coolant Salts</vt:lpstr>
      <vt:lpstr>Fluorides or Chlorides</vt:lpstr>
      <vt:lpstr>MSR Fuel Candidates</vt:lpstr>
      <vt:lpstr>Neutron Economy</vt:lpstr>
      <vt:lpstr>Fast Spectrum MSRs</vt:lpstr>
      <vt:lpstr>key salt properties/concepts</vt:lpstr>
      <vt:lpstr>Solubility</vt:lpstr>
      <vt:lpstr>Low Viscosity</vt:lpstr>
      <vt:lpstr>Heat Capacity and Thermal Conductivity</vt:lpstr>
      <vt:lpstr>Heat Transfer</vt:lpstr>
      <vt:lpstr>Vapor Pressure (Volatility)</vt:lpstr>
      <vt:lpstr>Chemical Compatibility</vt:lpstr>
      <vt:lpstr>Role of Oxygen Impurities</vt:lpstr>
      <vt:lpstr>Control of Chemistry</vt:lpstr>
      <vt:lpstr>Changes During Fission</vt:lpstr>
      <vt:lpstr>Maintaining Reducing Redox Conditions</vt:lpstr>
      <vt:lpstr>Fission Products</vt:lpstr>
      <vt:lpstr>Fission Product Plating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 591: Advanced Reactor Materials</dc:title>
  <dc:creator>Benjamin W. Beeler</dc:creator>
  <cp:lastModifiedBy>Benjamin Beeler</cp:lastModifiedBy>
  <cp:revision>87</cp:revision>
  <dcterms:created xsi:type="dcterms:W3CDTF">2021-06-30T18:29:00Z</dcterms:created>
  <dcterms:modified xsi:type="dcterms:W3CDTF">2026-10-06T20:06:15Z</dcterms:modified>
</cp:coreProperties>
</file>
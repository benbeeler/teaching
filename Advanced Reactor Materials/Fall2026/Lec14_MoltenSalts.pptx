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sldIdLst>
    <p:sldId id="257" r:id="rId2"/>
    <p:sldId id="454" r:id="rId3"/>
    <p:sldId id="471" r:id="rId4"/>
    <p:sldId id="435" r:id="rId5"/>
    <p:sldId id="444" r:id="rId6"/>
    <p:sldId id="436" r:id="rId7"/>
    <p:sldId id="414" r:id="rId8"/>
    <p:sldId id="412" r:id="rId9"/>
    <p:sldId id="413" r:id="rId10"/>
    <p:sldId id="415" r:id="rId11"/>
    <p:sldId id="416" r:id="rId12"/>
    <p:sldId id="417" r:id="rId13"/>
    <p:sldId id="438" r:id="rId14"/>
    <p:sldId id="418" r:id="rId15"/>
    <p:sldId id="420" r:id="rId16"/>
    <p:sldId id="419" r:id="rId17"/>
    <p:sldId id="422" r:id="rId18"/>
    <p:sldId id="442" r:id="rId19"/>
    <p:sldId id="441" r:id="rId20"/>
    <p:sldId id="423" r:id="rId21"/>
    <p:sldId id="443" r:id="rId22"/>
    <p:sldId id="426" r:id="rId23"/>
    <p:sldId id="427" r:id="rId24"/>
    <p:sldId id="439" r:id="rId25"/>
    <p:sldId id="445" r:id="rId26"/>
    <p:sldId id="440" r:id="rId27"/>
    <p:sldId id="451" r:id="rId28"/>
    <p:sldId id="446" r:id="rId29"/>
    <p:sldId id="421" r:id="rId30"/>
    <p:sldId id="447" r:id="rId31"/>
    <p:sldId id="470" r:id="rId32"/>
    <p:sldId id="453" r:id="rId33"/>
    <p:sldId id="455" r:id="rId34"/>
    <p:sldId id="459" r:id="rId35"/>
    <p:sldId id="460" r:id="rId36"/>
    <p:sldId id="448" r:id="rId37"/>
    <p:sldId id="456" r:id="rId38"/>
    <p:sldId id="458" r:id="rId39"/>
    <p:sldId id="452" r:id="rId40"/>
    <p:sldId id="469" r:id="rId41"/>
    <p:sldId id="457" r:id="rId42"/>
    <p:sldId id="461" r:id="rId43"/>
    <p:sldId id="462" r:id="rId44"/>
    <p:sldId id="468" r:id="rId45"/>
    <p:sldId id="46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654"/>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75BA2-54D3-3E4F-9D2A-86ABF69FCF28}"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AFB08E-3F2D-8742-A5CF-ED2C61999138}" type="slidenum">
              <a:rPr lang="en-US" smtClean="0"/>
              <a:t>‹#›</a:t>
            </a:fld>
            <a:endParaRPr lang="en-US"/>
          </a:p>
        </p:txBody>
      </p:sp>
    </p:spTree>
    <p:extLst>
      <p:ext uri="{BB962C8B-B14F-4D97-AF65-F5344CB8AC3E}">
        <p14:creationId xmlns:p14="http://schemas.microsoft.com/office/powerpoint/2010/main" val="314692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9/24/26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150389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9/24/26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241025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9/24/26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757914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9/24/26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069975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9/24/26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9/24/26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90500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9/24/26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342720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9/24/26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026468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9/24/26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149339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9/24/26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7262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9/24/26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765737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75521"/>
            <a:ext cx="10972800" cy="1068387"/>
          </a:xfrm>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743909"/>
            <a:ext cx="5384800" cy="4382258"/>
          </a:xfrm>
        </p:spPr>
        <p:txBody>
          <a:bodyPr/>
          <a:lstStyle>
            <a:lvl1pPr>
              <a:defRPr sz="2000"/>
            </a:lvl1pPr>
            <a:lvl2pPr>
              <a:defRPr sz="1600"/>
            </a:lvl2pPr>
            <a:lvl3pPr>
              <a:defRPr sz="1400"/>
            </a:lvl3pPr>
            <a:lvl4pPr>
              <a:defRPr sz="1200"/>
            </a:lvl4pPr>
            <a:lvl5pPr>
              <a:defRPr sz="1200"/>
            </a:lvl5pPr>
            <a:lvl6pPr>
              <a:defRPr sz="2400"/>
            </a:lvl6pPr>
            <a:lvl7pPr>
              <a:defRPr sz="2400"/>
            </a:lvl7pPr>
            <a:lvl8pPr>
              <a:defRPr sz="2400"/>
            </a:lvl8pPr>
            <a:lvl9pPr>
              <a:defRPr sz="24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4FFB2EB5-5DD5-D045-817C-F27A871F0002}" type="datetime1">
              <a:rPr lang="en-US" smtClean="0"/>
              <a:t>9/24/26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129200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9/24/26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390374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4.emf"/><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tif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16/j.corsci.2019.108306" TargetMode="External"/><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571D87AF-F2E1-4B41-AF72-207662B132A4}"/>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84B06-32EE-AE49-924A-D322C6ABE988}"/>
              </a:ext>
            </a:extLst>
          </p:cNvPr>
          <p:cNvSpPr>
            <a:spLocks noGrp="1"/>
          </p:cNvSpPr>
          <p:nvPr>
            <p:ph type="title"/>
          </p:nvPr>
        </p:nvSpPr>
        <p:spPr>
          <a:xfrm>
            <a:off x="609600" y="592000"/>
            <a:ext cx="10972800" cy="1068387"/>
          </a:xfrm>
        </p:spPr>
        <p:txBody>
          <a:bodyPr/>
          <a:lstStyle/>
          <a:p>
            <a:r>
              <a:rPr lang="en-US" dirty="0"/>
              <a:t>Last Time</a:t>
            </a:r>
          </a:p>
        </p:txBody>
      </p:sp>
      <p:sp>
        <p:nvSpPr>
          <p:cNvPr id="3" name="Content Placeholder 2">
            <a:extLst>
              <a:ext uri="{FF2B5EF4-FFF2-40B4-BE49-F238E27FC236}">
                <a16:creationId xmlns:a16="http://schemas.microsoft.com/office/drawing/2014/main" id="{83C51977-FB07-8C48-A95D-24C17469F14C}"/>
              </a:ext>
            </a:extLst>
          </p:cNvPr>
          <p:cNvSpPr>
            <a:spLocks noGrp="1"/>
          </p:cNvSpPr>
          <p:nvPr>
            <p:ph idx="1"/>
          </p:nvPr>
        </p:nvSpPr>
        <p:spPr>
          <a:xfrm>
            <a:off x="609600" y="1660387"/>
            <a:ext cx="10972800" cy="4655173"/>
          </a:xfrm>
        </p:spPr>
        <p:txBody>
          <a:bodyPr/>
          <a:lstStyle/>
          <a:p>
            <a:r>
              <a:rPr lang="en-US" dirty="0"/>
              <a:t>Intro to molten salts</a:t>
            </a:r>
          </a:p>
          <a:p>
            <a:r>
              <a:rPr lang="en-US" dirty="0"/>
              <a:t>Salt reactor designs</a:t>
            </a:r>
          </a:p>
          <a:p>
            <a:pPr lvl="1"/>
            <a:r>
              <a:rPr lang="en-US" dirty="0"/>
              <a:t>Salt Cooled Reactor, </a:t>
            </a:r>
            <a:r>
              <a:rPr lang="en-US" b="1" dirty="0"/>
              <a:t>Flowing Salt Fueled Reactor</a:t>
            </a:r>
            <a:r>
              <a:rPr lang="en-US" dirty="0"/>
              <a:t>, Static Salt Fueled Reactor</a:t>
            </a:r>
          </a:p>
          <a:p>
            <a:r>
              <a:rPr lang="en-US" dirty="0"/>
              <a:t>Benefits of salt reactors</a:t>
            </a:r>
          </a:p>
          <a:p>
            <a:pPr lvl="1"/>
            <a:r>
              <a:rPr lang="en-US" dirty="0"/>
              <a:t>operate close to atmospheric pressure, negative reactivity feedback coefficient, fission gas behavior, higher temperatures</a:t>
            </a:r>
          </a:p>
          <a:p>
            <a:r>
              <a:rPr lang="en-US" dirty="0"/>
              <a:t>Requirements for fuel salts</a:t>
            </a:r>
          </a:p>
          <a:p>
            <a:pPr lvl="1"/>
            <a:r>
              <a:rPr lang="en-US" dirty="0"/>
              <a:t>low neutron absorption, good thermal properties, high stability, low melting point, high boiling point, low vapor pressure, etc.</a:t>
            </a:r>
          </a:p>
          <a:p>
            <a:r>
              <a:rPr lang="en-US" dirty="0"/>
              <a:t>Add other salts to target certain properties</a:t>
            </a:r>
          </a:p>
          <a:p>
            <a:pPr lvl="1"/>
            <a:r>
              <a:rPr lang="en-US" dirty="0"/>
              <a:t>lower melting point, reduce viscosity, getter oxygen, etc. </a:t>
            </a:r>
          </a:p>
          <a:p>
            <a:r>
              <a:rPr lang="en-US" dirty="0"/>
              <a:t>Chlorides vs Fluorides</a:t>
            </a:r>
          </a:p>
          <a:p>
            <a:pPr lvl="1"/>
            <a:r>
              <a:rPr lang="en-US" dirty="0"/>
              <a:t>fluorides more for thermal, chlorides more for fast</a:t>
            </a:r>
          </a:p>
        </p:txBody>
      </p:sp>
      <p:sp>
        <p:nvSpPr>
          <p:cNvPr id="4" name="Slide Number Placeholder 3">
            <a:extLst>
              <a:ext uri="{FF2B5EF4-FFF2-40B4-BE49-F238E27FC236}">
                <a16:creationId xmlns:a16="http://schemas.microsoft.com/office/drawing/2014/main" id="{7CBC4B28-BA21-EF4C-875A-5D4274D0CFA9}"/>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46972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2710D-3C96-EB52-B242-85816BFF1D37}"/>
              </a:ext>
            </a:extLst>
          </p:cNvPr>
          <p:cNvSpPr>
            <a:spLocks noGrp="1"/>
          </p:cNvSpPr>
          <p:nvPr>
            <p:ph type="title"/>
          </p:nvPr>
        </p:nvSpPr>
        <p:spPr/>
        <p:txBody>
          <a:bodyPr/>
          <a:lstStyle/>
          <a:p>
            <a:r>
              <a:rPr lang="en-US" dirty="0"/>
              <a:t>Solution Species</a:t>
            </a:r>
          </a:p>
        </p:txBody>
      </p:sp>
      <p:sp>
        <p:nvSpPr>
          <p:cNvPr id="3" name="Content Placeholder 2">
            <a:extLst>
              <a:ext uri="{FF2B5EF4-FFF2-40B4-BE49-F238E27FC236}">
                <a16:creationId xmlns:a16="http://schemas.microsoft.com/office/drawing/2014/main" id="{8C955985-1BC2-CD3B-49D0-3A5297F43E0A}"/>
              </a:ext>
            </a:extLst>
          </p:cNvPr>
          <p:cNvSpPr>
            <a:spLocks noGrp="1"/>
          </p:cNvSpPr>
          <p:nvPr>
            <p:ph sz="half" idx="1"/>
          </p:nvPr>
        </p:nvSpPr>
        <p:spPr/>
        <p:txBody>
          <a:bodyPr/>
          <a:lstStyle/>
          <a:p>
            <a:r>
              <a:rPr lang="en-US" sz="2400" dirty="0"/>
              <a:t>Solute species serve to lower the melting point, and can dually serve as an oxygen getter</a:t>
            </a:r>
          </a:p>
          <a:p>
            <a:r>
              <a:rPr lang="en-US" sz="2400" dirty="0"/>
              <a:t>Must have low neutron absorption cross section and be chemically compatible with cladding</a:t>
            </a:r>
          </a:p>
          <a:p>
            <a:r>
              <a:rPr lang="en-US" sz="2400" dirty="0"/>
              <a:t>BeF2, </a:t>
            </a:r>
            <a:r>
              <a:rPr lang="en-US" sz="2400" dirty="0" err="1"/>
              <a:t>LiF</a:t>
            </a:r>
            <a:r>
              <a:rPr lang="en-US" sz="2400" dirty="0"/>
              <a:t>, </a:t>
            </a:r>
            <a:r>
              <a:rPr lang="en-US" sz="2400" dirty="0" err="1"/>
              <a:t>ZrF</a:t>
            </a:r>
            <a:r>
              <a:rPr lang="en-US" sz="2400" dirty="0"/>
              <a:t>, and </a:t>
            </a:r>
            <a:r>
              <a:rPr lang="en-US" sz="2400" dirty="0" err="1"/>
              <a:t>NaF</a:t>
            </a:r>
            <a:r>
              <a:rPr lang="en-US" sz="2400" dirty="0"/>
              <a:t> are commonly utilized due to the combination of these properties</a:t>
            </a:r>
          </a:p>
        </p:txBody>
      </p:sp>
      <p:sp>
        <p:nvSpPr>
          <p:cNvPr id="5" name="Slide Number Placeholder 4">
            <a:extLst>
              <a:ext uri="{FF2B5EF4-FFF2-40B4-BE49-F238E27FC236}">
                <a16:creationId xmlns:a16="http://schemas.microsoft.com/office/drawing/2014/main" id="{10644F11-773E-26BE-EF86-C7D6EFA68EDA}"/>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6" name="Picture 5">
            <a:extLst>
              <a:ext uri="{FF2B5EF4-FFF2-40B4-BE49-F238E27FC236}">
                <a16:creationId xmlns:a16="http://schemas.microsoft.com/office/drawing/2014/main" id="{88ECBEE2-16D7-9A9D-D78B-4EF08C6797C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96000" y="2288139"/>
            <a:ext cx="6043202" cy="2690815"/>
          </a:xfrm>
          <a:prstGeom prst="rect">
            <a:avLst/>
          </a:prstGeom>
        </p:spPr>
      </p:pic>
    </p:spTree>
    <p:extLst>
      <p:ext uri="{BB962C8B-B14F-4D97-AF65-F5344CB8AC3E}">
        <p14:creationId xmlns:p14="http://schemas.microsoft.com/office/powerpoint/2010/main" val="2984185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45EB-F9C4-5547-8178-2080C109DAC3}"/>
              </a:ext>
            </a:extLst>
          </p:cNvPr>
          <p:cNvSpPr>
            <a:spLocks noGrp="1"/>
          </p:cNvSpPr>
          <p:nvPr>
            <p:ph type="title"/>
          </p:nvPr>
        </p:nvSpPr>
        <p:spPr/>
        <p:txBody>
          <a:bodyPr/>
          <a:lstStyle/>
          <a:p>
            <a:r>
              <a:rPr lang="en-US" dirty="0"/>
              <a:t>Fuel Salt Classes</a:t>
            </a:r>
          </a:p>
        </p:txBody>
      </p:sp>
      <p:sp>
        <p:nvSpPr>
          <p:cNvPr id="3" name="Content Placeholder 2">
            <a:extLst>
              <a:ext uri="{FF2B5EF4-FFF2-40B4-BE49-F238E27FC236}">
                <a16:creationId xmlns:a16="http://schemas.microsoft.com/office/drawing/2014/main" id="{01E22A80-6F08-F941-955E-4A0F806654B0}"/>
              </a:ext>
            </a:extLst>
          </p:cNvPr>
          <p:cNvSpPr>
            <a:spLocks noGrp="1"/>
          </p:cNvSpPr>
          <p:nvPr>
            <p:ph sz="half" idx="1"/>
          </p:nvPr>
        </p:nvSpPr>
        <p:spPr>
          <a:xfrm>
            <a:off x="609600" y="1968503"/>
            <a:ext cx="10972800" cy="4157663"/>
          </a:xfrm>
        </p:spPr>
        <p:txBody>
          <a:bodyPr/>
          <a:lstStyle/>
          <a:p>
            <a:r>
              <a:rPr lang="en-US" sz="2400" dirty="0"/>
              <a:t>Thermal spectrum reprocessing-optimized fluoride salts </a:t>
            </a:r>
          </a:p>
          <a:p>
            <a:pPr lvl="1"/>
            <a:r>
              <a:rPr lang="en-US" sz="2000" dirty="0" err="1"/>
              <a:t>FLiBe</a:t>
            </a:r>
            <a:r>
              <a:rPr lang="en-US" sz="2000" dirty="0"/>
              <a:t> (</a:t>
            </a:r>
            <a:r>
              <a:rPr lang="en-US" sz="2000" baseline="30000" dirty="0"/>
              <a:t>7</a:t>
            </a:r>
            <a:r>
              <a:rPr lang="en-US" sz="2000" dirty="0"/>
              <a:t>LiF-BeF</a:t>
            </a:r>
            <a:r>
              <a:rPr lang="en-US" sz="2000" baseline="-25000" dirty="0"/>
              <a:t>2</a:t>
            </a:r>
            <a:r>
              <a:rPr lang="en-US" sz="2000" dirty="0"/>
              <a:t>) and NaF-ZrF</a:t>
            </a:r>
            <a:r>
              <a:rPr lang="en-US" sz="2000" baseline="-25000" dirty="0"/>
              <a:t>4</a:t>
            </a:r>
            <a:endParaRPr lang="en-US" sz="2000" dirty="0"/>
          </a:p>
          <a:p>
            <a:pPr lvl="1"/>
            <a:r>
              <a:rPr lang="en-US" sz="2000" dirty="0" err="1"/>
              <a:t>FLiBe</a:t>
            </a:r>
            <a:r>
              <a:rPr lang="en-US" sz="2000" dirty="0"/>
              <a:t> produces tritium, while NaF-ZrF</a:t>
            </a:r>
            <a:r>
              <a:rPr lang="en-US" sz="2000" baseline="-25000" dirty="0"/>
              <a:t>4</a:t>
            </a:r>
            <a:r>
              <a:rPr lang="en-US" sz="2000" dirty="0"/>
              <a:t> has a higher vapor pressure</a:t>
            </a:r>
            <a:endParaRPr lang="en-US" sz="2800" dirty="0"/>
          </a:p>
          <a:p>
            <a:r>
              <a:rPr lang="en-US" sz="2400" dirty="0"/>
              <a:t>Fast spectrum and thermal spectrum, once-through fuel cycle optimized fluoride salts</a:t>
            </a:r>
          </a:p>
          <a:p>
            <a:pPr lvl="1"/>
            <a:r>
              <a:rPr lang="en-US" sz="2000" dirty="0"/>
              <a:t>LiF-ThF</a:t>
            </a:r>
            <a:r>
              <a:rPr lang="en-US" sz="2000" baseline="-25000" dirty="0"/>
              <a:t>4</a:t>
            </a:r>
            <a:r>
              <a:rPr lang="en-US" sz="2000" dirty="0"/>
              <a:t>-UF</a:t>
            </a:r>
            <a:r>
              <a:rPr lang="en-US" sz="2000" baseline="-25000" dirty="0"/>
              <a:t>4</a:t>
            </a:r>
            <a:r>
              <a:rPr lang="en-US" sz="2000" dirty="0"/>
              <a:t>-(TRU)F</a:t>
            </a:r>
            <a:r>
              <a:rPr lang="en-US" sz="2000" baseline="-25000" dirty="0"/>
              <a:t>3</a:t>
            </a:r>
          </a:p>
          <a:p>
            <a:pPr lvl="1"/>
            <a:r>
              <a:rPr lang="en-US" sz="2000" dirty="0"/>
              <a:t>Much higher fissile loading (actinide-rich eutectics)</a:t>
            </a:r>
          </a:p>
          <a:p>
            <a:pPr lvl="1"/>
            <a:r>
              <a:rPr lang="en-US" sz="2000" dirty="0"/>
              <a:t>Adequate fissile material content is a significant design challenge</a:t>
            </a:r>
            <a:endParaRPr lang="en-US" sz="2800" dirty="0"/>
          </a:p>
          <a:p>
            <a:r>
              <a:rPr lang="en-US" sz="2400" dirty="0"/>
              <a:t>Chloride salts</a:t>
            </a:r>
          </a:p>
          <a:p>
            <a:pPr lvl="1"/>
            <a:r>
              <a:rPr lang="en-US" sz="2000" dirty="0"/>
              <a:t>Enables harder neutron spectrum and enhanced breeding</a:t>
            </a:r>
          </a:p>
          <a:p>
            <a:pPr lvl="1"/>
            <a:r>
              <a:rPr lang="en-US" sz="2000" dirty="0"/>
              <a:t>Isotopically separated chlorine preferable - </a:t>
            </a:r>
            <a:r>
              <a:rPr lang="en-US" sz="2000" baseline="30000" dirty="0"/>
              <a:t>35</a:t>
            </a:r>
            <a:r>
              <a:rPr lang="en-US" sz="2000" dirty="0"/>
              <a:t>Cl from </a:t>
            </a:r>
            <a:r>
              <a:rPr lang="en-US" sz="2000" baseline="30000" dirty="0"/>
              <a:t>37</a:t>
            </a:r>
            <a:r>
              <a:rPr lang="en-US" sz="2000" dirty="0"/>
              <a:t>Cl, due to moderate capture cross section of </a:t>
            </a:r>
            <a:r>
              <a:rPr lang="en-US" sz="2000" baseline="30000" dirty="0"/>
              <a:t>35</a:t>
            </a:r>
            <a:r>
              <a:rPr lang="en-US" sz="2000" dirty="0"/>
              <a:t>Cl</a:t>
            </a:r>
          </a:p>
          <a:p>
            <a:endParaRPr lang="en-US" sz="2800" dirty="0"/>
          </a:p>
          <a:p>
            <a:endParaRPr lang="en-US" sz="2800" dirty="0"/>
          </a:p>
          <a:p>
            <a:endParaRPr lang="en-US" sz="2800" dirty="0"/>
          </a:p>
        </p:txBody>
      </p:sp>
      <p:sp>
        <p:nvSpPr>
          <p:cNvPr id="4" name="Slide Number Placeholder 3">
            <a:extLst>
              <a:ext uri="{FF2B5EF4-FFF2-40B4-BE49-F238E27FC236}">
                <a16:creationId xmlns:a16="http://schemas.microsoft.com/office/drawing/2014/main" id="{8EB8106B-800A-274F-B4F5-58CF823658F4}"/>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848615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8564-B93B-6DCD-86E6-25AD46960C23}"/>
              </a:ext>
            </a:extLst>
          </p:cNvPr>
          <p:cNvSpPr>
            <a:spLocks noGrp="1"/>
          </p:cNvSpPr>
          <p:nvPr>
            <p:ph type="title"/>
          </p:nvPr>
        </p:nvSpPr>
        <p:spPr/>
        <p:txBody>
          <a:bodyPr/>
          <a:lstStyle/>
          <a:p>
            <a:r>
              <a:rPr lang="en-US" dirty="0"/>
              <a:t>Coolant Salts</a:t>
            </a:r>
          </a:p>
        </p:txBody>
      </p:sp>
      <p:sp>
        <p:nvSpPr>
          <p:cNvPr id="3" name="Content Placeholder 2">
            <a:extLst>
              <a:ext uri="{FF2B5EF4-FFF2-40B4-BE49-F238E27FC236}">
                <a16:creationId xmlns:a16="http://schemas.microsoft.com/office/drawing/2014/main" id="{CCA7E875-960E-895E-1AE9-155DB4118AAD}"/>
              </a:ext>
            </a:extLst>
          </p:cNvPr>
          <p:cNvSpPr>
            <a:spLocks noGrp="1"/>
          </p:cNvSpPr>
          <p:nvPr>
            <p:ph sz="half" idx="1"/>
          </p:nvPr>
        </p:nvSpPr>
        <p:spPr>
          <a:xfrm>
            <a:off x="609599" y="1968504"/>
            <a:ext cx="10972799" cy="2574778"/>
          </a:xfrm>
        </p:spPr>
        <p:txBody>
          <a:bodyPr/>
          <a:lstStyle/>
          <a:p>
            <a:r>
              <a:rPr lang="en-US" sz="2200" dirty="0"/>
              <a:t>Coolants have the same requirements as fuel salts, but without the consideration of fission product solubility, and a higher focus on chemical compatibility and thermal properties</a:t>
            </a:r>
          </a:p>
          <a:p>
            <a:r>
              <a:rPr lang="en-US" sz="2200" dirty="0"/>
              <a:t>Some secondary systems also consider nitrate salts, such as NaNO3 and KNO3 or a mixture of the two, often referred to as solar nitrate; or fluoroborates such as NaF-NaBF3</a:t>
            </a:r>
          </a:p>
        </p:txBody>
      </p:sp>
      <p:sp>
        <p:nvSpPr>
          <p:cNvPr id="5" name="Slide Number Placeholder 4">
            <a:extLst>
              <a:ext uri="{FF2B5EF4-FFF2-40B4-BE49-F238E27FC236}">
                <a16:creationId xmlns:a16="http://schemas.microsoft.com/office/drawing/2014/main" id="{0813A614-16B2-A6A6-0A10-807C624C5669}"/>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6" name="Picture 5">
            <a:extLst>
              <a:ext uri="{FF2B5EF4-FFF2-40B4-BE49-F238E27FC236}">
                <a16:creationId xmlns:a16="http://schemas.microsoft.com/office/drawing/2014/main" id="{6717CFE5-86A7-7C4E-EB46-58D7A00B44C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8199" y="4140441"/>
            <a:ext cx="9595597" cy="2215911"/>
          </a:xfrm>
          <a:prstGeom prst="rect">
            <a:avLst/>
          </a:prstGeom>
        </p:spPr>
      </p:pic>
    </p:spTree>
    <p:extLst>
      <p:ext uri="{BB962C8B-B14F-4D97-AF65-F5344CB8AC3E}">
        <p14:creationId xmlns:p14="http://schemas.microsoft.com/office/powerpoint/2010/main" val="3671478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7F8E-1E4D-6E4A-B172-D665E5D95466}"/>
              </a:ext>
            </a:extLst>
          </p:cNvPr>
          <p:cNvSpPr>
            <a:spLocks noGrp="1"/>
          </p:cNvSpPr>
          <p:nvPr>
            <p:ph type="title"/>
          </p:nvPr>
        </p:nvSpPr>
        <p:spPr/>
        <p:txBody>
          <a:bodyPr/>
          <a:lstStyle/>
          <a:p>
            <a:r>
              <a:rPr lang="en-US" dirty="0"/>
              <a:t>Fluorides or Chlorides</a:t>
            </a:r>
          </a:p>
        </p:txBody>
      </p:sp>
      <p:sp>
        <p:nvSpPr>
          <p:cNvPr id="3" name="Content Placeholder 2">
            <a:extLst>
              <a:ext uri="{FF2B5EF4-FFF2-40B4-BE49-F238E27FC236}">
                <a16:creationId xmlns:a16="http://schemas.microsoft.com/office/drawing/2014/main" id="{9AC56C41-D2A2-CD4B-BD15-E5F1A8F952F1}"/>
              </a:ext>
            </a:extLst>
          </p:cNvPr>
          <p:cNvSpPr>
            <a:spLocks noGrp="1"/>
          </p:cNvSpPr>
          <p:nvPr>
            <p:ph idx="1"/>
          </p:nvPr>
        </p:nvSpPr>
        <p:spPr>
          <a:xfrm>
            <a:off x="609600" y="1968500"/>
            <a:ext cx="10972800" cy="4157664"/>
          </a:xfrm>
        </p:spPr>
        <p:txBody>
          <a:bodyPr/>
          <a:lstStyle/>
          <a:p>
            <a:r>
              <a:rPr lang="en-US" sz="2400" dirty="0"/>
              <a:t>Fluoride fuel salts have substantially more experimental data than chloride fuel salts, primarily due to history of MSRs in the thermal spectrum</a:t>
            </a:r>
          </a:p>
          <a:p>
            <a:r>
              <a:rPr lang="en-US" sz="2400" dirty="0"/>
              <a:t>Fluorides have been operated in molten salt reactors, been tested in multiple in-pile loops, with many capsule tests</a:t>
            </a:r>
          </a:p>
          <a:p>
            <a:r>
              <a:rPr lang="en-US" sz="2400" dirty="0"/>
              <a:t>Chloride salts have a history of laboratory measurements of physical properties, but no in-core testing of fuel salts</a:t>
            </a:r>
          </a:p>
          <a:p>
            <a:pPr lvl="1"/>
            <a:r>
              <a:rPr lang="en-US" sz="2400" dirty="0"/>
              <a:t>have extensive use in pyro-processing</a:t>
            </a:r>
          </a:p>
          <a:p>
            <a:r>
              <a:rPr lang="en-US" sz="2400" dirty="0"/>
              <a:t>Chlorides typically have lower melting points, which is preferable</a:t>
            </a:r>
          </a:p>
          <a:p>
            <a:endParaRPr lang="en-US" sz="2400" dirty="0"/>
          </a:p>
          <a:p>
            <a:endParaRPr lang="en-US" sz="2400" dirty="0"/>
          </a:p>
          <a:p>
            <a:endParaRPr lang="en-US" sz="2400" dirty="0"/>
          </a:p>
        </p:txBody>
      </p:sp>
      <p:sp>
        <p:nvSpPr>
          <p:cNvPr id="4" name="Slide Number Placeholder 3">
            <a:extLst>
              <a:ext uri="{FF2B5EF4-FFF2-40B4-BE49-F238E27FC236}">
                <a16:creationId xmlns:a16="http://schemas.microsoft.com/office/drawing/2014/main" id="{9F48A182-5E6A-1548-82FE-7D9BD64DD1C0}"/>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3344329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MSR Fuel Candidates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4"/>
            <a:ext cx="10721009" cy="2205932"/>
          </a:xfrm>
        </p:spPr>
        <p:txBody>
          <a:bodyPr/>
          <a:lstStyle/>
          <a:p>
            <a:r>
              <a:rPr lang="en-US" sz="2400" dirty="0"/>
              <a:t>The fuel in the MSR must fulfill several requirements with respect to its physical and chemical properties</a:t>
            </a:r>
          </a:p>
          <a:p>
            <a:r>
              <a:rPr lang="en-US" sz="2400" dirty="0"/>
              <a:t>These include low melting point, high solubility of relevant species, low viscosity, high heat capacity, high thermal conductivity, low volatility/vapor pressure, neutron transparency</a:t>
            </a:r>
          </a:p>
          <a:p>
            <a:endParaRPr lang="en-US" sz="2400" dirty="0"/>
          </a:p>
        </p:txBody>
      </p:sp>
      <p:pic>
        <p:nvPicPr>
          <p:cNvPr id="8" name="Content Placeholder 7">
            <a:extLst>
              <a:ext uri="{FF2B5EF4-FFF2-40B4-BE49-F238E27FC236}">
                <a16:creationId xmlns:a16="http://schemas.microsoft.com/office/drawing/2014/main" id="{B29C923F-5A9D-8E4E-8D6F-5D55CEEDE9AF}"/>
              </a:ext>
            </a:extLst>
          </p:cNvPr>
          <p:cNvPicPr>
            <a:picLocks noGrp="1" noChangeAspect="1"/>
          </p:cNvPicPr>
          <p:nvPr>
            <p:ph sz="half" idx="4294967295"/>
          </p:nvPr>
        </p:nvPicPr>
        <p:blipFill rotWithShape="1">
          <a:blip r:embed="rId2" cstate="screen">
            <a:extLst>
              <a:ext uri="{28A0092B-C50C-407E-A947-70E740481C1C}">
                <a14:useLocalDpi xmlns:a14="http://schemas.microsoft.com/office/drawing/2010/main"/>
              </a:ext>
            </a:extLst>
          </a:blip>
          <a:srcRect t="51573"/>
          <a:stretch/>
        </p:blipFill>
        <p:spPr>
          <a:xfrm>
            <a:off x="2197301" y="4079260"/>
            <a:ext cx="7797398" cy="2120696"/>
          </a:xfrm>
          <a:prstGeom prst="rect">
            <a:avLst/>
          </a:prstGeom>
        </p:spPr>
      </p:pic>
      <p:sp>
        <p:nvSpPr>
          <p:cNvPr id="4" name="Slide Number Placeholder 3">
            <a:extLst>
              <a:ext uri="{FF2B5EF4-FFF2-40B4-BE49-F238E27FC236}">
                <a16:creationId xmlns:a16="http://schemas.microsoft.com/office/drawing/2014/main" id="{CB998CBE-9AC4-0044-A802-4F15F780E81F}"/>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388971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Neutron Economy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3"/>
            <a:ext cx="5583383" cy="4157663"/>
          </a:xfrm>
        </p:spPr>
        <p:txBody>
          <a:bodyPr/>
          <a:lstStyle/>
          <a:p>
            <a:r>
              <a:rPr lang="en-US" sz="2400" dirty="0"/>
              <a:t>Thermal spectrum molten salt fuels were identified as candidates for breeding (converting fertile into fissile), specifically in the thorium fuel cycle</a:t>
            </a:r>
          </a:p>
          <a:p>
            <a:r>
              <a:rPr lang="en-US" sz="2400" dirty="0"/>
              <a:t>Li-Be-F salts were selected because of the low thermal neutron cross sections of </a:t>
            </a:r>
            <a:r>
              <a:rPr lang="en-US" sz="2400" baseline="30000" dirty="0"/>
              <a:t>7</a:t>
            </a:r>
            <a:r>
              <a:rPr lang="en-US" sz="2400" dirty="0"/>
              <a:t>Li (</a:t>
            </a:r>
            <a:r>
              <a:rPr lang="en-US" sz="2400" dirty="0" err="1">
                <a:latin typeface="Symbol" pitchFamily="2" charset="2"/>
              </a:rPr>
              <a:t>s</a:t>
            </a:r>
            <a:r>
              <a:rPr lang="en-US" sz="2400" baseline="-25000" dirty="0" err="1"/>
              <a:t>th</a:t>
            </a:r>
            <a:r>
              <a:rPr lang="en-US" sz="2400" dirty="0"/>
              <a:t> = 0.045 b) and Be (</a:t>
            </a:r>
            <a:r>
              <a:rPr lang="en-US" sz="2400" dirty="0" err="1">
                <a:latin typeface="Symbol" pitchFamily="2" charset="2"/>
              </a:rPr>
              <a:t>s</a:t>
            </a:r>
            <a:r>
              <a:rPr lang="en-US" sz="2400" baseline="-25000" dirty="0" err="1"/>
              <a:t>th</a:t>
            </a:r>
            <a:r>
              <a:rPr lang="en-US" sz="2400" dirty="0"/>
              <a:t> =0.0088 b) </a:t>
            </a:r>
          </a:p>
          <a:p>
            <a:endParaRPr lang="en-US" sz="24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6197599" y="1968503"/>
            <a:ext cx="5486915" cy="4157663"/>
          </a:xfrm>
        </p:spPr>
        <p:txBody>
          <a:bodyPr/>
          <a:lstStyle/>
          <a:p>
            <a:r>
              <a:rPr lang="en-US" sz="2400" dirty="0"/>
              <a:t>Natural lithium cannot be used as part of the nuclear fuel as it contains about 7.6% of </a:t>
            </a:r>
            <a:r>
              <a:rPr lang="en-US" sz="2400" baseline="30000" dirty="0"/>
              <a:t>6</a:t>
            </a:r>
            <a:r>
              <a:rPr lang="en-US" sz="2400" dirty="0"/>
              <a:t>Li (the remaining 92.4% is </a:t>
            </a:r>
            <a:r>
              <a:rPr lang="en-US" sz="2400" baseline="30000" dirty="0"/>
              <a:t>7</a:t>
            </a:r>
            <a:r>
              <a:rPr lang="en-US" sz="2400" dirty="0"/>
              <a:t>Li), which has a very high parasitic neutron capture cross-section (</a:t>
            </a:r>
            <a:r>
              <a:rPr lang="en-US" sz="2400" dirty="0" err="1">
                <a:latin typeface="Symbol" pitchFamily="2" charset="2"/>
              </a:rPr>
              <a:t>s</a:t>
            </a:r>
            <a:r>
              <a:rPr lang="en-US" sz="2400" baseline="-25000" dirty="0" err="1"/>
              <a:t>th</a:t>
            </a:r>
            <a:r>
              <a:rPr lang="en-US" sz="2400" baseline="-25000" dirty="0"/>
              <a:t> </a:t>
            </a:r>
            <a:r>
              <a:rPr lang="en-US" sz="2400" dirty="0"/>
              <a:t>= 940 b)</a:t>
            </a:r>
          </a:p>
          <a:p>
            <a:r>
              <a:rPr lang="en-US" sz="2400" dirty="0"/>
              <a:t>Therefore, enrichment of </a:t>
            </a:r>
            <a:r>
              <a:rPr lang="en-US" sz="2400" baseline="30000" dirty="0"/>
              <a:t>7</a:t>
            </a:r>
            <a:r>
              <a:rPr lang="en-US" sz="2400" dirty="0"/>
              <a:t>Li is required before it can be used in the core</a:t>
            </a:r>
          </a:p>
          <a:p>
            <a:r>
              <a:rPr lang="en-US" sz="2400" dirty="0"/>
              <a:t>Tritium production can become a problem without enrichment</a:t>
            </a:r>
          </a:p>
        </p:txBody>
      </p:sp>
      <p:sp>
        <p:nvSpPr>
          <p:cNvPr id="5" name="Slide Number Placeholder 4">
            <a:extLst>
              <a:ext uri="{FF2B5EF4-FFF2-40B4-BE49-F238E27FC236}">
                <a16:creationId xmlns:a16="http://schemas.microsoft.com/office/drawing/2014/main" id="{44F8E09E-A7E2-1B4D-BE32-4ABA10F5F4F7}"/>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Tree>
    <p:extLst>
      <p:ext uri="{BB962C8B-B14F-4D97-AF65-F5344CB8AC3E}">
        <p14:creationId xmlns:p14="http://schemas.microsoft.com/office/powerpoint/2010/main" val="2832244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Fast Spectrum MSRs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588000" cy="4157663"/>
          </a:xfrm>
        </p:spPr>
        <p:txBody>
          <a:bodyPr/>
          <a:lstStyle/>
          <a:p>
            <a:r>
              <a:rPr lang="en-US" sz="2400" dirty="0"/>
              <a:t>Current MSR designs move away from thermal graphite-moderated concepts, and favor non-moderated concepts that have a fast(</a:t>
            </a:r>
            <a:r>
              <a:rPr lang="en-US" sz="2400" dirty="0" err="1"/>
              <a:t>er</a:t>
            </a:r>
            <a:r>
              <a:rPr lang="en-US" sz="2400" dirty="0"/>
              <a:t>) neutron spectrum and can function to burn radioactive waste</a:t>
            </a:r>
          </a:p>
          <a:p>
            <a:r>
              <a:rPr lang="en-US" sz="2400" dirty="0"/>
              <a:t>Fuel selection for the non-moderated reactor concepts is more flexible, and elements other than </a:t>
            </a:r>
            <a:r>
              <a:rPr lang="en-US" sz="2400" baseline="30000" dirty="0"/>
              <a:t>7</a:t>
            </a:r>
            <a:r>
              <a:rPr lang="en-US" sz="2400" dirty="0"/>
              <a:t>Li can be considered</a:t>
            </a:r>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6197600" y="1968503"/>
            <a:ext cx="5384800" cy="4157663"/>
          </a:xfrm>
        </p:spPr>
        <p:txBody>
          <a:bodyPr/>
          <a:lstStyle/>
          <a:p>
            <a:r>
              <a:rPr lang="en-US" sz="2400" dirty="0"/>
              <a:t>The neutron capture cross-section of the alkali halides and alkali-earth halides is generally lower in the fast spectrum than in the thermal spectrum </a:t>
            </a:r>
          </a:p>
          <a:p>
            <a:r>
              <a:rPr lang="en-US" sz="2400" dirty="0"/>
              <a:t>Compounds like </a:t>
            </a:r>
            <a:r>
              <a:rPr lang="en-US" sz="2400" dirty="0" err="1"/>
              <a:t>NaF</a:t>
            </a:r>
            <a:r>
              <a:rPr lang="en-US" sz="2400" dirty="0"/>
              <a:t>, KF, </a:t>
            </a:r>
            <a:r>
              <a:rPr lang="en-US" sz="2400" dirty="0" err="1"/>
              <a:t>RbF</a:t>
            </a:r>
            <a:r>
              <a:rPr lang="en-US" sz="2400" dirty="0"/>
              <a:t>, or CaF2 can be considered as part of the fuel matrix</a:t>
            </a:r>
          </a:p>
          <a:p>
            <a:r>
              <a:rPr lang="en-US" sz="2400" dirty="0"/>
              <a:t>There are also some fast MSR concepts which are based on chloride salts</a:t>
            </a:r>
          </a:p>
          <a:p>
            <a:endParaRPr lang="en-US" sz="2400" dirty="0"/>
          </a:p>
        </p:txBody>
      </p:sp>
      <p:sp>
        <p:nvSpPr>
          <p:cNvPr id="5" name="Slide Number Placeholder 4">
            <a:extLst>
              <a:ext uri="{FF2B5EF4-FFF2-40B4-BE49-F238E27FC236}">
                <a16:creationId xmlns:a16="http://schemas.microsoft.com/office/drawing/2014/main" id="{2BADECE3-5414-AF43-893B-68796C0F6B9E}"/>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1245200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Solubility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3"/>
            <a:ext cx="7025553" cy="4157663"/>
          </a:xfrm>
        </p:spPr>
        <p:txBody>
          <a:bodyPr/>
          <a:lstStyle/>
          <a:p>
            <a:r>
              <a:rPr lang="en-US" sz="2200" dirty="0"/>
              <a:t>The solubility of ThF4 in a matrix of </a:t>
            </a:r>
            <a:r>
              <a:rPr lang="en-US" sz="2200" dirty="0" err="1"/>
              <a:t>LiF</a:t>
            </a:r>
            <a:r>
              <a:rPr lang="en-US" sz="2200" dirty="0"/>
              <a:t> can be deduced from the binary phase diagram</a:t>
            </a:r>
          </a:p>
          <a:p>
            <a:r>
              <a:rPr lang="en-US" sz="2200" dirty="0"/>
              <a:t>For example, the solubility of ThF4 in a melt of </a:t>
            </a:r>
            <a:r>
              <a:rPr lang="en-US" sz="2200" dirty="0" err="1"/>
              <a:t>LiF</a:t>
            </a:r>
            <a:r>
              <a:rPr lang="en-US" sz="2200" dirty="0"/>
              <a:t> for T~903K (inlet temperature of the MSFR) is between 20.0 and 32.3 mol%</a:t>
            </a:r>
          </a:p>
          <a:p>
            <a:r>
              <a:rPr lang="en-US" sz="2200" dirty="0"/>
              <a:t>Compositions in this range are, thus, of interest as fuel for MSRs</a:t>
            </a:r>
          </a:p>
          <a:p>
            <a:r>
              <a:rPr lang="en-US" sz="2200" dirty="0"/>
              <a:t>Similarly, eutectic composition and melting temperature are key factors that govern the utilization of specific salts</a:t>
            </a:r>
          </a:p>
          <a:p>
            <a:r>
              <a:rPr lang="en-US" sz="2200" dirty="0"/>
              <a:t>Many fission products will form some kind of salt species, with varying degrees of solubility</a:t>
            </a:r>
          </a:p>
        </p:txBody>
      </p:sp>
      <p:pic>
        <p:nvPicPr>
          <p:cNvPr id="5" name="Content Placeholder 4">
            <a:extLst>
              <a:ext uri="{FF2B5EF4-FFF2-40B4-BE49-F238E27FC236}">
                <a16:creationId xmlns:a16="http://schemas.microsoft.com/office/drawing/2014/main" id="{796F2921-BDE8-194D-877E-83633E04DF12}"/>
              </a:ext>
            </a:extLst>
          </p:cNvPr>
          <p:cNvPicPr>
            <a:picLocks noGrp="1" noChangeAspect="1"/>
          </p:cNvPicPr>
          <p:nvPr>
            <p:ph sz="half" idx="4294967295"/>
          </p:nvPr>
        </p:nvPicPr>
        <p:blipFill>
          <a:blip r:embed="rId2" cstate="screen">
            <a:extLst>
              <a:ext uri="{28A0092B-C50C-407E-A947-70E740481C1C}">
                <a14:useLocalDpi xmlns:a14="http://schemas.microsoft.com/office/drawing/2010/main"/>
              </a:ext>
            </a:extLst>
          </a:blip>
          <a:stretch>
            <a:fillRect/>
          </a:stretch>
        </p:blipFill>
        <p:spPr>
          <a:xfrm>
            <a:off x="7835130" y="1088970"/>
            <a:ext cx="3849756" cy="2686164"/>
          </a:xfrm>
          <a:prstGeom prst="rect">
            <a:avLst/>
          </a:prstGeom>
        </p:spPr>
      </p:pic>
      <p:sp>
        <p:nvSpPr>
          <p:cNvPr id="4" name="Slide Number Placeholder 3">
            <a:extLst>
              <a:ext uri="{FF2B5EF4-FFF2-40B4-BE49-F238E27FC236}">
                <a16:creationId xmlns:a16="http://schemas.microsoft.com/office/drawing/2014/main" id="{102514BD-06A2-5A47-9078-ECBAD1693474}"/>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pic>
        <p:nvPicPr>
          <p:cNvPr id="6" name="Picture 5">
            <a:extLst>
              <a:ext uri="{FF2B5EF4-FFF2-40B4-BE49-F238E27FC236}">
                <a16:creationId xmlns:a16="http://schemas.microsoft.com/office/drawing/2014/main" id="{2F2ACB3F-5D78-16BE-B8E7-E2A39F66F0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37639" y="3775134"/>
            <a:ext cx="3461552" cy="2686164"/>
          </a:xfrm>
          <a:prstGeom prst="rect">
            <a:avLst/>
          </a:prstGeom>
        </p:spPr>
      </p:pic>
    </p:spTree>
    <p:extLst>
      <p:ext uri="{BB962C8B-B14F-4D97-AF65-F5344CB8AC3E}">
        <p14:creationId xmlns:p14="http://schemas.microsoft.com/office/powerpoint/2010/main" val="2245279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Low Viscosity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8" y="1968503"/>
            <a:ext cx="7550427" cy="4157663"/>
          </a:xfrm>
        </p:spPr>
        <p:txBody>
          <a:bodyPr/>
          <a:lstStyle/>
          <a:p>
            <a:r>
              <a:rPr lang="en-US" sz="2000" dirty="0"/>
              <a:t>The viscosity of a fluid is a measure of its resistance to deformation at a given rate; conceptualized as the internal frictional force that arises between adjacent layers of fluid that are in relative motion</a:t>
            </a:r>
          </a:p>
          <a:p>
            <a:r>
              <a:rPr lang="en-US" sz="2000" dirty="0"/>
              <a:t>Lower viscosity results in less force to move the fluid at a given velocity</a:t>
            </a:r>
          </a:p>
          <a:p>
            <a:r>
              <a:rPr lang="en-US" sz="2000" dirty="0"/>
              <a:t>It is sometimes more convenient to utilize the kinematic viscosity, defined as the ratio of the dynamic viscosity </a:t>
            </a:r>
            <a:r>
              <a:rPr lang="el-GR" sz="2000" dirty="0"/>
              <a:t>μ</a:t>
            </a:r>
            <a:r>
              <a:rPr lang="en-US" sz="2000" dirty="0"/>
              <a:t> (or </a:t>
            </a:r>
            <a:r>
              <a:rPr lang="en-US" sz="2000" dirty="0">
                <a:latin typeface="Symbol" pitchFamily="2" charset="2"/>
              </a:rPr>
              <a:t>h</a:t>
            </a:r>
            <a:r>
              <a:rPr lang="en-US" sz="2000" dirty="0"/>
              <a:t>) to the density of the fluid </a:t>
            </a:r>
            <a:r>
              <a:rPr lang="el-GR" sz="2000" dirty="0"/>
              <a:t>ρ</a:t>
            </a:r>
            <a:endParaRPr lang="en-US" sz="2000" dirty="0"/>
          </a:p>
          <a:p>
            <a:r>
              <a:rPr lang="en-US" sz="2000" dirty="0"/>
              <a:t>The viscosity of fluoride systems shows significant non-ideal mixing behavior</a:t>
            </a:r>
          </a:p>
          <a:p>
            <a:r>
              <a:rPr lang="en-US" sz="2000" dirty="0"/>
              <a:t>Thus, it is not possible to accurately estimate the viscosity of the fluoride salts from its constituents, and therefore more measurements are required</a:t>
            </a:r>
          </a:p>
          <a:p>
            <a:endParaRPr lang="en-US" sz="2000" dirty="0"/>
          </a:p>
          <a:p>
            <a:endParaRPr lang="en-US" sz="2000" dirty="0"/>
          </a:p>
        </p:txBody>
      </p:sp>
      <p:pic>
        <p:nvPicPr>
          <p:cNvPr id="5" name="Content Placeholder 4">
            <a:extLst>
              <a:ext uri="{FF2B5EF4-FFF2-40B4-BE49-F238E27FC236}">
                <a16:creationId xmlns:a16="http://schemas.microsoft.com/office/drawing/2014/main" id="{F4D953CA-251F-8E4B-B2A2-F7D4A260A3E1}"/>
              </a:ext>
            </a:extLst>
          </p:cNvPr>
          <p:cNvPicPr>
            <a:picLocks noGrp="1" noChangeAspect="1"/>
          </p:cNvPicPr>
          <p:nvPr>
            <p:ph sz="half" idx="4294967295"/>
          </p:nvPr>
        </p:nvPicPr>
        <p:blipFill>
          <a:blip r:embed="rId2" cstate="screen">
            <a:extLst>
              <a:ext uri="{28A0092B-C50C-407E-A947-70E740481C1C}">
                <a14:useLocalDpi xmlns:a14="http://schemas.microsoft.com/office/drawing/2010/main"/>
              </a:ext>
            </a:extLst>
          </a:blip>
          <a:stretch>
            <a:fillRect/>
          </a:stretch>
        </p:blipFill>
        <p:spPr>
          <a:xfrm>
            <a:off x="8324821" y="825500"/>
            <a:ext cx="3340706" cy="3428363"/>
          </a:xfrm>
          <a:prstGeom prst="rect">
            <a:avLst/>
          </a:prstGeom>
        </p:spPr>
      </p:pic>
      <p:pic>
        <p:nvPicPr>
          <p:cNvPr id="6" name="Picture 5">
            <a:extLst>
              <a:ext uri="{FF2B5EF4-FFF2-40B4-BE49-F238E27FC236}">
                <a16:creationId xmlns:a16="http://schemas.microsoft.com/office/drawing/2014/main" id="{D4AD65D3-2B3C-4143-B8AD-9D671B6F13D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24821" y="4205432"/>
            <a:ext cx="3342044" cy="2652568"/>
          </a:xfrm>
          <a:prstGeom prst="rect">
            <a:avLst/>
          </a:prstGeom>
        </p:spPr>
      </p:pic>
      <p:pic>
        <p:nvPicPr>
          <p:cNvPr id="7" name="Picture 6">
            <a:extLst>
              <a:ext uri="{FF2B5EF4-FFF2-40B4-BE49-F238E27FC236}">
                <a16:creationId xmlns:a16="http://schemas.microsoft.com/office/drawing/2014/main" id="{F8B786C0-6D8B-2D4E-A39D-1345F058EC9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470159" y="4570268"/>
            <a:ext cx="1406948" cy="177169"/>
          </a:xfrm>
          <a:prstGeom prst="rect">
            <a:avLst/>
          </a:prstGeom>
        </p:spPr>
      </p:pic>
      <p:pic>
        <p:nvPicPr>
          <p:cNvPr id="8" name="Picture 7">
            <a:extLst>
              <a:ext uri="{FF2B5EF4-FFF2-40B4-BE49-F238E27FC236}">
                <a16:creationId xmlns:a16="http://schemas.microsoft.com/office/drawing/2014/main" id="{3556AD50-0F32-474C-A791-5C5BF9D9AB13}"/>
              </a:ext>
            </a:extLst>
          </p:cNvPr>
          <p:cNvPicPr>
            <a:picLocks noChangeAspect="1"/>
          </p:cNvPicPr>
          <p:nvPr/>
        </p:nvPicPr>
        <p:blipFill>
          <a:blip r:embed="rId5"/>
          <a:stretch>
            <a:fillRect/>
          </a:stretch>
        </p:blipFill>
        <p:spPr>
          <a:xfrm>
            <a:off x="8949459" y="1434306"/>
            <a:ext cx="2273300" cy="228600"/>
          </a:xfrm>
          <a:prstGeom prst="rect">
            <a:avLst/>
          </a:prstGeom>
        </p:spPr>
      </p:pic>
      <p:sp>
        <p:nvSpPr>
          <p:cNvPr id="4" name="Slide Number Placeholder 3">
            <a:extLst>
              <a:ext uri="{FF2B5EF4-FFF2-40B4-BE49-F238E27FC236}">
                <a16:creationId xmlns:a16="http://schemas.microsoft.com/office/drawing/2014/main" id="{79DF976C-0188-BA46-8832-DE6525E60FFB}"/>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400172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Heat Capacity and Thermal Conductivity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639957"/>
            <a:ext cx="5089452" cy="4486209"/>
          </a:xfrm>
        </p:spPr>
        <p:txBody>
          <a:bodyPr/>
          <a:lstStyle/>
          <a:p>
            <a:r>
              <a:rPr lang="en-US" sz="2200" dirty="0"/>
              <a:t>Heat Capacity is defined as the amount of heat to be supplied to an object to produce a unit change in its temperature</a:t>
            </a:r>
          </a:p>
          <a:p>
            <a:r>
              <a:rPr lang="en-US" sz="2200" dirty="0"/>
              <a:t>High heat capacity enables a small amount of the refrigerant to transfer a large amount of heat very efficiently</a:t>
            </a:r>
          </a:p>
          <a:p>
            <a:r>
              <a:rPr lang="en-US" sz="2200" dirty="0"/>
              <a:t>While salts have good heat capacity, data on experimental heat capacity and thermal conductivity of molten fluoride systems containing actinide fluorides are generally lacking</a:t>
            </a:r>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5521124" y="1639957"/>
            <a:ext cx="6061276" cy="4486209"/>
          </a:xfrm>
        </p:spPr>
        <p:txBody>
          <a:bodyPr/>
          <a:lstStyle/>
          <a:p>
            <a:r>
              <a:rPr lang="en-US" sz="2200" dirty="0"/>
              <a:t>The thermal conductivity of a material is a measure of its ability to conduct heat</a:t>
            </a:r>
          </a:p>
          <a:p>
            <a:r>
              <a:rPr lang="en-US" sz="2200" dirty="0"/>
              <a:t>High thermal conductivity and thermal diffusivity will increase the rate of heat transfer through the fluid</a:t>
            </a:r>
          </a:p>
        </p:txBody>
      </p:sp>
      <p:pic>
        <p:nvPicPr>
          <p:cNvPr id="5" name="Picture 4">
            <a:extLst>
              <a:ext uri="{FF2B5EF4-FFF2-40B4-BE49-F238E27FC236}">
                <a16:creationId xmlns:a16="http://schemas.microsoft.com/office/drawing/2014/main" id="{CD4B2C85-2BBB-644E-8D15-7356106BD68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69863" y="3626033"/>
            <a:ext cx="3802927" cy="2912881"/>
          </a:xfrm>
          <a:prstGeom prst="rect">
            <a:avLst/>
          </a:prstGeom>
        </p:spPr>
      </p:pic>
      <p:pic>
        <p:nvPicPr>
          <p:cNvPr id="6" name="Picture 5">
            <a:extLst>
              <a:ext uri="{FF2B5EF4-FFF2-40B4-BE49-F238E27FC236}">
                <a16:creationId xmlns:a16="http://schemas.microsoft.com/office/drawing/2014/main" id="{7E79E0D1-1799-ED46-895B-1FDB765D098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60908" y="4055323"/>
            <a:ext cx="2734841" cy="178697"/>
          </a:xfrm>
          <a:prstGeom prst="rect">
            <a:avLst/>
          </a:prstGeom>
        </p:spPr>
      </p:pic>
      <p:sp>
        <p:nvSpPr>
          <p:cNvPr id="7" name="Slide Number Placeholder 6">
            <a:extLst>
              <a:ext uri="{FF2B5EF4-FFF2-40B4-BE49-F238E27FC236}">
                <a16:creationId xmlns:a16="http://schemas.microsoft.com/office/drawing/2014/main" id="{1B11E85F-AB02-6347-9F63-D2D76CC225C1}"/>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8" name="Picture 7">
            <a:extLst>
              <a:ext uri="{FF2B5EF4-FFF2-40B4-BE49-F238E27FC236}">
                <a16:creationId xmlns:a16="http://schemas.microsoft.com/office/drawing/2014/main" id="{69BD10B2-4141-AEB9-1902-49A2B20AB350}"/>
              </a:ext>
            </a:extLst>
          </p:cNvPr>
          <p:cNvPicPr>
            <a:picLocks noChangeAspect="1"/>
          </p:cNvPicPr>
          <p:nvPr/>
        </p:nvPicPr>
        <p:blipFill>
          <a:blip r:embed="rId4"/>
          <a:stretch>
            <a:fillRect/>
          </a:stretch>
        </p:blipFill>
        <p:spPr>
          <a:xfrm>
            <a:off x="10160000" y="3706775"/>
            <a:ext cx="1384300" cy="800100"/>
          </a:xfrm>
          <a:prstGeom prst="rect">
            <a:avLst/>
          </a:prstGeom>
        </p:spPr>
      </p:pic>
      <p:pic>
        <p:nvPicPr>
          <p:cNvPr id="9" name="Picture 8">
            <a:extLst>
              <a:ext uri="{FF2B5EF4-FFF2-40B4-BE49-F238E27FC236}">
                <a16:creationId xmlns:a16="http://schemas.microsoft.com/office/drawing/2014/main" id="{105AC4E8-BB61-8611-D8E3-5EC9B1760DB3}"/>
              </a:ext>
            </a:extLst>
          </p:cNvPr>
          <p:cNvPicPr>
            <a:picLocks noChangeAspect="1"/>
          </p:cNvPicPr>
          <p:nvPr/>
        </p:nvPicPr>
        <p:blipFill>
          <a:blip r:embed="rId5"/>
          <a:stretch>
            <a:fillRect/>
          </a:stretch>
        </p:blipFill>
        <p:spPr>
          <a:xfrm>
            <a:off x="9810890" y="4685141"/>
            <a:ext cx="2082520" cy="408719"/>
          </a:xfrm>
          <a:prstGeom prst="rect">
            <a:avLst/>
          </a:prstGeom>
        </p:spPr>
      </p:pic>
    </p:spTree>
    <p:extLst>
      <p:ext uri="{BB962C8B-B14F-4D97-AF65-F5344CB8AC3E}">
        <p14:creationId xmlns:p14="http://schemas.microsoft.com/office/powerpoint/2010/main" val="439909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A71B1-525A-124D-B5AB-07F29AE751F8}"/>
              </a:ext>
            </a:extLst>
          </p:cNvPr>
          <p:cNvSpPr>
            <a:spLocks noGrp="1"/>
          </p:cNvSpPr>
          <p:nvPr>
            <p:ph type="title"/>
          </p:nvPr>
        </p:nvSpPr>
        <p:spPr/>
        <p:txBody>
          <a:bodyPr/>
          <a:lstStyle/>
          <a:p>
            <a:r>
              <a:rPr lang="en-US" dirty="0"/>
              <a:t>Heat Transfer</a:t>
            </a:r>
          </a:p>
        </p:txBody>
      </p:sp>
      <p:sp>
        <p:nvSpPr>
          <p:cNvPr id="3" name="Content Placeholder 2">
            <a:extLst>
              <a:ext uri="{FF2B5EF4-FFF2-40B4-BE49-F238E27FC236}">
                <a16:creationId xmlns:a16="http://schemas.microsoft.com/office/drawing/2014/main" id="{A985FFD0-7347-B44E-B2E6-75B5589528D9}"/>
              </a:ext>
            </a:extLst>
          </p:cNvPr>
          <p:cNvSpPr>
            <a:spLocks noGrp="1"/>
          </p:cNvSpPr>
          <p:nvPr>
            <p:ph sz="half" idx="1"/>
          </p:nvPr>
        </p:nvSpPr>
        <p:spPr>
          <a:xfrm>
            <a:off x="609599" y="1968503"/>
            <a:ext cx="5769935" cy="4157663"/>
          </a:xfrm>
        </p:spPr>
        <p:txBody>
          <a:bodyPr/>
          <a:lstStyle/>
          <a:p>
            <a:r>
              <a:rPr lang="en-US" sz="2400" dirty="0"/>
              <a:t>Large heat capacity and low viscosity are key properties allowing good heat transfer in molten salts</a:t>
            </a:r>
          </a:p>
          <a:p>
            <a:r>
              <a:rPr lang="en-US" sz="2400" dirty="0"/>
              <a:t>In both forced flow and passive cooling conditions, molten salts outperform liquid metals in turbulent flow for heat transfer</a:t>
            </a:r>
          </a:p>
          <a:p>
            <a:r>
              <a:rPr lang="en-US" sz="2400" dirty="0"/>
              <a:t>However, experimental data for heat transfer is still significantly scattered for the range of relevant MSR conditions</a:t>
            </a:r>
          </a:p>
          <a:p>
            <a:endParaRPr lang="en-US" sz="2400" dirty="0"/>
          </a:p>
        </p:txBody>
      </p:sp>
      <p:pic>
        <p:nvPicPr>
          <p:cNvPr id="5" name="Content Placeholder 4">
            <a:extLst>
              <a:ext uri="{FF2B5EF4-FFF2-40B4-BE49-F238E27FC236}">
                <a16:creationId xmlns:a16="http://schemas.microsoft.com/office/drawing/2014/main" id="{20A625DE-3721-8444-A868-03AFC61D7006}"/>
              </a:ext>
            </a:extLst>
          </p:cNvPr>
          <p:cNvPicPr>
            <a:picLocks noGrp="1" noChangeAspect="1"/>
          </p:cNvPicPr>
          <p:nvPr>
            <p:ph sz="half" idx="4294967295"/>
          </p:nvPr>
        </p:nvPicPr>
        <p:blipFill>
          <a:blip r:embed="rId2" cstate="screen">
            <a:extLst>
              <a:ext uri="{28A0092B-C50C-407E-A947-70E740481C1C}">
                <a14:useLocalDpi xmlns:a14="http://schemas.microsoft.com/office/drawing/2010/main"/>
              </a:ext>
            </a:extLst>
          </a:blip>
          <a:stretch>
            <a:fillRect/>
          </a:stretch>
        </p:blipFill>
        <p:spPr>
          <a:xfrm>
            <a:off x="7143898" y="1641306"/>
            <a:ext cx="4290090" cy="2493746"/>
          </a:xfrm>
          <a:prstGeom prst="rect">
            <a:avLst/>
          </a:prstGeom>
        </p:spPr>
      </p:pic>
      <p:pic>
        <p:nvPicPr>
          <p:cNvPr id="6" name="Picture 5">
            <a:extLst>
              <a:ext uri="{FF2B5EF4-FFF2-40B4-BE49-F238E27FC236}">
                <a16:creationId xmlns:a16="http://schemas.microsoft.com/office/drawing/2014/main" id="{7DE1B477-D1F1-694A-9536-96E630E349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43898" y="4205370"/>
            <a:ext cx="4286102" cy="2333544"/>
          </a:xfrm>
          <a:prstGeom prst="rect">
            <a:avLst/>
          </a:prstGeom>
        </p:spPr>
      </p:pic>
      <p:sp>
        <p:nvSpPr>
          <p:cNvPr id="4" name="Slide Number Placeholder 3">
            <a:extLst>
              <a:ext uri="{FF2B5EF4-FFF2-40B4-BE49-F238E27FC236}">
                <a16:creationId xmlns:a16="http://schemas.microsoft.com/office/drawing/2014/main" id="{3BCBD3DF-6F2F-554D-A698-B78A50E65015}"/>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4122401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Vapor Pressure (Volatility)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588000" cy="4157663"/>
          </a:xfrm>
        </p:spPr>
        <p:txBody>
          <a:bodyPr/>
          <a:lstStyle/>
          <a:p>
            <a:r>
              <a:rPr lang="en-US" sz="2200" dirty="0"/>
              <a:t>Volatility is a material quality which describes how readily a substance vaporizes</a:t>
            </a:r>
          </a:p>
          <a:p>
            <a:r>
              <a:rPr lang="en-US" sz="2200" dirty="0"/>
              <a:t>A substance with high volatility is more likely to exist as a vapor, while a substance with low volatility is more likely to be a liquid or solid</a:t>
            </a:r>
          </a:p>
          <a:p>
            <a:r>
              <a:rPr lang="en-US" sz="2200" dirty="0"/>
              <a:t>Vapor pressure is a measurement of how readily a condensed phase forms a vapor at a given temperature</a:t>
            </a:r>
          </a:p>
          <a:p>
            <a:endParaRPr lang="en-US" sz="2200" dirty="0"/>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6088284" y="1968503"/>
            <a:ext cx="5833640" cy="4157663"/>
          </a:xfrm>
        </p:spPr>
        <p:txBody>
          <a:bodyPr/>
          <a:lstStyle/>
          <a:p>
            <a:r>
              <a:rPr lang="en-US" sz="2200" dirty="0"/>
              <a:t>High vapor pressures indicate a high volatility, while high boiling points usually indicate low volatility</a:t>
            </a:r>
          </a:p>
          <a:p>
            <a:r>
              <a:rPr lang="en-US" sz="2200" dirty="0"/>
              <a:t>Salts should have high boiling and low freezing points, in addition to a low vapor pressure (low volatility)</a:t>
            </a:r>
          </a:p>
          <a:p>
            <a:endParaRPr lang="en-US" sz="2200" dirty="0"/>
          </a:p>
        </p:txBody>
      </p:sp>
      <p:pic>
        <p:nvPicPr>
          <p:cNvPr id="5" name="Picture 4">
            <a:extLst>
              <a:ext uri="{FF2B5EF4-FFF2-40B4-BE49-F238E27FC236}">
                <a16:creationId xmlns:a16="http://schemas.microsoft.com/office/drawing/2014/main" id="{BD92925E-D547-3943-B745-838B3E0CD33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33353" y="4047334"/>
            <a:ext cx="3799689" cy="2752038"/>
          </a:xfrm>
          <a:prstGeom prst="rect">
            <a:avLst/>
          </a:prstGeom>
        </p:spPr>
      </p:pic>
      <p:sp>
        <p:nvSpPr>
          <p:cNvPr id="6" name="Slide Number Placeholder 5">
            <a:extLst>
              <a:ext uri="{FF2B5EF4-FFF2-40B4-BE49-F238E27FC236}">
                <a16:creationId xmlns:a16="http://schemas.microsoft.com/office/drawing/2014/main" id="{DBE4EF2A-A18C-9041-B72C-B2205BBD975C}"/>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dirty="0"/>
          </a:p>
        </p:txBody>
      </p:sp>
    </p:spTree>
    <p:extLst>
      <p:ext uri="{BB962C8B-B14F-4D97-AF65-F5344CB8AC3E}">
        <p14:creationId xmlns:p14="http://schemas.microsoft.com/office/powerpoint/2010/main" val="63022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Chemical Compatibility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588000" cy="4157663"/>
          </a:xfrm>
        </p:spPr>
        <p:txBody>
          <a:bodyPr/>
          <a:lstStyle/>
          <a:p>
            <a:r>
              <a:rPr lang="en-US" sz="2200" dirty="0"/>
              <a:t>For any high-temperature application, corrosion of the metallic container alloy is a primary concern</a:t>
            </a:r>
          </a:p>
          <a:p>
            <a:r>
              <a:rPr lang="en-US" sz="2200" dirty="0"/>
              <a:t>The products of oxidation of metals by molten salts tend to be completely soluble in the corroding media</a:t>
            </a:r>
          </a:p>
          <a:p>
            <a:r>
              <a:rPr lang="en-US" sz="2200" dirty="0"/>
              <a:t>Due to this solubility, passivation is precluded, and the corrosion rate depends on other factors, including oxidants, thermal gradients, salt flow rate, and galvanic coupling</a:t>
            </a:r>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6197600" y="1968503"/>
            <a:ext cx="5620152" cy="4157663"/>
          </a:xfrm>
        </p:spPr>
        <p:txBody>
          <a:bodyPr/>
          <a:lstStyle/>
          <a:p>
            <a:r>
              <a:rPr lang="en-US" sz="2200" dirty="0"/>
              <a:t>Examination of the free energies of formation for typical alloy components shows that chromium is the most active metal component</a:t>
            </a:r>
          </a:p>
          <a:p>
            <a:r>
              <a:rPr lang="en-US" sz="2200" dirty="0"/>
              <a:t>Thus, any oxidative attachment to these alloys should be expected to show selective attack on the chromium</a:t>
            </a:r>
          </a:p>
          <a:p>
            <a:r>
              <a:rPr lang="en-US" sz="2200" dirty="0"/>
              <a:t>Stainless steels, having more chromium than Ni-based alloys, are more susceptible to corrosion by fluoride melts</a:t>
            </a:r>
          </a:p>
          <a:p>
            <a:endParaRPr lang="en-US" sz="2200" dirty="0"/>
          </a:p>
        </p:txBody>
      </p:sp>
      <p:sp>
        <p:nvSpPr>
          <p:cNvPr id="5" name="Slide Number Placeholder 4">
            <a:extLst>
              <a:ext uri="{FF2B5EF4-FFF2-40B4-BE49-F238E27FC236}">
                <a16:creationId xmlns:a16="http://schemas.microsoft.com/office/drawing/2014/main" id="{6C71B474-6ECF-B04F-9B08-D5D5509C2162}"/>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877311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Role of Oxygen Impurities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3"/>
            <a:ext cx="6252288" cy="4157663"/>
          </a:xfrm>
        </p:spPr>
        <p:txBody>
          <a:bodyPr/>
          <a:lstStyle/>
          <a:p>
            <a:r>
              <a:rPr lang="en-US" sz="2200" dirty="0"/>
              <a:t>The behavior of these systems can be significantly affected by the presence of the oxygen that might be resulting from contamination of the salt system</a:t>
            </a:r>
          </a:p>
          <a:p>
            <a:r>
              <a:rPr lang="en-US" sz="2200" dirty="0"/>
              <a:t>Actinide oxides, such as UO2, can precipitate out for oxygen concentrations as low as 1E-4 </a:t>
            </a:r>
          </a:p>
          <a:p>
            <a:r>
              <a:rPr lang="en-US" sz="2200" dirty="0"/>
              <a:t>Metal oxides have much higher melting points and therefore appear as insoluble components at operating temperatures</a:t>
            </a:r>
          </a:p>
          <a:p>
            <a:r>
              <a:rPr lang="en-US" sz="2200" dirty="0"/>
              <a:t>Oxygen also plays a key role in corrosion processes</a:t>
            </a:r>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4294967295"/>
          </p:nvPr>
        </p:nvSpPr>
        <p:spPr>
          <a:xfrm>
            <a:off x="6863786" y="1968503"/>
            <a:ext cx="4718613" cy="4157663"/>
          </a:xfrm>
        </p:spPr>
        <p:txBody>
          <a:bodyPr/>
          <a:lstStyle/>
          <a:p>
            <a:r>
              <a:rPr lang="en-US" sz="2200" dirty="0"/>
              <a:t>ZrF4 was implemented as an oxygen getter in the original MSRE fuels</a:t>
            </a:r>
          </a:p>
          <a:p>
            <a:endParaRPr lang="en-US" sz="2200" dirty="0"/>
          </a:p>
          <a:p>
            <a:endParaRPr lang="en-US" sz="2200" dirty="0"/>
          </a:p>
          <a:p>
            <a:endParaRPr lang="en-US" sz="2200" dirty="0"/>
          </a:p>
          <a:p>
            <a:endParaRPr lang="en-US" sz="2200" dirty="0"/>
          </a:p>
          <a:p>
            <a:r>
              <a:rPr lang="en-US" sz="2200" dirty="0"/>
              <a:t>AlCl</a:t>
            </a:r>
            <a:r>
              <a:rPr lang="en-US" sz="2200" baseline="-25000" dirty="0"/>
              <a:t>3</a:t>
            </a:r>
            <a:r>
              <a:rPr lang="en-US" sz="2200" dirty="0"/>
              <a:t> or CCl</a:t>
            </a:r>
            <a:r>
              <a:rPr lang="en-US" sz="2200" baseline="-25000" dirty="0"/>
              <a:t>4</a:t>
            </a:r>
            <a:r>
              <a:rPr lang="en-US" sz="2200" dirty="0"/>
              <a:t> can also be used as reactants to tie up oxygen, or strip O from UO2</a:t>
            </a:r>
          </a:p>
        </p:txBody>
      </p:sp>
      <p:pic>
        <p:nvPicPr>
          <p:cNvPr id="5" name="Picture 4">
            <a:extLst>
              <a:ext uri="{FF2B5EF4-FFF2-40B4-BE49-F238E27FC236}">
                <a16:creationId xmlns:a16="http://schemas.microsoft.com/office/drawing/2014/main" id="{42854898-538F-034A-AC0E-4580AAFB83D1}"/>
              </a:ext>
            </a:extLst>
          </p:cNvPr>
          <p:cNvPicPr>
            <a:picLocks noChangeAspect="1"/>
          </p:cNvPicPr>
          <p:nvPr/>
        </p:nvPicPr>
        <p:blipFill>
          <a:blip r:embed="rId2"/>
          <a:stretch>
            <a:fillRect/>
          </a:stretch>
        </p:blipFill>
        <p:spPr>
          <a:xfrm>
            <a:off x="7746451" y="3120250"/>
            <a:ext cx="3060700" cy="431800"/>
          </a:xfrm>
          <a:prstGeom prst="rect">
            <a:avLst/>
          </a:prstGeom>
        </p:spPr>
      </p:pic>
      <p:pic>
        <p:nvPicPr>
          <p:cNvPr id="6" name="Picture 5">
            <a:extLst>
              <a:ext uri="{FF2B5EF4-FFF2-40B4-BE49-F238E27FC236}">
                <a16:creationId xmlns:a16="http://schemas.microsoft.com/office/drawing/2014/main" id="{545259AA-9310-D94E-A589-4ADAFEE53F6F}"/>
              </a:ext>
            </a:extLst>
          </p:cNvPr>
          <p:cNvPicPr>
            <a:picLocks noChangeAspect="1"/>
          </p:cNvPicPr>
          <p:nvPr/>
        </p:nvPicPr>
        <p:blipFill>
          <a:blip r:embed="rId3"/>
          <a:stretch>
            <a:fillRect/>
          </a:stretch>
        </p:blipFill>
        <p:spPr>
          <a:xfrm>
            <a:off x="7746451" y="3640251"/>
            <a:ext cx="3162300" cy="457200"/>
          </a:xfrm>
          <a:prstGeom prst="rect">
            <a:avLst/>
          </a:prstGeom>
        </p:spPr>
      </p:pic>
      <p:pic>
        <p:nvPicPr>
          <p:cNvPr id="7" name="Picture 6">
            <a:extLst>
              <a:ext uri="{FF2B5EF4-FFF2-40B4-BE49-F238E27FC236}">
                <a16:creationId xmlns:a16="http://schemas.microsoft.com/office/drawing/2014/main" id="{0AA12594-B6B3-8C4E-B514-7FDEA82E6FCC}"/>
              </a:ext>
            </a:extLst>
          </p:cNvPr>
          <p:cNvPicPr>
            <a:picLocks noChangeAspect="1"/>
          </p:cNvPicPr>
          <p:nvPr/>
        </p:nvPicPr>
        <p:blipFill>
          <a:blip r:embed="rId4"/>
          <a:stretch>
            <a:fillRect/>
          </a:stretch>
        </p:blipFill>
        <p:spPr>
          <a:xfrm>
            <a:off x="7742593" y="4182217"/>
            <a:ext cx="2959100" cy="482600"/>
          </a:xfrm>
          <a:prstGeom prst="rect">
            <a:avLst/>
          </a:prstGeom>
        </p:spPr>
      </p:pic>
      <p:sp>
        <p:nvSpPr>
          <p:cNvPr id="8" name="Slide Number Placeholder 7">
            <a:extLst>
              <a:ext uri="{FF2B5EF4-FFF2-40B4-BE49-F238E27FC236}">
                <a16:creationId xmlns:a16="http://schemas.microsoft.com/office/drawing/2014/main" id="{9DF00FDD-1C77-C245-870D-4ACD5E7EF159}"/>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134943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pPr algn="l"/>
            <a:r>
              <a:rPr lang="en-US" sz="3200" dirty="0"/>
              <a:t>Control of Chemistry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p:txBody>
          <a:bodyPr/>
          <a:lstStyle/>
          <a:p>
            <a:r>
              <a:rPr lang="en-US" sz="2400" dirty="0"/>
              <a:t>Avoiding corrosion in an MSR or in fuel-processing units with metallic components is significantly more challenging than avoiding corrosion in clean salt coolant applications</a:t>
            </a:r>
          </a:p>
          <a:p>
            <a:r>
              <a:rPr lang="en-US" sz="2400" dirty="0"/>
              <a:t>The dissolved uranium and other such species in the fuel salt result in the presence of additional corrosion mechanisms</a:t>
            </a:r>
          </a:p>
          <a:p>
            <a:endParaRPr lang="en-US" sz="2400" dirty="0"/>
          </a:p>
          <a:p>
            <a:endParaRPr lang="en-US" sz="24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2"/>
          </p:nvPr>
        </p:nvSpPr>
        <p:spPr/>
        <p:txBody>
          <a:bodyPr/>
          <a:lstStyle/>
          <a:p>
            <a:r>
              <a:rPr lang="en-US" sz="2400" dirty="0"/>
              <a:t>In clean salt applications, these types of corrosion mechanisms can be reduced or eliminated by (1) using purified salts that do not contain chemical species that can transport chromium and other alloy constituents or (2) operating under chemically reducing conditions</a:t>
            </a:r>
          </a:p>
          <a:p>
            <a:r>
              <a:rPr lang="en-US" sz="2400" dirty="0"/>
              <a:t>Redox control could be accomplished by including an HF/H</a:t>
            </a:r>
            <a:r>
              <a:rPr lang="en-US" sz="2400" baseline="-25000" dirty="0"/>
              <a:t>2</a:t>
            </a:r>
            <a:r>
              <a:rPr lang="en-US" sz="2400" dirty="0"/>
              <a:t> mixture</a:t>
            </a:r>
          </a:p>
          <a:p>
            <a:pPr marL="0" indent="0">
              <a:buNone/>
            </a:pPr>
            <a:endParaRPr lang="en-US" sz="2400" dirty="0"/>
          </a:p>
          <a:p>
            <a:endParaRPr lang="en-US" sz="1400" dirty="0"/>
          </a:p>
        </p:txBody>
      </p:sp>
      <p:sp>
        <p:nvSpPr>
          <p:cNvPr id="5" name="Slide Number Placeholder 4">
            <a:extLst>
              <a:ext uri="{FF2B5EF4-FFF2-40B4-BE49-F238E27FC236}">
                <a16:creationId xmlns:a16="http://schemas.microsoft.com/office/drawing/2014/main" id="{2356AA1A-2F28-CB49-8F8A-AF5BB5CFB402}"/>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366791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4FAD-093F-1742-A5D9-812E3A10E0F8}"/>
              </a:ext>
            </a:extLst>
          </p:cNvPr>
          <p:cNvSpPr>
            <a:spLocks noGrp="1"/>
          </p:cNvSpPr>
          <p:nvPr>
            <p:ph type="title"/>
          </p:nvPr>
        </p:nvSpPr>
        <p:spPr/>
        <p:txBody>
          <a:bodyPr/>
          <a:lstStyle/>
          <a:p>
            <a:r>
              <a:rPr lang="en-US" dirty="0"/>
              <a:t>Changes During Fission</a:t>
            </a:r>
          </a:p>
        </p:txBody>
      </p:sp>
      <p:sp>
        <p:nvSpPr>
          <p:cNvPr id="3" name="Content Placeholder 2">
            <a:extLst>
              <a:ext uri="{FF2B5EF4-FFF2-40B4-BE49-F238E27FC236}">
                <a16:creationId xmlns:a16="http://schemas.microsoft.com/office/drawing/2014/main" id="{E4A11412-2806-EC45-8DBC-64EF23BF5127}"/>
              </a:ext>
            </a:extLst>
          </p:cNvPr>
          <p:cNvSpPr>
            <a:spLocks noGrp="1"/>
          </p:cNvSpPr>
          <p:nvPr>
            <p:ph sz="half" idx="1"/>
          </p:nvPr>
        </p:nvSpPr>
        <p:spPr>
          <a:xfrm>
            <a:off x="609599" y="1968503"/>
            <a:ext cx="7035209" cy="4157663"/>
          </a:xfrm>
        </p:spPr>
        <p:txBody>
          <a:bodyPr/>
          <a:lstStyle/>
          <a:p>
            <a:r>
              <a:rPr lang="en-US" sz="2000" dirty="0"/>
              <a:t>The redox potential is a measure of the tendency of a chemical species to acquire electrons from or lose electrons and thereby be reduced or oxidized</a:t>
            </a:r>
          </a:p>
          <a:p>
            <a:r>
              <a:rPr lang="en-US" sz="2000" dirty="0"/>
              <a:t>The fission process continuously alters the fuel salt redox conditions</a:t>
            </a:r>
          </a:p>
          <a:p>
            <a:r>
              <a:rPr lang="en-US" sz="2000" dirty="0"/>
              <a:t>When a U or Pu ion fissions, the available electrons will rearrange on each fission product to satisfy its valence requirements and produce either net oxidizing or reducing conditions in the melt</a:t>
            </a:r>
          </a:p>
          <a:p>
            <a:r>
              <a:rPr lang="en-US" sz="2000" dirty="0"/>
              <a:t>For UF4, four F ions are released; often fission products require less than four and thus there will be an excess of F ions with net oxidizing conditions</a:t>
            </a:r>
          </a:p>
          <a:p>
            <a:endParaRPr lang="en-US" sz="2000" dirty="0"/>
          </a:p>
        </p:txBody>
      </p:sp>
      <p:pic>
        <p:nvPicPr>
          <p:cNvPr id="5" name="Content Placeholder 4">
            <a:extLst>
              <a:ext uri="{FF2B5EF4-FFF2-40B4-BE49-F238E27FC236}">
                <a16:creationId xmlns:a16="http://schemas.microsoft.com/office/drawing/2014/main" id="{DBE1C536-9340-684D-AEDF-97C00AF91503}"/>
              </a:ext>
            </a:extLst>
          </p:cNvPr>
          <p:cNvPicPr>
            <a:picLocks noGrp="1" noChangeAspect="1"/>
          </p:cNvPicPr>
          <p:nvPr>
            <p:ph sz="half" idx="2"/>
          </p:nvPr>
        </p:nvPicPr>
        <p:blipFill>
          <a:blip r:embed="rId2"/>
          <a:stretch>
            <a:fillRect/>
          </a:stretch>
        </p:blipFill>
        <p:spPr>
          <a:xfrm>
            <a:off x="7826330" y="1968503"/>
            <a:ext cx="3756070" cy="4157663"/>
          </a:xfrm>
          <a:prstGeom prst="rect">
            <a:avLst/>
          </a:prstGeom>
        </p:spPr>
      </p:pic>
      <p:sp>
        <p:nvSpPr>
          <p:cNvPr id="4" name="Slide Number Placeholder 3">
            <a:extLst>
              <a:ext uri="{FF2B5EF4-FFF2-40B4-BE49-F238E27FC236}">
                <a16:creationId xmlns:a16="http://schemas.microsoft.com/office/drawing/2014/main" id="{1F50EE3E-3767-4E4E-8AFD-985FEB9F4AC6}"/>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948437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FAE01C80-0AC0-F649-9541-BDC219D16017}"/>
              </a:ext>
            </a:extLst>
          </p:cNvPr>
          <p:cNvPicPr>
            <a:picLocks noGrp="1" noChangeAspect="1"/>
          </p:cNvPicPr>
          <p:nvPr>
            <p:ph sz="half" idx="2"/>
          </p:nvPr>
        </p:nvPicPr>
        <p:blipFill>
          <a:blip r:embed="rId2"/>
          <a:stretch>
            <a:fillRect/>
          </a:stretch>
        </p:blipFill>
        <p:spPr>
          <a:xfrm>
            <a:off x="7474226" y="1469936"/>
            <a:ext cx="4659861" cy="2649946"/>
          </a:xfrm>
          <a:prstGeom prst="rect">
            <a:avLst/>
          </a:prstGeom>
        </p:spPr>
      </p:pic>
      <p:sp>
        <p:nvSpPr>
          <p:cNvPr id="2" name="Title 1">
            <a:extLst>
              <a:ext uri="{FF2B5EF4-FFF2-40B4-BE49-F238E27FC236}">
                <a16:creationId xmlns:a16="http://schemas.microsoft.com/office/drawing/2014/main" id="{07E824C7-7820-F549-9976-74B35B3B2176}"/>
              </a:ext>
            </a:extLst>
          </p:cNvPr>
          <p:cNvSpPr>
            <a:spLocks noGrp="1"/>
          </p:cNvSpPr>
          <p:nvPr>
            <p:ph type="title"/>
          </p:nvPr>
        </p:nvSpPr>
        <p:spPr/>
        <p:txBody>
          <a:bodyPr/>
          <a:lstStyle/>
          <a:p>
            <a:pPr algn="l"/>
            <a:r>
              <a:rPr lang="en-US" sz="3200" dirty="0"/>
              <a:t>Maintaining Reducing Redox Conditions</a:t>
            </a:r>
          </a:p>
        </p:txBody>
      </p:sp>
      <p:sp>
        <p:nvSpPr>
          <p:cNvPr id="3" name="Content Placeholder 2">
            <a:extLst>
              <a:ext uri="{FF2B5EF4-FFF2-40B4-BE49-F238E27FC236}">
                <a16:creationId xmlns:a16="http://schemas.microsoft.com/office/drawing/2014/main" id="{41C6B774-20F2-C742-AC62-21B2646D8B84}"/>
              </a:ext>
            </a:extLst>
          </p:cNvPr>
          <p:cNvSpPr>
            <a:spLocks noGrp="1"/>
          </p:cNvSpPr>
          <p:nvPr>
            <p:ph sz="half" idx="1"/>
          </p:nvPr>
        </p:nvSpPr>
        <p:spPr>
          <a:xfrm>
            <a:off x="609599" y="1968503"/>
            <a:ext cx="6864627" cy="4157663"/>
          </a:xfrm>
        </p:spPr>
        <p:txBody>
          <a:bodyPr/>
          <a:lstStyle/>
          <a:p>
            <a:r>
              <a:rPr lang="en-US" dirty="0"/>
              <a:t>Maintaining mildly reducing redox conditions is the key to enabling use of engineering alloys</a:t>
            </a:r>
          </a:p>
          <a:p>
            <a:r>
              <a:rPr lang="en-US" dirty="0"/>
              <a:t>Use of a circulating redox buffer provides means to maintain redox condition, while the oxidation states are changing due to fission</a:t>
            </a:r>
          </a:p>
          <a:p>
            <a:r>
              <a:rPr lang="en-US" dirty="0"/>
              <a:t>The ratio of U4+/U3+ serves as a measure of the redox potential of the salt for both chlorides and fluorides</a:t>
            </a:r>
          </a:p>
          <a:p>
            <a:r>
              <a:rPr lang="en-US" dirty="0"/>
              <a:t>Bottom right is the variation of equilibrium concentration of structural metal fluorides as a function of the UF4/UF3 ratio in a molten salt reactor fuel</a:t>
            </a:r>
          </a:p>
          <a:p>
            <a:r>
              <a:rPr lang="en-US" dirty="0"/>
              <a:t>Too high values lead to corrosion of structural materials; too low values lead to formation of UC phases from the graphite</a:t>
            </a:r>
          </a:p>
          <a:p>
            <a:endParaRPr lang="en-US" dirty="0"/>
          </a:p>
          <a:p>
            <a:endParaRPr lang="en-US" dirty="0"/>
          </a:p>
        </p:txBody>
      </p:sp>
      <p:pic>
        <p:nvPicPr>
          <p:cNvPr id="9" name="Picture 8">
            <a:extLst>
              <a:ext uri="{FF2B5EF4-FFF2-40B4-BE49-F238E27FC236}">
                <a16:creationId xmlns:a16="http://schemas.microsoft.com/office/drawing/2014/main" id="{001F3A06-51BA-3347-B608-6D310B1CB83D}"/>
              </a:ext>
            </a:extLst>
          </p:cNvPr>
          <p:cNvPicPr>
            <a:picLocks noChangeAspect="1"/>
          </p:cNvPicPr>
          <p:nvPr/>
        </p:nvPicPr>
        <p:blipFill>
          <a:blip r:embed="rId3"/>
          <a:stretch>
            <a:fillRect/>
          </a:stretch>
        </p:blipFill>
        <p:spPr>
          <a:xfrm>
            <a:off x="8208335" y="4119882"/>
            <a:ext cx="3452776" cy="2601595"/>
          </a:xfrm>
          <a:prstGeom prst="rect">
            <a:avLst/>
          </a:prstGeom>
        </p:spPr>
      </p:pic>
      <p:sp>
        <p:nvSpPr>
          <p:cNvPr id="4" name="Slide Number Placeholder 3">
            <a:extLst>
              <a:ext uri="{FF2B5EF4-FFF2-40B4-BE49-F238E27FC236}">
                <a16:creationId xmlns:a16="http://schemas.microsoft.com/office/drawing/2014/main" id="{1D35DF54-5809-9641-A900-6A7990748FAC}"/>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2761252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588000" cy="4157663"/>
          </a:xfrm>
        </p:spPr>
        <p:txBody>
          <a:bodyPr/>
          <a:lstStyle/>
          <a:p>
            <a:r>
              <a:rPr lang="en-US" sz="2200" dirty="0"/>
              <a:t>Distribution of fission products is a central safety issue</a:t>
            </a:r>
          </a:p>
          <a:p>
            <a:r>
              <a:rPr lang="en-US" sz="2200" dirty="0"/>
              <a:t>Fission products may be gaseous, solid, or dissolved</a:t>
            </a:r>
          </a:p>
          <a:p>
            <a:r>
              <a:rPr lang="en-US" sz="2200" dirty="0"/>
              <a:t>Alkali and alkaline earth fission products form stable salts – Rb, Cs, Sr, Ba</a:t>
            </a:r>
          </a:p>
          <a:p>
            <a:r>
              <a:rPr lang="en-US" sz="2200" dirty="0"/>
              <a:t>Lanthanides and some transition metals can form stable salts</a:t>
            </a:r>
          </a:p>
          <a:p>
            <a:r>
              <a:rPr lang="en-US" sz="2200" dirty="0"/>
              <a:t>Semi-noble fission products plate out on metal surfaces – Nb, Mo, Tc</a:t>
            </a:r>
          </a:p>
          <a:p>
            <a:endParaRPr lang="en-US" sz="2200" dirty="0"/>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2"/>
          </p:nvPr>
        </p:nvSpPr>
        <p:spPr/>
        <p:txBody>
          <a:bodyPr/>
          <a:lstStyle/>
          <a:p>
            <a:r>
              <a:rPr lang="en-US" sz="2200" dirty="0"/>
              <a:t>A few elements are very sensitive to redox changes</a:t>
            </a:r>
          </a:p>
          <a:p>
            <a:r>
              <a:rPr lang="en-US" sz="2200" dirty="0"/>
              <a:t>May elect to actively remove gaseous fission products, but requires cooling fission product traps</a:t>
            </a:r>
          </a:p>
          <a:p>
            <a:pPr lvl="1"/>
            <a:r>
              <a:rPr lang="en-US" sz="2200" dirty="0"/>
              <a:t>Lowers the in-core accident source term</a:t>
            </a:r>
          </a:p>
          <a:p>
            <a:pPr lvl="1"/>
            <a:r>
              <a:rPr lang="en-US" sz="2200" dirty="0"/>
              <a:t>Prevents bubble formation and collapse, which results in reactivity jumps</a:t>
            </a:r>
          </a:p>
          <a:p>
            <a:endParaRPr lang="en-US" sz="2200" dirty="0"/>
          </a:p>
        </p:txBody>
      </p:sp>
      <p:sp>
        <p:nvSpPr>
          <p:cNvPr id="5" name="Slide Number Placeholder 4">
            <a:extLst>
              <a:ext uri="{FF2B5EF4-FFF2-40B4-BE49-F238E27FC236}">
                <a16:creationId xmlns:a16="http://schemas.microsoft.com/office/drawing/2014/main" id="{B8ADFA33-BE7D-CE4F-B517-7D9A72AB6A43}"/>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2115724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2514-D7E3-5F41-91DE-2F2D041554CF}"/>
              </a:ext>
            </a:extLst>
          </p:cNvPr>
          <p:cNvSpPr>
            <a:spLocks noGrp="1"/>
          </p:cNvSpPr>
          <p:nvPr>
            <p:ph type="title"/>
          </p:nvPr>
        </p:nvSpPr>
        <p:spPr/>
        <p:txBody>
          <a:bodyPr/>
          <a:lstStyle/>
          <a:p>
            <a:r>
              <a:rPr lang="en-US" dirty="0"/>
              <a:t>Fission Product Plating</a:t>
            </a:r>
          </a:p>
        </p:txBody>
      </p:sp>
      <p:sp>
        <p:nvSpPr>
          <p:cNvPr id="3" name="Content Placeholder 2">
            <a:extLst>
              <a:ext uri="{FF2B5EF4-FFF2-40B4-BE49-F238E27FC236}">
                <a16:creationId xmlns:a16="http://schemas.microsoft.com/office/drawing/2014/main" id="{34B11B6E-EC40-B141-A9E7-F35287E063A1}"/>
              </a:ext>
            </a:extLst>
          </p:cNvPr>
          <p:cNvSpPr>
            <a:spLocks noGrp="1"/>
          </p:cNvSpPr>
          <p:nvPr>
            <p:ph sz="half" idx="1"/>
          </p:nvPr>
        </p:nvSpPr>
        <p:spPr/>
        <p:txBody>
          <a:bodyPr/>
          <a:lstStyle/>
          <a:p>
            <a:r>
              <a:rPr lang="en-US" sz="2200" dirty="0"/>
              <a:t>Noble metals are insoluble in the fluoride salt and can be found in helium </a:t>
            </a:r>
            <a:r>
              <a:rPr lang="en-US" sz="2200" dirty="0" err="1"/>
              <a:t>sparge</a:t>
            </a:r>
            <a:r>
              <a:rPr lang="en-US" sz="2200" dirty="0"/>
              <a:t> gas, on the graphite, or deposited on the metallic surfaces of the primary circuit</a:t>
            </a:r>
          </a:p>
          <a:p>
            <a:r>
              <a:rPr lang="en-US" sz="2200" dirty="0"/>
              <a:t>The deposited material contributes to the heat generation from its decay even after the reactor shutdown, decreasing the overall safety of the MSR</a:t>
            </a:r>
          </a:p>
          <a:p>
            <a:endParaRPr lang="en-US" sz="2200" dirty="0"/>
          </a:p>
          <a:p>
            <a:endParaRPr lang="en-US" sz="2200" dirty="0"/>
          </a:p>
        </p:txBody>
      </p:sp>
      <p:sp>
        <p:nvSpPr>
          <p:cNvPr id="4" name="Content Placeholder 3">
            <a:extLst>
              <a:ext uri="{FF2B5EF4-FFF2-40B4-BE49-F238E27FC236}">
                <a16:creationId xmlns:a16="http://schemas.microsoft.com/office/drawing/2014/main" id="{7E0D2472-141E-7545-AF41-E95D03576324}"/>
              </a:ext>
            </a:extLst>
          </p:cNvPr>
          <p:cNvSpPr>
            <a:spLocks noGrp="1"/>
          </p:cNvSpPr>
          <p:nvPr>
            <p:ph sz="half" idx="2"/>
          </p:nvPr>
        </p:nvSpPr>
        <p:spPr/>
        <p:txBody>
          <a:bodyPr/>
          <a:lstStyle/>
          <a:p>
            <a:r>
              <a:rPr lang="en-US" sz="2200" dirty="0"/>
              <a:t>The deposits on the graphite (in the case of thermal reactors) absorb neutrons during the operation and lead to lower efficiency of the reactor</a:t>
            </a:r>
          </a:p>
          <a:p>
            <a:r>
              <a:rPr lang="en-US" sz="2200" dirty="0"/>
              <a:t>One way of avoiding this detrimental precipitation is to remove the insoluble fission products by helium bubbling before they interact with the structural materials</a:t>
            </a:r>
          </a:p>
          <a:p>
            <a:endParaRPr lang="en-US" sz="2200" dirty="0"/>
          </a:p>
        </p:txBody>
      </p:sp>
      <p:sp>
        <p:nvSpPr>
          <p:cNvPr id="5" name="Slide Number Placeholder 4">
            <a:extLst>
              <a:ext uri="{FF2B5EF4-FFF2-40B4-BE49-F238E27FC236}">
                <a16:creationId xmlns:a16="http://schemas.microsoft.com/office/drawing/2014/main" id="{4647D82B-C36A-8044-80EE-81F3927A06AD}"/>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1336505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Cover Gas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821018" cy="4157663"/>
          </a:xfrm>
        </p:spPr>
        <p:txBody>
          <a:bodyPr/>
          <a:lstStyle/>
          <a:p>
            <a:r>
              <a:rPr lang="en-US" sz="2200" dirty="0"/>
              <a:t>The cover gas (off-gas) handling system is a key element of any MSR</a:t>
            </a:r>
          </a:p>
          <a:p>
            <a:r>
              <a:rPr lang="en-US" sz="2200" dirty="0"/>
              <a:t>Fission gases such as xenon and krypton will readily escape the salt</a:t>
            </a:r>
          </a:p>
          <a:p>
            <a:r>
              <a:rPr lang="en-US" sz="2200" dirty="0"/>
              <a:t>Acidic gases may accumulate as a result of radiolysis</a:t>
            </a:r>
          </a:p>
          <a:p>
            <a:r>
              <a:rPr lang="en-US" sz="2200" dirty="0"/>
              <a:t>Tritium is formed by neutron interactions with light elements in the salt</a:t>
            </a:r>
          </a:p>
          <a:p>
            <a:r>
              <a:rPr lang="en-US" sz="2200" dirty="0"/>
              <a:t>The cover gas system will contain the radionuclides emerging from the free surface above the fuel salt as well as any sweep or sparging gases used</a:t>
            </a:r>
          </a:p>
          <a:p>
            <a:endParaRPr lang="en-US" sz="2200" dirty="0"/>
          </a:p>
          <a:p>
            <a:endParaRPr lang="en-US" sz="2200" dirty="0"/>
          </a:p>
          <a:p>
            <a:endParaRPr lang="en-US" sz="2200" dirty="0"/>
          </a:p>
          <a:p>
            <a:endParaRPr lang="en-US" sz="2200" dirty="0"/>
          </a:p>
          <a:p>
            <a:endParaRPr lang="en-US" sz="2200" dirty="0"/>
          </a:p>
        </p:txBody>
      </p:sp>
      <p:pic>
        <p:nvPicPr>
          <p:cNvPr id="5" name="Content Placeholder 4">
            <a:extLst>
              <a:ext uri="{FF2B5EF4-FFF2-40B4-BE49-F238E27FC236}">
                <a16:creationId xmlns:a16="http://schemas.microsoft.com/office/drawing/2014/main" id="{88D78B60-141F-EA4C-AFDC-DA32FCCAB4E5}"/>
              </a:ext>
            </a:extLst>
          </p:cNvPr>
          <p:cNvPicPr>
            <a:picLocks noGrp="1" noChangeAspect="1"/>
          </p:cNvPicPr>
          <p:nvPr>
            <p:ph sz="half" idx="2"/>
          </p:nvPr>
        </p:nvPicPr>
        <p:blipFill>
          <a:blip r:embed="rId2"/>
          <a:stretch>
            <a:fillRect/>
          </a:stretch>
        </p:blipFill>
        <p:spPr>
          <a:xfrm>
            <a:off x="6430618" y="1763782"/>
            <a:ext cx="5689378" cy="4038526"/>
          </a:xfrm>
          <a:prstGeom prst="rect">
            <a:avLst/>
          </a:prstGeom>
        </p:spPr>
      </p:pic>
      <p:sp>
        <p:nvSpPr>
          <p:cNvPr id="4" name="Slide Number Placeholder 3">
            <a:extLst>
              <a:ext uri="{FF2B5EF4-FFF2-40B4-BE49-F238E27FC236}">
                <a16:creationId xmlns:a16="http://schemas.microsoft.com/office/drawing/2014/main" id="{87EDA4BF-06F5-2A4D-AE3E-21F884468E13}"/>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2650357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Tritium</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6224298" cy="4157663"/>
          </a:xfrm>
        </p:spPr>
        <p:txBody>
          <a:bodyPr/>
          <a:lstStyle/>
          <a:p>
            <a:r>
              <a:rPr lang="en-US" sz="2400" dirty="0"/>
              <a:t>Tritium production and control is an issue for Li-bearing salts</a:t>
            </a:r>
          </a:p>
          <a:p>
            <a:r>
              <a:rPr lang="en-US" sz="2400" dirty="0"/>
              <a:t>Tritium is produced by neutron reactions with lithium, beryllium, and fluorine as well as being a ternary fission product</a:t>
            </a:r>
          </a:p>
          <a:p>
            <a:r>
              <a:rPr lang="en-US" sz="2400" dirty="0"/>
              <a:t>Tritium can exist as ions or as TF, depending on redox conditions</a:t>
            </a:r>
          </a:p>
          <a:p>
            <a:r>
              <a:rPr lang="en-US" sz="2400" dirty="0"/>
              <a:t>Above 300C tritium will diffuse through structural materials</a:t>
            </a:r>
          </a:p>
          <a:p>
            <a:endParaRPr lang="en-US" sz="2400" dirty="0"/>
          </a:p>
        </p:txBody>
      </p:sp>
      <p:pic>
        <p:nvPicPr>
          <p:cNvPr id="5" name="Content Placeholder 4">
            <a:extLst>
              <a:ext uri="{FF2B5EF4-FFF2-40B4-BE49-F238E27FC236}">
                <a16:creationId xmlns:a16="http://schemas.microsoft.com/office/drawing/2014/main" id="{2156E40E-A1D0-D841-BF75-3919504AC74E}"/>
              </a:ext>
            </a:extLst>
          </p:cNvPr>
          <p:cNvPicPr>
            <a:picLocks noGrp="1" noChangeAspect="1"/>
          </p:cNvPicPr>
          <p:nvPr>
            <p:ph sz="half" idx="2"/>
          </p:nvPr>
        </p:nvPicPr>
        <p:blipFill>
          <a:blip r:embed="rId2"/>
          <a:stretch>
            <a:fillRect/>
          </a:stretch>
        </p:blipFill>
        <p:spPr>
          <a:xfrm>
            <a:off x="6833898" y="2102288"/>
            <a:ext cx="4748501" cy="3430411"/>
          </a:xfrm>
          <a:prstGeom prst="rect">
            <a:avLst/>
          </a:prstGeom>
        </p:spPr>
      </p:pic>
      <p:sp>
        <p:nvSpPr>
          <p:cNvPr id="4" name="Slide Number Placeholder 3">
            <a:extLst>
              <a:ext uri="{FF2B5EF4-FFF2-40B4-BE49-F238E27FC236}">
                <a16:creationId xmlns:a16="http://schemas.microsoft.com/office/drawing/2014/main" id="{A882A13A-E551-E34F-8807-30893A32DA24}"/>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1846527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6823-ACA7-B34F-889A-412F67BD8432}"/>
              </a:ext>
            </a:extLst>
          </p:cNvPr>
          <p:cNvSpPr>
            <a:spLocks noGrp="1"/>
          </p:cNvSpPr>
          <p:nvPr>
            <p:ph type="title"/>
          </p:nvPr>
        </p:nvSpPr>
        <p:spPr/>
        <p:txBody>
          <a:bodyPr/>
          <a:lstStyle/>
          <a:p>
            <a:r>
              <a:rPr lang="en-US" dirty="0"/>
              <a:t>Radiolytic Stability</a:t>
            </a:r>
          </a:p>
        </p:txBody>
      </p:sp>
      <p:sp>
        <p:nvSpPr>
          <p:cNvPr id="3" name="Content Placeholder 2">
            <a:extLst>
              <a:ext uri="{FF2B5EF4-FFF2-40B4-BE49-F238E27FC236}">
                <a16:creationId xmlns:a16="http://schemas.microsoft.com/office/drawing/2014/main" id="{A7B442F0-9537-9944-AC40-1532EBEAA816}"/>
              </a:ext>
            </a:extLst>
          </p:cNvPr>
          <p:cNvSpPr>
            <a:spLocks noGrp="1"/>
          </p:cNvSpPr>
          <p:nvPr>
            <p:ph sz="half" idx="1"/>
          </p:nvPr>
        </p:nvSpPr>
        <p:spPr>
          <a:xfrm>
            <a:off x="609599" y="1968503"/>
            <a:ext cx="6427305" cy="4157663"/>
          </a:xfrm>
        </p:spPr>
        <p:txBody>
          <a:bodyPr/>
          <a:lstStyle/>
          <a:p>
            <a:r>
              <a:rPr lang="en-US" sz="2200" dirty="0"/>
              <a:t>Radiolysis is the dissociation of molecules by ionizing radiation</a:t>
            </a:r>
          </a:p>
          <a:p>
            <a:r>
              <a:rPr lang="en-US" sz="2200" dirty="0"/>
              <a:t>Molten salts are highly radiolytically stable</a:t>
            </a:r>
          </a:p>
          <a:p>
            <a:r>
              <a:rPr lang="en-US" sz="2200" dirty="0"/>
              <a:t>Salts are combinations of strongly electronegative elements with strongly electropositive metals with very high bond energies</a:t>
            </a:r>
          </a:p>
          <a:p>
            <a:r>
              <a:rPr lang="en-US" sz="2200" dirty="0"/>
              <a:t>Formation energy of alkali/alkaline salts is more negative than metal fluorides</a:t>
            </a:r>
          </a:p>
          <a:p>
            <a:endParaRPr lang="en-US" sz="2200" dirty="0"/>
          </a:p>
          <a:p>
            <a:endParaRPr lang="en-US" sz="2200" dirty="0"/>
          </a:p>
        </p:txBody>
      </p:sp>
      <p:pic>
        <p:nvPicPr>
          <p:cNvPr id="5" name="Content Placeholder 4">
            <a:extLst>
              <a:ext uri="{FF2B5EF4-FFF2-40B4-BE49-F238E27FC236}">
                <a16:creationId xmlns:a16="http://schemas.microsoft.com/office/drawing/2014/main" id="{5E908FA3-382A-374A-BF2E-107D4EDFB593}"/>
              </a:ext>
            </a:extLst>
          </p:cNvPr>
          <p:cNvPicPr>
            <a:picLocks noGrp="1" noChangeAspect="1"/>
          </p:cNvPicPr>
          <p:nvPr>
            <p:ph sz="half" idx="2"/>
          </p:nvPr>
        </p:nvPicPr>
        <p:blipFill>
          <a:blip r:embed="rId2"/>
          <a:stretch>
            <a:fillRect/>
          </a:stretch>
        </p:blipFill>
        <p:spPr>
          <a:xfrm>
            <a:off x="7036904" y="2282973"/>
            <a:ext cx="4700002" cy="2915191"/>
          </a:xfrm>
          <a:prstGeom prst="rect">
            <a:avLst/>
          </a:prstGeom>
        </p:spPr>
      </p:pic>
      <p:sp>
        <p:nvSpPr>
          <p:cNvPr id="4" name="Slide Number Placeholder 3">
            <a:extLst>
              <a:ext uri="{FF2B5EF4-FFF2-40B4-BE49-F238E27FC236}">
                <a16:creationId xmlns:a16="http://schemas.microsoft.com/office/drawing/2014/main" id="{1FEF30C1-F3E6-D341-AEDB-0B6029B7E181}"/>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2474788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B980-20C5-864D-9572-55CFEB128094}"/>
              </a:ext>
            </a:extLst>
          </p:cNvPr>
          <p:cNvSpPr>
            <a:spLocks noGrp="1"/>
          </p:cNvSpPr>
          <p:nvPr>
            <p:ph type="title"/>
          </p:nvPr>
        </p:nvSpPr>
        <p:spPr/>
        <p:txBody>
          <a:bodyPr/>
          <a:lstStyle/>
          <a:p>
            <a:r>
              <a:rPr lang="en-US" dirty="0"/>
              <a:t>Three principal corrosion processes</a:t>
            </a:r>
          </a:p>
        </p:txBody>
      </p:sp>
      <p:sp>
        <p:nvSpPr>
          <p:cNvPr id="3" name="Content Placeholder 2">
            <a:extLst>
              <a:ext uri="{FF2B5EF4-FFF2-40B4-BE49-F238E27FC236}">
                <a16:creationId xmlns:a16="http://schemas.microsoft.com/office/drawing/2014/main" id="{B718E9ED-CADC-3E4D-BDD0-4627BFB2D421}"/>
              </a:ext>
            </a:extLst>
          </p:cNvPr>
          <p:cNvSpPr>
            <a:spLocks noGrp="1"/>
          </p:cNvSpPr>
          <p:nvPr>
            <p:ph sz="half" idx="1"/>
          </p:nvPr>
        </p:nvSpPr>
        <p:spPr>
          <a:xfrm>
            <a:off x="609600" y="1968503"/>
            <a:ext cx="10972800" cy="4157663"/>
          </a:xfrm>
        </p:spPr>
        <p:txBody>
          <a:bodyPr/>
          <a:lstStyle/>
          <a:p>
            <a:r>
              <a:rPr lang="en-US" sz="2800" dirty="0"/>
              <a:t>Reactions due to oxides on the metal</a:t>
            </a:r>
          </a:p>
          <a:p>
            <a:r>
              <a:rPr lang="en-US" sz="2800" dirty="0"/>
              <a:t>Reactions with dissolved impurities</a:t>
            </a:r>
          </a:p>
          <a:p>
            <a:r>
              <a:rPr lang="en-US" sz="2800" dirty="0"/>
              <a:t>Reactions with necessary constituents of the melt</a:t>
            </a:r>
          </a:p>
          <a:p>
            <a:endParaRPr lang="en-US" dirty="0"/>
          </a:p>
        </p:txBody>
      </p:sp>
      <p:sp>
        <p:nvSpPr>
          <p:cNvPr id="4" name="Slide Number Placeholder 3">
            <a:extLst>
              <a:ext uri="{FF2B5EF4-FFF2-40B4-BE49-F238E27FC236}">
                <a16:creationId xmlns:a16="http://schemas.microsoft.com/office/drawing/2014/main" id="{DC6AC235-1995-7042-8A9F-5107D935AD76}"/>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3436390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0440-CA42-0948-B10A-726A372FFBC2}"/>
              </a:ext>
            </a:extLst>
          </p:cNvPr>
          <p:cNvSpPr>
            <a:spLocks noGrp="1"/>
          </p:cNvSpPr>
          <p:nvPr>
            <p:ph type="title"/>
          </p:nvPr>
        </p:nvSpPr>
        <p:spPr/>
        <p:txBody>
          <a:bodyPr/>
          <a:lstStyle/>
          <a:p>
            <a:r>
              <a:rPr lang="en-US" dirty="0"/>
              <a:t>Protective coatings?</a:t>
            </a:r>
          </a:p>
        </p:txBody>
      </p:sp>
      <p:sp>
        <p:nvSpPr>
          <p:cNvPr id="3" name="Content Placeholder 2">
            <a:extLst>
              <a:ext uri="{FF2B5EF4-FFF2-40B4-BE49-F238E27FC236}">
                <a16:creationId xmlns:a16="http://schemas.microsoft.com/office/drawing/2014/main" id="{5E02C21A-31E0-A647-8166-C92CC179E96C}"/>
              </a:ext>
            </a:extLst>
          </p:cNvPr>
          <p:cNvSpPr>
            <a:spLocks noGrp="1"/>
          </p:cNvSpPr>
          <p:nvPr>
            <p:ph sz="half" idx="1"/>
          </p:nvPr>
        </p:nvSpPr>
        <p:spPr/>
        <p:txBody>
          <a:bodyPr/>
          <a:lstStyle/>
          <a:p>
            <a:r>
              <a:rPr lang="en-US" sz="2200" dirty="0"/>
              <a:t>It is not useful to apply a protective coating of, for example, an oxide layer on the structural material for the two following reasons: </a:t>
            </a:r>
          </a:p>
          <a:p>
            <a:pPr lvl="1"/>
            <a:r>
              <a:rPr lang="en-US" sz="2200" dirty="0"/>
              <a:t>although some oxides are relatively insoluble in the fluoride melt, most are readily dissolved</a:t>
            </a:r>
          </a:p>
          <a:p>
            <a:pPr lvl="1"/>
            <a:r>
              <a:rPr lang="en-US" sz="2200" dirty="0"/>
              <a:t>all oxides rapidly recrystallize</a:t>
            </a:r>
          </a:p>
          <a:p>
            <a:r>
              <a:rPr lang="en-US" sz="2200" dirty="0"/>
              <a:t>Oxide films on the surface of the alloy can be attacked by the fluoride melt</a:t>
            </a:r>
          </a:p>
          <a:p>
            <a:endParaRPr lang="en-US" sz="2200" dirty="0"/>
          </a:p>
          <a:p>
            <a:endParaRPr lang="en-US" sz="2200" dirty="0"/>
          </a:p>
        </p:txBody>
      </p:sp>
      <p:sp>
        <p:nvSpPr>
          <p:cNvPr id="4" name="Content Placeholder 3">
            <a:extLst>
              <a:ext uri="{FF2B5EF4-FFF2-40B4-BE49-F238E27FC236}">
                <a16:creationId xmlns:a16="http://schemas.microsoft.com/office/drawing/2014/main" id="{BDAC7C0C-97EF-1645-8516-5148EFF72FEE}"/>
              </a:ext>
            </a:extLst>
          </p:cNvPr>
          <p:cNvSpPr>
            <a:spLocks noGrp="1"/>
          </p:cNvSpPr>
          <p:nvPr>
            <p:ph sz="half" idx="2"/>
          </p:nvPr>
        </p:nvSpPr>
        <p:spPr/>
        <p:txBody>
          <a:bodyPr/>
          <a:lstStyle/>
          <a:p>
            <a:r>
              <a:rPr lang="en-US" sz="2200" dirty="0"/>
              <a:t>The formed oxides (</a:t>
            </a:r>
            <a:r>
              <a:rPr lang="en-US" sz="2200" dirty="0" err="1"/>
              <a:t>BeO</a:t>
            </a:r>
            <a:r>
              <a:rPr lang="en-US" sz="2200" dirty="0"/>
              <a:t> below) typically don’t matter as long as they do not contain fissile elements</a:t>
            </a:r>
          </a:p>
          <a:p>
            <a:r>
              <a:rPr lang="en-US" sz="2200" dirty="0"/>
              <a:t>The formed fluorides are more important as they will act as oxidants of Cr in the alloy</a:t>
            </a:r>
          </a:p>
          <a:p>
            <a:endParaRPr lang="en-US" sz="2200" dirty="0"/>
          </a:p>
          <a:p>
            <a:endParaRPr lang="en-US" sz="2200" dirty="0"/>
          </a:p>
        </p:txBody>
      </p:sp>
      <p:pic>
        <p:nvPicPr>
          <p:cNvPr id="5" name="Picture 4">
            <a:extLst>
              <a:ext uri="{FF2B5EF4-FFF2-40B4-BE49-F238E27FC236}">
                <a16:creationId xmlns:a16="http://schemas.microsoft.com/office/drawing/2014/main" id="{E7A7BDA9-FA31-7A40-A45D-B66BFE69A82E}"/>
              </a:ext>
            </a:extLst>
          </p:cNvPr>
          <p:cNvPicPr>
            <a:picLocks noChangeAspect="1"/>
          </p:cNvPicPr>
          <p:nvPr/>
        </p:nvPicPr>
        <p:blipFill>
          <a:blip r:embed="rId2"/>
          <a:stretch>
            <a:fillRect/>
          </a:stretch>
        </p:blipFill>
        <p:spPr>
          <a:xfrm>
            <a:off x="7185188" y="4668349"/>
            <a:ext cx="3619500" cy="825500"/>
          </a:xfrm>
          <a:prstGeom prst="rect">
            <a:avLst/>
          </a:prstGeom>
        </p:spPr>
      </p:pic>
      <p:sp>
        <p:nvSpPr>
          <p:cNvPr id="6" name="Slide Number Placeholder 5">
            <a:extLst>
              <a:ext uri="{FF2B5EF4-FFF2-40B4-BE49-F238E27FC236}">
                <a16:creationId xmlns:a16="http://schemas.microsoft.com/office/drawing/2014/main" id="{3A390107-0B56-B349-9CC0-DA55F91824DA}"/>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2625654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29E9-A78D-9346-9E9B-9278758E0B8C}"/>
              </a:ext>
            </a:extLst>
          </p:cNvPr>
          <p:cNvSpPr>
            <a:spLocks noGrp="1"/>
          </p:cNvSpPr>
          <p:nvPr>
            <p:ph type="title"/>
          </p:nvPr>
        </p:nvSpPr>
        <p:spPr/>
        <p:txBody>
          <a:bodyPr/>
          <a:lstStyle/>
          <a:p>
            <a:r>
              <a:rPr lang="en-US" dirty="0"/>
              <a:t>Oxides and Impurities</a:t>
            </a:r>
          </a:p>
        </p:txBody>
      </p:sp>
      <p:sp>
        <p:nvSpPr>
          <p:cNvPr id="3" name="Content Placeholder 2">
            <a:extLst>
              <a:ext uri="{FF2B5EF4-FFF2-40B4-BE49-F238E27FC236}">
                <a16:creationId xmlns:a16="http://schemas.microsoft.com/office/drawing/2014/main" id="{719A6567-0330-4549-9DA7-94AD28227E6E}"/>
              </a:ext>
            </a:extLst>
          </p:cNvPr>
          <p:cNvSpPr>
            <a:spLocks noGrp="1"/>
          </p:cNvSpPr>
          <p:nvPr>
            <p:ph sz="half" idx="1"/>
          </p:nvPr>
        </p:nvSpPr>
        <p:spPr>
          <a:xfrm>
            <a:off x="609599" y="1968503"/>
            <a:ext cx="5989984" cy="4157663"/>
          </a:xfrm>
        </p:spPr>
        <p:txBody>
          <a:bodyPr/>
          <a:lstStyle/>
          <a:p>
            <a:r>
              <a:rPr lang="en-US" sz="2200" dirty="0"/>
              <a:t>Structural materials will have been exposed to air, and thus have oxide films</a:t>
            </a:r>
          </a:p>
          <a:p>
            <a:r>
              <a:rPr lang="en-US" sz="2200" dirty="0"/>
              <a:t>Oxide films on the metal are dissolved, leading to cladding constituent fluorides</a:t>
            </a:r>
          </a:p>
          <a:p>
            <a:r>
              <a:rPr lang="en-US" sz="2200" dirty="0"/>
              <a:t>Other corrosion reactions are possible with solvent components</a:t>
            </a:r>
          </a:p>
          <a:p>
            <a:r>
              <a:rPr lang="en-US" sz="2200" dirty="0"/>
              <a:t>Such reactions can lead to rapid initial corrosion</a:t>
            </a:r>
          </a:p>
          <a:p>
            <a:r>
              <a:rPr lang="en-US" sz="2200" dirty="0"/>
              <a:t>These impurity reactions can be minimized by maintaining low impurity concentrations in the salt and on the alloy surfaces</a:t>
            </a:r>
          </a:p>
          <a:p>
            <a:endParaRPr lang="en-US" sz="2200" dirty="0"/>
          </a:p>
          <a:p>
            <a:endParaRPr lang="en-US" sz="2200" dirty="0"/>
          </a:p>
          <a:p>
            <a:endParaRPr lang="en-US" sz="2200" dirty="0"/>
          </a:p>
        </p:txBody>
      </p:sp>
      <p:pic>
        <p:nvPicPr>
          <p:cNvPr id="5" name="Content Placeholder 4">
            <a:extLst>
              <a:ext uri="{FF2B5EF4-FFF2-40B4-BE49-F238E27FC236}">
                <a16:creationId xmlns:a16="http://schemas.microsoft.com/office/drawing/2014/main" id="{22843759-3BA6-9B45-A818-D9B21BBC6AD8}"/>
              </a:ext>
            </a:extLst>
          </p:cNvPr>
          <p:cNvPicPr>
            <a:picLocks noGrp="1" noChangeAspect="1"/>
          </p:cNvPicPr>
          <p:nvPr>
            <p:ph sz="half" idx="2"/>
          </p:nvPr>
        </p:nvPicPr>
        <p:blipFill>
          <a:blip r:embed="rId2"/>
          <a:stretch>
            <a:fillRect/>
          </a:stretch>
        </p:blipFill>
        <p:spPr>
          <a:xfrm>
            <a:off x="7582866" y="1300403"/>
            <a:ext cx="3016251" cy="1796565"/>
          </a:xfrm>
          <a:prstGeom prst="rect">
            <a:avLst/>
          </a:prstGeom>
        </p:spPr>
      </p:pic>
      <p:pic>
        <p:nvPicPr>
          <p:cNvPr id="6" name="Picture 5">
            <a:extLst>
              <a:ext uri="{FF2B5EF4-FFF2-40B4-BE49-F238E27FC236}">
                <a16:creationId xmlns:a16="http://schemas.microsoft.com/office/drawing/2014/main" id="{A9B38A8D-125B-9844-96DB-14120D313B2E}"/>
              </a:ext>
            </a:extLst>
          </p:cNvPr>
          <p:cNvPicPr>
            <a:picLocks noChangeAspect="1"/>
          </p:cNvPicPr>
          <p:nvPr/>
        </p:nvPicPr>
        <p:blipFill>
          <a:blip r:embed="rId3"/>
          <a:stretch>
            <a:fillRect/>
          </a:stretch>
        </p:blipFill>
        <p:spPr>
          <a:xfrm>
            <a:off x="7582866" y="4727947"/>
            <a:ext cx="2765165" cy="1144206"/>
          </a:xfrm>
          <a:prstGeom prst="rect">
            <a:avLst/>
          </a:prstGeom>
        </p:spPr>
      </p:pic>
      <p:sp>
        <p:nvSpPr>
          <p:cNvPr id="4" name="Slide Number Placeholder 3">
            <a:extLst>
              <a:ext uri="{FF2B5EF4-FFF2-40B4-BE49-F238E27FC236}">
                <a16:creationId xmlns:a16="http://schemas.microsoft.com/office/drawing/2014/main" id="{FDD27B8E-2020-864D-A98A-3D93416B6918}"/>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pic>
        <p:nvPicPr>
          <p:cNvPr id="7" name="Picture 6">
            <a:extLst>
              <a:ext uri="{FF2B5EF4-FFF2-40B4-BE49-F238E27FC236}">
                <a16:creationId xmlns:a16="http://schemas.microsoft.com/office/drawing/2014/main" id="{B6DF8215-FDB1-4DB9-1A64-9CA346A71428}"/>
              </a:ext>
            </a:extLst>
          </p:cNvPr>
          <p:cNvPicPr>
            <a:picLocks noChangeAspect="1"/>
          </p:cNvPicPr>
          <p:nvPr/>
        </p:nvPicPr>
        <p:blipFill>
          <a:blip r:embed="rId4"/>
          <a:stretch>
            <a:fillRect/>
          </a:stretch>
        </p:blipFill>
        <p:spPr>
          <a:xfrm>
            <a:off x="7225747" y="3249748"/>
            <a:ext cx="4082499" cy="994000"/>
          </a:xfrm>
          <a:prstGeom prst="rect">
            <a:avLst/>
          </a:prstGeom>
        </p:spPr>
      </p:pic>
    </p:spTree>
    <p:extLst>
      <p:ext uri="{BB962C8B-B14F-4D97-AF65-F5344CB8AC3E}">
        <p14:creationId xmlns:p14="http://schemas.microsoft.com/office/powerpoint/2010/main" val="3866156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7291-12C7-AC4D-8CB7-3B18447D6A3E}"/>
              </a:ext>
            </a:extLst>
          </p:cNvPr>
          <p:cNvSpPr>
            <a:spLocks noGrp="1"/>
          </p:cNvSpPr>
          <p:nvPr>
            <p:ph type="title"/>
          </p:nvPr>
        </p:nvSpPr>
        <p:spPr/>
        <p:txBody>
          <a:bodyPr/>
          <a:lstStyle/>
          <a:p>
            <a:r>
              <a:rPr lang="en-US" dirty="0"/>
              <a:t>Dissolved Impurities</a:t>
            </a:r>
          </a:p>
        </p:txBody>
      </p:sp>
      <p:sp>
        <p:nvSpPr>
          <p:cNvPr id="3" name="Content Placeholder 2">
            <a:extLst>
              <a:ext uri="{FF2B5EF4-FFF2-40B4-BE49-F238E27FC236}">
                <a16:creationId xmlns:a16="http://schemas.microsoft.com/office/drawing/2014/main" id="{C74492FD-9565-5447-8B8B-DF4B4AA7FFF2}"/>
              </a:ext>
            </a:extLst>
          </p:cNvPr>
          <p:cNvSpPr>
            <a:spLocks noGrp="1"/>
          </p:cNvSpPr>
          <p:nvPr>
            <p:ph sz="half" idx="1"/>
          </p:nvPr>
        </p:nvSpPr>
        <p:spPr/>
        <p:txBody>
          <a:bodyPr/>
          <a:lstStyle/>
          <a:p>
            <a:r>
              <a:rPr lang="en-US" sz="2400" dirty="0"/>
              <a:t>In addition to impurities generated by reactions with oxides, impurities may result from incomplete removal of HF or of easily reducible fluorides during the salt purification</a:t>
            </a:r>
          </a:p>
          <a:p>
            <a:endParaRPr lang="en-US" sz="2400" dirty="0"/>
          </a:p>
        </p:txBody>
      </p:sp>
      <p:pic>
        <p:nvPicPr>
          <p:cNvPr id="5" name="Picture 4">
            <a:extLst>
              <a:ext uri="{FF2B5EF4-FFF2-40B4-BE49-F238E27FC236}">
                <a16:creationId xmlns:a16="http://schemas.microsoft.com/office/drawing/2014/main" id="{8BA53FF9-844E-5A4F-95A4-285EC0BE94B2}"/>
              </a:ext>
            </a:extLst>
          </p:cNvPr>
          <p:cNvPicPr>
            <a:picLocks noChangeAspect="1"/>
          </p:cNvPicPr>
          <p:nvPr/>
        </p:nvPicPr>
        <p:blipFill>
          <a:blip r:embed="rId2"/>
          <a:stretch>
            <a:fillRect/>
          </a:stretch>
        </p:blipFill>
        <p:spPr>
          <a:xfrm>
            <a:off x="6733483" y="2997993"/>
            <a:ext cx="4533013" cy="1068387"/>
          </a:xfrm>
          <a:prstGeom prst="rect">
            <a:avLst/>
          </a:prstGeom>
        </p:spPr>
      </p:pic>
      <p:sp>
        <p:nvSpPr>
          <p:cNvPr id="6" name="Slide Number Placeholder 5">
            <a:extLst>
              <a:ext uri="{FF2B5EF4-FFF2-40B4-BE49-F238E27FC236}">
                <a16:creationId xmlns:a16="http://schemas.microsoft.com/office/drawing/2014/main" id="{E1B1D7F4-78FA-F048-B25F-F3F9BCF52D44}"/>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spTree>
    <p:extLst>
      <p:ext uri="{BB962C8B-B14F-4D97-AF65-F5344CB8AC3E}">
        <p14:creationId xmlns:p14="http://schemas.microsoft.com/office/powerpoint/2010/main" val="918011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Cr ‘Oxidation’</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3"/>
            <a:ext cx="5692176" cy="4157663"/>
          </a:xfrm>
        </p:spPr>
        <p:txBody>
          <a:bodyPr/>
          <a:lstStyle/>
          <a:p>
            <a:r>
              <a:rPr lang="en-US" sz="2200" dirty="0"/>
              <a:t>Redox processes responsible for attack by fluoride mixtures on the alloys result in selective oxidation of the contained Cr</a:t>
            </a:r>
          </a:p>
          <a:p>
            <a:r>
              <a:rPr lang="en-US" sz="2200" dirty="0"/>
              <a:t>This removal of Cr from the alloy occurs primarily in regions of highest temperature</a:t>
            </a:r>
          </a:p>
          <a:p>
            <a:r>
              <a:rPr lang="en-US" sz="2200" dirty="0"/>
              <a:t>The rate of corrosion has been measured and was found to be controlled by the rate at which chromium diffuses to the surfaces undergoing attack</a:t>
            </a:r>
          </a:p>
          <a:p>
            <a:endParaRPr lang="en-US" sz="2200" dirty="0"/>
          </a:p>
        </p:txBody>
      </p:sp>
      <p:sp>
        <p:nvSpPr>
          <p:cNvPr id="6" name="Slide Number Placeholder 5">
            <a:extLst>
              <a:ext uri="{FF2B5EF4-FFF2-40B4-BE49-F238E27FC236}">
                <a16:creationId xmlns:a16="http://schemas.microsoft.com/office/drawing/2014/main" id="{C951042C-F9C8-464F-AE1F-CEA574F13DF6}"/>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2050" name="Picture 2">
            <a:extLst>
              <a:ext uri="{FF2B5EF4-FFF2-40B4-BE49-F238E27FC236}">
                <a16:creationId xmlns:a16="http://schemas.microsoft.com/office/drawing/2014/main" id="{FBB9FF6F-D9E9-BCAE-2A0D-2F0B64ED3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784" y="1236666"/>
            <a:ext cx="4843095" cy="48895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F74CDD1-2B12-E647-8F5C-C4DDB5844FC1}"/>
              </a:ext>
            </a:extLst>
          </p:cNvPr>
          <p:cNvSpPr txBox="1"/>
          <p:nvPr/>
        </p:nvSpPr>
        <p:spPr>
          <a:xfrm>
            <a:off x="7449413" y="6126166"/>
            <a:ext cx="3689836" cy="307777"/>
          </a:xfrm>
          <a:prstGeom prst="rect">
            <a:avLst/>
          </a:prstGeom>
          <a:noFill/>
        </p:spPr>
        <p:txBody>
          <a:bodyPr wrap="square">
            <a:spAutoFit/>
          </a:bodyPr>
          <a:lstStyle/>
          <a:p>
            <a:pPr algn="ctr"/>
            <a:r>
              <a:rPr lang="en-US" sz="1400" dirty="0">
                <a:hlinkClick r:id="rId3" tooltip="Persistent link using digital object identifier"/>
              </a:rPr>
              <a:t>https://doi.org/10.1016/j.corsci.2019.108306</a:t>
            </a:r>
            <a:endParaRPr lang="en-US" sz="1400" dirty="0"/>
          </a:p>
        </p:txBody>
      </p:sp>
    </p:spTree>
    <p:extLst>
      <p:ext uri="{BB962C8B-B14F-4D97-AF65-F5344CB8AC3E}">
        <p14:creationId xmlns:p14="http://schemas.microsoft.com/office/powerpoint/2010/main" val="4111517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3B41-1105-B443-B48A-1DDC09B36C69}"/>
              </a:ext>
            </a:extLst>
          </p:cNvPr>
          <p:cNvSpPr>
            <a:spLocks noGrp="1"/>
          </p:cNvSpPr>
          <p:nvPr>
            <p:ph type="title"/>
          </p:nvPr>
        </p:nvSpPr>
        <p:spPr/>
        <p:txBody>
          <a:bodyPr/>
          <a:lstStyle/>
          <a:p>
            <a:r>
              <a:rPr lang="en-US" dirty="0"/>
              <a:t>Constituents of the Melt</a:t>
            </a:r>
          </a:p>
        </p:txBody>
      </p:sp>
      <p:sp>
        <p:nvSpPr>
          <p:cNvPr id="3" name="Content Placeholder 2">
            <a:extLst>
              <a:ext uri="{FF2B5EF4-FFF2-40B4-BE49-F238E27FC236}">
                <a16:creationId xmlns:a16="http://schemas.microsoft.com/office/drawing/2014/main" id="{1D96B2B4-C3BE-0440-B67D-A74455A120CA}"/>
              </a:ext>
            </a:extLst>
          </p:cNvPr>
          <p:cNvSpPr>
            <a:spLocks noGrp="1"/>
          </p:cNvSpPr>
          <p:nvPr>
            <p:ph sz="half" idx="1"/>
          </p:nvPr>
        </p:nvSpPr>
        <p:spPr>
          <a:xfrm>
            <a:off x="609599" y="1968503"/>
            <a:ext cx="7163410" cy="4157663"/>
          </a:xfrm>
        </p:spPr>
        <p:txBody>
          <a:bodyPr/>
          <a:lstStyle/>
          <a:p>
            <a:r>
              <a:rPr lang="en-US" sz="2200" dirty="0"/>
              <a:t>The oxidation reaction of alloy components with UF4 has been suggested to play an important role in corrosion</a:t>
            </a:r>
          </a:p>
          <a:p>
            <a:r>
              <a:rPr lang="en-US" sz="2200" dirty="0"/>
              <a:t>The equation will define/buffer the electrochemical potential of the salt via the UF4/UF3 ratio</a:t>
            </a:r>
          </a:p>
          <a:p>
            <a:r>
              <a:rPr lang="en-US" sz="2200" dirty="0"/>
              <a:t>Excess fluorine liberated via fission increases fluorine potential, forming more UF4 and increasing corrosion rates</a:t>
            </a:r>
          </a:p>
          <a:p>
            <a:r>
              <a:rPr lang="en-US" sz="2200" dirty="0"/>
              <a:t>Based on reasonable estimations of the activity coefficients for the above reaction, the equilibrium concentration of CrF2 is of the order of 130–300 ppm for a fuel with 1% UF3 contained in Hastelloy-N</a:t>
            </a:r>
          </a:p>
        </p:txBody>
      </p:sp>
      <p:pic>
        <p:nvPicPr>
          <p:cNvPr id="5" name="Picture 4">
            <a:extLst>
              <a:ext uri="{FF2B5EF4-FFF2-40B4-BE49-F238E27FC236}">
                <a16:creationId xmlns:a16="http://schemas.microsoft.com/office/drawing/2014/main" id="{071A67D6-5E6A-0341-9FC3-2D72B5D2B63D}"/>
              </a:ext>
            </a:extLst>
          </p:cNvPr>
          <p:cNvPicPr>
            <a:picLocks noChangeAspect="1"/>
          </p:cNvPicPr>
          <p:nvPr/>
        </p:nvPicPr>
        <p:blipFill>
          <a:blip r:embed="rId2"/>
          <a:stretch>
            <a:fillRect/>
          </a:stretch>
        </p:blipFill>
        <p:spPr>
          <a:xfrm>
            <a:off x="8494672" y="2366965"/>
            <a:ext cx="2578100" cy="787400"/>
          </a:xfrm>
          <a:prstGeom prst="rect">
            <a:avLst/>
          </a:prstGeom>
        </p:spPr>
      </p:pic>
      <p:sp>
        <p:nvSpPr>
          <p:cNvPr id="6" name="Slide Number Placeholder 5">
            <a:extLst>
              <a:ext uri="{FF2B5EF4-FFF2-40B4-BE49-F238E27FC236}">
                <a16:creationId xmlns:a16="http://schemas.microsoft.com/office/drawing/2014/main" id="{CE3458DA-22FD-6341-9211-DB6D34CC58F7}"/>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pic>
        <p:nvPicPr>
          <p:cNvPr id="7" name="Picture 6">
            <a:extLst>
              <a:ext uri="{FF2B5EF4-FFF2-40B4-BE49-F238E27FC236}">
                <a16:creationId xmlns:a16="http://schemas.microsoft.com/office/drawing/2014/main" id="{8EC85F61-ADA5-C040-A47E-78669A2C126E}"/>
              </a:ext>
            </a:extLst>
          </p:cNvPr>
          <p:cNvPicPr>
            <a:picLocks noChangeAspect="1"/>
          </p:cNvPicPr>
          <p:nvPr/>
        </p:nvPicPr>
        <p:blipFill>
          <a:blip r:embed="rId3"/>
          <a:stretch>
            <a:fillRect/>
          </a:stretch>
        </p:blipFill>
        <p:spPr>
          <a:xfrm>
            <a:off x="7985045" y="3247354"/>
            <a:ext cx="3597355" cy="2710533"/>
          </a:xfrm>
          <a:prstGeom prst="rect">
            <a:avLst/>
          </a:prstGeom>
        </p:spPr>
      </p:pic>
    </p:spTree>
    <p:extLst>
      <p:ext uri="{BB962C8B-B14F-4D97-AF65-F5344CB8AC3E}">
        <p14:creationId xmlns:p14="http://schemas.microsoft.com/office/powerpoint/2010/main" val="3009869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AD8E-96DE-5238-13F3-05D08925F7C8}"/>
              </a:ext>
            </a:extLst>
          </p:cNvPr>
          <p:cNvSpPr>
            <a:spLocks noGrp="1"/>
          </p:cNvSpPr>
          <p:nvPr>
            <p:ph type="title"/>
          </p:nvPr>
        </p:nvSpPr>
        <p:spPr/>
        <p:txBody>
          <a:bodyPr/>
          <a:lstStyle/>
          <a:p>
            <a:r>
              <a:rPr lang="en-US" dirty="0"/>
              <a:t>Pause and Recap</a:t>
            </a:r>
          </a:p>
        </p:txBody>
      </p:sp>
      <p:sp>
        <p:nvSpPr>
          <p:cNvPr id="3" name="Content Placeholder 2">
            <a:extLst>
              <a:ext uri="{FF2B5EF4-FFF2-40B4-BE49-F238E27FC236}">
                <a16:creationId xmlns:a16="http://schemas.microsoft.com/office/drawing/2014/main" id="{982BD9AB-79C5-4B45-A637-DDF1B76ED0BC}"/>
              </a:ext>
            </a:extLst>
          </p:cNvPr>
          <p:cNvSpPr>
            <a:spLocks noGrp="1"/>
          </p:cNvSpPr>
          <p:nvPr>
            <p:ph sz="half" idx="1"/>
          </p:nvPr>
        </p:nvSpPr>
        <p:spPr>
          <a:xfrm>
            <a:off x="609600" y="1968503"/>
            <a:ext cx="10972800" cy="4157663"/>
          </a:xfrm>
        </p:spPr>
        <p:txBody>
          <a:bodyPr/>
          <a:lstStyle/>
          <a:p>
            <a:r>
              <a:rPr lang="en-US" dirty="0"/>
              <a:t>Excess fluorine generated through fission increases the redox potential</a:t>
            </a:r>
          </a:p>
          <a:p>
            <a:r>
              <a:rPr lang="en-US" dirty="0"/>
              <a:t>Some fission products will form fluorides, some will exist as gases, some as metals</a:t>
            </a:r>
          </a:p>
          <a:p>
            <a:r>
              <a:rPr lang="en-US" dirty="0"/>
              <a:t>Cover gas serves to remove gaseous species and He bubbling with particle traps remove precipitates</a:t>
            </a:r>
          </a:p>
          <a:p>
            <a:r>
              <a:rPr lang="en-US" dirty="0"/>
              <a:t>Corrosion occurs through reactions with oxides on the metal, with dissolved impurities, and with salt constituents</a:t>
            </a:r>
          </a:p>
          <a:p>
            <a:r>
              <a:rPr lang="en-US" dirty="0"/>
              <a:t>Oxides dissolve in salt, leading to generation of metal fluorides</a:t>
            </a:r>
          </a:p>
          <a:p>
            <a:r>
              <a:rPr lang="en-US" dirty="0"/>
              <a:t>Cr-&gt;CrF2 is most likely structural material reaction and dictates the maximum redox potential</a:t>
            </a:r>
          </a:p>
          <a:p>
            <a:r>
              <a:rPr lang="en-US" dirty="0"/>
              <a:t>UF4/UF3 ratio is the proxy for redox potential, and should be kept at ~100</a:t>
            </a:r>
          </a:p>
        </p:txBody>
      </p:sp>
      <p:sp>
        <p:nvSpPr>
          <p:cNvPr id="5" name="Slide Number Placeholder 4">
            <a:extLst>
              <a:ext uri="{FF2B5EF4-FFF2-40B4-BE49-F238E27FC236}">
                <a16:creationId xmlns:a16="http://schemas.microsoft.com/office/drawing/2014/main" id="{42D0FBA8-D6BB-BBE9-7F14-61AD1DC5BD48}"/>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spTree>
    <p:extLst>
      <p:ext uri="{BB962C8B-B14F-4D97-AF65-F5344CB8AC3E}">
        <p14:creationId xmlns:p14="http://schemas.microsoft.com/office/powerpoint/2010/main" val="1435120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2E93-C703-9345-BB0B-F3742841EB1D}"/>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F02ACBCE-2E37-AE48-9BA1-6AD0249A47A4}"/>
              </a:ext>
            </a:extLst>
          </p:cNvPr>
          <p:cNvSpPr>
            <a:spLocks noGrp="1"/>
          </p:cNvSpPr>
          <p:nvPr>
            <p:ph sz="half" idx="1"/>
          </p:nvPr>
        </p:nvSpPr>
        <p:spPr/>
        <p:txBody>
          <a:bodyPr/>
          <a:lstStyle/>
          <a:p>
            <a:r>
              <a:rPr lang="en-US" sz="2200" dirty="0"/>
              <a:t>The materials required fall into three main categories: (1) metallic components for primary and secondary circuits, (2) graphite (or other structural steels) in the core, and (3) materials for molten-salt fuel reprocessing systems</a:t>
            </a:r>
          </a:p>
          <a:p>
            <a:r>
              <a:rPr lang="en-US" sz="2200" dirty="0"/>
              <a:t>The metallic material used in constructing the primary circuit of an MSR will operate at temperatures up to 700–750C</a:t>
            </a:r>
          </a:p>
          <a:p>
            <a:endParaRPr lang="en-US" sz="2200" dirty="0"/>
          </a:p>
          <a:p>
            <a:endParaRPr lang="en-US" sz="2200" dirty="0"/>
          </a:p>
        </p:txBody>
      </p:sp>
      <p:sp>
        <p:nvSpPr>
          <p:cNvPr id="4" name="Content Placeholder 3">
            <a:extLst>
              <a:ext uri="{FF2B5EF4-FFF2-40B4-BE49-F238E27FC236}">
                <a16:creationId xmlns:a16="http://schemas.microsoft.com/office/drawing/2014/main" id="{294891B2-63C8-9943-83B6-A16AA15DCD5F}"/>
              </a:ext>
            </a:extLst>
          </p:cNvPr>
          <p:cNvSpPr>
            <a:spLocks noGrp="1"/>
          </p:cNvSpPr>
          <p:nvPr>
            <p:ph sz="half" idx="2"/>
          </p:nvPr>
        </p:nvSpPr>
        <p:spPr/>
        <p:txBody>
          <a:bodyPr/>
          <a:lstStyle/>
          <a:p>
            <a:r>
              <a:rPr lang="en-US" sz="2200" dirty="0"/>
              <a:t>Operating lifetime of 30-50 </a:t>
            </a:r>
            <a:r>
              <a:rPr lang="en-US" sz="2200" dirty="0" err="1"/>
              <a:t>yrs</a:t>
            </a:r>
            <a:r>
              <a:rPr lang="en-US" sz="2200" dirty="0"/>
              <a:t>, with fluences of up to 8x10</a:t>
            </a:r>
            <a:r>
              <a:rPr lang="en-US" sz="2200" baseline="30000" dirty="0"/>
              <a:t>21</a:t>
            </a:r>
            <a:r>
              <a:rPr lang="en-US" sz="2200" dirty="0"/>
              <a:t> n/cm</a:t>
            </a:r>
            <a:r>
              <a:rPr lang="en-US" sz="2200" baseline="30000" dirty="0"/>
              <a:t>2</a:t>
            </a:r>
          </a:p>
          <a:p>
            <a:r>
              <a:rPr lang="en-US" sz="2200" dirty="0"/>
              <a:t>The metal must have moderate oxidation resistance, must resist corrosion by the salt, and must not be subject to severe embrittlement by neutrons</a:t>
            </a:r>
          </a:p>
          <a:p>
            <a:r>
              <a:rPr lang="en-US" sz="2200" dirty="0"/>
              <a:t>The material must shapeable, with wall thicknesses from &gt;1cm to less than 1mm, and weldable</a:t>
            </a:r>
          </a:p>
          <a:p>
            <a:endParaRPr lang="en-US" sz="2200" dirty="0"/>
          </a:p>
          <a:p>
            <a:endParaRPr lang="en-US" sz="2200" dirty="0"/>
          </a:p>
        </p:txBody>
      </p:sp>
      <p:sp>
        <p:nvSpPr>
          <p:cNvPr id="5" name="Slide Number Placeholder 4">
            <a:extLst>
              <a:ext uri="{FF2B5EF4-FFF2-40B4-BE49-F238E27FC236}">
                <a16:creationId xmlns:a16="http://schemas.microsoft.com/office/drawing/2014/main" id="{F6A2814C-A7A5-D54F-A8AC-C3417263DF04}"/>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dirty="0"/>
          </a:p>
        </p:txBody>
      </p:sp>
    </p:spTree>
    <p:extLst>
      <p:ext uri="{BB962C8B-B14F-4D97-AF65-F5344CB8AC3E}">
        <p14:creationId xmlns:p14="http://schemas.microsoft.com/office/powerpoint/2010/main" val="1758148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F38A-B0F0-384E-9D0E-00823E0660F8}"/>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08BA587A-4AB4-3A48-8985-1D387BB09A05}"/>
              </a:ext>
            </a:extLst>
          </p:cNvPr>
          <p:cNvSpPr>
            <a:spLocks noGrp="1"/>
          </p:cNvSpPr>
          <p:nvPr>
            <p:ph sz="half" idx="1"/>
          </p:nvPr>
        </p:nvSpPr>
        <p:spPr/>
        <p:txBody>
          <a:bodyPr/>
          <a:lstStyle/>
          <a:p>
            <a:r>
              <a:rPr lang="en-US" sz="2200" dirty="0"/>
              <a:t>Fairly extensive literature exists on corrosion of metal alloys by molten fluorides in convection or forced flow loops</a:t>
            </a:r>
          </a:p>
          <a:p>
            <a:r>
              <a:rPr lang="en-US" sz="2200" dirty="0"/>
              <a:t>Limited experimental efforts on irradiation-combined corrosion effects</a:t>
            </a:r>
          </a:p>
          <a:p>
            <a:r>
              <a:rPr lang="en-US" sz="2200" dirty="0"/>
              <a:t>Nickel-based and austenitic stainless steels were primarily investigated</a:t>
            </a:r>
          </a:p>
        </p:txBody>
      </p:sp>
      <p:sp>
        <p:nvSpPr>
          <p:cNvPr id="4" name="Content Placeholder 3">
            <a:extLst>
              <a:ext uri="{FF2B5EF4-FFF2-40B4-BE49-F238E27FC236}">
                <a16:creationId xmlns:a16="http://schemas.microsoft.com/office/drawing/2014/main" id="{58B9A58A-84C3-3241-A4F3-2674F22BA195}"/>
              </a:ext>
            </a:extLst>
          </p:cNvPr>
          <p:cNvSpPr>
            <a:spLocks noGrp="1"/>
          </p:cNvSpPr>
          <p:nvPr>
            <p:ph sz="half" idx="2"/>
          </p:nvPr>
        </p:nvSpPr>
        <p:spPr/>
        <p:txBody>
          <a:bodyPr/>
          <a:lstStyle/>
          <a:p>
            <a:r>
              <a:rPr lang="en-US" sz="2200" dirty="0"/>
              <a:t>General knowledge:</a:t>
            </a:r>
          </a:p>
          <a:p>
            <a:r>
              <a:rPr lang="en-US" sz="2200" dirty="0"/>
              <a:t>Corrosion is associated with outward diffusion of Cr through the alloy</a:t>
            </a:r>
          </a:p>
          <a:p>
            <a:r>
              <a:rPr lang="en-US" sz="2200" dirty="0"/>
              <a:t>Corrosion rate is marked by initial rapid attack associated with dissolution of Cr and is largely driven by impurities in the salt</a:t>
            </a:r>
          </a:p>
          <a:p>
            <a:r>
              <a:rPr lang="en-US" sz="2200" dirty="0"/>
              <a:t>This is followed by a linear corrosion rate which is controlled by mass transfer</a:t>
            </a:r>
          </a:p>
          <a:p>
            <a:endParaRPr lang="en-US" sz="2200" dirty="0"/>
          </a:p>
          <a:p>
            <a:endParaRPr lang="en-US" sz="2200" dirty="0"/>
          </a:p>
        </p:txBody>
      </p:sp>
      <p:sp>
        <p:nvSpPr>
          <p:cNvPr id="5" name="Slide Number Placeholder 4">
            <a:extLst>
              <a:ext uri="{FF2B5EF4-FFF2-40B4-BE49-F238E27FC236}">
                <a16:creationId xmlns:a16="http://schemas.microsoft.com/office/drawing/2014/main" id="{DA345EA0-6996-F34D-A758-FF7D592F1608}"/>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1500516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BED8-362B-6642-AFA1-8B2548C327F9}"/>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E27DC0A7-3000-274D-BB42-3DF9B5C22B2E}"/>
              </a:ext>
            </a:extLst>
          </p:cNvPr>
          <p:cNvSpPr>
            <a:spLocks noGrp="1"/>
          </p:cNvSpPr>
          <p:nvPr>
            <p:ph sz="half" idx="1"/>
          </p:nvPr>
        </p:nvSpPr>
        <p:spPr/>
        <p:txBody>
          <a:bodyPr/>
          <a:lstStyle/>
          <a:p>
            <a:r>
              <a:rPr lang="en-US" sz="2200" dirty="0"/>
              <a:t>General knowledge:</a:t>
            </a:r>
          </a:p>
          <a:p>
            <a:r>
              <a:rPr lang="en-US" sz="2200" dirty="0"/>
              <a:t>Minor impurities in the salt can enhance corrosion by several orders of magnitude</a:t>
            </a:r>
          </a:p>
          <a:p>
            <a:r>
              <a:rPr lang="en-US" sz="2200" dirty="0"/>
              <a:t>Dissolution can be mitigated by a chemical control of the redox conditions in the salts</a:t>
            </a:r>
          </a:p>
          <a:p>
            <a:r>
              <a:rPr lang="en-US" sz="2200" dirty="0"/>
              <a:t>Stainless steels, Inconel 600, Hastelloy-B, and Hastelloy-W were explored, but either excessively corroded or had poor aging properties</a:t>
            </a:r>
          </a:p>
          <a:p>
            <a:endParaRPr lang="en-US" sz="2200" dirty="0"/>
          </a:p>
        </p:txBody>
      </p:sp>
      <p:sp>
        <p:nvSpPr>
          <p:cNvPr id="4" name="Content Placeholder 3">
            <a:extLst>
              <a:ext uri="{FF2B5EF4-FFF2-40B4-BE49-F238E27FC236}">
                <a16:creationId xmlns:a16="http://schemas.microsoft.com/office/drawing/2014/main" id="{AF87B84F-C114-6441-AD7F-82697EA60D1C}"/>
              </a:ext>
            </a:extLst>
          </p:cNvPr>
          <p:cNvSpPr>
            <a:spLocks noGrp="1"/>
          </p:cNvSpPr>
          <p:nvPr>
            <p:ph sz="half" idx="2"/>
          </p:nvPr>
        </p:nvSpPr>
        <p:spPr/>
        <p:txBody>
          <a:bodyPr/>
          <a:lstStyle/>
          <a:p>
            <a:r>
              <a:rPr lang="en-US" sz="2200" dirty="0"/>
              <a:t>Hastelloy N was developed with a composition of Ni–16%Mo–7%Cr–5%Fe–0.05%C</a:t>
            </a:r>
          </a:p>
          <a:p>
            <a:r>
              <a:rPr lang="en-US" sz="2200" dirty="0"/>
              <a:t>Limited Cr is included to impart moderate oxidation resistance in air, but not high enough to lead to high corrosion rates in salt</a:t>
            </a:r>
          </a:p>
          <a:p>
            <a:r>
              <a:rPr lang="en-US" sz="2200" dirty="0"/>
              <a:t>Hastelloy N has excellent corrosion resistance to molten fluoride salts at temperatures considerably above those expected in MSR service</a:t>
            </a:r>
          </a:p>
          <a:p>
            <a:endParaRPr lang="en-US" sz="2200" dirty="0"/>
          </a:p>
          <a:p>
            <a:endParaRPr lang="en-US" sz="2200" dirty="0"/>
          </a:p>
        </p:txBody>
      </p:sp>
      <p:sp>
        <p:nvSpPr>
          <p:cNvPr id="5" name="Slide Number Placeholder 4">
            <a:extLst>
              <a:ext uri="{FF2B5EF4-FFF2-40B4-BE49-F238E27FC236}">
                <a16:creationId xmlns:a16="http://schemas.microsoft.com/office/drawing/2014/main" id="{B2D8DFEA-44FB-0748-8D85-FD8D5BF8CEFB}"/>
              </a:ext>
            </a:extLst>
          </p:cNvPr>
          <p:cNvSpPr>
            <a:spLocks noGrp="1"/>
          </p:cNvSpPr>
          <p:nvPr>
            <p:ph type="sldNum" sz="quarter" idx="12"/>
          </p:nvPr>
        </p:nvSpPr>
        <p:spPr/>
        <p:txBody>
          <a:bodyPr/>
          <a:lstStyle/>
          <a:p>
            <a:pPr>
              <a:defRPr/>
            </a:pPr>
            <a:fld id="{EC35E9FC-F6D5-0349-BBED-EA7D7A9BC49B}" type="slidenum">
              <a:rPr lang="en-US" smtClean="0"/>
              <a:pPr>
                <a:defRPr/>
              </a:pPr>
              <a:t>34</a:t>
            </a:fld>
            <a:endParaRPr lang="en-US"/>
          </a:p>
        </p:txBody>
      </p:sp>
    </p:spTree>
    <p:extLst>
      <p:ext uri="{BB962C8B-B14F-4D97-AF65-F5344CB8AC3E}">
        <p14:creationId xmlns:p14="http://schemas.microsoft.com/office/powerpoint/2010/main" val="2360973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52FD-D9A4-7B44-A21E-4326666A1B1B}"/>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61104088-86D4-E54A-873E-B0C61A53D415}"/>
              </a:ext>
            </a:extLst>
          </p:cNvPr>
          <p:cNvSpPr>
            <a:spLocks noGrp="1"/>
          </p:cNvSpPr>
          <p:nvPr>
            <p:ph sz="half" idx="1"/>
          </p:nvPr>
        </p:nvSpPr>
        <p:spPr/>
        <p:txBody>
          <a:bodyPr/>
          <a:lstStyle/>
          <a:p>
            <a:r>
              <a:rPr lang="en-US" sz="2200" dirty="0"/>
              <a:t>Problems with Hastelloy-N</a:t>
            </a:r>
          </a:p>
          <a:p>
            <a:r>
              <a:rPr lang="en-US" sz="2200" dirty="0"/>
              <a:t>Is subject to irradiation hardening due to accumulation of He at grain boundaries</a:t>
            </a:r>
          </a:p>
          <a:p>
            <a:r>
              <a:rPr lang="en-US" sz="2200" dirty="0"/>
              <a:t>This is potentially mitigated through alloys with fine carbide precipitates to trap He</a:t>
            </a:r>
          </a:p>
          <a:p>
            <a:r>
              <a:rPr lang="en-US" sz="2200" dirty="0"/>
              <a:t>Tiny cracks formed on the inside surface of Hastelloy-N piping for the MSRE</a:t>
            </a:r>
          </a:p>
        </p:txBody>
      </p:sp>
      <p:sp>
        <p:nvSpPr>
          <p:cNvPr id="4" name="Content Placeholder 3">
            <a:extLst>
              <a:ext uri="{FF2B5EF4-FFF2-40B4-BE49-F238E27FC236}">
                <a16:creationId xmlns:a16="http://schemas.microsoft.com/office/drawing/2014/main" id="{1966FFE8-79F7-B640-BA2A-8CDD41153D78}"/>
              </a:ext>
            </a:extLst>
          </p:cNvPr>
          <p:cNvSpPr>
            <a:spLocks noGrp="1"/>
          </p:cNvSpPr>
          <p:nvPr>
            <p:ph sz="half" idx="2"/>
          </p:nvPr>
        </p:nvSpPr>
        <p:spPr/>
        <p:txBody>
          <a:bodyPr/>
          <a:lstStyle/>
          <a:p>
            <a:r>
              <a:rPr lang="en-US" sz="2200" dirty="0"/>
              <a:t>Intergranular cracks were due to </a:t>
            </a:r>
            <a:r>
              <a:rPr lang="en-US" sz="2200" dirty="0" err="1"/>
              <a:t>Te</a:t>
            </a:r>
            <a:r>
              <a:rPr lang="en-US" sz="2200" dirty="0"/>
              <a:t>, which can likely be controlled with appropriate redox conditions</a:t>
            </a:r>
          </a:p>
          <a:p>
            <a:r>
              <a:rPr lang="en-US" sz="2200" dirty="0"/>
              <a:t>Additions of </a:t>
            </a:r>
            <a:r>
              <a:rPr lang="en-US" sz="2200" dirty="0" err="1"/>
              <a:t>Ti</a:t>
            </a:r>
            <a:r>
              <a:rPr lang="en-US" sz="2200" dirty="0"/>
              <a:t> can aide in fine carbide precipitates, and additions of Nb can limit </a:t>
            </a:r>
            <a:r>
              <a:rPr lang="en-US" sz="2200" dirty="0" err="1"/>
              <a:t>Te</a:t>
            </a:r>
            <a:r>
              <a:rPr lang="en-US" sz="2200" dirty="0"/>
              <a:t> cracking</a:t>
            </a:r>
          </a:p>
          <a:p>
            <a:r>
              <a:rPr lang="en-US" sz="2200" dirty="0"/>
              <a:t>No alloys with both additions have been studied, but it is supposed that additions of 1% Ti and 1% Nb can sufficiently solve both problems</a:t>
            </a:r>
          </a:p>
          <a:p>
            <a:endParaRPr lang="en-US" sz="2200" dirty="0"/>
          </a:p>
        </p:txBody>
      </p:sp>
      <p:sp>
        <p:nvSpPr>
          <p:cNvPr id="5" name="Slide Number Placeholder 4">
            <a:extLst>
              <a:ext uri="{FF2B5EF4-FFF2-40B4-BE49-F238E27FC236}">
                <a16:creationId xmlns:a16="http://schemas.microsoft.com/office/drawing/2014/main" id="{C1FB6FD9-43C6-6241-A878-3FCD78FCAF55}"/>
              </a:ext>
            </a:extLst>
          </p:cNvPr>
          <p:cNvSpPr>
            <a:spLocks noGrp="1"/>
          </p:cNvSpPr>
          <p:nvPr>
            <p:ph type="sldNum" sz="quarter" idx="12"/>
          </p:nvPr>
        </p:nvSpPr>
        <p:spPr/>
        <p:txBody>
          <a:bodyPr/>
          <a:lstStyle/>
          <a:p>
            <a:pPr>
              <a:defRPr/>
            </a:pPr>
            <a:fld id="{EC35E9FC-F6D5-0349-BBED-EA7D7A9BC49B}" type="slidenum">
              <a:rPr lang="en-US" smtClean="0"/>
              <a:pPr>
                <a:defRPr/>
              </a:pPr>
              <a:t>35</a:t>
            </a:fld>
            <a:endParaRPr lang="en-US"/>
          </a:p>
        </p:txBody>
      </p:sp>
    </p:spTree>
    <p:extLst>
      <p:ext uri="{BB962C8B-B14F-4D97-AF65-F5344CB8AC3E}">
        <p14:creationId xmlns:p14="http://schemas.microsoft.com/office/powerpoint/2010/main" val="1322650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A4E2-B5AA-4742-86DE-631D94A62B94}"/>
              </a:ext>
            </a:extLst>
          </p:cNvPr>
          <p:cNvSpPr>
            <a:spLocks noGrp="1"/>
          </p:cNvSpPr>
          <p:nvPr>
            <p:ph type="title"/>
          </p:nvPr>
        </p:nvSpPr>
        <p:spPr/>
        <p:txBody>
          <a:bodyPr/>
          <a:lstStyle/>
          <a:p>
            <a:r>
              <a:rPr lang="en-US" dirty="0" err="1"/>
              <a:t>Tellerium</a:t>
            </a:r>
            <a:endParaRPr lang="en-US" dirty="0"/>
          </a:p>
        </p:txBody>
      </p:sp>
      <p:sp>
        <p:nvSpPr>
          <p:cNvPr id="3" name="Content Placeholder 2">
            <a:extLst>
              <a:ext uri="{FF2B5EF4-FFF2-40B4-BE49-F238E27FC236}">
                <a16:creationId xmlns:a16="http://schemas.microsoft.com/office/drawing/2014/main" id="{FD068A89-07E7-A844-AD4A-D770E3759358}"/>
              </a:ext>
            </a:extLst>
          </p:cNvPr>
          <p:cNvSpPr>
            <a:spLocks noGrp="1"/>
          </p:cNvSpPr>
          <p:nvPr>
            <p:ph sz="half" idx="1"/>
          </p:nvPr>
        </p:nvSpPr>
        <p:spPr>
          <a:xfrm>
            <a:off x="609600" y="1968503"/>
            <a:ext cx="5588000" cy="4157663"/>
          </a:xfrm>
        </p:spPr>
        <p:txBody>
          <a:bodyPr/>
          <a:lstStyle/>
          <a:p>
            <a:r>
              <a:rPr lang="en-US" sz="2200" dirty="0"/>
              <a:t>When </a:t>
            </a:r>
            <a:r>
              <a:rPr lang="en-US" sz="2200" dirty="0" err="1"/>
              <a:t>Te</a:t>
            </a:r>
            <a:r>
              <a:rPr lang="en-US" sz="2200" dirty="0"/>
              <a:t> is present in the metallic form in the fuel, it corrodes Ni-based alloys and embrittles its surface grain boundaries</a:t>
            </a:r>
          </a:p>
          <a:p>
            <a:r>
              <a:rPr lang="en-US" sz="2200" dirty="0"/>
              <a:t>Embrittlement is a vital issue to consider because it can result in cracking of the structural materials</a:t>
            </a:r>
          </a:p>
          <a:p>
            <a:r>
              <a:rPr lang="en-US" sz="2200" dirty="0"/>
              <a:t>This intergranular embrittlement produced in Hastelloy-N can be significantly reduced by adding 1–2 </a:t>
            </a:r>
            <a:r>
              <a:rPr lang="en-US" sz="2200" dirty="0" err="1"/>
              <a:t>wt</a:t>
            </a:r>
            <a:r>
              <a:rPr lang="en-US" sz="2200" dirty="0"/>
              <a:t>% of niobium into the Hastelloy-N</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72A81808-B61A-2F4A-B2F3-2B75444DFFF9}"/>
              </a:ext>
            </a:extLst>
          </p:cNvPr>
          <p:cNvSpPr>
            <a:spLocks noGrp="1"/>
          </p:cNvSpPr>
          <p:nvPr>
            <p:ph sz="half" idx="2"/>
          </p:nvPr>
        </p:nvSpPr>
        <p:spPr>
          <a:xfrm>
            <a:off x="6197600" y="1968503"/>
            <a:ext cx="5657702" cy="4157663"/>
          </a:xfrm>
        </p:spPr>
        <p:txBody>
          <a:bodyPr/>
          <a:lstStyle/>
          <a:p>
            <a:r>
              <a:rPr lang="en-US" sz="2200" dirty="0"/>
              <a:t>Another way to suppress the corrosion rate is by increasing the reducing conditions of the fuel, which is done by the decreasing the UF4/UF3 ratio</a:t>
            </a:r>
          </a:p>
          <a:p>
            <a:r>
              <a:rPr lang="en-US" sz="2200" dirty="0"/>
              <a:t>This allows </a:t>
            </a:r>
            <a:r>
              <a:rPr lang="en-US" sz="2200" dirty="0" err="1"/>
              <a:t>Te</a:t>
            </a:r>
            <a:r>
              <a:rPr lang="en-US" sz="2200" dirty="0"/>
              <a:t> to be present as Te</a:t>
            </a:r>
            <a:r>
              <a:rPr lang="en-US" sz="2200" baseline="30000" dirty="0"/>
              <a:t>-2</a:t>
            </a:r>
            <a:r>
              <a:rPr lang="en-US" sz="2200" dirty="0"/>
              <a:t> rather than in an ‘oxidized’ metallic form, and this is less aggressive against the nickel-based alloys</a:t>
            </a:r>
          </a:p>
        </p:txBody>
      </p:sp>
      <p:sp>
        <p:nvSpPr>
          <p:cNvPr id="5" name="Slide Number Placeholder 4">
            <a:extLst>
              <a:ext uri="{FF2B5EF4-FFF2-40B4-BE49-F238E27FC236}">
                <a16:creationId xmlns:a16="http://schemas.microsoft.com/office/drawing/2014/main" id="{70D18760-0BC3-704C-A3F8-265535E215EE}"/>
              </a:ext>
            </a:extLst>
          </p:cNvPr>
          <p:cNvSpPr>
            <a:spLocks noGrp="1"/>
          </p:cNvSpPr>
          <p:nvPr>
            <p:ph type="sldNum" sz="quarter" idx="12"/>
          </p:nvPr>
        </p:nvSpPr>
        <p:spPr/>
        <p:txBody>
          <a:bodyPr/>
          <a:lstStyle/>
          <a:p>
            <a:pPr>
              <a:defRPr/>
            </a:pPr>
            <a:fld id="{EC35E9FC-F6D5-0349-BBED-EA7D7A9BC49B}" type="slidenum">
              <a:rPr lang="en-US" smtClean="0"/>
              <a:pPr>
                <a:defRPr/>
              </a:pPr>
              <a:t>36</a:t>
            </a:fld>
            <a:endParaRPr lang="en-US"/>
          </a:p>
        </p:txBody>
      </p:sp>
    </p:spTree>
    <p:extLst>
      <p:ext uri="{BB962C8B-B14F-4D97-AF65-F5344CB8AC3E}">
        <p14:creationId xmlns:p14="http://schemas.microsoft.com/office/powerpoint/2010/main" val="1245366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0BD5-EFE3-2B45-8A2D-CC5BBE9BB595}"/>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7AC780A5-C581-6C48-83C6-956D05DEB98E}"/>
              </a:ext>
            </a:extLst>
          </p:cNvPr>
          <p:cNvSpPr>
            <a:spLocks noGrp="1"/>
          </p:cNvSpPr>
          <p:nvPr>
            <p:ph sz="half" idx="1"/>
          </p:nvPr>
        </p:nvSpPr>
        <p:spPr/>
        <p:txBody>
          <a:bodyPr/>
          <a:lstStyle/>
          <a:p>
            <a:r>
              <a:rPr lang="en-US" sz="2200" dirty="0"/>
              <a:t>Focus on graphite core</a:t>
            </a:r>
          </a:p>
          <a:p>
            <a:r>
              <a:rPr lang="en-US" sz="2200" dirty="0"/>
              <a:t>Graphite is the principal material other than salt in the core of the reference breeder reactor design with a thermal spectrum, or used as a reflector in fast designs</a:t>
            </a:r>
          </a:p>
          <a:p>
            <a:r>
              <a:rPr lang="en-US" sz="2200" dirty="0"/>
              <a:t>The graphite structures will operate in a fuel salt environment over a range of temperatures from 500 up to 800C</a:t>
            </a:r>
          </a:p>
          <a:p>
            <a:endParaRPr lang="en-US" sz="2200" dirty="0"/>
          </a:p>
          <a:p>
            <a:endParaRPr lang="en-US" sz="2200" dirty="0"/>
          </a:p>
        </p:txBody>
      </p:sp>
      <p:sp>
        <p:nvSpPr>
          <p:cNvPr id="4" name="Content Placeholder 3">
            <a:extLst>
              <a:ext uri="{FF2B5EF4-FFF2-40B4-BE49-F238E27FC236}">
                <a16:creationId xmlns:a16="http://schemas.microsoft.com/office/drawing/2014/main" id="{ECEBAC79-47A6-1F43-8849-365422CAC680}"/>
              </a:ext>
            </a:extLst>
          </p:cNvPr>
          <p:cNvSpPr>
            <a:spLocks noGrp="1"/>
          </p:cNvSpPr>
          <p:nvPr>
            <p:ph sz="half" idx="2"/>
          </p:nvPr>
        </p:nvSpPr>
        <p:spPr/>
        <p:txBody>
          <a:bodyPr/>
          <a:lstStyle/>
          <a:p>
            <a:r>
              <a:rPr lang="en-US" sz="2200" dirty="0"/>
              <a:t>There are two main requirements in the graphite in MSRs: that both molten salt and xenon be excluded from open pore volume</a:t>
            </a:r>
          </a:p>
          <a:p>
            <a:r>
              <a:rPr lang="en-US" sz="2200" dirty="0"/>
              <a:t>Significant penetration of the graphite by the fuel salt would generate a local hot spot, leading to enhanced radiation damage to the graphite and perhaps local boiling of the salt</a:t>
            </a:r>
          </a:p>
          <a:p>
            <a:endParaRPr lang="en-US" sz="2200" dirty="0"/>
          </a:p>
          <a:p>
            <a:endParaRPr lang="en-US" sz="2200" dirty="0"/>
          </a:p>
        </p:txBody>
      </p:sp>
      <p:sp>
        <p:nvSpPr>
          <p:cNvPr id="5" name="Slide Number Placeholder 4">
            <a:extLst>
              <a:ext uri="{FF2B5EF4-FFF2-40B4-BE49-F238E27FC236}">
                <a16:creationId xmlns:a16="http://schemas.microsoft.com/office/drawing/2014/main" id="{1BCBD549-9890-8946-BB0C-4310F14EDC18}"/>
              </a:ext>
            </a:extLst>
          </p:cNvPr>
          <p:cNvSpPr>
            <a:spLocks noGrp="1"/>
          </p:cNvSpPr>
          <p:nvPr>
            <p:ph type="sldNum" sz="quarter" idx="12"/>
          </p:nvPr>
        </p:nvSpPr>
        <p:spPr/>
        <p:txBody>
          <a:bodyPr/>
          <a:lstStyle/>
          <a:p>
            <a:pPr>
              <a:defRPr/>
            </a:pPr>
            <a:fld id="{EC35E9FC-F6D5-0349-BBED-EA7D7A9BC49B}" type="slidenum">
              <a:rPr lang="en-US" smtClean="0"/>
              <a:pPr>
                <a:defRPr/>
              </a:pPr>
              <a:t>37</a:t>
            </a:fld>
            <a:endParaRPr lang="en-US"/>
          </a:p>
        </p:txBody>
      </p:sp>
    </p:spTree>
    <p:extLst>
      <p:ext uri="{BB962C8B-B14F-4D97-AF65-F5344CB8AC3E}">
        <p14:creationId xmlns:p14="http://schemas.microsoft.com/office/powerpoint/2010/main" val="1065055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9DDF-400D-1845-B7F4-AB4BB90E9A61}"/>
              </a:ext>
            </a:extLst>
          </p:cNvPr>
          <p:cNvSpPr>
            <a:spLocks noGrp="1"/>
          </p:cNvSpPr>
          <p:nvPr>
            <p:ph type="title"/>
          </p:nvPr>
        </p:nvSpPr>
        <p:spPr/>
        <p:txBody>
          <a:bodyPr/>
          <a:lstStyle/>
          <a:p>
            <a:r>
              <a:rPr lang="en-US" dirty="0"/>
              <a:t>Graphite for MSR systems</a:t>
            </a:r>
          </a:p>
        </p:txBody>
      </p:sp>
      <p:sp>
        <p:nvSpPr>
          <p:cNvPr id="3" name="Content Placeholder 2">
            <a:extLst>
              <a:ext uri="{FF2B5EF4-FFF2-40B4-BE49-F238E27FC236}">
                <a16:creationId xmlns:a16="http://schemas.microsoft.com/office/drawing/2014/main" id="{8F4A47C5-204A-D649-8B02-230795E11443}"/>
              </a:ext>
            </a:extLst>
          </p:cNvPr>
          <p:cNvSpPr>
            <a:spLocks noGrp="1"/>
          </p:cNvSpPr>
          <p:nvPr>
            <p:ph sz="half" idx="1"/>
          </p:nvPr>
        </p:nvSpPr>
        <p:spPr/>
        <p:txBody>
          <a:bodyPr/>
          <a:lstStyle/>
          <a:p>
            <a:r>
              <a:rPr lang="en-US" sz="2200" dirty="0"/>
              <a:t>Extensive experimental work has demonstrated the compatibility of graphite with molten salts</a:t>
            </a:r>
          </a:p>
          <a:p>
            <a:r>
              <a:rPr lang="en-US" sz="2200" dirty="0"/>
              <a:t>Graphite undergoes the same shrinkage/turnaround processes during irradiation</a:t>
            </a:r>
          </a:p>
          <a:p>
            <a:r>
              <a:rPr lang="en-US" sz="2200" dirty="0"/>
              <a:t>For molten salts, post-turnaround graphite is of concern, due to the increased porosity allowing for salt ingress</a:t>
            </a:r>
          </a:p>
        </p:txBody>
      </p:sp>
      <p:sp>
        <p:nvSpPr>
          <p:cNvPr id="4" name="Content Placeholder 3">
            <a:extLst>
              <a:ext uri="{FF2B5EF4-FFF2-40B4-BE49-F238E27FC236}">
                <a16:creationId xmlns:a16="http://schemas.microsoft.com/office/drawing/2014/main" id="{8E050589-8319-3747-8C47-B2C9CDC6C26E}"/>
              </a:ext>
            </a:extLst>
          </p:cNvPr>
          <p:cNvSpPr>
            <a:spLocks noGrp="1"/>
          </p:cNvSpPr>
          <p:nvPr>
            <p:ph sz="half" idx="2"/>
          </p:nvPr>
        </p:nvSpPr>
        <p:spPr/>
        <p:txBody>
          <a:bodyPr/>
          <a:lstStyle/>
          <a:p>
            <a:r>
              <a:rPr lang="en-US" sz="2200" dirty="0"/>
              <a:t>This puts a cap on fast neutron fluence in graphite for salt systems at about 3E22 n/cm</a:t>
            </a:r>
            <a:r>
              <a:rPr lang="en-US" sz="2200" baseline="30000" dirty="0"/>
              <a:t>2</a:t>
            </a:r>
            <a:r>
              <a:rPr lang="en-US" sz="2200" dirty="0"/>
              <a:t>, which translates into about 3-4 years as a moderator in the MSBR</a:t>
            </a:r>
            <a:endParaRPr lang="en-US" sz="2200" baseline="30000" dirty="0"/>
          </a:p>
          <a:p>
            <a:r>
              <a:rPr lang="en-US" sz="2200" dirty="0"/>
              <a:t>Graphite needs to be surface-sealed to prevent Xe penetration</a:t>
            </a:r>
          </a:p>
          <a:p>
            <a:r>
              <a:rPr lang="en-US" sz="2200" baseline="30000" dirty="0"/>
              <a:t>135</a:t>
            </a:r>
            <a:r>
              <a:rPr lang="en-US" sz="2200" dirty="0"/>
              <a:t>Xe can diffuse into the graphite and function as a neutron poison</a:t>
            </a:r>
          </a:p>
          <a:p>
            <a:r>
              <a:rPr lang="en-US" sz="2200" dirty="0" err="1"/>
              <a:t>Pyrocarbon</a:t>
            </a:r>
            <a:r>
              <a:rPr lang="en-US" sz="2200" dirty="0"/>
              <a:t> sealing was explored, but led to more rapid turnaround</a:t>
            </a:r>
          </a:p>
        </p:txBody>
      </p:sp>
      <p:sp>
        <p:nvSpPr>
          <p:cNvPr id="5" name="Slide Number Placeholder 4">
            <a:extLst>
              <a:ext uri="{FF2B5EF4-FFF2-40B4-BE49-F238E27FC236}">
                <a16:creationId xmlns:a16="http://schemas.microsoft.com/office/drawing/2014/main" id="{C60315BD-7AEB-CD42-8A71-15A10474E552}"/>
              </a:ext>
            </a:extLst>
          </p:cNvPr>
          <p:cNvSpPr>
            <a:spLocks noGrp="1"/>
          </p:cNvSpPr>
          <p:nvPr>
            <p:ph type="sldNum" sz="quarter" idx="12"/>
          </p:nvPr>
        </p:nvSpPr>
        <p:spPr/>
        <p:txBody>
          <a:bodyPr/>
          <a:lstStyle/>
          <a:p>
            <a:pPr>
              <a:defRPr/>
            </a:pPr>
            <a:fld id="{EC35E9FC-F6D5-0349-BBED-EA7D7A9BC49B}" type="slidenum">
              <a:rPr lang="en-US" smtClean="0"/>
              <a:pPr>
                <a:defRPr/>
              </a:pPr>
              <a:t>38</a:t>
            </a:fld>
            <a:endParaRPr lang="en-US"/>
          </a:p>
        </p:txBody>
      </p:sp>
    </p:spTree>
    <p:extLst>
      <p:ext uri="{BB962C8B-B14F-4D97-AF65-F5344CB8AC3E}">
        <p14:creationId xmlns:p14="http://schemas.microsoft.com/office/powerpoint/2010/main" val="3996930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960E8-3292-824E-A956-32F215D8CCF9}"/>
              </a:ext>
            </a:extLst>
          </p:cNvPr>
          <p:cNvSpPr>
            <a:spLocks noGrp="1"/>
          </p:cNvSpPr>
          <p:nvPr>
            <p:ph type="title"/>
          </p:nvPr>
        </p:nvSpPr>
        <p:spPr/>
        <p:txBody>
          <a:bodyPr/>
          <a:lstStyle/>
          <a:p>
            <a:r>
              <a:rPr lang="en-US" dirty="0"/>
              <a:t>Graphite Compatibility</a:t>
            </a:r>
          </a:p>
        </p:txBody>
      </p:sp>
      <p:sp>
        <p:nvSpPr>
          <p:cNvPr id="3" name="Content Placeholder 2">
            <a:extLst>
              <a:ext uri="{FF2B5EF4-FFF2-40B4-BE49-F238E27FC236}">
                <a16:creationId xmlns:a16="http://schemas.microsoft.com/office/drawing/2014/main" id="{418955CB-2AD7-DF4B-8778-1DF326C8E226}"/>
              </a:ext>
            </a:extLst>
          </p:cNvPr>
          <p:cNvSpPr>
            <a:spLocks noGrp="1"/>
          </p:cNvSpPr>
          <p:nvPr>
            <p:ph sz="half" idx="1"/>
          </p:nvPr>
        </p:nvSpPr>
        <p:spPr/>
        <p:txBody>
          <a:bodyPr/>
          <a:lstStyle/>
          <a:p>
            <a:r>
              <a:rPr lang="en-US" sz="2400" dirty="0"/>
              <a:t>Graphite does not react with molten fluoride mixtures of the type to be used in the MSR concepts</a:t>
            </a:r>
          </a:p>
          <a:p>
            <a:r>
              <a:rPr lang="en-US" sz="2400" dirty="0"/>
              <a:t>After carbon, borides and nitrides appear to be the most compatible nonmetallic materials</a:t>
            </a:r>
          </a:p>
          <a:p>
            <a:endParaRPr lang="en-US" sz="2400" dirty="0"/>
          </a:p>
        </p:txBody>
      </p:sp>
      <p:sp>
        <p:nvSpPr>
          <p:cNvPr id="4" name="Content Placeholder 3">
            <a:extLst>
              <a:ext uri="{FF2B5EF4-FFF2-40B4-BE49-F238E27FC236}">
                <a16:creationId xmlns:a16="http://schemas.microsoft.com/office/drawing/2014/main" id="{BD103534-B572-6E4C-B9B5-80E488C8303E}"/>
              </a:ext>
            </a:extLst>
          </p:cNvPr>
          <p:cNvSpPr>
            <a:spLocks noGrp="1"/>
          </p:cNvSpPr>
          <p:nvPr>
            <p:ph sz="half" idx="2"/>
          </p:nvPr>
        </p:nvSpPr>
        <p:spPr/>
        <p:txBody>
          <a:bodyPr/>
          <a:lstStyle/>
          <a:p>
            <a:r>
              <a:rPr lang="en-US" sz="2400" dirty="0"/>
              <a:t>Thermodynamic data suggest that the most likely reaction is:</a:t>
            </a:r>
          </a:p>
          <a:p>
            <a:endParaRPr lang="en-US" sz="2400" dirty="0"/>
          </a:p>
          <a:p>
            <a:r>
              <a:rPr lang="en-US" sz="2400" dirty="0"/>
              <a:t>but this should come to equilibrium at very low CF4 pressures</a:t>
            </a:r>
          </a:p>
          <a:p>
            <a:r>
              <a:rPr lang="en-US" sz="2400" dirty="0"/>
              <a:t>CF4 concentrations over graphite–salt systems maintained for long periods at elevated temperatures have been shown to be below the limit of detection</a:t>
            </a:r>
          </a:p>
          <a:p>
            <a:endParaRPr lang="en-US" sz="2400" dirty="0"/>
          </a:p>
          <a:p>
            <a:endParaRPr lang="en-US" sz="2400" dirty="0"/>
          </a:p>
        </p:txBody>
      </p:sp>
      <p:pic>
        <p:nvPicPr>
          <p:cNvPr id="5" name="Picture 4">
            <a:extLst>
              <a:ext uri="{FF2B5EF4-FFF2-40B4-BE49-F238E27FC236}">
                <a16:creationId xmlns:a16="http://schemas.microsoft.com/office/drawing/2014/main" id="{526192BF-6A2F-1148-90BE-2F06B8988A21}"/>
              </a:ext>
            </a:extLst>
          </p:cNvPr>
          <p:cNvPicPr>
            <a:picLocks noChangeAspect="1"/>
          </p:cNvPicPr>
          <p:nvPr/>
        </p:nvPicPr>
        <p:blipFill>
          <a:blip r:embed="rId2"/>
          <a:stretch>
            <a:fillRect/>
          </a:stretch>
        </p:blipFill>
        <p:spPr>
          <a:xfrm>
            <a:off x="7774608" y="2812774"/>
            <a:ext cx="2417841" cy="413578"/>
          </a:xfrm>
          <a:prstGeom prst="rect">
            <a:avLst/>
          </a:prstGeom>
        </p:spPr>
      </p:pic>
      <p:sp>
        <p:nvSpPr>
          <p:cNvPr id="6" name="Slide Number Placeholder 5">
            <a:extLst>
              <a:ext uri="{FF2B5EF4-FFF2-40B4-BE49-F238E27FC236}">
                <a16:creationId xmlns:a16="http://schemas.microsoft.com/office/drawing/2014/main" id="{5744D474-92BC-FB49-9F8E-3482629654A0}"/>
              </a:ext>
            </a:extLst>
          </p:cNvPr>
          <p:cNvSpPr>
            <a:spLocks noGrp="1"/>
          </p:cNvSpPr>
          <p:nvPr>
            <p:ph type="sldNum" sz="quarter" idx="12"/>
          </p:nvPr>
        </p:nvSpPr>
        <p:spPr/>
        <p:txBody>
          <a:bodyPr/>
          <a:lstStyle/>
          <a:p>
            <a:pPr>
              <a:defRPr/>
            </a:pPr>
            <a:fld id="{EC35E9FC-F6D5-0349-BBED-EA7D7A9BC49B}" type="slidenum">
              <a:rPr lang="en-US" smtClean="0"/>
              <a:pPr>
                <a:defRPr/>
              </a:pPr>
              <a:t>39</a:t>
            </a:fld>
            <a:endParaRPr lang="en-US" dirty="0"/>
          </a:p>
        </p:txBody>
      </p:sp>
    </p:spTree>
    <p:extLst>
      <p:ext uri="{BB962C8B-B14F-4D97-AF65-F5344CB8AC3E}">
        <p14:creationId xmlns:p14="http://schemas.microsoft.com/office/powerpoint/2010/main" val="654713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2DC8-AA62-5938-3BD6-7077EB3A412D}"/>
              </a:ext>
            </a:extLst>
          </p:cNvPr>
          <p:cNvSpPr>
            <a:spLocks noGrp="1"/>
          </p:cNvSpPr>
          <p:nvPr>
            <p:ph type="title"/>
          </p:nvPr>
        </p:nvSpPr>
        <p:spPr/>
        <p:txBody>
          <a:bodyPr/>
          <a:lstStyle/>
          <a:p>
            <a:r>
              <a:rPr lang="en-US" dirty="0"/>
              <a:t>These materials have been shown to survive!</a:t>
            </a:r>
          </a:p>
        </p:txBody>
      </p:sp>
      <p:sp>
        <p:nvSpPr>
          <p:cNvPr id="3" name="Content Placeholder 2">
            <a:extLst>
              <a:ext uri="{FF2B5EF4-FFF2-40B4-BE49-F238E27FC236}">
                <a16:creationId xmlns:a16="http://schemas.microsoft.com/office/drawing/2014/main" id="{6F6C26DD-FF3D-E1AE-C9FB-61AD75B0982B}"/>
              </a:ext>
            </a:extLst>
          </p:cNvPr>
          <p:cNvSpPr>
            <a:spLocks noGrp="1"/>
          </p:cNvSpPr>
          <p:nvPr>
            <p:ph sz="half" idx="1"/>
          </p:nvPr>
        </p:nvSpPr>
        <p:spPr>
          <a:xfrm>
            <a:off x="609600" y="5712547"/>
            <a:ext cx="10972800" cy="490679"/>
          </a:xfrm>
        </p:spPr>
        <p:txBody>
          <a:bodyPr/>
          <a:lstStyle/>
          <a:p>
            <a:pPr marL="0" indent="0" algn="ctr">
              <a:buNone/>
            </a:pPr>
            <a:r>
              <a:rPr lang="en-US" dirty="0"/>
              <a:t>MSRE graphite and Hastelloy N exposed to coolant salt was clean after 2+ years of operation</a:t>
            </a:r>
          </a:p>
          <a:p>
            <a:pPr marL="0" indent="0" algn="ctr">
              <a:buNone/>
            </a:pPr>
            <a:endParaRPr lang="en-US" dirty="0"/>
          </a:p>
        </p:txBody>
      </p:sp>
      <p:sp>
        <p:nvSpPr>
          <p:cNvPr id="5" name="Slide Number Placeholder 4">
            <a:extLst>
              <a:ext uri="{FF2B5EF4-FFF2-40B4-BE49-F238E27FC236}">
                <a16:creationId xmlns:a16="http://schemas.microsoft.com/office/drawing/2014/main" id="{B568C017-1508-DF75-E03D-9AD5EFB13528}"/>
              </a:ext>
            </a:extLst>
          </p:cNvPr>
          <p:cNvSpPr>
            <a:spLocks noGrp="1"/>
          </p:cNvSpPr>
          <p:nvPr>
            <p:ph type="sldNum" sz="quarter" idx="12"/>
          </p:nvPr>
        </p:nvSpPr>
        <p:spPr/>
        <p:txBody>
          <a:bodyPr/>
          <a:lstStyle/>
          <a:p>
            <a:pPr>
              <a:defRPr/>
            </a:pPr>
            <a:fld id="{EC35E9FC-F6D5-0349-BBED-EA7D7A9BC49B}" type="slidenum">
              <a:rPr lang="en-US" smtClean="0"/>
              <a:pPr>
                <a:defRPr/>
              </a:pPr>
              <a:t>40</a:t>
            </a:fld>
            <a:endParaRPr lang="en-US"/>
          </a:p>
        </p:txBody>
      </p:sp>
      <p:pic>
        <p:nvPicPr>
          <p:cNvPr id="6" name="Picture 5">
            <a:extLst>
              <a:ext uri="{FF2B5EF4-FFF2-40B4-BE49-F238E27FC236}">
                <a16:creationId xmlns:a16="http://schemas.microsoft.com/office/drawing/2014/main" id="{A54BA065-485D-CF0A-5CC6-CE8707B6DF91}"/>
              </a:ext>
            </a:extLst>
          </p:cNvPr>
          <p:cNvPicPr>
            <a:picLocks noChangeAspect="1"/>
          </p:cNvPicPr>
          <p:nvPr/>
        </p:nvPicPr>
        <p:blipFill>
          <a:blip r:embed="rId2"/>
          <a:stretch>
            <a:fillRect/>
          </a:stretch>
        </p:blipFill>
        <p:spPr>
          <a:xfrm>
            <a:off x="3914822" y="1874598"/>
            <a:ext cx="4362355" cy="3684823"/>
          </a:xfrm>
          <a:prstGeom prst="rect">
            <a:avLst/>
          </a:prstGeom>
        </p:spPr>
      </p:pic>
    </p:spTree>
    <p:extLst>
      <p:ext uri="{BB962C8B-B14F-4D97-AF65-F5344CB8AC3E}">
        <p14:creationId xmlns:p14="http://schemas.microsoft.com/office/powerpoint/2010/main" val="1738272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0BD5-EFE3-2B45-8A2D-CC5BBE9BB595}"/>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7AC780A5-C581-6C48-83C6-956D05DEB98E}"/>
              </a:ext>
            </a:extLst>
          </p:cNvPr>
          <p:cNvSpPr>
            <a:spLocks noGrp="1"/>
          </p:cNvSpPr>
          <p:nvPr>
            <p:ph sz="half" idx="1"/>
          </p:nvPr>
        </p:nvSpPr>
        <p:spPr/>
        <p:txBody>
          <a:bodyPr/>
          <a:lstStyle/>
          <a:p>
            <a:r>
              <a:rPr lang="en-US" sz="2200" dirty="0"/>
              <a:t>Reprocessing materials</a:t>
            </a:r>
          </a:p>
          <a:p>
            <a:r>
              <a:rPr lang="en-US" sz="2200" dirty="0"/>
              <a:t>The key operations in fuel reprocessing are (1) removal of uranium from the fuel stream for immediate return to the reactor, and (2) removal fission products from the fuel solvent</a:t>
            </a:r>
          </a:p>
          <a:p>
            <a:r>
              <a:rPr lang="en-US" sz="2200" dirty="0"/>
              <a:t>One severe corrosive environment in this process includes salt at 550C with F2 and UF6, and so that an average valence of 4.5 exists</a:t>
            </a:r>
          </a:p>
        </p:txBody>
      </p:sp>
      <p:sp>
        <p:nvSpPr>
          <p:cNvPr id="4" name="Content Placeholder 3">
            <a:extLst>
              <a:ext uri="{FF2B5EF4-FFF2-40B4-BE49-F238E27FC236}">
                <a16:creationId xmlns:a16="http://schemas.microsoft.com/office/drawing/2014/main" id="{ECEBAC79-47A6-1F43-8849-365422CAC680}"/>
              </a:ext>
            </a:extLst>
          </p:cNvPr>
          <p:cNvSpPr>
            <a:spLocks noGrp="1"/>
          </p:cNvSpPr>
          <p:nvPr>
            <p:ph sz="half" idx="2"/>
          </p:nvPr>
        </p:nvSpPr>
        <p:spPr/>
        <p:txBody>
          <a:bodyPr/>
          <a:lstStyle/>
          <a:p>
            <a:r>
              <a:rPr lang="en-US" sz="2200" dirty="0"/>
              <a:t>Other severe corrosive environment is at 650C with salt containing molten alloys of Bi, Li, Th, etc. with HF-F2 gases</a:t>
            </a:r>
          </a:p>
          <a:p>
            <a:r>
              <a:rPr lang="en-US" sz="2200" dirty="0"/>
              <a:t>The environment must be an inert gas or a vacuum to prevent deterioration of structural material to ensure long-term service</a:t>
            </a:r>
          </a:p>
          <a:p>
            <a:r>
              <a:rPr lang="en-US" sz="2200" dirty="0"/>
              <a:t>Typically, Ni or Ni-based alloys have been used for containment</a:t>
            </a:r>
          </a:p>
          <a:p>
            <a:endParaRPr lang="en-US" sz="2200" dirty="0"/>
          </a:p>
        </p:txBody>
      </p:sp>
      <p:sp>
        <p:nvSpPr>
          <p:cNvPr id="5" name="Slide Number Placeholder 4">
            <a:extLst>
              <a:ext uri="{FF2B5EF4-FFF2-40B4-BE49-F238E27FC236}">
                <a16:creationId xmlns:a16="http://schemas.microsoft.com/office/drawing/2014/main" id="{1BCBD549-9890-8946-BB0C-4310F14EDC18}"/>
              </a:ext>
            </a:extLst>
          </p:cNvPr>
          <p:cNvSpPr>
            <a:spLocks noGrp="1"/>
          </p:cNvSpPr>
          <p:nvPr>
            <p:ph type="sldNum" sz="quarter" idx="12"/>
          </p:nvPr>
        </p:nvSpPr>
        <p:spPr/>
        <p:txBody>
          <a:bodyPr/>
          <a:lstStyle/>
          <a:p>
            <a:pPr>
              <a:defRPr/>
            </a:pPr>
            <a:fld id="{EC35E9FC-F6D5-0349-BBED-EA7D7A9BC49B}" type="slidenum">
              <a:rPr lang="en-US" smtClean="0"/>
              <a:pPr>
                <a:defRPr/>
              </a:pPr>
              <a:t>41</a:t>
            </a:fld>
            <a:endParaRPr lang="en-US"/>
          </a:p>
        </p:txBody>
      </p:sp>
    </p:spTree>
    <p:extLst>
      <p:ext uri="{BB962C8B-B14F-4D97-AF65-F5344CB8AC3E}">
        <p14:creationId xmlns:p14="http://schemas.microsoft.com/office/powerpoint/2010/main" val="3841788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C942-B6E1-4842-83D1-7CC421625600}"/>
              </a:ext>
            </a:extLst>
          </p:cNvPr>
          <p:cNvSpPr>
            <a:spLocks noGrp="1"/>
          </p:cNvSpPr>
          <p:nvPr>
            <p:ph type="title"/>
          </p:nvPr>
        </p:nvSpPr>
        <p:spPr/>
        <p:txBody>
          <a:bodyPr/>
          <a:lstStyle/>
          <a:p>
            <a:r>
              <a:rPr lang="en-US" dirty="0"/>
              <a:t>Materials for other Salt Reactor Concepts</a:t>
            </a:r>
          </a:p>
        </p:txBody>
      </p:sp>
      <p:sp>
        <p:nvSpPr>
          <p:cNvPr id="3" name="Content Placeholder 2">
            <a:extLst>
              <a:ext uri="{FF2B5EF4-FFF2-40B4-BE49-F238E27FC236}">
                <a16:creationId xmlns:a16="http://schemas.microsoft.com/office/drawing/2014/main" id="{79D4E3EF-74B7-BA48-B98E-5AC632CFE867}"/>
              </a:ext>
            </a:extLst>
          </p:cNvPr>
          <p:cNvSpPr>
            <a:spLocks noGrp="1"/>
          </p:cNvSpPr>
          <p:nvPr>
            <p:ph sz="half" idx="1"/>
          </p:nvPr>
        </p:nvSpPr>
        <p:spPr>
          <a:xfrm>
            <a:off x="609599" y="1968503"/>
            <a:ext cx="5731565" cy="4157663"/>
          </a:xfrm>
        </p:spPr>
        <p:txBody>
          <a:bodyPr/>
          <a:lstStyle/>
          <a:p>
            <a:r>
              <a:rPr lang="en-US" sz="2200" dirty="0"/>
              <a:t>AHTR: TRISO particles in graphite compact prismatic core with molten salt coolant</a:t>
            </a:r>
          </a:p>
          <a:p>
            <a:r>
              <a:rPr lang="en-US" sz="2200" dirty="0"/>
              <a:t>LSFR: solid fueled fast reactor with molten salt coolant</a:t>
            </a:r>
          </a:p>
          <a:p>
            <a:r>
              <a:rPr lang="en-US" sz="2200" dirty="0"/>
              <a:t>SSR: liquid fueled, non-flowing</a:t>
            </a:r>
          </a:p>
          <a:p>
            <a:r>
              <a:rPr lang="en-US" sz="2200" dirty="0"/>
              <a:t>Secondary Coolant Loop: may use nitrate, chloride, or fluoroborate salts, with different corrosion</a:t>
            </a:r>
          </a:p>
        </p:txBody>
      </p:sp>
      <p:sp>
        <p:nvSpPr>
          <p:cNvPr id="4" name="Content Placeholder 3">
            <a:extLst>
              <a:ext uri="{FF2B5EF4-FFF2-40B4-BE49-F238E27FC236}">
                <a16:creationId xmlns:a16="http://schemas.microsoft.com/office/drawing/2014/main" id="{A85BAAFA-DB02-404B-B166-C8D45947560E}"/>
              </a:ext>
            </a:extLst>
          </p:cNvPr>
          <p:cNvSpPr>
            <a:spLocks noGrp="1"/>
          </p:cNvSpPr>
          <p:nvPr>
            <p:ph sz="half" idx="2"/>
          </p:nvPr>
        </p:nvSpPr>
        <p:spPr/>
        <p:txBody>
          <a:bodyPr/>
          <a:lstStyle/>
          <a:p>
            <a:r>
              <a:rPr lang="en-US" sz="2200" dirty="0"/>
              <a:t>Materials for these systems either experience higher temperatures or higher flux/fluence requirements, and thus Hastelloy-N type materials may not be applicable</a:t>
            </a:r>
          </a:p>
          <a:p>
            <a:r>
              <a:rPr lang="en-US" sz="2200" dirty="0"/>
              <a:t>Potential options are 9Cr-1MoV coated in Ni, ODS Ni alloys, Ni-based superalloys, ODS Fe alloys, and Mo alloys</a:t>
            </a:r>
          </a:p>
          <a:p>
            <a:r>
              <a:rPr lang="en-US" sz="2200" dirty="0"/>
              <a:t>Stainless steels can be options for secondary loop</a:t>
            </a:r>
          </a:p>
          <a:p>
            <a:endParaRPr lang="en-US" sz="2200" dirty="0"/>
          </a:p>
        </p:txBody>
      </p:sp>
      <p:sp>
        <p:nvSpPr>
          <p:cNvPr id="5" name="Slide Number Placeholder 4">
            <a:extLst>
              <a:ext uri="{FF2B5EF4-FFF2-40B4-BE49-F238E27FC236}">
                <a16:creationId xmlns:a16="http://schemas.microsoft.com/office/drawing/2014/main" id="{24D2C5A8-99CB-0D41-8E08-213D2D698A2C}"/>
              </a:ext>
            </a:extLst>
          </p:cNvPr>
          <p:cNvSpPr>
            <a:spLocks noGrp="1"/>
          </p:cNvSpPr>
          <p:nvPr>
            <p:ph type="sldNum" sz="quarter" idx="12"/>
          </p:nvPr>
        </p:nvSpPr>
        <p:spPr/>
        <p:txBody>
          <a:bodyPr/>
          <a:lstStyle/>
          <a:p>
            <a:pPr>
              <a:defRPr/>
            </a:pPr>
            <a:fld id="{EC35E9FC-F6D5-0349-BBED-EA7D7A9BC49B}" type="slidenum">
              <a:rPr lang="en-US" smtClean="0"/>
              <a:pPr>
                <a:defRPr/>
              </a:pPr>
              <a:t>42</a:t>
            </a:fld>
            <a:endParaRPr lang="en-US"/>
          </a:p>
        </p:txBody>
      </p:sp>
    </p:spTree>
    <p:extLst>
      <p:ext uri="{BB962C8B-B14F-4D97-AF65-F5344CB8AC3E}">
        <p14:creationId xmlns:p14="http://schemas.microsoft.com/office/powerpoint/2010/main" val="2921657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F7AC-77E3-F247-9F4E-945D10ACA868}"/>
              </a:ext>
            </a:extLst>
          </p:cNvPr>
          <p:cNvSpPr>
            <a:spLocks noGrp="1"/>
          </p:cNvSpPr>
          <p:nvPr>
            <p:ph type="title"/>
          </p:nvPr>
        </p:nvSpPr>
        <p:spPr/>
        <p:txBody>
          <a:bodyPr/>
          <a:lstStyle/>
          <a:p>
            <a:r>
              <a:rPr lang="en-US" dirty="0"/>
              <a:t>Chloride Salt Corrosion</a:t>
            </a:r>
          </a:p>
        </p:txBody>
      </p:sp>
      <p:sp>
        <p:nvSpPr>
          <p:cNvPr id="3" name="Content Placeholder 2">
            <a:extLst>
              <a:ext uri="{FF2B5EF4-FFF2-40B4-BE49-F238E27FC236}">
                <a16:creationId xmlns:a16="http://schemas.microsoft.com/office/drawing/2014/main" id="{1A8EB60B-5F7E-E544-85FD-662B38FBF1B3}"/>
              </a:ext>
            </a:extLst>
          </p:cNvPr>
          <p:cNvSpPr>
            <a:spLocks noGrp="1"/>
          </p:cNvSpPr>
          <p:nvPr>
            <p:ph sz="half" idx="1"/>
          </p:nvPr>
        </p:nvSpPr>
        <p:spPr>
          <a:xfrm>
            <a:off x="609599" y="1968503"/>
            <a:ext cx="10561983" cy="1281593"/>
          </a:xfrm>
        </p:spPr>
        <p:txBody>
          <a:bodyPr/>
          <a:lstStyle/>
          <a:p>
            <a:r>
              <a:rPr lang="en-US" dirty="0"/>
              <a:t>Very little corrosion data is present for chloride salt systems</a:t>
            </a:r>
          </a:p>
          <a:p>
            <a:r>
              <a:rPr lang="en-US" dirty="0"/>
              <a:t>Some of the existing data does not conform to expected trends</a:t>
            </a:r>
          </a:p>
          <a:p>
            <a:r>
              <a:rPr lang="en-US" dirty="0"/>
              <a:t>The effect of chromium content in the alloy may not be as important of a factor, and the effect of temperature is not clear</a:t>
            </a:r>
          </a:p>
          <a:p>
            <a:r>
              <a:rPr lang="en-US" dirty="0"/>
              <a:t>These corrosion rates are comparable to fluoride salts with stainless steel, and are considerably higher than corrosion rates with Hastelloy-N</a:t>
            </a:r>
          </a:p>
          <a:p>
            <a:r>
              <a:rPr lang="en-US" dirty="0"/>
              <a:t>Active research is on-going and these statements may be out of date…</a:t>
            </a:r>
          </a:p>
          <a:p>
            <a:endParaRPr lang="en-US" dirty="0"/>
          </a:p>
          <a:p>
            <a:endParaRPr lang="en-US" dirty="0"/>
          </a:p>
        </p:txBody>
      </p:sp>
      <p:pic>
        <p:nvPicPr>
          <p:cNvPr id="6" name="Content Placeholder 5">
            <a:extLst>
              <a:ext uri="{FF2B5EF4-FFF2-40B4-BE49-F238E27FC236}">
                <a16:creationId xmlns:a16="http://schemas.microsoft.com/office/drawing/2014/main" id="{499DE2EB-8EA7-D745-BEE2-FEFFC06E658C}"/>
              </a:ext>
            </a:extLst>
          </p:cNvPr>
          <p:cNvPicPr>
            <a:picLocks noGrp="1" noChangeAspect="1"/>
          </p:cNvPicPr>
          <p:nvPr>
            <p:ph sz="half" idx="2"/>
          </p:nvPr>
        </p:nvPicPr>
        <p:blipFill>
          <a:blip r:embed="rId2"/>
          <a:stretch>
            <a:fillRect/>
          </a:stretch>
        </p:blipFill>
        <p:spPr>
          <a:xfrm>
            <a:off x="2082801" y="4525252"/>
            <a:ext cx="7305822" cy="2024633"/>
          </a:xfrm>
          <a:prstGeom prst="rect">
            <a:avLst/>
          </a:prstGeom>
        </p:spPr>
      </p:pic>
      <p:sp>
        <p:nvSpPr>
          <p:cNvPr id="5" name="Slide Number Placeholder 4">
            <a:extLst>
              <a:ext uri="{FF2B5EF4-FFF2-40B4-BE49-F238E27FC236}">
                <a16:creationId xmlns:a16="http://schemas.microsoft.com/office/drawing/2014/main" id="{4068CC5B-8A65-ED4E-804C-074FF242BEDC}"/>
              </a:ext>
            </a:extLst>
          </p:cNvPr>
          <p:cNvSpPr>
            <a:spLocks noGrp="1"/>
          </p:cNvSpPr>
          <p:nvPr>
            <p:ph type="sldNum" sz="quarter" idx="12"/>
          </p:nvPr>
        </p:nvSpPr>
        <p:spPr/>
        <p:txBody>
          <a:bodyPr/>
          <a:lstStyle/>
          <a:p>
            <a:pPr>
              <a:defRPr/>
            </a:pPr>
            <a:fld id="{EC35E9FC-F6D5-0349-BBED-EA7D7A9BC49B}" type="slidenum">
              <a:rPr lang="en-US" smtClean="0"/>
              <a:pPr>
                <a:defRPr/>
              </a:pPr>
              <a:t>43</a:t>
            </a:fld>
            <a:endParaRPr lang="en-US"/>
          </a:p>
        </p:txBody>
      </p:sp>
    </p:spTree>
    <p:extLst>
      <p:ext uri="{BB962C8B-B14F-4D97-AF65-F5344CB8AC3E}">
        <p14:creationId xmlns:p14="http://schemas.microsoft.com/office/powerpoint/2010/main" val="19501796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3168AC-51AD-EB3D-33D8-C7E718AF701A}"/>
              </a:ext>
            </a:extLst>
          </p:cNvPr>
          <p:cNvPicPr>
            <a:picLocks noChangeAspect="1"/>
          </p:cNvPicPr>
          <p:nvPr/>
        </p:nvPicPr>
        <p:blipFill>
          <a:blip r:embed="rId2"/>
          <a:stretch>
            <a:fillRect/>
          </a:stretch>
        </p:blipFill>
        <p:spPr>
          <a:xfrm>
            <a:off x="5817286" y="1482587"/>
            <a:ext cx="5840627" cy="4873765"/>
          </a:xfrm>
          <a:prstGeom prst="rect">
            <a:avLst/>
          </a:prstGeom>
        </p:spPr>
      </p:pic>
      <p:sp>
        <p:nvSpPr>
          <p:cNvPr id="2" name="Title 1">
            <a:extLst>
              <a:ext uri="{FF2B5EF4-FFF2-40B4-BE49-F238E27FC236}">
                <a16:creationId xmlns:a16="http://schemas.microsoft.com/office/drawing/2014/main" id="{97A1DDF7-6E20-5DDE-3525-260495A4DC83}"/>
              </a:ext>
            </a:extLst>
          </p:cNvPr>
          <p:cNvSpPr>
            <a:spLocks noGrp="1"/>
          </p:cNvSpPr>
          <p:nvPr>
            <p:ph type="title"/>
          </p:nvPr>
        </p:nvSpPr>
        <p:spPr/>
        <p:txBody>
          <a:bodyPr/>
          <a:lstStyle/>
          <a:p>
            <a:r>
              <a:rPr lang="en-US" dirty="0"/>
              <a:t>Recent Corrosion Summary</a:t>
            </a:r>
          </a:p>
        </p:txBody>
      </p:sp>
      <p:sp>
        <p:nvSpPr>
          <p:cNvPr id="3" name="Content Placeholder 2">
            <a:extLst>
              <a:ext uri="{FF2B5EF4-FFF2-40B4-BE49-F238E27FC236}">
                <a16:creationId xmlns:a16="http://schemas.microsoft.com/office/drawing/2014/main" id="{ED6AF78F-677D-164A-C506-16FBE0DF4289}"/>
              </a:ext>
            </a:extLst>
          </p:cNvPr>
          <p:cNvSpPr>
            <a:spLocks noGrp="1"/>
          </p:cNvSpPr>
          <p:nvPr>
            <p:ph sz="half" idx="1"/>
          </p:nvPr>
        </p:nvSpPr>
        <p:spPr>
          <a:xfrm>
            <a:off x="609600" y="1968503"/>
            <a:ext cx="4963297" cy="4157663"/>
          </a:xfrm>
        </p:spPr>
        <p:txBody>
          <a:bodyPr/>
          <a:lstStyle/>
          <a:p>
            <a:r>
              <a:rPr lang="en-US" dirty="0"/>
              <a:t>Molten salt corrosion data from studies published in 1960-2016 were aggregated and graphed</a:t>
            </a:r>
          </a:p>
          <a:p>
            <a:r>
              <a:rPr lang="en-US" dirty="0"/>
              <a:t>Studies were graphed by salt purity, temperature, sample material, container material, and experimental method (loop, capsule, crucible)</a:t>
            </a:r>
          </a:p>
          <a:p>
            <a:r>
              <a:rPr lang="en-US" dirty="0"/>
              <a:t>Data can be very scattered, and generally limited data, with more corrosion data on fluorides than chlorides</a:t>
            </a:r>
          </a:p>
          <a:p>
            <a:endParaRPr lang="en-US" dirty="0"/>
          </a:p>
        </p:txBody>
      </p:sp>
      <p:sp>
        <p:nvSpPr>
          <p:cNvPr id="5" name="Slide Number Placeholder 4">
            <a:extLst>
              <a:ext uri="{FF2B5EF4-FFF2-40B4-BE49-F238E27FC236}">
                <a16:creationId xmlns:a16="http://schemas.microsoft.com/office/drawing/2014/main" id="{4B58AB2D-7F9F-D46D-DDF5-59C0EDB788BA}"/>
              </a:ext>
            </a:extLst>
          </p:cNvPr>
          <p:cNvSpPr>
            <a:spLocks noGrp="1"/>
          </p:cNvSpPr>
          <p:nvPr>
            <p:ph type="sldNum" sz="quarter" idx="12"/>
          </p:nvPr>
        </p:nvSpPr>
        <p:spPr/>
        <p:txBody>
          <a:bodyPr/>
          <a:lstStyle/>
          <a:p>
            <a:pPr>
              <a:defRPr/>
            </a:pPr>
            <a:fld id="{EC35E9FC-F6D5-0349-BBED-EA7D7A9BC49B}" type="slidenum">
              <a:rPr lang="en-US" smtClean="0"/>
              <a:pPr>
                <a:defRPr/>
              </a:pPr>
              <a:t>44</a:t>
            </a:fld>
            <a:endParaRPr lang="en-US"/>
          </a:p>
        </p:txBody>
      </p:sp>
      <p:sp>
        <p:nvSpPr>
          <p:cNvPr id="8" name="TextBox 7">
            <a:extLst>
              <a:ext uri="{FF2B5EF4-FFF2-40B4-BE49-F238E27FC236}">
                <a16:creationId xmlns:a16="http://schemas.microsoft.com/office/drawing/2014/main" id="{C1DF177D-6CEB-270E-0833-A8254613ADDE}"/>
              </a:ext>
            </a:extLst>
          </p:cNvPr>
          <p:cNvSpPr txBox="1"/>
          <p:nvPr/>
        </p:nvSpPr>
        <p:spPr>
          <a:xfrm>
            <a:off x="855943" y="5957887"/>
            <a:ext cx="4470609" cy="369332"/>
          </a:xfrm>
          <a:prstGeom prst="rect">
            <a:avLst/>
          </a:prstGeom>
          <a:noFill/>
        </p:spPr>
        <p:txBody>
          <a:bodyPr wrap="square">
            <a:spAutoFit/>
          </a:bodyPr>
          <a:lstStyle/>
          <a:p>
            <a:pPr>
              <a:buNone/>
            </a:pPr>
            <a:r>
              <a:rPr lang="en-US" dirty="0">
                <a:solidFill>
                  <a:srgbClr val="2197D2"/>
                </a:solidFill>
                <a:effectLst/>
                <a:latin typeface="Times"/>
              </a:rPr>
              <a:t>https://</a:t>
            </a:r>
            <a:r>
              <a:rPr lang="en-US" dirty="0" err="1">
                <a:solidFill>
                  <a:srgbClr val="2197D2"/>
                </a:solidFill>
                <a:effectLst/>
                <a:latin typeface="Times"/>
              </a:rPr>
              <a:t>doi.org</a:t>
            </a:r>
            <a:r>
              <a:rPr lang="en-US" dirty="0">
                <a:solidFill>
                  <a:srgbClr val="2197D2"/>
                </a:solidFill>
                <a:effectLst/>
                <a:latin typeface="Times"/>
              </a:rPr>
              <a:t>/10.1016/j.jnucmat.2018.07.036</a:t>
            </a:r>
          </a:p>
        </p:txBody>
      </p:sp>
    </p:spTree>
    <p:extLst>
      <p:ext uri="{BB962C8B-B14F-4D97-AF65-F5344CB8AC3E}">
        <p14:creationId xmlns:p14="http://schemas.microsoft.com/office/powerpoint/2010/main" val="4168595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B325-741A-A58C-9C3C-82738B2834BB}"/>
              </a:ext>
            </a:extLst>
          </p:cNvPr>
          <p:cNvSpPr>
            <a:spLocks noGrp="1"/>
          </p:cNvSpPr>
          <p:nvPr>
            <p:ph type="title"/>
          </p:nvPr>
        </p:nvSpPr>
        <p:spPr/>
        <p:txBody>
          <a:bodyPr/>
          <a:lstStyle/>
          <a:p>
            <a:r>
              <a:rPr lang="en-US" dirty="0"/>
              <a:t>Recent Corrosion Summary</a:t>
            </a:r>
          </a:p>
        </p:txBody>
      </p:sp>
      <p:sp>
        <p:nvSpPr>
          <p:cNvPr id="3" name="Content Placeholder 2">
            <a:extLst>
              <a:ext uri="{FF2B5EF4-FFF2-40B4-BE49-F238E27FC236}">
                <a16:creationId xmlns:a16="http://schemas.microsoft.com/office/drawing/2014/main" id="{D7F3F125-68E1-9AAB-62EB-7599C70FFCD3}"/>
              </a:ext>
            </a:extLst>
          </p:cNvPr>
          <p:cNvSpPr>
            <a:spLocks noGrp="1"/>
          </p:cNvSpPr>
          <p:nvPr>
            <p:ph sz="half" idx="1"/>
          </p:nvPr>
        </p:nvSpPr>
        <p:spPr>
          <a:xfrm>
            <a:off x="609599" y="1968504"/>
            <a:ext cx="10972800" cy="1639670"/>
          </a:xfrm>
        </p:spPr>
        <p:txBody>
          <a:bodyPr/>
          <a:lstStyle/>
          <a:p>
            <a:r>
              <a:rPr lang="en-US" dirty="0"/>
              <a:t>Salt purity was the factor which most affected corrosion rates</a:t>
            </a:r>
          </a:p>
          <a:p>
            <a:r>
              <a:rPr lang="en-US" dirty="0"/>
              <a:t>Experiment type and salt type (fluoride vs. chloride) following as the next most important factors</a:t>
            </a:r>
          </a:p>
          <a:p>
            <a:r>
              <a:rPr lang="en-US" dirty="0"/>
              <a:t>Higher CR score = less corrosion; Positive correlation = less corrosion</a:t>
            </a:r>
          </a:p>
          <a:p>
            <a:endParaRPr lang="en-US" dirty="0"/>
          </a:p>
        </p:txBody>
      </p:sp>
      <p:sp>
        <p:nvSpPr>
          <p:cNvPr id="5" name="Slide Number Placeholder 4">
            <a:extLst>
              <a:ext uri="{FF2B5EF4-FFF2-40B4-BE49-F238E27FC236}">
                <a16:creationId xmlns:a16="http://schemas.microsoft.com/office/drawing/2014/main" id="{C35851DA-3E8C-63EE-6558-F6D587A8CE29}"/>
              </a:ext>
            </a:extLst>
          </p:cNvPr>
          <p:cNvSpPr>
            <a:spLocks noGrp="1"/>
          </p:cNvSpPr>
          <p:nvPr>
            <p:ph type="sldNum" sz="quarter" idx="12"/>
          </p:nvPr>
        </p:nvSpPr>
        <p:spPr/>
        <p:txBody>
          <a:bodyPr/>
          <a:lstStyle/>
          <a:p>
            <a:pPr>
              <a:defRPr/>
            </a:pPr>
            <a:fld id="{EC35E9FC-F6D5-0349-BBED-EA7D7A9BC49B}" type="slidenum">
              <a:rPr lang="en-US" smtClean="0"/>
              <a:pPr>
                <a:defRPr/>
              </a:pPr>
              <a:t>45</a:t>
            </a:fld>
            <a:endParaRPr lang="en-US"/>
          </a:p>
        </p:txBody>
      </p:sp>
      <p:pic>
        <p:nvPicPr>
          <p:cNvPr id="6" name="Picture 5">
            <a:extLst>
              <a:ext uri="{FF2B5EF4-FFF2-40B4-BE49-F238E27FC236}">
                <a16:creationId xmlns:a16="http://schemas.microsoft.com/office/drawing/2014/main" id="{7D8585A6-060F-F752-89C9-470C57546983}"/>
              </a:ext>
            </a:extLst>
          </p:cNvPr>
          <p:cNvPicPr>
            <a:picLocks noChangeAspect="1"/>
          </p:cNvPicPr>
          <p:nvPr/>
        </p:nvPicPr>
        <p:blipFill>
          <a:blip r:embed="rId2"/>
          <a:stretch>
            <a:fillRect/>
          </a:stretch>
        </p:blipFill>
        <p:spPr>
          <a:xfrm>
            <a:off x="1936414" y="3578490"/>
            <a:ext cx="4159585" cy="3024620"/>
          </a:xfrm>
          <a:prstGeom prst="rect">
            <a:avLst/>
          </a:prstGeom>
        </p:spPr>
      </p:pic>
      <p:pic>
        <p:nvPicPr>
          <p:cNvPr id="7" name="Picture 6">
            <a:extLst>
              <a:ext uri="{FF2B5EF4-FFF2-40B4-BE49-F238E27FC236}">
                <a16:creationId xmlns:a16="http://schemas.microsoft.com/office/drawing/2014/main" id="{8CB57270-0D32-D5C3-B640-33802E518109}"/>
              </a:ext>
            </a:extLst>
          </p:cNvPr>
          <p:cNvPicPr>
            <a:picLocks noChangeAspect="1"/>
          </p:cNvPicPr>
          <p:nvPr/>
        </p:nvPicPr>
        <p:blipFill>
          <a:blip r:embed="rId3"/>
          <a:stretch>
            <a:fillRect/>
          </a:stretch>
        </p:blipFill>
        <p:spPr>
          <a:xfrm>
            <a:off x="6851640" y="3543978"/>
            <a:ext cx="3308360" cy="2994936"/>
          </a:xfrm>
          <a:prstGeom prst="rect">
            <a:avLst/>
          </a:prstGeom>
        </p:spPr>
      </p:pic>
    </p:spTree>
    <p:extLst>
      <p:ext uri="{BB962C8B-B14F-4D97-AF65-F5344CB8AC3E}">
        <p14:creationId xmlns:p14="http://schemas.microsoft.com/office/powerpoint/2010/main" val="708560546"/>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12107</TotalTime>
  <Words>3913</Words>
  <Application>Microsoft Macintosh PowerPoint</Application>
  <PresentationFormat>Widescreen</PresentationFormat>
  <Paragraphs>325</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Symbol</vt:lpstr>
      <vt:lpstr>Times</vt:lpstr>
      <vt:lpstr>1_NCStateU-horizontal-left-logo</vt:lpstr>
      <vt:lpstr>NE 763: Advanced Reactor Materials</vt:lpstr>
      <vt:lpstr>Last Time</vt:lpstr>
      <vt:lpstr>Solution Species</vt:lpstr>
      <vt:lpstr>Fuel Salt Classes</vt:lpstr>
      <vt:lpstr>Coolant Salts</vt:lpstr>
      <vt:lpstr>Fluorides or Chlorides</vt:lpstr>
      <vt:lpstr>MSR Fuel Candidates</vt:lpstr>
      <vt:lpstr>Neutron Economy</vt:lpstr>
      <vt:lpstr>Fast Spectrum MSRs</vt:lpstr>
      <vt:lpstr>Solubility</vt:lpstr>
      <vt:lpstr>Low Viscosity</vt:lpstr>
      <vt:lpstr>Heat Capacity and Thermal Conductivity</vt:lpstr>
      <vt:lpstr>Heat Transfer</vt:lpstr>
      <vt:lpstr>Vapor Pressure (Volatility)</vt:lpstr>
      <vt:lpstr>Chemical Compatibility</vt:lpstr>
      <vt:lpstr>Role of Oxygen Impurities</vt:lpstr>
      <vt:lpstr>Control of Chemistry</vt:lpstr>
      <vt:lpstr>Changes During Fission</vt:lpstr>
      <vt:lpstr>Maintaining Reducing Redox Conditions</vt:lpstr>
      <vt:lpstr>Fission Products</vt:lpstr>
      <vt:lpstr>Fission Product Plating</vt:lpstr>
      <vt:lpstr>Cover Gas</vt:lpstr>
      <vt:lpstr>Tritium</vt:lpstr>
      <vt:lpstr>Radiolytic Stability</vt:lpstr>
      <vt:lpstr>Three principal corrosion processes</vt:lpstr>
      <vt:lpstr>Protective coatings?</vt:lpstr>
      <vt:lpstr>Oxides and Impurities</vt:lpstr>
      <vt:lpstr>Dissolved Impurities</vt:lpstr>
      <vt:lpstr>Cr ‘Oxidation’</vt:lpstr>
      <vt:lpstr>Constituents of the Melt</vt:lpstr>
      <vt:lpstr>Pause and Recap</vt:lpstr>
      <vt:lpstr>Materials for MSR systems</vt:lpstr>
      <vt:lpstr>Metallic Materials for MSR systems</vt:lpstr>
      <vt:lpstr>Metallic Materials for MSR systems</vt:lpstr>
      <vt:lpstr>Metallic Materials for MSR systems</vt:lpstr>
      <vt:lpstr>Tellerium</vt:lpstr>
      <vt:lpstr>Materials for MSR systems</vt:lpstr>
      <vt:lpstr>Graphite for MSR systems</vt:lpstr>
      <vt:lpstr>Graphite Compatibility</vt:lpstr>
      <vt:lpstr>These materials have been shown to survive!</vt:lpstr>
      <vt:lpstr>Materials for MSR systems</vt:lpstr>
      <vt:lpstr>Materials for other Salt Reactor Concepts</vt:lpstr>
      <vt:lpstr>Chloride Salt Corrosion</vt:lpstr>
      <vt:lpstr>Recent Corrosion Summary</vt:lpstr>
      <vt:lpstr>Recent Corrosion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81</cp:revision>
  <dcterms:created xsi:type="dcterms:W3CDTF">2021-06-30T18:29:00Z</dcterms:created>
  <dcterms:modified xsi:type="dcterms:W3CDTF">2026-09-24T18:57:45Z</dcterms:modified>
</cp:coreProperties>
</file>
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2"/>
  </p:notesMasterIdLst>
  <p:sldIdLst>
    <p:sldId id="257" r:id="rId2"/>
    <p:sldId id="559" r:id="rId3"/>
    <p:sldId id="556" r:id="rId4"/>
    <p:sldId id="555" r:id="rId5"/>
    <p:sldId id="558" r:id="rId6"/>
    <p:sldId id="535" r:id="rId7"/>
    <p:sldId id="541" r:id="rId8"/>
    <p:sldId id="543" r:id="rId9"/>
    <p:sldId id="544" r:id="rId10"/>
    <p:sldId id="545" r:id="rId11"/>
    <p:sldId id="546" r:id="rId12"/>
    <p:sldId id="547" r:id="rId13"/>
    <p:sldId id="548" r:id="rId14"/>
    <p:sldId id="549" r:id="rId15"/>
    <p:sldId id="550" r:id="rId16"/>
    <p:sldId id="551" r:id="rId17"/>
    <p:sldId id="552" r:id="rId18"/>
    <p:sldId id="407" r:id="rId19"/>
    <p:sldId id="409" r:id="rId20"/>
    <p:sldId id="413" r:id="rId21"/>
    <p:sldId id="410" r:id="rId22"/>
    <p:sldId id="418" r:id="rId23"/>
    <p:sldId id="411" r:id="rId24"/>
    <p:sldId id="560" r:id="rId25"/>
    <p:sldId id="422" r:id="rId26"/>
    <p:sldId id="423" r:id="rId27"/>
    <p:sldId id="424" r:id="rId28"/>
    <p:sldId id="416" r:id="rId29"/>
    <p:sldId id="425" r:id="rId30"/>
    <p:sldId id="43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83"/>
    <p:restoredTop sz="96654"/>
  </p:normalViewPr>
  <p:slideViewPr>
    <p:cSldViewPr snapToGrid="0" snapToObjects="1">
      <p:cViewPr varScale="1">
        <p:scale>
          <a:sx n="108" d="100"/>
          <a:sy n="108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A7AB5-A096-4041-939A-1D17EC86292D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F51EB-4615-374C-8EA3-C922CD2CA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6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4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2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3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92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1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0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4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2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29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91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47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90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00824-EE1D-0B40-85E7-A819C1407096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0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65" r:id="rId14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1E7D1-FF3E-DF49-9F50-FE374A54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089E-312F-136B-6EB1-D8E64305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D5D0-7C40-DFE8-9220-9305CD6C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05049"/>
            <a:ext cx="10972800" cy="4321115"/>
          </a:xfrm>
        </p:spPr>
        <p:txBody>
          <a:bodyPr/>
          <a:lstStyle/>
          <a:p>
            <a:r>
              <a:rPr lang="en-US" dirty="0"/>
              <a:t>Origins of void swelling resistance of F/M steels</a:t>
            </a:r>
          </a:p>
          <a:p>
            <a:pPr lvl="1"/>
            <a:r>
              <a:rPr lang="en-US" dirty="0"/>
              <a:t>relaxation volume of int; lower migration barrier for vac; C-vacancy BE; dislocations and solutes strong vac sinks; high density of sinks from microstructure</a:t>
            </a:r>
          </a:p>
          <a:p>
            <a:r>
              <a:rPr lang="en-US" dirty="0" err="1"/>
              <a:t>FeCrAl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good high T steam oxidation resistance due to formation of Al2O3 layer</a:t>
            </a:r>
          </a:p>
          <a:p>
            <a:pPr lvl="1"/>
            <a:r>
              <a:rPr lang="en-US" dirty="0"/>
              <a:t>balance Cr/Al content: higher is better corrosion resistance but more brittle</a:t>
            </a:r>
          </a:p>
          <a:p>
            <a:pPr lvl="1"/>
            <a:r>
              <a:rPr lang="en-US" dirty="0"/>
              <a:t>ferrite, thus has good swelling resistance</a:t>
            </a:r>
          </a:p>
          <a:p>
            <a:r>
              <a:rPr lang="en-US" dirty="0"/>
              <a:t>ODS steels</a:t>
            </a:r>
          </a:p>
          <a:p>
            <a:pPr lvl="1"/>
            <a:r>
              <a:rPr lang="en-US" dirty="0"/>
              <a:t>Y2O3 or Y2Ti2O7 particles dispersed to stabilize microstructure and increase sink density; increases radiation resistance and allows retention of ferrite</a:t>
            </a:r>
          </a:p>
          <a:p>
            <a:pPr lvl="1"/>
            <a:r>
              <a:rPr lang="en-US" dirty="0"/>
              <a:t>oxide size increases, surface energy increases, misfit strain increases</a:t>
            </a:r>
          </a:p>
          <a:p>
            <a:pPr lvl="1"/>
            <a:r>
              <a:rPr lang="en-US" dirty="0"/>
              <a:t>greatly improved high T creep resistance for F/M steels</a:t>
            </a:r>
          </a:p>
          <a:p>
            <a:pPr lvl="1"/>
            <a:r>
              <a:rPr lang="en-US" dirty="0"/>
              <a:t>oxide size and number density stable under irradiation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CFA0F-16B0-99BB-4F0E-A2A19D59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1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F6F2-FE8B-9F1D-BFDF-AA0B8296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HEAs and Radiation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A904-D36E-142E-213B-BEF09EC6F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206836" cy="4157663"/>
          </a:xfrm>
        </p:spPr>
        <p:txBody>
          <a:bodyPr/>
          <a:lstStyle/>
          <a:p>
            <a:r>
              <a:rPr lang="en-US" dirty="0"/>
              <a:t>HEAs may also be particularly suitable for high-fluence irradiation applications because of their radiation tolerance</a:t>
            </a:r>
          </a:p>
          <a:p>
            <a:r>
              <a:rPr lang="en-US" dirty="0"/>
              <a:t>This is related to severe lattice distortions or atomic-level stress caused by mismatches in atom size between the principal elements</a:t>
            </a:r>
          </a:p>
          <a:p>
            <a:r>
              <a:rPr lang="en-US" dirty="0"/>
              <a:t>This slows diffusion, prevents defect clustering, and promotes recombination</a:t>
            </a:r>
          </a:p>
          <a:p>
            <a:r>
              <a:rPr lang="en-US" dirty="0"/>
              <a:t>Grain boundaries are natural defect sinks and exist in all materials, but in HEAs the additional compositional complexity increases their efficiency in defect absorption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99D33-8131-86D9-02C7-4FAAF1AC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F159F-D000-6814-A136-0DE2011BC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474" y="714089"/>
            <a:ext cx="4023478" cy="2986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6B08B-C51A-7CFC-721C-23B0CA6F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474" y="3850217"/>
            <a:ext cx="3547094" cy="268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0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F243-41C5-7CD4-B025-C4E5EFE40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HEAs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D045D-D354-6D88-E55B-87688CA591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Most studied HEAs are either FCC or BCC based alloys</a:t>
            </a:r>
          </a:p>
          <a:p>
            <a:r>
              <a:rPr lang="en-US" dirty="0"/>
              <a:t>Cantor alloy: FCC </a:t>
            </a:r>
            <a:r>
              <a:rPr lang="en-US" dirty="0" err="1"/>
              <a:t>CrMnFeCoNi</a:t>
            </a:r>
            <a:r>
              <a:rPr lang="en-US" dirty="0"/>
              <a:t>, this is largely recognized as the first HEA, and can be stabilized as a single-phase FCC</a:t>
            </a:r>
          </a:p>
          <a:p>
            <a:r>
              <a:rPr lang="en-US" dirty="0"/>
              <a:t>High strength and high ductility that both increase with decreasing temperature</a:t>
            </a:r>
          </a:p>
          <a:p>
            <a:r>
              <a:rPr lang="en-US" dirty="0"/>
              <a:t>Fractures </a:t>
            </a:r>
            <a:r>
              <a:rPr lang="en-US" dirty="0" err="1"/>
              <a:t>transgranularly</a:t>
            </a:r>
            <a:r>
              <a:rPr lang="en-US" dirty="0"/>
              <a:t> through </a:t>
            </a:r>
            <a:r>
              <a:rPr lang="en-US" dirty="0" err="1"/>
              <a:t>microvoids</a:t>
            </a:r>
            <a:endParaRPr lang="en-US" dirty="0"/>
          </a:p>
          <a:p>
            <a:r>
              <a:rPr lang="en-US" dirty="0"/>
              <a:t>Has been the basis for development of many HEAs, including non-equimolar HEAs with increased twinning-induced plasticity (TWIP)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23D7D-289D-3467-92BC-E9E4C2FB02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BCC </a:t>
            </a:r>
            <a:r>
              <a:rPr lang="en-US" dirty="0" err="1"/>
              <a:t>TiZrHfNbTa</a:t>
            </a:r>
            <a:r>
              <a:rPr lang="en-US" dirty="0"/>
              <a:t> alloy</a:t>
            </a:r>
          </a:p>
          <a:p>
            <a:r>
              <a:rPr lang="en-US" dirty="0"/>
              <a:t>Significantly less is known on BCC HEAs</a:t>
            </a:r>
          </a:p>
          <a:p>
            <a:r>
              <a:rPr lang="en-US" dirty="0"/>
              <a:t>Comparable high strength to Cantor alloy (yield strength ~1 GPa), but ductility limited to 10-20%</a:t>
            </a:r>
          </a:p>
          <a:p>
            <a:r>
              <a:rPr lang="en-US" dirty="0"/>
              <a:t>Similar to FCC HEAs, TWIP and TRIP (transformation induced plasticity) are both active and provide ductility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B7339-483D-FAE8-4C01-9A1726AA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83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B86C-BF4A-3437-3211-3068230C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HEAs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F6D77-8C97-D6EE-FF8F-4B27F09A7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61383" cy="4157663"/>
          </a:xfrm>
        </p:spPr>
        <p:txBody>
          <a:bodyPr/>
          <a:lstStyle/>
          <a:p>
            <a:r>
              <a:rPr lang="en-US" dirty="0"/>
              <a:t>This are still very new materials (only 20 years old) and much is still poorly understood, with experimental data scattered</a:t>
            </a:r>
          </a:p>
          <a:p>
            <a:r>
              <a:rPr lang="en-US" dirty="0"/>
              <a:t>Data for different grain sizes can be contradictory</a:t>
            </a:r>
          </a:p>
          <a:p>
            <a:r>
              <a:rPr lang="en-US" dirty="0"/>
              <a:t>CALPHAD and DFT are being employed to understand the phase space and the lattice distortion effects, respectively</a:t>
            </a:r>
          </a:p>
          <a:p>
            <a:r>
              <a:rPr lang="en-US" dirty="0"/>
              <a:t>Fabrication is still a severe challenge, as is cold-working or forming</a:t>
            </a:r>
          </a:p>
          <a:p>
            <a:r>
              <a:rPr lang="en-US" dirty="0"/>
              <a:t>But… they offer unique potential for high strength, high temperature, and radiation tolerant materials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4C20F-67AE-6F88-4158-CB8686DB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4A748-208A-33F4-F610-14FB23007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821" y="1971462"/>
            <a:ext cx="5509746" cy="24693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AA2FE5-42E6-5676-D823-A58BF4DDD1EF}"/>
              </a:ext>
            </a:extLst>
          </p:cNvPr>
          <p:cNvSpPr txBox="1"/>
          <p:nvPr/>
        </p:nvSpPr>
        <p:spPr>
          <a:xfrm>
            <a:off x="7150324" y="4533787"/>
            <a:ext cx="41247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Mechanical properties of the dual- phase, high- entropy , transformation- induced plasticity alloy Fe50Mn30Co10Cr10</a:t>
            </a:r>
          </a:p>
        </p:txBody>
      </p:sp>
    </p:spTree>
    <p:extLst>
      <p:ext uri="{BB962C8B-B14F-4D97-AF65-F5344CB8AC3E}">
        <p14:creationId xmlns:p14="http://schemas.microsoft.com/office/powerpoint/2010/main" val="382532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E1359-2B7E-6A45-B180-EACF3126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01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957A-D66F-ECD4-D910-BF310331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53D36-920A-2D54-07B0-8284FEC394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Generally resistant to corrosion and display limited mechanical property degradation at high T</a:t>
            </a:r>
          </a:p>
          <a:p>
            <a:r>
              <a:rPr lang="en-US" sz="2200" dirty="0"/>
              <a:t>Stress corrosion cracking (SCC/IASCC) is a key concern in LWR materials</a:t>
            </a:r>
          </a:p>
          <a:p>
            <a:r>
              <a:rPr lang="en-US" sz="2200" dirty="0"/>
              <a:t>He embrittlement is of major importance due to the Ni-58 neutron capture cross section which generates He</a:t>
            </a:r>
          </a:p>
          <a:p>
            <a:r>
              <a:rPr lang="en-US" sz="2200" dirty="0"/>
              <a:t>In fast reactor systems, Fe and Cr can also undergo </a:t>
            </a:r>
            <a:r>
              <a:rPr lang="en-US" sz="2200" dirty="0" err="1"/>
              <a:t>n,alpha</a:t>
            </a:r>
            <a:r>
              <a:rPr lang="en-US" sz="2200" dirty="0"/>
              <a:t> reactions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C4F10-1574-9B81-98E5-6C2A557370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Ni alloys have been used in LWRs, but mainly in low-dose components, have seen some testing in fast reactors, and are of high interest in advanced reactors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41E99-C510-059D-294A-778DD2CD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C29BB-F61B-D57E-DFAC-55D78F82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4178949"/>
            <a:ext cx="5790751" cy="177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7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A14C-09B4-4C4D-D665-D2D593CE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B74CE-1889-F604-C39B-5EC07FD29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013450" cy="4157663"/>
          </a:xfrm>
        </p:spPr>
        <p:txBody>
          <a:bodyPr/>
          <a:lstStyle/>
          <a:p>
            <a:r>
              <a:rPr lang="en-US" sz="2400" dirty="0"/>
              <a:t>All commercial Ni alloys are gamma-phase FCC materials</a:t>
            </a:r>
          </a:p>
          <a:p>
            <a:r>
              <a:rPr lang="en-US" sz="2400" dirty="0"/>
              <a:t>Ternary phase diagram at right at 400C</a:t>
            </a:r>
          </a:p>
          <a:p>
            <a:r>
              <a:rPr lang="en-US" sz="2400" dirty="0"/>
              <a:t>Ni-alloys by rule have &gt;28 wt% Ni</a:t>
            </a:r>
          </a:p>
          <a:p>
            <a:r>
              <a:rPr lang="en-US" sz="2400" dirty="0"/>
              <a:t>Fe and Cr are main alloy constituents, but Al, Ti, Nb, and Mo all have solubility and can be used to solid solution strengthen or precipitation harden</a:t>
            </a:r>
          </a:p>
          <a:p>
            <a:r>
              <a:rPr lang="en-US" sz="2400" dirty="0"/>
              <a:t>Most alloys are precipitation hardened to increased high temperature creep resistance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2545E-F969-73D5-DEA7-9343E2A8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E2F97-6753-2297-0564-3DA86D4B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2170747"/>
            <a:ext cx="42291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9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8903-9737-A6A6-2405-471F300C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9AE4A-F8D7-0573-BFFE-47C597E9C4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Large amounts of He and H can be produced due to high neutron dose</a:t>
            </a:r>
          </a:p>
          <a:p>
            <a:r>
              <a:rPr lang="en-US" sz="2200" dirty="0"/>
              <a:t>Ni alloys in CANDU reactors have a service lifetime of 20 years and can have &gt;20000 </a:t>
            </a:r>
            <a:r>
              <a:rPr lang="en-US" sz="2200" dirty="0" err="1"/>
              <a:t>appm</a:t>
            </a:r>
            <a:r>
              <a:rPr lang="en-US" sz="2200" dirty="0"/>
              <a:t> He</a:t>
            </a:r>
          </a:p>
          <a:p>
            <a:r>
              <a:rPr lang="en-US" sz="2200" dirty="0"/>
              <a:t>The generation of He is also producing high energy PKAs which are introducing further damage into the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DDF97-5BD6-BDFB-DF66-2287A492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37B22-86DE-23A0-F8B2-312FDF727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241" y="4990453"/>
            <a:ext cx="2165153" cy="1598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772EB-D221-345A-A101-CBC35E1AF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749" y="933832"/>
            <a:ext cx="4039702" cy="2750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A62FDF-D69C-6FA7-6969-5F0F4D6D7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67" y="3761405"/>
            <a:ext cx="4221335" cy="309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6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3710-14E6-31D3-8ADE-B5C529DC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ADB9-4B54-16BD-1EF2-E618338D8D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concept of void swelling is complicated by the generation of He, in that He bubbles and voids can form separately, or impact each others formation</a:t>
            </a:r>
          </a:p>
          <a:p>
            <a:r>
              <a:rPr lang="en-US" sz="2400" dirty="0"/>
              <a:t>In fast reactors, He generation is lower, about 1 </a:t>
            </a:r>
            <a:r>
              <a:rPr lang="en-US" sz="2400" dirty="0" err="1"/>
              <a:t>appm</a:t>
            </a:r>
            <a:r>
              <a:rPr lang="en-US" sz="2400" dirty="0"/>
              <a:t>/dpa, but He impacts on grain boundary bubbles have still been identified and are often associated with tensile stresses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852CB-E5CA-9D1B-B74F-B3FE7232ED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Many examples that show high densities of He-stabilized grain boundary cavities in high flux reactors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26101-D49F-C805-ED73-523DBF71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FE047-D5C2-B0F8-AEB7-2C2C034C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061" y="3550534"/>
            <a:ext cx="5003877" cy="28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78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C33D-4FB3-C5C9-7C48-0252830C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D9F7-F86D-5B23-DA5C-3AEED4F08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Large dislocation loops are observed at high temperatures expected in advanced reactors</a:t>
            </a:r>
          </a:p>
          <a:p>
            <a:r>
              <a:rPr lang="en-US" sz="2400" dirty="0"/>
              <a:t>Loop structures have been seen to be very sensitive to temperature controls during irradiation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F3899-C111-C1D6-8DD2-075D6584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F15ED-92DB-1DFC-0DC3-F8B9D6529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0" y="1434306"/>
            <a:ext cx="42291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225948-998E-A479-97B9-7209F0208383}"/>
              </a:ext>
            </a:extLst>
          </p:cNvPr>
          <p:cNvSpPr txBox="1"/>
          <p:nvPr/>
        </p:nvSpPr>
        <p:spPr>
          <a:xfrm>
            <a:off x="6673850" y="5687453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ramping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1F4BB-07A1-527F-B130-78884E863DC0}"/>
              </a:ext>
            </a:extLst>
          </p:cNvPr>
          <p:cNvSpPr txBox="1"/>
          <p:nvPr/>
        </p:nvSpPr>
        <p:spPr>
          <a:xfrm>
            <a:off x="8737600" y="5687453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Constant T</a:t>
            </a:r>
          </a:p>
        </p:txBody>
      </p:sp>
    </p:spTree>
    <p:extLst>
      <p:ext uri="{BB962C8B-B14F-4D97-AF65-F5344CB8AC3E}">
        <p14:creationId xmlns:p14="http://schemas.microsoft.com/office/powerpoint/2010/main" val="980357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A0E5-7D50-2CFD-F35B-F9F23AC7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53110-82A9-0083-693F-5BA446DD84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primary precipitates that form are gamma’ (Ni3Al) and gamma’’ (Ni3Nb-type), where Ni can be replaced by Fe/Cr</a:t>
            </a:r>
          </a:p>
          <a:p>
            <a:r>
              <a:rPr lang="en-US" sz="2200" dirty="0"/>
              <a:t>These precipitates can be dissolved or dispersed during irradiation</a:t>
            </a:r>
          </a:p>
          <a:p>
            <a:r>
              <a:rPr lang="en-US" sz="2200" dirty="0"/>
              <a:t>There are competing ballistic and kinetic/thermodynamic factors at play</a:t>
            </a:r>
          </a:p>
          <a:p>
            <a:r>
              <a:rPr lang="en-US" sz="2200" dirty="0"/>
              <a:t>Higher temperatures allow more rapid diffusion, and the potential re-precipitation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C57D0-F11F-99D2-73F9-C6977FB4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192B6-A7FF-0EF3-FB74-50EA00C9D6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55"/>
          <a:stretch/>
        </p:blipFill>
        <p:spPr>
          <a:xfrm>
            <a:off x="7012122" y="4047334"/>
            <a:ext cx="3755755" cy="2400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3C250C-B7A6-E439-FAC4-A4B0839833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019"/>
          <a:stretch/>
        </p:blipFill>
        <p:spPr>
          <a:xfrm>
            <a:off x="7923816" y="1174716"/>
            <a:ext cx="1932366" cy="240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1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2C8C-6EEC-532A-5E21-C179B9ED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27FC-3E44-B24C-832D-CEA3182D3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Ni alloys generally show significantly improved resistance to swelling compared to SS</a:t>
            </a:r>
          </a:p>
          <a:p>
            <a:r>
              <a:rPr lang="en-US" sz="2200" dirty="0"/>
              <a:t>The presence of gamma’ precipitates is believed to a factor in the swelling resistance</a:t>
            </a:r>
          </a:p>
          <a:p>
            <a:r>
              <a:rPr lang="en-US" sz="2200" dirty="0"/>
              <a:t>Alloying species are expected to have the primary effect on swelling behavior, modifying local strain and vacancy biases via the inverse </a:t>
            </a:r>
            <a:r>
              <a:rPr lang="en-US" sz="2200" dirty="0" err="1"/>
              <a:t>Kirkendall</a:t>
            </a:r>
            <a:r>
              <a:rPr lang="en-US" sz="2200" dirty="0"/>
              <a:t> effect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84F1C-E046-269E-5A16-81477685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CB754-2840-89B4-D7A7-2F50A4CC48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561"/>
          <a:stretch/>
        </p:blipFill>
        <p:spPr>
          <a:xfrm>
            <a:off x="6815931" y="1434306"/>
            <a:ext cx="3944938" cy="35608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C26090-22DE-4D8D-4DB2-D93235A7E780}"/>
              </a:ext>
            </a:extLst>
          </p:cNvPr>
          <p:cNvSpPr txBox="1"/>
          <p:nvPr/>
        </p:nvSpPr>
        <p:spPr>
          <a:xfrm>
            <a:off x="7118351" y="5380628"/>
            <a:ext cx="3642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effectLst/>
                <a:latin typeface="Helvetica" pitchFamily="2" charset="0"/>
              </a:rPr>
              <a:t>neutron irradiated in a fast reactor to about 100 dpa</a:t>
            </a:r>
          </a:p>
        </p:txBody>
      </p:sp>
    </p:spTree>
    <p:extLst>
      <p:ext uri="{BB962C8B-B14F-4D97-AF65-F5344CB8AC3E}">
        <p14:creationId xmlns:p14="http://schemas.microsoft.com/office/powerpoint/2010/main" val="220323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2F8B-7996-FA9C-259A-F01585F7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AB0F-5295-D4EF-7AAD-BF74A53D7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814929" cy="4157663"/>
          </a:xfrm>
        </p:spPr>
        <p:txBody>
          <a:bodyPr/>
          <a:lstStyle/>
          <a:p>
            <a:r>
              <a:rPr lang="en-US" sz="2200" dirty="0"/>
              <a:t>Ni alloys can generally be categorized into two classes: solution-annealed (SA) or precipitation hardened (PH)</a:t>
            </a:r>
          </a:p>
          <a:p>
            <a:r>
              <a:rPr lang="en-US" sz="2200" dirty="0"/>
              <a:t>The irradiation response is very different in these two classes</a:t>
            </a:r>
          </a:p>
          <a:p>
            <a:r>
              <a:rPr lang="en-US" sz="2200" dirty="0"/>
              <a:t>PH materials irradiated at low temperatures (below 100C) and low doses exhibit reduced ductility, but minimal hardening</a:t>
            </a:r>
          </a:p>
          <a:p>
            <a:r>
              <a:rPr lang="en-US" sz="2200" dirty="0"/>
              <a:t>SA materials exhibit substantial hardening in addition to a reduction in ductility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7C483-1605-0359-41A0-7362F574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2FF06-A1AF-5B2E-6484-32656DACB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08"/>
          <a:stretch/>
        </p:blipFill>
        <p:spPr>
          <a:xfrm>
            <a:off x="7779025" y="3704116"/>
            <a:ext cx="3448879" cy="3153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8C81D-5051-72D4-469C-4D55CB517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667"/>
          <a:stretch/>
        </p:blipFill>
        <p:spPr>
          <a:xfrm>
            <a:off x="7928113" y="800728"/>
            <a:ext cx="3299791" cy="290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78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A1C5-6048-A011-63C0-252ABC79C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Doses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7CB5-3496-A44F-64F6-05C7AE473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950226" cy="4157663"/>
          </a:xfrm>
        </p:spPr>
        <p:txBody>
          <a:bodyPr/>
          <a:lstStyle/>
          <a:p>
            <a:r>
              <a:rPr lang="en-US" sz="2200" dirty="0"/>
              <a:t>For PH materials, after an initial increase in RT yield and UTS at low doses, further irradiation can result in a gradual decrease in strength</a:t>
            </a:r>
          </a:p>
          <a:p>
            <a:r>
              <a:rPr lang="en-US" sz="2200" dirty="0"/>
              <a:t>This has also been seen in PH-SS at elevated temperatures</a:t>
            </a:r>
          </a:p>
          <a:p>
            <a:r>
              <a:rPr lang="en-US" sz="2200" dirty="0"/>
              <a:t>This does not occur for SA Ni alloys</a:t>
            </a:r>
          </a:p>
          <a:p>
            <a:r>
              <a:rPr lang="en-US" sz="2200" dirty="0"/>
              <a:t>Softening due to dislocation recovery is likely the effect at high temperatures</a:t>
            </a:r>
          </a:p>
          <a:p>
            <a:r>
              <a:rPr lang="en-US" sz="2200" dirty="0"/>
              <a:t>At low T, this is likely due to precipitate dissolution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210ED-C5A0-54CC-D0C4-252E646F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AE301-AC0F-B8B3-49E3-2781AF6B8A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30"/>
          <a:stretch/>
        </p:blipFill>
        <p:spPr>
          <a:xfrm>
            <a:off x="6875669" y="900113"/>
            <a:ext cx="4049091" cy="2678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75C74-01BD-21D4-95FB-1C022AEAD9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641"/>
          <a:stretch/>
        </p:blipFill>
        <p:spPr>
          <a:xfrm>
            <a:off x="6855240" y="3659186"/>
            <a:ext cx="4069520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53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D7D2-B8B6-E3DC-311A-49D021E6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E2DF-FA1D-240A-7586-7B07516B1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977271" cy="4157663"/>
          </a:xfrm>
        </p:spPr>
        <p:txBody>
          <a:bodyPr/>
          <a:lstStyle/>
          <a:p>
            <a:r>
              <a:rPr lang="en-US" sz="2200" dirty="0"/>
              <a:t>Despite softening, ductility continues to decrease, embrittling the PH Ni alloy</a:t>
            </a:r>
          </a:p>
          <a:p>
            <a:r>
              <a:rPr lang="en-US" sz="2200" dirty="0"/>
              <a:t>There is a change from ductile intra-granular to brittle inter-granular failure with increasing dose at low T</a:t>
            </a:r>
          </a:p>
          <a:p>
            <a:r>
              <a:rPr lang="en-US" sz="2200" dirty="0"/>
              <a:t>This is likely related to He generation, stabilization of He grain boundary bubbles, and embrittlement</a:t>
            </a:r>
          </a:p>
          <a:p>
            <a:r>
              <a:rPr lang="en-US" sz="2200" dirty="0"/>
              <a:t>Thus, separate phenomena are leading to softening and embrittlement simultaneously</a:t>
            </a:r>
          </a:p>
          <a:p>
            <a:r>
              <a:rPr lang="en-US" sz="2200" dirty="0"/>
              <a:t>This knowledge base is built on ion irradiations, and some effects may not fully transfer to fast reactor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18A4A-F74F-E9FF-64A3-2661B3D8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3E34-A689-2A55-79F8-12CECC424B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31"/>
          <a:stretch/>
        </p:blipFill>
        <p:spPr>
          <a:xfrm>
            <a:off x="7586870" y="3612927"/>
            <a:ext cx="3922643" cy="2796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6130B-108D-A44B-C71A-74ABB48B22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531"/>
          <a:stretch/>
        </p:blipFill>
        <p:spPr>
          <a:xfrm>
            <a:off x="7586870" y="900113"/>
            <a:ext cx="3922643" cy="279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28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0FD1-F9FC-0BA6-C6CB-39164AD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D24C-6B9A-1483-C94C-9C2AB53BA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200" dirty="0"/>
              <a:t>Excellent high temperature behaviors, resistant to corrosion, reasonably compatible with molten salt, water, liquid Na</a:t>
            </a:r>
          </a:p>
          <a:p>
            <a:r>
              <a:rPr lang="en-US" sz="2200" dirty="0"/>
              <a:t>Ni transmutation is an issue which generates He, which can lead to embrittlement (bigger issue in thermal reactors)</a:t>
            </a:r>
          </a:p>
          <a:p>
            <a:r>
              <a:rPr lang="en-US" sz="2200" dirty="0"/>
              <a:t>Ni alloys are at least 28 wt% Ni, have an FCC phase, are either solid solution strengthened, or precipitation hardened (mostly PH)</a:t>
            </a:r>
          </a:p>
          <a:p>
            <a:r>
              <a:rPr lang="en-US" sz="2200" dirty="0"/>
              <a:t>gamma’ and gamma’’ precipitates provide strength, hardening, and swelling resistance</a:t>
            </a:r>
          </a:p>
          <a:p>
            <a:r>
              <a:rPr lang="en-US" sz="2200" dirty="0"/>
              <a:t>Alloys can soften with increased dose due to recovery of cold work at high T, but lose their ductility with increasing dose</a:t>
            </a:r>
          </a:p>
          <a:p>
            <a:r>
              <a:rPr lang="en-US" sz="2200" dirty="0"/>
              <a:t>Don’t have enough good data on irradiation effects in fast reactor environments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D1549-B632-9BEF-A4E9-9B186373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26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reactors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48F280-BD83-7F41-84F5-93857A30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63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F8D7-C0C9-3B4B-8E0F-CC66DDAD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Intermetallic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1D8A1-BB67-9D49-88D1-B7AA94FBD0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Uranium intermetallic fuels such as U–Al, U–Si, and U–Mo are chiefly meant for research and test reactors in which neutron production, instead of power generation, is the main purpose</a:t>
            </a:r>
          </a:p>
          <a:p>
            <a:r>
              <a:rPr lang="en-US" sz="2200" dirty="0"/>
              <a:t>The operation temperatures of these fuels are much lower than those UO2</a:t>
            </a:r>
          </a:p>
          <a:p>
            <a:r>
              <a:rPr lang="en-US" sz="2200" dirty="0"/>
              <a:t>In general, the U intermetallic fuels can achieve much higher fission densities than oxide fuels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BFCA2-79B9-2D42-89D7-9D68B321FA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Currently available research reactor fuels are predominantly in a dispersion form that is composed of fuel particles dispersed in an inert matrix (often Al)</a:t>
            </a:r>
          </a:p>
          <a:p>
            <a:r>
              <a:rPr lang="en-US" sz="2200" dirty="0"/>
              <a:t>The fueled zone in a dispersion fuel plate (the fuel particles–matrix mixture zone) is metallurgically bonded to the Al cladding</a:t>
            </a:r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E9569-868A-DF4B-AD64-32340D64E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931" y="5325594"/>
            <a:ext cx="5384800" cy="8005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2539E-8737-C449-BC83-547408A9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22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46C8-F255-F04D-AB41-91EDEEE0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Intermetallic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DFC8F-EB4C-CD43-A04C-138C8DBCB1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U–Al, U–Si, and U–Mo fuels have been used in research reactors, with development from Al, to Si, to Mo driven by obtaining higher U densities</a:t>
            </a:r>
          </a:p>
          <a:p>
            <a:r>
              <a:rPr lang="en-US" sz="2200" dirty="0"/>
              <a:t>Uranium metal in unsuitable, so </a:t>
            </a:r>
            <a:r>
              <a:rPr lang="en-US" sz="2200" dirty="0" err="1"/>
              <a:t>intermetallics</a:t>
            </a:r>
            <a:r>
              <a:rPr lang="en-US" sz="2200" dirty="0"/>
              <a:t> were developed to stabilize irradiation behavior</a:t>
            </a:r>
          </a:p>
          <a:p>
            <a:r>
              <a:rPr lang="en-US" sz="2200" dirty="0"/>
              <a:t>The U-Al alloy was the first uranium intermetallic fuel chosen for research and test reactor purposes, largely because of compatibility with Al cladding</a:t>
            </a:r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312F51-3684-4A45-A7DC-5022FB73CE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29226" y="1968500"/>
            <a:ext cx="3921548" cy="415766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656EB-89BD-1749-B6DA-E55FF038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07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21E7-3C36-2244-94B8-9947F671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U-Al Alloys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5F62-2648-4C49-AF4F-2D3DBF373C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U-Al was utilized as the fuel in the Materials Test Reactor (MTR; 1952-1970) and the Engineering Test Reactor (ETR: 1957-1981)</a:t>
            </a:r>
          </a:p>
          <a:p>
            <a:r>
              <a:rPr lang="en-US" sz="2000" dirty="0"/>
              <a:t>Fabrication of U–Al alloys with high uranium contents poses difficulties during the rolling process, and uranium inhomogeneity increases proportionally with uranium content</a:t>
            </a:r>
          </a:p>
          <a:p>
            <a:r>
              <a:rPr lang="en-US" sz="2000" dirty="0"/>
              <a:t>The application of monolithic U–Al alloy in higher power reactors was limited because of fabrication constraints and high fuel swelling</a:t>
            </a:r>
          </a:p>
          <a:p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B4A623-7465-A948-B90B-60BDB39C63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15716" y="2177620"/>
            <a:ext cx="3171894" cy="3358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06EAFB-C51F-D046-AF41-BC822CE95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350" y="2578462"/>
            <a:ext cx="3168650" cy="27876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98EB0-3D67-2E40-8D8A-05C871EC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65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7BF0-1655-C246-9225-400CB5B7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U-Al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488B9-F120-654B-80E4-61073A33FF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There are three intermetallic compounds in the U–Al system: UAl2, UAl3, and UAl4</a:t>
            </a:r>
          </a:p>
          <a:p>
            <a:r>
              <a:rPr lang="en-US" sz="2200" dirty="0"/>
              <a:t>UAl2 forms directly from the liquid, but UAl3 and UAl4 form by peritectoid reactions with aluminum</a:t>
            </a:r>
          </a:p>
          <a:p>
            <a:r>
              <a:rPr lang="en-US" sz="2200" dirty="0"/>
              <a:t>UAl2 is </a:t>
            </a:r>
            <a:r>
              <a:rPr lang="en-US" sz="2200" dirty="0" err="1"/>
              <a:t>fcc</a:t>
            </a:r>
            <a:r>
              <a:rPr lang="en-US" sz="2200" dirty="0"/>
              <a:t>, UAl3 is L1</a:t>
            </a:r>
            <a:r>
              <a:rPr lang="en-US" sz="2200" baseline="-25000" dirty="0"/>
              <a:t>2</a:t>
            </a:r>
            <a:r>
              <a:rPr lang="en-US" sz="2200" dirty="0"/>
              <a:t> type, UAl4 is </a:t>
            </a:r>
            <a:r>
              <a:rPr lang="en-US" sz="2200" dirty="0" err="1"/>
              <a:t>bco</a:t>
            </a:r>
            <a:endParaRPr lang="en-US" sz="2200" dirty="0"/>
          </a:p>
          <a:p>
            <a:r>
              <a:rPr lang="en-US" sz="2200" dirty="0"/>
              <a:t>Densities range from 6.6 g/cc to 4.2 g/cc with decreasing U loading</a:t>
            </a:r>
          </a:p>
          <a:p>
            <a:r>
              <a:rPr lang="en-US" sz="2200" dirty="0"/>
              <a:t>Thermal conductivity of dispersion fuels is largely governed by the matrix 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2D3DD1-CF00-9740-AA37-379F3D4633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92531" y="1026498"/>
            <a:ext cx="3885506" cy="386300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353D2-AB97-8C46-904E-EA3DE569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D36B5F-63B6-7AE7-35A6-A4F3AB30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20" y="5001876"/>
            <a:ext cx="5636128" cy="106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80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1B20-2B3E-D344-9CBF-AF5605204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U-Al Alloys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775E9-D133-D942-8A5F-D6E9308D7E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fuel form of U–Al alloy with a U density high enough to satisfy the need for high-power rectors is a mixture of UAl2, UAl3, and UAl4, known as </a:t>
            </a:r>
            <a:r>
              <a:rPr lang="en-US" sz="2200" dirty="0" err="1"/>
              <a:t>UAlx</a:t>
            </a:r>
            <a:endParaRPr lang="en-US" sz="2200" dirty="0"/>
          </a:p>
          <a:p>
            <a:r>
              <a:rPr lang="en-US" sz="2200" dirty="0" err="1"/>
              <a:t>UAlx</a:t>
            </a:r>
            <a:r>
              <a:rPr lang="en-US" sz="2200" dirty="0"/>
              <a:t> has positive features that enable its good performance in high-power reactors</a:t>
            </a:r>
          </a:p>
          <a:p>
            <a:r>
              <a:rPr lang="en-US" sz="2200" dirty="0"/>
              <a:t>Fuel swelling can be reduced by accommodating fission product swelling in the powder dispersions, which include pores left during fabrication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F2635-CBBF-1A4B-8507-5306988395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 err="1"/>
              <a:t>UAlx</a:t>
            </a:r>
            <a:r>
              <a:rPr lang="en-US" sz="2200" dirty="0"/>
              <a:t> also has exceptional resistance to fission gas bubble formation</a:t>
            </a:r>
          </a:p>
          <a:p>
            <a:r>
              <a:rPr lang="en-US" sz="2200" dirty="0"/>
              <a:t>In addition, fabrication with a uniform distribution of burnable absorbers is possible</a:t>
            </a:r>
          </a:p>
          <a:p>
            <a:r>
              <a:rPr lang="en-US" sz="2200" dirty="0"/>
              <a:t>Typical powder lots used in the ATR contained phase fractions of 7.6 wt% UAl2, 78.6 wt% UAl3, and 13.8wt% UAl4</a:t>
            </a:r>
          </a:p>
          <a:p>
            <a:r>
              <a:rPr lang="en-US" sz="2200" dirty="0"/>
              <a:t>These phase fractions can be modified based upon the fabrication process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AD7F4-FE47-CF4F-8560-695EB50C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62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D577-B266-52E3-CD3F-26231772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BBE76-068A-60B6-5337-8F21801A7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4"/>
            <a:ext cx="10972800" cy="2437242"/>
          </a:xfrm>
        </p:spPr>
        <p:txBody>
          <a:bodyPr/>
          <a:lstStyle/>
          <a:p>
            <a:r>
              <a:rPr lang="en-US" dirty="0"/>
              <a:t>Based on the fuel plate geometry, why is fuel swelling important?</a:t>
            </a:r>
          </a:p>
          <a:p>
            <a:endParaRPr lang="en-US" dirty="0"/>
          </a:p>
          <a:p>
            <a:r>
              <a:rPr lang="en-US" dirty="0"/>
              <a:t>No plenum! No Gap!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763F2-9D94-654F-7F0E-D19ACF0C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6D0DB8-5368-2E30-F4F4-457FAE0B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637" y="3777104"/>
            <a:ext cx="8456725" cy="12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3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19A9-A96E-3C48-9350-5117CDEA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F1D95-6640-F24B-B0FA-9A4D80CFA4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Fuel swelling by fission products is divided into two distinct parts: solid and gaseous</a:t>
            </a:r>
          </a:p>
          <a:p>
            <a:r>
              <a:rPr lang="en-US" sz="2200" dirty="0"/>
              <a:t>Solid FP swelling is due to the difference between the volume of a uranium atom and solid fission products</a:t>
            </a:r>
          </a:p>
          <a:p>
            <a:r>
              <a:rPr lang="en-US" sz="2200" dirty="0"/>
              <a:t>Most fission gas atoms remain in the fuel, with solid FP swelling proportional only to burnup; independent of fabrication method, fuel type, temperature, etc.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4E63D-4F01-3F4C-804F-2A11CBB2D0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Thus, solid swelling is applicable across other intermetallic fuels, with derivations from U-Zr being modified for U-Al, U-Si, and U-Mo fuels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The solid FP swelling for U-Mo is given by the above equation, where </a:t>
            </a:r>
            <a:r>
              <a:rPr lang="en-US" sz="2200" dirty="0" err="1"/>
              <a:t>fd</a:t>
            </a:r>
            <a:r>
              <a:rPr lang="en-US" sz="2200" dirty="0"/>
              <a:t> is fission density in 10</a:t>
            </a:r>
            <a:r>
              <a:rPr lang="en-US" sz="2200" baseline="30000" dirty="0"/>
              <a:t>27</a:t>
            </a:r>
            <a:r>
              <a:rPr lang="en-US" sz="2200" dirty="0"/>
              <a:t> fissions/m</a:t>
            </a:r>
            <a:r>
              <a:rPr lang="en-US" sz="2200" baseline="30000" dirty="0"/>
              <a:t>3</a:t>
            </a:r>
          </a:p>
          <a:p>
            <a:r>
              <a:rPr lang="en-US" sz="2200" dirty="0"/>
              <a:t>50% burnup is approximately 4x10</a:t>
            </a:r>
            <a:r>
              <a:rPr lang="en-US" sz="2200" baseline="30000" dirty="0"/>
              <a:t>27</a:t>
            </a:r>
            <a:r>
              <a:rPr lang="en-US" sz="2200" dirty="0"/>
              <a:t> f/m</a:t>
            </a:r>
            <a:r>
              <a:rPr lang="en-US" sz="2200" baseline="30000" dirty="0"/>
              <a:t>3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594DA-D3DD-8843-A187-5EDC3CB9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2E240-62B1-0246-9E4F-E52035322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055" y="3647284"/>
            <a:ext cx="16764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7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CC9B-BF9E-DC4F-A9DD-276358D7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AB42-63FB-0A41-912B-82C59BB89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200" dirty="0"/>
              <a:t>Gaseous FP swelling is due to the formation of fission gas bubbles and is more difficult to quantify</a:t>
            </a:r>
          </a:p>
          <a:p>
            <a:r>
              <a:rPr lang="en-US" sz="2200" dirty="0"/>
              <a:t>Historical examinations on </a:t>
            </a:r>
            <a:r>
              <a:rPr lang="en-US" sz="2200" dirty="0" err="1"/>
              <a:t>UAlx</a:t>
            </a:r>
            <a:r>
              <a:rPr lang="en-US" sz="2200" dirty="0"/>
              <a:t> fuels showed no large fission gas bubbles in the fuel</a:t>
            </a:r>
          </a:p>
          <a:p>
            <a:r>
              <a:rPr lang="en-US" sz="2200" dirty="0"/>
              <a:t>Thus, fission gas bubbles were sufficiently small to be beyond the scope of 1980s-era SEM</a:t>
            </a:r>
          </a:p>
          <a:p>
            <a:r>
              <a:rPr lang="en-US" sz="2200" dirty="0"/>
              <a:t>However, oxide inclusions showed large fission gas bubbles</a:t>
            </a:r>
          </a:p>
          <a:p>
            <a:r>
              <a:rPr lang="en-US" sz="2200" dirty="0"/>
              <a:t>Oxides are present due to fabrication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FC6FD5-6ADD-A640-91BF-6C817A5392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4193" y="1968500"/>
            <a:ext cx="4751614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2DA5E-C6D5-C34D-8BD8-96A549A6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69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CC9B-BF9E-DC4F-A9DD-276358D7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AB42-63FB-0A41-912B-82C59BB89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200" dirty="0"/>
              <a:t>It is unclear whether the oxide clusters acted as reservoirs absorbing fission gas, or whether </a:t>
            </a:r>
            <a:r>
              <a:rPr lang="en-US" sz="2200" dirty="0" err="1"/>
              <a:t>UAlx</a:t>
            </a:r>
            <a:r>
              <a:rPr lang="en-US" sz="2200" dirty="0"/>
              <a:t> helps retard bubble formation</a:t>
            </a:r>
          </a:p>
          <a:p>
            <a:r>
              <a:rPr lang="en-US" sz="2200" dirty="0"/>
              <a:t>It is possible that nanoscale bubbles are forming, but are undetectable via SEM (I would argue this is necessary)</a:t>
            </a:r>
          </a:p>
          <a:p>
            <a:r>
              <a:rPr lang="en-US" sz="2200" dirty="0"/>
              <a:t>The gas bubble swelling is estimated by subtraction of solid fission product swelling from the total swelling of the plate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FC6FD5-6ADD-A640-91BF-6C817A5392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4193" y="1968500"/>
            <a:ext cx="4751614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2DA5E-C6D5-C34D-8BD8-96A549A6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75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EF13-7EA2-1B4F-99D1-328CE886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Amorphization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CF4EC-DBCB-104B-A0FE-979B86B9AE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performance of all U intermetallic fuels is closely related to whether they are crystalline or amorphous during irradiation</a:t>
            </a:r>
          </a:p>
          <a:p>
            <a:r>
              <a:rPr lang="en-US" sz="2200" dirty="0"/>
              <a:t>The U intermetallic fuels tend to be amorphized by damage in the crystal structure caused by highly energetic fission fragments and low temperatures inhibiting recombination</a:t>
            </a:r>
          </a:p>
          <a:p>
            <a:r>
              <a:rPr lang="en-US" sz="2200" dirty="0"/>
              <a:t>Amorphization of a crystalline material is accompanied by an increase in volume, which facilitates atomic mobility, enhancing diffusion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36B0C-A013-0140-A724-B425EEE22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00224"/>
            <a:ext cx="5384800" cy="4157663"/>
          </a:xfrm>
        </p:spPr>
        <p:txBody>
          <a:bodyPr/>
          <a:lstStyle/>
          <a:p>
            <a:r>
              <a:rPr lang="en-US" sz="2200" dirty="0"/>
              <a:t>Fission gas mobility is also high in amorphous materials and the fuel material is more readily deformed by the growing gas bubbles</a:t>
            </a:r>
          </a:p>
          <a:p>
            <a:r>
              <a:rPr lang="en-US" sz="2200" dirty="0"/>
              <a:t>Thus, fission gas bubble growth in an amorphous material is faster/higher</a:t>
            </a:r>
          </a:p>
          <a:p>
            <a:r>
              <a:rPr lang="en-US" sz="2200" dirty="0"/>
              <a:t>The three U–Al </a:t>
            </a:r>
            <a:r>
              <a:rPr lang="en-US" sz="2200" dirty="0" err="1"/>
              <a:t>intermetallics</a:t>
            </a:r>
            <a:r>
              <a:rPr lang="en-US" sz="2200" dirty="0"/>
              <a:t> undergo amorphization depending on the fission rate and temperature</a:t>
            </a:r>
          </a:p>
          <a:p>
            <a:r>
              <a:rPr lang="en-US" sz="2200" dirty="0"/>
              <a:t>The lower the irradiation temperature and the higher the fission rate, the more readily the fuel becomes amorphous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7CECD-3D96-3744-9262-B89592A9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11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B9F41-A238-3F49-9E97-EA2733F4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UAl</a:t>
            </a:r>
            <a:r>
              <a:rPr lang="en-US" dirty="0"/>
              <a:t>-Al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B24D-DE2A-0E42-B147-26CED8A6E7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 err="1"/>
              <a:t>UAlx</a:t>
            </a:r>
            <a:r>
              <a:rPr lang="en-US" sz="2200" dirty="0"/>
              <a:t> and Al react during irradiation even at low temperatures due to irradiation-enhanced interdiffusion</a:t>
            </a:r>
          </a:p>
          <a:p>
            <a:r>
              <a:rPr lang="en-US" sz="2200" dirty="0"/>
              <a:t>UAl2 and UAl3 react with matrix Al to generate UAl4, and since there are no higher content compounds, UAl4 stays stable with Al</a:t>
            </a:r>
          </a:p>
          <a:p>
            <a:r>
              <a:rPr lang="en-US" sz="2200" dirty="0"/>
              <a:t>In the image, A is UAl2, B is UAl3, C is UAl4, and D is U oxide</a:t>
            </a:r>
          </a:p>
          <a:p>
            <a:r>
              <a:rPr lang="en-US" sz="2200" dirty="0"/>
              <a:t>Measured reaction data of </a:t>
            </a:r>
            <a:r>
              <a:rPr lang="en-US" sz="2200" dirty="0" err="1"/>
              <a:t>UAlx</a:t>
            </a:r>
            <a:r>
              <a:rPr lang="en-US" sz="2200" dirty="0"/>
              <a:t>–Al from in-pile tests are scarce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F432B1-962F-BE45-91EB-2E35FBD781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07967" y="3483141"/>
            <a:ext cx="2980476" cy="30812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6DFE2-ABB1-8446-9632-6C26D6D5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B9ECA-E32E-4DBA-6026-63C3CC9EA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017" y="954254"/>
            <a:ext cx="3106376" cy="247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21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DEE8-182A-1643-890D-6B930F9F9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Bubbles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B7B52-FB09-D80F-8485-8E5FB79AC2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fuel kernel and the interaction layers can both become amorphous</a:t>
            </a:r>
          </a:p>
          <a:p>
            <a:r>
              <a:rPr lang="en-US" sz="2200" dirty="0"/>
              <a:t>Even in the amorphous phases, no large fission gas bubbles have been observed in </a:t>
            </a:r>
            <a:r>
              <a:rPr lang="en-US" sz="2200" dirty="0" err="1"/>
              <a:t>UAlx</a:t>
            </a:r>
            <a:endParaRPr lang="en-US" sz="2200" dirty="0"/>
          </a:p>
          <a:p>
            <a:r>
              <a:rPr lang="en-US" sz="2200" dirty="0"/>
              <a:t>Relatively recent TEM work has showed that at 20% burnup, Xe is still in solid solution in the amorphized phases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F404F-36D2-86F3-E48E-66E96BB374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Conversion of UAl2 to UAl3 and UAl4 results in a volume reduction of the fuel, which generates extra space for fission products to reside, increasing the effective solubility</a:t>
            </a:r>
          </a:p>
          <a:p>
            <a:r>
              <a:rPr lang="en-US" sz="2200" dirty="0"/>
              <a:t>The high resistance of </a:t>
            </a:r>
            <a:r>
              <a:rPr lang="en-US" sz="2200" dirty="0" err="1"/>
              <a:t>UAlx</a:t>
            </a:r>
            <a:r>
              <a:rPr lang="en-US" sz="2200" dirty="0"/>
              <a:t> to large fission gas bubble formation and a higher as-fabricated porosity leads to a lower overall plate thickness increase in </a:t>
            </a:r>
            <a:r>
              <a:rPr lang="en-US" sz="2200" dirty="0" err="1"/>
              <a:t>UAlx</a:t>
            </a:r>
            <a:r>
              <a:rPr lang="en-US" sz="2200" dirty="0"/>
              <a:t>/Al compared to other fuel dispersion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E3739-3B8D-FFBD-C713-70E8F9ED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20246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6319</TotalTime>
  <Words>2307</Words>
  <Application>Microsoft Macintosh PowerPoint</Application>
  <PresentationFormat>Widescreen</PresentationFormat>
  <Paragraphs>202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Helvetica</vt:lpstr>
      <vt:lpstr>2_NCStateU-horizontal-left-logo</vt:lpstr>
      <vt:lpstr>NE 763: Advanced Reactor Materials</vt:lpstr>
      <vt:lpstr>Last Time</vt:lpstr>
      <vt:lpstr>HEAs and Radiation Damage</vt:lpstr>
      <vt:lpstr>Notable HEAs</vt:lpstr>
      <vt:lpstr>HEAs outlook</vt:lpstr>
      <vt:lpstr>Ni alloys</vt:lpstr>
      <vt:lpstr>Ni Alloys</vt:lpstr>
      <vt:lpstr>Structures</vt:lpstr>
      <vt:lpstr>He generation</vt:lpstr>
      <vt:lpstr>Void Swelling</vt:lpstr>
      <vt:lpstr>Dislocations</vt:lpstr>
      <vt:lpstr>Precipitation</vt:lpstr>
      <vt:lpstr>Swelling</vt:lpstr>
      <vt:lpstr>Irradiation Hardening</vt:lpstr>
      <vt:lpstr>Higher Doses</vt:lpstr>
      <vt:lpstr>Embrittlement</vt:lpstr>
      <vt:lpstr>Ni Alloys Summary</vt:lpstr>
      <vt:lpstr>Research reactors</vt:lpstr>
      <vt:lpstr>Intermetallic Fuels</vt:lpstr>
      <vt:lpstr>Intermetallic Fuels</vt:lpstr>
      <vt:lpstr>U-Al Alloys</vt:lpstr>
      <vt:lpstr>U-Al Phases</vt:lpstr>
      <vt:lpstr>U-Al Alloys</vt:lpstr>
      <vt:lpstr>Fuel Swelling</vt:lpstr>
      <vt:lpstr>Fuel Swelling</vt:lpstr>
      <vt:lpstr>Fuel Swelling</vt:lpstr>
      <vt:lpstr>Fuel Swelling</vt:lpstr>
      <vt:lpstr>Amorphization</vt:lpstr>
      <vt:lpstr>UAl-Al Interaction</vt:lpstr>
      <vt:lpstr>Fission Gas Bubbles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50</cp:revision>
  <dcterms:created xsi:type="dcterms:W3CDTF">2021-06-30T18:29:00Z</dcterms:created>
  <dcterms:modified xsi:type="dcterms:W3CDTF">2025-11-18T16:35:02Z</dcterms:modified>
</cp:coreProperties>
</file>
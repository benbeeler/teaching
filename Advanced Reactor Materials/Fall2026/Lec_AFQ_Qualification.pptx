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915"/>
    <p:restoredTop sz="94726"/>
  </p:normalViewPr>
  <p:slideViewPr>
    <p:cSldViewPr snapToGrid="0" snapToObjects="1">
      <p:cViewPr varScale="1">
        <p:scale>
          <a:sx n="120" d="100"/>
          <a:sy n="120" d="100"/>
        </p:scale>
        <p:origin x="3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516A0F-2645-F945-ADC5-B2CC11F8F912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9D32B1-08AD-0943-8C60-7CB4F1A83E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597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20+ year figure: NRC ADAMS ML21287A646, "Accelerated Fuel Qualification White Paper." Diagram is a simplified generic sequence, not taken from a specific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NUREG-2246 final: ML22063A131 (includes public comment resolution). ACRS letter on the draft: ML21319A350.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two top-level criteria (fabricated per specification; performs per safety case) are from NUREG-2246. G2 sub-goal names (e.g., G2.1 design limits during normal operation and AOOs, G2.2.1 radionuclide retention requirements) are paraphrased from the report; sub-boxes are a simplified summary, not the full goal tree. Check Appendix A of NUREG-2246 for the complete list before presenting the tree in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K.A. Terrani, N.A. Capps, M.J. Kerr, C.A. Back, A.T. Nelson, B.D. Wirth, S.L. Hayes, C.R. Stanek, "Accelerating nuclear fuel development and qualification: Modeling and simulation integrated with separate-effects testing," J. Nucl. Mater. 539 (2020) 152267. doi:10.1016/j.jnucmat.2020.152267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Schematic simplified from the concept in Terrani et al. (2020); not a reproduction of their figure. Talking point: models prioritize phenomena, and separate-effects test data feed back to refine the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Specimen and capsule references are as cited in the NRC ADAMS AFQ white paper (ML21287A646). I did not verify their full content. Ion irradiation listed as an out-of-pile separate-effects tool is general knowledge; see the non-prototypicality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FAST cladding-dose point is from the NRC ADAMS AFQ white paper (ML21287A646). I believe FAST stands for Fission Accelerated Steady-state Test at INL/ATR, but this was not verified; check before stating the acronym.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is instructor synthesis, not drawn from a single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HRB-21 and requirements context: AGR-1 objectives report https://inldigitallibrary.inl.gov/sites/sti/sti/3397099.pdf . Start year 2002: Technical Program Plan https://inldigitallibrary.inl.gov/sites/sti/sti/Sort_61424.pdf . EPA PAG design goal: OSTI 1369357 https://www.osti.gov/biblio/1369357 . Goals (qualification data, domestic vendor): Demkowicz 2017 overview https://art.inl.gov/trisofuels/AGR%20TRISO%20Fuels%20Program%20Review%20July%201819%202017/03_Demkowicz_AGR_Overview%20v3.pdf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Functional containment and three requirements: Demkowicz AGR overview slides (2015 DOE and 2017 INL program review). GT-MHR basis: AGR-1 objectives report https://inldigitallibrary.inl.gov/sites/sti/sti/3397099.pdf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Elements and participants: Demkowicz AGR overview, DOE 2015 https://www.energy.gov/sites/default/files/2015/10/f27/Demkowicz%20%20AGR%20overview.pdf . German particle replication goal: Technical Program Plan https://inldigitallibrary.inl.gov/sites/sti/sti/Sort_61424.pdf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AGR-1 lab-scale 2-in. coater and scale-up to 6-in. production-scale coater; AGR-3/4 fission product transport; AGR-5/6 qualification test fuel and margin to failure: Technical Program Plan https://inldigitallibrary.inl.gov/sites/sti/sti/Sort_61424.pdf . AGR-1 shakedown and "engineering scale particles and compacts" wording: DOE 2015 overview slides. VERIFY before lecture: the mapping of "engineering-scale" to AGR-2 (inferred from slide ordering), the "designed-to-fail" label for AGR-3/4 (plan refers to DTF fuel), and the specific role of AGR-7 (grouped with 5/6 here).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Topics drawn from the 2023 AGR program overview (OSTI 2278790) https://www.osti.gov/biblio/2278790 . Specific safety test temperatures and failure fractions were not verified; pull numbers from that document or OSTI 1369357 if adding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Submittal May 31, 2019 and SE letter August 11, 2020: EPRI transmittal letter https://www.nrc.gov/docs/ML2033/ML20336A053.pdf . Published -A version Nov 20, 2020 (EPRI TR 3002019978), package ML20336A052 https://www.nrc.gov/docs/ML2033/ML20336A052.html . Final SE ML20216A453 https://www.nrc.gov/docs/ML2021/ML20216A453.pdf . Condition 1 wording: NRC-CNSC TRISO Interim Report 2 https://www.nrc.gov/docs/ML2210/ML22101A297.pdf . Submitted report (AGR-1/AGR-2 basis): https://restservice.epri.com/publicdownload/000000003002015750/0/Product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18-year figure computed from 2002 program start and the August 2020 NRC SE on the AGR-1/AGR-2-based topical report. The topical report approval is not fuel qualification; qualification draws on the full program including AGR-3/4 and AGR-5/6/7. Remaining bullets are instructor synthesis.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NUREG/CR-7305, "Metal Fuel Qualification: Fuel Assessment Using NRC NUREG-2246" (2023). Characterization of the modeling gaps as the limiting items is instructor framing; check the report conclusions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"Accelerated Fuel Qualification of Fast Modular Reactor Fuel in a Thermal Reactor: Modeling and Simulation Paired with Irradiation Testing," Nuclear Technology (2025), doi:10.1080/00295450.2025.2502283. Authors not verified. "SiC-based" description of SiGA is from general knowledge; verify.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NRC endorsement of Division 5 is, I believe, through Regulatory Guide 1.87 Rev. 2, with conditions. Not verified; check the current revision.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General list of Division 5-type data needs; instructor synthesis from general knowledge rather than a single cited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VERIFY: Alloy 617 Division 5 code case approval date (believed ~2020) and duration of the qualification effort. VERIFY: extent of irradiation-effects treatment in current Division 5 rules. Neither was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785609-E5CC-DE44-B37C-B4F30876FF32}" type="datetime1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82176-A547-F94B-AC51-D6E9C882CB8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537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280746"/>
            <a:ext cx="10972800" cy="3845418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2F8954-4A2E-3243-B2DC-9CD5CB712752}" type="datetime1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403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38075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D4575D-199B-0745-9376-4BA74FA8EFA7}" type="datetime1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6BD0F-ABBC-C14D-BC96-77BE126A748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114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384800" cy="4157663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68503"/>
            <a:ext cx="5384800" cy="41576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4EC5E2-8D01-2849-BCEF-95F1335AF02C}" type="datetime1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532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867339"/>
            <a:ext cx="10972800" cy="1068387"/>
          </a:xfrm>
        </p:spPr>
        <p:txBody>
          <a:bodyPr/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BB4091-1279-5E46-833E-3B1192709521}" type="datetime1">
              <a:rPr lang="en-US" smtClean="0"/>
              <a:t>9/16/26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894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C5C5CE-9A98-3649-A752-35F044CBF5B8}" type="datetime1">
              <a:rPr lang="en-US" smtClean="0"/>
              <a:t>9/16/26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AB7D4D-4E81-5B40-91F6-CF14C25F862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640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324C5E-CE4C-B646-8BD9-2D7670818E7E}" type="datetime1">
              <a:rPr lang="en-US" smtClean="0"/>
              <a:t>9/16/26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B2FA7-4FDB-5643-811E-7991DEE50B0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26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5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5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B3BC9F-3142-5445-97AB-BA4A48743DCA}" type="datetime1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DD8B14-AE1E-054C-8668-93D0F0400A1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495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97FE6E-4AF1-BB43-A3BB-BA9931BC385B}" type="datetime1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EF0004-A563-C64B-9FAD-6198662E1BD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53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F1F23-51F5-E24D-A2F3-F9FF410B2C6B}" type="datetime1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9610A8-B29A-B34A-A0B5-3DF26A2EB85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211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F9506E-CC5A-D948-B9E0-FC81D1F3EEB8}" type="datetime1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D0221-73D0-6245-9CCD-73A1D8FCB5E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7716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867339"/>
            <a:ext cx="10972800" cy="10683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BB4091-1279-5E46-833E-3B1192709521}" type="datetime1">
              <a:rPr lang="en-US" smtClean="0"/>
              <a:t>9/16/26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183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900113"/>
            <a:ext cx="10972800" cy="106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Headline Line One</a:t>
            </a:r>
            <a:br>
              <a:rPr lang="en-US" dirty="0"/>
            </a:br>
            <a:r>
              <a:rPr lang="en-US" dirty="0"/>
              <a:t>Headline Line Two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3022600"/>
            <a:ext cx="10972800" cy="310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F3AB534-2132-774F-82DE-4210B1BD5FED}" type="datetime1">
              <a:rPr lang="en-US" smtClean="0"/>
              <a:t>9/16/26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EF7D53D-272A-624E-BE3D-99D13E2B419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202925" cy="6096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BF8D97C-4308-3B61-2B5B-C13404B70E8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202925" cy="609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02054C5-3A3D-4B9F-F314-13BC597F406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202925" cy="609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87C96D-147F-2B68-D8CC-FC91E42CAC01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202925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568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689" r:id="rId12"/>
  </p:sldLayoutIdLst>
  <p:hf hdr="0" ftr="0" dt="0"/>
  <p:txStyles>
    <p:titleStyle>
      <a:lvl1pPr algn="ctr" defTabSz="609585" rtl="0" eaLnBrk="1" fontAlgn="base" hangingPunct="1">
        <a:spcBef>
          <a:spcPct val="0"/>
        </a:spcBef>
        <a:spcAft>
          <a:spcPct val="0"/>
        </a:spcAft>
        <a:defRPr sz="4267" b="1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2pPr>
      <a:lvl3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3pPr>
      <a:lvl4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4pPr>
      <a:lvl5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5pPr>
      <a:lvl6pPr marL="609585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6pPr>
      <a:lvl7pPr marL="1219170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7pPr>
      <a:lvl8pPr marL="1828754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8pPr>
      <a:lvl9pPr marL="2438339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457189" indent="-457189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990575" indent="-380990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2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523962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2133547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67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743131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333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 763: Advanced Reactor Materials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Fall 2026</a:t>
            </a:r>
          </a:p>
          <a:p>
            <a:r>
              <a:t>Dr. Benjamin Beeler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3D8C5-2625-944D-A346-88684E6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t>Why qualification matters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3D8C5-2625-944D-A346-88684E6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Does "Qualified" Mean?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/>
          <a:lstStyle/>
          <a:p>
            <a:r>
              <a:rPr sz="2400"/>
              <a:t>Fuel qualification (NRC framing, NUREG-2246)</a:t>
            </a:r>
          </a:p>
          <a:p>
            <a:pPr lvl="1"/>
            <a:r>
              <a:rPr sz="2000"/>
              <a:t>High confidence that the fuel will be fabricated in accordance with its specification</a:t>
            </a:r>
          </a:p>
          <a:p>
            <a:pPr lvl="1"/>
            <a:r>
              <a:rPr sz="2000"/>
              <a:t>High confidence that the fuel will perform as described in the applicable licensing safety case</a:t>
            </a:r>
          </a:p>
          <a:p>
            <a:r>
              <a:rPr sz="2400"/>
              <a:t>Structural materials qualification</a:t>
            </a:r>
          </a:p>
          <a:p>
            <a:pPr lvl="1"/>
            <a:r>
              <a:rPr sz="2000"/>
              <a:t>Material is accepted by a design code (e.g., ASME Section III) with design allowables for the intended temperature and time</a:t>
            </a:r>
          </a:p>
          <a:p>
            <a:pPr lvl="1"/>
            <a:r>
              <a:rPr sz="2000"/>
              <a:t>Code acceptance is then endorsed (with or without conditions) by the regulator</a:t>
            </a:r>
          </a:p>
          <a:p>
            <a:r>
              <a:rPr sz="2400"/>
              <a:t>Qualification is always tied to an envelope: temperature, burnup/dose, environment, transients</a:t>
            </a:r>
          </a:p>
          <a:p>
            <a:pPr lvl="1"/>
            <a:r>
              <a:rPr sz="2000"/>
              <a:t>Operate outside the envelope, and the material is no longer "qualified"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3D8C5-2625-944D-A346-88684E6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Matters for Advanced Reactors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/>
          <a:lstStyle/>
          <a:p>
            <a:r>
              <a:rPr sz="2400"/>
              <a:t>Existing fuel guidance (NUREG-0800, Section 4.2) was developed for Zr-clad UO2 in LWRs</a:t>
            </a:r>
          </a:p>
          <a:p>
            <a:r>
              <a:rPr sz="2400"/>
              <a:t>Advanced reactors change nearly everything the guidance was built on</a:t>
            </a:r>
          </a:p>
          <a:p>
            <a:pPr lvl="1"/>
            <a:r>
              <a:rPr sz="2000"/>
              <a:t>neutron spectrum (fast vs. thermal)</a:t>
            </a:r>
          </a:p>
          <a:p>
            <a:pPr lvl="1"/>
            <a:r>
              <a:rPr sz="2000"/>
              <a:t>fuel form (metallic, TRISO, nitride, carbide, liquid salt)</a:t>
            </a:r>
          </a:p>
          <a:p>
            <a:pPr lvl="1"/>
            <a:r>
              <a:rPr sz="2000"/>
              <a:t>temperatures, coolants, neighboring materials</a:t>
            </a:r>
          </a:p>
          <a:p>
            <a:pPr lvl="1"/>
            <a:r>
              <a:rPr sz="2000"/>
              <a:t>burnup targets and core lifetimes</a:t>
            </a:r>
          </a:p>
          <a:p>
            <a:r>
              <a:rPr sz="2400"/>
              <a:t>Many of the phenomena that dominate LWR fuel limits simply do not apply, and new ones do</a:t>
            </a:r>
          </a:p>
          <a:p>
            <a:r>
              <a:rPr sz="2400"/>
              <a:t>Every new fuel or alloy must build its own qualification basis, often from sparse legacy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3D8C5-2625-944D-A346-88684E6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Traditional Approach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2148840"/>
            <a:ext cx="160020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333333"/>
                </a:solidFill>
                <a:latin typeface="Arial"/>
              </a:rPr>
              <a:t>Fabrication</a:t>
            </a:r>
          </a:p>
          <a:p>
            <a:pPr algn="ctr"/>
            <a:r>
              <a:rPr sz="1400" b="0">
                <a:solidFill>
                  <a:srgbClr val="333333"/>
                </a:solidFill>
                <a:latin typeface="Arial"/>
              </a:rPr>
              <a:t>development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313432" y="2651760"/>
            <a:ext cx="219456" cy="0"/>
          </a:xfrm>
          <a:prstGeom prst="line">
            <a:avLst/>
          </a:prstGeom>
          <a:ln w="25400">
            <a:solidFill>
              <a:srgbClr val="76767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560320" y="2148840"/>
            <a:ext cx="160020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333333"/>
                </a:solidFill>
                <a:latin typeface="Arial"/>
              </a:rPr>
              <a:t>Out-of-pile</a:t>
            </a:r>
          </a:p>
          <a:p>
            <a:pPr algn="ctr"/>
            <a:r>
              <a:rPr sz="1400" b="0">
                <a:solidFill>
                  <a:srgbClr val="333333"/>
                </a:solidFill>
                <a:latin typeface="Arial"/>
              </a:rPr>
              <a:t>characterization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87952" y="2651760"/>
            <a:ext cx="219455" cy="0"/>
          </a:xfrm>
          <a:prstGeom prst="line">
            <a:avLst/>
          </a:prstGeom>
          <a:ln w="25400">
            <a:solidFill>
              <a:srgbClr val="76767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434840" y="2148840"/>
            <a:ext cx="160020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333333"/>
                </a:solidFill>
                <a:latin typeface="Arial"/>
              </a:rPr>
              <a:t>Integral</a:t>
            </a:r>
          </a:p>
          <a:p>
            <a:pPr algn="ctr"/>
            <a:r>
              <a:rPr sz="1400" b="0">
                <a:solidFill>
                  <a:srgbClr val="333333"/>
                </a:solidFill>
                <a:latin typeface="Arial"/>
              </a:rPr>
              <a:t>irradiation tests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62472" y="2651760"/>
            <a:ext cx="219455" cy="0"/>
          </a:xfrm>
          <a:prstGeom prst="line">
            <a:avLst/>
          </a:prstGeom>
          <a:ln w="25400">
            <a:solidFill>
              <a:srgbClr val="76767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309359" y="2148840"/>
            <a:ext cx="160020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333333"/>
                </a:solidFill>
                <a:latin typeface="Arial"/>
              </a:rPr>
              <a:t>Post-irradiation</a:t>
            </a:r>
          </a:p>
          <a:p>
            <a:pPr algn="ctr"/>
            <a:r>
              <a:rPr sz="1400" b="0">
                <a:solidFill>
                  <a:srgbClr val="333333"/>
                </a:solidFill>
                <a:latin typeface="Arial"/>
              </a:rPr>
              <a:t>examination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936991" y="2651760"/>
            <a:ext cx="219457" cy="0"/>
          </a:xfrm>
          <a:prstGeom prst="line">
            <a:avLst/>
          </a:prstGeom>
          <a:ln w="25400">
            <a:solidFill>
              <a:srgbClr val="76767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3879" y="2148840"/>
            <a:ext cx="160020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333333"/>
                </a:solidFill>
                <a:latin typeface="Arial"/>
              </a:rPr>
              <a:t>Transient / safety</a:t>
            </a:r>
          </a:p>
          <a:p>
            <a:pPr algn="ctr"/>
            <a:r>
              <a:rPr sz="1400" b="0">
                <a:solidFill>
                  <a:srgbClr val="333333"/>
                </a:solidFill>
                <a:latin typeface="Arial"/>
              </a:rPr>
              <a:t>testing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811511" y="2651760"/>
            <a:ext cx="219457" cy="0"/>
          </a:xfrm>
          <a:prstGeom prst="line">
            <a:avLst/>
          </a:prstGeom>
          <a:ln w="25400">
            <a:solidFill>
              <a:srgbClr val="76767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0058400" y="2148840"/>
            <a:ext cx="1600200" cy="1005840"/>
          </a:xfrm>
          <a:prstGeom prst="round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Licensing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09459" y="3200400"/>
            <a:ext cx="0" cy="365760"/>
          </a:xfrm>
          <a:prstGeom prst="line">
            <a:avLst/>
          </a:prstGeom>
          <a:ln w="25400">
            <a:solidFill>
              <a:srgbClr val="76767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485900" y="3566160"/>
            <a:ext cx="5623559" cy="0"/>
          </a:xfrm>
          <a:prstGeom prst="line">
            <a:avLst/>
          </a:prstGeom>
          <a:ln w="25400">
            <a:solidFill>
              <a:srgbClr val="76767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485900" y="3200400"/>
            <a:ext cx="0" cy="365760"/>
          </a:xfrm>
          <a:prstGeom prst="line">
            <a:avLst/>
          </a:prstGeom>
          <a:ln w="25400">
            <a:solidFill>
              <a:srgbClr val="76767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423160" y="3611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67676"/>
                </a:solidFill>
                <a:latin typeface="Arial"/>
              </a:rPr>
              <a:t>unexpected failure → redesign and repeat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0624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600"/>
              </a:spcAft>
              <a:buChar char="•"/>
            </a:pPr>
            <a:r>
              <a:rPr sz="2200">
                <a:solidFill>
                  <a:srgbClr val="333333"/>
                </a:solidFill>
                <a:latin typeface="Arial"/>
              </a:rPr>
              <a:t>Relies heavily on empirical data from a series of sequential integral tests</a:t>
            </a:r>
          </a:p>
          <a:p>
            <a:pPr marL="285750" indent="-285750">
              <a:spcAft>
                <a:spcPts val="600"/>
              </a:spcAft>
              <a:buChar char="•"/>
            </a:pPr>
            <a:r>
              <a:rPr sz="2200">
                <a:solidFill>
                  <a:srgbClr val="333333"/>
                </a:solidFill>
                <a:latin typeface="Arial"/>
              </a:rPr>
              <a:t>Historically has taken 20 years or longer to build a qualification database</a:t>
            </a:r>
          </a:p>
          <a:p>
            <a:pPr marL="285750" indent="-285750">
              <a:spcAft>
                <a:spcPts val="600"/>
              </a:spcAft>
              <a:buChar char="•"/>
            </a:pPr>
            <a:r>
              <a:rPr sz="2200">
                <a:solidFill>
                  <a:srgbClr val="333333"/>
                </a:solidFill>
                <a:latin typeface="Arial"/>
              </a:rPr>
              <a:t>Particularly slow for non-LWR fuels with high burnup and multi-year lifetimes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ED13D8C5-2625-944D-A346-88684E6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Is It So Slow?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/>
          <a:lstStyle/>
          <a:p>
            <a:r>
              <a:rPr sz="2200"/>
              <a:t>Burnup accumulates on the timescale of the test reactor, not the experimenter</a:t>
            </a:r>
          </a:p>
          <a:p>
            <a:pPr lvl="1"/>
            <a:r>
              <a:rPr sz="2000"/>
              <a:t>multi-year irradiations are needed to reach high burnup at prototypic fission rates</a:t>
            </a:r>
          </a:p>
          <a:p>
            <a:r>
              <a:rPr sz="2200"/>
              <a:t>Test reactor space is limited, and irradiated specimens need cooling before PIE</a:t>
            </a:r>
          </a:p>
          <a:p>
            <a:r>
              <a:rPr sz="2200"/>
              <a:t>PIE in hot cells is slow and expensive</a:t>
            </a:r>
          </a:p>
          <a:p>
            <a:r>
              <a:rPr sz="2200"/>
              <a:t>Sequential design: a failure late in the program sends you back to the beginning</a:t>
            </a:r>
          </a:p>
          <a:p>
            <a:r>
              <a:rPr sz="2200"/>
              <a:t>Test fuel must be representative of production fuel</a:t>
            </a:r>
          </a:p>
          <a:p>
            <a:pPr lvl="1"/>
            <a:r>
              <a:rPr sz="2000"/>
              <a:t>changing the fabrication process can invalidate prior irradiation data</a:t>
            </a:r>
          </a:p>
          <a:p>
            <a:r>
              <a:rPr sz="2200"/>
              <a:t>Largely empirical understanding transfers poorly to new designs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3D8C5-2625-944D-A346-88684E6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t>Fuel qualification framework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3D8C5-2625-944D-A346-88684E6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NUREG-2246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/>
          <a:lstStyle/>
          <a:p>
            <a:r>
              <a:rPr sz="2400"/>
              <a:t>Issued by the NRC in March 2022 (draft for comment June 2021)</a:t>
            </a:r>
          </a:p>
          <a:p>
            <a:r>
              <a:rPr sz="2400"/>
              <a:t>Provides a fuel qualification assessment framework that would satisfy regulatory requirements</a:t>
            </a:r>
          </a:p>
          <a:p>
            <a:r>
              <a:rPr sz="2400"/>
              <a:t>Top-down approach: high-level regulatory requirements are supported by lower-level, objective goals</a:t>
            </a:r>
          </a:p>
          <a:p>
            <a:pPr lvl="1"/>
            <a:r>
              <a:rPr sz="2000"/>
              <a:t>methodical, and provides some assurance of completeness when a fuel is claimed to be qualified</a:t>
            </a:r>
          </a:p>
          <a:p>
            <a:r>
              <a:rPr sz="2400"/>
              <a:t>Applicable to operating licenses, design certifications, combined licenses, manufacturing licenses, and standard design approvals</a:t>
            </a:r>
          </a:p>
          <a:p>
            <a:r>
              <a:rPr sz="2400"/>
              <a:t>Technology-inclusive: intended to apply across solid fuel forms</a:t>
            </a:r>
          </a:p>
          <a:p>
            <a:pPr lvl="1"/>
            <a:r>
              <a:rPr sz="2000"/>
              <a:t>non-solid fuels (e.g., MSR fuel salt) may require additional or alternative criteria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3D8C5-2625-944D-A346-88684E6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Framework 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13048" y="1874519"/>
            <a:ext cx="4572000" cy="822960"/>
          </a:xfrm>
          <a:prstGeom prst="round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Fuel is qualified for its intended use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200400"/>
            <a:ext cx="45720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333333"/>
                </a:solidFill>
                <a:latin typeface="Arial"/>
              </a:rPr>
              <a:t>G1: Fabrication</a:t>
            </a:r>
          </a:p>
          <a:p>
            <a:pPr algn="ctr"/>
            <a:r>
              <a:rPr sz="1600" b="0">
                <a:solidFill>
                  <a:srgbClr val="333333"/>
                </a:solidFill>
                <a:latin typeface="Arial"/>
              </a:rPr>
              <a:t>fuel manufactured per its specification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02552" y="3200400"/>
            <a:ext cx="45720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333333"/>
                </a:solidFill>
                <a:latin typeface="Arial"/>
              </a:rPr>
              <a:t>G2: Performance</a:t>
            </a:r>
          </a:p>
          <a:p>
            <a:pPr algn="ctr"/>
            <a:r>
              <a:rPr sz="1600" b="0">
                <a:solidFill>
                  <a:srgbClr val="333333"/>
                </a:solidFill>
                <a:latin typeface="Arial"/>
              </a:rPr>
              <a:t>fuel performs as described in the safety case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3200400" y="2697480"/>
            <a:ext cx="1737360" cy="484632"/>
          </a:xfrm>
          <a:prstGeom prst="line">
            <a:avLst/>
          </a:prstGeom>
          <a:ln w="25400">
            <a:solidFill>
              <a:srgbClr val="76767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251192" y="2697480"/>
            <a:ext cx="1737360" cy="484632"/>
          </a:xfrm>
          <a:prstGeom prst="line">
            <a:avLst/>
          </a:prstGeom>
          <a:ln w="25400">
            <a:solidFill>
              <a:srgbClr val="76767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914400" y="4572000"/>
            <a:ext cx="2240280" cy="11430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333333"/>
                </a:solidFill>
                <a:latin typeface="Arial"/>
              </a:rPr>
              <a:t>Key manufacturing</a:t>
            </a:r>
          </a:p>
          <a:p>
            <a:pPr algn="ctr"/>
            <a:r>
              <a:rPr sz="1600" b="0">
                <a:solidFill>
                  <a:srgbClr val="333333"/>
                </a:solidFill>
                <a:latin typeface="Arial"/>
              </a:rPr>
              <a:t>parameters identified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4572000"/>
            <a:ext cx="2240280" cy="11430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333333"/>
                </a:solidFill>
                <a:latin typeface="Arial"/>
              </a:rPr>
              <a:t>Process and quality</a:t>
            </a:r>
          </a:p>
          <a:p>
            <a:pPr algn="ctr"/>
            <a:r>
              <a:rPr sz="1600" b="0">
                <a:solidFill>
                  <a:srgbClr val="333333"/>
                </a:solidFill>
                <a:latin typeface="Arial"/>
              </a:rPr>
              <a:t>controls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02552" y="4572000"/>
            <a:ext cx="1481328" cy="11430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0">
                <a:solidFill>
                  <a:srgbClr val="333333"/>
                </a:solidFill>
                <a:latin typeface="Arial"/>
              </a:rPr>
              <a:t>Design limits for normal</a:t>
            </a:r>
          </a:p>
          <a:p>
            <a:pPr algn="ctr"/>
            <a:r>
              <a:rPr sz="1300" b="0">
                <a:solidFill>
                  <a:srgbClr val="333333"/>
                </a:solidFill>
                <a:latin typeface="Arial"/>
              </a:rPr>
              <a:t>operation and AOOs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4572000"/>
            <a:ext cx="1481328" cy="11430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0">
                <a:solidFill>
                  <a:srgbClr val="333333"/>
                </a:solidFill>
                <a:latin typeface="Arial"/>
              </a:rPr>
              <a:t>Radionuclide retention</a:t>
            </a:r>
          </a:p>
          <a:p>
            <a:pPr algn="ctr"/>
            <a:r>
              <a:rPr sz="1300" b="0">
                <a:solidFill>
                  <a:srgbClr val="333333"/>
                </a:solidFill>
                <a:latin typeface="Arial"/>
              </a:rPr>
              <a:t>requirements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48088" y="4572000"/>
            <a:ext cx="1481328" cy="11430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0">
                <a:solidFill>
                  <a:srgbClr val="333333"/>
                </a:solidFill>
                <a:latin typeface="Arial"/>
              </a:rPr>
              <a:t>Evaluation models</a:t>
            </a:r>
          </a:p>
          <a:p>
            <a:pPr algn="ctr"/>
            <a:r>
              <a:rPr sz="1300" b="0">
                <a:solidFill>
                  <a:srgbClr val="333333"/>
                </a:solidFill>
                <a:latin typeface="Arial"/>
              </a:rPr>
              <a:t>and supporting data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ED13D8C5-2625-944D-A346-88684E6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Framework Emphasizes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/>
          <a:lstStyle/>
          <a:p>
            <a:r>
              <a:rPr sz="2400"/>
              <a:t>Key fuel manufacturing parameters</a:t>
            </a:r>
          </a:p>
          <a:p>
            <a:pPr lvl="1"/>
            <a:r>
              <a:rPr sz="2000"/>
              <a:t>which as-fabricated attributes actually control performance, and how they are controlled</a:t>
            </a:r>
          </a:p>
          <a:p>
            <a:r>
              <a:rPr sz="2400"/>
              <a:t>A fuel performance envelope</a:t>
            </a:r>
          </a:p>
          <a:p>
            <a:pPr lvl="1"/>
            <a:r>
              <a:rPr sz="2000"/>
              <a:t>the conditions the fuel must survive; this is what defines testing requirements</a:t>
            </a:r>
          </a:p>
          <a:p>
            <a:r>
              <a:rPr sz="2400"/>
              <a:t>Evaluation models</a:t>
            </a:r>
          </a:p>
          <a:p>
            <a:pPr lvl="1"/>
            <a:r>
              <a:rPr sz="2000"/>
              <a:t>models used to predict fuel behavior within the envelope, and their validation</a:t>
            </a:r>
          </a:p>
          <a:p>
            <a:r>
              <a:rPr sz="2400"/>
              <a:t>Assessment of the experimental data</a:t>
            </a:r>
          </a:p>
          <a:p>
            <a:pPr lvl="1"/>
            <a:r>
              <a:rPr sz="2000"/>
              <a:t>data used to develop and validate models and empirical safety criteria must be adequate in quality and coverage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3D8C5-2625-944D-A346-88684E6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Models and PIRT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/>
          <a:lstStyle/>
          <a:p>
            <a:r>
              <a:rPr sz="2400"/>
              <a:t>An evaluation model links the test data to the licensing safety case</a:t>
            </a:r>
          </a:p>
          <a:p>
            <a:r>
              <a:rPr sz="2400"/>
              <a:t>The PIRT (Phenomena Identification and Ranking Table) process is one acceptable method to identify the phenomena a model must capture</a:t>
            </a:r>
          </a:p>
          <a:p>
            <a:pPr lvl="1"/>
            <a:r>
              <a:rPr sz="2000"/>
              <a:t>used for Cr-coated Zr cladding guidance (ATF-ISG-2020-01)</a:t>
            </a:r>
          </a:p>
          <a:p>
            <a:pPr lvl="1"/>
            <a:r>
              <a:rPr sz="2000"/>
              <a:t>see Regulatory Guide 1.203 for the PIRT and evaluation model development process</a:t>
            </a:r>
          </a:p>
          <a:p>
            <a:r>
              <a:rPr sz="2400"/>
              <a:t>The framework allows a graded approach</a:t>
            </a:r>
          </a:p>
          <a:p>
            <a:pPr lvl="1"/>
            <a:r>
              <a:rPr sz="2000"/>
              <a:t>simplified, conservative models can be used to reduce data requirements</a:t>
            </a:r>
          </a:p>
          <a:p>
            <a:pPr lvl="1"/>
            <a:r>
              <a:rPr sz="2000"/>
              <a:t>the trade-off: more conservatism means less operating margin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3D8C5-2625-944D-A346-88684E6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Lead Test Specimens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/>
          <a:lstStyle/>
          <a:p>
            <a:r>
              <a:rPr sz="2400"/>
              <a:t>Lead test specimens (or lead test assemblies) are irradiated ahead of the rest of the fuel</a:t>
            </a:r>
          </a:p>
          <a:p>
            <a:r>
              <a:rPr sz="2400"/>
              <a:t>Used successfully in operating reactors, and discussed in NUREG-0800, Section 4.2</a:t>
            </a:r>
          </a:p>
          <a:p>
            <a:r>
              <a:rPr sz="2400"/>
              <a:t>NUREG-2246 considers lead test specimen programs as a way to shorten qualification timelines</a:t>
            </a:r>
          </a:p>
          <a:p>
            <a:pPr lvl="1"/>
            <a:r>
              <a:rPr sz="2000"/>
              <a:t>begin operation within an already-supported envelope</a:t>
            </a:r>
          </a:p>
          <a:p>
            <a:pPr lvl="1"/>
            <a:r>
              <a:rPr sz="2000"/>
              <a:t>extend burnup or operating limits as lead specimens demonstrate performance</a:t>
            </a:r>
          </a:p>
          <a:p>
            <a:r>
              <a:rPr sz="2400"/>
              <a:t>Implication: fuel qualification does not have to be complete before first operation, but the operating envelope is limited until data exist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3D8C5-2625-944D-A346-88684E6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t>Accelerated fuel qualification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3D8C5-2625-944D-A346-88684E6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AFQ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/>
          <a:lstStyle/>
          <a:p>
            <a:r>
              <a:rPr sz="2400"/>
              <a:t>Proposed approach to transform and accelerate fuel development and qualification (Terrani et al., 2020)</a:t>
            </a:r>
          </a:p>
          <a:p>
            <a:r>
              <a:rPr sz="2400"/>
              <a:t>Use advanced modeling and simulation at the outset</a:t>
            </a:r>
          </a:p>
          <a:p>
            <a:pPr lvl="1"/>
            <a:r>
              <a:rPr sz="2000"/>
              <a:t>inform constituent and system selection</a:t>
            </a:r>
          </a:p>
          <a:p>
            <a:pPr lvl="1"/>
            <a:r>
              <a:rPr sz="2000"/>
              <a:t>enable integral fuel performance analyses</a:t>
            </a:r>
          </a:p>
          <a:p>
            <a:r>
              <a:rPr sz="2400"/>
              <a:t>Modeling identifies and prioritizes the most important fuel performance parameters and phenomena</a:t>
            </a:r>
          </a:p>
          <a:p>
            <a:r>
              <a:rPr sz="2400"/>
              <a:t>These are then characterized with targeted separate-effects tests, both out-of-pile and in-pile</a:t>
            </a:r>
          </a:p>
          <a:p>
            <a:r>
              <a:rPr sz="2400"/>
              <a:t>Integral tests shift from discovery toward confirmation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3D8C5-2625-944D-A346-88684E6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Conventional vs. AFQ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7451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33333"/>
                </a:solidFill>
                <a:latin typeface="Arial"/>
              </a:rPr>
              <a:t>Conventional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87451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C0000"/>
                </a:solidFill>
                <a:latin typeface="Arial"/>
              </a:rPr>
              <a:t>Accelerated (AFQ)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2514600"/>
            <a:ext cx="3657600" cy="530352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333333"/>
                </a:solidFill>
                <a:latin typeface="Arial"/>
              </a:rPr>
              <a:t>Fabricate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46120" y="3063240"/>
            <a:ext cx="0" cy="182880"/>
          </a:xfrm>
          <a:prstGeom prst="line">
            <a:avLst/>
          </a:prstGeom>
          <a:ln w="25400">
            <a:solidFill>
              <a:srgbClr val="76767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417320" y="3264408"/>
            <a:ext cx="3657600" cy="530352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333333"/>
                </a:solidFill>
                <a:latin typeface="Arial"/>
              </a:rPr>
              <a:t>Integral irradiation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46120" y="3813048"/>
            <a:ext cx="0" cy="182880"/>
          </a:xfrm>
          <a:prstGeom prst="line">
            <a:avLst/>
          </a:prstGeom>
          <a:ln w="25400">
            <a:solidFill>
              <a:srgbClr val="76767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417320" y="4014215"/>
            <a:ext cx="3657600" cy="530352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333333"/>
                </a:solidFill>
                <a:latin typeface="Arial"/>
              </a:rPr>
              <a:t>PIE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46120" y="4562855"/>
            <a:ext cx="0" cy="182881"/>
          </a:xfrm>
          <a:prstGeom prst="line">
            <a:avLst/>
          </a:prstGeom>
          <a:ln w="25400">
            <a:solidFill>
              <a:srgbClr val="76767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417320" y="4764024"/>
            <a:ext cx="3657600" cy="530352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333333"/>
                </a:solidFill>
                <a:latin typeface="Arial"/>
              </a:rPr>
              <a:t>Empirical correlations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46120" y="5312664"/>
            <a:ext cx="0" cy="182880"/>
          </a:xfrm>
          <a:prstGeom prst="line">
            <a:avLst/>
          </a:prstGeom>
          <a:ln w="25400">
            <a:solidFill>
              <a:srgbClr val="76767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417320" y="5513831"/>
            <a:ext cx="3657600" cy="530352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333333"/>
                </a:solidFill>
                <a:latin typeface="Arial"/>
              </a:rPr>
              <a:t>Qualified envelope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2514600"/>
            <a:ext cx="3017520" cy="640080"/>
          </a:xfrm>
          <a:prstGeom prst="round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Modeling &amp; simulation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3886200"/>
            <a:ext cx="2377440" cy="8229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0">
                <a:solidFill>
                  <a:srgbClr val="333333"/>
                </a:solidFill>
                <a:latin typeface="Arial"/>
              </a:rPr>
              <a:t>Separate-effects</a:t>
            </a:r>
          </a:p>
          <a:p>
            <a:pPr algn="ctr"/>
            <a:r>
              <a:rPr sz="1400" b="0">
                <a:solidFill>
                  <a:srgbClr val="333333"/>
                </a:solidFill>
                <a:latin typeface="Arial"/>
              </a:rPr>
              <a:t>tests (out-of-pile)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18320" y="3886200"/>
            <a:ext cx="2377440" cy="8229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0">
                <a:solidFill>
                  <a:srgbClr val="333333"/>
                </a:solidFill>
                <a:latin typeface="Arial"/>
              </a:rPr>
              <a:t>Separate-effects</a:t>
            </a:r>
          </a:p>
          <a:p>
            <a:pPr algn="ctr"/>
            <a:r>
              <a:rPr sz="1400" b="0">
                <a:solidFill>
                  <a:srgbClr val="333333"/>
                </a:solidFill>
                <a:latin typeface="Arial"/>
              </a:rPr>
              <a:t>tests (in-pile)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5349240"/>
            <a:ext cx="301752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333333"/>
                </a:solidFill>
                <a:latin typeface="Arial"/>
              </a:rPr>
              <a:t>Integral confirmation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7680960" y="3172968"/>
            <a:ext cx="548640" cy="694944"/>
          </a:xfrm>
          <a:prstGeom prst="line">
            <a:avLst/>
          </a:prstGeom>
          <a:ln w="25400">
            <a:solidFill>
              <a:srgbClr val="76767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058400" y="3172968"/>
            <a:ext cx="548640" cy="694944"/>
          </a:xfrm>
          <a:prstGeom prst="line">
            <a:avLst/>
          </a:prstGeom>
          <a:ln w="25400">
            <a:solidFill>
              <a:srgbClr val="76767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680960" y="4727448"/>
            <a:ext cx="731520" cy="603504"/>
          </a:xfrm>
          <a:prstGeom prst="line">
            <a:avLst/>
          </a:prstGeom>
          <a:ln w="25400">
            <a:solidFill>
              <a:srgbClr val="76767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9875520" y="4727448"/>
            <a:ext cx="731520" cy="603504"/>
          </a:xfrm>
          <a:prstGeom prst="line">
            <a:avLst/>
          </a:prstGeom>
          <a:ln w="25400">
            <a:solidFill>
              <a:srgbClr val="76767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ED13D8C5-2625-944D-A346-88684E6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Separate-Effects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2648" y="1965960"/>
            <a:ext cx="5349240" cy="4160520"/>
          </a:xfrm>
        </p:spPr>
        <p:txBody>
          <a:bodyPr/>
          <a:lstStyle/>
          <a:p>
            <a:r>
              <a:rPr sz="2200"/>
              <a:t>Isolate one phenomenon at a time under controlled conditions</a:t>
            </a:r>
          </a:p>
          <a:p>
            <a:pPr lvl="1"/>
            <a:r>
              <a:rPr sz="1800"/>
              <a:t>thermal conductivity, creep, swelling, fission gas release, chemical interaction</a:t>
            </a:r>
          </a:p>
          <a:p>
            <a:r>
              <a:rPr sz="2200"/>
              <a:t>Out-of-pile: property measurements, diffusion couples, furnace tests, ion irradiation</a:t>
            </a:r>
          </a:p>
          <a:p>
            <a:r>
              <a:rPr sz="2200"/>
              <a:t>In-pile: small specimens, controlled temperature, instrumented where possible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5352" y="1965960"/>
            <a:ext cx="5349240" cy="4160520"/>
          </a:xfrm>
        </p:spPr>
        <p:txBody>
          <a:bodyPr/>
          <a:lstStyle/>
          <a:p>
            <a:r>
              <a:rPr sz="2200"/>
              <a:t>Miniature fuel specimens reduce irradiation volume, cost, and PIE burden</a:t>
            </a:r>
          </a:p>
          <a:p>
            <a:pPr lvl="1"/>
            <a:r>
              <a:rPr sz="1800"/>
              <a:t>e.g., Petrie et al., J. Nucl. Mater. 526 (2019) 151783</a:t>
            </a:r>
          </a:p>
          <a:p>
            <a:r>
              <a:rPr sz="2200"/>
              <a:t>Accelerated-burnup capsule designs</a:t>
            </a:r>
          </a:p>
          <a:p>
            <a:pPr lvl="1"/>
            <a:r>
              <a:rPr sz="1800"/>
              <a:t>e.g., Beausoleil et al., Nucl. Technol. (2019)</a:t>
            </a:r>
          </a:p>
          <a:p>
            <a:r>
              <a:rPr sz="2200"/>
              <a:t>Data are only useful if they feed parameters in a mechanistic model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3D8C5-2625-944D-A346-88684E6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Catch: Non-Prototypical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/>
          <a:lstStyle/>
          <a:p>
            <a:r>
              <a:rPr sz="2400"/>
              <a:t>Accelerated tests intentionally depart from reactor conditions</a:t>
            </a:r>
          </a:p>
          <a:p>
            <a:pPr lvl="1"/>
            <a:r>
              <a:rPr sz="2000"/>
              <a:t>higher fission rates, altered burnup accumulation, small geometries, ions instead of neutrons</a:t>
            </a:r>
          </a:p>
          <a:p>
            <a:r>
              <a:rPr sz="2400"/>
              <a:t>Some quantities scale differently than others</a:t>
            </a:r>
          </a:p>
          <a:p>
            <a:pPr lvl="1"/>
            <a:r>
              <a:rPr sz="2000"/>
              <a:t>e.g., in the FAST accelerated approach, fuel burnup is accelerated but dose to the cladding is not</a:t>
            </a:r>
          </a:p>
          <a:p>
            <a:r>
              <a:rPr sz="2400"/>
              <a:t>An intimate connection to mechanistic modeling is required to account for these non-prototypicalities</a:t>
            </a:r>
          </a:p>
          <a:p>
            <a:r>
              <a:rPr sz="2400"/>
              <a:t>Consequence: AFQ moves the burden from test duration to model credibility</a:t>
            </a:r>
          </a:p>
          <a:p>
            <a:pPr lvl="1"/>
            <a:r>
              <a:rPr sz="2000"/>
              <a:t>models must be validated, and the regulator must accept the argument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3D8C5-2625-944D-A346-88684E6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Limits of AFQ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/>
          <a:lstStyle/>
          <a:p>
            <a:r>
              <a:rPr sz="2400"/>
              <a:t>Models can only capture phenomena someone thought to include</a:t>
            </a:r>
          </a:p>
          <a:p>
            <a:pPr lvl="1"/>
            <a:r>
              <a:rPr sz="2000"/>
              <a:t>PIRT completeness is a judgment, and unknown-unknowns are the historical cause of fuel failures</a:t>
            </a:r>
          </a:p>
          <a:p>
            <a:r>
              <a:rPr sz="2400"/>
              <a:t>Separate-effects data may miss coupled behavior</a:t>
            </a:r>
          </a:p>
          <a:p>
            <a:pPr lvl="1"/>
            <a:r>
              <a:rPr sz="2000"/>
              <a:t>e.g., interactions between swelling, temperature, chemistry, and mechanical contact</a:t>
            </a:r>
          </a:p>
          <a:p>
            <a:r>
              <a:rPr sz="2400"/>
              <a:t>Integral tests are reduced, not eliminated</a:t>
            </a:r>
          </a:p>
          <a:p>
            <a:r>
              <a:rPr sz="2400"/>
              <a:t>Fabrication still must be reproducible and representative</a:t>
            </a:r>
          </a:p>
          <a:p>
            <a:r>
              <a:rPr sz="2400"/>
              <a:t>Discussion question: which phenomena in the fuels from this course would be hardest to predict without integral data?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3D8C5-2625-944D-A346-88684E6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t>Case studies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3D8C5-2625-944D-A346-88684E6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AGR Fuel Program: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/>
          <a:lstStyle/>
          <a:p>
            <a:r>
              <a:rPr sz="2200"/>
              <a:t>DOE Advanced Gas Reactor Fuel Development and Qualification Program, started in 2002</a:t>
            </a:r>
          </a:p>
          <a:p>
            <a:r>
              <a:rPr sz="2200"/>
              <a:t>The most recent large-scale fuel qualification campaign in the US</a:t>
            </a:r>
          </a:p>
          <a:p>
            <a:r>
              <a:rPr sz="2200"/>
              <a:t>Why it was needed</a:t>
            </a:r>
          </a:p>
          <a:p>
            <a:pPr lvl="1"/>
            <a:r>
              <a:rPr sz="1800"/>
              <a:t>the last US LEU TRISO irradiation (HRB-21, early 1990s) substantially exceeded expected particle failure and fission product release</a:t>
            </a:r>
          </a:p>
          <a:p>
            <a:pPr lvl="1"/>
            <a:r>
              <a:rPr sz="1800"/>
              <a:t>modular HTGRs aim to meet EPA Protective Action Guides at the exclusion area boundary, requiring fuel integrity far better than prior US TRISO</a:t>
            </a:r>
          </a:p>
          <a:p>
            <a:r>
              <a:rPr sz="2200"/>
              <a:t>Program goals</a:t>
            </a:r>
          </a:p>
          <a:p>
            <a:pPr lvl="1"/>
            <a:r>
              <a:rPr sz="1800"/>
              <a:t>provide a fuel qualification dataset to support HTGR licensing</a:t>
            </a:r>
          </a:p>
          <a:p>
            <a:pPr lvl="1"/>
            <a:r>
              <a:rPr sz="1800"/>
              <a:t>establish a domestic commercial TRISO fuel vendor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3D8C5-2625-944D-A346-88684E6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TRISO and Functional Containment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/>
          <a:lstStyle/>
          <a:p>
            <a:r>
              <a:rPr sz="2200"/>
              <a:t>TRISO fuel is at the heart of the safety case for modular HTGRs</a:t>
            </a:r>
          </a:p>
          <a:p>
            <a:r>
              <a:rPr sz="2200"/>
              <a:t>Key component of the "functional containment" licensing strategy</a:t>
            </a:r>
          </a:p>
          <a:p>
            <a:pPr lvl="1"/>
            <a:r>
              <a:rPr sz="1800"/>
              <a:t>radionuclides retained within multiple barriers, with emphasis on retention at their source in the fuel</a:t>
            </a:r>
          </a:p>
          <a:p>
            <a:r>
              <a:rPr sz="2200"/>
              <a:t>Qualification therefore requires demonstrating</a:t>
            </a:r>
          </a:p>
          <a:p>
            <a:pPr lvl="1"/>
            <a:r>
              <a:rPr sz="1800"/>
              <a:t>high-quality, low-defect fabrication</a:t>
            </a:r>
          </a:p>
          <a:p>
            <a:pPr lvl="1"/>
            <a:r>
              <a:rPr sz="1800"/>
              <a:t>robust performance during irradiation and high-temperature transients</a:t>
            </a:r>
          </a:p>
          <a:p>
            <a:pPr lvl="1"/>
            <a:r>
              <a:rPr sz="1800"/>
              <a:t>low fission product release</a:t>
            </a:r>
          </a:p>
          <a:p>
            <a:r>
              <a:rPr sz="2200"/>
              <a:t>With no VHTR design available at program start, fuel requirements were drawn from GT-MHR pre-conceptual design documentation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3D8C5-2625-944D-A346-88684E6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AGR Program Elements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270248" y="1920240"/>
            <a:ext cx="3657600" cy="777240"/>
          </a:xfrm>
          <a:prstGeom prst="round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Fuel qualification dataset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447" y="3429000"/>
            <a:ext cx="20116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1">
                <a:solidFill>
                  <a:srgbClr val="333333"/>
                </a:solidFill>
                <a:latin typeface="Arial"/>
              </a:rPr>
              <a:t>Fuel</a:t>
            </a:r>
          </a:p>
          <a:p>
            <a:pPr algn="ctr"/>
            <a:r>
              <a:rPr sz="1500" b="0">
                <a:solidFill>
                  <a:srgbClr val="333333"/>
                </a:solidFill>
                <a:latin typeface="Arial"/>
              </a:rPr>
              <a:t>fabrication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1615287" y="2715768"/>
            <a:ext cx="3386481" cy="694944"/>
          </a:xfrm>
          <a:prstGeom prst="line">
            <a:avLst/>
          </a:prstGeom>
          <a:ln w="25400">
            <a:solidFill>
              <a:srgbClr val="76767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849727" y="3429000"/>
            <a:ext cx="20116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1">
                <a:solidFill>
                  <a:srgbClr val="333333"/>
                </a:solidFill>
                <a:latin typeface="Arial"/>
              </a:rPr>
              <a:t>Fuel</a:t>
            </a:r>
          </a:p>
          <a:p>
            <a:pPr algn="ctr"/>
            <a:r>
              <a:rPr sz="1500" b="0">
                <a:solidFill>
                  <a:srgbClr val="333333"/>
                </a:solidFill>
                <a:latin typeface="Arial"/>
              </a:rPr>
              <a:t>irradiation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3855567" y="2715768"/>
            <a:ext cx="1694841" cy="694944"/>
          </a:xfrm>
          <a:prstGeom prst="line">
            <a:avLst/>
          </a:prstGeom>
          <a:ln w="25400">
            <a:solidFill>
              <a:srgbClr val="76767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90007" y="3429000"/>
            <a:ext cx="20116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1">
                <a:solidFill>
                  <a:srgbClr val="333333"/>
                </a:solidFill>
                <a:latin typeface="Arial"/>
              </a:rPr>
              <a:t>PIE and</a:t>
            </a:r>
          </a:p>
          <a:p>
            <a:pPr algn="ctr"/>
            <a:r>
              <a:rPr sz="1500" b="0">
                <a:solidFill>
                  <a:srgbClr val="333333"/>
                </a:solidFill>
                <a:latin typeface="Arial"/>
              </a:rPr>
              <a:t>safety testing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6095847" y="2715768"/>
            <a:ext cx="3201" cy="694944"/>
          </a:xfrm>
          <a:prstGeom prst="line">
            <a:avLst/>
          </a:prstGeom>
          <a:ln w="25400">
            <a:solidFill>
              <a:srgbClr val="76767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30287" y="3429000"/>
            <a:ext cx="20116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1">
                <a:solidFill>
                  <a:srgbClr val="333333"/>
                </a:solidFill>
                <a:latin typeface="Arial"/>
              </a:rPr>
              <a:t>Fuel performance</a:t>
            </a:r>
          </a:p>
          <a:p>
            <a:pPr algn="ctr"/>
            <a:r>
              <a:rPr sz="1500" b="0">
                <a:solidFill>
                  <a:srgbClr val="333333"/>
                </a:solidFill>
                <a:latin typeface="Arial"/>
              </a:rPr>
              <a:t>modeling</a:t>
            </a:r>
          </a:p>
        </p:txBody>
      </p:sp>
      <p:cxnSp>
        <p:nvCxnSpPr>
          <p:cNvPr id="11" name="Connector 10"/>
          <p:cNvCxnSpPr/>
          <p:nvPr/>
        </p:nvCxnSpPr>
        <p:spPr>
          <a:xfrm flipH="1" flipV="1">
            <a:off x="6647688" y="2715768"/>
            <a:ext cx="1688439" cy="694944"/>
          </a:xfrm>
          <a:prstGeom prst="line">
            <a:avLst/>
          </a:prstGeom>
          <a:ln w="25400">
            <a:solidFill>
              <a:srgbClr val="76767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570567" y="3429000"/>
            <a:ext cx="20116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1">
                <a:solidFill>
                  <a:srgbClr val="333333"/>
                </a:solidFill>
                <a:latin typeface="Arial"/>
              </a:rPr>
              <a:t>Fission product</a:t>
            </a:r>
          </a:p>
          <a:p>
            <a:pPr algn="ctr"/>
            <a:r>
              <a:rPr sz="1500" b="0">
                <a:solidFill>
                  <a:srgbClr val="333333"/>
                </a:solidFill>
                <a:latin typeface="Arial"/>
              </a:rPr>
              <a:t>transport &amp; source term</a:t>
            </a:r>
          </a:p>
        </p:txBody>
      </p:sp>
      <p:cxnSp>
        <p:nvCxnSpPr>
          <p:cNvPr id="13" name="Connector 12"/>
          <p:cNvCxnSpPr/>
          <p:nvPr/>
        </p:nvCxnSpPr>
        <p:spPr>
          <a:xfrm flipH="1" flipV="1">
            <a:off x="7196328" y="2715768"/>
            <a:ext cx="3380079" cy="694944"/>
          </a:xfrm>
          <a:prstGeom prst="line">
            <a:avLst/>
          </a:prstGeom>
          <a:ln w="25400">
            <a:solidFill>
              <a:srgbClr val="76767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48920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333333"/>
                </a:solidFill>
                <a:latin typeface="Arial"/>
              </a:rPr>
              <a:t>Participants: INL, ORNL, BWXT, General Atomics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4406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767676"/>
                </a:solidFill>
                <a:latin typeface="Arial"/>
              </a:rPr>
              <a:t>Irradiations in INL's Advanced Test Reactor; coating process developed to replicate German particles with superior irradiation and accident performance</a:t>
            </a:r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ED13D8C5-2625-944D-A346-88684E6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AGR Irradiation Campaigns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14019" y="2011680"/>
            <a:ext cx="2514600" cy="685800"/>
          </a:xfrm>
          <a:prstGeom prst="round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AGR-1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4019" y="2834640"/>
            <a:ext cx="251460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r>
              <a:rPr sz="1500" b="1">
                <a:solidFill>
                  <a:srgbClr val="333333"/>
                </a:solidFill>
                <a:latin typeface="Arial"/>
              </a:rPr>
              <a:t>Lab-scale fuel (2-in. coater)</a:t>
            </a:r>
          </a:p>
          <a:p>
            <a:pPr algn="ctr"/>
            <a:endParaRPr sz="1500" b="1">
              <a:solidFill>
                <a:srgbClr val="333333"/>
              </a:solidFill>
              <a:latin typeface="Arial"/>
            </a:endParaRPr>
          </a:p>
          <a:p>
            <a:pPr algn="ctr"/>
            <a:r>
              <a:rPr sz="1500" b="0">
                <a:solidFill>
                  <a:srgbClr val="333333"/>
                </a:solidFill>
                <a:latin typeface="Arial"/>
              </a:rPr>
              <a:t>Early performance test; shakedown of the test train design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156051" y="2354580"/>
            <a:ext cx="246888" cy="0"/>
          </a:xfrm>
          <a:prstGeom prst="line">
            <a:avLst/>
          </a:prstGeom>
          <a:ln w="25400">
            <a:solidFill>
              <a:srgbClr val="76767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430371" y="2011680"/>
            <a:ext cx="2514600" cy="685800"/>
          </a:xfrm>
          <a:prstGeom prst="round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AGR-2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30371" y="2834640"/>
            <a:ext cx="251460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r>
              <a:rPr sz="1500" b="1">
                <a:solidFill>
                  <a:srgbClr val="333333"/>
                </a:solidFill>
                <a:latin typeface="Arial"/>
              </a:rPr>
              <a:t>Scaled-up fuel</a:t>
            </a:r>
          </a:p>
          <a:p>
            <a:pPr algn="ctr"/>
            <a:endParaRPr sz="1500" b="1">
              <a:solidFill>
                <a:srgbClr val="333333"/>
              </a:solidFill>
              <a:latin typeface="Arial"/>
            </a:endParaRPr>
          </a:p>
          <a:p>
            <a:pPr algn="ctr"/>
            <a:r>
              <a:rPr sz="1500" b="0">
                <a:solidFill>
                  <a:srgbClr val="333333"/>
                </a:solidFill>
                <a:latin typeface="Arial"/>
              </a:rPr>
              <a:t>Engineering-scale particles and compacts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72403" y="2354580"/>
            <a:ext cx="246888" cy="0"/>
          </a:xfrm>
          <a:prstGeom prst="line">
            <a:avLst/>
          </a:prstGeom>
          <a:ln w="25400">
            <a:solidFill>
              <a:srgbClr val="76767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246723" y="2011680"/>
            <a:ext cx="2514600" cy="685800"/>
          </a:xfrm>
          <a:prstGeom prst="round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AGR-3/4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6723" y="2834640"/>
            <a:ext cx="251460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r>
              <a:rPr sz="1500" b="1">
                <a:solidFill>
                  <a:srgbClr val="333333"/>
                </a:solidFill>
                <a:latin typeface="Arial"/>
              </a:rPr>
              <a:t>Designed-to-fail fuel</a:t>
            </a:r>
          </a:p>
          <a:p>
            <a:pPr algn="ctr"/>
            <a:endParaRPr sz="1500" b="1">
              <a:solidFill>
                <a:srgbClr val="333333"/>
              </a:solidFill>
              <a:latin typeface="Arial"/>
            </a:endParaRPr>
          </a:p>
          <a:p>
            <a:pPr algn="ctr"/>
            <a:r>
              <a:rPr sz="1500" b="0">
                <a:solidFill>
                  <a:srgbClr val="333333"/>
                </a:solidFill>
                <a:latin typeface="Arial"/>
              </a:rPr>
              <a:t>Fission product retention and transport in core materials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788755" y="2354580"/>
            <a:ext cx="246888" cy="0"/>
          </a:xfrm>
          <a:prstGeom prst="line">
            <a:avLst/>
          </a:prstGeom>
          <a:ln w="25400">
            <a:solidFill>
              <a:srgbClr val="76767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063075" y="2011680"/>
            <a:ext cx="2514600" cy="685800"/>
          </a:xfrm>
          <a:prstGeom prst="round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AGR-5/6/7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63075" y="2834640"/>
            <a:ext cx="251460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r>
              <a:rPr sz="1500" b="1">
                <a:solidFill>
                  <a:srgbClr val="333333"/>
                </a:solidFill>
                <a:latin typeface="Arial"/>
              </a:rPr>
              <a:t>Qualification test fuel</a:t>
            </a:r>
          </a:p>
          <a:p>
            <a:pPr algn="ctr"/>
            <a:endParaRPr sz="1500" b="1">
              <a:solidFill>
                <a:srgbClr val="333333"/>
              </a:solidFill>
              <a:latin typeface="Arial"/>
            </a:endParaRPr>
          </a:p>
          <a:p>
            <a:pPr algn="ctr"/>
            <a:r>
              <a:rPr sz="1500" b="0">
                <a:solidFill>
                  <a:srgbClr val="333333"/>
                </a:solidFill>
                <a:latin typeface="Arial"/>
              </a:rPr>
              <a:t>Normal and accident conditions; margin to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4406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33333"/>
                </a:solidFill>
                <a:latin typeface="Arial"/>
              </a:rPr>
              <a:t>Each campaign: fabrication → ATR irradiation → PIE → high-temperature safety testing</a:t>
            </a:r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ED13D8C5-2625-944D-A346-88684E6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AGR PIE and Safety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/>
          <a:lstStyle/>
          <a:p>
            <a:r>
              <a:rPr sz="2200"/>
              <a:t>Irradiated compacts are heated to high temperatures after irradiation to simulate accident conditions</a:t>
            </a:r>
          </a:p>
          <a:p>
            <a:pPr lvl="1"/>
            <a:r>
              <a:rPr sz="1800"/>
              <a:t>evaluates behavior during depressurized loss of forced cooling (D-LOFC) events</a:t>
            </a:r>
          </a:p>
          <a:p>
            <a:r>
              <a:rPr sz="2200"/>
              <a:t>Fission gas release-to-birth ratios (R/B) monitored during irradiation</a:t>
            </a:r>
          </a:p>
          <a:p>
            <a:r>
              <a:rPr sz="2200"/>
              <a:t>Fission product release measured from compacts (e.g., AGR-1 and AGR-2)</a:t>
            </a:r>
          </a:p>
          <a:p>
            <a:r>
              <a:rPr sz="2200"/>
              <a:t>Locating and examining failed particles greatly improved understanding of fuel performance</a:t>
            </a:r>
          </a:p>
          <a:p>
            <a:r>
              <a:rPr sz="2200"/>
              <a:t>Kernel and coating behavior characterized to support fuel performance models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3D8C5-2625-944D-A346-88684E6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Interim Milestone: EPRI Topical Report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783080" y="2743200"/>
            <a:ext cx="8641080" cy="0"/>
          </a:xfrm>
          <a:prstGeom prst="line">
            <a:avLst/>
          </a:prstGeom>
          <a:ln w="38100">
            <a:solidFill>
              <a:srgbClr val="767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627632" y="2587752"/>
            <a:ext cx="310896" cy="310896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59" y="2011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C0000"/>
                </a:solidFill>
                <a:latin typeface="Arial"/>
              </a:rPr>
              <a:t>2002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59" y="3063240"/>
            <a:ext cx="2377440" cy="86868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0">
                <a:solidFill>
                  <a:srgbClr val="333333"/>
                </a:solidFill>
                <a:latin typeface="Arial"/>
              </a:rPr>
              <a:t>AGR program</a:t>
            </a:r>
          </a:p>
          <a:p>
            <a:pPr algn="ctr"/>
            <a:r>
              <a:rPr sz="1500" b="0">
                <a:solidFill>
                  <a:srgbClr val="333333"/>
                </a:solidFill>
                <a:latin typeface="Arial"/>
              </a:rPr>
              <a:t>begins</a:t>
            </a:r>
          </a:p>
        </p:txBody>
      </p:sp>
      <p:sp>
        <p:nvSpPr>
          <p:cNvPr id="7" name="Oval 6"/>
          <p:cNvSpPr/>
          <p:nvPr/>
        </p:nvSpPr>
        <p:spPr>
          <a:xfrm>
            <a:off x="4507992" y="2587752"/>
            <a:ext cx="310896" cy="310896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0" y="2011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C0000"/>
                </a:solidFill>
                <a:latin typeface="Arial"/>
              </a:rPr>
              <a:t>May 2019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3063240"/>
            <a:ext cx="2377440" cy="86868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0">
                <a:solidFill>
                  <a:srgbClr val="333333"/>
                </a:solidFill>
                <a:latin typeface="Arial"/>
              </a:rPr>
              <a:t>EPRI topical report</a:t>
            </a:r>
          </a:p>
          <a:p>
            <a:pPr algn="ctr"/>
            <a:r>
              <a:rPr sz="1500" b="0">
                <a:solidFill>
                  <a:srgbClr val="333333"/>
                </a:solidFill>
                <a:latin typeface="Arial"/>
              </a:rPr>
              <a:t>submitted to NRC</a:t>
            </a:r>
          </a:p>
        </p:txBody>
      </p:sp>
      <p:sp>
        <p:nvSpPr>
          <p:cNvPr id="10" name="Oval 9"/>
          <p:cNvSpPr/>
          <p:nvPr/>
        </p:nvSpPr>
        <p:spPr>
          <a:xfrm>
            <a:off x="7388352" y="2587752"/>
            <a:ext cx="310896" cy="310896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2011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C0000"/>
                </a:solidFill>
                <a:latin typeface="Arial"/>
              </a:rPr>
              <a:t>Aug 2020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3063240"/>
            <a:ext cx="2377440" cy="86868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0">
                <a:solidFill>
                  <a:srgbClr val="333333"/>
                </a:solidFill>
                <a:latin typeface="Arial"/>
              </a:rPr>
              <a:t>NRC final safety</a:t>
            </a:r>
          </a:p>
          <a:p>
            <a:pPr algn="ctr"/>
            <a:r>
              <a:rPr sz="1500" b="0">
                <a:solidFill>
                  <a:srgbClr val="333333"/>
                </a:solidFill>
                <a:latin typeface="Arial"/>
              </a:rPr>
              <a:t>evaluation issued</a:t>
            </a:r>
          </a:p>
        </p:txBody>
      </p:sp>
      <p:sp>
        <p:nvSpPr>
          <p:cNvPr id="13" name="Oval 12"/>
          <p:cNvSpPr/>
          <p:nvPr/>
        </p:nvSpPr>
        <p:spPr>
          <a:xfrm>
            <a:off x="10268711" y="2587752"/>
            <a:ext cx="310896" cy="310896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35439" y="2011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C0000"/>
                </a:solidFill>
                <a:latin typeface="Arial"/>
              </a:rPr>
              <a:t>Nov 2020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39" y="3063240"/>
            <a:ext cx="2377440" cy="86868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0">
                <a:solidFill>
                  <a:srgbClr val="333333"/>
                </a:solidFill>
                <a:latin typeface="Arial"/>
              </a:rPr>
              <a:t>Approved report</a:t>
            </a:r>
          </a:p>
          <a:p>
            <a:pPr algn="ctr"/>
            <a:r>
              <a:rPr sz="1500" b="0">
                <a:solidFill>
                  <a:srgbClr val="333333"/>
                </a:solidFill>
                <a:latin typeface="Arial"/>
              </a:rPr>
              <a:t>published (-A)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4340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600"/>
              </a:spcAft>
              <a:buChar char="•"/>
            </a:pPr>
            <a:r>
              <a:rPr sz="1800">
                <a:solidFill>
                  <a:srgbClr val="333333"/>
                </a:solidFill>
                <a:latin typeface="Arial"/>
              </a:rPr>
              <a:t>EPRI-AR-1(NP) consolidates AGR-1 and AGR-2 results as a performance demonstration of UCO TRISO particles</a:t>
            </a:r>
          </a:p>
          <a:p>
            <a:pPr marL="285750" indent="-285750">
              <a:spcAft>
                <a:spcPts val="600"/>
              </a:spcAft>
              <a:buChar char="•"/>
            </a:pPr>
            <a:r>
              <a:rPr sz="1800">
                <a:solidFill>
                  <a:srgbClr val="333333"/>
                </a:solidFill>
                <a:latin typeface="Arial"/>
              </a:rPr>
              <a:t>NRC approval of the topical report is not qualification of the fuel; AGR-3/4 and AGR-5/6/7 provide further qualification data</a:t>
            </a:r>
          </a:p>
          <a:p>
            <a:pPr marL="285750" indent="-285750">
              <a:spcAft>
                <a:spcPts val="600"/>
              </a:spcAft>
              <a:buChar char="•"/>
            </a:pPr>
            <a:r>
              <a:rPr sz="1800">
                <a:solidFill>
                  <a:srgbClr val="333333"/>
                </a:solidFill>
                <a:latin typeface="Arial"/>
              </a:rPr>
              <a:t>Condition: applicants must evaluate discrepancies between their particles and the AGR particles (e.g., kernel size effects on stresses)</a:t>
            </a:r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ED13D8C5-2625-944D-A346-88684E6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AGR Lessons for Qualification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/>
          <a:lstStyle/>
          <a:p>
            <a:r>
              <a:rPr sz="2200"/>
              <a:t>About 18 years from program start (2002) to an approved topical report (2020), based only on AGR-1 and AGR-2</a:t>
            </a:r>
          </a:p>
          <a:p>
            <a:pPr lvl="1"/>
            <a:r>
              <a:rPr sz="1800"/>
              <a:t>an interim milestone, not fuel qualification; AGR-3/4 and AGR-5/6/7 were still required</a:t>
            </a:r>
          </a:p>
          <a:p>
            <a:r>
              <a:rPr sz="2200"/>
              <a:t>A conventional, data-driven program, but with modern characterization, statistics, and modeling support</a:t>
            </a:r>
          </a:p>
          <a:p>
            <a:r>
              <a:rPr sz="2200"/>
              <a:t>Qualification data transfer only within bounds</a:t>
            </a:r>
          </a:p>
          <a:p>
            <a:pPr lvl="1"/>
            <a:r>
              <a:rPr sz="1800"/>
              <a:t>the approval condition requires each applicant to justify that its particles match the tested population</a:t>
            </a:r>
          </a:p>
          <a:p>
            <a:r>
              <a:rPr sz="2200"/>
              <a:t>Shows why fabrication specification is part of qualification: the data belong to a process, not just a material</a:t>
            </a:r>
          </a:p>
          <a:p>
            <a:r>
              <a:rPr sz="2200"/>
              <a:t>Discussion: what parts of AGR could an AFQ approach shorten, and which could it not?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3D8C5-2625-944D-A346-88684E6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Metallic Fuel: NUREG/CR-7305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/>
          <a:lstStyle/>
          <a:p>
            <a:r>
              <a:rPr sz="2400"/>
              <a:t>NRC-sponsored assessment of sodium-cooled fast-spectrum metallic fuel against the NUREG-2246 framework</a:t>
            </a:r>
          </a:p>
          <a:p>
            <a:r>
              <a:rPr sz="2400"/>
              <a:t>Scope: U-10wt%Zr, up to 10 at% burnup</a:t>
            </a:r>
          </a:p>
          <a:p>
            <a:r>
              <a:rPr sz="2400"/>
              <a:t>Documents the available experimental measurements, simulation capability, and historical knowledge and lessons learned</a:t>
            </a:r>
          </a:p>
          <a:p>
            <a:r>
              <a:rPr sz="2400"/>
              <a:t>Connection to earlier lectures</a:t>
            </a:r>
          </a:p>
          <a:p>
            <a:pPr lvl="1"/>
            <a:r>
              <a:rPr sz="2000"/>
              <a:t>EBR-II and FFTF data form the legacy database</a:t>
            </a:r>
          </a:p>
          <a:p>
            <a:pPr lvl="1"/>
            <a:r>
              <a:rPr sz="2000"/>
              <a:t>the modeling gaps we discussed (redistribution, porosity, FCCI) are exactly what limits an evaluation model</a:t>
            </a:r>
          </a:p>
          <a:p>
            <a:r>
              <a:rPr sz="2400"/>
              <a:t>Useful example of applying the framework to a fuel with a large but aging database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3D8C5-2625-944D-A346-88684E6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AFQ in Practice: GA-EMS FMR Fuel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/>
          <a:lstStyle/>
          <a:p>
            <a:r>
              <a:rPr sz="2400"/>
              <a:t>GA-EMS is applying the AFQ methodology to Fast Modular Reactor (FMR) fuel</a:t>
            </a:r>
          </a:p>
          <a:p>
            <a:r>
              <a:rPr sz="2400"/>
              <a:t>Target: qualify the new fuel in 5 years or less</a:t>
            </a:r>
          </a:p>
          <a:p>
            <a:r>
              <a:rPr sz="2400"/>
              <a:t>Why AFQ is needed here</a:t>
            </a:r>
          </a:p>
          <a:p>
            <a:pPr lvl="1"/>
            <a:r>
              <a:rPr sz="2000"/>
              <a:t>target burnup is beyond the range of existing material property models (thermal conductivity, swelling)</a:t>
            </a:r>
          </a:p>
          <a:p>
            <a:pPr lvl="1"/>
            <a:r>
              <a:rPr sz="2000"/>
              <a:t>SiGA, a SiC-based cladding, is a new material for reactor applications</a:t>
            </a:r>
          </a:p>
          <a:p>
            <a:r>
              <a:rPr sz="2400"/>
              <a:t>Approach pairs modeling and simulation with irradiation testing in a thermal reactor</a:t>
            </a:r>
          </a:p>
          <a:p>
            <a:pPr lvl="1"/>
            <a:r>
              <a:rPr sz="2000"/>
              <a:t>itself a non-prototypical condition for a fast reactor fuel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3D8C5-2625-944D-A346-88684E6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t>Structural materials code qualification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3D8C5-2625-944D-A346-88684E6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Codes for Reactor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/>
          <a:lstStyle/>
          <a:p>
            <a:r>
              <a:rPr sz="2400"/>
              <a:t>ASME Boiler and Pressure Vessel Code, Section III: rules for nuclear components</a:t>
            </a:r>
          </a:p>
          <a:p>
            <a:pPr lvl="1"/>
            <a:r>
              <a:rPr sz="2000"/>
              <a:t>Division 1: conventional (LWR-type) components</a:t>
            </a:r>
          </a:p>
          <a:p>
            <a:pPr lvl="1"/>
            <a:r>
              <a:rPr sz="2000"/>
              <a:t>Division 5: high temperature reactors</a:t>
            </a:r>
          </a:p>
          <a:p>
            <a:r>
              <a:rPr sz="2400"/>
              <a:t>Division 5 applies where time-dependent (creep) behavior matters</a:t>
            </a:r>
          </a:p>
          <a:p>
            <a:pPr lvl="1"/>
            <a:r>
              <a:rPr sz="2000"/>
              <a:t>design allowables depend on both temperature and time</a:t>
            </a:r>
          </a:p>
          <a:p>
            <a:pPr lvl="1"/>
            <a:r>
              <a:rPr sz="2000"/>
              <a:t>creep and creep-fatigue damage must be evaluated</a:t>
            </a:r>
          </a:p>
          <a:p>
            <a:r>
              <a:rPr sz="2400"/>
              <a:t>A material not listed in the code cannot simply be used in a code-stamped component</a:t>
            </a:r>
          </a:p>
          <a:p>
            <a:r>
              <a:rPr sz="2400"/>
              <a:t>The regulator then endorses the code, with or without conditions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3D8C5-2625-944D-A346-88684E6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Data Does a New Alloy Need?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2648" y="1965960"/>
            <a:ext cx="5349240" cy="4160520"/>
          </a:xfrm>
        </p:spPr>
        <p:txBody>
          <a:bodyPr/>
          <a:lstStyle/>
          <a:p>
            <a:r>
              <a:rPr sz="2400"/>
              <a:t>Time-independent properties</a:t>
            </a:r>
          </a:p>
          <a:p>
            <a:pPr lvl="1"/>
            <a:r>
              <a:rPr sz="2000"/>
              <a:t>tensile, yield, physical properties over temperature</a:t>
            </a:r>
          </a:p>
          <a:p>
            <a:r>
              <a:rPr sz="2400"/>
              <a:t>Time-dependent properties</a:t>
            </a:r>
          </a:p>
          <a:p>
            <a:pPr lvl="1"/>
            <a:r>
              <a:rPr sz="2000"/>
              <a:t>creep rupture and creep strain curves</a:t>
            </a:r>
          </a:p>
          <a:p>
            <a:pPr lvl="1"/>
            <a:r>
              <a:rPr sz="2000"/>
              <a:t>isochronous stress–strain curves</a:t>
            </a:r>
          </a:p>
          <a:p>
            <a:pPr lvl="1"/>
            <a:r>
              <a:rPr sz="2000"/>
              <a:t>creep-fatigue interaction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5352" y="1965960"/>
            <a:ext cx="5349240" cy="4160520"/>
          </a:xfrm>
        </p:spPr>
        <p:txBody>
          <a:bodyPr/>
          <a:lstStyle/>
          <a:p>
            <a:r>
              <a:rPr sz="2400"/>
              <a:t>Weldments and product forms</a:t>
            </a:r>
          </a:p>
          <a:p>
            <a:pPr lvl="1"/>
            <a:r>
              <a:rPr sz="2000"/>
              <a:t>base metal behavior does not guarantee weld behavior</a:t>
            </a:r>
          </a:p>
          <a:p>
            <a:r>
              <a:rPr sz="2400"/>
              <a:t>Thermal aging effects over design life</a:t>
            </a:r>
          </a:p>
          <a:p>
            <a:r>
              <a:rPr sz="2400"/>
              <a:t>Environmental effects (coolant, impurities)</a:t>
            </a:r>
          </a:p>
          <a:p>
            <a:r>
              <a:rPr sz="2400"/>
              <a:t>Multiple heats, to capture material variability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3D8C5-2625-944D-A346-88684E6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Takes So Long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/>
          <a:lstStyle/>
          <a:p>
            <a:r>
              <a:rPr sz="2400"/>
              <a:t>Design lives of decades require extrapolating from much shorter tests</a:t>
            </a:r>
          </a:p>
          <a:p>
            <a:pPr lvl="1"/>
            <a:r>
              <a:rPr sz="2000"/>
              <a:t>long-term creep tests can run for years, and extrapolation must be justified</a:t>
            </a:r>
          </a:p>
          <a:p>
            <a:r>
              <a:rPr sz="2400"/>
              <a:t>Data must be generated on multiple heats and product forms</a:t>
            </a:r>
          </a:p>
          <a:p>
            <a:r>
              <a:rPr sz="2400"/>
              <a:t>Code committees must review and approve rules and allowables</a:t>
            </a:r>
          </a:p>
          <a:p>
            <a:r>
              <a:rPr sz="2400"/>
              <a:t>Regulatory endorsement adds another step</a:t>
            </a:r>
          </a:p>
          <a:p>
            <a:r>
              <a:rPr sz="2400"/>
              <a:t>Alloy 617 is the commonly cited example of a lengthy code qualification effort</a:t>
            </a:r>
          </a:p>
          <a:p>
            <a:r>
              <a:rPr sz="2400"/>
              <a:t>Irradiation effects are handled with limited treatment in the code</a:t>
            </a:r>
          </a:p>
          <a:p>
            <a:pPr lvl="1"/>
            <a:r>
              <a:rPr sz="2000"/>
              <a:t>designers often must address irradiation effects separately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3D8C5-2625-944D-A346-88684E6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Connecting Fuel and Structural Qualification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/>
          <a:lstStyle/>
          <a:p>
            <a:r>
              <a:rPr sz="2400"/>
              <a:t>Different processes, similar logic</a:t>
            </a:r>
          </a:p>
          <a:p>
            <a:pPr lvl="1"/>
            <a:r>
              <a:rPr sz="2000"/>
              <a:t>define the envelope, identify the controlling phenomena, generate data, build credible models</a:t>
            </a:r>
          </a:p>
          <a:p>
            <a:r>
              <a:rPr sz="2400"/>
              <a:t>Both are bottlenecks for advanced reactor deployment</a:t>
            </a:r>
          </a:p>
          <a:p>
            <a:r>
              <a:rPr sz="2400"/>
              <a:t>Both face the same tension</a:t>
            </a:r>
          </a:p>
          <a:p>
            <a:pPr lvl="1"/>
            <a:r>
              <a:rPr sz="2000"/>
              <a:t>accelerated and separate-effects data are faster</a:t>
            </a:r>
          </a:p>
          <a:p>
            <a:pPr lvl="1"/>
            <a:r>
              <a:rPr sz="2000"/>
              <a:t>the regulator and code bodies need confidence the data represent real service</a:t>
            </a:r>
          </a:p>
          <a:p>
            <a:r>
              <a:rPr sz="2400"/>
              <a:t>Materials choices in design often reflect what is already qualified, not what is best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3D8C5-2625-944D-A346-88684E6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t>Summary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3D8C5-2625-944D-A346-88684E6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65960"/>
            <a:ext cx="10972800" cy="4160520"/>
          </a:xfrm>
        </p:spPr>
        <p:txBody>
          <a:bodyPr/>
          <a:lstStyle/>
          <a:p>
            <a:r>
              <a:rPr sz="2200"/>
              <a:t>Qualification means high confidence that a material is made as specified and performs as the safety case claims, within a defined envelope</a:t>
            </a:r>
          </a:p>
          <a:p>
            <a:r>
              <a:rPr sz="2200"/>
              <a:t>Traditional fuel qualification is empirical and sequential, historically 20+ years; the AGR TRISO program (AGR-1 through AGR-5/6/7) is the modern benchmark</a:t>
            </a:r>
          </a:p>
          <a:p>
            <a:r>
              <a:rPr sz="2200"/>
              <a:t>NUREG-2246 provides a top-down framework: manufacturing parameters, performance envelope, evaluation models, data assessment</a:t>
            </a:r>
          </a:p>
          <a:p>
            <a:r>
              <a:rPr sz="2200"/>
              <a:t>AFQ front-loads modeling and uses targeted separate-effects tests, but shifts the burden to model credibility</a:t>
            </a:r>
          </a:p>
          <a:p>
            <a:r>
              <a:rPr sz="2200"/>
              <a:t>Lead test specimens allow operation to start before the full envelope is qualified</a:t>
            </a:r>
          </a:p>
          <a:p>
            <a:r>
              <a:rPr sz="2200"/>
              <a:t>Structural alloys face a parallel, slow path through ASME Section III Division 5 and regulatory endorsement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3D8C5-2625-944D-A346-88684E6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NCStateU-horizontal-left-log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Lec10_SFRs</Template>
  <TotalTime>40108</TotalTime>
  <Words>3450</Words>
  <Application>Microsoft Macintosh PowerPoint</Application>
  <PresentationFormat>Widescreen</PresentationFormat>
  <Paragraphs>345</Paragraphs>
  <Slides>35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1_NCStateU-horizontal-left-logo</vt:lpstr>
      <vt:lpstr>NE 763: Advanced Reactor Materials</vt:lpstr>
      <vt:lpstr>Why qualification matters</vt:lpstr>
      <vt:lpstr>What Does "Qualified" Mean?</vt:lpstr>
      <vt:lpstr>Why This Matters for Advanced Reactors</vt:lpstr>
      <vt:lpstr>The Traditional Approach</vt:lpstr>
      <vt:lpstr>Why Is It So Slow?</vt:lpstr>
      <vt:lpstr>Fuel qualification framework</vt:lpstr>
      <vt:lpstr>NUREG-2246 Framework</vt:lpstr>
      <vt:lpstr>Framework Structure</vt:lpstr>
      <vt:lpstr>What the Framework Emphasizes</vt:lpstr>
      <vt:lpstr>Evaluation Models and PIRT</vt:lpstr>
      <vt:lpstr>Lead Test Specimens</vt:lpstr>
      <vt:lpstr>Accelerated fuel qualification</vt:lpstr>
      <vt:lpstr>The AFQ Concept</vt:lpstr>
      <vt:lpstr>Conventional vs. AFQ</vt:lpstr>
      <vt:lpstr>Separate-Effects Testing</vt:lpstr>
      <vt:lpstr>The Catch: Non-Prototypical Conditions</vt:lpstr>
      <vt:lpstr>Limits of AFQ</vt:lpstr>
      <vt:lpstr>Case studies</vt:lpstr>
      <vt:lpstr>The AGR Fuel Program: Motivation</vt:lpstr>
      <vt:lpstr>TRISO and Functional Containment</vt:lpstr>
      <vt:lpstr>AGR Program Elements</vt:lpstr>
      <vt:lpstr>AGR Irradiation Campaigns</vt:lpstr>
      <vt:lpstr>AGR PIE and Safety Testing</vt:lpstr>
      <vt:lpstr>Interim Milestone: EPRI Topical Report</vt:lpstr>
      <vt:lpstr>AGR Lessons for Qualification</vt:lpstr>
      <vt:lpstr>Metallic Fuel: NUREG/CR-7305</vt:lpstr>
      <vt:lpstr>AFQ in Practice: GA-EMS FMR Fuel</vt:lpstr>
      <vt:lpstr>Structural materials code qualification</vt:lpstr>
      <vt:lpstr>Design Codes for Reactor Components</vt:lpstr>
      <vt:lpstr>What Data Does a New Alloy Need?</vt:lpstr>
      <vt:lpstr>Why It Takes So Long</vt:lpstr>
      <vt:lpstr>Connecting Fuel and Structural Qualification</vt:lpstr>
      <vt:lpstr>Summary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Fuel Fabrication</dc:title>
  <dc:creator>Ben Beeler</dc:creator>
  <cp:lastModifiedBy>Benjamin Beeler</cp:lastModifiedBy>
  <cp:revision>131</cp:revision>
  <dcterms:created xsi:type="dcterms:W3CDTF">2019-12-09T16:44:02Z</dcterms:created>
  <dcterms:modified xsi:type="dcterms:W3CDTF">2026-09-16T15:30:45Z</dcterms:modified>
</cp:coreProperties>
</file>
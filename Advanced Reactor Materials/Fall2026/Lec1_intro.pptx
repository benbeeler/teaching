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 id="2147483684" r:id="rId2"/>
  </p:sldMasterIdLst>
  <p:notesMasterIdLst>
    <p:notesMasterId r:id="rId23"/>
  </p:notesMasterIdLst>
  <p:sldIdLst>
    <p:sldId id="256" r:id="rId3"/>
    <p:sldId id="414" r:id="rId4"/>
    <p:sldId id="411" r:id="rId5"/>
    <p:sldId id="408" r:id="rId6"/>
    <p:sldId id="273" r:id="rId7"/>
    <p:sldId id="409" r:id="rId8"/>
    <p:sldId id="407" r:id="rId9"/>
    <p:sldId id="415" r:id="rId10"/>
    <p:sldId id="397" r:id="rId11"/>
    <p:sldId id="400" r:id="rId12"/>
    <p:sldId id="399" r:id="rId13"/>
    <p:sldId id="404" r:id="rId14"/>
    <p:sldId id="401" r:id="rId15"/>
    <p:sldId id="412" r:id="rId16"/>
    <p:sldId id="403" r:id="rId17"/>
    <p:sldId id="402" r:id="rId18"/>
    <p:sldId id="413" r:id="rId19"/>
    <p:sldId id="405" r:id="rId20"/>
    <p:sldId id="406" r:id="rId21"/>
    <p:sldId id="39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26"/>
  </p:normalViewPr>
  <p:slideViewPr>
    <p:cSldViewPr snapToGrid="0" snapToObjects="1">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DED3EB-7982-1A47-94FE-5B03335DF28F}" type="datetimeFigureOut">
              <a:rPr lang="en-US" smtClean="0"/>
              <a:t>8/17/26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C7A628-63A0-BB4C-80B2-1E4AE73B26A6}" type="slidenum">
              <a:rPr lang="en-US" smtClean="0"/>
              <a:t>‹#›</a:t>
            </a:fld>
            <a:endParaRPr lang="en-US"/>
          </a:p>
        </p:txBody>
      </p:sp>
    </p:spTree>
    <p:extLst>
      <p:ext uri="{BB962C8B-B14F-4D97-AF65-F5344CB8AC3E}">
        <p14:creationId xmlns:p14="http://schemas.microsoft.com/office/powerpoint/2010/main" val="10047937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2802D-2D03-BE49-97AF-DE25499D6F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A3C79BB-C53F-454F-8922-2B27391893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274EF80-FE65-ED4F-9FE0-B09E92D1EA8A}"/>
              </a:ext>
            </a:extLst>
          </p:cNvPr>
          <p:cNvSpPr>
            <a:spLocks noGrp="1"/>
          </p:cNvSpPr>
          <p:nvPr>
            <p:ph type="dt" sz="half" idx="10"/>
          </p:nvPr>
        </p:nvSpPr>
        <p:spPr/>
        <p:txBody>
          <a:bodyPr/>
          <a:lstStyle/>
          <a:p>
            <a:fld id="{8F26233B-545A-ED45-A58F-906A0CF9CD24}" type="datetime1">
              <a:rPr lang="en-US" smtClean="0"/>
              <a:t>8/17/26</a:t>
            </a:fld>
            <a:endParaRPr lang="en-US"/>
          </a:p>
        </p:txBody>
      </p:sp>
      <p:sp>
        <p:nvSpPr>
          <p:cNvPr id="5" name="Footer Placeholder 4">
            <a:extLst>
              <a:ext uri="{FF2B5EF4-FFF2-40B4-BE49-F238E27FC236}">
                <a16:creationId xmlns:a16="http://schemas.microsoft.com/office/drawing/2014/main" id="{679F942A-634C-BB40-9910-CBFA440686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942F66-DE68-D245-97C8-9A6FA1D0AEF4}"/>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13158650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5C586-3F5F-8148-BB1F-499EF949B08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6E2D30-D2E4-C24D-96F5-10BF4E04225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CC657D-8EE5-CB48-9FCB-F9F368C27214}"/>
              </a:ext>
            </a:extLst>
          </p:cNvPr>
          <p:cNvSpPr>
            <a:spLocks noGrp="1"/>
          </p:cNvSpPr>
          <p:nvPr>
            <p:ph type="dt" sz="half" idx="10"/>
          </p:nvPr>
        </p:nvSpPr>
        <p:spPr/>
        <p:txBody>
          <a:bodyPr/>
          <a:lstStyle/>
          <a:p>
            <a:fld id="{FAC48349-D4D1-0044-A547-FA21FE76B31B}" type="datetime1">
              <a:rPr lang="en-US" smtClean="0"/>
              <a:t>8/17/26</a:t>
            </a:fld>
            <a:endParaRPr lang="en-US"/>
          </a:p>
        </p:txBody>
      </p:sp>
      <p:sp>
        <p:nvSpPr>
          <p:cNvPr id="5" name="Footer Placeholder 4">
            <a:extLst>
              <a:ext uri="{FF2B5EF4-FFF2-40B4-BE49-F238E27FC236}">
                <a16:creationId xmlns:a16="http://schemas.microsoft.com/office/drawing/2014/main" id="{818A4680-2FCD-2C45-88DD-58DC3F0940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73DDA8-E64C-534E-9966-09CB65200A30}"/>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1233647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0776C-1D59-8049-88C7-A9CF31D468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A8B2CAF-2FC3-CE40-AFEE-BB0B1776B2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CE7856D-91AF-CD4F-BBB9-BB22C9E8644B}"/>
              </a:ext>
            </a:extLst>
          </p:cNvPr>
          <p:cNvSpPr>
            <a:spLocks noGrp="1"/>
          </p:cNvSpPr>
          <p:nvPr>
            <p:ph type="dt" sz="half" idx="10"/>
          </p:nvPr>
        </p:nvSpPr>
        <p:spPr/>
        <p:txBody>
          <a:bodyPr/>
          <a:lstStyle/>
          <a:p>
            <a:fld id="{579D99B1-8879-6C42-9564-3A8E414C062D}" type="datetime1">
              <a:rPr lang="en-US" smtClean="0"/>
              <a:t>8/17/26</a:t>
            </a:fld>
            <a:endParaRPr lang="en-US"/>
          </a:p>
        </p:txBody>
      </p:sp>
      <p:sp>
        <p:nvSpPr>
          <p:cNvPr id="5" name="Footer Placeholder 4">
            <a:extLst>
              <a:ext uri="{FF2B5EF4-FFF2-40B4-BE49-F238E27FC236}">
                <a16:creationId xmlns:a16="http://schemas.microsoft.com/office/drawing/2014/main" id="{16CE3E7E-C490-8847-8BD6-E8FF927245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48B10A-A8F3-4D47-8A42-C63FD91ED029}"/>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8437152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16C5A-058F-7443-BE51-F3484A7E13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6365D3-EC68-114D-9B11-DAB294D6F0D9}"/>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F729DA-5D8F-0D4A-9476-2A4B4565334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8E80497-C1FE-D547-B571-D69E574199AB}"/>
              </a:ext>
            </a:extLst>
          </p:cNvPr>
          <p:cNvSpPr>
            <a:spLocks noGrp="1"/>
          </p:cNvSpPr>
          <p:nvPr>
            <p:ph type="dt" sz="half" idx="10"/>
          </p:nvPr>
        </p:nvSpPr>
        <p:spPr/>
        <p:txBody>
          <a:bodyPr/>
          <a:lstStyle/>
          <a:p>
            <a:fld id="{88A2B43B-6094-AE4F-AD40-7E1E0BFCDC2E}" type="datetime1">
              <a:rPr lang="en-US" smtClean="0"/>
              <a:t>8/17/26</a:t>
            </a:fld>
            <a:endParaRPr lang="en-US"/>
          </a:p>
        </p:txBody>
      </p:sp>
      <p:sp>
        <p:nvSpPr>
          <p:cNvPr id="6" name="Footer Placeholder 5">
            <a:extLst>
              <a:ext uri="{FF2B5EF4-FFF2-40B4-BE49-F238E27FC236}">
                <a16:creationId xmlns:a16="http://schemas.microsoft.com/office/drawing/2014/main" id="{8AC48521-7F13-C445-8751-4E87C9A27F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E37EE6-7CA7-0E41-9D14-89950249757E}"/>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35721332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1FEF4-0D8E-DE46-AA71-05EE50ED029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FDD346F-A12C-C142-8A93-08AF8CD4FB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3A45F87-A4D7-9343-A334-BB0CFE4C10A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55EE44D-0A72-974F-A950-E6793FBEAC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63D733BD-E3C6-644A-BFEA-47849788004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682D901-6AD6-4A49-BB2B-6B6114E8DD7A}"/>
              </a:ext>
            </a:extLst>
          </p:cNvPr>
          <p:cNvSpPr>
            <a:spLocks noGrp="1"/>
          </p:cNvSpPr>
          <p:nvPr>
            <p:ph type="dt" sz="half" idx="10"/>
          </p:nvPr>
        </p:nvSpPr>
        <p:spPr/>
        <p:txBody>
          <a:bodyPr/>
          <a:lstStyle/>
          <a:p>
            <a:fld id="{1D173B7A-A6E5-654C-9529-39972D898641}" type="datetime1">
              <a:rPr lang="en-US" smtClean="0"/>
              <a:t>8/17/26</a:t>
            </a:fld>
            <a:endParaRPr lang="en-US"/>
          </a:p>
        </p:txBody>
      </p:sp>
      <p:sp>
        <p:nvSpPr>
          <p:cNvPr id="8" name="Footer Placeholder 7">
            <a:extLst>
              <a:ext uri="{FF2B5EF4-FFF2-40B4-BE49-F238E27FC236}">
                <a16:creationId xmlns:a16="http://schemas.microsoft.com/office/drawing/2014/main" id="{1AE8327C-C108-2948-9F3B-C5B7A290D5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1E731F0-A30E-CD44-8DE4-E483375638B1}"/>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652182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B4FD0-E6C0-4B4E-9F81-15DB2083772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913ED28-8A5F-F64A-8A93-8A03DD77CDF2}"/>
              </a:ext>
            </a:extLst>
          </p:cNvPr>
          <p:cNvSpPr>
            <a:spLocks noGrp="1"/>
          </p:cNvSpPr>
          <p:nvPr>
            <p:ph type="dt" sz="half" idx="10"/>
          </p:nvPr>
        </p:nvSpPr>
        <p:spPr/>
        <p:txBody>
          <a:bodyPr/>
          <a:lstStyle/>
          <a:p>
            <a:fld id="{FFFCCC14-E0BA-1648-B1FB-09BB6E2D3420}" type="datetime1">
              <a:rPr lang="en-US" smtClean="0"/>
              <a:t>8/17/26</a:t>
            </a:fld>
            <a:endParaRPr lang="en-US"/>
          </a:p>
        </p:txBody>
      </p:sp>
      <p:sp>
        <p:nvSpPr>
          <p:cNvPr id="4" name="Footer Placeholder 3">
            <a:extLst>
              <a:ext uri="{FF2B5EF4-FFF2-40B4-BE49-F238E27FC236}">
                <a16:creationId xmlns:a16="http://schemas.microsoft.com/office/drawing/2014/main" id="{5AB56722-EB54-8141-9FFB-B883395CC89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2943BF-772C-0847-97EA-D301AA5778E5}"/>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13978163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AB0981-B3E8-BA40-99FE-EA2C2AD9529B}"/>
              </a:ext>
            </a:extLst>
          </p:cNvPr>
          <p:cNvSpPr>
            <a:spLocks noGrp="1"/>
          </p:cNvSpPr>
          <p:nvPr>
            <p:ph type="dt" sz="half" idx="10"/>
          </p:nvPr>
        </p:nvSpPr>
        <p:spPr/>
        <p:txBody>
          <a:bodyPr/>
          <a:lstStyle/>
          <a:p>
            <a:fld id="{2AA1BC76-9A20-AE43-A0C3-CCB1F3D41949}" type="datetime1">
              <a:rPr lang="en-US" smtClean="0"/>
              <a:t>8/17/26</a:t>
            </a:fld>
            <a:endParaRPr lang="en-US"/>
          </a:p>
        </p:txBody>
      </p:sp>
      <p:sp>
        <p:nvSpPr>
          <p:cNvPr id="3" name="Footer Placeholder 2">
            <a:extLst>
              <a:ext uri="{FF2B5EF4-FFF2-40B4-BE49-F238E27FC236}">
                <a16:creationId xmlns:a16="http://schemas.microsoft.com/office/drawing/2014/main" id="{EE22584C-B9F3-5C46-B605-B2FB47395B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BE55008-FE08-E24B-9B3C-0A16B2CEE7C2}"/>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2396198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7EC03-3651-D14B-AEAB-3A7133F5A9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5F6D8CA-8B8C-944F-8C90-AE9CC8AC0A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354B7D9-B6E8-714F-A4A5-B28D20D3F8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86B4357-3269-4248-AEAA-3609D1B55016}"/>
              </a:ext>
            </a:extLst>
          </p:cNvPr>
          <p:cNvSpPr>
            <a:spLocks noGrp="1"/>
          </p:cNvSpPr>
          <p:nvPr>
            <p:ph type="dt" sz="half" idx="10"/>
          </p:nvPr>
        </p:nvSpPr>
        <p:spPr/>
        <p:txBody>
          <a:bodyPr/>
          <a:lstStyle/>
          <a:p>
            <a:fld id="{80B1846B-8A97-9241-82FB-EF27668D4FE3}" type="datetime1">
              <a:rPr lang="en-US" smtClean="0"/>
              <a:t>8/17/26</a:t>
            </a:fld>
            <a:endParaRPr lang="en-US"/>
          </a:p>
        </p:txBody>
      </p:sp>
      <p:sp>
        <p:nvSpPr>
          <p:cNvPr id="6" name="Footer Placeholder 5">
            <a:extLst>
              <a:ext uri="{FF2B5EF4-FFF2-40B4-BE49-F238E27FC236}">
                <a16:creationId xmlns:a16="http://schemas.microsoft.com/office/drawing/2014/main" id="{DC507DF4-EB73-9348-BA24-2E62ACB54F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BFC95E-AF76-2F40-8E6E-10EEB82B0CB8}"/>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956787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06BE1-1070-164D-B226-7BEB3337B9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9FE752A-35DB-4244-957A-47F0C249B8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5A8CC6-3E86-9E4C-B828-E55B4933B0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B05BC1C-7B9D-C646-8E67-4C98CDDA9FEA}"/>
              </a:ext>
            </a:extLst>
          </p:cNvPr>
          <p:cNvSpPr>
            <a:spLocks noGrp="1"/>
          </p:cNvSpPr>
          <p:nvPr>
            <p:ph type="dt" sz="half" idx="10"/>
          </p:nvPr>
        </p:nvSpPr>
        <p:spPr/>
        <p:txBody>
          <a:bodyPr/>
          <a:lstStyle/>
          <a:p>
            <a:fld id="{657C7D31-0545-FD4D-81B0-5B3447EF5C73}" type="datetime1">
              <a:rPr lang="en-US" smtClean="0"/>
              <a:t>8/17/26</a:t>
            </a:fld>
            <a:endParaRPr lang="en-US"/>
          </a:p>
        </p:txBody>
      </p:sp>
      <p:sp>
        <p:nvSpPr>
          <p:cNvPr id="6" name="Footer Placeholder 5">
            <a:extLst>
              <a:ext uri="{FF2B5EF4-FFF2-40B4-BE49-F238E27FC236}">
                <a16:creationId xmlns:a16="http://schemas.microsoft.com/office/drawing/2014/main" id="{4C79295E-F278-8441-AA89-1F2F8EB282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BFDEB5-4B8E-1143-AC2B-DDB5F2941463}"/>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2956445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A86B8-FDC8-A24B-A420-9A35290385C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1A81A36-D120-B846-BA83-5C4BFEA3627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5F6F14-E9DD-E146-A94A-4A7CA228F3D7}"/>
              </a:ext>
            </a:extLst>
          </p:cNvPr>
          <p:cNvSpPr>
            <a:spLocks noGrp="1"/>
          </p:cNvSpPr>
          <p:nvPr>
            <p:ph type="dt" sz="half" idx="10"/>
          </p:nvPr>
        </p:nvSpPr>
        <p:spPr/>
        <p:txBody>
          <a:bodyPr/>
          <a:lstStyle/>
          <a:p>
            <a:fld id="{CDC00785-8829-1941-B374-7913FD522C4E}" type="datetime1">
              <a:rPr lang="en-US" smtClean="0"/>
              <a:t>8/17/26</a:t>
            </a:fld>
            <a:endParaRPr lang="en-US"/>
          </a:p>
        </p:txBody>
      </p:sp>
      <p:sp>
        <p:nvSpPr>
          <p:cNvPr id="5" name="Footer Placeholder 4">
            <a:extLst>
              <a:ext uri="{FF2B5EF4-FFF2-40B4-BE49-F238E27FC236}">
                <a16:creationId xmlns:a16="http://schemas.microsoft.com/office/drawing/2014/main" id="{FF470E94-9F94-1649-8FE1-5341BF855B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1F5164-23F2-A840-AE31-9813D2137143}"/>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3020377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027D83-6F99-5343-9159-1F2E060A4D1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6F7CEDD-89DF-CC43-9E60-8FC65D4CFA73}"/>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BE88CF-EA17-6D4E-A676-D0DD2AEEE584}"/>
              </a:ext>
            </a:extLst>
          </p:cNvPr>
          <p:cNvSpPr>
            <a:spLocks noGrp="1"/>
          </p:cNvSpPr>
          <p:nvPr>
            <p:ph type="dt" sz="half" idx="10"/>
          </p:nvPr>
        </p:nvSpPr>
        <p:spPr/>
        <p:txBody>
          <a:bodyPr/>
          <a:lstStyle/>
          <a:p>
            <a:fld id="{F1EEC331-E4FA-4E48-9694-87E4C0E26396}" type="datetime1">
              <a:rPr lang="en-US" smtClean="0"/>
              <a:t>8/17/26</a:t>
            </a:fld>
            <a:endParaRPr lang="en-US"/>
          </a:p>
        </p:txBody>
      </p:sp>
      <p:sp>
        <p:nvSpPr>
          <p:cNvPr id="5" name="Footer Placeholder 4">
            <a:extLst>
              <a:ext uri="{FF2B5EF4-FFF2-40B4-BE49-F238E27FC236}">
                <a16:creationId xmlns:a16="http://schemas.microsoft.com/office/drawing/2014/main" id="{BEC857EE-AA9E-7744-B121-837829395A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05FA26-DD53-CA43-B54B-89E91BCDA11F}"/>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18746188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E03FD14D-963A-754D-86A1-8D677C531ED4}" type="datetime1">
              <a:rPr lang="en-US" smtClean="0"/>
              <a:t>8/17/26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1E82176-A547-F94B-AC51-D6E9C882CB88}" type="slidenum">
              <a:rPr lang="en-US"/>
              <a:pPr>
                <a:defRPr/>
              </a:pPr>
              <a:t>‹#›</a:t>
            </a:fld>
            <a:endParaRPr lang="en-US"/>
          </a:p>
        </p:txBody>
      </p:sp>
    </p:spTree>
    <p:extLst>
      <p:ext uri="{BB962C8B-B14F-4D97-AF65-F5344CB8AC3E}">
        <p14:creationId xmlns:p14="http://schemas.microsoft.com/office/powerpoint/2010/main" val="35790850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609600" y="2280746"/>
            <a:ext cx="10972800" cy="384541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1749DAA9-2AE3-7446-97CA-5588AC038FDA}" type="datetime1">
              <a:rPr lang="en-US" smtClean="0"/>
              <a:t>8/17/26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Tree>
    <p:extLst>
      <p:ext uri="{BB962C8B-B14F-4D97-AF65-F5344CB8AC3E}">
        <p14:creationId xmlns:p14="http://schemas.microsoft.com/office/powerpoint/2010/main" val="41331981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380751"/>
            <a:ext cx="10363200" cy="1362075"/>
          </a:xfrm>
        </p:spPr>
        <p:txBody>
          <a:bodyPr anchor="t"/>
          <a:lstStyle>
            <a:lvl1pPr algn="l">
              <a:defRPr sz="5333" b="1" cap="all"/>
            </a:lvl1pPr>
          </a:lstStyle>
          <a:p>
            <a:r>
              <a:rPr lang="en-US"/>
              <a:t>Click to edit Master title style</a:t>
            </a:r>
            <a:endParaRPr lang="en-US"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E432579F-21B4-B240-AD37-F26A2FE50C25}" type="datetime1">
              <a:rPr lang="en-US" smtClean="0"/>
              <a:t>8/17/26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DA6BD0F-ABBC-C14D-BC96-77BE126A748B}" type="slidenum">
              <a:rPr lang="en-US"/>
              <a:pPr>
                <a:defRPr/>
              </a:pPr>
              <a:t>‹#›</a:t>
            </a:fld>
            <a:endParaRPr lang="en-US"/>
          </a:p>
        </p:txBody>
      </p:sp>
    </p:spTree>
    <p:extLst>
      <p:ext uri="{BB962C8B-B14F-4D97-AF65-F5344CB8AC3E}">
        <p14:creationId xmlns:p14="http://schemas.microsoft.com/office/powerpoint/2010/main" val="28958942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968503"/>
            <a:ext cx="5384800" cy="41576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968503"/>
            <a:ext cx="5384800" cy="41576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2EF55602-D25A-1C46-85C6-6E926C8B39C0}" type="datetime1">
              <a:rPr lang="en-US" smtClean="0"/>
              <a:t>8/17/26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a:pPr>
                <a:defRPr/>
              </a:pPr>
              <a:t>‹#›</a:t>
            </a:fld>
            <a:endParaRPr lang="en-US"/>
          </a:p>
        </p:txBody>
      </p:sp>
    </p:spTree>
    <p:extLst>
      <p:ext uri="{BB962C8B-B14F-4D97-AF65-F5344CB8AC3E}">
        <p14:creationId xmlns:p14="http://schemas.microsoft.com/office/powerpoint/2010/main" val="32816575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defRPr/>
            </a:lvl1pPr>
          </a:lstStyle>
          <a:p>
            <a:r>
              <a:rPr lang="en-US"/>
              <a:t>Click to edit Master title style</a:t>
            </a:r>
            <a:endParaRPr lang="en-US" dirty="0"/>
          </a:p>
        </p:txBody>
      </p:sp>
      <p:sp>
        <p:nvSpPr>
          <p:cNvPr id="4" name="Content Placeholder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D24AA09B-6EE4-5A41-B01A-0B2EA2F56162}" type="datetime1">
              <a:rPr lang="en-US" smtClean="0"/>
              <a:t>8/17/26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13061839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78F15382-4059-BA40-AB5F-E3F2CA0BBF74}" type="datetime1">
              <a:rPr lang="en-US" smtClean="0"/>
              <a:t>8/17/26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AB7D4D-4E81-5B40-91F6-CF14C25F8623}" type="slidenum">
              <a:rPr lang="en-US"/>
              <a:pPr>
                <a:defRPr/>
              </a:pPr>
              <a:t>‹#›</a:t>
            </a:fld>
            <a:endParaRPr lang="en-US"/>
          </a:p>
        </p:txBody>
      </p:sp>
    </p:spTree>
    <p:extLst>
      <p:ext uri="{BB962C8B-B14F-4D97-AF65-F5344CB8AC3E}">
        <p14:creationId xmlns:p14="http://schemas.microsoft.com/office/powerpoint/2010/main" val="22838258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357C129-2241-544C-9C7B-9572E2192506}" type="datetime1">
              <a:rPr lang="en-US" smtClean="0"/>
              <a:t>8/17/26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35B2FA7-4FDB-5643-811E-7991DEE50B01}" type="slidenum">
              <a:rPr lang="en-US"/>
              <a:pPr>
                <a:defRPr/>
              </a:pPr>
              <a:t>‹#›</a:t>
            </a:fld>
            <a:endParaRPr lang="en-US"/>
          </a:p>
        </p:txBody>
      </p:sp>
    </p:spTree>
    <p:extLst>
      <p:ext uri="{BB962C8B-B14F-4D97-AF65-F5344CB8AC3E}">
        <p14:creationId xmlns:p14="http://schemas.microsoft.com/office/powerpoint/2010/main" val="7858319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5" y="273049"/>
            <a:ext cx="4011084" cy="1162051"/>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5" y="1435103"/>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5F2E0329-25EC-CF48-85F8-C4161B106AB6}" type="datetime1">
              <a:rPr lang="en-US" smtClean="0"/>
              <a:t>8/17/26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DD8B14-AE1E-054C-8668-93D0F0400A18}" type="slidenum">
              <a:rPr lang="en-US"/>
              <a:pPr>
                <a:defRPr/>
              </a:pPr>
              <a:t>‹#›</a:t>
            </a:fld>
            <a:endParaRPr lang="en-US"/>
          </a:p>
        </p:txBody>
      </p:sp>
    </p:spTree>
    <p:extLst>
      <p:ext uri="{BB962C8B-B14F-4D97-AF65-F5344CB8AC3E}">
        <p14:creationId xmlns:p14="http://schemas.microsoft.com/office/powerpoint/2010/main" val="31152809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9"/>
          </a:xfrm>
        </p:spPr>
        <p:txBody>
          <a:bodyPr anchor="b"/>
          <a:lstStyle>
            <a:lvl1pPr algn="l">
              <a:defRPr sz="2667" b="1"/>
            </a:lvl1pPr>
          </a:lstStyle>
          <a:p>
            <a:r>
              <a:rPr lang="en-US"/>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9"/>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94E36B3A-01B9-B740-B77D-B85A591E2048}" type="datetime1">
              <a:rPr lang="en-US" smtClean="0"/>
              <a:t>8/17/26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FEF0004-A563-C64B-9FAD-6198662E1BD1}" type="slidenum">
              <a:rPr lang="en-US"/>
              <a:pPr>
                <a:defRPr/>
              </a:pPr>
              <a:t>‹#›</a:t>
            </a:fld>
            <a:endParaRPr lang="en-US"/>
          </a:p>
        </p:txBody>
      </p:sp>
    </p:spTree>
    <p:extLst>
      <p:ext uri="{BB962C8B-B14F-4D97-AF65-F5344CB8AC3E}">
        <p14:creationId xmlns:p14="http://schemas.microsoft.com/office/powerpoint/2010/main" val="9855682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556700CE-AB42-254B-B250-B0450F85CFBA}" type="datetime1">
              <a:rPr lang="en-US" smtClean="0"/>
              <a:t>8/17/26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B9610A8-B29A-B34A-A0B5-3DF26A2EB850}" type="slidenum">
              <a:rPr lang="en-US"/>
              <a:pPr>
                <a:defRPr/>
              </a:pPr>
              <a:t>‹#›</a:t>
            </a:fld>
            <a:endParaRPr lang="en-US"/>
          </a:p>
        </p:txBody>
      </p:sp>
    </p:spTree>
    <p:extLst>
      <p:ext uri="{BB962C8B-B14F-4D97-AF65-F5344CB8AC3E}">
        <p14:creationId xmlns:p14="http://schemas.microsoft.com/office/powerpoint/2010/main" val="31364201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0"/>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F5ADB3B-1092-7C41-B925-2FBC4B857048}" type="datetime1">
              <a:rPr lang="en-US" smtClean="0"/>
              <a:t>8/17/26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12D0221-73D0-6245-9CCD-73A1D8FCB5E4}" type="slidenum">
              <a:rPr lang="en-US"/>
              <a:pPr>
                <a:defRPr/>
              </a:pPr>
              <a:t>‹#›</a:t>
            </a:fld>
            <a:endParaRPr lang="en-US"/>
          </a:p>
        </p:txBody>
      </p:sp>
    </p:spTree>
    <p:extLst>
      <p:ext uri="{BB962C8B-B14F-4D97-AF65-F5344CB8AC3E}">
        <p14:creationId xmlns:p14="http://schemas.microsoft.com/office/powerpoint/2010/main" val="778282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12B010-5E9E-E240-BC91-7846D2B278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163D9EB-2FC9-1848-BCB3-4904198DC0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744448-0A7D-184E-908E-72ADAF04E2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2FC56F-0D44-F647-9484-DD0583C22E9A}" type="datetime1">
              <a:rPr lang="en-US" smtClean="0"/>
              <a:t>8/17/26</a:t>
            </a:fld>
            <a:endParaRPr lang="en-US"/>
          </a:p>
        </p:txBody>
      </p:sp>
      <p:sp>
        <p:nvSpPr>
          <p:cNvPr id="5" name="Footer Placeholder 4">
            <a:extLst>
              <a:ext uri="{FF2B5EF4-FFF2-40B4-BE49-F238E27FC236}">
                <a16:creationId xmlns:a16="http://schemas.microsoft.com/office/drawing/2014/main" id="{B9886183-444C-E749-AEE5-FEA7D7D6E2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0918D00-42C1-B442-BC2B-ECBBCB6471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424F7F-1103-A749-AA35-91DD36B89A7B}" type="slidenum">
              <a:rPr lang="en-US" smtClean="0"/>
              <a:t>‹#›</a:t>
            </a:fld>
            <a:endParaRPr lang="en-US"/>
          </a:p>
        </p:txBody>
      </p:sp>
    </p:spTree>
    <p:extLst>
      <p:ext uri="{BB962C8B-B14F-4D97-AF65-F5344CB8AC3E}">
        <p14:creationId xmlns:p14="http://schemas.microsoft.com/office/powerpoint/2010/main" val="68145156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900113"/>
            <a:ext cx="10972800" cy="10683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dirty="0"/>
              <a:t>Headline Line One</a:t>
            </a:r>
            <a:br>
              <a:rPr lang="en-US" dirty="0"/>
            </a:br>
            <a:r>
              <a:rPr lang="en-US" dirty="0"/>
              <a:t>Headline Line Two</a:t>
            </a:r>
          </a:p>
        </p:txBody>
      </p:sp>
      <p:sp>
        <p:nvSpPr>
          <p:cNvPr id="1027" name="Text Placeholder 2"/>
          <p:cNvSpPr>
            <a:spLocks noGrp="1"/>
          </p:cNvSpPr>
          <p:nvPr>
            <p:ph type="body" idx="1"/>
          </p:nvPr>
        </p:nvSpPr>
        <p:spPr bwMode="auto">
          <a:xfrm>
            <a:off x="609600" y="3022600"/>
            <a:ext cx="10972800" cy="3103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2"/>
            <a:ext cx="2844800" cy="365125"/>
          </a:xfrm>
          <a:prstGeom prst="rect">
            <a:avLst/>
          </a:prstGeom>
        </p:spPr>
        <p:txBody>
          <a:bodyPr vert="horz" lIns="91440" tIns="45720" rIns="91440" bIns="45720" rtlCol="0" anchor="ctr"/>
          <a:lstStyle>
            <a:lvl1pPr algn="l" fontAlgn="auto">
              <a:spcBef>
                <a:spcPts val="0"/>
              </a:spcBef>
              <a:spcAft>
                <a:spcPts val="0"/>
              </a:spcAft>
              <a:defRPr sz="1600" smtClean="0">
                <a:solidFill>
                  <a:schemeClr val="tx1">
                    <a:tint val="75000"/>
                  </a:schemeClr>
                </a:solidFill>
                <a:latin typeface="Arial" panose="020B0604020202020204" pitchFamily="34" charset="0"/>
                <a:ea typeface="+mn-ea"/>
                <a:cs typeface="Arial" panose="020B0604020202020204" pitchFamily="34" charset="0"/>
              </a:defRPr>
            </a:lvl1pPr>
          </a:lstStyle>
          <a:p>
            <a:pPr>
              <a:defRPr/>
            </a:pPr>
            <a:fld id="{85E9AEF9-C739-6F4D-B502-3043AF841DC9}" type="datetime1">
              <a:rPr lang="en-US" smtClean="0"/>
              <a:t>8/17/26</a:t>
            </a:fld>
            <a:endParaRPr lang="en-US" dirty="0"/>
          </a:p>
        </p:txBody>
      </p:sp>
      <p:sp>
        <p:nvSpPr>
          <p:cNvPr id="5" name="Footer Placeholder 4"/>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fontAlgn="auto">
              <a:spcBef>
                <a:spcPts val="0"/>
              </a:spcBef>
              <a:spcAft>
                <a:spcPts val="0"/>
              </a:spcAft>
              <a:defRPr sz="1600">
                <a:solidFill>
                  <a:schemeClr val="tx1">
                    <a:tint val="75000"/>
                  </a:schemeClr>
                </a:solidFill>
                <a:latin typeface="Arial" panose="020B0604020202020204" pitchFamily="34" charset="0"/>
                <a:ea typeface="+mn-ea"/>
                <a:cs typeface="Arial" panose="020B0604020202020204" pitchFamily="34" charset="0"/>
              </a:defRPr>
            </a:lvl1pPr>
          </a:lstStyle>
          <a:p>
            <a:pPr>
              <a:defRPr/>
            </a:pPr>
            <a:endParaRPr lang="en-US" dirty="0"/>
          </a:p>
        </p:txBody>
      </p:sp>
      <p:sp>
        <p:nvSpPr>
          <p:cNvPr id="6" name="Slide Number Placeholder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fontAlgn="auto">
              <a:spcBef>
                <a:spcPts val="0"/>
              </a:spcBef>
              <a:spcAft>
                <a:spcPts val="0"/>
              </a:spcAft>
              <a:defRPr sz="1600" smtClean="0">
                <a:solidFill>
                  <a:schemeClr val="tx1">
                    <a:tint val="75000"/>
                  </a:schemeClr>
                </a:solidFill>
                <a:latin typeface="+mn-lt"/>
                <a:ea typeface="+mn-ea"/>
                <a:cs typeface="+mn-cs"/>
              </a:defRPr>
            </a:lvl1pPr>
          </a:lstStyle>
          <a:p>
            <a:pPr>
              <a:defRPr/>
            </a:pPr>
            <a:fld id="{0EF7D53D-272A-624E-BE3D-99D13E2B4193}" type="slidenum">
              <a:rPr lang="en-US"/>
              <a:pPr>
                <a:defRPr/>
              </a:pPr>
              <a:t>‹#›</a:t>
            </a:fld>
            <a:endParaRPr lang="en-US" dirty="0"/>
          </a:p>
        </p:txBody>
      </p:sp>
      <p:pic>
        <p:nvPicPr>
          <p:cNvPr id="8" name="Picture 7"/>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1" y="0"/>
            <a:ext cx="12202925" cy="609600"/>
          </a:xfrm>
          <a:prstGeom prst="rect">
            <a:avLst/>
          </a:prstGeom>
        </p:spPr>
      </p:pic>
    </p:spTree>
    <p:extLst>
      <p:ext uri="{BB962C8B-B14F-4D97-AF65-F5344CB8AC3E}">
        <p14:creationId xmlns:p14="http://schemas.microsoft.com/office/powerpoint/2010/main" val="345903216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ctr" defTabSz="609585" rtl="0" eaLnBrk="1" fontAlgn="base" hangingPunct="1">
        <a:spcBef>
          <a:spcPct val="0"/>
        </a:spcBef>
        <a:spcAft>
          <a:spcPct val="0"/>
        </a:spcAft>
        <a:defRPr sz="4267" b="1" kern="1200">
          <a:solidFill>
            <a:schemeClr val="tx1"/>
          </a:solidFill>
          <a:latin typeface="Arial"/>
          <a:ea typeface="ＭＳ Ｐゴシック" charset="0"/>
          <a:cs typeface="Arial"/>
        </a:defRPr>
      </a:lvl1pPr>
      <a:lvl2pPr algn="ctr" defTabSz="609585" rtl="0" eaLnBrk="1" fontAlgn="base" hangingPunct="1">
        <a:spcBef>
          <a:spcPct val="0"/>
        </a:spcBef>
        <a:spcAft>
          <a:spcPct val="0"/>
        </a:spcAft>
        <a:defRPr sz="4267" b="1">
          <a:solidFill>
            <a:schemeClr val="tx1"/>
          </a:solidFill>
          <a:latin typeface="Arial" charset="0"/>
          <a:ea typeface="ＭＳ Ｐゴシック" charset="0"/>
        </a:defRPr>
      </a:lvl2pPr>
      <a:lvl3pPr algn="ctr" defTabSz="609585" rtl="0" eaLnBrk="1" fontAlgn="base" hangingPunct="1">
        <a:spcBef>
          <a:spcPct val="0"/>
        </a:spcBef>
        <a:spcAft>
          <a:spcPct val="0"/>
        </a:spcAft>
        <a:defRPr sz="4267" b="1">
          <a:solidFill>
            <a:schemeClr val="tx1"/>
          </a:solidFill>
          <a:latin typeface="Arial" charset="0"/>
          <a:ea typeface="ＭＳ Ｐゴシック" charset="0"/>
        </a:defRPr>
      </a:lvl3pPr>
      <a:lvl4pPr algn="ctr" defTabSz="609585" rtl="0" eaLnBrk="1" fontAlgn="base" hangingPunct="1">
        <a:spcBef>
          <a:spcPct val="0"/>
        </a:spcBef>
        <a:spcAft>
          <a:spcPct val="0"/>
        </a:spcAft>
        <a:defRPr sz="4267" b="1">
          <a:solidFill>
            <a:schemeClr val="tx1"/>
          </a:solidFill>
          <a:latin typeface="Arial" charset="0"/>
          <a:ea typeface="ＭＳ Ｐゴシック" charset="0"/>
        </a:defRPr>
      </a:lvl4pPr>
      <a:lvl5pPr algn="ctr" defTabSz="609585" rtl="0" eaLnBrk="1" fontAlgn="base" hangingPunct="1">
        <a:spcBef>
          <a:spcPct val="0"/>
        </a:spcBef>
        <a:spcAft>
          <a:spcPct val="0"/>
        </a:spcAft>
        <a:defRPr sz="4267" b="1">
          <a:solidFill>
            <a:schemeClr val="tx1"/>
          </a:solidFill>
          <a:latin typeface="Arial" charset="0"/>
          <a:ea typeface="ＭＳ Ｐゴシック" charset="0"/>
        </a:defRPr>
      </a:lvl5pPr>
      <a:lvl6pPr marL="609585" algn="ctr" defTabSz="609585" rtl="0" eaLnBrk="1" fontAlgn="base" hangingPunct="1">
        <a:spcBef>
          <a:spcPct val="0"/>
        </a:spcBef>
        <a:spcAft>
          <a:spcPct val="0"/>
        </a:spcAft>
        <a:defRPr sz="4267" b="1">
          <a:solidFill>
            <a:schemeClr val="tx1"/>
          </a:solidFill>
          <a:latin typeface="Arial" charset="0"/>
          <a:ea typeface="ＭＳ Ｐゴシック" charset="0"/>
        </a:defRPr>
      </a:lvl6pPr>
      <a:lvl7pPr marL="1219170" algn="ctr" defTabSz="609585" rtl="0" eaLnBrk="1" fontAlgn="base" hangingPunct="1">
        <a:spcBef>
          <a:spcPct val="0"/>
        </a:spcBef>
        <a:spcAft>
          <a:spcPct val="0"/>
        </a:spcAft>
        <a:defRPr sz="4267" b="1">
          <a:solidFill>
            <a:schemeClr val="tx1"/>
          </a:solidFill>
          <a:latin typeface="Arial" charset="0"/>
          <a:ea typeface="ＭＳ Ｐゴシック" charset="0"/>
        </a:defRPr>
      </a:lvl7pPr>
      <a:lvl8pPr marL="1828754" algn="ctr" defTabSz="609585" rtl="0" eaLnBrk="1" fontAlgn="base" hangingPunct="1">
        <a:spcBef>
          <a:spcPct val="0"/>
        </a:spcBef>
        <a:spcAft>
          <a:spcPct val="0"/>
        </a:spcAft>
        <a:defRPr sz="4267" b="1">
          <a:solidFill>
            <a:schemeClr val="tx1"/>
          </a:solidFill>
          <a:latin typeface="Arial" charset="0"/>
          <a:ea typeface="ＭＳ Ｐゴシック" charset="0"/>
        </a:defRPr>
      </a:lvl8pPr>
      <a:lvl9pPr marL="2438339" algn="ctr" defTabSz="609585" rtl="0" eaLnBrk="1" fontAlgn="base" hangingPunct="1">
        <a:spcBef>
          <a:spcPct val="0"/>
        </a:spcBef>
        <a:spcAft>
          <a:spcPct val="0"/>
        </a:spcAft>
        <a:defRPr sz="4267" b="1">
          <a:solidFill>
            <a:schemeClr val="tx1"/>
          </a:solidFill>
          <a:latin typeface="Arial" charset="0"/>
          <a:ea typeface="ＭＳ Ｐゴシック" charset="0"/>
        </a:defRPr>
      </a:lvl9pPr>
    </p:titleStyle>
    <p:bodyStyle>
      <a:lvl1pPr marL="457189" indent="-457189"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1867"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1333"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hyperlink" Target="https://groups.google.com/a/wolfware.ncsu.edu/g/ne763-fall-2025-everyone" TargetMode="Externa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98C24-8575-8644-833E-593D27AC502F}"/>
              </a:ext>
            </a:extLst>
          </p:cNvPr>
          <p:cNvSpPr>
            <a:spLocks noGrp="1"/>
          </p:cNvSpPr>
          <p:nvPr>
            <p:ph type="ctrTitle"/>
          </p:nvPr>
        </p:nvSpPr>
        <p:spPr/>
        <p:txBody>
          <a:bodyPr/>
          <a:lstStyle/>
          <a:p>
            <a:r>
              <a:rPr lang="en-US" sz="4000" dirty="0"/>
              <a:t>Introduction and Overview</a:t>
            </a:r>
          </a:p>
        </p:txBody>
      </p:sp>
      <p:sp>
        <p:nvSpPr>
          <p:cNvPr id="3" name="Subtitle 2">
            <a:extLst>
              <a:ext uri="{FF2B5EF4-FFF2-40B4-BE49-F238E27FC236}">
                <a16:creationId xmlns:a16="http://schemas.microsoft.com/office/drawing/2014/main" id="{62187F49-5DA5-4E46-B793-DAB018625C3A}"/>
              </a:ext>
            </a:extLst>
          </p:cNvPr>
          <p:cNvSpPr>
            <a:spLocks noGrp="1"/>
          </p:cNvSpPr>
          <p:nvPr>
            <p:ph type="subTitle" idx="1"/>
          </p:nvPr>
        </p:nvSpPr>
        <p:spPr>
          <a:xfrm>
            <a:off x="746235" y="3844158"/>
            <a:ext cx="10699530" cy="1752600"/>
          </a:xfrm>
        </p:spPr>
        <p:txBody>
          <a:bodyPr/>
          <a:lstStyle/>
          <a:p>
            <a:r>
              <a:rPr lang="en-US" sz="2800" dirty="0"/>
              <a:t>NE 763: Advanced Reactor Materials and Materials Performance </a:t>
            </a:r>
          </a:p>
          <a:p>
            <a:endParaRPr lang="en-US" sz="2800" dirty="0"/>
          </a:p>
          <a:p>
            <a:r>
              <a:rPr lang="en-US" sz="2800" dirty="0"/>
              <a:t>Fall 2026</a:t>
            </a:r>
          </a:p>
          <a:p>
            <a:r>
              <a:rPr lang="en-US" sz="2800" dirty="0"/>
              <a:t>Dr. Benjamin Beeler</a:t>
            </a:r>
          </a:p>
        </p:txBody>
      </p:sp>
      <p:sp>
        <p:nvSpPr>
          <p:cNvPr id="4" name="Slide Number Placeholder 3">
            <a:extLst>
              <a:ext uri="{FF2B5EF4-FFF2-40B4-BE49-F238E27FC236}">
                <a16:creationId xmlns:a16="http://schemas.microsoft.com/office/drawing/2014/main" id="{65561A0B-45B1-0067-848D-A92B807F9904}"/>
              </a:ext>
            </a:extLst>
          </p:cNvPr>
          <p:cNvSpPr>
            <a:spLocks noGrp="1"/>
          </p:cNvSpPr>
          <p:nvPr>
            <p:ph type="sldNum" sz="quarter" idx="12"/>
          </p:nvPr>
        </p:nvSpPr>
        <p:spPr/>
        <p:txBody>
          <a:bodyPr/>
          <a:lstStyle/>
          <a:p>
            <a:pPr>
              <a:defRPr/>
            </a:pPr>
            <a:fld id="{01E82176-A547-F94B-AC51-D6E9C882CB88}" type="slidenum">
              <a:rPr lang="en-US" smtClean="0"/>
              <a:pPr>
                <a:defRPr/>
              </a:pPr>
              <a:t>1</a:t>
            </a:fld>
            <a:endParaRPr lang="en-US"/>
          </a:p>
        </p:txBody>
      </p:sp>
    </p:spTree>
    <p:extLst>
      <p:ext uri="{BB962C8B-B14F-4D97-AF65-F5344CB8AC3E}">
        <p14:creationId xmlns:p14="http://schemas.microsoft.com/office/powerpoint/2010/main" val="30050646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4D8F1-B1E6-D6EE-EC9A-251430AA781A}"/>
              </a:ext>
            </a:extLst>
          </p:cNvPr>
          <p:cNvSpPr>
            <a:spLocks noGrp="1"/>
          </p:cNvSpPr>
          <p:nvPr>
            <p:ph type="title"/>
          </p:nvPr>
        </p:nvSpPr>
        <p:spPr/>
        <p:txBody>
          <a:bodyPr/>
          <a:lstStyle/>
          <a:p>
            <a:r>
              <a:rPr lang="en-US" dirty="0"/>
              <a:t>Housekeeping</a:t>
            </a:r>
          </a:p>
        </p:txBody>
      </p:sp>
      <p:sp>
        <p:nvSpPr>
          <p:cNvPr id="3" name="Content Placeholder 2">
            <a:extLst>
              <a:ext uri="{FF2B5EF4-FFF2-40B4-BE49-F238E27FC236}">
                <a16:creationId xmlns:a16="http://schemas.microsoft.com/office/drawing/2014/main" id="{C1CC2671-AEED-8A58-0D94-09E91EAED6A4}"/>
              </a:ext>
            </a:extLst>
          </p:cNvPr>
          <p:cNvSpPr>
            <a:spLocks noGrp="1"/>
          </p:cNvSpPr>
          <p:nvPr>
            <p:ph idx="1"/>
          </p:nvPr>
        </p:nvSpPr>
        <p:spPr>
          <a:xfrm>
            <a:off x="609600" y="1968500"/>
            <a:ext cx="10972800" cy="4157664"/>
          </a:xfrm>
        </p:spPr>
        <p:txBody>
          <a:bodyPr/>
          <a:lstStyle/>
          <a:p>
            <a:r>
              <a:rPr lang="en-US" sz="2400" dirty="0"/>
              <a:t>Course will be administered on Moodle</a:t>
            </a:r>
          </a:p>
          <a:p>
            <a:r>
              <a:rPr lang="en-US" sz="2400" dirty="0"/>
              <a:t>If you haven’t already checked Moodle, do so. If you are unsure how to access, then ask me</a:t>
            </a:r>
          </a:p>
          <a:p>
            <a:r>
              <a:rPr lang="en-US" sz="2400" dirty="0"/>
              <a:t>Lectures will be posted after the class (will try to get them posted before)</a:t>
            </a:r>
          </a:p>
          <a:p>
            <a:r>
              <a:rPr lang="en-US" sz="2400" dirty="0"/>
              <a:t>Also made a google group: </a:t>
            </a:r>
            <a:r>
              <a:rPr lang="en-US" sz="2400" dirty="0">
                <a:hlinkClick r:id="rId2"/>
              </a:rPr>
              <a:t>https://groups.google.com/a/wolfware.ncsu.edu/g/ne763-fall-2025-everyone</a:t>
            </a:r>
            <a:endParaRPr lang="en-US" sz="2400" dirty="0"/>
          </a:p>
          <a:p>
            <a:r>
              <a:rPr lang="en-US" sz="2400" dirty="0"/>
              <a:t>Have also made a class slack channel for quick communication</a:t>
            </a:r>
          </a:p>
        </p:txBody>
      </p:sp>
      <p:sp>
        <p:nvSpPr>
          <p:cNvPr id="4" name="Slide Number Placeholder 3">
            <a:extLst>
              <a:ext uri="{FF2B5EF4-FFF2-40B4-BE49-F238E27FC236}">
                <a16:creationId xmlns:a16="http://schemas.microsoft.com/office/drawing/2014/main" id="{AF04B84B-F701-01DA-B558-E932A0A6EEBC}"/>
              </a:ext>
            </a:extLst>
          </p:cNvPr>
          <p:cNvSpPr>
            <a:spLocks noGrp="1"/>
          </p:cNvSpPr>
          <p:nvPr>
            <p:ph type="sldNum" sz="quarter" idx="12"/>
          </p:nvPr>
        </p:nvSpPr>
        <p:spPr/>
        <p:txBody>
          <a:bodyPr/>
          <a:lstStyle/>
          <a:p>
            <a:pPr>
              <a:defRPr/>
            </a:pPr>
            <a:fld id="{3FF2C605-4958-CF43-AA48-80339EFDB0AF}" type="slidenum">
              <a:rPr lang="en-US" smtClean="0"/>
              <a:pPr>
                <a:defRPr/>
              </a:pPr>
              <a:t>2</a:t>
            </a:fld>
            <a:endParaRPr lang="en-US"/>
          </a:p>
        </p:txBody>
      </p:sp>
    </p:spTree>
    <p:extLst>
      <p:ext uri="{BB962C8B-B14F-4D97-AF65-F5344CB8AC3E}">
        <p14:creationId xmlns:p14="http://schemas.microsoft.com/office/powerpoint/2010/main" val="2231084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AC718-3EB8-BB40-A833-A300EC96FF22}"/>
              </a:ext>
            </a:extLst>
          </p:cNvPr>
          <p:cNvSpPr>
            <a:spLocks noGrp="1"/>
          </p:cNvSpPr>
          <p:nvPr>
            <p:ph type="title"/>
          </p:nvPr>
        </p:nvSpPr>
        <p:spPr/>
        <p:txBody>
          <a:bodyPr/>
          <a:lstStyle/>
          <a:p>
            <a:r>
              <a:rPr lang="en-US" dirty="0"/>
              <a:t>In Person/Hybrid</a:t>
            </a:r>
          </a:p>
        </p:txBody>
      </p:sp>
      <p:sp>
        <p:nvSpPr>
          <p:cNvPr id="3" name="Content Placeholder 2">
            <a:extLst>
              <a:ext uri="{FF2B5EF4-FFF2-40B4-BE49-F238E27FC236}">
                <a16:creationId xmlns:a16="http://schemas.microsoft.com/office/drawing/2014/main" id="{B53F5861-4278-C443-8DC3-74F162B35099}"/>
              </a:ext>
            </a:extLst>
          </p:cNvPr>
          <p:cNvSpPr>
            <a:spLocks noGrp="1"/>
          </p:cNvSpPr>
          <p:nvPr>
            <p:ph idx="1"/>
          </p:nvPr>
        </p:nvSpPr>
        <p:spPr/>
        <p:txBody>
          <a:bodyPr/>
          <a:lstStyle/>
          <a:p>
            <a:r>
              <a:rPr lang="en-US" sz="2400" dirty="0"/>
              <a:t>Lectures will be recorded and available on </a:t>
            </a:r>
            <a:r>
              <a:rPr lang="en-US" sz="2400" dirty="0" err="1"/>
              <a:t>Panopto</a:t>
            </a:r>
            <a:endParaRPr lang="en-US" sz="2400" dirty="0"/>
          </a:p>
          <a:p>
            <a:r>
              <a:rPr lang="en-US" sz="2400" dirty="0"/>
              <a:t>All slides will be available on Moodle</a:t>
            </a:r>
          </a:p>
          <a:p>
            <a:r>
              <a:rPr lang="en-US" sz="2400" dirty="0"/>
              <a:t>I have a Zoom classroom set up to do simulcasting</a:t>
            </a:r>
          </a:p>
          <a:p>
            <a:r>
              <a:rPr lang="en-US" sz="2400" dirty="0"/>
              <a:t>Can attend in-person or remotely, but in-person is preferred</a:t>
            </a:r>
          </a:p>
          <a:p>
            <a:endParaRPr lang="en-US" sz="2400" dirty="0"/>
          </a:p>
        </p:txBody>
      </p:sp>
      <p:sp>
        <p:nvSpPr>
          <p:cNvPr id="4" name="Slide Number Placeholder 3">
            <a:extLst>
              <a:ext uri="{FF2B5EF4-FFF2-40B4-BE49-F238E27FC236}">
                <a16:creationId xmlns:a16="http://schemas.microsoft.com/office/drawing/2014/main" id="{3F47A3DE-6934-6C5E-3C2F-3BFBB10E1FBF}"/>
              </a:ext>
            </a:extLst>
          </p:cNvPr>
          <p:cNvSpPr>
            <a:spLocks noGrp="1"/>
          </p:cNvSpPr>
          <p:nvPr>
            <p:ph type="sldNum" sz="quarter" idx="12"/>
          </p:nvPr>
        </p:nvSpPr>
        <p:spPr/>
        <p:txBody>
          <a:bodyPr/>
          <a:lstStyle/>
          <a:p>
            <a:pPr>
              <a:defRPr/>
            </a:pPr>
            <a:fld id="{3FF2C605-4958-CF43-AA48-80339EFDB0AF}" type="slidenum">
              <a:rPr lang="en-US" smtClean="0"/>
              <a:pPr>
                <a:defRPr/>
              </a:pPr>
              <a:t>3</a:t>
            </a:fld>
            <a:endParaRPr lang="en-US"/>
          </a:p>
        </p:txBody>
      </p:sp>
    </p:spTree>
    <p:extLst>
      <p:ext uri="{BB962C8B-B14F-4D97-AF65-F5344CB8AC3E}">
        <p14:creationId xmlns:p14="http://schemas.microsoft.com/office/powerpoint/2010/main" val="28723235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CF312-B564-2C43-B9B6-49CFD6D30158}"/>
              </a:ext>
            </a:extLst>
          </p:cNvPr>
          <p:cNvSpPr>
            <a:spLocks noGrp="1"/>
          </p:cNvSpPr>
          <p:nvPr>
            <p:ph type="title"/>
          </p:nvPr>
        </p:nvSpPr>
        <p:spPr/>
        <p:txBody>
          <a:bodyPr/>
          <a:lstStyle/>
          <a:p>
            <a:r>
              <a:rPr lang="en-US" dirty="0"/>
              <a:t>Exams, Projects, Grading</a:t>
            </a:r>
          </a:p>
        </p:txBody>
      </p:sp>
      <p:sp>
        <p:nvSpPr>
          <p:cNvPr id="3" name="Content Placeholder 2">
            <a:extLst>
              <a:ext uri="{FF2B5EF4-FFF2-40B4-BE49-F238E27FC236}">
                <a16:creationId xmlns:a16="http://schemas.microsoft.com/office/drawing/2014/main" id="{CBAE469E-6B1E-1D4D-8D34-15384795EA94}"/>
              </a:ext>
            </a:extLst>
          </p:cNvPr>
          <p:cNvSpPr>
            <a:spLocks noGrp="1"/>
          </p:cNvSpPr>
          <p:nvPr>
            <p:ph idx="1"/>
          </p:nvPr>
        </p:nvSpPr>
        <p:spPr>
          <a:xfrm>
            <a:off x="609600" y="2153423"/>
            <a:ext cx="10972800" cy="3845418"/>
          </a:xfrm>
        </p:spPr>
        <p:txBody>
          <a:bodyPr>
            <a:normAutofit/>
          </a:bodyPr>
          <a:lstStyle/>
          <a:p>
            <a:r>
              <a:rPr lang="en-US" sz="2400" dirty="0"/>
              <a:t>Using the standard NCSU +/- grading system, as broken down in the syllabus</a:t>
            </a:r>
          </a:p>
          <a:p>
            <a:r>
              <a:rPr lang="en-US" sz="2400" dirty="0"/>
              <a:t>Four exams will be conducted during normal class hours – 20% each</a:t>
            </a:r>
          </a:p>
          <a:p>
            <a:r>
              <a:rPr lang="en-US" sz="2400" dirty="0"/>
              <a:t>Will set up an exam period via zoom for distance students</a:t>
            </a:r>
          </a:p>
          <a:p>
            <a:r>
              <a:rPr lang="en-US" sz="2400" dirty="0"/>
              <a:t>One project presentation will be via PPT and conducted during normal class hours – 20%</a:t>
            </a:r>
          </a:p>
          <a:p>
            <a:r>
              <a:rPr lang="en-US" sz="2400" dirty="0"/>
              <a:t>Distance will upload recorded presentation</a:t>
            </a:r>
          </a:p>
          <a:p>
            <a:r>
              <a:rPr lang="en-US" sz="2400" dirty="0"/>
              <a:t>No final exam</a:t>
            </a:r>
          </a:p>
          <a:p>
            <a:r>
              <a:rPr lang="en-US" sz="2400" dirty="0"/>
              <a:t>If this changes, sufficient advance notice will be given</a:t>
            </a:r>
          </a:p>
        </p:txBody>
      </p:sp>
      <p:sp>
        <p:nvSpPr>
          <p:cNvPr id="4" name="Slide Number Placeholder 3">
            <a:extLst>
              <a:ext uri="{FF2B5EF4-FFF2-40B4-BE49-F238E27FC236}">
                <a16:creationId xmlns:a16="http://schemas.microsoft.com/office/drawing/2014/main" id="{9A0EDF15-D08E-78FE-9B6F-EFB7434B7712}"/>
              </a:ext>
            </a:extLst>
          </p:cNvPr>
          <p:cNvSpPr>
            <a:spLocks noGrp="1"/>
          </p:cNvSpPr>
          <p:nvPr>
            <p:ph type="sldNum" sz="quarter" idx="12"/>
          </p:nvPr>
        </p:nvSpPr>
        <p:spPr/>
        <p:txBody>
          <a:bodyPr/>
          <a:lstStyle/>
          <a:p>
            <a:pPr>
              <a:defRPr/>
            </a:pPr>
            <a:fld id="{3FF2C605-4958-CF43-AA48-80339EFDB0AF}" type="slidenum">
              <a:rPr lang="en-US" smtClean="0"/>
              <a:pPr>
                <a:defRPr/>
              </a:pPr>
              <a:t>4</a:t>
            </a:fld>
            <a:endParaRPr lang="en-US"/>
          </a:p>
        </p:txBody>
      </p:sp>
    </p:spTree>
    <p:extLst>
      <p:ext uri="{BB962C8B-B14F-4D97-AF65-F5344CB8AC3E}">
        <p14:creationId xmlns:p14="http://schemas.microsoft.com/office/powerpoint/2010/main" val="4201405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CF312-B564-2C43-B9B6-49CFD6D30158}"/>
              </a:ext>
            </a:extLst>
          </p:cNvPr>
          <p:cNvSpPr>
            <a:spLocks noGrp="1"/>
          </p:cNvSpPr>
          <p:nvPr>
            <p:ph type="title"/>
          </p:nvPr>
        </p:nvSpPr>
        <p:spPr/>
        <p:txBody>
          <a:bodyPr/>
          <a:lstStyle/>
          <a:p>
            <a:r>
              <a:rPr lang="en-US" dirty="0"/>
              <a:t>Office Hours</a:t>
            </a:r>
          </a:p>
        </p:txBody>
      </p:sp>
      <p:sp>
        <p:nvSpPr>
          <p:cNvPr id="3" name="Content Placeholder 2">
            <a:extLst>
              <a:ext uri="{FF2B5EF4-FFF2-40B4-BE49-F238E27FC236}">
                <a16:creationId xmlns:a16="http://schemas.microsoft.com/office/drawing/2014/main" id="{CBAE469E-6B1E-1D4D-8D34-15384795EA94}"/>
              </a:ext>
            </a:extLst>
          </p:cNvPr>
          <p:cNvSpPr>
            <a:spLocks noGrp="1"/>
          </p:cNvSpPr>
          <p:nvPr>
            <p:ph idx="1"/>
          </p:nvPr>
        </p:nvSpPr>
        <p:spPr/>
        <p:txBody>
          <a:bodyPr/>
          <a:lstStyle/>
          <a:p>
            <a:r>
              <a:rPr lang="en-US" sz="2400" dirty="0"/>
              <a:t>Set for Tuesdays 9:00-10:00 am</a:t>
            </a:r>
          </a:p>
          <a:p>
            <a:r>
              <a:rPr lang="en-US" sz="2400" dirty="0"/>
              <a:t>Additional meetings can be set up on request</a:t>
            </a:r>
          </a:p>
          <a:p>
            <a:pPr lvl="1"/>
            <a:r>
              <a:rPr lang="en-US" sz="2400" dirty="0"/>
              <a:t>Don’t hesitate to schedule these</a:t>
            </a:r>
          </a:p>
          <a:p>
            <a:pPr lvl="1"/>
            <a:r>
              <a:rPr lang="en-US" sz="2400" dirty="0"/>
              <a:t>If I don’t know you need help, then I can’t help</a:t>
            </a:r>
          </a:p>
        </p:txBody>
      </p:sp>
      <p:sp>
        <p:nvSpPr>
          <p:cNvPr id="4" name="Slide Number Placeholder 3">
            <a:extLst>
              <a:ext uri="{FF2B5EF4-FFF2-40B4-BE49-F238E27FC236}">
                <a16:creationId xmlns:a16="http://schemas.microsoft.com/office/drawing/2014/main" id="{53F84217-9F7A-566B-0916-9BC76FBC77E0}"/>
              </a:ext>
            </a:extLst>
          </p:cNvPr>
          <p:cNvSpPr>
            <a:spLocks noGrp="1"/>
          </p:cNvSpPr>
          <p:nvPr>
            <p:ph type="sldNum" sz="quarter" idx="12"/>
          </p:nvPr>
        </p:nvSpPr>
        <p:spPr/>
        <p:txBody>
          <a:bodyPr/>
          <a:lstStyle/>
          <a:p>
            <a:pPr>
              <a:defRPr/>
            </a:pPr>
            <a:fld id="{3FF2C605-4958-CF43-AA48-80339EFDB0AF}" type="slidenum">
              <a:rPr lang="en-US" smtClean="0"/>
              <a:pPr>
                <a:defRPr/>
              </a:pPr>
              <a:t>5</a:t>
            </a:fld>
            <a:endParaRPr lang="en-US"/>
          </a:p>
        </p:txBody>
      </p:sp>
    </p:spTree>
    <p:extLst>
      <p:ext uri="{BB962C8B-B14F-4D97-AF65-F5344CB8AC3E}">
        <p14:creationId xmlns:p14="http://schemas.microsoft.com/office/powerpoint/2010/main" val="3369690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97477-A3C0-444C-9505-5B5455E8A586}"/>
              </a:ext>
            </a:extLst>
          </p:cNvPr>
          <p:cNvSpPr>
            <a:spLocks noGrp="1"/>
          </p:cNvSpPr>
          <p:nvPr>
            <p:ph type="title"/>
          </p:nvPr>
        </p:nvSpPr>
        <p:spPr/>
        <p:txBody>
          <a:bodyPr/>
          <a:lstStyle/>
          <a:p>
            <a:r>
              <a:rPr lang="en-US" dirty="0"/>
              <a:t>Feedback</a:t>
            </a:r>
          </a:p>
        </p:txBody>
      </p:sp>
      <p:sp>
        <p:nvSpPr>
          <p:cNvPr id="3" name="Content Placeholder 2">
            <a:extLst>
              <a:ext uri="{FF2B5EF4-FFF2-40B4-BE49-F238E27FC236}">
                <a16:creationId xmlns:a16="http://schemas.microsoft.com/office/drawing/2014/main" id="{D2B6D3ED-C0D3-2D44-AF7F-5A875F74775B}"/>
              </a:ext>
            </a:extLst>
          </p:cNvPr>
          <p:cNvSpPr>
            <a:spLocks noGrp="1"/>
          </p:cNvSpPr>
          <p:nvPr>
            <p:ph idx="1"/>
          </p:nvPr>
        </p:nvSpPr>
        <p:spPr>
          <a:xfrm>
            <a:off x="609600" y="1968500"/>
            <a:ext cx="10972800" cy="4157664"/>
          </a:xfrm>
        </p:spPr>
        <p:txBody>
          <a:bodyPr>
            <a:normAutofit/>
          </a:bodyPr>
          <a:lstStyle/>
          <a:p>
            <a:r>
              <a:rPr lang="en-US" sz="2400" dirty="0"/>
              <a:t>I will be reaching out for feedback periodically throughout the semester (probably twice)</a:t>
            </a:r>
          </a:p>
          <a:p>
            <a:r>
              <a:rPr lang="en-US" sz="2400" dirty="0"/>
              <a:t>I want this course to provide information that is currently not included in other courses, or to further expand upon materials issues that are briefly touched upon elsewhere</a:t>
            </a:r>
          </a:p>
          <a:p>
            <a:r>
              <a:rPr lang="en-US" sz="2400" dirty="0"/>
              <a:t>I want to make sure that this class is able to meet the needs of the students, provides relevant information, and is taught at a level commensurate with the abilities of the students, and I need your feedback to do that </a:t>
            </a:r>
          </a:p>
          <a:p>
            <a:endParaRPr lang="en-US" sz="2400" dirty="0"/>
          </a:p>
        </p:txBody>
      </p:sp>
      <p:sp>
        <p:nvSpPr>
          <p:cNvPr id="4" name="Slide Number Placeholder 3">
            <a:extLst>
              <a:ext uri="{FF2B5EF4-FFF2-40B4-BE49-F238E27FC236}">
                <a16:creationId xmlns:a16="http://schemas.microsoft.com/office/drawing/2014/main" id="{F69026CA-AEF0-7F0F-4F7B-6A892CFE1770}"/>
              </a:ext>
            </a:extLst>
          </p:cNvPr>
          <p:cNvSpPr>
            <a:spLocks noGrp="1"/>
          </p:cNvSpPr>
          <p:nvPr>
            <p:ph type="sldNum" sz="quarter" idx="12"/>
          </p:nvPr>
        </p:nvSpPr>
        <p:spPr/>
        <p:txBody>
          <a:bodyPr/>
          <a:lstStyle/>
          <a:p>
            <a:pPr>
              <a:defRPr/>
            </a:pPr>
            <a:fld id="{3FF2C605-4958-CF43-AA48-80339EFDB0AF}" type="slidenum">
              <a:rPr lang="en-US" smtClean="0"/>
              <a:pPr>
                <a:defRPr/>
              </a:pPr>
              <a:t>6</a:t>
            </a:fld>
            <a:endParaRPr lang="en-US"/>
          </a:p>
        </p:txBody>
      </p:sp>
    </p:spTree>
    <p:extLst>
      <p:ext uri="{BB962C8B-B14F-4D97-AF65-F5344CB8AC3E}">
        <p14:creationId xmlns:p14="http://schemas.microsoft.com/office/powerpoint/2010/main" val="24074972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5BE3D-8724-4E40-95B1-B56CFC0D5F1A}"/>
              </a:ext>
            </a:extLst>
          </p:cNvPr>
          <p:cNvSpPr>
            <a:spLocks noGrp="1"/>
          </p:cNvSpPr>
          <p:nvPr>
            <p:ph type="title"/>
          </p:nvPr>
        </p:nvSpPr>
        <p:spPr/>
        <p:txBody>
          <a:bodyPr/>
          <a:lstStyle/>
          <a:p>
            <a:r>
              <a:rPr lang="en-US" dirty="0"/>
              <a:t>Syllabus</a:t>
            </a:r>
          </a:p>
        </p:txBody>
      </p:sp>
      <p:sp>
        <p:nvSpPr>
          <p:cNvPr id="3" name="Content Placeholder 2">
            <a:extLst>
              <a:ext uri="{FF2B5EF4-FFF2-40B4-BE49-F238E27FC236}">
                <a16:creationId xmlns:a16="http://schemas.microsoft.com/office/drawing/2014/main" id="{58990474-F75B-864F-9A57-055653F34B7B}"/>
              </a:ext>
            </a:extLst>
          </p:cNvPr>
          <p:cNvSpPr>
            <a:spLocks noGrp="1"/>
          </p:cNvSpPr>
          <p:nvPr>
            <p:ph idx="1"/>
          </p:nvPr>
        </p:nvSpPr>
        <p:spPr>
          <a:xfrm>
            <a:off x="609599" y="2250141"/>
            <a:ext cx="5402318" cy="4274484"/>
          </a:xfrm>
        </p:spPr>
        <p:txBody>
          <a:bodyPr>
            <a:normAutofit fontScale="70000" lnSpcReduction="20000"/>
          </a:bodyPr>
          <a:lstStyle/>
          <a:p>
            <a:pPr marL="0" lvl="0" indent="0">
              <a:buNone/>
            </a:pPr>
            <a:r>
              <a:rPr lang="en-US" b="1" dirty="0"/>
              <a:t>Course Overview</a:t>
            </a:r>
          </a:p>
          <a:p>
            <a:pPr marL="0" lvl="0" indent="0">
              <a:buNone/>
            </a:pPr>
            <a:endParaRPr lang="en-US" dirty="0"/>
          </a:p>
          <a:p>
            <a:pPr marL="0" indent="0">
              <a:buNone/>
            </a:pPr>
            <a:r>
              <a:rPr lang="en-US" dirty="0"/>
              <a:t>This course discusses materials evolution and performance in advanced reactor systems, addressing the current state of knowledge for advanced fuels, cladding, and coolants. Students will gain relevant knowledge to address advanced materials questions in the next generation of nuclear reactors. Systems of interest include high-temperature gas reactors, sodium-cooled fast reactors, molten salt reactors, small modular reactors, research reactors, and more.</a:t>
            </a:r>
          </a:p>
        </p:txBody>
      </p:sp>
      <p:sp>
        <p:nvSpPr>
          <p:cNvPr id="5" name="Content Placeholder 2">
            <a:extLst>
              <a:ext uri="{FF2B5EF4-FFF2-40B4-BE49-F238E27FC236}">
                <a16:creationId xmlns:a16="http://schemas.microsoft.com/office/drawing/2014/main" id="{E4A2D953-FFFE-A546-9107-08C73B706E06}"/>
              </a:ext>
            </a:extLst>
          </p:cNvPr>
          <p:cNvSpPr txBox="1">
            <a:spLocks/>
          </p:cNvSpPr>
          <p:nvPr/>
        </p:nvSpPr>
        <p:spPr bwMode="auto">
          <a:xfrm>
            <a:off x="6448425" y="2250141"/>
            <a:ext cx="5191124" cy="4274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normAutofit/>
          </a:bodyPr>
          <a:lstStyle>
            <a:lvl1pPr marL="342900" indent="-342900" algn="l" defTabSz="457200"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1pPr>
            <a:lvl2pPr marL="742950" indent="-285750" algn="l" defTabSz="457200"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2pPr>
            <a:lvl3pPr marL="1143000" indent="-228600" algn="l" defTabSz="457200"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1600200" indent="-228600" algn="l" defTabSz="457200" rtl="0" eaLnBrk="1" fontAlgn="base" hangingPunct="1">
              <a:spcBef>
                <a:spcPct val="20000"/>
              </a:spcBef>
              <a:spcAft>
                <a:spcPct val="0"/>
              </a:spcAft>
              <a:buFont typeface="Arial" charset="0"/>
              <a:buChar char="–"/>
              <a:defRPr sz="1400" kern="1200">
                <a:solidFill>
                  <a:schemeClr val="tx1"/>
                </a:solidFill>
                <a:latin typeface="Arial"/>
                <a:ea typeface="ＭＳ Ｐゴシック" charset="0"/>
                <a:cs typeface="Arial"/>
              </a:defRPr>
            </a:lvl4pPr>
            <a:lvl5pPr marL="2057400" indent="-228600" algn="l" defTabSz="457200" rtl="0" eaLnBrk="1" fontAlgn="base" hangingPunct="1">
              <a:spcBef>
                <a:spcPct val="20000"/>
              </a:spcBef>
              <a:spcAft>
                <a:spcPct val="0"/>
              </a:spcAft>
              <a:buFont typeface="Arial" charset="0"/>
              <a:buChar char="»"/>
              <a:defRPr sz="1000" kern="1200">
                <a:solidFill>
                  <a:schemeClr val="tx1"/>
                </a:solidFill>
                <a:latin typeface="Arial"/>
                <a:ea typeface="ＭＳ Ｐゴシック" charset="0"/>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lvl="0" indent="0">
              <a:buNone/>
            </a:pPr>
            <a:r>
              <a:rPr lang="en-US" b="1" dirty="0"/>
              <a:t>Topical Outline</a:t>
            </a:r>
            <a:r>
              <a:rPr lang="en-US" dirty="0"/>
              <a:t>  </a:t>
            </a:r>
          </a:p>
          <a:p>
            <a:pPr lvl="1"/>
            <a:r>
              <a:rPr lang="en-US" dirty="0"/>
              <a:t>Introduction</a:t>
            </a:r>
          </a:p>
          <a:p>
            <a:pPr lvl="1"/>
            <a:r>
              <a:rPr lang="en-US" dirty="0"/>
              <a:t>TRISO/HTGRs</a:t>
            </a:r>
          </a:p>
          <a:p>
            <a:pPr lvl="1"/>
            <a:r>
              <a:rPr lang="en-US" dirty="0"/>
              <a:t>SFRs</a:t>
            </a:r>
          </a:p>
          <a:p>
            <a:pPr lvl="1"/>
            <a:r>
              <a:rPr lang="en-US" dirty="0"/>
              <a:t>Molten salts and Ceramics</a:t>
            </a:r>
          </a:p>
          <a:p>
            <a:pPr lvl="1"/>
            <a:r>
              <a:rPr lang="en-US" dirty="0"/>
              <a:t>Research reactors</a:t>
            </a:r>
          </a:p>
          <a:p>
            <a:pPr lvl="1"/>
            <a:r>
              <a:rPr lang="en-US" dirty="0"/>
              <a:t>Advanced reactor cladding</a:t>
            </a:r>
          </a:p>
          <a:p>
            <a:pPr lvl="1"/>
            <a:r>
              <a:rPr lang="en-US" dirty="0"/>
              <a:t>Other stuff, if we have time</a:t>
            </a:r>
          </a:p>
          <a:p>
            <a:endParaRPr lang="en-US" dirty="0"/>
          </a:p>
        </p:txBody>
      </p:sp>
      <p:sp>
        <p:nvSpPr>
          <p:cNvPr id="4" name="Slide Number Placeholder 3">
            <a:extLst>
              <a:ext uri="{FF2B5EF4-FFF2-40B4-BE49-F238E27FC236}">
                <a16:creationId xmlns:a16="http://schemas.microsoft.com/office/drawing/2014/main" id="{FB17BE18-2353-727B-E837-C9B8299B3BA6}"/>
              </a:ext>
            </a:extLst>
          </p:cNvPr>
          <p:cNvSpPr>
            <a:spLocks noGrp="1"/>
          </p:cNvSpPr>
          <p:nvPr>
            <p:ph type="sldNum" sz="quarter" idx="12"/>
          </p:nvPr>
        </p:nvSpPr>
        <p:spPr/>
        <p:txBody>
          <a:bodyPr/>
          <a:lstStyle/>
          <a:p>
            <a:pPr>
              <a:defRPr/>
            </a:pPr>
            <a:fld id="{3FF2C605-4958-CF43-AA48-80339EFDB0AF}" type="slidenum">
              <a:rPr lang="en-US" smtClean="0"/>
              <a:pPr>
                <a:defRPr/>
              </a:pPr>
              <a:t>7</a:t>
            </a:fld>
            <a:endParaRPr lang="en-US"/>
          </a:p>
        </p:txBody>
      </p:sp>
    </p:spTree>
    <p:extLst>
      <p:ext uri="{BB962C8B-B14F-4D97-AF65-F5344CB8AC3E}">
        <p14:creationId xmlns:p14="http://schemas.microsoft.com/office/powerpoint/2010/main" val="11259201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3A3F6-41BD-538B-92D5-A86ADA315123}"/>
              </a:ext>
            </a:extLst>
          </p:cNvPr>
          <p:cNvSpPr>
            <a:spLocks noGrp="1"/>
          </p:cNvSpPr>
          <p:nvPr>
            <p:ph type="title"/>
          </p:nvPr>
        </p:nvSpPr>
        <p:spPr/>
        <p:txBody>
          <a:bodyPr/>
          <a:lstStyle/>
          <a:p>
            <a:r>
              <a:rPr lang="en-US" dirty="0"/>
              <a:t>Resources</a:t>
            </a:r>
          </a:p>
        </p:txBody>
      </p:sp>
      <p:sp>
        <p:nvSpPr>
          <p:cNvPr id="3" name="Content Placeholder 2">
            <a:extLst>
              <a:ext uri="{FF2B5EF4-FFF2-40B4-BE49-F238E27FC236}">
                <a16:creationId xmlns:a16="http://schemas.microsoft.com/office/drawing/2014/main" id="{147EEF4F-D98B-BACD-4C29-5D5BF1DFAB20}"/>
              </a:ext>
            </a:extLst>
          </p:cNvPr>
          <p:cNvSpPr>
            <a:spLocks noGrp="1"/>
          </p:cNvSpPr>
          <p:nvPr>
            <p:ph idx="1"/>
          </p:nvPr>
        </p:nvSpPr>
        <p:spPr/>
        <p:txBody>
          <a:bodyPr/>
          <a:lstStyle/>
          <a:p>
            <a:r>
              <a:rPr lang="en-US" dirty="0"/>
              <a:t>No official textbook</a:t>
            </a:r>
          </a:p>
          <a:p>
            <a:r>
              <a:rPr lang="en-US" dirty="0"/>
              <a:t>I pull a lot of material from “Comprehensive Nuclear Materials”</a:t>
            </a:r>
          </a:p>
        </p:txBody>
      </p:sp>
      <p:sp>
        <p:nvSpPr>
          <p:cNvPr id="4" name="Slide Number Placeholder 3">
            <a:extLst>
              <a:ext uri="{FF2B5EF4-FFF2-40B4-BE49-F238E27FC236}">
                <a16:creationId xmlns:a16="http://schemas.microsoft.com/office/drawing/2014/main" id="{4185A853-423A-B3B8-DF07-4653401EB39B}"/>
              </a:ext>
            </a:extLst>
          </p:cNvPr>
          <p:cNvSpPr>
            <a:spLocks noGrp="1"/>
          </p:cNvSpPr>
          <p:nvPr>
            <p:ph type="sldNum" sz="quarter" idx="12"/>
          </p:nvPr>
        </p:nvSpPr>
        <p:spPr/>
        <p:txBody>
          <a:bodyPr/>
          <a:lstStyle/>
          <a:p>
            <a:pPr>
              <a:defRPr/>
            </a:pPr>
            <a:fld id="{3FF2C605-4958-CF43-AA48-80339EFDB0AF}" type="slidenum">
              <a:rPr lang="en-US" smtClean="0"/>
              <a:pPr>
                <a:defRPr/>
              </a:pPr>
              <a:t>8</a:t>
            </a:fld>
            <a:endParaRPr lang="en-US"/>
          </a:p>
        </p:txBody>
      </p:sp>
    </p:spTree>
    <p:extLst>
      <p:ext uri="{BB962C8B-B14F-4D97-AF65-F5344CB8AC3E}">
        <p14:creationId xmlns:p14="http://schemas.microsoft.com/office/powerpoint/2010/main" val="1360367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947CF-EAEA-5F40-93E5-30922295C42A}"/>
              </a:ext>
            </a:extLst>
          </p:cNvPr>
          <p:cNvSpPr>
            <a:spLocks noGrp="1"/>
          </p:cNvSpPr>
          <p:nvPr>
            <p:ph type="title"/>
          </p:nvPr>
        </p:nvSpPr>
        <p:spPr/>
        <p:txBody>
          <a:bodyPr/>
          <a:lstStyle/>
          <a:p>
            <a:r>
              <a:rPr lang="en-US" dirty="0"/>
              <a:t>Advanced reactor systems</a:t>
            </a:r>
          </a:p>
        </p:txBody>
      </p:sp>
      <p:sp>
        <p:nvSpPr>
          <p:cNvPr id="3" name="Slide Number Placeholder 2">
            <a:extLst>
              <a:ext uri="{FF2B5EF4-FFF2-40B4-BE49-F238E27FC236}">
                <a16:creationId xmlns:a16="http://schemas.microsoft.com/office/drawing/2014/main" id="{1067FE7F-C23C-59CD-99A1-30E34970B84E}"/>
              </a:ext>
            </a:extLst>
          </p:cNvPr>
          <p:cNvSpPr>
            <a:spLocks noGrp="1"/>
          </p:cNvSpPr>
          <p:nvPr>
            <p:ph type="sldNum" sz="quarter" idx="12"/>
          </p:nvPr>
        </p:nvSpPr>
        <p:spPr/>
        <p:txBody>
          <a:bodyPr/>
          <a:lstStyle/>
          <a:p>
            <a:pPr>
              <a:defRPr/>
            </a:pPr>
            <a:fld id="{0DA6BD0F-ABBC-C14D-BC96-77BE126A748B}" type="slidenum">
              <a:rPr lang="en-US" smtClean="0"/>
              <a:pPr>
                <a:defRPr/>
              </a:pPr>
              <a:t>9</a:t>
            </a:fld>
            <a:endParaRPr lang="en-US"/>
          </a:p>
        </p:txBody>
      </p:sp>
    </p:spTree>
    <p:extLst>
      <p:ext uri="{BB962C8B-B14F-4D97-AF65-F5344CB8AC3E}">
        <p14:creationId xmlns:p14="http://schemas.microsoft.com/office/powerpoint/2010/main" val="28134370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A9092-1496-1F4F-8649-05DBBD65563F}"/>
              </a:ext>
            </a:extLst>
          </p:cNvPr>
          <p:cNvSpPr>
            <a:spLocks noGrp="1"/>
          </p:cNvSpPr>
          <p:nvPr>
            <p:ph type="title"/>
          </p:nvPr>
        </p:nvSpPr>
        <p:spPr/>
        <p:txBody>
          <a:bodyPr/>
          <a:lstStyle/>
          <a:p>
            <a:r>
              <a:rPr lang="en-US" dirty="0"/>
              <a:t>What do I mean by advanced reactors?</a:t>
            </a:r>
          </a:p>
        </p:txBody>
      </p:sp>
      <p:sp>
        <p:nvSpPr>
          <p:cNvPr id="3" name="Content Placeholder 2">
            <a:extLst>
              <a:ext uri="{FF2B5EF4-FFF2-40B4-BE49-F238E27FC236}">
                <a16:creationId xmlns:a16="http://schemas.microsoft.com/office/drawing/2014/main" id="{E91DE69F-6DDA-474F-B5E8-1F8602846B07}"/>
              </a:ext>
            </a:extLst>
          </p:cNvPr>
          <p:cNvSpPr>
            <a:spLocks noGrp="1"/>
          </p:cNvSpPr>
          <p:nvPr>
            <p:ph idx="1"/>
          </p:nvPr>
        </p:nvSpPr>
        <p:spPr>
          <a:xfrm>
            <a:off x="609601" y="2280746"/>
            <a:ext cx="4436962" cy="3845418"/>
          </a:xfrm>
        </p:spPr>
        <p:txBody>
          <a:bodyPr>
            <a:normAutofit fontScale="77500" lnSpcReduction="20000"/>
          </a:bodyPr>
          <a:lstStyle/>
          <a:p>
            <a:r>
              <a:rPr lang="en-US" dirty="0"/>
              <a:t>Several generations of reactors can be distinguished</a:t>
            </a:r>
          </a:p>
          <a:p>
            <a:r>
              <a:rPr lang="en-US" dirty="0"/>
              <a:t>Generation I reactors were developed in 1950-60s, and are no longer operational</a:t>
            </a:r>
          </a:p>
          <a:p>
            <a:r>
              <a:rPr lang="en-US" dirty="0"/>
              <a:t>Generation II reactors are the present US and French fleets and most in operation elsewhere</a:t>
            </a:r>
          </a:p>
          <a:p>
            <a:pPr lvl="1"/>
            <a:endParaRPr lang="en-US" dirty="0"/>
          </a:p>
        </p:txBody>
      </p:sp>
      <p:pic>
        <p:nvPicPr>
          <p:cNvPr id="4" name="Picture 3" descr="Outline of Gen I to Gen IV reactors over time. ">
            <a:extLst>
              <a:ext uri="{FF2B5EF4-FFF2-40B4-BE49-F238E27FC236}">
                <a16:creationId xmlns:a16="http://schemas.microsoft.com/office/drawing/2014/main" id="{946FE7B0-8C2C-E14A-9500-D4B0942C654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206543" y="2093490"/>
            <a:ext cx="6766222" cy="3697008"/>
          </a:xfrm>
          <a:prstGeom prst="rect">
            <a:avLst/>
          </a:prstGeom>
        </p:spPr>
      </p:pic>
      <p:sp>
        <p:nvSpPr>
          <p:cNvPr id="5" name="Slide Number Placeholder 4">
            <a:extLst>
              <a:ext uri="{FF2B5EF4-FFF2-40B4-BE49-F238E27FC236}">
                <a16:creationId xmlns:a16="http://schemas.microsoft.com/office/drawing/2014/main" id="{7A2231D9-1789-2DDD-5228-F0114AF2A245}"/>
              </a:ext>
            </a:extLst>
          </p:cNvPr>
          <p:cNvSpPr>
            <a:spLocks noGrp="1"/>
          </p:cNvSpPr>
          <p:nvPr>
            <p:ph type="sldNum" sz="quarter" idx="12"/>
          </p:nvPr>
        </p:nvSpPr>
        <p:spPr/>
        <p:txBody>
          <a:bodyPr/>
          <a:lstStyle/>
          <a:p>
            <a:pPr>
              <a:defRPr/>
            </a:pPr>
            <a:fld id="{3FF2C605-4958-CF43-AA48-80339EFDB0AF}" type="slidenum">
              <a:rPr lang="en-US" smtClean="0"/>
              <a:pPr>
                <a:defRPr/>
              </a:pPr>
              <a:t>10</a:t>
            </a:fld>
            <a:endParaRPr lang="en-US"/>
          </a:p>
        </p:txBody>
      </p:sp>
    </p:spTree>
    <p:extLst>
      <p:ext uri="{BB962C8B-B14F-4D97-AF65-F5344CB8AC3E}">
        <p14:creationId xmlns:p14="http://schemas.microsoft.com/office/powerpoint/2010/main" val="4859389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A9092-1496-1F4F-8649-05DBBD65563F}"/>
              </a:ext>
            </a:extLst>
          </p:cNvPr>
          <p:cNvSpPr>
            <a:spLocks noGrp="1"/>
          </p:cNvSpPr>
          <p:nvPr>
            <p:ph type="title"/>
          </p:nvPr>
        </p:nvSpPr>
        <p:spPr/>
        <p:txBody>
          <a:bodyPr/>
          <a:lstStyle/>
          <a:p>
            <a:r>
              <a:rPr lang="en-US" dirty="0"/>
              <a:t>What do I mean by advanced reactors?</a:t>
            </a:r>
          </a:p>
        </p:txBody>
      </p:sp>
      <p:sp>
        <p:nvSpPr>
          <p:cNvPr id="3" name="Content Placeholder 2">
            <a:extLst>
              <a:ext uri="{FF2B5EF4-FFF2-40B4-BE49-F238E27FC236}">
                <a16:creationId xmlns:a16="http://schemas.microsoft.com/office/drawing/2014/main" id="{E91DE69F-6DDA-474F-B5E8-1F8602846B07}"/>
              </a:ext>
            </a:extLst>
          </p:cNvPr>
          <p:cNvSpPr>
            <a:spLocks noGrp="1"/>
          </p:cNvSpPr>
          <p:nvPr>
            <p:ph idx="1"/>
          </p:nvPr>
        </p:nvSpPr>
        <p:spPr>
          <a:xfrm>
            <a:off x="609600" y="2280746"/>
            <a:ext cx="10733590" cy="3845418"/>
          </a:xfrm>
        </p:spPr>
        <p:txBody>
          <a:bodyPr>
            <a:normAutofit fontScale="77500" lnSpcReduction="20000"/>
          </a:bodyPr>
          <a:lstStyle/>
          <a:p>
            <a:r>
              <a:rPr lang="en-US" dirty="0"/>
              <a:t>Generation III or III+ have been constructed and typically have:</a:t>
            </a:r>
          </a:p>
          <a:p>
            <a:pPr lvl="1"/>
            <a:r>
              <a:rPr lang="en-US" sz="2900" dirty="0"/>
              <a:t>A more standardized design for each type to expedite licensing, reduce capital cost and reduce construction time</a:t>
            </a:r>
          </a:p>
          <a:p>
            <a:pPr lvl="1"/>
            <a:r>
              <a:rPr lang="en-US" sz="2900" dirty="0"/>
              <a:t>A simpler and more rugged design, making them easier to operate and less vulnerable to operational upsets</a:t>
            </a:r>
          </a:p>
          <a:p>
            <a:pPr lvl="1"/>
            <a:r>
              <a:rPr lang="en-US" sz="2900" dirty="0"/>
              <a:t>Higher availability and longer operating life – typically 60 years</a:t>
            </a:r>
          </a:p>
          <a:p>
            <a:pPr lvl="1"/>
            <a:r>
              <a:rPr lang="en-US" sz="2900" dirty="0"/>
              <a:t>Further reduced possibility of core melt accidents</a:t>
            </a:r>
          </a:p>
          <a:p>
            <a:pPr lvl="1"/>
            <a:r>
              <a:rPr lang="en-US" sz="2900" dirty="0"/>
              <a:t>Stronger reinforcement against aircraft impact than earlier designs, to resist radiological release</a:t>
            </a:r>
          </a:p>
          <a:p>
            <a:pPr lvl="1"/>
            <a:r>
              <a:rPr lang="en-US" sz="2900" dirty="0"/>
              <a:t>Higher burn-up to use fuel more fully and efficiently and reduce the amount of waste</a:t>
            </a:r>
          </a:p>
          <a:p>
            <a:pPr lvl="1"/>
            <a:r>
              <a:rPr lang="en-US" sz="2900" dirty="0"/>
              <a:t>Greater use of burnable absorbers ('poisons') to extend fuel life</a:t>
            </a:r>
          </a:p>
          <a:p>
            <a:pPr lvl="1"/>
            <a:endParaRPr lang="en-US" dirty="0"/>
          </a:p>
        </p:txBody>
      </p:sp>
      <p:sp>
        <p:nvSpPr>
          <p:cNvPr id="4" name="Slide Number Placeholder 3">
            <a:extLst>
              <a:ext uri="{FF2B5EF4-FFF2-40B4-BE49-F238E27FC236}">
                <a16:creationId xmlns:a16="http://schemas.microsoft.com/office/drawing/2014/main" id="{31546905-519C-B27A-F4B6-B3F05CBDDEE0}"/>
              </a:ext>
            </a:extLst>
          </p:cNvPr>
          <p:cNvSpPr>
            <a:spLocks noGrp="1"/>
          </p:cNvSpPr>
          <p:nvPr>
            <p:ph type="sldNum" sz="quarter" idx="12"/>
          </p:nvPr>
        </p:nvSpPr>
        <p:spPr/>
        <p:txBody>
          <a:bodyPr/>
          <a:lstStyle/>
          <a:p>
            <a:pPr>
              <a:defRPr/>
            </a:pPr>
            <a:fld id="{3FF2C605-4958-CF43-AA48-80339EFDB0AF}" type="slidenum">
              <a:rPr lang="en-US" smtClean="0"/>
              <a:pPr>
                <a:defRPr/>
              </a:pPr>
              <a:t>11</a:t>
            </a:fld>
            <a:endParaRPr lang="en-US"/>
          </a:p>
        </p:txBody>
      </p:sp>
    </p:spTree>
    <p:extLst>
      <p:ext uri="{BB962C8B-B14F-4D97-AF65-F5344CB8AC3E}">
        <p14:creationId xmlns:p14="http://schemas.microsoft.com/office/powerpoint/2010/main" val="14189850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6BF34-E96C-5A4A-B3F1-39F7A9C826CF}"/>
              </a:ext>
            </a:extLst>
          </p:cNvPr>
          <p:cNvSpPr>
            <a:spLocks noGrp="1"/>
          </p:cNvSpPr>
          <p:nvPr>
            <p:ph type="title"/>
          </p:nvPr>
        </p:nvSpPr>
        <p:spPr/>
        <p:txBody>
          <a:bodyPr/>
          <a:lstStyle/>
          <a:p>
            <a:r>
              <a:rPr lang="en-US" dirty="0"/>
              <a:t>Generation III Reactors</a:t>
            </a:r>
          </a:p>
        </p:txBody>
      </p:sp>
      <p:sp>
        <p:nvSpPr>
          <p:cNvPr id="3" name="Content Placeholder 2">
            <a:extLst>
              <a:ext uri="{FF2B5EF4-FFF2-40B4-BE49-F238E27FC236}">
                <a16:creationId xmlns:a16="http://schemas.microsoft.com/office/drawing/2014/main" id="{D53B8168-CC7E-CD48-A149-19944674D27D}"/>
              </a:ext>
            </a:extLst>
          </p:cNvPr>
          <p:cNvSpPr>
            <a:spLocks noGrp="1"/>
          </p:cNvSpPr>
          <p:nvPr>
            <p:ph idx="1"/>
          </p:nvPr>
        </p:nvSpPr>
        <p:spPr>
          <a:xfrm>
            <a:off x="609601" y="2280746"/>
            <a:ext cx="5432384" cy="3845418"/>
          </a:xfrm>
        </p:spPr>
        <p:txBody>
          <a:bodyPr>
            <a:normAutofit fontScale="85000" lnSpcReduction="20000"/>
          </a:bodyPr>
          <a:lstStyle/>
          <a:p>
            <a:r>
              <a:rPr lang="en-US" dirty="0"/>
              <a:t>The greatest departure from Gen II reactors is the incorporation passive of safety features</a:t>
            </a:r>
          </a:p>
          <a:p>
            <a:r>
              <a:rPr lang="en-US" dirty="0"/>
              <a:t>Construction is often modular, allowing for offsite manufacturing and onsite assembly</a:t>
            </a:r>
          </a:p>
          <a:p>
            <a:r>
              <a:rPr lang="en-US" dirty="0"/>
              <a:t>Examples include AP1000, EPR, ABWR</a:t>
            </a:r>
          </a:p>
        </p:txBody>
      </p:sp>
      <p:pic>
        <p:nvPicPr>
          <p:cNvPr id="5" name="Picture 4" descr="Schematic of an AP1000 reactor design.">
            <a:extLst>
              <a:ext uri="{FF2B5EF4-FFF2-40B4-BE49-F238E27FC236}">
                <a16:creationId xmlns:a16="http://schemas.microsoft.com/office/drawing/2014/main" id="{29972EC9-6BA2-FC49-85B4-6E570B96BE0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283206" y="2090012"/>
            <a:ext cx="5299194" cy="4226886"/>
          </a:xfrm>
          <a:prstGeom prst="rect">
            <a:avLst/>
          </a:prstGeom>
        </p:spPr>
      </p:pic>
      <p:sp>
        <p:nvSpPr>
          <p:cNvPr id="4" name="Slide Number Placeholder 3">
            <a:extLst>
              <a:ext uri="{FF2B5EF4-FFF2-40B4-BE49-F238E27FC236}">
                <a16:creationId xmlns:a16="http://schemas.microsoft.com/office/drawing/2014/main" id="{838314CE-3A5C-9640-4B9F-71314D581F9E}"/>
              </a:ext>
            </a:extLst>
          </p:cNvPr>
          <p:cNvSpPr>
            <a:spLocks noGrp="1"/>
          </p:cNvSpPr>
          <p:nvPr>
            <p:ph type="sldNum" sz="quarter" idx="12"/>
          </p:nvPr>
        </p:nvSpPr>
        <p:spPr/>
        <p:txBody>
          <a:bodyPr/>
          <a:lstStyle/>
          <a:p>
            <a:pPr>
              <a:defRPr/>
            </a:pPr>
            <a:fld id="{3FF2C605-4958-CF43-AA48-80339EFDB0AF}" type="slidenum">
              <a:rPr lang="en-US" smtClean="0"/>
              <a:pPr>
                <a:defRPr/>
              </a:pPr>
              <a:t>12</a:t>
            </a:fld>
            <a:endParaRPr lang="en-US"/>
          </a:p>
        </p:txBody>
      </p:sp>
    </p:spTree>
    <p:extLst>
      <p:ext uri="{BB962C8B-B14F-4D97-AF65-F5344CB8AC3E}">
        <p14:creationId xmlns:p14="http://schemas.microsoft.com/office/powerpoint/2010/main" val="6991904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A9092-1496-1F4F-8649-05DBBD65563F}"/>
              </a:ext>
            </a:extLst>
          </p:cNvPr>
          <p:cNvSpPr>
            <a:spLocks noGrp="1"/>
          </p:cNvSpPr>
          <p:nvPr>
            <p:ph type="title"/>
          </p:nvPr>
        </p:nvSpPr>
        <p:spPr/>
        <p:txBody>
          <a:bodyPr/>
          <a:lstStyle/>
          <a:p>
            <a:r>
              <a:rPr lang="en-US" dirty="0"/>
              <a:t>What do I mean by advanced reactors?</a:t>
            </a:r>
          </a:p>
        </p:txBody>
      </p:sp>
      <p:sp>
        <p:nvSpPr>
          <p:cNvPr id="3" name="Content Placeholder 2">
            <a:extLst>
              <a:ext uri="{FF2B5EF4-FFF2-40B4-BE49-F238E27FC236}">
                <a16:creationId xmlns:a16="http://schemas.microsoft.com/office/drawing/2014/main" id="{E91DE69F-6DDA-474F-B5E8-1F8602846B07}"/>
              </a:ext>
            </a:extLst>
          </p:cNvPr>
          <p:cNvSpPr>
            <a:spLocks noGrp="1"/>
          </p:cNvSpPr>
          <p:nvPr>
            <p:ph idx="1"/>
          </p:nvPr>
        </p:nvSpPr>
        <p:spPr>
          <a:xfrm>
            <a:off x="609600" y="2280746"/>
            <a:ext cx="5061995" cy="3845418"/>
          </a:xfrm>
        </p:spPr>
        <p:txBody>
          <a:bodyPr>
            <a:normAutofit fontScale="70000" lnSpcReduction="20000"/>
          </a:bodyPr>
          <a:lstStyle/>
          <a:p>
            <a:r>
              <a:rPr lang="en-US" dirty="0"/>
              <a:t>Generation IV</a:t>
            </a:r>
          </a:p>
          <a:p>
            <a:pPr lvl="1"/>
            <a:r>
              <a:rPr lang="en-US" sz="2900" dirty="0"/>
              <a:t>designs are largely still conceptual</a:t>
            </a:r>
          </a:p>
          <a:p>
            <a:pPr lvl="1"/>
            <a:r>
              <a:rPr lang="en-US" sz="2900" dirty="0"/>
              <a:t>typically incorporates five-seven reactor designs</a:t>
            </a:r>
          </a:p>
          <a:p>
            <a:pPr lvl="1"/>
            <a:r>
              <a:rPr lang="en-US" sz="2900" dirty="0"/>
              <a:t>four of these types are fast reactors</a:t>
            </a:r>
          </a:p>
          <a:p>
            <a:pPr lvl="1"/>
            <a:r>
              <a:rPr lang="en-US" sz="2900" dirty="0"/>
              <a:t>all operate at higher temperatures </a:t>
            </a:r>
          </a:p>
          <a:p>
            <a:pPr lvl="1"/>
            <a:r>
              <a:rPr lang="en-US" sz="2900" dirty="0"/>
              <a:t>all systems represent advances in sustainability, economics, safety, reliability, and proliferation-resistance</a:t>
            </a:r>
          </a:p>
          <a:p>
            <a:pPr lvl="1"/>
            <a:endParaRPr lang="en-US" dirty="0"/>
          </a:p>
        </p:txBody>
      </p:sp>
      <p:pic>
        <p:nvPicPr>
          <p:cNvPr id="4" name="Picture 3" descr="Table of advanced reactor concepts, including neutron spectrum, coolant, temperature range, relative pressure, and applications. ">
            <a:extLst>
              <a:ext uri="{FF2B5EF4-FFF2-40B4-BE49-F238E27FC236}">
                <a16:creationId xmlns:a16="http://schemas.microsoft.com/office/drawing/2014/main" id="{2F9515B5-D690-F84E-94FD-A0109A74934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825897" y="1864328"/>
            <a:ext cx="5941760" cy="4889500"/>
          </a:xfrm>
          <a:prstGeom prst="rect">
            <a:avLst/>
          </a:prstGeom>
        </p:spPr>
      </p:pic>
      <p:sp>
        <p:nvSpPr>
          <p:cNvPr id="5" name="Slide Number Placeholder 4">
            <a:extLst>
              <a:ext uri="{FF2B5EF4-FFF2-40B4-BE49-F238E27FC236}">
                <a16:creationId xmlns:a16="http://schemas.microsoft.com/office/drawing/2014/main" id="{4040C86A-3973-70BA-94E0-94BE7B70CA35}"/>
              </a:ext>
            </a:extLst>
          </p:cNvPr>
          <p:cNvSpPr>
            <a:spLocks noGrp="1"/>
          </p:cNvSpPr>
          <p:nvPr>
            <p:ph type="sldNum" sz="quarter" idx="12"/>
          </p:nvPr>
        </p:nvSpPr>
        <p:spPr/>
        <p:txBody>
          <a:bodyPr/>
          <a:lstStyle/>
          <a:p>
            <a:pPr>
              <a:defRPr/>
            </a:pPr>
            <a:fld id="{3FF2C605-4958-CF43-AA48-80339EFDB0AF}" type="slidenum">
              <a:rPr lang="en-US" smtClean="0"/>
              <a:pPr>
                <a:defRPr/>
              </a:pPr>
              <a:t>13</a:t>
            </a:fld>
            <a:endParaRPr lang="en-US"/>
          </a:p>
        </p:txBody>
      </p:sp>
    </p:spTree>
    <p:extLst>
      <p:ext uri="{BB962C8B-B14F-4D97-AF65-F5344CB8AC3E}">
        <p14:creationId xmlns:p14="http://schemas.microsoft.com/office/powerpoint/2010/main" val="29792565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3271D-15D7-1DA1-BD2E-7C45EC139BFE}"/>
              </a:ext>
            </a:extLst>
          </p:cNvPr>
          <p:cNvSpPr>
            <a:spLocks noGrp="1"/>
          </p:cNvSpPr>
          <p:nvPr>
            <p:ph type="title"/>
          </p:nvPr>
        </p:nvSpPr>
        <p:spPr/>
        <p:txBody>
          <a:bodyPr/>
          <a:lstStyle/>
          <a:p>
            <a:r>
              <a:rPr lang="en-US" dirty="0"/>
              <a:t>Selected Advanced* Reactor Designs</a:t>
            </a:r>
          </a:p>
        </p:txBody>
      </p:sp>
      <p:sp>
        <p:nvSpPr>
          <p:cNvPr id="3" name="Content Placeholder 2">
            <a:extLst>
              <a:ext uri="{FF2B5EF4-FFF2-40B4-BE49-F238E27FC236}">
                <a16:creationId xmlns:a16="http://schemas.microsoft.com/office/drawing/2014/main" id="{6270072A-3A58-37E6-D19C-96D734D36A24}"/>
              </a:ext>
            </a:extLst>
          </p:cNvPr>
          <p:cNvSpPr>
            <a:spLocks noGrp="1"/>
          </p:cNvSpPr>
          <p:nvPr>
            <p:ph idx="1"/>
          </p:nvPr>
        </p:nvSpPr>
        <p:spPr/>
        <p:txBody>
          <a:bodyPr/>
          <a:lstStyle/>
          <a:p>
            <a:r>
              <a:rPr lang="en-US" sz="2400" dirty="0"/>
              <a:t>PWR: Westinghouse: AP-1000, AP-600; </a:t>
            </a:r>
            <a:r>
              <a:rPr lang="en-US" sz="2400" dirty="0" err="1"/>
              <a:t>Framatome</a:t>
            </a:r>
            <a:r>
              <a:rPr lang="en-US" sz="2400" dirty="0"/>
              <a:t>: EPR; KHNP: APR+; </a:t>
            </a:r>
            <a:r>
              <a:rPr lang="en-US" sz="2400" dirty="0" err="1"/>
              <a:t>Gidropress</a:t>
            </a:r>
            <a:r>
              <a:rPr lang="en-US" sz="2400" dirty="0"/>
              <a:t>: VVER-1200</a:t>
            </a:r>
          </a:p>
          <a:p>
            <a:r>
              <a:rPr lang="en-US" sz="2400" dirty="0"/>
              <a:t>GCR: </a:t>
            </a:r>
            <a:r>
              <a:rPr lang="en-US" sz="2400" dirty="0" err="1"/>
              <a:t>Framatome</a:t>
            </a:r>
            <a:r>
              <a:rPr lang="en-US" sz="2400" dirty="0"/>
              <a:t>: SC-HTGR; GA: Prismatic HTR</a:t>
            </a:r>
          </a:p>
          <a:p>
            <a:r>
              <a:rPr lang="en-US" sz="2400" dirty="0"/>
              <a:t>SFR: CEA: ASTRID; JAEA: JSFR; GE-Hitachi: PRISM</a:t>
            </a:r>
          </a:p>
          <a:p>
            <a:r>
              <a:rPr lang="en-US" sz="2400" dirty="0"/>
              <a:t>MSR: Terrestrial: IMSR-400; </a:t>
            </a:r>
            <a:r>
              <a:rPr lang="en-US" sz="2400" dirty="0" err="1"/>
              <a:t>Flibe</a:t>
            </a:r>
            <a:r>
              <a:rPr lang="en-US" sz="2400" dirty="0"/>
              <a:t> Energy: LFTR; Seaborg: MSTW</a:t>
            </a:r>
          </a:p>
          <a:p>
            <a:r>
              <a:rPr lang="en-US" sz="2400" dirty="0"/>
              <a:t>Can consult the Advanced Reactors Information System (ARIS) from the IAEA for more information: https://</a:t>
            </a:r>
            <a:r>
              <a:rPr lang="en-US" sz="2400" dirty="0" err="1"/>
              <a:t>aris.iaea.org</a:t>
            </a:r>
            <a:r>
              <a:rPr lang="en-US" sz="2400" dirty="0"/>
              <a:t>/</a:t>
            </a:r>
          </a:p>
        </p:txBody>
      </p:sp>
      <p:sp>
        <p:nvSpPr>
          <p:cNvPr id="4" name="TextBox 3">
            <a:extLst>
              <a:ext uri="{FF2B5EF4-FFF2-40B4-BE49-F238E27FC236}">
                <a16:creationId xmlns:a16="http://schemas.microsoft.com/office/drawing/2014/main" id="{0DDA52FB-C2A0-378D-AD12-F8E627566E0A}"/>
              </a:ext>
            </a:extLst>
          </p:cNvPr>
          <p:cNvSpPr txBox="1"/>
          <p:nvPr/>
        </p:nvSpPr>
        <p:spPr>
          <a:xfrm>
            <a:off x="3184634" y="5773221"/>
            <a:ext cx="5822731" cy="369332"/>
          </a:xfrm>
          <a:prstGeom prst="rect">
            <a:avLst/>
          </a:prstGeom>
          <a:noFill/>
        </p:spPr>
        <p:txBody>
          <a:bodyPr wrap="square" rtlCol="0">
            <a:spAutoFit/>
          </a:bodyPr>
          <a:lstStyle/>
          <a:p>
            <a:pPr algn="ctr"/>
            <a:r>
              <a:rPr lang="en-US" dirty="0"/>
              <a:t>*Have included some Gen III here…</a:t>
            </a:r>
          </a:p>
        </p:txBody>
      </p:sp>
      <p:sp>
        <p:nvSpPr>
          <p:cNvPr id="5" name="Slide Number Placeholder 4">
            <a:extLst>
              <a:ext uri="{FF2B5EF4-FFF2-40B4-BE49-F238E27FC236}">
                <a16:creationId xmlns:a16="http://schemas.microsoft.com/office/drawing/2014/main" id="{1087B35D-A2E5-D14F-B156-841C1DDC646B}"/>
              </a:ext>
            </a:extLst>
          </p:cNvPr>
          <p:cNvSpPr>
            <a:spLocks noGrp="1"/>
          </p:cNvSpPr>
          <p:nvPr>
            <p:ph type="sldNum" sz="quarter" idx="12"/>
          </p:nvPr>
        </p:nvSpPr>
        <p:spPr/>
        <p:txBody>
          <a:bodyPr/>
          <a:lstStyle/>
          <a:p>
            <a:pPr>
              <a:defRPr/>
            </a:pPr>
            <a:fld id="{3FF2C605-4958-CF43-AA48-80339EFDB0AF}" type="slidenum">
              <a:rPr lang="en-US" smtClean="0"/>
              <a:pPr>
                <a:defRPr/>
              </a:pPr>
              <a:t>14</a:t>
            </a:fld>
            <a:endParaRPr lang="en-US"/>
          </a:p>
        </p:txBody>
      </p:sp>
    </p:spTree>
    <p:extLst>
      <p:ext uri="{BB962C8B-B14F-4D97-AF65-F5344CB8AC3E}">
        <p14:creationId xmlns:p14="http://schemas.microsoft.com/office/powerpoint/2010/main" val="3310267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A9092-1496-1F4F-8649-05DBBD65563F}"/>
              </a:ext>
            </a:extLst>
          </p:cNvPr>
          <p:cNvSpPr>
            <a:spLocks noGrp="1"/>
          </p:cNvSpPr>
          <p:nvPr>
            <p:ph type="title"/>
          </p:nvPr>
        </p:nvSpPr>
        <p:spPr/>
        <p:txBody>
          <a:bodyPr/>
          <a:lstStyle/>
          <a:p>
            <a:r>
              <a:rPr lang="en-US" dirty="0"/>
              <a:t>What do I mean by advanced reactors?</a:t>
            </a:r>
          </a:p>
        </p:txBody>
      </p:sp>
      <p:sp>
        <p:nvSpPr>
          <p:cNvPr id="3" name="Content Placeholder 2">
            <a:extLst>
              <a:ext uri="{FF2B5EF4-FFF2-40B4-BE49-F238E27FC236}">
                <a16:creationId xmlns:a16="http://schemas.microsoft.com/office/drawing/2014/main" id="{E91DE69F-6DDA-474F-B5E8-1F8602846B07}"/>
              </a:ext>
            </a:extLst>
          </p:cNvPr>
          <p:cNvSpPr>
            <a:spLocks noGrp="1"/>
          </p:cNvSpPr>
          <p:nvPr>
            <p:ph idx="1"/>
          </p:nvPr>
        </p:nvSpPr>
        <p:spPr>
          <a:xfrm>
            <a:off x="609601" y="2280746"/>
            <a:ext cx="6474106" cy="3845418"/>
          </a:xfrm>
        </p:spPr>
        <p:txBody>
          <a:bodyPr>
            <a:normAutofit fontScale="77500" lnSpcReduction="20000"/>
          </a:bodyPr>
          <a:lstStyle/>
          <a:p>
            <a:r>
              <a:rPr lang="en-US" sz="2900" dirty="0"/>
              <a:t>Small Nuclear Reactors </a:t>
            </a:r>
          </a:p>
          <a:p>
            <a:pPr lvl="1"/>
            <a:r>
              <a:rPr lang="en-US" sz="2800" dirty="0"/>
              <a:t>Small Modular Reactors (SMRs)</a:t>
            </a:r>
          </a:p>
          <a:p>
            <a:pPr lvl="1"/>
            <a:r>
              <a:rPr lang="en-US" sz="2800" dirty="0"/>
              <a:t>Micro-Reactors</a:t>
            </a:r>
          </a:p>
          <a:p>
            <a:r>
              <a:rPr lang="en-US" sz="2900" dirty="0"/>
              <a:t>Reduces the cost associated with building 1000 MW scale reactors, and can provide power away from large grid system</a:t>
            </a:r>
          </a:p>
          <a:p>
            <a:r>
              <a:rPr lang="en-US" sz="2900" dirty="0"/>
              <a:t>SMRs are 300 </a:t>
            </a:r>
            <a:r>
              <a:rPr lang="en-US" sz="2900" dirty="0" err="1"/>
              <a:t>MWe</a:t>
            </a:r>
            <a:r>
              <a:rPr lang="en-US" sz="2900" dirty="0"/>
              <a:t> or less, designed with modular technology using module factory fabrication, pursuing economies of series production and short construction times</a:t>
            </a:r>
          </a:p>
          <a:p>
            <a:r>
              <a:rPr lang="en-US" sz="2900" dirty="0"/>
              <a:t>Microreactors (or very small modular reactors </a:t>
            </a:r>
            <a:r>
              <a:rPr lang="en-US" sz="2900" dirty="0" err="1"/>
              <a:t>vSMRs</a:t>
            </a:r>
            <a:r>
              <a:rPr lang="en-US" sz="2900" dirty="0"/>
              <a:t>) are up to 25 </a:t>
            </a:r>
            <a:r>
              <a:rPr lang="en-US" sz="2900" dirty="0" err="1"/>
              <a:t>MWe</a:t>
            </a:r>
            <a:endParaRPr lang="en-US" sz="2900" dirty="0"/>
          </a:p>
          <a:p>
            <a:pPr lvl="1"/>
            <a:endParaRPr lang="en-US" dirty="0"/>
          </a:p>
        </p:txBody>
      </p:sp>
      <p:pic>
        <p:nvPicPr>
          <p:cNvPr id="5" name="Picture 4" descr="Modular reactor design.">
            <a:extLst>
              <a:ext uri="{FF2B5EF4-FFF2-40B4-BE49-F238E27FC236}">
                <a16:creationId xmlns:a16="http://schemas.microsoft.com/office/drawing/2014/main" id="{11D011F4-3B4E-BF44-BB69-3947E04318D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301069" y="1783305"/>
            <a:ext cx="4840300" cy="2420150"/>
          </a:xfrm>
          <a:prstGeom prst="rect">
            <a:avLst/>
          </a:prstGeom>
        </p:spPr>
      </p:pic>
      <p:pic>
        <p:nvPicPr>
          <p:cNvPr id="6" name="Picture 5" descr="Modular reactor component being transported on a semi-truck.">
            <a:extLst>
              <a:ext uri="{FF2B5EF4-FFF2-40B4-BE49-F238E27FC236}">
                <a16:creationId xmlns:a16="http://schemas.microsoft.com/office/drawing/2014/main" id="{7C0B2003-0843-EC47-A0D6-91F53EF4EC3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098738" y="4203455"/>
            <a:ext cx="3337050" cy="2219416"/>
          </a:xfrm>
          <a:prstGeom prst="rect">
            <a:avLst/>
          </a:prstGeom>
        </p:spPr>
      </p:pic>
      <p:sp>
        <p:nvSpPr>
          <p:cNvPr id="4" name="Slide Number Placeholder 3">
            <a:extLst>
              <a:ext uri="{FF2B5EF4-FFF2-40B4-BE49-F238E27FC236}">
                <a16:creationId xmlns:a16="http://schemas.microsoft.com/office/drawing/2014/main" id="{E1D58D58-0DFA-90E7-2C32-27AF0A7062E4}"/>
              </a:ext>
            </a:extLst>
          </p:cNvPr>
          <p:cNvSpPr>
            <a:spLocks noGrp="1"/>
          </p:cNvSpPr>
          <p:nvPr>
            <p:ph type="sldNum" sz="quarter" idx="12"/>
          </p:nvPr>
        </p:nvSpPr>
        <p:spPr/>
        <p:txBody>
          <a:bodyPr/>
          <a:lstStyle/>
          <a:p>
            <a:pPr>
              <a:defRPr/>
            </a:pPr>
            <a:fld id="{3FF2C605-4958-CF43-AA48-80339EFDB0AF}" type="slidenum">
              <a:rPr lang="en-US" smtClean="0"/>
              <a:pPr>
                <a:defRPr/>
              </a:pPr>
              <a:t>15</a:t>
            </a:fld>
            <a:endParaRPr lang="en-US"/>
          </a:p>
        </p:txBody>
      </p:sp>
    </p:spTree>
    <p:extLst>
      <p:ext uri="{BB962C8B-B14F-4D97-AF65-F5344CB8AC3E}">
        <p14:creationId xmlns:p14="http://schemas.microsoft.com/office/powerpoint/2010/main" val="35664385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544D9-91A5-8B4C-9833-9E6666D0C8BC}"/>
              </a:ext>
            </a:extLst>
          </p:cNvPr>
          <p:cNvSpPr>
            <a:spLocks noGrp="1"/>
          </p:cNvSpPr>
          <p:nvPr>
            <p:ph type="title"/>
          </p:nvPr>
        </p:nvSpPr>
        <p:spPr/>
        <p:txBody>
          <a:bodyPr/>
          <a:lstStyle/>
          <a:p>
            <a:r>
              <a:rPr lang="en-US" dirty="0"/>
              <a:t>Small Nuclear Reactors</a:t>
            </a:r>
          </a:p>
        </p:txBody>
      </p:sp>
      <p:pic>
        <p:nvPicPr>
          <p:cNvPr id="4" name="Picture 3" descr="Table of reactor information.">
            <a:extLst>
              <a:ext uri="{FF2B5EF4-FFF2-40B4-BE49-F238E27FC236}">
                <a16:creationId xmlns:a16="http://schemas.microsoft.com/office/drawing/2014/main" id="{53FC065E-4EEC-6642-A897-940A49955B3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632294" y="1968500"/>
            <a:ext cx="5250566" cy="1610793"/>
          </a:xfrm>
          <a:prstGeom prst="rect">
            <a:avLst/>
          </a:prstGeom>
        </p:spPr>
      </p:pic>
      <p:pic>
        <p:nvPicPr>
          <p:cNvPr id="5" name="Picture 4" descr="Table of reactor information.">
            <a:extLst>
              <a:ext uri="{FF2B5EF4-FFF2-40B4-BE49-F238E27FC236}">
                <a16:creationId xmlns:a16="http://schemas.microsoft.com/office/drawing/2014/main" id="{EF07FBDA-8F5B-A448-B384-5D79F4B716F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09600" y="1945350"/>
            <a:ext cx="5328213" cy="4267582"/>
          </a:xfrm>
          <a:prstGeom prst="rect">
            <a:avLst/>
          </a:prstGeom>
        </p:spPr>
      </p:pic>
      <p:pic>
        <p:nvPicPr>
          <p:cNvPr id="6" name="Picture 5" descr="Table of reactor information.">
            <a:extLst>
              <a:ext uri="{FF2B5EF4-FFF2-40B4-BE49-F238E27FC236}">
                <a16:creationId xmlns:a16="http://schemas.microsoft.com/office/drawing/2014/main" id="{C6FCA96E-0E25-F74F-B133-22B8892C17EA}"/>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632294" y="3625014"/>
            <a:ext cx="4868602" cy="2681136"/>
          </a:xfrm>
          <a:prstGeom prst="rect">
            <a:avLst/>
          </a:prstGeom>
        </p:spPr>
      </p:pic>
      <p:sp>
        <p:nvSpPr>
          <p:cNvPr id="3" name="Slide Number Placeholder 2">
            <a:extLst>
              <a:ext uri="{FF2B5EF4-FFF2-40B4-BE49-F238E27FC236}">
                <a16:creationId xmlns:a16="http://schemas.microsoft.com/office/drawing/2014/main" id="{23BEE61F-126B-AF8F-6D6C-892034FF9B5C}"/>
              </a:ext>
            </a:extLst>
          </p:cNvPr>
          <p:cNvSpPr>
            <a:spLocks noGrp="1"/>
          </p:cNvSpPr>
          <p:nvPr>
            <p:ph type="sldNum" sz="quarter" idx="12"/>
          </p:nvPr>
        </p:nvSpPr>
        <p:spPr/>
        <p:txBody>
          <a:bodyPr/>
          <a:lstStyle/>
          <a:p>
            <a:pPr>
              <a:defRPr/>
            </a:pPr>
            <a:fld id="{3FF2C605-4958-CF43-AA48-80339EFDB0AF}" type="slidenum">
              <a:rPr lang="en-US" smtClean="0"/>
              <a:pPr>
                <a:defRPr/>
              </a:pPr>
              <a:t>16</a:t>
            </a:fld>
            <a:endParaRPr lang="en-US"/>
          </a:p>
        </p:txBody>
      </p:sp>
    </p:spTree>
    <p:extLst>
      <p:ext uri="{BB962C8B-B14F-4D97-AF65-F5344CB8AC3E}">
        <p14:creationId xmlns:p14="http://schemas.microsoft.com/office/powerpoint/2010/main" val="35639520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A9FF5-3AB3-2D22-C68C-3E00A56A77C6}"/>
              </a:ext>
            </a:extLst>
          </p:cNvPr>
          <p:cNvSpPr>
            <a:spLocks noGrp="1"/>
          </p:cNvSpPr>
          <p:nvPr>
            <p:ph type="title"/>
          </p:nvPr>
        </p:nvSpPr>
        <p:spPr/>
        <p:txBody>
          <a:bodyPr/>
          <a:lstStyle/>
          <a:p>
            <a:r>
              <a:rPr lang="en-US" dirty="0"/>
              <a:t>DOE Push for Advanced Reactors</a:t>
            </a:r>
          </a:p>
        </p:txBody>
      </p:sp>
      <p:sp>
        <p:nvSpPr>
          <p:cNvPr id="3" name="Content Placeholder 2">
            <a:extLst>
              <a:ext uri="{FF2B5EF4-FFF2-40B4-BE49-F238E27FC236}">
                <a16:creationId xmlns:a16="http://schemas.microsoft.com/office/drawing/2014/main" id="{1B3003FF-87BC-C330-610C-756228C3A68B}"/>
              </a:ext>
            </a:extLst>
          </p:cNvPr>
          <p:cNvSpPr>
            <a:spLocks noGrp="1"/>
          </p:cNvSpPr>
          <p:nvPr>
            <p:ph idx="1"/>
          </p:nvPr>
        </p:nvSpPr>
        <p:spPr/>
        <p:txBody>
          <a:bodyPr/>
          <a:lstStyle/>
          <a:p>
            <a:r>
              <a:rPr lang="en-US" sz="2000" dirty="0"/>
              <a:t>DOE is funding a lot of research into advanced reactor systems</a:t>
            </a:r>
          </a:p>
          <a:p>
            <a:r>
              <a:rPr lang="en-US" sz="2000" dirty="0"/>
              <a:t>The Advanced Reactor Demonstration Program (ARDP) seeks to rapidly develop advanced reactor concepts</a:t>
            </a:r>
          </a:p>
          <a:p>
            <a:r>
              <a:rPr lang="en-US" sz="2000" dirty="0"/>
              <a:t>The National Reactor Innovation Center (NRIC) supports the construction and demonstration of advanced reactor systems committed to demonstrating advanced reactors by the end of 2025</a:t>
            </a:r>
          </a:p>
          <a:p>
            <a:r>
              <a:rPr lang="en-US" sz="2000" dirty="0"/>
              <a:t>The Office of Advanced Reactor Technologies (ART) sponsors research, development and deployment (RD&amp;D) activities, with a focus on advancing scientific understanding of these technologies, establishing an international network of user facilities for civil nuclear RD&amp;D, improving economic competitiveness, and reducing the technical and regulatory uncertainties for deploying new nuclear reactor technologies</a:t>
            </a:r>
          </a:p>
        </p:txBody>
      </p:sp>
      <p:sp>
        <p:nvSpPr>
          <p:cNvPr id="4" name="Slide Number Placeholder 3">
            <a:extLst>
              <a:ext uri="{FF2B5EF4-FFF2-40B4-BE49-F238E27FC236}">
                <a16:creationId xmlns:a16="http://schemas.microsoft.com/office/drawing/2014/main" id="{FFDF1B14-6BAE-C46B-6B26-8AF1C75205D0}"/>
              </a:ext>
            </a:extLst>
          </p:cNvPr>
          <p:cNvSpPr>
            <a:spLocks noGrp="1"/>
          </p:cNvSpPr>
          <p:nvPr>
            <p:ph type="sldNum" sz="quarter" idx="12"/>
          </p:nvPr>
        </p:nvSpPr>
        <p:spPr/>
        <p:txBody>
          <a:bodyPr/>
          <a:lstStyle/>
          <a:p>
            <a:pPr>
              <a:defRPr/>
            </a:pPr>
            <a:fld id="{3FF2C605-4958-CF43-AA48-80339EFDB0AF}" type="slidenum">
              <a:rPr lang="en-US" smtClean="0"/>
              <a:pPr>
                <a:defRPr/>
              </a:pPr>
              <a:t>17</a:t>
            </a:fld>
            <a:endParaRPr lang="en-US"/>
          </a:p>
        </p:txBody>
      </p:sp>
    </p:spTree>
    <p:extLst>
      <p:ext uri="{BB962C8B-B14F-4D97-AF65-F5344CB8AC3E}">
        <p14:creationId xmlns:p14="http://schemas.microsoft.com/office/powerpoint/2010/main" val="13975160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6F7CE-DDB6-B748-8CFF-FA5C8F85571E}"/>
              </a:ext>
            </a:extLst>
          </p:cNvPr>
          <p:cNvSpPr>
            <a:spLocks noGrp="1"/>
          </p:cNvSpPr>
          <p:nvPr>
            <p:ph type="title"/>
          </p:nvPr>
        </p:nvSpPr>
        <p:spPr/>
        <p:txBody>
          <a:bodyPr/>
          <a:lstStyle/>
          <a:p>
            <a:r>
              <a:rPr lang="en-US" dirty="0"/>
              <a:t>Advanced Reactors in This Course</a:t>
            </a:r>
          </a:p>
        </p:txBody>
      </p:sp>
      <p:sp>
        <p:nvSpPr>
          <p:cNvPr id="3" name="Content Placeholder 2">
            <a:extLst>
              <a:ext uri="{FF2B5EF4-FFF2-40B4-BE49-F238E27FC236}">
                <a16:creationId xmlns:a16="http://schemas.microsoft.com/office/drawing/2014/main" id="{73CE51DF-1CEC-EC47-9534-E608A43727A8}"/>
              </a:ext>
            </a:extLst>
          </p:cNvPr>
          <p:cNvSpPr>
            <a:spLocks noGrp="1"/>
          </p:cNvSpPr>
          <p:nvPr>
            <p:ph idx="1"/>
          </p:nvPr>
        </p:nvSpPr>
        <p:spPr>
          <a:xfrm>
            <a:off x="609600" y="1968500"/>
            <a:ext cx="10972800" cy="4157664"/>
          </a:xfrm>
        </p:spPr>
        <p:txBody>
          <a:bodyPr/>
          <a:lstStyle/>
          <a:p>
            <a:r>
              <a:rPr lang="en-US" sz="2400" dirty="0"/>
              <a:t>Generation IV or adjacent concepts:</a:t>
            </a:r>
          </a:p>
          <a:p>
            <a:pPr lvl="1"/>
            <a:r>
              <a:rPr lang="en-US" sz="2000" dirty="0"/>
              <a:t>Sodium-cooled fast reactors</a:t>
            </a:r>
          </a:p>
          <a:p>
            <a:pPr lvl="1"/>
            <a:r>
              <a:rPr lang="en-US" sz="2000" dirty="0"/>
              <a:t>Molten salt reactors (both salt-cooled and salt-fueled)</a:t>
            </a:r>
          </a:p>
          <a:p>
            <a:pPr lvl="1"/>
            <a:r>
              <a:rPr lang="en-US" sz="2000" dirty="0"/>
              <a:t>Gas-cooled reactors</a:t>
            </a:r>
          </a:p>
          <a:p>
            <a:pPr lvl="1"/>
            <a:r>
              <a:rPr lang="en-US" sz="2000" dirty="0"/>
              <a:t>Lead-cooled reactors</a:t>
            </a:r>
          </a:p>
          <a:p>
            <a:pPr lvl="1"/>
            <a:r>
              <a:rPr lang="en-US" sz="2000" dirty="0"/>
              <a:t>Research reactors</a:t>
            </a:r>
          </a:p>
          <a:p>
            <a:pPr lvl="1"/>
            <a:r>
              <a:rPr lang="en-US" sz="2000" dirty="0"/>
              <a:t>Supercritical water-cooled reactors (if we have time)</a:t>
            </a:r>
          </a:p>
          <a:p>
            <a:r>
              <a:rPr lang="en-US" sz="2400" dirty="0"/>
              <a:t>Many of these concepts overlap with SMRs</a:t>
            </a:r>
          </a:p>
          <a:p>
            <a:r>
              <a:rPr lang="en-US" sz="2400" dirty="0"/>
              <a:t>Will not touch on traditional UO2 fuel in LWRs, but touch on basically everything else</a:t>
            </a:r>
          </a:p>
          <a:p>
            <a:pPr lvl="1"/>
            <a:endParaRPr lang="en-US" sz="2400" dirty="0"/>
          </a:p>
        </p:txBody>
      </p:sp>
      <p:sp>
        <p:nvSpPr>
          <p:cNvPr id="4" name="Slide Number Placeholder 3">
            <a:extLst>
              <a:ext uri="{FF2B5EF4-FFF2-40B4-BE49-F238E27FC236}">
                <a16:creationId xmlns:a16="http://schemas.microsoft.com/office/drawing/2014/main" id="{4286E993-FA47-AFD2-FC0B-E9D6AD5ECEE4}"/>
              </a:ext>
            </a:extLst>
          </p:cNvPr>
          <p:cNvSpPr>
            <a:spLocks noGrp="1"/>
          </p:cNvSpPr>
          <p:nvPr>
            <p:ph type="sldNum" sz="quarter" idx="12"/>
          </p:nvPr>
        </p:nvSpPr>
        <p:spPr/>
        <p:txBody>
          <a:bodyPr/>
          <a:lstStyle/>
          <a:p>
            <a:pPr>
              <a:defRPr/>
            </a:pPr>
            <a:fld id="{3FF2C605-4958-CF43-AA48-80339EFDB0AF}" type="slidenum">
              <a:rPr lang="en-US" smtClean="0"/>
              <a:pPr>
                <a:defRPr/>
              </a:pPr>
              <a:t>18</a:t>
            </a:fld>
            <a:endParaRPr lang="en-US"/>
          </a:p>
        </p:txBody>
      </p:sp>
    </p:spTree>
    <p:extLst>
      <p:ext uri="{BB962C8B-B14F-4D97-AF65-F5344CB8AC3E}">
        <p14:creationId xmlns:p14="http://schemas.microsoft.com/office/powerpoint/2010/main" val="569689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97520-EFC3-6346-8C35-1817DC6451A3}"/>
              </a:ext>
            </a:extLst>
          </p:cNvPr>
          <p:cNvSpPr>
            <a:spLocks noGrp="1"/>
          </p:cNvSpPr>
          <p:nvPr>
            <p:ph type="title"/>
          </p:nvPr>
        </p:nvSpPr>
        <p:spPr/>
        <p:txBody>
          <a:bodyPr/>
          <a:lstStyle/>
          <a:p>
            <a:r>
              <a:rPr lang="en-US" dirty="0"/>
              <a:t>Subject Matter</a:t>
            </a:r>
          </a:p>
        </p:txBody>
      </p:sp>
      <p:sp>
        <p:nvSpPr>
          <p:cNvPr id="3" name="Content Placeholder 2">
            <a:extLst>
              <a:ext uri="{FF2B5EF4-FFF2-40B4-BE49-F238E27FC236}">
                <a16:creationId xmlns:a16="http://schemas.microsoft.com/office/drawing/2014/main" id="{DD54E750-56FB-B64A-96F1-1A89BB30F130}"/>
              </a:ext>
            </a:extLst>
          </p:cNvPr>
          <p:cNvSpPr>
            <a:spLocks noGrp="1"/>
          </p:cNvSpPr>
          <p:nvPr>
            <p:ph idx="1"/>
          </p:nvPr>
        </p:nvSpPr>
        <p:spPr/>
        <p:txBody>
          <a:bodyPr>
            <a:normAutofit/>
          </a:bodyPr>
          <a:lstStyle/>
          <a:p>
            <a:r>
              <a:rPr lang="en-US" sz="2400" dirty="0"/>
              <a:t>Explore unique aspects of each reactor type</a:t>
            </a:r>
          </a:p>
          <a:p>
            <a:r>
              <a:rPr lang="en-US" sz="2400" dirty="0"/>
              <a:t>Identify fuel and cladding materials relevant to each reactor design, with a general emphasis on fuels, but will still cover advanced cladding materials and related materials phenomena</a:t>
            </a:r>
          </a:p>
          <a:p>
            <a:r>
              <a:rPr lang="en-US" sz="2400" b="1" dirty="0"/>
              <a:t>Explore materials challenges and materials phenomena impacting the performance, deployment, and lifetime of advanced reactors </a:t>
            </a:r>
          </a:p>
        </p:txBody>
      </p:sp>
      <p:sp>
        <p:nvSpPr>
          <p:cNvPr id="4" name="Slide Number Placeholder 3">
            <a:extLst>
              <a:ext uri="{FF2B5EF4-FFF2-40B4-BE49-F238E27FC236}">
                <a16:creationId xmlns:a16="http://schemas.microsoft.com/office/drawing/2014/main" id="{507D3D8B-5E78-69FB-8209-A7A0F1CA4B70}"/>
              </a:ext>
            </a:extLst>
          </p:cNvPr>
          <p:cNvSpPr>
            <a:spLocks noGrp="1"/>
          </p:cNvSpPr>
          <p:nvPr>
            <p:ph type="sldNum" sz="quarter" idx="12"/>
          </p:nvPr>
        </p:nvSpPr>
        <p:spPr/>
        <p:txBody>
          <a:bodyPr/>
          <a:lstStyle/>
          <a:p>
            <a:pPr>
              <a:defRPr/>
            </a:pPr>
            <a:fld id="{3FF2C605-4958-CF43-AA48-80339EFDB0AF}" type="slidenum">
              <a:rPr lang="en-US" smtClean="0"/>
              <a:pPr>
                <a:defRPr/>
              </a:pPr>
              <a:t>19</a:t>
            </a:fld>
            <a:endParaRPr lang="en-US"/>
          </a:p>
        </p:txBody>
      </p:sp>
    </p:spTree>
    <p:extLst>
      <p:ext uri="{BB962C8B-B14F-4D97-AF65-F5344CB8AC3E}">
        <p14:creationId xmlns:p14="http://schemas.microsoft.com/office/powerpoint/2010/main" val="37768026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FF56A-496A-2047-ADE5-CCF8BA98C8AD}"/>
              </a:ext>
            </a:extLst>
          </p:cNvPr>
          <p:cNvSpPr>
            <a:spLocks noGrp="1"/>
          </p:cNvSpPr>
          <p:nvPr>
            <p:ph type="title"/>
          </p:nvPr>
        </p:nvSpPr>
        <p:spPr/>
        <p:txBody>
          <a:bodyPr/>
          <a:lstStyle/>
          <a:p>
            <a:r>
              <a:rPr lang="en-US" dirty="0"/>
              <a:t>Questions?</a:t>
            </a:r>
          </a:p>
        </p:txBody>
      </p:sp>
      <p:sp>
        <p:nvSpPr>
          <p:cNvPr id="3" name="Slide Number Placeholder 2">
            <a:extLst>
              <a:ext uri="{FF2B5EF4-FFF2-40B4-BE49-F238E27FC236}">
                <a16:creationId xmlns:a16="http://schemas.microsoft.com/office/drawing/2014/main" id="{09EEE30A-0562-E311-CA66-DDAFEF476F7B}"/>
              </a:ext>
            </a:extLst>
          </p:cNvPr>
          <p:cNvSpPr>
            <a:spLocks noGrp="1"/>
          </p:cNvSpPr>
          <p:nvPr>
            <p:ph type="sldNum" sz="quarter" idx="12"/>
          </p:nvPr>
        </p:nvSpPr>
        <p:spPr/>
        <p:txBody>
          <a:bodyPr/>
          <a:lstStyle/>
          <a:p>
            <a:pPr>
              <a:defRPr/>
            </a:pPr>
            <a:fld id="{0DA6BD0F-ABBC-C14D-BC96-77BE126A748B}" type="slidenum">
              <a:rPr lang="en-US" smtClean="0"/>
              <a:pPr>
                <a:defRPr/>
              </a:pPr>
              <a:t>20</a:t>
            </a:fld>
            <a:endParaRPr lang="en-US"/>
          </a:p>
        </p:txBody>
      </p:sp>
    </p:spTree>
    <p:extLst>
      <p:ext uri="{BB962C8B-B14F-4D97-AF65-F5344CB8AC3E}">
        <p14:creationId xmlns:p14="http://schemas.microsoft.com/office/powerpoint/2010/main" val="2867231162"/>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NCStateU-horizontal-left-lo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25734</TotalTime>
  <Words>1123</Words>
  <Application>Microsoft Macintosh PowerPoint</Application>
  <PresentationFormat>Widescreen</PresentationFormat>
  <Paragraphs>128</Paragraphs>
  <Slides>20</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20</vt:i4>
      </vt:variant>
    </vt:vector>
  </HeadingPairs>
  <TitlesOfParts>
    <vt:vector size="26" baseType="lpstr">
      <vt:lpstr>Aptos</vt:lpstr>
      <vt:lpstr>Arial</vt:lpstr>
      <vt:lpstr>Calibri</vt:lpstr>
      <vt:lpstr>Calibri Light</vt:lpstr>
      <vt:lpstr>Custom Design</vt:lpstr>
      <vt:lpstr>1_NCStateU-horizontal-left-logo</vt:lpstr>
      <vt:lpstr>Introduction and Overview</vt:lpstr>
      <vt:lpstr>Housekeeping</vt:lpstr>
      <vt:lpstr>In Person/Hybrid</vt:lpstr>
      <vt:lpstr>Exams, Projects, Grading</vt:lpstr>
      <vt:lpstr>Office Hours</vt:lpstr>
      <vt:lpstr>Feedback</vt:lpstr>
      <vt:lpstr>Syllabus</vt:lpstr>
      <vt:lpstr>Resources</vt:lpstr>
      <vt:lpstr>Advanced reactor systems</vt:lpstr>
      <vt:lpstr>What do I mean by advanced reactors?</vt:lpstr>
      <vt:lpstr>What do I mean by advanced reactors?</vt:lpstr>
      <vt:lpstr>Generation III Reactors</vt:lpstr>
      <vt:lpstr>What do I mean by advanced reactors?</vt:lpstr>
      <vt:lpstr>Selected Advanced* Reactor Designs</vt:lpstr>
      <vt:lpstr>What do I mean by advanced reactors?</vt:lpstr>
      <vt:lpstr>Small Nuclear Reactors</vt:lpstr>
      <vt:lpstr>DOE Push for Advanced Reactors</vt:lpstr>
      <vt:lpstr>Advanced Reactors in This Course</vt:lpstr>
      <vt:lpstr>Subject Matter</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Fuel Fabrication</dc:title>
  <dc:creator>Ben Beeler</dc:creator>
  <cp:lastModifiedBy>Benjamin W. Beeler</cp:lastModifiedBy>
  <cp:revision>81</cp:revision>
  <dcterms:created xsi:type="dcterms:W3CDTF">2019-12-09T16:44:02Z</dcterms:created>
  <dcterms:modified xsi:type="dcterms:W3CDTF">2026-08-17T13:17:07Z</dcterms:modified>
</cp:coreProperties>
</file>
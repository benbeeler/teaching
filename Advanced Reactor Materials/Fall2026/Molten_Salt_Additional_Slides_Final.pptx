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reused from Lec14_MoltenSalts.pptx, slide 11. Structure source: Fayfar et al., PRX Energy 3, 013002 (2024), https://www.ornl.gov/publication/complex-structure-molten-flibe-2lif-bef2-examined-experimental-neutron-scattering-x-ray . The plotted temperature trend does not itself establish the structure-composition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reused from Lec14_MoltenSalts.pptx, slide 10. Background on modeling liquidus, composition, and phase stability: Besmann et al., Materials 17, 495 (2024), https://www.ornl.gov/publication/applications-thermochemical-modeling-molten-salt-reactors . Instructor prompt: require viscosity, heat capacity, actinide/fission-product solubility, neutronics, vapor pressure, and compatibility as possible answers; the diagram alone does not determine an operating salt.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cropped from Lec14_MoltenSalts.pptx, slide 29; source DOI listed there: https://doi.org/10.1016/j.corsci.2019.108306 . Redox and corrosion context: Zhang et al., Corrosion Science 144, 44–53 (2018), https://doi.org/10.1016/j.corsci.2018.08.035 . For uranium-bearing fluoride fuel, Cr + 2 UF4 ⇌ CrF2 + 2 UF3 is a useful illustrative reaction. The image is a local profile after clean FLiNaK exposure, not direct evidence for that reaction.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reused from Lec14_MoltenSalts.pptx, slide 45. Raiman and Lee, Journal of Nuclear Materials 511, 523–535 (2018), https://doi.org/10.1016/j.jnucmat.2018.07.036 ; https://www.ornl.gov/publication/aggregation-and-data-analysis-corrosion-studies-molten-chloride-and-fluoride-salts . Irradiation gap and staged capsule-to-loop experiments: Cooper et al. (2026), https://doi.org/10.2172/3018127 . The plotted CR-score is the authors’ aggregate metric, not a universal corrosion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reused from Lec13_MoltenSalts.pptx, slide 10. Solid/liquid transitions in FLiBe: Gardner et al., Journal of Applied Crystallography 58, 435–446 (2025), https://doi.org/10.1107/S1600576725000548 . Stored MSRE fuel-salt radiolysis and UF6 migration: ORNL/SPR-2018/856, Appendix B, https://info.ornl.gov/sites/publications/Files/Pub114284.pdf . This is an MSRE vessel diagram, not an image of the later storage tanks.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6D432B5-DAFD-4AE7-829A-F4FE252FEC3A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D406EB8-1224-48EC-B451-B5D72C013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D3558AA-401C-4561-BF1A-561D5AE63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F0899748-9606-4452-A9E9-A5CED6F9CC29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B5D503D0-C6E8-4BE9-B442-2438CE33F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7EDDE7E-A446-413F-8F8E-7C07D896B24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AEF2912-93A8-48CA-8DDA-9064FE9D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E3B0A8A7-A093-4639-9309-F834EC888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5AC1A329-E7A2-49E2-AB84-6C162583C11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B9192B9-FEDA-4710-ACF5-566370C9F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7D617C98-271E-4CF4-A87A-85A59E2D4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EA2E07B3-7116-4502-A0FA-149BAA64D27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3A8C8CC-4A25-4711-8B04-B08129F8E41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6415C6-2F75-4965-830B-4ACC966EA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63F9B3C6-83FF-4548-A2F8-A52D3EB2B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C State red header">
            <a:extLst>
              <a:ext uri="{FF2B5EF4-FFF2-40B4-BE49-F238E27FC236}">
                <a16:creationId xmlns:a16="http://schemas.microsoft.com/office/drawing/2014/main" id="{D5B88544-F086-475D-8AEC-EDC2E7DA04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NC State wordmark">
            <a:extLst>
              <a:ext uri="{FF2B5EF4-FFF2-40B4-BE49-F238E27FC236}">
                <a16:creationId xmlns:a16="http://schemas.microsoft.com/office/drawing/2014/main" id="{7B785AF9-49FA-4CA6-9758-1778C76952ED}"/>
              </a:ext>
            </a:extLst>
          </p:cNvPr>
          <p:cNvSpPr>
            <a:spLocks noGrp="1"/>
          </p:cNvSpPr>
          <p:nvPr/>
        </p:nvSpPr>
        <p:spPr>
          <a:xfrm>
            <a:off x="190500" y="142875"/>
            <a:ext cx="4762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NC STATE UNIVERSITY</a:t>
            </a:r>
          </a:p>
        </p:txBody>
      </p:sp>
      <p:sp>
        <p:nvSpPr>
          <p:cNvPr id="3" name="slide title">
            <a:extLst>
              <a:ext uri="{FF2B5EF4-FFF2-40B4-BE49-F238E27FC236}">
                <a16:creationId xmlns:a16="http://schemas.microsoft.com/office/drawing/2014/main" id="{C8DCF945-2788-45E8-A2CE-3DF7E27C17D1}"/>
              </a:ext>
            </a:extLst>
          </p:cNvPr>
          <p:cNvSpPr>
            <a:spLocks noGrp="1"/>
          </p:cNvSpPr>
          <p:nvPr/>
        </p:nvSpPr>
        <p:spPr>
          <a:xfrm>
            <a:off x="647700" y="99060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Salt Structure and Transport</a:t>
            </a:r>
          </a:p>
        </p:txBody>
      </p:sp>
      <p:sp>
        <p:nvSpPr>
          <p:cNvPr id="4" name="bullet text">
            <a:extLst>
              <a:ext uri="{FF2B5EF4-FFF2-40B4-BE49-F238E27FC236}">
                <a16:creationId xmlns:a16="http://schemas.microsoft.com/office/drawing/2014/main" id="{D17C049D-881F-4779-AC39-33AC64485D81}"/>
              </a:ext>
            </a:extLst>
          </p:cNvPr>
          <p:cNvSpPr>
            <a:spLocks noGrp="1"/>
          </p:cNvSpPr>
          <p:nvPr/>
        </p:nvSpPr>
        <p:spPr>
          <a:xfrm>
            <a:off x="647700" y="1905000"/>
            <a:ext cx="6191250" cy="409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52400">
              <a:spcAft>
                <a:spcPts val="1100"/>
              </a:spcAft>
              <a:buChar char="•"/>
              <a:def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Be–F coordination produces connected motifs in FLiBe. Composition changes the degree of association.</a:t>
            </a:r>
          </a:p>
          <a:p>
            <a:pPr marL="254000" indent="-152400">
              <a:spcAft>
                <a:spcPts val="1100"/>
              </a:spcAft>
              <a:buChar char="•"/>
              <a:def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Local order and ion motion affect viscosity and diffusion. Mixture properties need measurement or validated models.</a:t>
            </a:r>
          </a:p>
          <a:p>
            <a:pPr marL="254000" indent="-152400">
              <a:spcAft>
                <a:spcPts val="1100"/>
              </a:spcAft>
              <a:buChar char="•"/>
              <a:def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Scattering measurements can test molecular-dynamics predictions of salt structure.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004535"/>
            <a:ext cx="4381500" cy="3477580"/>
          </a:xfrm>
          <a:prstGeom prst="rect">
            <a:avLst/>
          </a:prstGeom>
        </p:spPr>
      </p:pic>
      <p:sp>
        <p:nvSpPr>
          <p:cNvPr id="6" name="figure caption">
            <a:extLst>
              <a:ext uri="{FF2B5EF4-FFF2-40B4-BE49-F238E27FC236}">
                <a16:creationId xmlns:a16="http://schemas.microsoft.com/office/drawing/2014/main" id="{EF7C2D04-A22B-4084-A06B-C2F58448B79D}"/>
              </a:ext>
            </a:extLst>
          </p:cNvPr>
          <p:cNvSpPr>
            <a:spLocks noGrp="1"/>
          </p:cNvSpPr>
          <p:nvPr/>
        </p:nvSpPr>
        <p:spPr>
          <a:xfrm>
            <a:off x="7239000" y="600075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>
                <a:solidFill>
                  <a:srgbClr val="555555"/>
                </a:solidFill>
                <a:latin typeface="Nimbus Sans"/>
                <a:ea typeface="Nimbus Sans"/>
                <a:cs typeface="Nimbus Sans"/>
              </a:defRPr>
            </a:pPr>
            <a:r>
              <a:rPr sz="1200">
                <a:solidFill>
                  <a:srgbClr val="555555"/>
                </a:solidFill>
                <a:latin typeface="Nimbus Sans"/>
                <a:ea typeface="Nimbus Sans"/>
                <a:cs typeface="Nimbus Sans"/>
              </a:rPr>
              <a:t>Example transport property: kinematic viscosity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58E3389E-25A5-4841-9C89-C433EBA11E2F}"/>
              </a:ext>
            </a:extLst>
          </p:cNvPr>
          <p:cNvSpPr>
            <a:spLocks noGrp="1"/>
          </p:cNvSpPr>
          <p:nvPr/>
        </p:nvSpPr>
        <p:spPr>
          <a:xfrm>
            <a:off x="10810875" y="6334125"/>
            <a:ext cx="857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>
                <a:solidFill>
                  <a:srgbClr val="888888"/>
                </a:solidFill>
                <a:latin typeface="Nimbus Sans"/>
                <a:ea typeface="Nimbus Sans"/>
                <a:cs typeface="Nimbus Sans"/>
              </a:defRPr>
            </a:pPr>
            <a:r>
              <a:rPr sz="1425">
                <a:solidFill>
                  <a:srgbClr val="888888"/>
                </a:solidFill>
                <a:latin typeface="Nimbus Sans"/>
                <a:ea typeface="Nimbus Sans"/>
                <a:cs typeface="Nimbus San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2668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C State red header">
            <a:extLst>
              <a:ext uri="{FF2B5EF4-FFF2-40B4-BE49-F238E27FC236}">
                <a16:creationId xmlns:a16="http://schemas.microsoft.com/office/drawing/2014/main" id="{1EFA9E66-4A63-4CE3-89BE-B6F35DB4D5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NC State wordmark">
            <a:extLst>
              <a:ext uri="{FF2B5EF4-FFF2-40B4-BE49-F238E27FC236}">
                <a16:creationId xmlns:a16="http://schemas.microsoft.com/office/drawing/2014/main" id="{FAE359C3-309B-4D9E-8D5D-8FC09F7A5E11}"/>
              </a:ext>
            </a:extLst>
          </p:cNvPr>
          <p:cNvSpPr>
            <a:spLocks noGrp="1"/>
          </p:cNvSpPr>
          <p:nvPr/>
        </p:nvSpPr>
        <p:spPr>
          <a:xfrm>
            <a:off x="190500" y="142875"/>
            <a:ext cx="4762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NC STATE UNIVERSITY</a:t>
            </a:r>
          </a:p>
        </p:txBody>
      </p:sp>
      <p:sp>
        <p:nvSpPr>
          <p:cNvPr id="3" name="slide title">
            <a:extLst>
              <a:ext uri="{FF2B5EF4-FFF2-40B4-BE49-F238E27FC236}">
                <a16:creationId xmlns:a16="http://schemas.microsoft.com/office/drawing/2014/main" id="{5FE98432-75F7-4046-98D0-AF7551568503}"/>
              </a:ext>
            </a:extLst>
          </p:cNvPr>
          <p:cNvSpPr>
            <a:spLocks noGrp="1"/>
          </p:cNvSpPr>
          <p:nvPr/>
        </p:nvSpPr>
        <p:spPr>
          <a:xfrm>
            <a:off x="647700" y="99060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Salt Selection: Cold-End Margin</a:t>
            </a:r>
          </a:p>
        </p:txBody>
      </p:sp>
      <p:sp>
        <p:nvSpPr>
          <p:cNvPr id="4" name="bullet text">
            <a:extLst>
              <a:ext uri="{FF2B5EF4-FFF2-40B4-BE49-F238E27FC236}">
                <a16:creationId xmlns:a16="http://schemas.microsoft.com/office/drawing/2014/main" id="{31F9CAEB-F804-4E4D-8A8A-FC6C220B3594}"/>
              </a:ext>
            </a:extLst>
          </p:cNvPr>
          <p:cNvSpPr>
            <a:spLocks noGrp="1"/>
          </p:cNvSpPr>
          <p:nvPr/>
        </p:nvSpPr>
        <p:spPr>
          <a:xfrm>
            <a:off x="647700" y="1905000"/>
            <a:ext cx="6429375" cy="409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52400">
              <a:spcAft>
                <a:spcPts val="1100"/>
              </a:spcAft>
              <a:buChar char="•"/>
              <a:def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Locate the proposed fuel composition on the liquidus surface.</a:t>
            </a:r>
          </a:p>
          <a:p>
            <a:pPr marL="254000" indent="-152400">
              <a:spcAft>
                <a:spcPts val="1100"/>
              </a:spcAft>
              <a:buChar char="•"/>
              <a:def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Compare its liquidus temperature with the coldest location in the circuit. Fuel loading and fission products may change the margin.</a:t>
            </a:r>
          </a:p>
          <a:p>
            <a:pPr marL="254000" indent="-152400">
              <a:spcAft>
                <a:spcPts val="1100"/>
              </a:spcAft>
              <a:buChar char="•"/>
              <a:def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Exercise: using the NaCl–UCl₃–PuCl₃ diagram, identify a low-liquidus region. What additional property data would you need before choosing it?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24750" y="2280801"/>
            <a:ext cx="4000500" cy="3106022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9DC09DF5-6D37-4427-9AA3-879FB580B945}"/>
              </a:ext>
            </a:extLst>
          </p:cNvPr>
          <p:cNvSpPr>
            <a:spLocks noGrp="1"/>
          </p:cNvSpPr>
          <p:nvPr/>
        </p:nvSpPr>
        <p:spPr>
          <a:xfrm>
            <a:off x="10810875" y="6334125"/>
            <a:ext cx="857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>
                <a:solidFill>
                  <a:srgbClr val="888888"/>
                </a:solidFill>
                <a:latin typeface="Nimbus Sans"/>
                <a:ea typeface="Nimbus Sans"/>
                <a:cs typeface="Nimbus Sans"/>
              </a:defRPr>
            </a:pPr>
            <a:r>
              <a:rPr sz="1425">
                <a:solidFill>
                  <a:srgbClr val="888888"/>
                </a:solidFill>
                <a:latin typeface="Nimbus Sans"/>
                <a:ea typeface="Nimbus Sans"/>
                <a:cs typeface="Nimbus Sans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93194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C State red header">
            <a:extLst>
              <a:ext uri="{FF2B5EF4-FFF2-40B4-BE49-F238E27FC236}">
                <a16:creationId xmlns:a16="http://schemas.microsoft.com/office/drawing/2014/main" id="{B1CB0209-4ED1-4EAC-88AB-6136528C8F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NC State wordmark">
            <a:extLst>
              <a:ext uri="{FF2B5EF4-FFF2-40B4-BE49-F238E27FC236}">
                <a16:creationId xmlns:a16="http://schemas.microsoft.com/office/drawing/2014/main" id="{436919E4-9DBC-49DC-9687-15E7AFC0E396}"/>
              </a:ext>
            </a:extLst>
          </p:cNvPr>
          <p:cNvSpPr>
            <a:spLocks noGrp="1"/>
          </p:cNvSpPr>
          <p:nvPr/>
        </p:nvSpPr>
        <p:spPr>
          <a:xfrm>
            <a:off x="190500" y="142875"/>
            <a:ext cx="4762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NC STATE UNIVERSITY</a:t>
            </a:r>
          </a:p>
        </p:txBody>
      </p:sp>
      <p:sp>
        <p:nvSpPr>
          <p:cNvPr id="3" name="slide title">
            <a:extLst>
              <a:ext uri="{FF2B5EF4-FFF2-40B4-BE49-F238E27FC236}">
                <a16:creationId xmlns:a16="http://schemas.microsoft.com/office/drawing/2014/main" id="{CDEE4341-27C2-4667-88F0-5ED2EC560FC1}"/>
              </a:ext>
            </a:extLst>
          </p:cNvPr>
          <p:cNvSpPr>
            <a:spLocks noGrp="1"/>
          </p:cNvSpPr>
          <p:nvPr/>
        </p:nvSpPr>
        <p:spPr>
          <a:xfrm>
            <a:off x="647700" y="99060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Redox and Selective Attack</a:t>
            </a:r>
          </a:p>
        </p:txBody>
      </p:sp>
      <p:sp>
        <p:nvSpPr>
          <p:cNvPr id="4" name="bullet text">
            <a:extLst>
              <a:ext uri="{FF2B5EF4-FFF2-40B4-BE49-F238E27FC236}">
                <a16:creationId xmlns:a16="http://schemas.microsoft.com/office/drawing/2014/main" id="{6794EDA3-7BDF-4F1F-A23F-DC9C73D8D87F}"/>
              </a:ext>
            </a:extLst>
          </p:cNvPr>
          <p:cNvSpPr>
            <a:spLocks noGrp="1"/>
          </p:cNvSpPr>
          <p:nvPr/>
        </p:nvSpPr>
        <p:spPr>
          <a:xfrm>
            <a:off x="647700" y="1905000"/>
            <a:ext cx="6286500" cy="409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52400">
              <a:spcAft>
                <a:spcPts val="1100"/>
              </a:spcAft>
              <a:buChar char="•"/>
              <a:def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In uranium fluoride fuel, UF₄ can oxidize Cr in the alloy to soluble CrF₂.</a:t>
            </a:r>
          </a:p>
          <a:p>
            <a:pPr marL="254000" indent="-152400">
              <a:spcAft>
                <a:spcPts val="1100"/>
              </a:spcAft>
              <a:buChar char="•"/>
              <a:def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Salt redox sets the tendency for Cr to dissolve. Temperature, flow, and diffusion affect where and how quickly attack develops.</a:t>
            </a:r>
          </a:p>
          <a:p>
            <a:pPr marL="254000" indent="-152400">
              <a:spcAft>
                <a:spcPts val="1100"/>
              </a:spcAft>
              <a:buChar char="•"/>
              <a:def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Exercise: what would a Cr concentration profile reveal that a single mass-loss value could miss?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2375" y="2320267"/>
            <a:ext cx="4000500" cy="3122341"/>
          </a:xfrm>
          <a:prstGeom prst="rect">
            <a:avLst/>
          </a:prstGeom>
        </p:spPr>
      </p:pic>
      <p:sp>
        <p:nvSpPr>
          <p:cNvPr id="6" name="figure caption">
            <a:extLst>
              <a:ext uri="{FF2B5EF4-FFF2-40B4-BE49-F238E27FC236}">
                <a16:creationId xmlns:a16="http://schemas.microsoft.com/office/drawing/2014/main" id="{CB35B81C-8FBA-41E6-BCD5-4157048FAAC8}"/>
              </a:ext>
            </a:extLst>
          </p:cNvPr>
          <p:cNvSpPr>
            <a:spLocks noGrp="1"/>
          </p:cNvSpPr>
          <p:nvPr/>
        </p:nvSpPr>
        <p:spPr>
          <a:xfrm>
            <a:off x="7572375" y="6000750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>
                <a:solidFill>
                  <a:srgbClr val="555555"/>
                </a:solidFill>
                <a:latin typeface="Nimbus Sans"/>
                <a:ea typeface="Nimbus Sans"/>
                <a:cs typeface="Nimbus Sans"/>
              </a:defRPr>
            </a:pPr>
            <a:r>
              <a:rPr sz="1200">
                <a:solidFill>
                  <a:srgbClr val="555555"/>
                </a:solidFill>
                <a:latin typeface="Nimbus Sans"/>
                <a:ea typeface="Nimbus Sans"/>
                <a:cs typeface="Nimbus Sans"/>
              </a:rPr>
              <a:t>Cr (wt%) near the salt-exposed edge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A37617-2D21-4E89-8FE8-A9E36D97EA1D}"/>
              </a:ext>
            </a:extLst>
          </p:cNvPr>
          <p:cNvSpPr>
            <a:spLocks noGrp="1"/>
          </p:cNvSpPr>
          <p:nvPr/>
        </p:nvSpPr>
        <p:spPr>
          <a:xfrm>
            <a:off x="10810875" y="6334125"/>
            <a:ext cx="857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>
                <a:solidFill>
                  <a:srgbClr val="888888"/>
                </a:solidFill>
                <a:latin typeface="Nimbus Sans"/>
                <a:ea typeface="Nimbus Sans"/>
                <a:cs typeface="Nimbus Sans"/>
              </a:defRPr>
            </a:pPr>
            <a:r>
              <a:rPr sz="1425">
                <a:solidFill>
                  <a:srgbClr val="888888"/>
                </a:solidFill>
                <a:latin typeface="Nimbus Sans"/>
                <a:ea typeface="Nimbus Sans"/>
                <a:cs typeface="Nimbus San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327790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C State red header">
            <a:extLst>
              <a:ext uri="{FF2B5EF4-FFF2-40B4-BE49-F238E27FC236}">
                <a16:creationId xmlns:a16="http://schemas.microsoft.com/office/drawing/2014/main" id="{49EEE89E-4B21-4F6F-9C3F-5DB3AAC7AA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NC State wordmark">
            <a:extLst>
              <a:ext uri="{FF2B5EF4-FFF2-40B4-BE49-F238E27FC236}">
                <a16:creationId xmlns:a16="http://schemas.microsoft.com/office/drawing/2014/main" id="{FF799E0C-EBCC-4583-918F-CE6B5B572DB7}"/>
              </a:ext>
            </a:extLst>
          </p:cNvPr>
          <p:cNvSpPr>
            <a:spLocks noGrp="1"/>
          </p:cNvSpPr>
          <p:nvPr/>
        </p:nvSpPr>
        <p:spPr>
          <a:xfrm>
            <a:off x="190500" y="142875"/>
            <a:ext cx="4762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NC STATE UNIVERSITY</a:t>
            </a:r>
          </a:p>
        </p:txBody>
      </p:sp>
      <p:sp>
        <p:nvSpPr>
          <p:cNvPr id="3" name="slide title">
            <a:extLst>
              <a:ext uri="{FF2B5EF4-FFF2-40B4-BE49-F238E27FC236}">
                <a16:creationId xmlns:a16="http://schemas.microsoft.com/office/drawing/2014/main" id="{61DB453A-7542-4859-9F0D-563FD1B5776B}"/>
              </a:ext>
            </a:extLst>
          </p:cNvPr>
          <p:cNvSpPr>
            <a:spLocks noGrp="1"/>
          </p:cNvSpPr>
          <p:nvPr/>
        </p:nvSpPr>
        <p:spPr>
          <a:xfrm>
            <a:off x="647700" y="99060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What Does a Corrosion Test Establish?</a:t>
            </a:r>
          </a:p>
        </p:txBody>
      </p:sp>
      <p:sp>
        <p:nvSpPr>
          <p:cNvPr id="4" name="bullet text">
            <a:extLst>
              <a:ext uri="{FF2B5EF4-FFF2-40B4-BE49-F238E27FC236}">
                <a16:creationId xmlns:a16="http://schemas.microsoft.com/office/drawing/2014/main" id="{F7DCA741-F65B-4626-A687-DBC63194F52D}"/>
              </a:ext>
            </a:extLst>
          </p:cNvPr>
          <p:cNvSpPr>
            <a:spLocks noGrp="1"/>
          </p:cNvSpPr>
          <p:nvPr/>
        </p:nvSpPr>
        <p:spPr>
          <a:xfrm>
            <a:off x="647700" y="1905000"/>
            <a:ext cx="6191250" cy="409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52400">
              <a:spcAft>
                <a:spcPts val="1100"/>
              </a:spcAft>
              <a:buChar char="•"/>
              <a:def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Static coupons isolate salt chemistry and material response. Flow loops add temperature gradients and transport.</a:t>
            </a:r>
          </a:p>
          <a:p>
            <a:pPr marL="254000" indent="-152400">
              <a:spcAft>
                <a:spcPts val="1100"/>
              </a:spcAft>
              <a:buChar char="•"/>
              <a:def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Record impurities, redox state, temperature history, exposure geometry, and container material.</a:t>
            </a:r>
          </a:p>
          <a:p>
            <a:pPr marL="254000" indent="-152400">
              <a:spcAft>
                <a:spcPts val="1100"/>
              </a:spcAft>
              <a:buChar char="•"/>
              <a:def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Irradiated flowing salt is needed to test the combined effects present in a fuel-salt circuit.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153554"/>
            <a:ext cx="4381500" cy="3189066"/>
          </a:xfrm>
          <a:prstGeom prst="rect">
            <a:avLst/>
          </a:prstGeom>
        </p:spPr>
      </p:pic>
      <p:sp>
        <p:nvSpPr>
          <p:cNvPr id="6" name="figure caption">
            <a:extLst>
              <a:ext uri="{FF2B5EF4-FFF2-40B4-BE49-F238E27FC236}">
                <a16:creationId xmlns:a16="http://schemas.microsoft.com/office/drawing/2014/main" id="{87970862-46EE-4AC0-9D09-D57917618294}"/>
              </a:ext>
            </a:extLst>
          </p:cNvPr>
          <p:cNvSpPr>
            <a:spLocks noGrp="1"/>
          </p:cNvSpPr>
          <p:nvPr/>
        </p:nvSpPr>
        <p:spPr>
          <a:xfrm>
            <a:off x="7239000" y="600075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>
                <a:solidFill>
                  <a:srgbClr val="555555"/>
                </a:solidFill>
                <a:latin typeface="Nimbus Sans"/>
                <a:ea typeface="Nimbus Sans"/>
                <a:cs typeface="Nimbus Sans"/>
              </a:defRPr>
            </a:pPr>
            <a:r>
              <a:rPr sz="1200">
                <a:solidFill>
                  <a:srgbClr val="555555"/>
                </a:solidFill>
                <a:latin typeface="Nimbus Sans"/>
                <a:ea typeface="Nimbus Sans"/>
                <a:cs typeface="Nimbus Sans"/>
              </a:rPr>
              <a:t>Impurity control changes the comparison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F3C340D-2F5B-40C1-97B0-554951343DAC}"/>
              </a:ext>
            </a:extLst>
          </p:cNvPr>
          <p:cNvSpPr>
            <a:spLocks noGrp="1"/>
          </p:cNvSpPr>
          <p:nvPr/>
        </p:nvSpPr>
        <p:spPr>
          <a:xfrm>
            <a:off x="10810875" y="6334125"/>
            <a:ext cx="857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>
                <a:solidFill>
                  <a:srgbClr val="888888"/>
                </a:solidFill>
                <a:latin typeface="Nimbus Sans"/>
                <a:ea typeface="Nimbus Sans"/>
                <a:cs typeface="Nimbus Sans"/>
              </a:defRPr>
            </a:pPr>
            <a:r>
              <a:rPr sz="1425">
                <a:solidFill>
                  <a:srgbClr val="888888"/>
                </a:solidFill>
                <a:latin typeface="Nimbus Sans"/>
                <a:ea typeface="Nimbus Sans"/>
                <a:cs typeface="Nimbus Sans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822143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C State red header">
            <a:extLst>
              <a:ext uri="{FF2B5EF4-FFF2-40B4-BE49-F238E27FC236}">
                <a16:creationId xmlns:a16="http://schemas.microsoft.com/office/drawing/2014/main" id="{92293B93-70A9-4A4E-8C3A-ADFCD5E555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CC00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NC State wordmark">
            <a:extLst>
              <a:ext uri="{FF2B5EF4-FFF2-40B4-BE49-F238E27FC236}">
                <a16:creationId xmlns:a16="http://schemas.microsoft.com/office/drawing/2014/main" id="{C9A74162-81A0-4CAD-A29B-D074B9031119}"/>
              </a:ext>
            </a:extLst>
          </p:cNvPr>
          <p:cNvSpPr>
            <a:spLocks noGrp="1"/>
          </p:cNvSpPr>
          <p:nvPr/>
        </p:nvSpPr>
        <p:spPr>
          <a:xfrm>
            <a:off x="190500" y="142875"/>
            <a:ext cx="4762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NC STATE UNIVERSITY</a:t>
            </a:r>
          </a:p>
        </p:txBody>
      </p:sp>
      <p:sp>
        <p:nvSpPr>
          <p:cNvPr id="3" name="slide title">
            <a:extLst>
              <a:ext uri="{FF2B5EF4-FFF2-40B4-BE49-F238E27FC236}">
                <a16:creationId xmlns:a16="http://schemas.microsoft.com/office/drawing/2014/main" id="{4298AF1F-BA74-417F-821D-9EE92338B196}"/>
              </a:ext>
            </a:extLst>
          </p:cNvPr>
          <p:cNvSpPr>
            <a:spLocks noGrp="1"/>
          </p:cNvSpPr>
          <p:nvPr/>
        </p:nvSpPr>
        <p:spPr>
          <a:xfrm>
            <a:off x="647700" y="99060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Freezing and Stored Fuel Salt</a:t>
            </a:r>
          </a:p>
        </p:txBody>
      </p:sp>
      <p:sp>
        <p:nvSpPr>
          <p:cNvPr id="4" name="bullet text">
            <a:extLst>
              <a:ext uri="{FF2B5EF4-FFF2-40B4-BE49-F238E27FC236}">
                <a16:creationId xmlns:a16="http://schemas.microsoft.com/office/drawing/2014/main" id="{51E80487-C64A-42D4-A10D-A1099F4AB5E5}"/>
              </a:ext>
            </a:extLst>
          </p:cNvPr>
          <p:cNvSpPr>
            <a:spLocks noGrp="1"/>
          </p:cNvSpPr>
          <p:nvPr/>
        </p:nvSpPr>
        <p:spPr>
          <a:xfrm>
            <a:off x="647700" y="1905000"/>
            <a:ext cx="6191250" cy="409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54000" indent="-152400">
              <a:spcAft>
                <a:spcPts val="1100"/>
              </a:spcAft>
              <a:buChar char="•"/>
              <a:def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The coldest lines and drain system require a controlled freeze and thaw strategy.</a:t>
            </a:r>
          </a:p>
          <a:p>
            <a:pPr marL="254000" indent="-152400">
              <a:spcAft>
                <a:spcPts val="1100"/>
              </a:spcAft>
              <a:buChar char="•"/>
              <a:def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Molten fluoride salts are relatively resistant to radiolysis. Irradiated frozen MSRE fuel salt generated F₂ during storage.</a:t>
            </a:r>
          </a:p>
          <a:p>
            <a:pPr marL="254000" indent="-152400">
              <a:spcAft>
                <a:spcPts val="1100"/>
              </a:spcAft>
              <a:buChar char="•"/>
              <a:def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defRPr>
            </a:pPr>
            <a:r>
              <a:rPr sz="2175">
                <a:solidFill>
                  <a:srgbClr val="000000"/>
                </a:solidFill>
                <a:latin typeface="Nimbus Sans"/>
                <a:ea typeface="Nimbus Sans"/>
                <a:cs typeface="Nimbus Sans"/>
              </a:rPr>
              <a:t>The resulting gas chemistry and migration of volatile uranium compounds became a storage and remediation problem.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81875" y="1865507"/>
            <a:ext cx="4191000" cy="4012811"/>
          </a:xfrm>
          <a:prstGeom prst="rect">
            <a:avLst/>
          </a:prstGeom>
        </p:spPr>
      </p:pic>
      <p:sp>
        <p:nvSpPr>
          <p:cNvPr id="6" name="figure caption">
            <a:extLst>
              <a:ext uri="{FF2B5EF4-FFF2-40B4-BE49-F238E27FC236}">
                <a16:creationId xmlns:a16="http://schemas.microsoft.com/office/drawing/2014/main" id="{F4861022-A82C-4C88-8678-FA0A86805A3C}"/>
              </a:ext>
            </a:extLst>
          </p:cNvPr>
          <p:cNvSpPr>
            <a:spLocks noGrp="1"/>
          </p:cNvSpPr>
          <p:nvPr/>
        </p:nvSpPr>
        <p:spPr>
          <a:xfrm>
            <a:off x="7381875" y="6000750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>
                <a:solidFill>
                  <a:srgbClr val="555555"/>
                </a:solidFill>
                <a:latin typeface="Nimbus Sans"/>
                <a:ea typeface="Nimbus Sans"/>
                <a:cs typeface="Nimbus Sans"/>
              </a:defRPr>
            </a:pPr>
            <a:r>
              <a:rPr sz="1200">
                <a:solidFill>
                  <a:srgbClr val="555555"/>
                </a:solidFill>
                <a:latin typeface="Nimbus Sans"/>
                <a:ea typeface="Nimbus Sans"/>
                <a:cs typeface="Nimbus Sans"/>
              </a:rPr>
              <a:t>MSRE vessel and drain line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4975E63-FC30-4459-BD4C-107168F02070}"/>
              </a:ext>
            </a:extLst>
          </p:cNvPr>
          <p:cNvSpPr>
            <a:spLocks noGrp="1"/>
          </p:cNvSpPr>
          <p:nvPr/>
        </p:nvSpPr>
        <p:spPr>
          <a:xfrm>
            <a:off x="10810875" y="6334125"/>
            <a:ext cx="857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425">
                <a:solidFill>
                  <a:srgbClr val="888888"/>
                </a:solidFill>
                <a:latin typeface="Nimbus Sans"/>
                <a:ea typeface="Nimbus Sans"/>
                <a:cs typeface="Nimbus Sans"/>
              </a:defRPr>
            </a:pPr>
            <a:r>
              <a:rPr sz="1425">
                <a:solidFill>
                  <a:srgbClr val="888888"/>
                </a:solidFill>
                <a:latin typeface="Nimbus Sans"/>
                <a:ea typeface="Nimbus Sans"/>
                <a:cs typeface="Nimbus Sans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6099179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</Words>
  <Application>Microsoft Macintosh PowerPoint</Application>
  <DocSecurity>0</DocSecurity>
  <PresentationFormat>Widescreen</PresentationFormat>
  <Paragraphs>39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Nimbus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Benjamin W. Beeler</cp:lastModifiedBy>
  <cp:revision>1</cp:revision>
  <dcterms:created xsi:type="dcterms:W3CDTF">2026-10-05T22:31:34Z</dcterms:created>
  <dcterms:modified xsi:type="dcterms:W3CDTF">2026-10-05T22:36:23Z</dcterms:modified>
</cp:coreProperties>
</file>
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30"/>
  </p:notesMasterIdLst>
  <p:sldIdLst>
    <p:sldId id="256" r:id="rId2"/>
    <p:sldId id="464" r:id="rId3"/>
    <p:sldId id="447" r:id="rId4"/>
    <p:sldId id="449" r:id="rId5"/>
    <p:sldId id="448" r:id="rId6"/>
    <p:sldId id="496" r:id="rId7"/>
    <p:sldId id="426" r:id="rId8"/>
    <p:sldId id="432" r:id="rId9"/>
    <p:sldId id="438" r:id="rId10"/>
    <p:sldId id="439" r:id="rId11"/>
    <p:sldId id="454" r:id="rId12"/>
    <p:sldId id="453" r:id="rId13"/>
    <p:sldId id="455" r:id="rId14"/>
    <p:sldId id="456" r:id="rId15"/>
    <p:sldId id="457" r:id="rId16"/>
    <p:sldId id="458" r:id="rId17"/>
    <p:sldId id="459" r:id="rId18"/>
    <p:sldId id="460" r:id="rId19"/>
    <p:sldId id="412" r:id="rId20"/>
    <p:sldId id="461" r:id="rId21"/>
    <p:sldId id="462" r:id="rId22"/>
    <p:sldId id="465" r:id="rId23"/>
    <p:sldId id="471" r:id="rId24"/>
    <p:sldId id="466" r:id="rId25"/>
    <p:sldId id="472" r:id="rId26"/>
    <p:sldId id="468" r:id="rId27"/>
    <p:sldId id="474" r:id="rId28"/>
    <p:sldId id="47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84"/>
    <p:restoredTop sz="94726"/>
  </p:normalViewPr>
  <p:slideViewPr>
    <p:cSldViewPr snapToGrid="0" snapToObjects="1">
      <p:cViewPr varScale="1">
        <p:scale>
          <a:sx n="120" d="100"/>
          <a:sy n="120" d="100"/>
        </p:scale>
        <p:origin x="4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16A0F-2645-F945-ADC5-B2CC11F8F912}" type="datetimeFigureOut">
              <a:rPr lang="en-US" smtClean="0"/>
              <a:t>9/10/26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2B1-08AD-0943-8C60-7CB4F1A83E64}" type="slidenum">
              <a:rPr lang="en-US" smtClean="0"/>
              <a:t>‹#›</a:t>
            </a:fld>
            <a:endParaRPr lang="en-US"/>
          </a:p>
        </p:txBody>
      </p:sp>
    </p:spTree>
    <p:extLst>
      <p:ext uri="{BB962C8B-B14F-4D97-AF65-F5344CB8AC3E}">
        <p14:creationId xmlns:p14="http://schemas.microsoft.com/office/powerpoint/2010/main" val="383659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0785609-E5CC-DE44-B37C-B4F30876FF32}" type="datetime1">
              <a:rPr lang="en-US" smtClean="0"/>
              <a:t>9/10/26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smtClean="0"/>
              <a:pPr>
                <a:defRPr/>
              </a:pPr>
              <a:t>‹#›</a:t>
            </a:fld>
            <a:endParaRPr lang="en-US"/>
          </a:p>
        </p:txBody>
      </p:sp>
    </p:spTree>
    <p:extLst>
      <p:ext uri="{BB962C8B-B14F-4D97-AF65-F5344CB8AC3E}">
        <p14:creationId xmlns:p14="http://schemas.microsoft.com/office/powerpoint/2010/main" val="2957572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D2F8954-4A2E-3243-B2DC-9CD5CB712752}" type="datetime1">
              <a:rPr lang="en-US" smtClean="0"/>
              <a:t>9/10/26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smtClean="0"/>
              <a:pPr>
                <a:defRPr/>
              </a:pPr>
              <a:t>‹#›</a:t>
            </a:fld>
            <a:endParaRPr lang="en-US"/>
          </a:p>
        </p:txBody>
      </p:sp>
    </p:spTree>
    <p:extLst>
      <p:ext uri="{BB962C8B-B14F-4D97-AF65-F5344CB8AC3E}">
        <p14:creationId xmlns:p14="http://schemas.microsoft.com/office/powerpoint/2010/main" val="3455358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FD4575D-199B-0745-9376-4BA74FA8EFA7}" type="datetime1">
              <a:rPr lang="en-US" smtClean="0"/>
              <a:t>9/10/26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smtClean="0"/>
              <a:pPr>
                <a:defRPr/>
              </a:pPr>
              <a:t>‹#›</a:t>
            </a:fld>
            <a:endParaRPr lang="en-US"/>
          </a:p>
        </p:txBody>
      </p:sp>
    </p:spTree>
    <p:extLst>
      <p:ext uri="{BB962C8B-B14F-4D97-AF65-F5344CB8AC3E}">
        <p14:creationId xmlns:p14="http://schemas.microsoft.com/office/powerpoint/2010/main" val="1495905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200"/>
            </a:lvl1pPr>
            <a:lvl2pPr>
              <a:defRPr sz="2200"/>
            </a:lvl2pPr>
            <a:lvl3pPr>
              <a:defRPr sz="2200"/>
            </a:lvl3pPr>
            <a:lvl4pPr>
              <a:defRPr sz="2200"/>
            </a:lvl4pPr>
            <a:lvl5pPr>
              <a:defRPr sz="22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34EC5E2-8D01-2849-BCEF-95F1335AF02C}" type="datetime1">
              <a:rPr lang="en-US" smtClean="0"/>
              <a:t>9/10/26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smtClean="0"/>
              <a:pPr>
                <a:defRPr/>
              </a:pPr>
              <a:t>‹#›</a:t>
            </a:fld>
            <a:endParaRPr lang="en-US"/>
          </a:p>
        </p:txBody>
      </p:sp>
    </p:spTree>
    <p:extLst>
      <p:ext uri="{BB962C8B-B14F-4D97-AF65-F5344CB8AC3E}">
        <p14:creationId xmlns:p14="http://schemas.microsoft.com/office/powerpoint/2010/main" val="1502490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4000"/>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200"/>
            </a:lvl2pPr>
            <a:lvl3pPr>
              <a:defRPr sz="2200"/>
            </a:lvl3pPr>
            <a:lvl4pPr>
              <a:defRPr sz="2200"/>
            </a:lvl4pPr>
            <a:lvl5pPr>
              <a:defRPr sz="22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9/10/26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smtClean="0"/>
              <a:pPr>
                <a:defRPr/>
              </a:pPr>
              <a:t>‹#›</a:t>
            </a:fld>
            <a:endParaRPr lang="en-US"/>
          </a:p>
        </p:txBody>
      </p:sp>
    </p:spTree>
    <p:extLst>
      <p:ext uri="{BB962C8B-B14F-4D97-AF65-F5344CB8AC3E}">
        <p14:creationId xmlns:p14="http://schemas.microsoft.com/office/powerpoint/2010/main" val="2202663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8C5C5CE-9A98-3649-A752-35F044CBF5B8}" type="datetime1">
              <a:rPr lang="en-US" smtClean="0"/>
              <a:t>9/10/26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smtClean="0"/>
              <a:pPr>
                <a:defRPr/>
              </a:pPr>
              <a:t>‹#›</a:t>
            </a:fld>
            <a:endParaRPr lang="en-US"/>
          </a:p>
        </p:txBody>
      </p:sp>
    </p:spTree>
    <p:extLst>
      <p:ext uri="{BB962C8B-B14F-4D97-AF65-F5344CB8AC3E}">
        <p14:creationId xmlns:p14="http://schemas.microsoft.com/office/powerpoint/2010/main" val="2346161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324C5E-CE4C-B646-8BD9-2D7670818E7E}" type="datetime1">
              <a:rPr lang="en-US" smtClean="0"/>
              <a:t>9/10/26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smtClean="0"/>
              <a:pPr>
                <a:defRPr/>
              </a:pPr>
              <a:t>‹#›</a:t>
            </a:fld>
            <a:endParaRPr lang="en-US"/>
          </a:p>
        </p:txBody>
      </p:sp>
    </p:spTree>
    <p:extLst>
      <p:ext uri="{BB962C8B-B14F-4D97-AF65-F5344CB8AC3E}">
        <p14:creationId xmlns:p14="http://schemas.microsoft.com/office/powerpoint/2010/main" val="373248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3B3BC9F-3142-5445-97AB-BA4A48743DCA}" type="datetime1">
              <a:rPr lang="en-US" smtClean="0"/>
              <a:t>9/10/26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smtClean="0"/>
              <a:pPr>
                <a:defRPr/>
              </a:pPr>
              <a:t>‹#›</a:t>
            </a:fld>
            <a:endParaRPr lang="en-US"/>
          </a:p>
        </p:txBody>
      </p:sp>
    </p:spTree>
    <p:extLst>
      <p:ext uri="{BB962C8B-B14F-4D97-AF65-F5344CB8AC3E}">
        <p14:creationId xmlns:p14="http://schemas.microsoft.com/office/powerpoint/2010/main" val="270719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897FE6E-4AF1-BB43-A3BB-BA9931BC385B}" type="datetime1">
              <a:rPr lang="en-US" smtClean="0"/>
              <a:t>9/10/26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smtClean="0"/>
              <a:pPr>
                <a:defRPr/>
              </a:pPr>
              <a:t>‹#›</a:t>
            </a:fld>
            <a:endParaRPr lang="en-US"/>
          </a:p>
        </p:txBody>
      </p:sp>
    </p:spTree>
    <p:extLst>
      <p:ext uri="{BB962C8B-B14F-4D97-AF65-F5344CB8AC3E}">
        <p14:creationId xmlns:p14="http://schemas.microsoft.com/office/powerpoint/2010/main" val="2319743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F1F23-51F5-E24D-A2F3-F9FF410B2C6B}" type="datetime1">
              <a:rPr lang="en-US" smtClean="0"/>
              <a:t>9/10/26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smtClean="0"/>
              <a:pPr>
                <a:defRPr/>
              </a:pPr>
              <a:t>‹#›</a:t>
            </a:fld>
            <a:endParaRPr lang="en-US"/>
          </a:p>
        </p:txBody>
      </p:sp>
    </p:spTree>
    <p:extLst>
      <p:ext uri="{BB962C8B-B14F-4D97-AF65-F5344CB8AC3E}">
        <p14:creationId xmlns:p14="http://schemas.microsoft.com/office/powerpoint/2010/main" val="2032939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F9506E-CC5A-D948-B9E0-FC81D1F3EEB8}" type="datetime1">
              <a:rPr lang="en-US" smtClean="0"/>
              <a:t>9/10/26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smtClean="0"/>
              <a:pPr>
                <a:defRPr/>
              </a:pPr>
              <a:t>‹#›</a:t>
            </a:fld>
            <a:endParaRPr lang="en-US"/>
          </a:p>
        </p:txBody>
      </p:sp>
    </p:spTree>
    <p:extLst>
      <p:ext uri="{BB962C8B-B14F-4D97-AF65-F5344CB8AC3E}">
        <p14:creationId xmlns:p14="http://schemas.microsoft.com/office/powerpoint/2010/main" val="2245190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9/10/26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4F3AB534-2132-774F-82DE-4210B1BD5FED}" type="datetime1">
              <a:rPr lang="en-US" smtClean="0"/>
              <a:t>9/10/26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smtClean="0"/>
              <a:pPr>
                <a:defRPr/>
              </a:pPr>
              <a:t>‹#›</a:t>
            </a:fld>
            <a:endParaRPr lang="en-US" dirty="0"/>
          </a:p>
        </p:txBody>
      </p:sp>
      <p:pic>
        <p:nvPicPr>
          <p:cNvPr id="8" name="Picture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pic>
        <p:nvPicPr>
          <p:cNvPr id="2" name="Picture 1">
            <a:extLst>
              <a:ext uri="{FF2B5EF4-FFF2-40B4-BE49-F238E27FC236}">
                <a16:creationId xmlns:a16="http://schemas.microsoft.com/office/drawing/2014/main" id="{0BF8D97C-4308-3B61-2B5B-C13404B70E8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pic>
        <p:nvPicPr>
          <p:cNvPr id="3" name="Picture 2">
            <a:extLst>
              <a:ext uri="{FF2B5EF4-FFF2-40B4-BE49-F238E27FC236}">
                <a16:creationId xmlns:a16="http://schemas.microsoft.com/office/drawing/2014/main" id="{C02054C5-3A3D-4B9F-F314-13BC597F406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248605964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89" r:id="rId12"/>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tiff"/></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91667053-FE0B-2E4F-88E8-0DE41FF95167}"/>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9E43D-92FE-5740-AAC1-6E298E81DFA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42FE922A-9073-844C-A521-5FC4AD5021CB}"/>
              </a:ext>
            </a:extLst>
          </p:cNvPr>
          <p:cNvSpPr>
            <a:spLocks noGrp="1"/>
          </p:cNvSpPr>
          <p:nvPr>
            <p:ph idx="1"/>
          </p:nvPr>
        </p:nvSpPr>
        <p:spPr>
          <a:xfrm>
            <a:off x="609600" y="1968500"/>
            <a:ext cx="10972800" cy="4157664"/>
          </a:xfrm>
        </p:spPr>
        <p:txBody>
          <a:bodyPr/>
          <a:lstStyle/>
          <a:p>
            <a:r>
              <a:rPr lang="en-US" sz="2000" dirty="0"/>
              <a:t>Exam. </a:t>
            </a:r>
            <a:r>
              <a:rPr lang="en-US" dirty="0"/>
              <a:t>Graded exams back at the earliest on Tuesday (last distance exam on Monday)</a:t>
            </a:r>
            <a:endParaRPr lang="en-US" sz="2000" dirty="0"/>
          </a:p>
          <a:p>
            <a:r>
              <a:rPr lang="en-US" sz="2000" dirty="0"/>
              <a:t>Before that: started on SFRs</a:t>
            </a:r>
          </a:p>
          <a:p>
            <a:r>
              <a:rPr lang="en-US" sz="2000" dirty="0"/>
              <a:t>Two fuel types:</a:t>
            </a:r>
          </a:p>
          <a:p>
            <a:pPr lvl="1"/>
            <a:r>
              <a:rPr lang="en-US" sz="2000" dirty="0"/>
              <a:t>MOX and metallic</a:t>
            </a:r>
          </a:p>
          <a:p>
            <a:r>
              <a:rPr lang="en-US" sz="2000" dirty="0"/>
              <a:t>Two reactor designs</a:t>
            </a:r>
          </a:p>
          <a:p>
            <a:pPr lvl="1"/>
            <a:r>
              <a:rPr lang="en-US" sz="2000" dirty="0"/>
              <a:t>pool type and loop type</a:t>
            </a:r>
          </a:p>
          <a:p>
            <a:r>
              <a:rPr lang="en-US" sz="2000" dirty="0"/>
              <a:t>Increased safety</a:t>
            </a:r>
          </a:p>
          <a:p>
            <a:pPr lvl="1"/>
            <a:r>
              <a:rPr lang="en-US" sz="2000" dirty="0"/>
              <a:t>high margin to boiling</a:t>
            </a:r>
          </a:p>
          <a:p>
            <a:pPr lvl="1"/>
            <a:r>
              <a:rPr lang="en-US" sz="2000" dirty="0"/>
              <a:t>inherent negative reactivity feedback coefficient</a:t>
            </a:r>
          </a:p>
          <a:p>
            <a:pPr lvl="1"/>
            <a:r>
              <a:rPr lang="en-US" sz="2000" dirty="0"/>
              <a:t>higher thermal conductivity -&gt; higher overpower to melt</a:t>
            </a:r>
          </a:p>
          <a:p>
            <a:r>
              <a:rPr lang="en-US" sz="2000" dirty="0"/>
              <a:t>High swelling of alpha U: alpha tearing/cavitation swelling low T; higher T GB porosity</a:t>
            </a:r>
          </a:p>
        </p:txBody>
      </p:sp>
      <p:sp>
        <p:nvSpPr>
          <p:cNvPr id="4" name="Slide Number Placeholder 3">
            <a:extLst>
              <a:ext uri="{FF2B5EF4-FFF2-40B4-BE49-F238E27FC236}">
                <a16:creationId xmlns:a16="http://schemas.microsoft.com/office/drawing/2014/main" id="{BD115A18-CA39-6148-97F9-121914B5C62E}"/>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82581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3A496-CD1E-554D-ADF1-83813257C465}"/>
              </a:ext>
            </a:extLst>
          </p:cNvPr>
          <p:cNvSpPr>
            <a:spLocks noGrp="1"/>
          </p:cNvSpPr>
          <p:nvPr>
            <p:ph type="title"/>
          </p:nvPr>
        </p:nvSpPr>
        <p:spPr/>
        <p:txBody>
          <a:bodyPr/>
          <a:lstStyle/>
          <a:p>
            <a:r>
              <a:rPr lang="en-US" dirty="0"/>
              <a:t>Swelling in Gamma U</a:t>
            </a:r>
          </a:p>
        </p:txBody>
      </p:sp>
      <p:sp>
        <p:nvSpPr>
          <p:cNvPr id="3" name="Content Placeholder 2">
            <a:extLst>
              <a:ext uri="{FF2B5EF4-FFF2-40B4-BE49-F238E27FC236}">
                <a16:creationId xmlns:a16="http://schemas.microsoft.com/office/drawing/2014/main" id="{2796B876-D582-FE4B-A6A7-A1D84DB6FB61}"/>
              </a:ext>
            </a:extLst>
          </p:cNvPr>
          <p:cNvSpPr>
            <a:spLocks noGrp="1"/>
          </p:cNvSpPr>
          <p:nvPr>
            <p:ph sz="half" idx="1"/>
          </p:nvPr>
        </p:nvSpPr>
        <p:spPr>
          <a:xfrm>
            <a:off x="609600" y="1849821"/>
            <a:ext cx="5384800" cy="4276345"/>
          </a:xfrm>
        </p:spPr>
        <p:txBody>
          <a:bodyPr/>
          <a:lstStyle/>
          <a:p>
            <a:r>
              <a:rPr lang="en-US" sz="2100" dirty="0"/>
              <a:t>Gamma U is BCC</a:t>
            </a:r>
          </a:p>
          <a:p>
            <a:r>
              <a:rPr lang="en-US" sz="2100" dirty="0"/>
              <a:t>Swelling in the higher temperature phases occurs primarily by growth of fission gas bubbles, and is isotropic</a:t>
            </a:r>
          </a:p>
          <a:p>
            <a:r>
              <a:rPr lang="en-US" sz="2100" dirty="0"/>
              <a:t>All phases will also have solid fission product swelling</a:t>
            </a:r>
          </a:p>
          <a:p>
            <a:r>
              <a:rPr lang="en-US" sz="2100" dirty="0"/>
              <a:t>Fission gas is effectively insoluble in metallic U, and thus prefers to precipitate</a:t>
            </a:r>
          </a:p>
          <a:p>
            <a:r>
              <a:rPr lang="en-US" sz="2100" dirty="0"/>
              <a:t>Sufficiently large bubbles can maintain an equilibrium gas pressure by balancing the surface tension and the external pressure</a:t>
            </a:r>
          </a:p>
        </p:txBody>
      </p:sp>
      <p:sp>
        <p:nvSpPr>
          <p:cNvPr id="4" name="Content Placeholder 3">
            <a:extLst>
              <a:ext uri="{FF2B5EF4-FFF2-40B4-BE49-F238E27FC236}">
                <a16:creationId xmlns:a16="http://schemas.microsoft.com/office/drawing/2014/main" id="{A1982929-3519-2844-A4DE-6DDC531D72E2}"/>
              </a:ext>
            </a:extLst>
          </p:cNvPr>
          <p:cNvSpPr>
            <a:spLocks noGrp="1"/>
          </p:cNvSpPr>
          <p:nvPr>
            <p:ph sz="half" idx="2"/>
          </p:nvPr>
        </p:nvSpPr>
        <p:spPr>
          <a:xfrm>
            <a:off x="6197600" y="1849821"/>
            <a:ext cx="5384800" cy="4276345"/>
          </a:xfrm>
        </p:spPr>
        <p:txBody>
          <a:bodyPr/>
          <a:lstStyle/>
          <a:p>
            <a:r>
              <a:rPr lang="en-US" sz="2100" dirty="0"/>
              <a:t>This growth is described by the Young-Laplace equation</a:t>
            </a:r>
          </a:p>
          <a:p>
            <a:endParaRPr lang="en-US" sz="2100" dirty="0"/>
          </a:p>
          <a:p>
            <a:endParaRPr lang="en-US" sz="2100" dirty="0"/>
          </a:p>
          <a:p>
            <a:r>
              <a:rPr lang="en-US" sz="2100" dirty="0"/>
              <a:t>The external pressure is determined by the plastic flow characteristics of the fuel surrounding the bubble and the mechanical restraint of the cladding</a:t>
            </a:r>
          </a:p>
          <a:p>
            <a:r>
              <a:rPr lang="en-US" sz="2100" dirty="0"/>
              <a:t>Fission gas swelling can be substantial, and must be accounted for</a:t>
            </a:r>
          </a:p>
          <a:p>
            <a:endParaRPr lang="en-US" sz="2100" dirty="0"/>
          </a:p>
          <a:p>
            <a:endParaRPr lang="en-US" sz="2100" dirty="0"/>
          </a:p>
        </p:txBody>
      </p:sp>
      <p:sp>
        <p:nvSpPr>
          <p:cNvPr id="5" name="Slide Number Placeholder 4">
            <a:extLst>
              <a:ext uri="{FF2B5EF4-FFF2-40B4-BE49-F238E27FC236}">
                <a16:creationId xmlns:a16="http://schemas.microsoft.com/office/drawing/2014/main" id="{39F2FCAE-C4C2-7148-90A8-9853DA64F92E}"/>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pic>
        <p:nvPicPr>
          <p:cNvPr id="7" name="Picture 6">
            <a:extLst>
              <a:ext uri="{FF2B5EF4-FFF2-40B4-BE49-F238E27FC236}">
                <a16:creationId xmlns:a16="http://schemas.microsoft.com/office/drawing/2014/main" id="{E19067C2-B351-BE4D-959C-639176FA7BAE}"/>
              </a:ext>
            </a:extLst>
          </p:cNvPr>
          <p:cNvPicPr>
            <a:picLocks noChangeAspect="1"/>
          </p:cNvPicPr>
          <p:nvPr/>
        </p:nvPicPr>
        <p:blipFill>
          <a:blip r:embed="rId2"/>
          <a:stretch>
            <a:fillRect/>
          </a:stretch>
        </p:blipFill>
        <p:spPr>
          <a:xfrm>
            <a:off x="7816850" y="2530858"/>
            <a:ext cx="1841500" cy="774700"/>
          </a:xfrm>
          <a:prstGeom prst="rect">
            <a:avLst/>
          </a:prstGeom>
        </p:spPr>
      </p:pic>
    </p:spTree>
    <p:extLst>
      <p:ext uri="{BB962C8B-B14F-4D97-AF65-F5344CB8AC3E}">
        <p14:creationId xmlns:p14="http://schemas.microsoft.com/office/powerpoint/2010/main" val="2552063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BB0C-0DE6-6546-88BC-DFC8A84E27C3}"/>
              </a:ext>
            </a:extLst>
          </p:cNvPr>
          <p:cNvSpPr>
            <a:spLocks noGrp="1"/>
          </p:cNvSpPr>
          <p:nvPr>
            <p:ph type="title"/>
          </p:nvPr>
        </p:nvSpPr>
        <p:spPr/>
        <p:txBody>
          <a:bodyPr/>
          <a:lstStyle/>
          <a:p>
            <a:r>
              <a:rPr lang="en-US" dirty="0"/>
              <a:t>Alloying to modify properties</a:t>
            </a:r>
          </a:p>
        </p:txBody>
      </p:sp>
      <p:sp>
        <p:nvSpPr>
          <p:cNvPr id="3" name="Content Placeholder 2">
            <a:extLst>
              <a:ext uri="{FF2B5EF4-FFF2-40B4-BE49-F238E27FC236}">
                <a16:creationId xmlns:a16="http://schemas.microsoft.com/office/drawing/2014/main" id="{E81C0652-9923-7449-A55B-72E137B4EA35}"/>
              </a:ext>
            </a:extLst>
          </p:cNvPr>
          <p:cNvSpPr>
            <a:spLocks noGrp="1"/>
          </p:cNvSpPr>
          <p:nvPr>
            <p:ph sz="half" idx="1"/>
          </p:nvPr>
        </p:nvSpPr>
        <p:spPr/>
        <p:txBody>
          <a:bodyPr/>
          <a:lstStyle/>
          <a:p>
            <a:r>
              <a:rPr lang="en-US" sz="2000" dirty="0"/>
              <a:t>Small alloying additions were explored to limit the fission gas swelling behavior</a:t>
            </a:r>
          </a:p>
          <a:p>
            <a:r>
              <a:rPr lang="en-US" sz="2000" dirty="0"/>
              <a:t>Adjusted U – U alloyed with small amounts of Al, Fe, or Si</a:t>
            </a:r>
          </a:p>
          <a:p>
            <a:r>
              <a:rPr lang="en-US" sz="2000" dirty="0"/>
              <a:t>Additions form precipitates and act as point defect sinks, limiting swelling for low burnups</a:t>
            </a:r>
          </a:p>
          <a:p>
            <a:r>
              <a:rPr lang="en-US" sz="2000" dirty="0"/>
              <a:t>U-</a:t>
            </a:r>
            <a:r>
              <a:rPr lang="en-US" sz="2000" dirty="0" err="1"/>
              <a:t>Fissium</a:t>
            </a:r>
            <a:r>
              <a:rPr lang="en-US" sz="2000" dirty="0"/>
              <a:t> contained Mo-Ru, with lesser amounts of Rh, Pd, Zr, and Nb, and was the early EBR II fuel, typically 5 wt.%</a:t>
            </a:r>
          </a:p>
          <a:p>
            <a:endParaRPr lang="en-US" sz="2000" dirty="0"/>
          </a:p>
          <a:p>
            <a:endParaRPr lang="en-US" sz="2000" dirty="0"/>
          </a:p>
        </p:txBody>
      </p:sp>
      <p:sp>
        <p:nvSpPr>
          <p:cNvPr id="4" name="Content Placeholder 3">
            <a:extLst>
              <a:ext uri="{FF2B5EF4-FFF2-40B4-BE49-F238E27FC236}">
                <a16:creationId xmlns:a16="http://schemas.microsoft.com/office/drawing/2014/main" id="{79645A56-252D-4340-9444-5EA931F645E9}"/>
              </a:ext>
            </a:extLst>
          </p:cNvPr>
          <p:cNvSpPr>
            <a:spLocks noGrp="1"/>
          </p:cNvSpPr>
          <p:nvPr>
            <p:ph sz="half" idx="2"/>
          </p:nvPr>
        </p:nvSpPr>
        <p:spPr>
          <a:xfrm>
            <a:off x="6197600" y="1968503"/>
            <a:ext cx="5678842" cy="4157663"/>
          </a:xfrm>
        </p:spPr>
        <p:txBody>
          <a:bodyPr/>
          <a:lstStyle/>
          <a:p>
            <a:r>
              <a:rPr lang="en-US" sz="2000" dirty="0"/>
              <a:t>Higher content alloys have focused on elements that form extensive solid solutions with U in the high-temperature </a:t>
            </a:r>
            <a:r>
              <a:rPr lang="el-GR" sz="2000" dirty="0"/>
              <a:t>γ-</a:t>
            </a:r>
            <a:r>
              <a:rPr lang="en-US" sz="2000" dirty="0"/>
              <a:t>phase, specifically Mo, Zr, </a:t>
            </a:r>
            <a:r>
              <a:rPr lang="en-US" sz="2000" dirty="0" err="1"/>
              <a:t>Ti</a:t>
            </a:r>
            <a:r>
              <a:rPr lang="en-US" sz="2000" dirty="0"/>
              <a:t>, and Nb</a:t>
            </a:r>
          </a:p>
          <a:p>
            <a:r>
              <a:rPr lang="en-US" sz="2000" dirty="0"/>
              <a:t>These elements lower the temperature of the cubic </a:t>
            </a:r>
            <a:r>
              <a:rPr lang="el-GR" sz="2000" dirty="0"/>
              <a:t>γ-</a:t>
            </a:r>
            <a:r>
              <a:rPr lang="en-US" sz="2000" dirty="0"/>
              <a:t>phase boundary, allowing more of the fuel to operate in the isotropic </a:t>
            </a:r>
            <a:r>
              <a:rPr lang="el-GR" sz="2000" dirty="0"/>
              <a:t>γ-</a:t>
            </a:r>
            <a:r>
              <a:rPr lang="en-US" sz="2000" dirty="0"/>
              <a:t>phase; they also increase the solidus temperature, raising the margins at which the fuel melts</a:t>
            </a:r>
          </a:p>
          <a:p>
            <a:r>
              <a:rPr lang="en-US" sz="2000" dirty="0"/>
              <a:t>The addition of Zr and Mo seem to most substantially reduce the swelling of U</a:t>
            </a:r>
          </a:p>
        </p:txBody>
      </p:sp>
      <p:sp>
        <p:nvSpPr>
          <p:cNvPr id="5" name="Slide Number Placeholder 4">
            <a:extLst>
              <a:ext uri="{FF2B5EF4-FFF2-40B4-BE49-F238E27FC236}">
                <a16:creationId xmlns:a16="http://schemas.microsoft.com/office/drawing/2014/main" id="{2C73B035-95A1-2A4D-BDEB-C5903A65143A}"/>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dirty="0"/>
          </a:p>
        </p:txBody>
      </p:sp>
    </p:spTree>
    <p:extLst>
      <p:ext uri="{BB962C8B-B14F-4D97-AF65-F5344CB8AC3E}">
        <p14:creationId xmlns:p14="http://schemas.microsoft.com/office/powerpoint/2010/main" val="2577522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62F90-80DB-CE43-BDF3-FD69EA932F5F}"/>
              </a:ext>
            </a:extLst>
          </p:cNvPr>
          <p:cNvSpPr>
            <a:spLocks noGrp="1"/>
          </p:cNvSpPr>
          <p:nvPr>
            <p:ph type="title"/>
          </p:nvPr>
        </p:nvSpPr>
        <p:spPr/>
        <p:txBody>
          <a:bodyPr/>
          <a:lstStyle/>
          <a:p>
            <a:r>
              <a:rPr lang="en-US" dirty="0"/>
              <a:t>Accommodation of Swelling</a:t>
            </a:r>
          </a:p>
        </p:txBody>
      </p:sp>
      <p:sp>
        <p:nvSpPr>
          <p:cNvPr id="3" name="Content Placeholder 2">
            <a:extLst>
              <a:ext uri="{FF2B5EF4-FFF2-40B4-BE49-F238E27FC236}">
                <a16:creationId xmlns:a16="http://schemas.microsoft.com/office/drawing/2014/main" id="{ED03F847-CD3E-E446-948E-C2A3D84580D8}"/>
              </a:ext>
            </a:extLst>
          </p:cNvPr>
          <p:cNvSpPr>
            <a:spLocks noGrp="1"/>
          </p:cNvSpPr>
          <p:nvPr>
            <p:ph sz="half" idx="1"/>
          </p:nvPr>
        </p:nvSpPr>
        <p:spPr/>
        <p:txBody>
          <a:bodyPr/>
          <a:lstStyle/>
          <a:p>
            <a:r>
              <a:rPr lang="en-US" sz="2100" dirty="0"/>
              <a:t>With high-content alloys, calculations of fuel swelling and gas release showed that if 30-40% free volume was afforded inside the cladding, fuel could swell, and when it contacted the cladding, allow for mechanical strength of cladding to counteract further radial swelling</a:t>
            </a:r>
          </a:p>
          <a:p>
            <a:r>
              <a:rPr lang="en-US" sz="2100" dirty="0"/>
              <a:t>It was found that the majority of fission gas is released by about 30% swelling, and by including a large plenum, stresses on cladding could be reduced</a:t>
            </a:r>
          </a:p>
        </p:txBody>
      </p:sp>
      <p:pic>
        <p:nvPicPr>
          <p:cNvPr id="9" name="Content Placeholder 8">
            <a:extLst>
              <a:ext uri="{FF2B5EF4-FFF2-40B4-BE49-F238E27FC236}">
                <a16:creationId xmlns:a16="http://schemas.microsoft.com/office/drawing/2014/main" id="{EFA7407F-C893-0B46-8A3E-1609B540237F}"/>
              </a:ext>
            </a:extLst>
          </p:cNvPr>
          <p:cNvPicPr>
            <a:picLocks noGrp="1" noChangeAspect="1"/>
          </p:cNvPicPr>
          <p:nvPr>
            <p:ph sz="half" idx="2"/>
          </p:nvPr>
        </p:nvPicPr>
        <p:blipFill>
          <a:blip r:embed="rId2"/>
          <a:stretch>
            <a:fillRect/>
          </a:stretch>
        </p:blipFill>
        <p:spPr>
          <a:xfrm>
            <a:off x="6197600" y="2030920"/>
            <a:ext cx="5384800" cy="4032822"/>
          </a:xfrm>
          <a:prstGeom prst="rect">
            <a:avLst/>
          </a:prstGeom>
        </p:spPr>
      </p:pic>
      <p:sp>
        <p:nvSpPr>
          <p:cNvPr id="5" name="Slide Number Placeholder 4">
            <a:extLst>
              <a:ext uri="{FF2B5EF4-FFF2-40B4-BE49-F238E27FC236}">
                <a16:creationId xmlns:a16="http://schemas.microsoft.com/office/drawing/2014/main" id="{3E2F886B-1E34-F349-99A5-69B4A2EC4632}"/>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
        <p:nvSpPr>
          <p:cNvPr id="4" name="TextBox 3">
            <a:extLst>
              <a:ext uri="{FF2B5EF4-FFF2-40B4-BE49-F238E27FC236}">
                <a16:creationId xmlns:a16="http://schemas.microsoft.com/office/drawing/2014/main" id="{6907A910-310B-2810-1059-E3EB72DF52AF}"/>
              </a:ext>
            </a:extLst>
          </p:cNvPr>
          <p:cNvSpPr txBox="1"/>
          <p:nvPr/>
        </p:nvSpPr>
        <p:spPr>
          <a:xfrm>
            <a:off x="6784753" y="6082537"/>
            <a:ext cx="4210493" cy="276999"/>
          </a:xfrm>
          <a:prstGeom prst="rect">
            <a:avLst/>
          </a:prstGeom>
          <a:noFill/>
        </p:spPr>
        <p:txBody>
          <a:bodyPr wrap="square" rtlCol="0">
            <a:spAutoFit/>
          </a:bodyPr>
          <a:lstStyle/>
          <a:p>
            <a:pPr algn="ctr"/>
            <a:r>
              <a:rPr lang="en-US" sz="1200" dirty="0"/>
              <a:t>**20% and 40% here don’t account for gas release from the fuel</a:t>
            </a:r>
          </a:p>
        </p:txBody>
      </p:sp>
    </p:spTree>
    <p:extLst>
      <p:ext uri="{BB962C8B-B14F-4D97-AF65-F5344CB8AC3E}">
        <p14:creationId xmlns:p14="http://schemas.microsoft.com/office/powerpoint/2010/main" val="2356016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07992-9B63-9E01-C93C-A21461BD2767}"/>
              </a:ext>
            </a:extLst>
          </p:cNvPr>
          <p:cNvSpPr>
            <a:spLocks noGrp="1"/>
          </p:cNvSpPr>
          <p:nvPr>
            <p:ph type="title"/>
          </p:nvPr>
        </p:nvSpPr>
        <p:spPr/>
        <p:txBody>
          <a:bodyPr/>
          <a:lstStyle/>
          <a:p>
            <a:r>
              <a:rPr lang="en-US" dirty="0"/>
              <a:t>I told you that to tell you this…</a:t>
            </a:r>
          </a:p>
        </p:txBody>
      </p:sp>
      <p:sp>
        <p:nvSpPr>
          <p:cNvPr id="3" name="Content Placeholder 2">
            <a:extLst>
              <a:ext uri="{FF2B5EF4-FFF2-40B4-BE49-F238E27FC236}">
                <a16:creationId xmlns:a16="http://schemas.microsoft.com/office/drawing/2014/main" id="{E245F365-31A6-C1BB-EC8D-15D20A84FEFF}"/>
              </a:ext>
            </a:extLst>
          </p:cNvPr>
          <p:cNvSpPr>
            <a:spLocks noGrp="1"/>
          </p:cNvSpPr>
          <p:nvPr>
            <p:ph sz="half" idx="1"/>
          </p:nvPr>
        </p:nvSpPr>
        <p:spPr>
          <a:xfrm>
            <a:off x="609599" y="1968503"/>
            <a:ext cx="10972799" cy="4157663"/>
          </a:xfrm>
        </p:spPr>
        <p:txBody>
          <a:bodyPr/>
          <a:lstStyle/>
          <a:p>
            <a:r>
              <a:rPr lang="en-US" sz="2400" dirty="0"/>
              <a:t>Provided context to get us to the point where we can actually talk about the reactor system </a:t>
            </a:r>
          </a:p>
        </p:txBody>
      </p:sp>
      <p:sp>
        <p:nvSpPr>
          <p:cNvPr id="5" name="Slide Number Placeholder 4">
            <a:extLst>
              <a:ext uri="{FF2B5EF4-FFF2-40B4-BE49-F238E27FC236}">
                <a16:creationId xmlns:a16="http://schemas.microsoft.com/office/drawing/2014/main" id="{D0563638-7E3A-FC85-59BA-2A9D7838478D}"/>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spTree>
    <p:extLst>
      <p:ext uri="{BB962C8B-B14F-4D97-AF65-F5344CB8AC3E}">
        <p14:creationId xmlns:p14="http://schemas.microsoft.com/office/powerpoint/2010/main" val="1268431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29E8-F203-F04E-8FC2-0CA55E98E3D0}"/>
              </a:ext>
            </a:extLst>
          </p:cNvPr>
          <p:cNvSpPr>
            <a:spLocks noGrp="1"/>
          </p:cNvSpPr>
          <p:nvPr>
            <p:ph type="title"/>
          </p:nvPr>
        </p:nvSpPr>
        <p:spPr/>
        <p:txBody>
          <a:bodyPr/>
          <a:lstStyle/>
          <a:p>
            <a:r>
              <a:rPr lang="en-US" dirty="0"/>
              <a:t>Reactor Geometries</a:t>
            </a:r>
          </a:p>
        </p:txBody>
      </p:sp>
      <p:sp>
        <p:nvSpPr>
          <p:cNvPr id="3" name="Content Placeholder 2">
            <a:extLst>
              <a:ext uri="{FF2B5EF4-FFF2-40B4-BE49-F238E27FC236}">
                <a16:creationId xmlns:a16="http://schemas.microsoft.com/office/drawing/2014/main" id="{6F68C27F-C453-0E49-B002-52FDE370D53A}"/>
              </a:ext>
            </a:extLst>
          </p:cNvPr>
          <p:cNvSpPr>
            <a:spLocks noGrp="1"/>
          </p:cNvSpPr>
          <p:nvPr>
            <p:ph sz="half" idx="1"/>
          </p:nvPr>
        </p:nvSpPr>
        <p:spPr>
          <a:xfrm>
            <a:off x="609599" y="1968503"/>
            <a:ext cx="6684579" cy="4157663"/>
          </a:xfrm>
        </p:spPr>
        <p:txBody>
          <a:bodyPr/>
          <a:lstStyle/>
          <a:p>
            <a:r>
              <a:rPr lang="en-US" sz="2200" dirty="0"/>
              <a:t>Metal fuels are ideal for fast reactors because they have higher densities of fissile and fertile materials and provide higher breeding ratio</a:t>
            </a:r>
          </a:p>
          <a:p>
            <a:r>
              <a:rPr lang="en-US" sz="2200" dirty="0"/>
              <a:t>The burnup of metal fuel in the early days was limited to a few atom percent (at.%) because of the increase in the fuel–cladding mechanical interaction (FCMI) caused by gas swelling of fuel alloys</a:t>
            </a:r>
          </a:p>
          <a:p>
            <a:r>
              <a:rPr lang="en-US" sz="2200" dirty="0"/>
              <a:t>Reducing the fuel smear density to about 75% is effective in promoting fission gas release before fuel-cladding contact and in suppressing FCMI</a:t>
            </a:r>
          </a:p>
        </p:txBody>
      </p:sp>
      <p:pic>
        <p:nvPicPr>
          <p:cNvPr id="3074" name="Picture 2" descr="Impacts of Burnup-Dependent Swelling of Metallic Fuel on the Performance of  a Compact Breed-and-Burn Fast Reactor - ScienceDirect">
            <a:extLst>
              <a:ext uri="{FF2B5EF4-FFF2-40B4-BE49-F238E27FC236}">
                <a16:creationId xmlns:a16="http://schemas.microsoft.com/office/drawing/2014/main" id="{26CF02EA-BF47-6E4F-AE73-B413A419C51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7699718" y="2320134"/>
            <a:ext cx="4051300" cy="34544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13CA41E-4C58-7A4C-9E00-F9C910286E96}"/>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spTree>
    <p:extLst>
      <p:ext uri="{BB962C8B-B14F-4D97-AF65-F5344CB8AC3E}">
        <p14:creationId xmlns:p14="http://schemas.microsoft.com/office/powerpoint/2010/main" val="1348260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96AF2-BE20-FF4F-AADC-3A666819D1E6}"/>
              </a:ext>
            </a:extLst>
          </p:cNvPr>
          <p:cNvSpPr>
            <a:spLocks noGrp="1"/>
          </p:cNvSpPr>
          <p:nvPr>
            <p:ph type="title"/>
          </p:nvPr>
        </p:nvSpPr>
        <p:spPr/>
        <p:txBody>
          <a:bodyPr/>
          <a:lstStyle/>
          <a:p>
            <a:r>
              <a:rPr lang="en-US" dirty="0"/>
              <a:t>Base Metal Fuel System</a:t>
            </a:r>
          </a:p>
        </p:txBody>
      </p:sp>
      <p:sp>
        <p:nvSpPr>
          <p:cNvPr id="3" name="Content Placeholder 2">
            <a:extLst>
              <a:ext uri="{FF2B5EF4-FFF2-40B4-BE49-F238E27FC236}">
                <a16:creationId xmlns:a16="http://schemas.microsoft.com/office/drawing/2014/main" id="{A162DFA2-EBC5-4149-9563-9DEAE5240D40}"/>
              </a:ext>
            </a:extLst>
          </p:cNvPr>
          <p:cNvSpPr>
            <a:spLocks noGrp="1"/>
          </p:cNvSpPr>
          <p:nvPr>
            <p:ph sz="half" idx="1"/>
          </p:nvPr>
        </p:nvSpPr>
        <p:spPr>
          <a:xfrm>
            <a:off x="609599" y="1968503"/>
            <a:ext cx="6936829" cy="4157663"/>
          </a:xfrm>
        </p:spPr>
        <p:txBody>
          <a:bodyPr/>
          <a:lstStyle/>
          <a:p>
            <a:r>
              <a:rPr lang="en-US" sz="2400" dirty="0"/>
              <a:t>The typical metallic fuel consists of a U(Pu)–10 </a:t>
            </a:r>
            <a:r>
              <a:rPr lang="en-US" sz="2400" dirty="0" err="1"/>
              <a:t>wt</a:t>
            </a:r>
            <a:r>
              <a:rPr lang="en-US" sz="2400" dirty="0"/>
              <a:t>% Zr fuel slug with ~75% smear density</a:t>
            </a:r>
          </a:p>
          <a:p>
            <a:r>
              <a:rPr lang="en-US" sz="2400" dirty="0"/>
              <a:t>The cylindrical fuel alloy rod is called a ‘fuel slug</a:t>
            </a:r>
          </a:p>
          <a:p>
            <a:r>
              <a:rPr lang="en-US" sz="2400" dirty="0"/>
              <a:t>The annular gap between the fuel slug and the cladding is filled with sodium (bond sodium)</a:t>
            </a:r>
          </a:p>
          <a:p>
            <a:r>
              <a:rPr lang="en-US" sz="2400" dirty="0"/>
              <a:t>A relatively large gas plenum (1-1.5x fuel length), which is a space above the fuel slug, is provided to mitigate the pressure of the fission gas accumulating during irradiation</a:t>
            </a:r>
          </a:p>
          <a:p>
            <a:endParaRPr lang="en-US" sz="2400" dirty="0"/>
          </a:p>
          <a:p>
            <a:endParaRPr lang="en-US" sz="2400" dirty="0"/>
          </a:p>
          <a:p>
            <a:endParaRPr lang="en-US" sz="2400" dirty="0"/>
          </a:p>
        </p:txBody>
      </p:sp>
      <p:pic>
        <p:nvPicPr>
          <p:cNvPr id="6" name="Content Placeholder 5">
            <a:extLst>
              <a:ext uri="{FF2B5EF4-FFF2-40B4-BE49-F238E27FC236}">
                <a16:creationId xmlns:a16="http://schemas.microsoft.com/office/drawing/2014/main" id="{442152D4-E672-A14F-B89C-C95F122D3E75}"/>
              </a:ext>
            </a:extLst>
          </p:cNvPr>
          <p:cNvPicPr>
            <a:picLocks noGrp="1" noChangeAspect="1"/>
          </p:cNvPicPr>
          <p:nvPr>
            <p:ph sz="half" idx="2"/>
          </p:nvPr>
        </p:nvPicPr>
        <p:blipFill>
          <a:blip r:embed="rId2"/>
          <a:stretch>
            <a:fillRect/>
          </a:stretch>
        </p:blipFill>
        <p:spPr>
          <a:xfrm>
            <a:off x="9357578" y="136523"/>
            <a:ext cx="1604843" cy="6541379"/>
          </a:xfrm>
          <a:prstGeom prst="rect">
            <a:avLst/>
          </a:prstGeom>
        </p:spPr>
      </p:pic>
      <p:sp>
        <p:nvSpPr>
          <p:cNvPr id="5" name="Slide Number Placeholder 4">
            <a:extLst>
              <a:ext uri="{FF2B5EF4-FFF2-40B4-BE49-F238E27FC236}">
                <a16:creationId xmlns:a16="http://schemas.microsoft.com/office/drawing/2014/main" id="{8EAF1FB8-F0CA-A548-BC04-2FBA1A076E89}"/>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dirty="0"/>
          </a:p>
        </p:txBody>
      </p:sp>
    </p:spTree>
    <p:extLst>
      <p:ext uri="{BB962C8B-B14F-4D97-AF65-F5344CB8AC3E}">
        <p14:creationId xmlns:p14="http://schemas.microsoft.com/office/powerpoint/2010/main" val="3969517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3DBF-5D75-1D44-89C2-6C94E9321FDA}"/>
              </a:ext>
            </a:extLst>
          </p:cNvPr>
          <p:cNvSpPr>
            <a:spLocks noGrp="1"/>
          </p:cNvSpPr>
          <p:nvPr>
            <p:ph type="title"/>
          </p:nvPr>
        </p:nvSpPr>
        <p:spPr/>
        <p:txBody>
          <a:bodyPr/>
          <a:lstStyle/>
          <a:p>
            <a:r>
              <a:rPr lang="en-US" dirty="0"/>
              <a:t>The U-Zr System</a:t>
            </a:r>
          </a:p>
        </p:txBody>
      </p:sp>
      <p:sp>
        <p:nvSpPr>
          <p:cNvPr id="3" name="Content Placeholder 2">
            <a:extLst>
              <a:ext uri="{FF2B5EF4-FFF2-40B4-BE49-F238E27FC236}">
                <a16:creationId xmlns:a16="http://schemas.microsoft.com/office/drawing/2014/main" id="{B3AD023A-F031-3C46-B4F8-42BB400FD35D}"/>
              </a:ext>
            </a:extLst>
          </p:cNvPr>
          <p:cNvSpPr>
            <a:spLocks noGrp="1"/>
          </p:cNvSpPr>
          <p:nvPr>
            <p:ph sz="half" idx="1"/>
          </p:nvPr>
        </p:nvSpPr>
        <p:spPr/>
        <p:txBody>
          <a:bodyPr/>
          <a:lstStyle/>
          <a:p>
            <a:r>
              <a:rPr lang="en-US" sz="2400" dirty="0"/>
              <a:t>Metallic uranium is alloyed with Zr to stabilize the bcc phase, increase the melting point, improve mechanical properties, and reduce swelling</a:t>
            </a:r>
          </a:p>
          <a:p>
            <a:r>
              <a:rPr lang="en-US" sz="2400" dirty="0"/>
              <a:t>Typical composition is 10 wt.%, or approximately 22 atom %</a:t>
            </a:r>
          </a:p>
          <a:p>
            <a:r>
              <a:rPr lang="en-US" sz="2400" dirty="0"/>
              <a:t>At relevant temperature ranges in SFRs, multiple phases will be present (red line)</a:t>
            </a:r>
          </a:p>
        </p:txBody>
      </p:sp>
      <p:pic>
        <p:nvPicPr>
          <p:cNvPr id="6" name="Content Placeholder 5">
            <a:extLst>
              <a:ext uri="{FF2B5EF4-FFF2-40B4-BE49-F238E27FC236}">
                <a16:creationId xmlns:a16="http://schemas.microsoft.com/office/drawing/2014/main" id="{4B566BA8-C594-DC4F-A3FA-D1B3D347E9E4}"/>
              </a:ext>
            </a:extLst>
          </p:cNvPr>
          <p:cNvPicPr>
            <a:picLocks noGrp="1" noChangeAspect="1"/>
          </p:cNvPicPr>
          <p:nvPr>
            <p:ph sz="half" idx="2"/>
          </p:nvPr>
        </p:nvPicPr>
        <p:blipFill>
          <a:blip r:embed="rId2"/>
          <a:stretch>
            <a:fillRect/>
          </a:stretch>
        </p:blipFill>
        <p:spPr>
          <a:xfrm>
            <a:off x="7334649" y="1842995"/>
            <a:ext cx="4419600" cy="4025900"/>
          </a:xfrm>
          <a:prstGeom prst="rect">
            <a:avLst/>
          </a:prstGeom>
        </p:spPr>
      </p:pic>
      <p:sp>
        <p:nvSpPr>
          <p:cNvPr id="5" name="Slide Number Placeholder 4">
            <a:extLst>
              <a:ext uri="{FF2B5EF4-FFF2-40B4-BE49-F238E27FC236}">
                <a16:creationId xmlns:a16="http://schemas.microsoft.com/office/drawing/2014/main" id="{AA343E6E-9B41-554B-80C5-81BC663B0F21}"/>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pic>
        <p:nvPicPr>
          <p:cNvPr id="7" name="Picture 2" descr="C:\Users\beeler\Desktop\work\fission_gas_paper\alpha.jpg">
            <a:extLst>
              <a:ext uri="{FF2B5EF4-FFF2-40B4-BE49-F238E27FC236}">
                <a16:creationId xmlns:a16="http://schemas.microsoft.com/office/drawing/2014/main" id="{59105DC2-CC15-734C-8138-BC7B197EB70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091832" y="5602041"/>
            <a:ext cx="1291535" cy="11269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7" descr="C:\Users\beeler\Desktop\work\e_d_pic.tif">
            <a:extLst>
              <a:ext uri="{FF2B5EF4-FFF2-40B4-BE49-F238E27FC236}">
                <a16:creationId xmlns:a16="http://schemas.microsoft.com/office/drawing/2014/main" id="{12F73ADD-CF97-294C-B0D7-AB15B86A07E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bwMode="auto">
          <a:xfrm>
            <a:off x="8595081" y="602587"/>
            <a:ext cx="1228710" cy="1240408"/>
          </a:xfrm>
          <a:prstGeom prst="rect">
            <a:avLst/>
          </a:prstGeom>
          <a:noFill/>
          <a:ln>
            <a:noFill/>
          </a:ln>
        </p:spPr>
      </p:pic>
      <p:cxnSp>
        <p:nvCxnSpPr>
          <p:cNvPr id="9" name="Straight Arrow Connector 8">
            <a:extLst>
              <a:ext uri="{FF2B5EF4-FFF2-40B4-BE49-F238E27FC236}">
                <a16:creationId xmlns:a16="http://schemas.microsoft.com/office/drawing/2014/main" id="{D4B33F84-E07C-2CBF-B811-4345ED56BB55}"/>
              </a:ext>
            </a:extLst>
          </p:cNvPr>
          <p:cNvCxnSpPr>
            <a:stCxn id="8" idx="2"/>
          </p:cNvCxnSpPr>
          <p:nvPr/>
        </p:nvCxnSpPr>
        <p:spPr>
          <a:xfrm flipH="1">
            <a:off x="9133367" y="1842995"/>
            <a:ext cx="76069" cy="21016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6DE2B5A-CB60-02CB-5791-EE0073B5A860}"/>
              </a:ext>
            </a:extLst>
          </p:cNvPr>
          <p:cNvCxnSpPr/>
          <p:nvPr/>
        </p:nvCxnSpPr>
        <p:spPr>
          <a:xfrm flipH="1" flipV="1">
            <a:off x="8463516" y="4869712"/>
            <a:ext cx="274083" cy="732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4964F35-C9AD-7B80-1708-4B8370C17F5A}"/>
              </a:ext>
            </a:extLst>
          </p:cNvPr>
          <p:cNvCxnSpPr/>
          <p:nvPr/>
        </p:nvCxnSpPr>
        <p:spPr>
          <a:xfrm>
            <a:off x="8856919" y="4253031"/>
            <a:ext cx="0" cy="54864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145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CFCD7-D417-5C4E-B380-7BDCE2DDAD1E}"/>
              </a:ext>
            </a:extLst>
          </p:cNvPr>
          <p:cNvSpPr>
            <a:spLocks noGrp="1"/>
          </p:cNvSpPr>
          <p:nvPr>
            <p:ph type="title"/>
          </p:nvPr>
        </p:nvSpPr>
        <p:spPr/>
        <p:txBody>
          <a:bodyPr/>
          <a:lstStyle/>
          <a:p>
            <a:r>
              <a:rPr lang="en-US" dirty="0"/>
              <a:t>U-Pu-Zr</a:t>
            </a:r>
          </a:p>
        </p:txBody>
      </p:sp>
      <p:sp>
        <p:nvSpPr>
          <p:cNvPr id="3" name="Content Placeholder 2">
            <a:extLst>
              <a:ext uri="{FF2B5EF4-FFF2-40B4-BE49-F238E27FC236}">
                <a16:creationId xmlns:a16="http://schemas.microsoft.com/office/drawing/2014/main" id="{D9BF51ED-EC63-A046-AABB-70584841A28B}"/>
              </a:ext>
            </a:extLst>
          </p:cNvPr>
          <p:cNvSpPr>
            <a:spLocks noGrp="1"/>
          </p:cNvSpPr>
          <p:nvPr>
            <p:ph sz="half" idx="1"/>
          </p:nvPr>
        </p:nvSpPr>
        <p:spPr>
          <a:xfrm>
            <a:off x="609599" y="1968503"/>
            <a:ext cx="7504387" cy="4157663"/>
          </a:xfrm>
        </p:spPr>
        <p:txBody>
          <a:bodyPr/>
          <a:lstStyle/>
          <a:p>
            <a:r>
              <a:rPr lang="en-US" sz="1800" dirty="0"/>
              <a:t>Ternary phase diagram isotherms</a:t>
            </a:r>
          </a:p>
          <a:p>
            <a:r>
              <a:rPr lang="en-US" sz="1800" dirty="0">
                <a:latin typeface="Symbol" pitchFamily="2" charset="2"/>
              </a:rPr>
              <a:t>g</a:t>
            </a:r>
            <a:r>
              <a:rPr lang="en-US" sz="1800" dirty="0"/>
              <a:t>: Body-centered cubic (bcc), has complete solid solubility for bcc </a:t>
            </a:r>
            <a:r>
              <a:rPr lang="en-US" sz="1800" dirty="0">
                <a:latin typeface="Symbol" pitchFamily="2" charset="2"/>
              </a:rPr>
              <a:t>e</a:t>
            </a:r>
            <a:r>
              <a:rPr lang="en-US" sz="1800" dirty="0"/>
              <a:t>-plutonium and bcc </a:t>
            </a:r>
            <a:r>
              <a:rPr lang="en-US" sz="1800" dirty="0">
                <a:latin typeface="Symbol" pitchFamily="2" charset="2"/>
              </a:rPr>
              <a:t>b</a:t>
            </a:r>
            <a:r>
              <a:rPr lang="en-US" sz="1800" dirty="0"/>
              <a:t>-zirconium</a:t>
            </a:r>
          </a:p>
          <a:p>
            <a:r>
              <a:rPr lang="en-US" sz="1800" dirty="0">
                <a:latin typeface="Symbol" pitchFamily="2" charset="2"/>
              </a:rPr>
              <a:t>a</a:t>
            </a:r>
            <a:r>
              <a:rPr lang="en-US" sz="1800" dirty="0"/>
              <a:t>: Orthorhombic allotropic modification of uranium that dissolves up to 15 at.% of plutonium, but has limited solubility for zirconium</a:t>
            </a:r>
          </a:p>
          <a:p>
            <a:r>
              <a:rPr lang="en-US" sz="1800" dirty="0">
                <a:latin typeface="Symbol" pitchFamily="2" charset="2"/>
              </a:rPr>
              <a:t>b</a:t>
            </a:r>
            <a:r>
              <a:rPr lang="en-US" sz="1800" dirty="0"/>
              <a:t>: Tetragonal allotropic modification of uranium that dissolves up to 20 at.% of plutonium, but has limited solubility for zirconium</a:t>
            </a:r>
          </a:p>
          <a:p>
            <a:r>
              <a:rPr lang="en-US" sz="1800" dirty="0">
                <a:latin typeface="Symbol" pitchFamily="2" charset="2"/>
              </a:rPr>
              <a:t>h</a:t>
            </a:r>
            <a:r>
              <a:rPr lang="en-US" sz="1800" dirty="0"/>
              <a:t>: A high-temperature intermediate phase in the U–Pu binary system that is believed to be tetragonal and has limited solubility for zirconium</a:t>
            </a:r>
          </a:p>
          <a:p>
            <a:r>
              <a:rPr lang="en-US" sz="1800" dirty="0">
                <a:latin typeface="Symbol" pitchFamily="2" charset="2"/>
              </a:rPr>
              <a:t>z</a:t>
            </a:r>
            <a:r>
              <a:rPr lang="en-US" sz="1800" dirty="0"/>
              <a:t>: A complex cubic U–Pu intermediate phase that dissolves up to 5 at.% zirconium</a:t>
            </a:r>
          </a:p>
          <a:p>
            <a:r>
              <a:rPr lang="en-US" sz="1800" dirty="0">
                <a:latin typeface="Symbol" pitchFamily="2" charset="2"/>
              </a:rPr>
              <a:t>d</a:t>
            </a:r>
            <a:r>
              <a:rPr lang="en-US" sz="1800" dirty="0"/>
              <a:t>: A hexagonal intermediate phase in the U–Zr system that occurs approximately at the composition UZr2 and has extensive solid solubility for plutonium</a:t>
            </a:r>
          </a:p>
        </p:txBody>
      </p:sp>
      <p:pic>
        <p:nvPicPr>
          <p:cNvPr id="6" name="Content Placeholder 5">
            <a:extLst>
              <a:ext uri="{FF2B5EF4-FFF2-40B4-BE49-F238E27FC236}">
                <a16:creationId xmlns:a16="http://schemas.microsoft.com/office/drawing/2014/main" id="{0712E107-265F-304B-9809-7DB38A658013}"/>
              </a:ext>
            </a:extLst>
          </p:cNvPr>
          <p:cNvPicPr>
            <a:picLocks noGrp="1" noChangeAspect="1"/>
          </p:cNvPicPr>
          <p:nvPr>
            <p:ph sz="half" idx="2"/>
          </p:nvPr>
        </p:nvPicPr>
        <p:blipFill>
          <a:blip r:embed="rId2"/>
          <a:stretch>
            <a:fillRect/>
          </a:stretch>
        </p:blipFill>
        <p:spPr>
          <a:xfrm>
            <a:off x="7998372" y="1572068"/>
            <a:ext cx="4158088" cy="4554097"/>
          </a:xfrm>
          <a:prstGeom prst="rect">
            <a:avLst/>
          </a:prstGeom>
        </p:spPr>
      </p:pic>
      <p:sp>
        <p:nvSpPr>
          <p:cNvPr id="5" name="Slide Number Placeholder 4">
            <a:extLst>
              <a:ext uri="{FF2B5EF4-FFF2-40B4-BE49-F238E27FC236}">
                <a16:creationId xmlns:a16="http://schemas.microsoft.com/office/drawing/2014/main" id="{911A207F-0790-7942-9627-B2F726264BA8}"/>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dirty="0"/>
          </a:p>
        </p:txBody>
      </p:sp>
    </p:spTree>
    <p:extLst>
      <p:ext uri="{BB962C8B-B14F-4D97-AF65-F5344CB8AC3E}">
        <p14:creationId xmlns:p14="http://schemas.microsoft.com/office/powerpoint/2010/main" val="339688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0" y="1968503"/>
            <a:ext cx="4876800" cy="4157663"/>
          </a:xfrm>
        </p:spPr>
        <p:txBody>
          <a:bodyPr/>
          <a:lstStyle/>
          <a:p>
            <a:r>
              <a:rPr lang="en-US" sz="2200" dirty="0"/>
              <a:t>The U-Pu-Zr system was the fuel choice for the Integral Fast Reactor design of the 1980s, and the current/former Versatile Test Reactor design</a:t>
            </a:r>
          </a:p>
          <a:p>
            <a:r>
              <a:rPr lang="en-US" sz="2200" dirty="0"/>
              <a:t>U-Pu-Zr alloys are the most recent alloys under active exploration, and thus have the most recent experimental data</a:t>
            </a:r>
          </a:p>
          <a:p>
            <a:r>
              <a:rPr lang="en-US" dirty="0"/>
              <a:t>Note: TerraPower is using U-Zr fuel, presumably due to proliferation/regulatory reasons</a:t>
            </a:r>
            <a:endParaRPr lang="en-US" sz="2200" dirty="0"/>
          </a:p>
          <a:p>
            <a:endParaRPr lang="en-US" sz="2200" dirty="0"/>
          </a:p>
          <a:p>
            <a:endParaRPr lang="en-US" sz="2200" dirty="0"/>
          </a:p>
        </p:txBody>
      </p:sp>
      <p:pic>
        <p:nvPicPr>
          <p:cNvPr id="1026" name="Picture 2" descr="Versatile Test Reactor mock up">
            <a:extLst>
              <a:ext uri="{FF2B5EF4-FFF2-40B4-BE49-F238E27FC236}">
                <a16:creationId xmlns:a16="http://schemas.microsoft.com/office/drawing/2014/main" id="{4D7103BA-52B5-6440-8436-1F78FBFA969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197600" y="2593873"/>
            <a:ext cx="5384800" cy="290691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1611417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 Swelling</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0" y="1968503"/>
            <a:ext cx="6078279" cy="4157663"/>
          </a:xfrm>
        </p:spPr>
        <p:txBody>
          <a:bodyPr/>
          <a:lstStyle/>
          <a:p>
            <a:r>
              <a:rPr lang="en-US" sz="2200" dirty="0"/>
              <a:t>Swelling is typical of metallic fuels, in that it occurs rapidly, leveling off once in contact with the cladding</a:t>
            </a:r>
          </a:p>
          <a:p>
            <a:r>
              <a:rPr lang="en-US" dirty="0"/>
              <a:t>All U-Zr type allows irradiated in EBR-II showed very similar swelling behavior</a:t>
            </a:r>
            <a:endParaRPr lang="en-US" sz="2200" dirty="0"/>
          </a:p>
          <a:p>
            <a:r>
              <a:rPr lang="en-US" sz="2200" dirty="0"/>
              <a:t>Fission gas release occurs within the first 5% burnup, corresponding with the rapid swelling</a:t>
            </a:r>
          </a:p>
          <a:p>
            <a:r>
              <a:rPr lang="en-US" sz="2200" dirty="0"/>
              <a:t>These fuels swell less in the axial direction than in the radial direction, if isotropic swelling is assumed</a:t>
            </a:r>
          </a:p>
          <a:p>
            <a:endParaRPr lang="en-US" sz="2200" dirty="0"/>
          </a:p>
        </p:txBody>
      </p:sp>
      <p:pic>
        <p:nvPicPr>
          <p:cNvPr id="6" name="Content Placeholder 5">
            <a:extLst>
              <a:ext uri="{FF2B5EF4-FFF2-40B4-BE49-F238E27FC236}">
                <a16:creationId xmlns:a16="http://schemas.microsoft.com/office/drawing/2014/main" id="{7FAABCC9-B60C-2144-BA52-B86B3F46FC50}"/>
              </a:ext>
            </a:extLst>
          </p:cNvPr>
          <p:cNvPicPr>
            <a:picLocks noGrp="1" noChangeAspect="1"/>
          </p:cNvPicPr>
          <p:nvPr>
            <p:ph sz="half" idx="2"/>
          </p:nvPr>
        </p:nvPicPr>
        <p:blipFill>
          <a:blip r:embed="rId2"/>
          <a:stretch>
            <a:fillRect/>
          </a:stretch>
        </p:blipFill>
        <p:spPr>
          <a:xfrm>
            <a:off x="7620588" y="900113"/>
            <a:ext cx="3410979" cy="2878014"/>
          </a:xfrm>
          <a:prstGeom prst="rect">
            <a:avLst/>
          </a:prstGeom>
        </p:spPr>
      </p:pic>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7" name="Picture 6">
            <a:extLst>
              <a:ext uri="{FF2B5EF4-FFF2-40B4-BE49-F238E27FC236}">
                <a16:creationId xmlns:a16="http://schemas.microsoft.com/office/drawing/2014/main" id="{DE490BAC-A144-6D4C-AFD4-481A6A842729}"/>
              </a:ext>
            </a:extLst>
          </p:cNvPr>
          <p:cNvPicPr>
            <a:picLocks noChangeAspect="1"/>
          </p:cNvPicPr>
          <p:nvPr/>
        </p:nvPicPr>
        <p:blipFill>
          <a:blip r:embed="rId3"/>
          <a:stretch>
            <a:fillRect/>
          </a:stretch>
        </p:blipFill>
        <p:spPr>
          <a:xfrm>
            <a:off x="7918595" y="3778127"/>
            <a:ext cx="2844800" cy="2943350"/>
          </a:xfrm>
          <a:prstGeom prst="rect">
            <a:avLst/>
          </a:prstGeom>
        </p:spPr>
      </p:pic>
    </p:spTree>
    <p:extLst>
      <p:ext uri="{BB962C8B-B14F-4D97-AF65-F5344CB8AC3E}">
        <p14:creationId xmlns:p14="http://schemas.microsoft.com/office/powerpoint/2010/main" val="2611547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 Swelling</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0" y="1968503"/>
            <a:ext cx="5486400" cy="4157663"/>
          </a:xfrm>
        </p:spPr>
        <p:txBody>
          <a:bodyPr/>
          <a:lstStyle/>
          <a:p>
            <a:r>
              <a:rPr lang="en-US" sz="2200" dirty="0"/>
              <a:t>The axial/radial variance is believed to be due to  the difference in swelling behavior between the hotter center of the fuel pin and the colder periphery</a:t>
            </a:r>
          </a:p>
          <a:p>
            <a:r>
              <a:rPr lang="en-US" sz="2200" dirty="0"/>
              <a:t>The gamma phase dominates in the center of the fuel pin at high temperatures</a:t>
            </a:r>
          </a:p>
          <a:p>
            <a:r>
              <a:rPr lang="en-US" sz="2200" dirty="0"/>
              <a:t>This phase has large gas bubbles, indicative of a higher plasticity of the fuel and, therefore, a lower capability to sustain shear stresses</a:t>
            </a:r>
          </a:p>
          <a:p>
            <a:endParaRPr lang="en-US" sz="2200" dirty="0"/>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9" name="Picture 8">
            <a:extLst>
              <a:ext uri="{FF2B5EF4-FFF2-40B4-BE49-F238E27FC236}">
                <a16:creationId xmlns:a16="http://schemas.microsoft.com/office/drawing/2014/main" id="{98D71413-C3BE-0F4A-B82A-C833B2F88A61}"/>
              </a:ext>
            </a:extLst>
          </p:cNvPr>
          <p:cNvPicPr>
            <a:picLocks noChangeAspect="1"/>
          </p:cNvPicPr>
          <p:nvPr/>
        </p:nvPicPr>
        <p:blipFill>
          <a:blip r:embed="rId2"/>
          <a:stretch>
            <a:fillRect/>
          </a:stretch>
        </p:blipFill>
        <p:spPr>
          <a:xfrm>
            <a:off x="6500585" y="2167741"/>
            <a:ext cx="3664693" cy="3871155"/>
          </a:xfrm>
          <a:prstGeom prst="rect">
            <a:avLst/>
          </a:prstGeom>
        </p:spPr>
      </p:pic>
      <p:sp>
        <p:nvSpPr>
          <p:cNvPr id="11" name="TextBox 10">
            <a:extLst>
              <a:ext uri="{FF2B5EF4-FFF2-40B4-BE49-F238E27FC236}">
                <a16:creationId xmlns:a16="http://schemas.microsoft.com/office/drawing/2014/main" id="{837DC1A9-5F38-9B45-8C65-8756C619E53D}"/>
              </a:ext>
            </a:extLst>
          </p:cNvPr>
          <p:cNvSpPr txBox="1"/>
          <p:nvPr/>
        </p:nvSpPr>
        <p:spPr>
          <a:xfrm>
            <a:off x="7822292" y="5957887"/>
            <a:ext cx="1021278" cy="369332"/>
          </a:xfrm>
          <a:prstGeom prst="rect">
            <a:avLst/>
          </a:prstGeom>
          <a:noFill/>
        </p:spPr>
        <p:txBody>
          <a:bodyPr wrap="square" rtlCol="0">
            <a:spAutoFit/>
          </a:bodyPr>
          <a:lstStyle/>
          <a:p>
            <a:pPr algn="ctr"/>
            <a:r>
              <a:rPr lang="en-US" dirty="0"/>
              <a:t>gamma</a:t>
            </a:r>
          </a:p>
        </p:txBody>
      </p:sp>
    </p:spTree>
    <p:extLst>
      <p:ext uri="{BB962C8B-B14F-4D97-AF65-F5344CB8AC3E}">
        <p14:creationId xmlns:p14="http://schemas.microsoft.com/office/powerpoint/2010/main" val="1144062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 Swelling</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1" y="1968503"/>
            <a:ext cx="6266212" cy="4157663"/>
          </a:xfrm>
        </p:spPr>
        <p:txBody>
          <a:bodyPr/>
          <a:lstStyle/>
          <a:p>
            <a:r>
              <a:rPr lang="en-US" sz="2100" dirty="0"/>
              <a:t>The alpha phase dominates on the colder periphery of the fuel pin, and has smaller, textured porosity (really alpha/delta mixed)</a:t>
            </a:r>
          </a:p>
          <a:p>
            <a:r>
              <a:rPr lang="en-US" sz="2100" dirty="0"/>
              <a:t>The alpha phase is known to have higher strength, and is assumed to be less plastic than gamma</a:t>
            </a:r>
          </a:p>
          <a:p>
            <a:r>
              <a:rPr lang="en-US" sz="2100" dirty="0"/>
              <a:t>The fission gas pressure in the center can potentially result in a near-biaxial loading of the peripheral shell, the radial stress component being twice the axial component</a:t>
            </a:r>
          </a:p>
          <a:p>
            <a:r>
              <a:rPr lang="en-US" sz="2100" dirty="0"/>
              <a:t>A stress effect on swelling in the peripheral fuel zone would result in a larger radial strain, and hence anisotropic swelling</a:t>
            </a:r>
          </a:p>
          <a:p>
            <a:endParaRPr lang="en-US" sz="2100" dirty="0"/>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10" name="Picture 9">
            <a:extLst>
              <a:ext uri="{FF2B5EF4-FFF2-40B4-BE49-F238E27FC236}">
                <a16:creationId xmlns:a16="http://schemas.microsoft.com/office/drawing/2014/main" id="{92D36396-34AC-2C4D-99E2-F4A05BF1D3A8}"/>
              </a:ext>
            </a:extLst>
          </p:cNvPr>
          <p:cNvPicPr>
            <a:picLocks noChangeAspect="1"/>
          </p:cNvPicPr>
          <p:nvPr/>
        </p:nvPicPr>
        <p:blipFill>
          <a:blip r:embed="rId2"/>
          <a:stretch>
            <a:fillRect/>
          </a:stretch>
        </p:blipFill>
        <p:spPr>
          <a:xfrm>
            <a:off x="7213848" y="1968500"/>
            <a:ext cx="4030517" cy="4002132"/>
          </a:xfrm>
          <a:prstGeom prst="rect">
            <a:avLst/>
          </a:prstGeom>
        </p:spPr>
      </p:pic>
      <p:sp>
        <p:nvSpPr>
          <p:cNvPr id="12" name="TextBox 11">
            <a:extLst>
              <a:ext uri="{FF2B5EF4-FFF2-40B4-BE49-F238E27FC236}">
                <a16:creationId xmlns:a16="http://schemas.microsoft.com/office/drawing/2014/main" id="{5F01A0F4-C295-9F49-9162-DF96875CB311}"/>
              </a:ext>
            </a:extLst>
          </p:cNvPr>
          <p:cNvSpPr txBox="1"/>
          <p:nvPr/>
        </p:nvSpPr>
        <p:spPr>
          <a:xfrm>
            <a:off x="8737600" y="5987020"/>
            <a:ext cx="1260727" cy="369332"/>
          </a:xfrm>
          <a:prstGeom prst="rect">
            <a:avLst/>
          </a:prstGeom>
          <a:noFill/>
        </p:spPr>
        <p:txBody>
          <a:bodyPr wrap="square" rtlCol="0">
            <a:spAutoFit/>
          </a:bodyPr>
          <a:lstStyle/>
          <a:p>
            <a:pPr algn="ctr"/>
            <a:r>
              <a:rPr lang="en-US" dirty="0"/>
              <a:t>alpha zone</a:t>
            </a:r>
          </a:p>
        </p:txBody>
      </p:sp>
    </p:spTree>
    <p:extLst>
      <p:ext uri="{BB962C8B-B14F-4D97-AF65-F5344CB8AC3E}">
        <p14:creationId xmlns:p14="http://schemas.microsoft.com/office/powerpoint/2010/main" val="1544828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70D24-430E-944B-8948-557BA58B4503}"/>
              </a:ext>
            </a:extLst>
          </p:cNvPr>
          <p:cNvSpPr>
            <a:spLocks noGrp="1"/>
          </p:cNvSpPr>
          <p:nvPr>
            <p:ph type="title"/>
          </p:nvPr>
        </p:nvSpPr>
        <p:spPr/>
        <p:txBody>
          <a:bodyPr/>
          <a:lstStyle/>
          <a:p>
            <a:r>
              <a:rPr lang="en-US" dirty="0"/>
              <a:t>U-Pu-Zr</a:t>
            </a:r>
          </a:p>
        </p:txBody>
      </p:sp>
      <p:sp>
        <p:nvSpPr>
          <p:cNvPr id="3" name="Content Placeholder 2">
            <a:extLst>
              <a:ext uri="{FF2B5EF4-FFF2-40B4-BE49-F238E27FC236}">
                <a16:creationId xmlns:a16="http://schemas.microsoft.com/office/drawing/2014/main" id="{48644E5E-8716-514E-AE44-15028D3E6C47}"/>
              </a:ext>
            </a:extLst>
          </p:cNvPr>
          <p:cNvSpPr>
            <a:spLocks noGrp="1"/>
          </p:cNvSpPr>
          <p:nvPr>
            <p:ph sz="half" idx="1"/>
          </p:nvPr>
        </p:nvSpPr>
        <p:spPr/>
        <p:txBody>
          <a:bodyPr/>
          <a:lstStyle/>
          <a:p>
            <a:r>
              <a:rPr lang="en-US" sz="2000" dirty="0"/>
              <a:t>An increase in the Pu content exacerbates the anisotropic swelling</a:t>
            </a:r>
          </a:p>
          <a:p>
            <a:r>
              <a:rPr lang="en-US" sz="2000" dirty="0"/>
              <a:t>This is believed to be driven by the redistribution of Zr along the temperature gradient of the fuel</a:t>
            </a:r>
          </a:p>
          <a:p>
            <a:endParaRPr lang="en-US" sz="2000" dirty="0"/>
          </a:p>
          <a:p>
            <a:r>
              <a:rPr lang="en-US" sz="2000" dirty="0"/>
              <a:t>My suspicion is that there is also a substantial creep effect that leads to radial growth over time… but this is just my theory for now</a:t>
            </a:r>
          </a:p>
        </p:txBody>
      </p:sp>
      <p:pic>
        <p:nvPicPr>
          <p:cNvPr id="6" name="Content Placeholder 5">
            <a:extLst>
              <a:ext uri="{FF2B5EF4-FFF2-40B4-BE49-F238E27FC236}">
                <a16:creationId xmlns:a16="http://schemas.microsoft.com/office/drawing/2014/main" id="{F4247674-0D3F-664D-A57D-0309663F3A63}"/>
              </a:ext>
            </a:extLst>
          </p:cNvPr>
          <p:cNvPicPr>
            <a:picLocks noGrp="1" noChangeAspect="1"/>
          </p:cNvPicPr>
          <p:nvPr>
            <p:ph sz="half" idx="2"/>
          </p:nvPr>
        </p:nvPicPr>
        <p:blipFill>
          <a:blip r:embed="rId2"/>
          <a:stretch>
            <a:fillRect/>
          </a:stretch>
        </p:blipFill>
        <p:spPr>
          <a:xfrm>
            <a:off x="6510056" y="1968500"/>
            <a:ext cx="4759887" cy="4157663"/>
          </a:xfrm>
          <a:prstGeom prst="rect">
            <a:avLst/>
          </a:prstGeom>
        </p:spPr>
      </p:pic>
      <p:sp>
        <p:nvSpPr>
          <p:cNvPr id="5" name="Slide Number Placeholder 4">
            <a:extLst>
              <a:ext uri="{FF2B5EF4-FFF2-40B4-BE49-F238E27FC236}">
                <a16:creationId xmlns:a16="http://schemas.microsoft.com/office/drawing/2014/main" id="{B3D9819A-B1B6-C040-BEB2-F138D1D83C52}"/>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2375630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3146E4D-A665-6741-A464-79C5A4E36414}"/>
              </a:ext>
            </a:extLst>
          </p:cNvPr>
          <p:cNvPicPr>
            <a:picLocks noChangeAspect="1"/>
          </p:cNvPicPr>
          <p:nvPr/>
        </p:nvPicPr>
        <p:blipFill>
          <a:blip r:embed="rId2"/>
          <a:stretch>
            <a:fillRect/>
          </a:stretch>
        </p:blipFill>
        <p:spPr>
          <a:xfrm rot="5400000">
            <a:off x="7967032" y="2321334"/>
            <a:ext cx="4741636" cy="2900224"/>
          </a:xfrm>
          <a:prstGeom prst="rect">
            <a:avLst/>
          </a:prstGeom>
        </p:spPr>
      </p:pic>
      <p:sp>
        <p:nvSpPr>
          <p:cNvPr id="2" name="Title 1">
            <a:extLst>
              <a:ext uri="{FF2B5EF4-FFF2-40B4-BE49-F238E27FC236}">
                <a16:creationId xmlns:a16="http://schemas.microsoft.com/office/drawing/2014/main" id="{8E87B00F-B995-364D-AFB2-8C1281E13CF5}"/>
              </a:ext>
            </a:extLst>
          </p:cNvPr>
          <p:cNvSpPr>
            <a:spLocks noGrp="1"/>
          </p:cNvSpPr>
          <p:nvPr>
            <p:ph type="title"/>
          </p:nvPr>
        </p:nvSpPr>
        <p:spPr/>
        <p:txBody>
          <a:bodyPr/>
          <a:lstStyle/>
          <a:p>
            <a:r>
              <a:rPr lang="en-US" dirty="0"/>
              <a:t>U-Pu-Zr Phases and Redistribution</a:t>
            </a:r>
          </a:p>
        </p:txBody>
      </p:sp>
      <p:sp>
        <p:nvSpPr>
          <p:cNvPr id="3" name="Content Placeholder 2">
            <a:extLst>
              <a:ext uri="{FF2B5EF4-FFF2-40B4-BE49-F238E27FC236}">
                <a16:creationId xmlns:a16="http://schemas.microsoft.com/office/drawing/2014/main" id="{F561EDCF-2C59-A341-8B90-7DB6BD42C2BF}"/>
              </a:ext>
            </a:extLst>
          </p:cNvPr>
          <p:cNvSpPr>
            <a:spLocks noGrp="1"/>
          </p:cNvSpPr>
          <p:nvPr>
            <p:ph sz="half" idx="1"/>
          </p:nvPr>
        </p:nvSpPr>
        <p:spPr>
          <a:xfrm>
            <a:off x="609600" y="1968503"/>
            <a:ext cx="3879273" cy="4157663"/>
          </a:xfrm>
        </p:spPr>
        <p:txBody>
          <a:bodyPr/>
          <a:lstStyle/>
          <a:p>
            <a:r>
              <a:rPr lang="en-US" sz="2200" dirty="0"/>
              <a:t>Various phase boundaries exist radially across the fuel</a:t>
            </a:r>
          </a:p>
          <a:p>
            <a:r>
              <a:rPr lang="en-US" sz="2200" dirty="0"/>
              <a:t>The solubility of Zr in these phases varies with temperature; thus, a driving force for diffusion can be created both by the gradient in chemical potential, and by the temperature gradient</a:t>
            </a:r>
          </a:p>
          <a:p>
            <a:endParaRPr lang="en-US" sz="2200" dirty="0"/>
          </a:p>
        </p:txBody>
      </p:sp>
      <p:pic>
        <p:nvPicPr>
          <p:cNvPr id="6" name="Content Placeholder 5">
            <a:extLst>
              <a:ext uri="{FF2B5EF4-FFF2-40B4-BE49-F238E27FC236}">
                <a16:creationId xmlns:a16="http://schemas.microsoft.com/office/drawing/2014/main" id="{E2368728-0613-E94E-970F-605772AD8425}"/>
              </a:ext>
            </a:extLst>
          </p:cNvPr>
          <p:cNvPicPr>
            <a:picLocks noGrp="1" noChangeAspect="1"/>
          </p:cNvPicPr>
          <p:nvPr>
            <p:ph sz="half" idx="2"/>
          </p:nvPr>
        </p:nvPicPr>
        <p:blipFill>
          <a:blip r:embed="rId3"/>
          <a:stretch>
            <a:fillRect/>
          </a:stretch>
        </p:blipFill>
        <p:spPr>
          <a:xfrm>
            <a:off x="4641273" y="2116364"/>
            <a:ext cx="4419600" cy="4025900"/>
          </a:xfrm>
          <a:prstGeom prst="rect">
            <a:avLst/>
          </a:prstGeom>
        </p:spPr>
      </p:pic>
      <p:sp>
        <p:nvSpPr>
          <p:cNvPr id="5" name="Slide Number Placeholder 4">
            <a:extLst>
              <a:ext uri="{FF2B5EF4-FFF2-40B4-BE49-F238E27FC236}">
                <a16:creationId xmlns:a16="http://schemas.microsoft.com/office/drawing/2014/main" id="{9BF19BD3-C407-C743-9C9C-9236310B9940}"/>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3761128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BC54-4316-5C40-B1B3-03BCFDA37C01}"/>
              </a:ext>
            </a:extLst>
          </p:cNvPr>
          <p:cNvSpPr>
            <a:spLocks noGrp="1"/>
          </p:cNvSpPr>
          <p:nvPr>
            <p:ph type="title"/>
          </p:nvPr>
        </p:nvSpPr>
        <p:spPr/>
        <p:txBody>
          <a:bodyPr/>
          <a:lstStyle/>
          <a:p>
            <a:r>
              <a:rPr lang="en-US" dirty="0"/>
              <a:t>Redistribution</a:t>
            </a:r>
          </a:p>
        </p:txBody>
      </p:sp>
      <p:sp>
        <p:nvSpPr>
          <p:cNvPr id="3" name="Content Placeholder 2">
            <a:extLst>
              <a:ext uri="{FF2B5EF4-FFF2-40B4-BE49-F238E27FC236}">
                <a16:creationId xmlns:a16="http://schemas.microsoft.com/office/drawing/2014/main" id="{891DA251-E7D7-8840-A358-DD3BE728DA9D}"/>
              </a:ext>
            </a:extLst>
          </p:cNvPr>
          <p:cNvSpPr>
            <a:spLocks noGrp="1"/>
          </p:cNvSpPr>
          <p:nvPr>
            <p:ph sz="half" idx="1"/>
          </p:nvPr>
        </p:nvSpPr>
        <p:spPr>
          <a:xfrm>
            <a:off x="609600" y="1968503"/>
            <a:ext cx="5097813" cy="4157663"/>
          </a:xfrm>
        </p:spPr>
        <p:txBody>
          <a:bodyPr/>
          <a:lstStyle/>
          <a:p>
            <a:r>
              <a:rPr lang="en-US" sz="2100" dirty="0"/>
              <a:t>There can exist three compositional regions: 1) enriched Zr, 2) depleted Zr, 3) as-fabricated Zr</a:t>
            </a:r>
          </a:p>
          <a:p>
            <a:r>
              <a:rPr lang="en-US" sz="2100" dirty="0"/>
              <a:t>Zirconium diffuses up the temperature gradient to the high temperature gamma phase, leaving the intermediate temperature beta U phase</a:t>
            </a:r>
          </a:p>
          <a:p>
            <a:r>
              <a:rPr lang="en-US" sz="2100" dirty="0"/>
              <a:t>Uranium compensates by diffusing to the intermediate region</a:t>
            </a:r>
          </a:p>
          <a:p>
            <a:r>
              <a:rPr lang="en-US" sz="2100" dirty="0"/>
              <a:t>At lower T, decomposition into alpha/delta phases – with local low and high Zr content</a:t>
            </a:r>
          </a:p>
          <a:p>
            <a:endParaRPr lang="en-US" sz="2100" dirty="0"/>
          </a:p>
        </p:txBody>
      </p:sp>
      <p:pic>
        <p:nvPicPr>
          <p:cNvPr id="6" name="Content Placeholder 5">
            <a:extLst>
              <a:ext uri="{FF2B5EF4-FFF2-40B4-BE49-F238E27FC236}">
                <a16:creationId xmlns:a16="http://schemas.microsoft.com/office/drawing/2014/main" id="{1D57D141-9560-E343-9304-650086020E0D}"/>
              </a:ext>
            </a:extLst>
          </p:cNvPr>
          <p:cNvPicPr>
            <a:picLocks noGrp="1" noChangeAspect="1"/>
          </p:cNvPicPr>
          <p:nvPr>
            <p:ph sz="half" idx="2"/>
          </p:nvPr>
        </p:nvPicPr>
        <p:blipFill>
          <a:blip r:embed="rId2"/>
          <a:stretch>
            <a:fillRect/>
          </a:stretch>
        </p:blipFill>
        <p:spPr>
          <a:xfrm>
            <a:off x="5707413" y="2546587"/>
            <a:ext cx="2844800" cy="2667000"/>
          </a:xfrm>
          <a:prstGeom prst="rect">
            <a:avLst/>
          </a:prstGeom>
        </p:spPr>
      </p:pic>
      <p:sp>
        <p:nvSpPr>
          <p:cNvPr id="5" name="Slide Number Placeholder 4">
            <a:extLst>
              <a:ext uri="{FF2B5EF4-FFF2-40B4-BE49-F238E27FC236}">
                <a16:creationId xmlns:a16="http://schemas.microsoft.com/office/drawing/2014/main" id="{0A97010F-2F10-B04D-9BB4-F2109DB62C2C}"/>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pic>
        <p:nvPicPr>
          <p:cNvPr id="7" name="Picture 6">
            <a:extLst>
              <a:ext uri="{FF2B5EF4-FFF2-40B4-BE49-F238E27FC236}">
                <a16:creationId xmlns:a16="http://schemas.microsoft.com/office/drawing/2014/main" id="{11E50213-8EB7-D746-B789-A94A1EAE7A2D}"/>
              </a:ext>
            </a:extLst>
          </p:cNvPr>
          <p:cNvPicPr>
            <a:picLocks noChangeAspect="1"/>
          </p:cNvPicPr>
          <p:nvPr/>
        </p:nvPicPr>
        <p:blipFill>
          <a:blip r:embed="rId3"/>
          <a:stretch>
            <a:fillRect/>
          </a:stretch>
        </p:blipFill>
        <p:spPr>
          <a:xfrm>
            <a:off x="8520545" y="2009384"/>
            <a:ext cx="3625355" cy="3568327"/>
          </a:xfrm>
          <a:prstGeom prst="rect">
            <a:avLst/>
          </a:prstGeom>
        </p:spPr>
      </p:pic>
    </p:spTree>
    <p:extLst>
      <p:ext uri="{BB962C8B-B14F-4D97-AF65-F5344CB8AC3E}">
        <p14:creationId xmlns:p14="http://schemas.microsoft.com/office/powerpoint/2010/main" val="169978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BC54-4316-5C40-B1B3-03BCFDA37C01}"/>
              </a:ext>
            </a:extLst>
          </p:cNvPr>
          <p:cNvSpPr>
            <a:spLocks noGrp="1"/>
          </p:cNvSpPr>
          <p:nvPr>
            <p:ph type="title"/>
          </p:nvPr>
        </p:nvSpPr>
        <p:spPr/>
        <p:txBody>
          <a:bodyPr/>
          <a:lstStyle/>
          <a:p>
            <a:r>
              <a:rPr lang="en-US" dirty="0"/>
              <a:t>Redistribution</a:t>
            </a:r>
          </a:p>
        </p:txBody>
      </p:sp>
      <p:sp>
        <p:nvSpPr>
          <p:cNvPr id="3" name="Content Placeholder 2">
            <a:extLst>
              <a:ext uri="{FF2B5EF4-FFF2-40B4-BE49-F238E27FC236}">
                <a16:creationId xmlns:a16="http://schemas.microsoft.com/office/drawing/2014/main" id="{891DA251-E7D7-8840-A358-DD3BE728DA9D}"/>
              </a:ext>
            </a:extLst>
          </p:cNvPr>
          <p:cNvSpPr>
            <a:spLocks noGrp="1"/>
          </p:cNvSpPr>
          <p:nvPr>
            <p:ph sz="half" idx="1"/>
          </p:nvPr>
        </p:nvSpPr>
        <p:spPr>
          <a:xfrm>
            <a:off x="609600" y="1968503"/>
            <a:ext cx="4674919" cy="4157663"/>
          </a:xfrm>
        </p:spPr>
        <p:txBody>
          <a:bodyPr/>
          <a:lstStyle/>
          <a:p>
            <a:r>
              <a:rPr lang="en-US" sz="2200" dirty="0"/>
              <a:t>The location of the radial zones essentially follows isotherms in the fuel which are determined by the various phase boundaries of the alloy</a:t>
            </a:r>
          </a:p>
          <a:p>
            <a:r>
              <a:rPr lang="en-US" sz="2200" dirty="0"/>
              <a:t>The extent of redistribution, and the radial location of the individual compositional regions, varies axially with temperature</a:t>
            </a:r>
          </a:p>
          <a:p>
            <a:r>
              <a:rPr lang="en-US" sz="2200" dirty="0"/>
              <a:t>Both chemical potential and </a:t>
            </a:r>
            <a:r>
              <a:rPr lang="en-US" sz="2200" dirty="0" err="1"/>
              <a:t>Soret</a:t>
            </a:r>
            <a:r>
              <a:rPr lang="en-US" sz="2200" dirty="0"/>
              <a:t> effect diffusion contribute</a:t>
            </a:r>
          </a:p>
          <a:p>
            <a:endParaRPr lang="en-US" sz="2200" dirty="0"/>
          </a:p>
        </p:txBody>
      </p:sp>
      <p:sp>
        <p:nvSpPr>
          <p:cNvPr id="5" name="Slide Number Placeholder 4">
            <a:extLst>
              <a:ext uri="{FF2B5EF4-FFF2-40B4-BE49-F238E27FC236}">
                <a16:creationId xmlns:a16="http://schemas.microsoft.com/office/drawing/2014/main" id="{0A97010F-2F10-B04D-9BB4-F2109DB62C2C}"/>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pic>
        <p:nvPicPr>
          <p:cNvPr id="9" name="Picture 8">
            <a:extLst>
              <a:ext uri="{FF2B5EF4-FFF2-40B4-BE49-F238E27FC236}">
                <a16:creationId xmlns:a16="http://schemas.microsoft.com/office/drawing/2014/main" id="{A9AC043B-CC64-B24A-B662-F0F41D71AB55}"/>
              </a:ext>
            </a:extLst>
          </p:cNvPr>
          <p:cNvPicPr>
            <a:picLocks noChangeAspect="1"/>
          </p:cNvPicPr>
          <p:nvPr/>
        </p:nvPicPr>
        <p:blipFill>
          <a:blip r:embed="rId2"/>
          <a:stretch>
            <a:fillRect/>
          </a:stretch>
        </p:blipFill>
        <p:spPr>
          <a:xfrm rot="5400000">
            <a:off x="7649022" y="-237506"/>
            <a:ext cx="2128995" cy="6858000"/>
          </a:xfrm>
          <a:prstGeom prst="rect">
            <a:avLst/>
          </a:prstGeom>
        </p:spPr>
      </p:pic>
      <p:pic>
        <p:nvPicPr>
          <p:cNvPr id="10" name="Picture 9">
            <a:extLst>
              <a:ext uri="{FF2B5EF4-FFF2-40B4-BE49-F238E27FC236}">
                <a16:creationId xmlns:a16="http://schemas.microsoft.com/office/drawing/2014/main" id="{73F0E84C-9677-E047-A5FE-65E80A117949}"/>
              </a:ext>
            </a:extLst>
          </p:cNvPr>
          <p:cNvPicPr>
            <a:picLocks noChangeAspect="1"/>
          </p:cNvPicPr>
          <p:nvPr/>
        </p:nvPicPr>
        <p:blipFill>
          <a:blip r:embed="rId3"/>
          <a:stretch>
            <a:fillRect/>
          </a:stretch>
        </p:blipFill>
        <p:spPr>
          <a:xfrm rot="5400000">
            <a:off x="8673713" y="1329936"/>
            <a:ext cx="471497" cy="6323610"/>
          </a:xfrm>
          <a:prstGeom prst="rect">
            <a:avLst/>
          </a:prstGeom>
        </p:spPr>
      </p:pic>
      <p:pic>
        <p:nvPicPr>
          <p:cNvPr id="11" name="Picture 10">
            <a:extLst>
              <a:ext uri="{FF2B5EF4-FFF2-40B4-BE49-F238E27FC236}">
                <a16:creationId xmlns:a16="http://schemas.microsoft.com/office/drawing/2014/main" id="{F8E78A9D-025D-3244-8FA4-814AC80F63BD}"/>
              </a:ext>
            </a:extLst>
          </p:cNvPr>
          <p:cNvPicPr>
            <a:picLocks noChangeAspect="1"/>
          </p:cNvPicPr>
          <p:nvPr/>
        </p:nvPicPr>
        <p:blipFill>
          <a:blip r:embed="rId4"/>
          <a:stretch>
            <a:fillRect/>
          </a:stretch>
        </p:blipFill>
        <p:spPr>
          <a:xfrm rot="5400000">
            <a:off x="7964199" y="2675639"/>
            <a:ext cx="1975729" cy="5648787"/>
          </a:xfrm>
          <a:prstGeom prst="rect">
            <a:avLst/>
          </a:prstGeom>
        </p:spPr>
      </p:pic>
    </p:spTree>
    <p:extLst>
      <p:ext uri="{BB962C8B-B14F-4D97-AF65-F5344CB8AC3E}">
        <p14:creationId xmlns:p14="http://schemas.microsoft.com/office/powerpoint/2010/main" val="1963861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385BAF0-C636-BB4A-AC63-D7ED1C9E171B}"/>
              </a:ext>
            </a:extLst>
          </p:cNvPr>
          <p:cNvPicPr>
            <a:picLocks noChangeAspect="1"/>
          </p:cNvPicPr>
          <p:nvPr/>
        </p:nvPicPr>
        <p:blipFill>
          <a:blip r:embed="rId2"/>
          <a:stretch>
            <a:fillRect/>
          </a:stretch>
        </p:blipFill>
        <p:spPr>
          <a:xfrm>
            <a:off x="4091297" y="3836215"/>
            <a:ext cx="3771900" cy="1016000"/>
          </a:xfrm>
          <a:prstGeom prst="rect">
            <a:avLst/>
          </a:prstGeom>
        </p:spPr>
      </p:pic>
      <p:sp>
        <p:nvSpPr>
          <p:cNvPr id="2" name="Title 1">
            <a:extLst>
              <a:ext uri="{FF2B5EF4-FFF2-40B4-BE49-F238E27FC236}">
                <a16:creationId xmlns:a16="http://schemas.microsoft.com/office/drawing/2014/main" id="{0522EF94-E3DD-024B-93DC-361119AD069C}"/>
              </a:ext>
            </a:extLst>
          </p:cNvPr>
          <p:cNvSpPr>
            <a:spLocks noGrp="1"/>
          </p:cNvSpPr>
          <p:nvPr>
            <p:ph type="title"/>
          </p:nvPr>
        </p:nvSpPr>
        <p:spPr/>
        <p:txBody>
          <a:bodyPr/>
          <a:lstStyle/>
          <a:p>
            <a:r>
              <a:rPr lang="en-US" dirty="0" err="1"/>
              <a:t>Soret</a:t>
            </a:r>
            <a:r>
              <a:rPr lang="en-US" dirty="0"/>
              <a:t> Diffusion</a:t>
            </a:r>
          </a:p>
        </p:txBody>
      </p:sp>
      <p:sp>
        <p:nvSpPr>
          <p:cNvPr id="3" name="Content Placeholder 2">
            <a:extLst>
              <a:ext uri="{FF2B5EF4-FFF2-40B4-BE49-F238E27FC236}">
                <a16:creationId xmlns:a16="http://schemas.microsoft.com/office/drawing/2014/main" id="{963F151B-437F-8847-B756-69BA20C7CA99}"/>
              </a:ext>
            </a:extLst>
          </p:cNvPr>
          <p:cNvSpPr>
            <a:spLocks noGrp="1"/>
          </p:cNvSpPr>
          <p:nvPr>
            <p:ph idx="1"/>
          </p:nvPr>
        </p:nvSpPr>
        <p:spPr>
          <a:xfrm>
            <a:off x="609600" y="1968500"/>
            <a:ext cx="10972800" cy="4157664"/>
          </a:xfrm>
        </p:spPr>
        <p:txBody>
          <a:bodyPr/>
          <a:lstStyle/>
          <a:p>
            <a:r>
              <a:rPr lang="en-US" sz="2400" dirty="0" err="1">
                <a:latin typeface="Arial" panose="020B0604020202020204" pitchFamily="34" charset="0"/>
                <a:cs typeface="Arial" panose="020B0604020202020204" pitchFamily="34" charset="0"/>
              </a:rPr>
              <a:t>Soret</a:t>
            </a:r>
            <a:r>
              <a:rPr lang="en-US" sz="2400" dirty="0">
                <a:latin typeface="Arial" panose="020B0604020202020204" pitchFamily="34" charset="0"/>
                <a:cs typeface="Arial" panose="020B0604020202020204" pitchFamily="34" charset="0"/>
              </a:rPr>
              <a:t> effect is a phenomenon observed in mixtures of mobile particles where the different particle types exhibit different responses to the force of a temperature gradient</a:t>
            </a:r>
          </a:p>
          <a:p>
            <a:r>
              <a:rPr lang="en-US" sz="2400" dirty="0">
                <a:latin typeface="Arial" panose="020B0604020202020204" pitchFamily="34" charset="0"/>
                <a:cs typeface="Arial" panose="020B0604020202020204" pitchFamily="34" charset="0"/>
              </a:rPr>
              <a:t>The solute flux in a temperature gradient is characterized by the heat of transport, Q*, of the migrating solute according to Fick’s law:</a:t>
            </a: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where Di and Ni are the diffusivity and concentration of the migrating solute</a:t>
            </a:r>
          </a:p>
          <a:p>
            <a:r>
              <a:rPr lang="en-US" sz="2400" dirty="0">
                <a:latin typeface="Arial" panose="020B0604020202020204" pitchFamily="34" charset="0"/>
                <a:cs typeface="Arial" panose="020B0604020202020204" pitchFamily="34" charset="0"/>
              </a:rPr>
              <a:t>The heat of transport can be either positive or negative, depending on the sign and magnitude of its components</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071E5831-E653-0F4F-A675-2F8A4AB47950}"/>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spTree>
    <p:extLst>
      <p:ext uri="{BB962C8B-B14F-4D97-AF65-F5344CB8AC3E}">
        <p14:creationId xmlns:p14="http://schemas.microsoft.com/office/powerpoint/2010/main" val="2244811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8E62F-4F6D-9A4D-8E21-9B4DD2ADD3EA}"/>
              </a:ext>
            </a:extLst>
          </p:cNvPr>
          <p:cNvSpPr>
            <a:spLocks noGrp="1"/>
          </p:cNvSpPr>
          <p:nvPr>
            <p:ph type="title"/>
          </p:nvPr>
        </p:nvSpPr>
        <p:spPr/>
        <p:txBody>
          <a:bodyPr/>
          <a:lstStyle/>
          <a:p>
            <a:r>
              <a:rPr lang="en-US" dirty="0" err="1"/>
              <a:t>Soret</a:t>
            </a:r>
            <a:r>
              <a:rPr lang="en-US" dirty="0"/>
              <a:t> Diffusion in UZr</a:t>
            </a:r>
          </a:p>
        </p:txBody>
      </p:sp>
      <p:sp>
        <p:nvSpPr>
          <p:cNvPr id="3" name="Content Placeholder 2">
            <a:extLst>
              <a:ext uri="{FF2B5EF4-FFF2-40B4-BE49-F238E27FC236}">
                <a16:creationId xmlns:a16="http://schemas.microsoft.com/office/drawing/2014/main" id="{2BE5A8AC-57A7-444C-A2AD-24D0D7C4657B}"/>
              </a:ext>
            </a:extLst>
          </p:cNvPr>
          <p:cNvSpPr>
            <a:spLocks noGrp="1"/>
          </p:cNvSpPr>
          <p:nvPr>
            <p:ph idx="1"/>
          </p:nvPr>
        </p:nvSpPr>
        <p:spPr>
          <a:xfrm>
            <a:off x="609600" y="2280746"/>
            <a:ext cx="6384966" cy="3845418"/>
          </a:xfrm>
        </p:spPr>
        <p:txBody>
          <a:bodyPr/>
          <a:lstStyle/>
          <a:p>
            <a:r>
              <a:rPr lang="en-US" sz="2400" dirty="0"/>
              <a:t>The value of Q* for pure U was measured to be +5 kcal/mol and to be −34 kcal/mol for Zr</a:t>
            </a:r>
          </a:p>
          <a:p>
            <a:r>
              <a:rPr lang="en-US" sz="2400" dirty="0"/>
              <a:t>Thus, in their pure states, U moves down a temperature gradient while Zr moves up, but it is unknown if this behavior directly translated to U-Zr alloys</a:t>
            </a:r>
          </a:p>
          <a:p>
            <a:r>
              <a:rPr lang="en-US" sz="2400" dirty="0"/>
              <a:t>For low Pu content alloys, the rate of redistribution is similar to UZr</a:t>
            </a:r>
          </a:p>
          <a:p>
            <a:endParaRPr lang="en-US" sz="2400" dirty="0"/>
          </a:p>
        </p:txBody>
      </p:sp>
      <p:sp>
        <p:nvSpPr>
          <p:cNvPr id="4" name="Slide Number Placeholder 3">
            <a:extLst>
              <a:ext uri="{FF2B5EF4-FFF2-40B4-BE49-F238E27FC236}">
                <a16:creationId xmlns:a16="http://schemas.microsoft.com/office/drawing/2014/main" id="{D1CF6A1C-2FAC-654A-8C67-25F962129CD9}"/>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pic>
        <p:nvPicPr>
          <p:cNvPr id="5" name="Picture 4">
            <a:extLst>
              <a:ext uri="{FF2B5EF4-FFF2-40B4-BE49-F238E27FC236}">
                <a16:creationId xmlns:a16="http://schemas.microsoft.com/office/drawing/2014/main" id="{1A398C7D-601C-5441-8145-E2982492EBF9}"/>
              </a:ext>
            </a:extLst>
          </p:cNvPr>
          <p:cNvPicPr>
            <a:picLocks noChangeAspect="1"/>
          </p:cNvPicPr>
          <p:nvPr/>
        </p:nvPicPr>
        <p:blipFill>
          <a:blip r:embed="rId2"/>
          <a:stretch>
            <a:fillRect/>
          </a:stretch>
        </p:blipFill>
        <p:spPr>
          <a:xfrm>
            <a:off x="7232073" y="1968500"/>
            <a:ext cx="4461164" cy="4336174"/>
          </a:xfrm>
          <a:prstGeom prst="rect">
            <a:avLst/>
          </a:prstGeom>
        </p:spPr>
      </p:pic>
    </p:spTree>
    <p:extLst>
      <p:ext uri="{BB962C8B-B14F-4D97-AF65-F5344CB8AC3E}">
        <p14:creationId xmlns:p14="http://schemas.microsoft.com/office/powerpoint/2010/main" val="841738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8E62F-4F6D-9A4D-8E21-9B4DD2ADD3EA}"/>
              </a:ext>
            </a:extLst>
          </p:cNvPr>
          <p:cNvSpPr>
            <a:spLocks noGrp="1"/>
          </p:cNvSpPr>
          <p:nvPr>
            <p:ph type="title"/>
          </p:nvPr>
        </p:nvSpPr>
        <p:spPr/>
        <p:txBody>
          <a:bodyPr/>
          <a:lstStyle/>
          <a:p>
            <a:r>
              <a:rPr lang="en-US" dirty="0" err="1"/>
              <a:t>Soret</a:t>
            </a:r>
            <a:r>
              <a:rPr lang="en-US" dirty="0"/>
              <a:t> Diffusion in UZr</a:t>
            </a:r>
          </a:p>
        </p:txBody>
      </p:sp>
      <p:sp>
        <p:nvSpPr>
          <p:cNvPr id="3" name="Content Placeholder 2">
            <a:extLst>
              <a:ext uri="{FF2B5EF4-FFF2-40B4-BE49-F238E27FC236}">
                <a16:creationId xmlns:a16="http://schemas.microsoft.com/office/drawing/2014/main" id="{2BE5A8AC-57A7-444C-A2AD-24D0D7C4657B}"/>
              </a:ext>
            </a:extLst>
          </p:cNvPr>
          <p:cNvSpPr>
            <a:spLocks noGrp="1"/>
          </p:cNvSpPr>
          <p:nvPr>
            <p:ph idx="1"/>
          </p:nvPr>
        </p:nvSpPr>
        <p:spPr>
          <a:xfrm>
            <a:off x="609600" y="2280746"/>
            <a:ext cx="6123709" cy="3845418"/>
          </a:xfrm>
        </p:spPr>
        <p:txBody>
          <a:bodyPr/>
          <a:lstStyle/>
          <a:p>
            <a:r>
              <a:rPr lang="en-US" sz="2300" dirty="0"/>
              <a:t>For high Pu content alloys (&gt;19%), redistribution is much more rapid</a:t>
            </a:r>
          </a:p>
          <a:p>
            <a:r>
              <a:rPr lang="en-US" sz="2300" dirty="0"/>
              <a:t>At the right is a 3% burnup fuel slug at a similar power density to the U-Zr slug in the previous slide</a:t>
            </a:r>
          </a:p>
          <a:p>
            <a:r>
              <a:rPr lang="en-US" sz="2300" dirty="0"/>
              <a:t>There is either a higher chemical driving force, or more rapid Zr diffusion present in these alloys</a:t>
            </a:r>
          </a:p>
          <a:p>
            <a:r>
              <a:rPr lang="en-US" sz="2300" dirty="0"/>
              <a:t>This more rapid redistribution can lead to greater anisotropic swelling, and thus more rapid radial swelling</a:t>
            </a:r>
          </a:p>
          <a:p>
            <a:endParaRPr lang="en-US" sz="2300" dirty="0"/>
          </a:p>
        </p:txBody>
      </p:sp>
      <p:sp>
        <p:nvSpPr>
          <p:cNvPr id="4" name="Slide Number Placeholder 3">
            <a:extLst>
              <a:ext uri="{FF2B5EF4-FFF2-40B4-BE49-F238E27FC236}">
                <a16:creationId xmlns:a16="http://schemas.microsoft.com/office/drawing/2014/main" id="{D1CF6A1C-2FAC-654A-8C67-25F962129CD9}"/>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pic>
        <p:nvPicPr>
          <p:cNvPr id="6" name="Picture 5">
            <a:extLst>
              <a:ext uri="{FF2B5EF4-FFF2-40B4-BE49-F238E27FC236}">
                <a16:creationId xmlns:a16="http://schemas.microsoft.com/office/drawing/2014/main" id="{2D308FFE-F313-5C49-89CE-2C5B594B4AC2}"/>
              </a:ext>
            </a:extLst>
          </p:cNvPr>
          <p:cNvPicPr>
            <a:picLocks noChangeAspect="1"/>
          </p:cNvPicPr>
          <p:nvPr/>
        </p:nvPicPr>
        <p:blipFill>
          <a:blip r:embed="rId2"/>
          <a:stretch>
            <a:fillRect/>
          </a:stretch>
        </p:blipFill>
        <p:spPr>
          <a:xfrm>
            <a:off x="6816624" y="1968500"/>
            <a:ext cx="4062328" cy="3954954"/>
          </a:xfrm>
          <a:prstGeom prst="rect">
            <a:avLst/>
          </a:prstGeom>
        </p:spPr>
      </p:pic>
    </p:spTree>
    <p:extLst>
      <p:ext uri="{BB962C8B-B14F-4D97-AF65-F5344CB8AC3E}">
        <p14:creationId xmlns:p14="http://schemas.microsoft.com/office/powerpoint/2010/main" val="3997149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DCA10-E33D-D341-8895-FC00E029C516}"/>
              </a:ext>
            </a:extLst>
          </p:cNvPr>
          <p:cNvSpPr>
            <a:spLocks noGrp="1"/>
          </p:cNvSpPr>
          <p:nvPr>
            <p:ph type="title"/>
          </p:nvPr>
        </p:nvSpPr>
        <p:spPr/>
        <p:txBody>
          <a:bodyPr/>
          <a:lstStyle/>
          <a:p>
            <a:r>
              <a:rPr lang="en-US" dirty="0"/>
              <a:t>Variable Porosity</a:t>
            </a:r>
          </a:p>
        </p:txBody>
      </p:sp>
      <p:sp>
        <p:nvSpPr>
          <p:cNvPr id="3" name="Content Placeholder 2">
            <a:extLst>
              <a:ext uri="{FF2B5EF4-FFF2-40B4-BE49-F238E27FC236}">
                <a16:creationId xmlns:a16="http://schemas.microsoft.com/office/drawing/2014/main" id="{C066DEC0-44C8-F641-8EB4-BB7D52229BF4}"/>
              </a:ext>
            </a:extLst>
          </p:cNvPr>
          <p:cNvSpPr>
            <a:spLocks noGrp="1"/>
          </p:cNvSpPr>
          <p:nvPr>
            <p:ph idx="1"/>
          </p:nvPr>
        </p:nvSpPr>
        <p:spPr>
          <a:xfrm>
            <a:off x="609599" y="1968500"/>
            <a:ext cx="4950373" cy="4157664"/>
          </a:xfrm>
        </p:spPr>
        <p:txBody>
          <a:bodyPr/>
          <a:lstStyle/>
          <a:p>
            <a:r>
              <a:rPr lang="en-US" sz="2200" dirty="0"/>
              <a:t>The porosity development depends on the phases present in the fuel</a:t>
            </a:r>
          </a:p>
          <a:p>
            <a:r>
              <a:rPr lang="en-US" sz="2200" dirty="0"/>
              <a:t>In all alloys, the high-temperature cubic U </a:t>
            </a:r>
            <a:r>
              <a:rPr lang="el-GR" sz="2200" dirty="0"/>
              <a:t>γ-</a:t>
            </a:r>
            <a:r>
              <a:rPr lang="en-US" sz="2200" dirty="0"/>
              <a:t>phase exhibits the characteristic large interconnected bubbles similar to those observed in pure </a:t>
            </a:r>
            <a:r>
              <a:rPr lang="el-GR" sz="2200" dirty="0"/>
              <a:t>γ </a:t>
            </a:r>
            <a:r>
              <a:rPr lang="en-US" sz="2200" dirty="0"/>
              <a:t>uranium</a:t>
            </a:r>
          </a:p>
          <a:p>
            <a:r>
              <a:rPr lang="en-US" sz="2200" dirty="0"/>
              <a:t>Different bubble sizes, densities, and morphologies can exist depending upon the local phase</a:t>
            </a:r>
          </a:p>
          <a:p>
            <a:endParaRPr lang="en-US" sz="2200" dirty="0"/>
          </a:p>
          <a:p>
            <a:endParaRPr lang="en-US" sz="2200" dirty="0"/>
          </a:p>
        </p:txBody>
      </p:sp>
      <p:sp>
        <p:nvSpPr>
          <p:cNvPr id="4" name="Slide Number Placeholder 3">
            <a:extLst>
              <a:ext uri="{FF2B5EF4-FFF2-40B4-BE49-F238E27FC236}">
                <a16:creationId xmlns:a16="http://schemas.microsoft.com/office/drawing/2014/main" id="{B5EF890F-27A5-9A43-A51D-6FD7867D80A3}"/>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5" name="Picture 4">
            <a:extLst>
              <a:ext uri="{FF2B5EF4-FFF2-40B4-BE49-F238E27FC236}">
                <a16:creationId xmlns:a16="http://schemas.microsoft.com/office/drawing/2014/main" id="{424AEB5F-E6BC-0341-8DD8-0F796BC85B3A}"/>
              </a:ext>
            </a:extLst>
          </p:cNvPr>
          <p:cNvPicPr>
            <a:picLocks noChangeAspect="1"/>
          </p:cNvPicPr>
          <p:nvPr/>
        </p:nvPicPr>
        <p:blipFill>
          <a:blip r:embed="rId2"/>
          <a:stretch>
            <a:fillRect/>
          </a:stretch>
        </p:blipFill>
        <p:spPr>
          <a:xfrm>
            <a:off x="5780689" y="1857812"/>
            <a:ext cx="5393147" cy="4845272"/>
          </a:xfrm>
          <a:prstGeom prst="rect">
            <a:avLst/>
          </a:prstGeom>
        </p:spPr>
      </p:pic>
    </p:spTree>
    <p:extLst>
      <p:ext uri="{BB962C8B-B14F-4D97-AF65-F5344CB8AC3E}">
        <p14:creationId xmlns:p14="http://schemas.microsoft.com/office/powerpoint/2010/main" val="574830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DCA10-E33D-D341-8895-FC00E029C516}"/>
              </a:ext>
            </a:extLst>
          </p:cNvPr>
          <p:cNvSpPr>
            <a:spLocks noGrp="1"/>
          </p:cNvSpPr>
          <p:nvPr>
            <p:ph type="title"/>
          </p:nvPr>
        </p:nvSpPr>
        <p:spPr/>
        <p:txBody>
          <a:bodyPr/>
          <a:lstStyle/>
          <a:p>
            <a:r>
              <a:rPr lang="en-US" dirty="0"/>
              <a:t>Variable Porosity</a:t>
            </a:r>
          </a:p>
        </p:txBody>
      </p:sp>
      <p:sp>
        <p:nvSpPr>
          <p:cNvPr id="3" name="Content Placeholder 2">
            <a:extLst>
              <a:ext uri="{FF2B5EF4-FFF2-40B4-BE49-F238E27FC236}">
                <a16:creationId xmlns:a16="http://schemas.microsoft.com/office/drawing/2014/main" id="{C066DEC0-44C8-F641-8EB4-BB7D52229BF4}"/>
              </a:ext>
            </a:extLst>
          </p:cNvPr>
          <p:cNvSpPr>
            <a:spLocks noGrp="1"/>
          </p:cNvSpPr>
          <p:nvPr>
            <p:ph idx="1"/>
          </p:nvPr>
        </p:nvSpPr>
        <p:spPr>
          <a:xfrm>
            <a:off x="609599" y="1968500"/>
            <a:ext cx="4950373" cy="4157664"/>
          </a:xfrm>
        </p:spPr>
        <p:txBody>
          <a:bodyPr/>
          <a:lstStyle/>
          <a:p>
            <a:r>
              <a:rPr lang="en-US" sz="2200" dirty="0"/>
              <a:t>In U-Zr alloys, low-temperature U alpha phase and UZr2 delta phase form a laminar microstructure and the pore morphology follows this microstructure</a:t>
            </a:r>
          </a:p>
          <a:p>
            <a:endParaRPr lang="en-US" sz="2200" dirty="0"/>
          </a:p>
          <a:p>
            <a:endParaRPr lang="en-US" sz="2200" dirty="0"/>
          </a:p>
          <a:p>
            <a:endParaRPr lang="en-US" sz="2200" dirty="0"/>
          </a:p>
        </p:txBody>
      </p:sp>
      <p:sp>
        <p:nvSpPr>
          <p:cNvPr id="4" name="Slide Number Placeholder 3">
            <a:extLst>
              <a:ext uri="{FF2B5EF4-FFF2-40B4-BE49-F238E27FC236}">
                <a16:creationId xmlns:a16="http://schemas.microsoft.com/office/drawing/2014/main" id="{B5EF890F-27A5-9A43-A51D-6FD7867D80A3}"/>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pic>
        <p:nvPicPr>
          <p:cNvPr id="5" name="Picture 4">
            <a:extLst>
              <a:ext uri="{FF2B5EF4-FFF2-40B4-BE49-F238E27FC236}">
                <a16:creationId xmlns:a16="http://schemas.microsoft.com/office/drawing/2014/main" id="{424AEB5F-E6BC-0341-8DD8-0F796BC85B3A}"/>
              </a:ext>
            </a:extLst>
          </p:cNvPr>
          <p:cNvPicPr>
            <a:picLocks noChangeAspect="1"/>
          </p:cNvPicPr>
          <p:nvPr/>
        </p:nvPicPr>
        <p:blipFill>
          <a:blip r:embed="rId2"/>
          <a:stretch>
            <a:fillRect/>
          </a:stretch>
        </p:blipFill>
        <p:spPr>
          <a:xfrm>
            <a:off x="5791200" y="1876205"/>
            <a:ext cx="5393147" cy="4845272"/>
          </a:xfrm>
          <a:prstGeom prst="rect">
            <a:avLst/>
          </a:prstGeom>
        </p:spPr>
      </p:pic>
      <p:pic>
        <p:nvPicPr>
          <p:cNvPr id="6" name="Picture 5">
            <a:extLst>
              <a:ext uri="{FF2B5EF4-FFF2-40B4-BE49-F238E27FC236}">
                <a16:creationId xmlns:a16="http://schemas.microsoft.com/office/drawing/2014/main" id="{C1063091-7C41-5240-A32A-CD99FDB486EF}"/>
              </a:ext>
            </a:extLst>
          </p:cNvPr>
          <p:cNvPicPr>
            <a:picLocks noChangeAspect="1"/>
          </p:cNvPicPr>
          <p:nvPr/>
        </p:nvPicPr>
        <p:blipFill rotWithShape="1">
          <a:blip r:embed="rId3"/>
          <a:srcRect l="66877" t="50000"/>
          <a:stretch/>
        </p:blipFill>
        <p:spPr>
          <a:xfrm>
            <a:off x="1965436" y="3836275"/>
            <a:ext cx="2775480" cy="2769587"/>
          </a:xfrm>
          <a:prstGeom prst="rect">
            <a:avLst/>
          </a:prstGeom>
        </p:spPr>
      </p:pic>
    </p:spTree>
    <p:extLst>
      <p:ext uri="{BB962C8B-B14F-4D97-AF65-F5344CB8AC3E}">
        <p14:creationId xmlns:p14="http://schemas.microsoft.com/office/powerpoint/2010/main" val="4290307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613070" cy="4157664"/>
          </a:xfrm>
        </p:spPr>
        <p:txBody>
          <a:bodyPr/>
          <a:lstStyle/>
          <a:p>
            <a:r>
              <a:rPr lang="en-US" dirty="0"/>
              <a:t>U-Zr has a very high thermal conductivity compared to oxide fuels</a:t>
            </a:r>
          </a:p>
          <a:p>
            <a:r>
              <a:rPr lang="en-US" dirty="0"/>
              <a:t>However, developing porosity will degrade the thermal conductivity </a:t>
            </a:r>
          </a:p>
          <a:p>
            <a:r>
              <a:rPr lang="en-US" dirty="0"/>
              <a:t>Understanding the temperature also governs how the porosity will develop and how redistribution will vary axially</a:t>
            </a:r>
          </a:p>
          <a:p>
            <a:r>
              <a:rPr lang="en-US" dirty="0"/>
              <a:t>This is a coupled problem that is complex, but critical for prediction of fuel evolution</a:t>
            </a:r>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E6D4B9D6-32AF-CE41-87D4-A6C48B2ED47C}"/>
              </a:ext>
            </a:extLst>
          </p:cNvPr>
          <p:cNvPicPr>
            <a:picLocks noChangeAspect="1"/>
          </p:cNvPicPr>
          <p:nvPr/>
        </p:nvPicPr>
        <p:blipFill>
          <a:blip r:embed="rId2"/>
          <a:stretch>
            <a:fillRect/>
          </a:stretch>
        </p:blipFill>
        <p:spPr>
          <a:xfrm>
            <a:off x="6353298" y="1968500"/>
            <a:ext cx="5379027" cy="3899430"/>
          </a:xfrm>
          <a:prstGeom prst="rect">
            <a:avLst/>
          </a:prstGeom>
        </p:spPr>
      </p:pic>
    </p:spTree>
    <p:extLst>
      <p:ext uri="{BB962C8B-B14F-4D97-AF65-F5344CB8AC3E}">
        <p14:creationId xmlns:p14="http://schemas.microsoft.com/office/powerpoint/2010/main" val="2466548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321465" cy="4157664"/>
          </a:xfrm>
        </p:spPr>
        <p:txBody>
          <a:bodyPr/>
          <a:lstStyle/>
          <a:p>
            <a:r>
              <a:rPr lang="en-US" dirty="0"/>
              <a:t>Bond sodium plays an important role on the thermal behavior of the fuel during irradiation</a:t>
            </a:r>
          </a:p>
          <a:p>
            <a:r>
              <a:rPr lang="en-US" dirty="0"/>
              <a:t>At the point where the fuel reaches its maximum swelling the porosity in most of the fuel interconnects and gas is vented to the plenum</a:t>
            </a:r>
          </a:p>
          <a:p>
            <a:r>
              <a:rPr lang="en-US" dirty="0"/>
              <a:t>This allows the bond sodium to infiltrate the fuel body and increase the fuel’s overall thermal conductivity</a:t>
            </a:r>
          </a:p>
          <a:p>
            <a:endParaRPr lang="en-US" dirty="0"/>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Content Placeholder 2">
            <a:extLst>
              <a:ext uri="{FF2B5EF4-FFF2-40B4-BE49-F238E27FC236}">
                <a16:creationId xmlns:a16="http://schemas.microsoft.com/office/drawing/2014/main" id="{FAC3E5D0-A28C-0C44-BFD3-CC7A5D256DDD}"/>
              </a:ext>
            </a:extLst>
          </p:cNvPr>
          <p:cNvSpPr txBox="1">
            <a:spLocks/>
          </p:cNvSpPr>
          <p:nvPr/>
        </p:nvSpPr>
        <p:spPr bwMode="auto">
          <a:xfrm>
            <a:off x="5931065" y="1968500"/>
            <a:ext cx="5321465" cy="41576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457189" marR="0" lvl="0" indent="-457189" algn="l" defTabSz="609585" rtl="0" eaLnBrk="1" fontAlgn="base" latinLnBrk="0" hangingPunct="1">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Arial"/>
                <a:ea typeface="ＭＳ Ｐゴシック" charset="0"/>
                <a:cs typeface="Arial"/>
              </a:rPr>
              <a:t>Sodium infiltration is known because in PIE, the sodium level above the fuel elements, where the fuel has swelled out to the cladding, is always substantially lower than the total amount of preloaded sodium would indicate</a:t>
            </a:r>
          </a:p>
          <a:p>
            <a:pPr marL="457189" marR="0" lvl="0" indent="-457189" algn="l" defTabSz="609585" rtl="0" eaLnBrk="1" fontAlgn="base" latinLnBrk="0" hangingPunct="1">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Arial"/>
                <a:ea typeface="ＭＳ Ｐゴシック" charset="0"/>
                <a:cs typeface="Arial"/>
              </a:rPr>
              <a:t>Chemical analysis of irradiated fuel finds this “missing” sodium distributed throughout the fuel pin</a:t>
            </a:r>
          </a:p>
          <a:p>
            <a:pPr marL="457189" marR="0" lvl="0" indent="-457189" algn="l" defTabSz="609585" rtl="0" eaLnBrk="1" fontAlgn="base" latinLnBrk="0" hangingPunct="1">
              <a:lnSpc>
                <a:spcPct val="100000"/>
              </a:lnSpc>
              <a:spcBef>
                <a:spcPct val="20000"/>
              </a:spcBef>
              <a:spcAft>
                <a:spcPct val="0"/>
              </a:spcAft>
              <a:buClrTx/>
              <a:buSzTx/>
              <a:buFont typeface="Arial" charset="0"/>
              <a:buChar char="•"/>
              <a:tabLst/>
              <a:defRPr/>
            </a:pPr>
            <a:endParaRPr kumimoji="0" lang="en-US" sz="2200" b="0" i="0" u="none" strike="noStrike" kern="1200" cap="none" spc="0" normalizeH="0" baseline="0" noProof="0" dirty="0">
              <a:ln>
                <a:noFill/>
              </a:ln>
              <a:solidFill>
                <a:prstClr val="black"/>
              </a:solidFill>
              <a:effectLst/>
              <a:uLnTx/>
              <a:uFillTx/>
              <a:latin typeface="Arial"/>
              <a:ea typeface="ＭＳ Ｐゴシック" charset="0"/>
              <a:cs typeface="Arial"/>
            </a:endParaRPr>
          </a:p>
        </p:txBody>
      </p:sp>
    </p:spTree>
    <p:extLst>
      <p:ext uri="{BB962C8B-B14F-4D97-AF65-F5344CB8AC3E}">
        <p14:creationId xmlns:p14="http://schemas.microsoft.com/office/powerpoint/2010/main" val="1174409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613070" cy="4157664"/>
          </a:xfrm>
        </p:spPr>
        <p:txBody>
          <a:bodyPr/>
          <a:lstStyle/>
          <a:p>
            <a:r>
              <a:rPr lang="en-US" dirty="0"/>
              <a:t>On average, approximately 15–20% of the porosity is filled with sodium</a:t>
            </a:r>
          </a:p>
          <a:p>
            <a:r>
              <a:rPr lang="en-US" dirty="0"/>
              <a:t>The overall thermal conductivity of the fuel drops continuously during the early free-swelling stage, due to porosity development, but then increases rather suddenly with gas release and sodium logging</a:t>
            </a:r>
          </a:p>
          <a:p>
            <a:r>
              <a:rPr lang="en-US" dirty="0"/>
              <a:t>Experiments at right had thermocouples in the center of the fuel</a:t>
            </a:r>
          </a:p>
          <a:p>
            <a:endParaRPr lang="en-US" dirty="0"/>
          </a:p>
          <a:p>
            <a:endParaRPr lang="en-US" dirty="0"/>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E5542C1B-8E3A-094D-B6C8-95AAC8BD8EBD}"/>
              </a:ext>
            </a:extLst>
          </p:cNvPr>
          <p:cNvPicPr>
            <a:picLocks noChangeAspect="1"/>
          </p:cNvPicPr>
          <p:nvPr/>
        </p:nvPicPr>
        <p:blipFill>
          <a:blip r:embed="rId2"/>
          <a:stretch>
            <a:fillRect/>
          </a:stretch>
        </p:blipFill>
        <p:spPr>
          <a:xfrm>
            <a:off x="7253636" y="1889508"/>
            <a:ext cx="3297797" cy="4545836"/>
          </a:xfrm>
          <a:prstGeom prst="rect">
            <a:avLst/>
          </a:prstGeom>
        </p:spPr>
      </p:pic>
    </p:spTree>
    <p:extLst>
      <p:ext uri="{BB962C8B-B14F-4D97-AF65-F5344CB8AC3E}">
        <p14:creationId xmlns:p14="http://schemas.microsoft.com/office/powerpoint/2010/main" val="482840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1324-FBFC-2B46-BE7A-DF7C331580D6}"/>
              </a:ext>
            </a:extLst>
          </p:cNvPr>
          <p:cNvSpPr>
            <a:spLocks noGrp="1"/>
          </p:cNvSpPr>
          <p:nvPr>
            <p:ph type="title"/>
          </p:nvPr>
        </p:nvSpPr>
        <p:spPr/>
        <p:txBody>
          <a:bodyPr/>
          <a:lstStyle/>
          <a:p>
            <a:r>
              <a:rPr lang="en-US" dirty="0"/>
              <a:t>Fuel-Cladding Interaction</a:t>
            </a:r>
          </a:p>
        </p:txBody>
      </p:sp>
      <p:sp>
        <p:nvSpPr>
          <p:cNvPr id="3" name="Content Placeholder 2">
            <a:extLst>
              <a:ext uri="{FF2B5EF4-FFF2-40B4-BE49-F238E27FC236}">
                <a16:creationId xmlns:a16="http://schemas.microsoft.com/office/drawing/2014/main" id="{102BDC49-F166-254D-878A-9EABC96E79C9}"/>
              </a:ext>
            </a:extLst>
          </p:cNvPr>
          <p:cNvSpPr>
            <a:spLocks noGrp="1"/>
          </p:cNvSpPr>
          <p:nvPr>
            <p:ph sz="half" idx="1"/>
          </p:nvPr>
        </p:nvSpPr>
        <p:spPr/>
        <p:txBody>
          <a:bodyPr/>
          <a:lstStyle/>
          <a:p>
            <a:r>
              <a:rPr lang="en-US" dirty="0"/>
              <a:t>Fuel-Cladding interactions are both mechanical and chemical in nature (FCMI and FCCI)</a:t>
            </a:r>
          </a:p>
          <a:p>
            <a:r>
              <a:rPr lang="en-US" dirty="0"/>
              <a:t>FCMI results from when the fuel swells, comes into contact with the cladding, and exerts an outward force on the cladding</a:t>
            </a:r>
          </a:p>
          <a:p>
            <a:r>
              <a:rPr lang="en-US" dirty="0"/>
              <a:t>Early element designs did not allow the fuel sufficient free swelling, this gas bubble pressure was transmitted directly to the cladding</a:t>
            </a:r>
          </a:p>
        </p:txBody>
      </p:sp>
      <p:sp>
        <p:nvSpPr>
          <p:cNvPr id="4" name="Content Placeholder 3">
            <a:extLst>
              <a:ext uri="{FF2B5EF4-FFF2-40B4-BE49-F238E27FC236}">
                <a16:creationId xmlns:a16="http://schemas.microsoft.com/office/drawing/2014/main" id="{59E0C01A-F623-5141-BC8B-F700C65F7807}"/>
              </a:ext>
            </a:extLst>
          </p:cNvPr>
          <p:cNvSpPr>
            <a:spLocks noGrp="1"/>
          </p:cNvSpPr>
          <p:nvPr>
            <p:ph sz="half" idx="2"/>
          </p:nvPr>
        </p:nvSpPr>
        <p:spPr/>
        <p:txBody>
          <a:bodyPr/>
          <a:lstStyle/>
          <a:p>
            <a:r>
              <a:rPr lang="en-US" dirty="0"/>
              <a:t>Thus, all early designs suffered from cladding deformation and rupture at modest burnups</a:t>
            </a:r>
          </a:p>
          <a:p>
            <a:r>
              <a:rPr lang="en-US" dirty="0"/>
              <a:t>This was one of the primary reasons oxide fuels were pursued over metallic alloys</a:t>
            </a:r>
          </a:p>
          <a:p>
            <a:r>
              <a:rPr lang="en-US" dirty="0"/>
              <a:t>By the time the smear density solution had been implemented, metallic fuels had already been left behind</a:t>
            </a:r>
          </a:p>
          <a:p>
            <a:endParaRPr lang="en-US" dirty="0"/>
          </a:p>
        </p:txBody>
      </p:sp>
      <p:sp>
        <p:nvSpPr>
          <p:cNvPr id="5" name="Slide Number Placeholder 4">
            <a:extLst>
              <a:ext uri="{FF2B5EF4-FFF2-40B4-BE49-F238E27FC236}">
                <a16:creationId xmlns:a16="http://schemas.microsoft.com/office/drawing/2014/main" id="{2844C575-1846-B042-90B7-5E861B68A2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59761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1324-FBFC-2B46-BE7A-DF7C331580D6}"/>
              </a:ext>
            </a:extLst>
          </p:cNvPr>
          <p:cNvSpPr>
            <a:spLocks noGrp="1"/>
          </p:cNvSpPr>
          <p:nvPr>
            <p:ph type="title"/>
          </p:nvPr>
        </p:nvSpPr>
        <p:spPr/>
        <p:txBody>
          <a:bodyPr/>
          <a:lstStyle/>
          <a:p>
            <a:r>
              <a:rPr lang="en-US" dirty="0"/>
              <a:t>Fuel-Cladding Mechanical Interaction</a:t>
            </a:r>
          </a:p>
        </p:txBody>
      </p:sp>
      <p:sp>
        <p:nvSpPr>
          <p:cNvPr id="3" name="Content Placeholder 2">
            <a:extLst>
              <a:ext uri="{FF2B5EF4-FFF2-40B4-BE49-F238E27FC236}">
                <a16:creationId xmlns:a16="http://schemas.microsoft.com/office/drawing/2014/main" id="{102BDC49-F166-254D-878A-9EABC96E79C9}"/>
              </a:ext>
            </a:extLst>
          </p:cNvPr>
          <p:cNvSpPr>
            <a:spLocks noGrp="1"/>
          </p:cNvSpPr>
          <p:nvPr>
            <p:ph sz="half" idx="1"/>
          </p:nvPr>
        </p:nvSpPr>
        <p:spPr>
          <a:xfrm>
            <a:off x="609599" y="1968503"/>
            <a:ext cx="6390291" cy="4157663"/>
          </a:xfrm>
        </p:spPr>
        <p:txBody>
          <a:bodyPr/>
          <a:lstStyle/>
          <a:p>
            <a:r>
              <a:rPr lang="en-US" sz="2100" dirty="0"/>
              <a:t>The cladding strain of high smear density, small plenum fuel rod designs is primarily creep strain due to FCMI (MK-I)</a:t>
            </a:r>
          </a:p>
          <a:p>
            <a:r>
              <a:rPr lang="en-US" sz="2100" dirty="0"/>
              <a:t>The cladding strain of low smear density, large plenum rods is mainly irradiation-induced cladding swelling (MK-II)</a:t>
            </a:r>
          </a:p>
          <a:p>
            <a:r>
              <a:rPr lang="en-US" sz="2100" dirty="0"/>
              <a:t>The creep strain can be accounted for by the plenum pressure stress alone, which confirms that FCMI is virtually nonexistent in suitably designed metallic fuel elements</a:t>
            </a:r>
          </a:p>
          <a:p>
            <a:r>
              <a:rPr lang="en-US" sz="2100" dirty="0"/>
              <a:t>Significant FCMI can be avoided to high burnup if the as-built fuel smeared density is kept to 75%, and a sufficient gas plenum is employed</a:t>
            </a:r>
          </a:p>
          <a:p>
            <a:endParaRPr lang="en-US" sz="2100" dirty="0"/>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2844C575-1846-B042-90B7-5E861B68A2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233E5E04-7547-1C44-864D-564652F2B7D7}"/>
              </a:ext>
            </a:extLst>
          </p:cNvPr>
          <p:cNvPicPr>
            <a:picLocks noChangeAspect="1"/>
          </p:cNvPicPr>
          <p:nvPr/>
        </p:nvPicPr>
        <p:blipFill>
          <a:blip r:embed="rId2"/>
          <a:stretch>
            <a:fillRect/>
          </a:stretch>
        </p:blipFill>
        <p:spPr>
          <a:xfrm>
            <a:off x="6831687" y="1968500"/>
            <a:ext cx="5231853" cy="3815369"/>
          </a:xfrm>
          <a:prstGeom prst="rect">
            <a:avLst/>
          </a:prstGeom>
        </p:spPr>
      </p:pic>
    </p:spTree>
    <p:extLst>
      <p:ext uri="{BB962C8B-B14F-4D97-AF65-F5344CB8AC3E}">
        <p14:creationId xmlns:p14="http://schemas.microsoft.com/office/powerpoint/2010/main" val="1178276307"/>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36899</TotalTime>
  <Words>2145</Words>
  <Application>Microsoft Macintosh PowerPoint</Application>
  <PresentationFormat>Widescreen</PresentationFormat>
  <Paragraphs>185</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Symbol</vt:lpstr>
      <vt:lpstr>2_NCStateU-horizontal-left-logo</vt:lpstr>
      <vt:lpstr>NE 763: Advanced Reactor Materials</vt:lpstr>
      <vt:lpstr>Last Time</vt:lpstr>
      <vt:lpstr>Swelling in Gamma U</vt:lpstr>
      <vt:lpstr>Alloying to modify properties</vt:lpstr>
      <vt:lpstr>Accommodation of Swelling</vt:lpstr>
      <vt:lpstr>I told you that to tell you this…</vt:lpstr>
      <vt:lpstr>Reactor Geometries</vt:lpstr>
      <vt:lpstr>Base Metal Fuel System</vt:lpstr>
      <vt:lpstr>The U-Zr System</vt:lpstr>
      <vt:lpstr>U-Pu-Zr</vt:lpstr>
      <vt:lpstr>U-Pu-Zr</vt:lpstr>
      <vt:lpstr>U-Pu-Zr Swelling</vt:lpstr>
      <vt:lpstr>U-Pu-Zr Swelling</vt:lpstr>
      <vt:lpstr>U-Pu-Zr Swelling</vt:lpstr>
      <vt:lpstr>U-Pu-Zr</vt:lpstr>
      <vt:lpstr>U-Pu-Zr Phases and Redistribution</vt:lpstr>
      <vt:lpstr>Redistribution</vt:lpstr>
      <vt:lpstr>Redistribution</vt:lpstr>
      <vt:lpstr>Soret Diffusion</vt:lpstr>
      <vt:lpstr>Soret Diffusion in UZr</vt:lpstr>
      <vt:lpstr>Soret Diffusion in UZr</vt:lpstr>
      <vt:lpstr>Variable Porosity</vt:lpstr>
      <vt:lpstr>Variable Porosity</vt:lpstr>
      <vt:lpstr>Changes in Thermal Conductivity</vt:lpstr>
      <vt:lpstr>Changes in Thermal Conductivity</vt:lpstr>
      <vt:lpstr>Changes in Thermal Conductivity</vt:lpstr>
      <vt:lpstr>Fuel-Cladding Interaction</vt:lpstr>
      <vt:lpstr>Fuel-Cladding Mechanical Interaction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115</cp:revision>
  <dcterms:created xsi:type="dcterms:W3CDTF">2019-12-09T16:44:02Z</dcterms:created>
  <dcterms:modified xsi:type="dcterms:W3CDTF">2026-09-10T19:07:48Z</dcterms:modified>
</cp:coreProperties>
</file>
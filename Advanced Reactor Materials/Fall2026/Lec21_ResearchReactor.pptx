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8"/>
  </p:notesMasterIdLst>
  <p:sldIdLst>
    <p:sldId id="257" r:id="rId2"/>
    <p:sldId id="441" r:id="rId3"/>
    <p:sldId id="437" r:id="rId4"/>
    <p:sldId id="426" r:id="rId5"/>
    <p:sldId id="412" r:id="rId6"/>
    <p:sldId id="417" r:id="rId7"/>
    <p:sldId id="427" r:id="rId8"/>
    <p:sldId id="428" r:id="rId9"/>
    <p:sldId id="430" r:id="rId10"/>
    <p:sldId id="431" r:id="rId11"/>
    <p:sldId id="432" r:id="rId12"/>
    <p:sldId id="429" r:id="rId13"/>
    <p:sldId id="434" r:id="rId14"/>
    <p:sldId id="433" r:id="rId15"/>
    <p:sldId id="438" r:id="rId16"/>
    <p:sldId id="439" r:id="rId17"/>
    <p:sldId id="440" r:id="rId18"/>
    <p:sldId id="490" r:id="rId19"/>
    <p:sldId id="491" r:id="rId20"/>
    <p:sldId id="420" r:id="rId21"/>
    <p:sldId id="421" r:id="rId22"/>
    <p:sldId id="486" r:id="rId23"/>
    <p:sldId id="487" r:id="rId24"/>
    <p:sldId id="414" r:id="rId25"/>
    <p:sldId id="489" r:id="rId26"/>
    <p:sldId id="446" r:id="rId27"/>
    <p:sldId id="448" r:id="rId28"/>
    <p:sldId id="442" r:id="rId29"/>
    <p:sldId id="447" r:id="rId30"/>
    <p:sldId id="444" r:id="rId31"/>
    <p:sldId id="445" r:id="rId32"/>
    <p:sldId id="449" r:id="rId33"/>
    <p:sldId id="450" r:id="rId34"/>
    <p:sldId id="451" r:id="rId35"/>
    <p:sldId id="452" r:id="rId36"/>
    <p:sldId id="453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354"/>
    <p:restoredTop sz="96654"/>
  </p:normalViewPr>
  <p:slideViewPr>
    <p:cSldViewPr snapToGrid="0" snapToObjects="1">
      <p:cViewPr varScale="1">
        <p:scale>
          <a:sx n="118" d="100"/>
          <a:sy n="118" d="100"/>
        </p:scale>
        <p:origin x="232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A94640-27A7-D142-A7F1-7A0567BBD3B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56CFD3-D41E-7E4C-B770-A544F9953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7113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95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9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862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639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8041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727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807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756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41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8237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26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307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7637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22EC4-74A3-3A40-B4D1-8F81E951ED2E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0223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07C6E2-ADFA-A145-A1FC-BC1400347F7B}" type="datetime1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239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96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65" r:id="rId15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tif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763: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2025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FB798-AA1F-5549-89F3-34904C58E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7828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3159-6853-3842-BB8C-967FEE055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CF4C4-75C8-204B-AB80-C8FBEA57A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07029"/>
            <a:ext cx="10972800" cy="4319135"/>
          </a:xfrm>
        </p:spPr>
        <p:txBody>
          <a:bodyPr/>
          <a:lstStyle/>
          <a:p>
            <a:r>
              <a:rPr lang="en-US" sz="2200" dirty="0"/>
              <a:t>Wrapped up HEAs and then went through Ni alloys</a:t>
            </a:r>
          </a:p>
          <a:p>
            <a:r>
              <a:rPr lang="en-US" sz="2200" dirty="0"/>
              <a:t>Ni alloys…</a:t>
            </a:r>
          </a:p>
          <a:p>
            <a:pPr lvl="1"/>
            <a:r>
              <a:rPr lang="en-US" sz="2200" dirty="0"/>
              <a:t>FCC, excellent high T behavior, often precipitation hardened, suffer from He embrittlement, dose-dependent effects on mechanical properties</a:t>
            </a:r>
          </a:p>
          <a:p>
            <a:r>
              <a:rPr lang="en-US" sz="2200" dirty="0"/>
              <a:t>Research Reactor fuels, what are some key features:</a:t>
            </a:r>
          </a:p>
          <a:p>
            <a:pPr lvl="1"/>
            <a:r>
              <a:rPr lang="en-US" sz="2200" dirty="0"/>
              <a:t>low temperatures, no gap or plenum, high burnup</a:t>
            </a:r>
          </a:p>
          <a:p>
            <a:r>
              <a:rPr lang="en-US" sz="2200" dirty="0"/>
              <a:t>Primary type is dispersed particles of metallic compound/alloy in a fuel block embedded in Al matrix; key features often include solid/gaseous swelling, interaction layer growth, and amorphization</a:t>
            </a:r>
          </a:p>
          <a:p>
            <a:r>
              <a:rPr lang="en-US" sz="2200" dirty="0" err="1"/>
              <a:t>UAlx</a:t>
            </a:r>
            <a:endParaRPr lang="en-US" sz="2200" dirty="0"/>
          </a:p>
          <a:p>
            <a:pPr lvl="1"/>
            <a:r>
              <a:rPr lang="en-US" sz="2200" dirty="0"/>
              <a:t>mix of UAl2, UAl3, UAl4; very little gas swelling; all phases go amorphous; interaction layer is simply Al-rich U-Al phases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5DA835-5879-0E44-8CD7-E66C6F7E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0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19CA0-74F3-8327-6389-D34A0746A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Off-normal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6C8CF-31F6-D50E-DACF-A3BC7B9E5A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992190" cy="4157663"/>
          </a:xfrm>
        </p:spPr>
        <p:txBody>
          <a:bodyPr/>
          <a:lstStyle/>
          <a:p>
            <a:r>
              <a:rPr lang="en-US" sz="2200" dirty="0"/>
              <a:t>Most common accident scenario is a channel blockage, resulting in loss of coolant flow</a:t>
            </a:r>
          </a:p>
          <a:p>
            <a:r>
              <a:rPr lang="en-US" sz="2200" dirty="0"/>
              <a:t>In the extreme, this can lead to fuel melting</a:t>
            </a:r>
          </a:p>
          <a:p>
            <a:r>
              <a:rPr lang="en-US" sz="2200" dirty="0"/>
              <a:t>Higher temperatures at a minimum will lead to bubble formation, coalescence, and swelling</a:t>
            </a:r>
          </a:p>
          <a:p>
            <a:r>
              <a:rPr lang="en-US" sz="2200" dirty="0"/>
              <a:t>Temperature increases can result in the blistering of the plates, a delamination of the cladding from the fuel, and potential burst of cladding and release of fission products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9951A1-2C74-E119-DB9F-BBDA53F66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63D236-456F-C233-D784-BA520F6E2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539" y="3854452"/>
            <a:ext cx="3810000" cy="25019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1B6424-7DE1-3466-300C-233E8E93E0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227" y="1534579"/>
            <a:ext cx="5384800" cy="410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665255-6427-44D8-967C-73E3FEA4C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5417" y="2256534"/>
            <a:ext cx="4704522" cy="117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337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BE5530-71AA-924E-A3F4-3E4C12854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U-Al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62B47-1A01-F544-899A-0E4E15A091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 err="1"/>
              <a:t>UAlx</a:t>
            </a:r>
            <a:r>
              <a:rPr lang="en-US" sz="2200" dirty="0"/>
              <a:t> fuels are in dispersion form in an aluminum matrix</a:t>
            </a:r>
          </a:p>
          <a:p>
            <a:r>
              <a:rPr lang="en-US" sz="2200" dirty="0"/>
              <a:t>The three uranium aluminides undergo amorphization depending on the fission rate and temperature</a:t>
            </a:r>
          </a:p>
          <a:p>
            <a:r>
              <a:rPr lang="en-US" sz="2200" dirty="0"/>
              <a:t>UAl4 </a:t>
            </a:r>
            <a:r>
              <a:rPr lang="en-US" sz="2200" dirty="0" err="1"/>
              <a:t>amorphizes</a:t>
            </a:r>
            <a:r>
              <a:rPr lang="en-US" sz="2200" dirty="0"/>
              <a:t> most readily and UAl2 least readily</a:t>
            </a:r>
          </a:p>
          <a:p>
            <a:r>
              <a:rPr lang="en-US" sz="2200" dirty="0" err="1"/>
              <a:t>UAlx</a:t>
            </a:r>
            <a:r>
              <a:rPr lang="en-US" sz="2200" dirty="0"/>
              <a:t>–Al dispersions have lower fueled zone swelling than any other type fuel dispersions due to low fission gas bubble swelling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4B4515-736D-5541-A546-C3DF1FDB1E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 err="1"/>
              <a:t>UAlx</a:t>
            </a:r>
            <a:r>
              <a:rPr lang="en-US" sz="2200" dirty="0"/>
              <a:t> fuels had limited utilization due to the requirement of very high U enrichment in relatively low U density alloys</a:t>
            </a:r>
          </a:p>
          <a:p>
            <a:r>
              <a:rPr lang="en-US" sz="2200" dirty="0"/>
              <a:t>Additionally, UAl2 is highly pyrophoric, leading to difficulties in fabrication, significantly increasing costs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D2F7DF-DFCE-784B-AF68-F99994252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42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0DE3E-4658-E144-A16D-E99D1699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RERTR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E0C4AB-CB2C-074B-8653-02829705D7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US DOE initiated the RERTR (Reduced Enrichment for Research and Test Reactors) program in 1978 to convert the world’s research and test reactors using high-enrichment uranium (HEU) to those using low-enrichment uranium (LEU)</a:t>
            </a:r>
          </a:p>
          <a:p>
            <a:r>
              <a:rPr lang="en-US" sz="2200" dirty="0"/>
              <a:t>An enrichment in 235U of 20 at.% is the threshold between HEU and LEU</a:t>
            </a:r>
          </a:p>
          <a:p>
            <a:r>
              <a:rPr lang="en-US" sz="2200" dirty="0"/>
              <a:t>Reactors were/are using mainly </a:t>
            </a:r>
            <a:r>
              <a:rPr lang="en-US" sz="2200" dirty="0" err="1"/>
              <a:t>UAlx</a:t>
            </a:r>
            <a:r>
              <a:rPr lang="en-US" sz="2200" dirty="0"/>
              <a:t> and U3O8 dispersion fuels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3022C-C7CC-5849-9BFA-F8AD42CB29F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To use a fuel with reduced enrichment while keeping the fuel phase volume the same in the fueled zone requires using a fuel with a higher uranium density to compensate for the reduced fissile fraction in LEU</a:t>
            </a:r>
          </a:p>
          <a:p>
            <a:r>
              <a:rPr lang="en-US" sz="2200" dirty="0"/>
              <a:t>The fuel form developed to accomplish this is U3Si2, which allows for much higher fissile density than </a:t>
            </a:r>
            <a:r>
              <a:rPr lang="en-US" sz="2200" dirty="0" err="1"/>
              <a:t>UAlx</a:t>
            </a:r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DAC79C-6C88-774B-9B7C-90048843A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1774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76F77-4FB6-2046-BF8D-A89488B48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50F29C-0D6C-1F44-AA12-8A80620EBA8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In the U-Si system, U3Si, U3Si2, and </a:t>
            </a:r>
            <a:r>
              <a:rPr lang="en-US" sz="2200" dirty="0" err="1"/>
              <a:t>USi</a:t>
            </a:r>
            <a:r>
              <a:rPr lang="en-US" sz="2200" dirty="0"/>
              <a:t> are the compounds of interest for candidate fuels chiefly because of their high uranium density: 15.3, 12.2, and 10.96 g/cc, respectively</a:t>
            </a:r>
          </a:p>
          <a:p>
            <a:r>
              <a:rPr lang="en-US" sz="2200" dirty="0"/>
              <a:t>U3Si2 and </a:t>
            </a:r>
            <a:r>
              <a:rPr lang="en-US" sz="2200" dirty="0" err="1"/>
              <a:t>USi</a:t>
            </a:r>
            <a:r>
              <a:rPr lang="en-US" sz="2200" dirty="0"/>
              <a:t> form directly from liquid, but U3Si forms only by a peritectoid reaction at 925C</a:t>
            </a:r>
          </a:p>
          <a:p>
            <a:r>
              <a:rPr lang="en-US" sz="2200" dirty="0"/>
              <a:t>U3Si and U3Si2 are of key interest, due to their higher U density</a:t>
            </a:r>
          </a:p>
          <a:p>
            <a:r>
              <a:rPr lang="en-US" sz="2200" dirty="0"/>
              <a:t>U3Si2 is also of some interest in commercial LWR application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610C221-5A39-3143-8A9D-10091DAB07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29646" y="1968500"/>
            <a:ext cx="4320708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AFDB9-F106-BC47-9CEB-0AF4605F2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7268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99044-B5BD-CF4D-A8AC-E574D446B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1FA3A-FD6B-1840-8485-2DB7EE01CA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In practice, it is almost impossible to fabricate the exact stoichiometric form of one of these U-Si compounds</a:t>
            </a:r>
          </a:p>
          <a:p>
            <a:r>
              <a:rPr lang="en-US" sz="2200" dirty="0"/>
              <a:t>Typically, a higher content of Si is required to suppress the formation of solid solution U, or excessive Si-lean U-Si compounds</a:t>
            </a:r>
          </a:p>
          <a:p>
            <a:r>
              <a:rPr lang="en-US" sz="2200" dirty="0"/>
              <a:t>The secondary phases typically reside </a:t>
            </a:r>
            <a:r>
              <a:rPr lang="en-US" sz="2200" dirty="0" err="1"/>
              <a:t>inhomogeneously</a:t>
            </a:r>
            <a:r>
              <a:rPr lang="en-US" sz="2200" dirty="0"/>
              <a:t> in a fuel particle, which causes inhomogeneous size distributions of fission gas bubbles inside the fuel particles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576759-FFB4-9B4E-A4C0-37D9403BD3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Alloy ingots of U–Si are made by mixing and melting of uranium and silicon with a desired Si/U ratio</a:t>
            </a:r>
          </a:p>
          <a:p>
            <a:r>
              <a:rPr lang="en-US" sz="2200" dirty="0"/>
              <a:t>The ingots are sometimes annealed in an inert atmosphere to complete compound formation</a:t>
            </a:r>
          </a:p>
          <a:p>
            <a:r>
              <a:rPr lang="en-US" sz="2200" dirty="0"/>
              <a:t>These ingots are then broken into smaller particles by a powder fabrication process</a:t>
            </a:r>
          </a:p>
          <a:p>
            <a:r>
              <a:rPr lang="en-US" sz="2200" dirty="0"/>
              <a:t>U3Si is more ductile than U3Si2, and requires significantly more work to break into small particles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2C2D05-61B9-FB44-8920-7E67E8FBE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228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C1417-C762-6B4B-B163-ECB93B50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34247-B759-3F44-BA28-6B08C2E683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874327" cy="4157663"/>
          </a:xfrm>
        </p:spPr>
        <p:txBody>
          <a:bodyPr/>
          <a:lstStyle/>
          <a:p>
            <a:r>
              <a:rPr lang="en-US" sz="2200" dirty="0"/>
              <a:t>The fragmentation/comminution process results in jagged and irregular powders</a:t>
            </a:r>
          </a:p>
          <a:p>
            <a:r>
              <a:rPr lang="en-US" sz="2200" dirty="0"/>
              <a:t>An atomization technology widely used in powder metallurgy is applied to fabricate spherical powders of U3Si2 and U3Si, involving liquid fuel droplets and centrifugal force</a:t>
            </a:r>
          </a:p>
          <a:p>
            <a:r>
              <a:rPr lang="en-US" sz="2200" dirty="0"/>
              <a:t>Atomized powder has several advantages over comminuted powder: 1) surface-to-volume ratio is smaller, so reaction with matrix is less; 2) high homogeneity and fewer impurities; 3) lower residual stresses and defects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A3183ED-889E-2842-81DF-190460EA30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156161" y="1749883"/>
            <a:ext cx="3517600" cy="258998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475F2D-C404-A84C-957A-95BE4A08C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5799F11-8806-CC4A-B2B7-6AAC3A61C3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6302" y="4339867"/>
            <a:ext cx="3361460" cy="24965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733E7E-5377-DC4E-8B00-F644F684D99C}"/>
              </a:ext>
            </a:extLst>
          </p:cNvPr>
          <p:cNvSpPr txBox="1"/>
          <p:nvPr/>
        </p:nvSpPr>
        <p:spPr>
          <a:xfrm>
            <a:off x="10587762" y="2675542"/>
            <a:ext cx="150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Comminution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74D5AB-37ED-AE44-BF6F-76D775DAC885}"/>
              </a:ext>
            </a:extLst>
          </p:cNvPr>
          <p:cNvSpPr txBox="1"/>
          <p:nvPr/>
        </p:nvSpPr>
        <p:spPr>
          <a:xfrm>
            <a:off x="10587762" y="5142100"/>
            <a:ext cx="1506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Atomization</a:t>
            </a:r>
          </a:p>
        </p:txBody>
      </p:sp>
    </p:spTree>
    <p:extLst>
      <p:ext uri="{BB962C8B-B14F-4D97-AF65-F5344CB8AC3E}">
        <p14:creationId xmlns:p14="http://schemas.microsoft.com/office/powerpoint/2010/main" val="2936805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63345-7D04-EC40-AB62-54AD77DDA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CEFD2-8E82-6F4D-978F-B7A54B8FF8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691809" cy="4157663"/>
          </a:xfrm>
        </p:spPr>
        <p:txBody>
          <a:bodyPr/>
          <a:lstStyle/>
          <a:p>
            <a:r>
              <a:rPr lang="en-US" sz="2200" dirty="0"/>
              <a:t>Solid fission product swelling is treated as identical to that in </a:t>
            </a:r>
            <a:r>
              <a:rPr lang="en-US" sz="2200" dirty="0" err="1"/>
              <a:t>UAlx</a:t>
            </a:r>
            <a:r>
              <a:rPr lang="en-US" sz="2200" dirty="0"/>
              <a:t> fuels, but fission gas swelling is markedly different</a:t>
            </a:r>
          </a:p>
          <a:p>
            <a:r>
              <a:rPr lang="en-US" sz="2200" dirty="0"/>
              <a:t>Large swelling for U-Si phases, more so for U3Si</a:t>
            </a:r>
          </a:p>
          <a:p>
            <a:r>
              <a:rPr lang="en-US" sz="2200" dirty="0"/>
              <a:t>Fuel swelling kinetics of U–Si fuel particles is well documented in the literature</a:t>
            </a:r>
          </a:p>
          <a:p>
            <a:r>
              <a:rPr lang="en-US" sz="2200" dirty="0"/>
              <a:t>Again, gaseous swelling is estimated by subtracting solid FP swelling from the total swelling</a:t>
            </a:r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475D520-2431-1A45-862C-7EDCCD52D24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94450" y="2256631"/>
            <a:ext cx="4991100" cy="35814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3DAA0E-0579-2E47-8671-0E6A6DF9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636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229E5-E632-A146-8140-A96933CA8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Amorphous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41DACD-6435-F342-B6F2-E6311A3B376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U3Si and U3Si2 are known to become amorphous under irradiation at sufficiently low temperatures</a:t>
            </a:r>
          </a:p>
          <a:p>
            <a:r>
              <a:rPr lang="en-US" sz="2200" dirty="0"/>
              <a:t>The primary damage in the crystal is due to highly energetic fission fragments</a:t>
            </a:r>
          </a:p>
          <a:p>
            <a:r>
              <a:rPr lang="en-US" sz="2200" dirty="0"/>
              <a:t>In the amorphous fuel, fuel swelling depends on the viscosity of fuel</a:t>
            </a:r>
          </a:p>
          <a:p>
            <a:r>
              <a:rPr lang="en-US" sz="2200" dirty="0"/>
              <a:t>Fission gas mobility is also high in the amorphous material and the fuel is more readily deformed by the growing gas bubbles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64A74-FD70-794C-9312-A4051C3E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529E2FC2-1B3B-9C40-A150-ED5F880BA66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13418" y="2134754"/>
            <a:ext cx="4180404" cy="347633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D86F108-0C6D-8B43-8E4B-7727F00FC2F0}"/>
              </a:ext>
            </a:extLst>
          </p:cNvPr>
          <p:cNvSpPr txBox="1"/>
          <p:nvPr/>
        </p:nvSpPr>
        <p:spPr>
          <a:xfrm>
            <a:off x="7086600" y="5750650"/>
            <a:ext cx="4007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U3Si fission gas bubbles at 4.5E27 f/m3</a:t>
            </a:r>
          </a:p>
        </p:txBody>
      </p:sp>
    </p:spTree>
    <p:extLst>
      <p:ext uri="{BB962C8B-B14F-4D97-AF65-F5344CB8AC3E}">
        <p14:creationId xmlns:p14="http://schemas.microsoft.com/office/powerpoint/2010/main" val="1740186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5AB17-4777-1A4F-A464-CE2B14A55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E31F2-9B0A-A448-9265-39C2455D1C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4"/>
            <a:ext cx="10820400" cy="1346198"/>
          </a:xfrm>
        </p:spPr>
        <p:txBody>
          <a:bodyPr/>
          <a:lstStyle/>
          <a:p>
            <a:r>
              <a:rPr lang="en-US" sz="2200" dirty="0"/>
              <a:t>Figures shows fuel microstructures and the fission gas bubble morphology of irradiated U3Si and U3Si2 at 100C to 15% and 19% burnup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D461D-0E94-2144-950C-E040728F3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8CBE50-22EA-8148-BB8A-31F26CDD48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67"/>
          <a:stretch/>
        </p:blipFill>
        <p:spPr>
          <a:xfrm rot="5400000">
            <a:off x="2125815" y="3000121"/>
            <a:ext cx="3267077" cy="34453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6D9C00-A2C8-9349-8A19-D88E34DCCC3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39"/>
          <a:stretch/>
        </p:blipFill>
        <p:spPr>
          <a:xfrm rot="5400000">
            <a:off x="6797654" y="2954217"/>
            <a:ext cx="3178178" cy="353719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405E906-D29E-8E48-B47A-77AD28BEC809}"/>
              </a:ext>
            </a:extLst>
          </p:cNvPr>
          <p:cNvSpPr/>
          <p:nvPr/>
        </p:nvSpPr>
        <p:spPr>
          <a:xfrm>
            <a:off x="3402450" y="6356352"/>
            <a:ext cx="6078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U3Si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5C08D3-F665-3E45-9633-79D1A46CA3E9}"/>
              </a:ext>
            </a:extLst>
          </p:cNvPr>
          <p:cNvSpPr/>
          <p:nvPr/>
        </p:nvSpPr>
        <p:spPr>
          <a:xfrm>
            <a:off x="8093584" y="6352145"/>
            <a:ext cx="7248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U3Si2</a:t>
            </a:r>
          </a:p>
        </p:txBody>
      </p:sp>
    </p:spTree>
    <p:extLst>
      <p:ext uri="{BB962C8B-B14F-4D97-AF65-F5344CB8AC3E}">
        <p14:creationId xmlns:p14="http://schemas.microsoft.com/office/powerpoint/2010/main" val="18486524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01EDA3-817B-374C-ADDF-FFBEC331B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A31113-FD0D-084A-A56A-74CFB8C86B0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Both U3Si and U3Si2 are amorphous during research reactor irradiation</a:t>
            </a:r>
          </a:p>
          <a:p>
            <a:r>
              <a:rPr lang="en-US" sz="2200" dirty="0"/>
              <a:t>Fission gas bubble growth in U3Si is high and unstable, while that of U3Si2 is generally lower and stable</a:t>
            </a:r>
          </a:p>
          <a:p>
            <a:r>
              <a:rPr lang="en-US" sz="2200" dirty="0"/>
              <a:t>An explanation is the correlation between free volume upon amorphization and viscosity, in that U3Si has larger free volume than U3Si2</a:t>
            </a:r>
          </a:p>
          <a:p>
            <a:r>
              <a:rPr lang="en-US" sz="2200" dirty="0"/>
              <a:t>U3Si viscosity is relatively lower due to larger volume change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2FDB29-CCC3-D643-A2A4-580D56D7BF7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additional Si bonds in U3Si2 have a large effect on the amount of free volume in the glassy state, and therefore also on the fluidity of the fuel, and thus the swelling behavior</a:t>
            </a:r>
          </a:p>
          <a:p>
            <a:r>
              <a:rPr lang="en-US" sz="2200" dirty="0"/>
              <a:t>Amorphization is a prerequisite for this low-temperature high-swelling behavior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F6022-D91F-FC45-90C9-2C7FBE8A6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576AFB-28A7-DC44-9DD3-944CA87277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6753" y="5364166"/>
            <a:ext cx="1930400" cy="7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0922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8F0A7-EE54-A743-861F-948626E71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U3Si2 Swelling w/ temperature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8D07F-37E2-D345-8E25-2B5A34D5C95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bubble morphology from higher temperature tests is available</a:t>
            </a:r>
          </a:p>
          <a:p>
            <a:r>
              <a:rPr lang="en-US" sz="2200" dirty="0"/>
              <a:t>Bubble growth in U3Si2 can be enhanced to the level of U3Si if the temperature is increased by about 60C (albeit at higher burnups)</a:t>
            </a:r>
          </a:p>
          <a:p>
            <a:r>
              <a:rPr lang="en-US" sz="2200" dirty="0"/>
              <a:t>It appears that the low bubble growth advantage of U3Si2 provided by the high Si/U ratio is negated if the temperature is increased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1F730A-668E-C04D-A1CA-DDFA8B10F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1C02379-2DFA-F14D-866E-67AA31743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227" y="1831977"/>
            <a:ext cx="2565450" cy="502602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336DFED-3CD9-2C4D-A389-03ABDE1AFD36}"/>
              </a:ext>
            </a:extLst>
          </p:cNvPr>
          <p:cNvSpPr/>
          <p:nvPr/>
        </p:nvSpPr>
        <p:spPr>
          <a:xfrm>
            <a:off x="9417677" y="2715698"/>
            <a:ext cx="27079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T=105 C and FD=3.2E27 f/m3</a:t>
            </a:r>
            <a:endParaRPr lang="en-US" sz="1400" dirty="0">
              <a:effectLst/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FFF5F2-76D2-5D47-95DD-4037557B3A15}"/>
              </a:ext>
            </a:extLst>
          </p:cNvPr>
          <p:cNvSpPr/>
          <p:nvPr/>
        </p:nvSpPr>
        <p:spPr>
          <a:xfrm>
            <a:off x="9404977" y="4191099"/>
            <a:ext cx="27079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T=136 C and FD=5.4E27 f/m3</a:t>
            </a:r>
            <a:endParaRPr lang="en-US" sz="1400" dirty="0">
              <a:effectLst/>
              <a:latin typeface="Helvetica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01F9B6-75A5-3B4F-990E-9518A6072DB2}"/>
              </a:ext>
            </a:extLst>
          </p:cNvPr>
          <p:cNvSpPr/>
          <p:nvPr/>
        </p:nvSpPr>
        <p:spPr>
          <a:xfrm>
            <a:off x="9417677" y="5736532"/>
            <a:ext cx="270796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latin typeface="Helvetica" pitchFamily="2" charset="0"/>
              </a:rPr>
              <a:t>T=160 C and FD=6.1E27 f/m3</a:t>
            </a:r>
            <a:endParaRPr lang="en-US" sz="1400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080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97D9B-4706-EF41-BDC8-24DBBF839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interaction with 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62033-1416-A947-83F2-AC472609CEC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U3Si, U3Si2, and </a:t>
            </a:r>
            <a:r>
              <a:rPr lang="en-US" sz="2200" dirty="0" err="1"/>
              <a:t>USi</a:t>
            </a:r>
            <a:r>
              <a:rPr lang="en-US" sz="2200" dirty="0"/>
              <a:t> react with Al to form a single intermetallic compound, U(</a:t>
            </a:r>
            <a:r>
              <a:rPr lang="en-US" sz="2200" dirty="0" err="1"/>
              <a:t>AlSi</a:t>
            </a:r>
            <a:r>
              <a:rPr lang="en-US" sz="2200" dirty="0"/>
              <a:t>)3</a:t>
            </a:r>
          </a:p>
          <a:p>
            <a:r>
              <a:rPr lang="en-US" sz="2200" dirty="0"/>
              <a:t>The solubility of Al in the </a:t>
            </a:r>
            <a:r>
              <a:rPr lang="en-US" sz="2200" dirty="0" err="1"/>
              <a:t>USi</a:t>
            </a:r>
            <a:r>
              <a:rPr lang="en-US" sz="2200" dirty="0"/>
              <a:t> phases is very low</a:t>
            </a:r>
          </a:p>
          <a:p>
            <a:r>
              <a:rPr lang="en-US" sz="2200" dirty="0"/>
              <a:t>U(</a:t>
            </a:r>
            <a:r>
              <a:rPr lang="en-US" sz="2200" dirty="0" err="1"/>
              <a:t>AlSi</a:t>
            </a:r>
            <a:r>
              <a:rPr lang="en-US" sz="2200" dirty="0"/>
              <a:t>)3 has a composition intermediate between UAl3 and USi3, both of which are mutually soluble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877B193-5D23-A64E-92EE-3CB10D72976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97600" y="1996620"/>
            <a:ext cx="5384800" cy="4101422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F8B3C-5C85-524F-82F8-DC06BF37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5703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2382F-B420-834D-A847-4A9E1B601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interaction with 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A41F64-B10D-9449-BB11-355A9CA1E60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Interaction layer growth is an interdiffusion controlled process, and can be investigated in out-of-pile experiments</a:t>
            </a:r>
          </a:p>
          <a:p>
            <a:r>
              <a:rPr lang="en-US" sz="2200" dirty="0"/>
              <a:t>Out-of-pile tests are typically performed at high temperatures (600C) and have shown that interdiffusion is the rate-controlling process in IL growth of U-Si-Al fuels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6C4E2E-CB8A-3C42-8B69-34550E9A353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Fuel temperatures of typical in-pile tests are much lower (&lt;200C) than the out-of-pile tests</a:t>
            </a:r>
          </a:p>
          <a:p>
            <a:r>
              <a:rPr lang="en-US" sz="2200" dirty="0"/>
              <a:t>Simple extrapolations to the low temperature regime of the IL growth correlations for out-of-pile tests yield orders of magnitude smaller IL thickness values than observed</a:t>
            </a:r>
          </a:p>
          <a:p>
            <a:r>
              <a:rPr lang="en-US" sz="2200" dirty="0"/>
              <a:t>This implies that thermally activated diffusion must be augmented by radiation-enhanced diffusion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79AF9E-0B5A-BD4E-9B35-400B9D72E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3376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5BFB8-86FA-0A43-9D6B-171DE6698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interaction with 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0CE3F2-BB97-C742-9706-8F24E44B20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compositions in the interaction layer deviate from the exact stoichiometry of U(</a:t>
            </a:r>
            <a:r>
              <a:rPr lang="en-US" sz="2200" dirty="0" err="1"/>
              <a:t>AlSi</a:t>
            </a:r>
            <a:r>
              <a:rPr lang="en-US" sz="2200" dirty="0"/>
              <a:t>)3</a:t>
            </a:r>
          </a:p>
          <a:p>
            <a:r>
              <a:rPr lang="en-US" sz="2200" dirty="0"/>
              <a:t>This indicates that the reaction products become amorphous during irradiation, which has been observed in in-pile tests</a:t>
            </a:r>
          </a:p>
          <a:p>
            <a:r>
              <a:rPr lang="en-US" sz="2200" dirty="0"/>
              <a:t>Since the IL is amorphous, U, Al, and Si atoms exist in a mixture without crystalline restriction of stoichiometry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57BE99-8A5F-8D49-83E9-7E6FA239519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formation of gas bubbles in the ILs is important because of its potential effects on the IL growth rate</a:t>
            </a:r>
          </a:p>
          <a:p>
            <a:r>
              <a:rPr lang="en-US" sz="2200" dirty="0"/>
              <a:t>Gas bubbles in the IL could reduce the effective diffusion area and thereby reduce the IL growth rate, limiting breakaway IL formation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42584B-9F9C-804A-923B-983DE63A7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802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1AAC-9D03-1247-8B04-8CDD6467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3"/>
            <a:ext cx="6622473" cy="1068387"/>
          </a:xfrm>
        </p:spPr>
        <p:txBody>
          <a:bodyPr/>
          <a:lstStyle/>
          <a:p>
            <a:pPr algn="l"/>
            <a:r>
              <a:rPr lang="en-US" dirty="0"/>
              <a:t>Micrographs of irradiated LEU U3Si–Al and U3Si2–Al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C5A94-E77D-D242-8702-23F085DFB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67791"/>
            <a:ext cx="6238009" cy="4058375"/>
          </a:xfrm>
        </p:spPr>
        <p:txBody>
          <a:bodyPr/>
          <a:lstStyle/>
          <a:p>
            <a:r>
              <a:rPr lang="en-US" sz="2200" dirty="0"/>
              <a:t>At low/medium burnup, the ILs of both fuels are generally uniform in thickness and free of visible fission gas bubbles</a:t>
            </a:r>
          </a:p>
          <a:p>
            <a:r>
              <a:rPr lang="en-US" sz="2200" dirty="0"/>
              <a:t>The gas bubbles in the unreacted fuel serve as a boundary between the unreacted fuel and the ILs</a:t>
            </a:r>
          </a:p>
          <a:p>
            <a:r>
              <a:rPr lang="en-US" sz="2200" dirty="0"/>
              <a:t>U3Si has dramatically higher swelling than U3Si2</a:t>
            </a:r>
          </a:p>
          <a:p>
            <a:r>
              <a:rPr lang="en-US" sz="2200" dirty="0"/>
              <a:t>Both samples have similar burnup and temperature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896E84F-B862-5C46-985A-05DE37440BA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61118" y="1281478"/>
            <a:ext cx="3536373" cy="265228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56F77-7906-D04E-923A-458E611F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F6E058A-DE1A-AB45-9A60-CF0DF2B17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1117" y="3933758"/>
            <a:ext cx="3536373" cy="269438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95B3E9-BC7A-E944-9D55-8CC72F2BB890}"/>
              </a:ext>
            </a:extLst>
          </p:cNvPr>
          <p:cNvSpPr/>
          <p:nvPr/>
        </p:nvSpPr>
        <p:spPr>
          <a:xfrm>
            <a:off x="11097490" y="2537795"/>
            <a:ext cx="962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U3Si–Al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5AEE8-480D-AF4F-A038-BBC9F4CA8C61}"/>
              </a:ext>
            </a:extLst>
          </p:cNvPr>
          <p:cNvSpPr/>
          <p:nvPr/>
        </p:nvSpPr>
        <p:spPr>
          <a:xfrm>
            <a:off x="11033370" y="4911616"/>
            <a:ext cx="10262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U3Si2–Al</a:t>
            </a:r>
          </a:p>
        </p:txBody>
      </p:sp>
    </p:spTree>
    <p:extLst>
      <p:ext uri="{BB962C8B-B14F-4D97-AF65-F5344CB8AC3E}">
        <p14:creationId xmlns:p14="http://schemas.microsoft.com/office/powerpoint/2010/main" val="67452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51AAC-9D03-1247-8B04-8CDD64673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00113"/>
            <a:ext cx="6622473" cy="1068387"/>
          </a:xfrm>
        </p:spPr>
        <p:txBody>
          <a:bodyPr/>
          <a:lstStyle/>
          <a:p>
            <a:pPr algn="l"/>
            <a:r>
              <a:rPr lang="en-US" dirty="0"/>
              <a:t>Micrographs of irradiated HEU U3Si–Al and U3Si2–Al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C5A94-E77D-D242-8702-23F085DFB9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2067791"/>
            <a:ext cx="6238009" cy="4058375"/>
          </a:xfrm>
        </p:spPr>
        <p:txBody>
          <a:bodyPr/>
          <a:lstStyle/>
          <a:p>
            <a:r>
              <a:rPr lang="en-US" sz="2200" dirty="0"/>
              <a:t>Gas bubbles are found in ILs of high-burnup HEU U-Si fuels</a:t>
            </a:r>
          </a:p>
          <a:p>
            <a:r>
              <a:rPr lang="en-US" sz="2200" dirty="0"/>
              <a:t>These images are from ultra high burnup samples, ~4.5X the previous slide</a:t>
            </a:r>
          </a:p>
          <a:p>
            <a:r>
              <a:rPr lang="en-US" sz="2200" dirty="0"/>
              <a:t>Thus, likely the formation of fission gas bubbles in the IL is dependent upon fission density</a:t>
            </a:r>
          </a:p>
          <a:p>
            <a:r>
              <a:rPr lang="en-US" sz="2200" dirty="0"/>
              <a:t>Bubbles in the IL of U3Si2 appear later than in U3Si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056F77-7906-D04E-923A-458E611F9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F95B3E9-BC7A-E944-9D55-8CC72F2BB890}"/>
              </a:ext>
            </a:extLst>
          </p:cNvPr>
          <p:cNvSpPr/>
          <p:nvPr/>
        </p:nvSpPr>
        <p:spPr>
          <a:xfrm>
            <a:off x="11097490" y="2537795"/>
            <a:ext cx="9621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U3Si–Al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E95AEE8-480D-AF4F-A038-BBC9F4CA8C61}"/>
              </a:ext>
            </a:extLst>
          </p:cNvPr>
          <p:cNvSpPr/>
          <p:nvPr/>
        </p:nvSpPr>
        <p:spPr>
          <a:xfrm>
            <a:off x="11033370" y="4911616"/>
            <a:ext cx="102624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U3Si2–Al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300CF0-8C2E-7048-BE95-C4AFDECE2E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260" y="900113"/>
            <a:ext cx="3904976" cy="2852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0369E9-3F06-D84D-8496-F56B81E9D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3851" y="3783307"/>
            <a:ext cx="3797589" cy="299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9567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061C-CC83-73B0-803F-43C6CA5C5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for a break…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FD201-7D27-C9AE-7B1D-E3AECB7C6D6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Questions on U-Si vs U3Si2?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51218-51BF-C4FA-6523-36A7257373A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5DA42E-8B33-791F-5608-A2E6CED7C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07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DDCF-225E-B548-901B-44A448A6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Blister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C3E1-9DE8-5E49-9CA2-C46DC17E48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A unique measure for fuel performance in RTRs is ‘blister threshold temperature’ testing with irradiated plates</a:t>
            </a:r>
          </a:p>
          <a:p>
            <a:r>
              <a:rPr lang="en-US" sz="2200" dirty="0"/>
              <a:t>Because there is neither a gap nor a plenum, no fission gas release is possible outside of the fueled zone</a:t>
            </a:r>
          </a:p>
          <a:p>
            <a:r>
              <a:rPr lang="en-US" sz="2200" dirty="0"/>
              <a:t>Fission gas and any gas included during fabrication remain in the fueled zone; in particular, fission gases are contained in pores or fission gas bubbles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B133-F20E-C343-B9C6-99C702EDA6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Gas pressure in large pores and fission gas bubbles, which may be insufficient to cause detrimental creep or yielding of fuel, could instead result in blistering of a fuel plate when the plate is heated to a certain temperature</a:t>
            </a:r>
          </a:p>
          <a:p>
            <a:r>
              <a:rPr lang="en-US" sz="2200" dirty="0"/>
              <a:t>Two types of mechanisms can be considered for blistering: pore (or void) connection, and pressure rupture of fission gas bubbles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C6A70-F6A2-6440-8E43-8F96A016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76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DDCF-225E-B548-901B-44A448A69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Blister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EC3E1-9DE8-5E49-9CA2-C46DC17E48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In the typical blister test, the sample plate is held at a specified temperature for 30–60 min during each annealing step</a:t>
            </a:r>
          </a:p>
          <a:p>
            <a:r>
              <a:rPr lang="en-US" sz="2200" dirty="0"/>
              <a:t>The temperature at which blisters form is termed the ‘blister temperature’</a:t>
            </a:r>
          </a:p>
          <a:p>
            <a:r>
              <a:rPr lang="en-US" sz="2200" dirty="0"/>
              <a:t>Images of a U3Si2–Al dispersion fuel plate after a post-irradiation blister test at 450C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FB133-F20E-C343-B9C6-99C702EDA60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CC6A70-F6A2-6440-8E43-8F96A016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E0C990-4DFE-724C-9BDF-F7994FF80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941" y="1968500"/>
            <a:ext cx="5041900" cy="383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6060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2F716-F78E-C441-AC60-7CA5E83F5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Blistering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1E3F8B-2236-2746-91D1-C4DE13D316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For typical fuel particle loadings, miniature scale plates of U3Si2 and U3Si were blistered in the range of 515–530C</a:t>
            </a:r>
          </a:p>
          <a:p>
            <a:r>
              <a:rPr lang="en-US" sz="2200" dirty="0"/>
              <a:t>An increase in fuel loading dropped the blister temperature by about 75C</a:t>
            </a:r>
          </a:p>
          <a:p>
            <a:r>
              <a:rPr lang="en-US" sz="2200" dirty="0"/>
              <a:t>When boron is added, the blister threshold temperature decreases by about 100C, similar to what is observed in </a:t>
            </a:r>
            <a:r>
              <a:rPr lang="en-US" sz="2200" dirty="0" err="1"/>
              <a:t>UAlx</a:t>
            </a:r>
            <a:r>
              <a:rPr lang="en-US" sz="2200" dirty="0"/>
              <a:t> fuels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1D1BDF-C312-984D-AB8F-7CD4026B4C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Boron is added as a burnable absorber in certain research reactor fuel designs as a means of flux/temperature balancing to avoid hot spots</a:t>
            </a:r>
          </a:p>
          <a:p>
            <a:r>
              <a:rPr lang="en-US" sz="2200" dirty="0"/>
              <a:t>The blister threshold temperature for U-Si intermetallic dispersion fuels is less sensitive both to burnup and to fuel volume loading than </a:t>
            </a:r>
            <a:r>
              <a:rPr lang="en-US" sz="2200" dirty="0" err="1"/>
              <a:t>UAlx</a:t>
            </a:r>
            <a:r>
              <a:rPr lang="en-US" sz="2200" dirty="0"/>
              <a:t> dispersion fuels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076A6-0EDB-6D44-A01A-0C47E727D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857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D2A0A-C3AE-E44A-882A-8741638EE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U-Si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9EB30-8FD7-504C-A306-F843A31E2C8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U3Si2 was qualified in 1988 under NUREG-1313 for use in research reactors</a:t>
            </a:r>
          </a:p>
          <a:p>
            <a:r>
              <a:rPr lang="en-US" sz="2200" dirty="0"/>
              <a:t>U3Si2 is presently considered the best qualified fuel in terms of uranium loading and performance for research and test reactors</a:t>
            </a:r>
          </a:p>
          <a:p>
            <a:r>
              <a:rPr lang="en-US" sz="2200" dirty="0"/>
              <a:t>U3Si is unsuitable for a plate-type geometry because of unstable swelling, but it is still considered for fuel rods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9A422D-C63F-7446-99DF-446E3AEB17A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ILs in U3Si2/Al are free of porosity formation at moderate burnups and the IL growth is considered reasonably slow</a:t>
            </a:r>
          </a:p>
          <a:p>
            <a:r>
              <a:rPr lang="en-US" sz="2200" dirty="0"/>
              <a:t>Both U3Si and U3Si2 are amorphized under irradiation, but have inherent differences in fission gas bubble growth</a:t>
            </a:r>
          </a:p>
          <a:p>
            <a:r>
              <a:rPr lang="en-US" sz="2200" dirty="0"/>
              <a:t>U3Si has excessive breakaway swelling, whereas U3Si2 has stable, albeit still large, swelling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F8EFFB-34B1-DD4F-BDC9-47331097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028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DEF6F-CAD4-504D-B737-0551C379D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RERTR to U-Mo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C5423-14E8-EE46-9149-527701D51D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While U3Si2 was qualified, it was not suitable for higher temperature RTRs that extend to very high burnup</a:t>
            </a:r>
          </a:p>
          <a:p>
            <a:r>
              <a:rPr lang="en-US" sz="2200" dirty="0"/>
              <a:t>Failure to convert high-power research reactors using HEU to LEU U3Si2 resulted from the need for fuels of even higher uranium density</a:t>
            </a:r>
          </a:p>
          <a:p>
            <a:r>
              <a:rPr lang="en-US" sz="2200" dirty="0"/>
              <a:t>The fuel development effort has shifted to uranium–molybdenum alloys with Mo content ranging 6–10wt%, in both monolithic and dispersion fuel forms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25FAB6-4A3F-3F43-8DB8-D92E2E99C11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Since 1997, the U–Mo alloys have been irradiation-tested, driven by US leadership</a:t>
            </a:r>
          </a:p>
          <a:p>
            <a:r>
              <a:rPr lang="en-US" sz="2200" dirty="0"/>
              <a:t>This program is now called the United States High Performance Research Reactor (USHPRR) Program</a:t>
            </a:r>
          </a:p>
          <a:p>
            <a:r>
              <a:rPr lang="en-US" sz="2200" dirty="0"/>
              <a:t>Similar programs work in conjunction with the USHPRR in Argentina, Canada, France, Belgium, and South Korea (used to also work with Russia)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5B19FE-EB1E-5940-8079-B99231B3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429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7B1EC-32CC-F7D9-C171-C830F7AB4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plate designs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6D31D2-D4D1-9F0D-967C-07E8A68C24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653414" cy="4157663"/>
          </a:xfrm>
        </p:spPr>
        <p:txBody>
          <a:bodyPr/>
          <a:lstStyle/>
          <a:p>
            <a:endParaRPr lang="en-US" sz="2600" dirty="0"/>
          </a:p>
          <a:p>
            <a:r>
              <a:rPr lang="en-US" sz="2600" dirty="0"/>
              <a:t>Typical dispersion type fuel, U-Mo fuel particles dispersed in an Al matrix, Al cladding</a:t>
            </a:r>
          </a:p>
          <a:p>
            <a:endParaRPr lang="en-US" sz="2600" dirty="0"/>
          </a:p>
          <a:p>
            <a:endParaRPr lang="en-US" sz="2600" dirty="0"/>
          </a:p>
          <a:p>
            <a:r>
              <a:rPr lang="en-US" sz="2600" dirty="0"/>
              <a:t>Monolithic fuel foil, Zr interdiffusion barrier, Al cladding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85A175-3BEE-D1BE-CDC4-439B3EAA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6563C8-85EF-C275-3BE7-D74FF3257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239" y="1579566"/>
            <a:ext cx="4229100" cy="454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4846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0B4E8-0C86-D94F-A78C-39A92B928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U-Mo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06B68-98E0-6649-BB16-FD060B11EE5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Dispersion fabrication is unique from monolithic fabrication</a:t>
            </a:r>
          </a:p>
          <a:p>
            <a:r>
              <a:rPr lang="en-US" sz="2200" dirty="0"/>
              <a:t>U-Mo dispersion fuels are fabricated in a similar manner to U-Si dispersion fuels</a:t>
            </a:r>
          </a:p>
          <a:p>
            <a:r>
              <a:rPr lang="en-US" sz="2200" dirty="0"/>
              <a:t>Both fragmentation and atomization processes can be applied</a:t>
            </a:r>
          </a:p>
          <a:p>
            <a:r>
              <a:rPr lang="en-US" sz="2200" dirty="0"/>
              <a:t>The U-Mo alloy is quite ductile, which poses problems for the fragmentation process</a:t>
            </a:r>
          </a:p>
          <a:p>
            <a:r>
              <a:rPr lang="en-US" sz="2200" dirty="0"/>
              <a:t>Alloys can be lightly oxidized to assist in fragmentation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39616-A214-224C-8E10-1F2D1DFCA1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fragmented powders have more </a:t>
            </a:r>
            <a:r>
              <a:rPr lang="en-US" sz="2200" dirty="0" err="1"/>
              <a:t>equiaxially</a:t>
            </a:r>
            <a:r>
              <a:rPr lang="en-US" sz="2200" dirty="0"/>
              <a:t> shaped grains and a more homogeneous distribution of grains than the atomized powder fuel because there is no thermal process involved during fabrication</a:t>
            </a:r>
          </a:p>
          <a:p>
            <a:r>
              <a:rPr lang="en-US" sz="2200" dirty="0"/>
              <a:t>However, they are heavily cold-worked and contain a high concentration of dislocations which can </a:t>
            </a:r>
            <a:r>
              <a:rPr lang="en-US" sz="2200" dirty="0" err="1"/>
              <a:t>polygonize</a:t>
            </a:r>
            <a:r>
              <a:rPr lang="en-US" sz="2200" dirty="0"/>
              <a:t> and serve as nucleation sites for gas bubbles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C9139-5B5E-DE4F-AED8-16F1D730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410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4BE54-6A55-FB43-8E98-3E96DF71E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U-Mo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28351-2D49-FE4E-BD9C-B4A7C65D81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U–Mo fuel uses the same plate fabrication method as other U intermetallic fuels</a:t>
            </a:r>
          </a:p>
          <a:p>
            <a:r>
              <a:rPr lang="en-US" sz="2200" dirty="0"/>
              <a:t>However, the hot rolling procedure can have significant effects on the performance of the fuel</a:t>
            </a:r>
          </a:p>
          <a:p>
            <a:r>
              <a:rPr lang="en-US" sz="2200" dirty="0"/>
              <a:t>The thermal process changes particle characteristics and can enhance the interaction between the particles and the matrix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A1512-1404-3647-B593-7CAAC1A5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CE38A0A6-30A8-BC44-AA08-E0B165DB7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815446" y="2177620"/>
            <a:ext cx="3272164" cy="34646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0B4959-4005-6544-A3E5-08C7111500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3350" y="2578462"/>
            <a:ext cx="3168650" cy="278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697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A4C01-E60E-D041-A196-DD0014DE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A72DE9-B0FB-3241-A5A3-0C9E6CDD62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7412345" cy="4157663"/>
          </a:xfrm>
        </p:spPr>
        <p:txBody>
          <a:bodyPr/>
          <a:lstStyle/>
          <a:p>
            <a:r>
              <a:rPr lang="en-US" sz="2200" dirty="0"/>
              <a:t>It was recognized early on in the development of fast reactor fuels that molybdenum is one of the strongest gamma-stabilizers of the transition-metal elements, even stronger than Zr, and that it enables alloys with U to have very high U density</a:t>
            </a:r>
          </a:p>
          <a:p>
            <a:r>
              <a:rPr lang="en-US" sz="2200" dirty="0"/>
              <a:t>A disadvantage of Mo as an alloying element is that it has higher neutron absorption cross sections than Si and Al, but not sufficiently significant to be problematic</a:t>
            </a:r>
          </a:p>
          <a:p>
            <a:r>
              <a:rPr lang="en-US" sz="2200" dirty="0"/>
              <a:t>The solubility of Mo extends to 22 wt% (or 41 at.%) in the gamma-phase, but it is limited to a few percent in the alpha and beta-phases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D7E5626-9223-C442-AFB6-3E059B4E09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8315665" y="1800224"/>
            <a:ext cx="326673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D62A30-6BF6-5B45-9E84-D0BBFAD7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5039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E6A9-1B3B-0943-89C3-4FA1745EA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U-Mo Fabrication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5A147-C666-D443-A9CE-B6DB0EE5DF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647032" cy="4157663"/>
          </a:xfrm>
        </p:spPr>
        <p:txBody>
          <a:bodyPr/>
          <a:lstStyle/>
          <a:p>
            <a:r>
              <a:rPr lang="en-US" sz="2200" dirty="0"/>
              <a:t>The microstructure of the atomized powder consists of a ‘cellular’ solidification structure which is commonly found in rapidly cooled alloys that have a pronounced solidus–liquidus gap</a:t>
            </a:r>
          </a:p>
          <a:p>
            <a:r>
              <a:rPr lang="en-US" sz="2200" dirty="0"/>
              <a:t>Mo-rich phases solidify first upon cooling</a:t>
            </a:r>
          </a:p>
          <a:p>
            <a:r>
              <a:rPr lang="en-US" sz="2200" dirty="0"/>
              <a:t>As the cooling progresses, the solid phase volume increases, while, simultaneously, the Mo content in the solid phase decreases</a:t>
            </a:r>
          </a:p>
          <a:p>
            <a:r>
              <a:rPr lang="en-US" sz="2200" dirty="0"/>
              <a:t>If cooling is too rapid, Mo rich islands will form inside a network of a Mo lean matrix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39E5791-7E1F-5441-8D54-4426CD7C1AF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6632" y="1968500"/>
            <a:ext cx="326673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3F827-8F3A-E345-837B-EF3C6E240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2398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A49A6-E3FA-9E42-A097-19B603648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U-Mo Phases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F2375-2803-6A47-A1F4-5DA2CF25E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357730" cy="4157663"/>
          </a:xfrm>
        </p:spPr>
        <p:txBody>
          <a:bodyPr/>
          <a:lstStyle/>
          <a:p>
            <a:r>
              <a:rPr lang="en-US" sz="2200" dirty="0"/>
              <a:t>The gamma-phase undergoes a </a:t>
            </a:r>
            <a:r>
              <a:rPr lang="en-US" sz="2200" dirty="0" err="1"/>
              <a:t>eutectoidal</a:t>
            </a:r>
            <a:r>
              <a:rPr lang="en-US" sz="2200" dirty="0"/>
              <a:t> decomposition at 565C, transforming to the dual-phase mixture of the orthorhombic alpha-phase and the ordered tetragonal gamma’-phase which has the nominal stoichiometry of U2Mo</a:t>
            </a:r>
          </a:p>
          <a:p>
            <a:r>
              <a:rPr lang="en-US" sz="2200" dirty="0"/>
              <a:t>This transformation is slow when the molybdenum content is more than about 6 wt%, so a gamma-phase metastable U-Mo alloy with 6–12 wt% Mo can be obtained by quenching the alloy melt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C2B5F23-E793-DE4A-8C8D-24E4099DF8B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56632" y="1968500"/>
            <a:ext cx="3266735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82978B-1B23-F545-950E-3A6A155CB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235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8F172-3503-6240-882B-4C750F441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 Stability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C9E43-DE55-A440-8CA3-6A1D95F411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radiation stability of U-Mo depends on its ability to retain the gamma phase</a:t>
            </a:r>
          </a:p>
          <a:p>
            <a:r>
              <a:rPr lang="en-US" sz="2200" dirty="0"/>
              <a:t>At research reactor temperatures, the gamma phase wants to transform into the alpha/gamma’ two phase system (based on the phase diagram)</a:t>
            </a:r>
          </a:p>
          <a:p>
            <a:r>
              <a:rPr lang="en-US" sz="2200" dirty="0"/>
              <a:t>Radiation counteracts the driving thermodynamics by disordering the gamma’ phase, retaining the gamma phase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3F0D1-25BD-1C4B-BEBE-1D8B02762A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critical fission rate is the rate at which the minimum number of displacements that maintain the gamma-phase are in balance with the thermodynamic tendency to transform to the alpha/gamma’-phases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BF7FFD-780A-7F45-BD5E-A718D8FFB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5EF98D-D0E6-AB4D-83A3-543559CD7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6758" y="4265724"/>
            <a:ext cx="5065642" cy="1692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29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84A9C-A41A-9B45-A4A0-FE453D5B3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96E071-2AE0-2044-9941-A6405CA4CA7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Fuel swelling by solid fission products is also applicable for U-Mo fuels</a:t>
            </a:r>
          </a:p>
          <a:p>
            <a:endParaRPr lang="en-US" sz="2200" dirty="0"/>
          </a:p>
          <a:p>
            <a:endParaRPr lang="en-US" sz="2200" dirty="0"/>
          </a:p>
          <a:p>
            <a:r>
              <a:rPr lang="en-US" sz="2200" dirty="0"/>
              <a:t>The fuel swelling due to fission gases is unique in the U-Mo system</a:t>
            </a:r>
          </a:p>
          <a:p>
            <a:r>
              <a:rPr lang="en-US" sz="2200" dirty="0"/>
              <a:t>U-Mo swelling, specifically, swelling by gas bubble growth, is known to have two distinct rates: slow at low burnup and much faster at high burnup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AD20F8-6A8E-1943-9BDB-948B630CD0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The phenomenon underlying the transition is grain refinement or ‘recrystallization’ of the gamma-phase U-Mo</a:t>
            </a:r>
          </a:p>
          <a:p>
            <a:r>
              <a:rPr lang="en-US" sz="2200" dirty="0"/>
              <a:t>After this transition, gas bubble agglomeration accelerates, resulting in faster swelling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E5F2DA-8569-BD4C-ABF9-E4160099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CB38B7-F4DC-2A4F-A18D-9F540BDA2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864" y="2719465"/>
            <a:ext cx="1633777" cy="86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945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DD9-D2C5-E44E-AA85-090EA606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Recrystallization +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FFD9-E6C3-7646-946D-D855B0508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1673905"/>
          </a:xfrm>
        </p:spPr>
        <p:txBody>
          <a:bodyPr/>
          <a:lstStyle/>
          <a:p>
            <a:r>
              <a:rPr lang="en-US" sz="2200" dirty="0"/>
              <a:t>The evolution of fuel microstructure by fission gas bubble formation and growth is shown with three different burnups</a:t>
            </a:r>
          </a:p>
          <a:p>
            <a:r>
              <a:rPr lang="en-US" sz="2200" dirty="0"/>
              <a:t>In an SEM, fission gas bubbles first appear along grain boundaries, with no large bubbles in the fuel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BA2B0-243A-1440-A383-EF30863E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9F0C0F-3193-CA4C-A72B-8F24F1951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09" y="3672236"/>
            <a:ext cx="3648762" cy="2643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2C617B-F0C1-9248-BDF5-1395FAF84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03" y="3698048"/>
            <a:ext cx="3555682" cy="2643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147467-1DF3-AE4B-94E9-1A1A550E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717" y="3742688"/>
            <a:ext cx="3555681" cy="2554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0E74A4-31DE-3D4F-A1D0-6308655DB4F2}"/>
              </a:ext>
            </a:extLst>
          </p:cNvPr>
          <p:cNvSpPr txBox="1"/>
          <p:nvPr/>
        </p:nvSpPr>
        <p:spPr>
          <a:xfrm>
            <a:off x="1891430" y="6356352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35% BU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3D43F-B0C9-3549-887E-4868D75DC860}"/>
              </a:ext>
            </a:extLst>
          </p:cNvPr>
          <p:cNvSpPr txBox="1"/>
          <p:nvPr/>
        </p:nvSpPr>
        <p:spPr>
          <a:xfrm>
            <a:off x="5601220" y="6333356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65% BU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32E85-6921-974A-9FEC-2771FDD90EC7}"/>
              </a:ext>
            </a:extLst>
          </p:cNvPr>
          <p:cNvSpPr txBox="1"/>
          <p:nvPr/>
        </p:nvSpPr>
        <p:spPr>
          <a:xfrm>
            <a:off x="9384207" y="6296898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80% BU</a:t>
            </a:r>
          </a:p>
        </p:txBody>
      </p:sp>
    </p:spTree>
    <p:extLst>
      <p:ext uri="{BB962C8B-B14F-4D97-AF65-F5344CB8AC3E}">
        <p14:creationId xmlns:p14="http://schemas.microsoft.com/office/powerpoint/2010/main" val="32576723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B6059-0848-0047-9AF7-F7AB72C78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Fission Gas Superlattice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98C26-6125-4C47-B0B4-8128E7F32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605393" cy="4157663"/>
          </a:xfrm>
        </p:spPr>
        <p:txBody>
          <a:bodyPr/>
          <a:lstStyle/>
          <a:p>
            <a:r>
              <a:rPr lang="en-US" sz="2200" dirty="0"/>
              <a:t>TEM analysis has identified in the low BU regime a fission gas superlattice of 2nm bubbles</a:t>
            </a:r>
          </a:p>
          <a:p>
            <a:r>
              <a:rPr lang="en-US" sz="2200" dirty="0"/>
              <a:t>As the bubbles are small, even though their number density is large, these bubbles are too small to produce much fuel volume increase</a:t>
            </a:r>
          </a:p>
          <a:p>
            <a:r>
              <a:rPr lang="en-US" sz="2200" dirty="0"/>
              <a:t>The Young-Laplace equation denotes a force balance, and the ideal gas law gives an approximation of the pressure</a:t>
            </a:r>
          </a:p>
          <a:p>
            <a:r>
              <a:rPr lang="en-US" sz="2200" dirty="0"/>
              <a:t>Thus, these small bubbles are highly pressurized and contain large amounts of gas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45308-56F1-5440-8804-95AC84A4A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5AAE18-D455-B446-BA38-28DB98AB6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4302" y="1968500"/>
            <a:ext cx="3857756" cy="47817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A518E4-DB53-B34F-9EF6-C46CE913A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4903" y="5916614"/>
            <a:ext cx="977900" cy="6223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E5F174B-1C53-E44A-818A-67A28BAC3A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5369" y="6126166"/>
            <a:ext cx="12319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71234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DD9-D2C5-E44E-AA85-090EA606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Recrystallization +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FFD9-E6C3-7646-946D-D855B0508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868295"/>
            <a:ext cx="10972799" cy="1673905"/>
          </a:xfrm>
        </p:spPr>
        <p:txBody>
          <a:bodyPr/>
          <a:lstStyle/>
          <a:p>
            <a:r>
              <a:rPr lang="en-US" sz="2200" dirty="0"/>
              <a:t>As burnup increases (2.5–3.5E27 fissions/m3), the bubble population increases in the grain boundaries and additional bubbles progressively appear at newly formed grain boundaries as grain refinement proceeds</a:t>
            </a:r>
          </a:p>
          <a:p>
            <a:r>
              <a:rPr lang="en-US" sz="2200" dirty="0"/>
              <a:t>At this stage, the average bubble size also increases with fission density as the number density increases, both of which increase the fuel swelling rate</a:t>
            </a:r>
          </a:p>
          <a:p>
            <a:endParaRPr lang="en-US" sz="2200" dirty="0"/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BA2B0-243A-1440-A383-EF30863E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9F0C0F-3193-CA4C-A72B-8F24F1951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09" y="3672236"/>
            <a:ext cx="3648762" cy="2643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2C617B-F0C1-9248-BDF5-1395FAF84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03" y="3698048"/>
            <a:ext cx="3555682" cy="2643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147467-1DF3-AE4B-94E9-1A1A550E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717" y="3742688"/>
            <a:ext cx="3555681" cy="2554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0E74A4-31DE-3D4F-A1D0-6308655DB4F2}"/>
              </a:ext>
            </a:extLst>
          </p:cNvPr>
          <p:cNvSpPr txBox="1"/>
          <p:nvPr/>
        </p:nvSpPr>
        <p:spPr>
          <a:xfrm>
            <a:off x="1891430" y="6356352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35% BU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3D43F-B0C9-3549-887E-4868D75DC860}"/>
              </a:ext>
            </a:extLst>
          </p:cNvPr>
          <p:cNvSpPr txBox="1"/>
          <p:nvPr/>
        </p:nvSpPr>
        <p:spPr>
          <a:xfrm>
            <a:off x="5601220" y="6333356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65% BU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32E85-6921-974A-9FEC-2771FDD90EC7}"/>
              </a:ext>
            </a:extLst>
          </p:cNvPr>
          <p:cNvSpPr txBox="1"/>
          <p:nvPr/>
        </p:nvSpPr>
        <p:spPr>
          <a:xfrm>
            <a:off x="9384207" y="6296898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80% BU</a:t>
            </a:r>
          </a:p>
        </p:txBody>
      </p:sp>
    </p:spTree>
    <p:extLst>
      <p:ext uri="{BB962C8B-B14F-4D97-AF65-F5344CB8AC3E}">
        <p14:creationId xmlns:p14="http://schemas.microsoft.com/office/powerpoint/2010/main" val="364149566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2EDD9-D2C5-E44E-AA85-090EA6060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Recrystallization + 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9FFD9-E6C3-7646-946D-D855B0508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2279737"/>
            <a:ext cx="10972799" cy="1262463"/>
          </a:xfrm>
        </p:spPr>
        <p:txBody>
          <a:bodyPr/>
          <a:lstStyle/>
          <a:p>
            <a:r>
              <a:rPr lang="en-US" sz="2200" dirty="0"/>
              <a:t>At higher burnup, large bubbles uniformly span the entire fuel cross section as the grain refinement is nearing completion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BA2B0-243A-1440-A383-EF30863E9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9F0C0F-3193-CA4C-A72B-8F24F1951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09" y="3672236"/>
            <a:ext cx="3648762" cy="2643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2C617B-F0C1-9248-BDF5-1395FAF84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03" y="3698048"/>
            <a:ext cx="3555682" cy="26434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1147467-1DF3-AE4B-94E9-1A1A550E01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6717" y="3742688"/>
            <a:ext cx="3555681" cy="255421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0E74A4-31DE-3D4F-A1D0-6308655DB4F2}"/>
              </a:ext>
            </a:extLst>
          </p:cNvPr>
          <p:cNvSpPr txBox="1"/>
          <p:nvPr/>
        </p:nvSpPr>
        <p:spPr>
          <a:xfrm>
            <a:off x="1891430" y="6356352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35% BU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B3D43F-B0C9-3549-887E-4868D75DC860}"/>
              </a:ext>
            </a:extLst>
          </p:cNvPr>
          <p:cNvSpPr txBox="1"/>
          <p:nvPr/>
        </p:nvSpPr>
        <p:spPr>
          <a:xfrm>
            <a:off x="5601220" y="6333356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65% BU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B32E85-6921-974A-9FEC-2771FDD90EC7}"/>
              </a:ext>
            </a:extLst>
          </p:cNvPr>
          <p:cNvSpPr txBox="1"/>
          <p:nvPr/>
        </p:nvSpPr>
        <p:spPr>
          <a:xfrm>
            <a:off x="9384207" y="6296898"/>
            <a:ext cx="9895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80% BU</a:t>
            </a:r>
          </a:p>
        </p:txBody>
      </p:sp>
    </p:spTree>
    <p:extLst>
      <p:ext uri="{BB962C8B-B14F-4D97-AF65-F5344CB8AC3E}">
        <p14:creationId xmlns:p14="http://schemas.microsoft.com/office/powerpoint/2010/main" val="3219624894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4199</TotalTime>
  <Words>2901</Words>
  <Application>Microsoft Macintosh PowerPoint</Application>
  <PresentationFormat>Widescreen</PresentationFormat>
  <Paragraphs>255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Helvetica</vt:lpstr>
      <vt:lpstr>2_NCStateU-horizontal-left-logo</vt:lpstr>
      <vt:lpstr>NE 763: Advanced Reactor Materials</vt:lpstr>
      <vt:lpstr>Last Time</vt:lpstr>
      <vt:lpstr>Off-normal behavior</vt:lpstr>
      <vt:lpstr>U-Al Summary</vt:lpstr>
      <vt:lpstr>RERTR</vt:lpstr>
      <vt:lpstr>U-Si</vt:lpstr>
      <vt:lpstr>U-Si Fabrication</vt:lpstr>
      <vt:lpstr>U-Si Fabrication</vt:lpstr>
      <vt:lpstr>U-Si Fuel Swelling</vt:lpstr>
      <vt:lpstr>Amorphous Swelling</vt:lpstr>
      <vt:lpstr>U-Si Swelling</vt:lpstr>
      <vt:lpstr>U-Si Swelling</vt:lpstr>
      <vt:lpstr>U3Si2 Swelling w/ temperature</vt:lpstr>
      <vt:lpstr>U-Si interaction with Al</vt:lpstr>
      <vt:lpstr>U-Si interaction with Al</vt:lpstr>
      <vt:lpstr>U-Si interaction with Al</vt:lpstr>
      <vt:lpstr>Micrographs of irradiated LEU U3Si–Al and U3Si2–Al</vt:lpstr>
      <vt:lpstr>Micrographs of irradiated HEU U3Si–Al and U3Si2–Al</vt:lpstr>
      <vt:lpstr>Time for a break…</vt:lpstr>
      <vt:lpstr>Blister Testing</vt:lpstr>
      <vt:lpstr>Blister Testing</vt:lpstr>
      <vt:lpstr>U-Si Blistering</vt:lpstr>
      <vt:lpstr>U-Si Summary</vt:lpstr>
      <vt:lpstr>RERTR to U-Mo</vt:lpstr>
      <vt:lpstr>Two plate designs</vt:lpstr>
      <vt:lpstr>U-Mo Fabrication</vt:lpstr>
      <vt:lpstr>U-Mo Fabrication</vt:lpstr>
      <vt:lpstr>U-Mo</vt:lpstr>
      <vt:lpstr>U-Mo Fabrication</vt:lpstr>
      <vt:lpstr>U-Mo Phases</vt:lpstr>
      <vt:lpstr>Gamma Stability</vt:lpstr>
      <vt:lpstr>Fuel Swelling</vt:lpstr>
      <vt:lpstr>Recrystallization + Swelling</vt:lpstr>
      <vt:lpstr>Fission Gas Superlattice</vt:lpstr>
      <vt:lpstr>Recrystallization + Swelling</vt:lpstr>
      <vt:lpstr>Recrystallization + Swelling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 591: Advanced Reactor Materials</dc:title>
  <dc:creator>Benjamin W. Beeler</dc:creator>
  <cp:lastModifiedBy>Benjamin Beeler</cp:lastModifiedBy>
  <cp:revision>41</cp:revision>
  <dcterms:created xsi:type="dcterms:W3CDTF">2021-06-30T18:29:00Z</dcterms:created>
  <dcterms:modified xsi:type="dcterms:W3CDTF">2025-11-18T20:50:49Z</dcterms:modified>
</cp:coreProperties>
</file>
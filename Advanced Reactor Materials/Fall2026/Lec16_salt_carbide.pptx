
<file path=[Content_Types].xml><?xml version="1.0" encoding="utf-8"?>
<Types xmlns="http://schemas.openxmlformats.org/package/2006/content-types">
  <Default Extension="jpeg" ContentType="image/jpeg"/>
  <Default Extension="jpg" ContentType="image/jpeg"/>
  <Default Extension="org&amp;utm_campaign=index&amp;utm_content=original"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2"/>
  </p:notesMasterIdLst>
  <p:sldIdLst>
    <p:sldId id="257" r:id="rId2"/>
    <p:sldId id="491" r:id="rId3"/>
    <p:sldId id="431" r:id="rId4"/>
    <p:sldId id="465" r:id="rId5"/>
    <p:sldId id="463" r:id="rId6"/>
    <p:sldId id="464" r:id="rId7"/>
    <p:sldId id="466" r:id="rId8"/>
    <p:sldId id="486" r:id="rId9"/>
    <p:sldId id="407" r:id="rId10"/>
    <p:sldId id="408" r:id="rId11"/>
    <p:sldId id="409" r:id="rId12"/>
    <p:sldId id="489" r:id="rId13"/>
    <p:sldId id="448" r:id="rId14"/>
    <p:sldId id="411" r:id="rId15"/>
    <p:sldId id="412" r:id="rId16"/>
    <p:sldId id="490" r:id="rId17"/>
    <p:sldId id="413" r:id="rId18"/>
    <p:sldId id="474" r:id="rId19"/>
    <p:sldId id="487" r:id="rId20"/>
    <p:sldId id="473" r:id="rId21"/>
    <p:sldId id="418" r:id="rId22"/>
    <p:sldId id="419" r:id="rId23"/>
    <p:sldId id="415" r:id="rId24"/>
    <p:sldId id="420" r:id="rId25"/>
    <p:sldId id="414" r:id="rId26"/>
    <p:sldId id="416" r:id="rId27"/>
    <p:sldId id="422" r:id="rId28"/>
    <p:sldId id="426" r:id="rId29"/>
    <p:sldId id="427" r:id="rId30"/>
    <p:sldId id="42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92"/>
    <p:restoredTop sz="96654"/>
  </p:normalViewPr>
  <p:slideViewPr>
    <p:cSldViewPr snapToGrid="0" snapToObjects="1">
      <p:cViewPr varScale="1">
        <p:scale>
          <a:sx n="126" d="100"/>
          <a:sy n="126" d="100"/>
        </p:scale>
        <p:origin x="5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795912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368580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907339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1182922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3922424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10/13/26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3022455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10/13/26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853046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48749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4270643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016308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443566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10/13/26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3510213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65" r:id="rId12"/>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energy.gov/ne/articles/general-atomics-tier-iii-awardee" TargetMode="External"/><Relationship Id="rId2" Type="http://schemas.openxmlformats.org/officeDocument/2006/relationships/hyperlink" Target="https://www-pub.iaea.org/MTCD/Publications/PDF/te_1039_prn.pdf" TargetMode="External"/><Relationship Id="rId1" Type="http://schemas.openxmlformats.org/officeDocument/2006/relationships/slideLayout" Target="../slideLayouts/slideLayout4.xml"/><Relationship Id="rId5" Type="http://schemas.openxmlformats.org/officeDocument/2006/relationships/hyperlink" Target="https://ntrs.nasa.gov/api/citations/20210011071/downloads/2020%20R%26T%20Report%202021_0401.pdf" TargetMode="External"/><Relationship Id="rId4" Type="http://schemas.openxmlformats.org/officeDocument/2006/relationships/hyperlink" Target="https://www.energy.gov/ne/articles/triso-x-receives-nrc-special-nuclear-material-license-advanced-fuel-fabrication"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4.org&amp;utm_campaign=index&amp;utm_content=original"/><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88BE0-48FA-428E-4B3F-500C94D70C59}"/>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91712A2C-37A2-2C45-45EE-B11111230E88}"/>
              </a:ext>
            </a:extLst>
          </p:cNvPr>
          <p:cNvSpPr>
            <a:spLocks noGrp="1"/>
          </p:cNvSpPr>
          <p:nvPr>
            <p:ph idx="1"/>
          </p:nvPr>
        </p:nvSpPr>
        <p:spPr/>
        <p:txBody>
          <a:bodyPr/>
          <a:lstStyle/>
          <a:p>
            <a:r>
              <a:rPr lang="en-US" dirty="0"/>
              <a:t>exam 2 grading completed and solutions posted to </a:t>
            </a:r>
            <a:r>
              <a:rPr lang="en-US" dirty="0" err="1"/>
              <a:t>moodle</a:t>
            </a:r>
            <a:endParaRPr lang="en-US" dirty="0"/>
          </a:p>
          <a:p>
            <a:r>
              <a:rPr lang="en-US" dirty="0"/>
              <a:t>graded exams emailed out</a:t>
            </a:r>
          </a:p>
          <a:p>
            <a:r>
              <a:rPr lang="en-US" dirty="0"/>
              <a:t>avg of 92, thus, no curve</a:t>
            </a:r>
          </a:p>
          <a:p>
            <a:endParaRPr lang="en-US" dirty="0"/>
          </a:p>
          <a:p>
            <a:r>
              <a:rPr lang="en-US" dirty="0"/>
              <a:t>reminder to work on the presentations</a:t>
            </a:r>
          </a:p>
          <a:p>
            <a:endParaRPr lang="en-US" dirty="0"/>
          </a:p>
          <a:p>
            <a:r>
              <a:rPr lang="en-US" dirty="0"/>
              <a:t>exam 3 tentatively planned for first week of November (after the presentations)</a:t>
            </a:r>
          </a:p>
        </p:txBody>
      </p:sp>
      <p:sp>
        <p:nvSpPr>
          <p:cNvPr id="4" name="Slide Number Placeholder 3">
            <a:extLst>
              <a:ext uri="{FF2B5EF4-FFF2-40B4-BE49-F238E27FC236}">
                <a16:creationId xmlns:a16="http://schemas.microsoft.com/office/drawing/2014/main" id="{650C34C5-A101-B7B6-7AC0-CE6EF8ADAD9D}"/>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2669546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a:xfrm>
            <a:off x="609600" y="1769165"/>
            <a:ext cx="10972800" cy="4188722"/>
          </a:xfrm>
        </p:spPr>
        <p:txBody>
          <a:bodyPr/>
          <a:lstStyle/>
          <a:p>
            <a:r>
              <a:rPr lang="en-US" dirty="0"/>
              <a:t>Oxidizing conditions generated with fission:</a:t>
            </a:r>
          </a:p>
          <a:p>
            <a:pPr lvl="1"/>
            <a:r>
              <a:rPr lang="en-US" sz="1800" dirty="0"/>
              <a:t>Excess fluorine generated due to fission, yielding oxidizing conditions</a:t>
            </a:r>
          </a:p>
          <a:p>
            <a:pPr lvl="1"/>
            <a:r>
              <a:rPr lang="en-US" sz="1800" dirty="0"/>
              <a:t>Fission products take different forms (gaseous, precipitates, soluble salts)</a:t>
            </a:r>
          </a:p>
          <a:p>
            <a:pPr lvl="1"/>
            <a:r>
              <a:rPr lang="en-US" sz="1800" dirty="0"/>
              <a:t>UF4/UF3 ratio is an indicator of redox potential</a:t>
            </a:r>
          </a:p>
          <a:p>
            <a:pPr lvl="1"/>
            <a:r>
              <a:rPr lang="en-US" sz="1800" dirty="0"/>
              <a:t>Cover gas helps to remove fission products and control redox potential</a:t>
            </a:r>
          </a:p>
          <a:p>
            <a:r>
              <a:rPr lang="en-US" dirty="0"/>
              <a:t>Three principal corrosion processes: </a:t>
            </a:r>
          </a:p>
          <a:p>
            <a:pPr lvl="1"/>
            <a:r>
              <a:rPr lang="en-US" sz="1800" dirty="0"/>
              <a:t>Reactions due to oxides on the metal; Reactions with dissolved impurities; Reactions with necessary constituents of the melt</a:t>
            </a:r>
          </a:p>
          <a:p>
            <a:pPr lvl="1"/>
            <a:r>
              <a:rPr lang="en-US" sz="1800" dirty="0"/>
              <a:t>Rapid initial corrosion from impurities on surface or in salt; followed by Cr-diffusion-controlled corrosion</a:t>
            </a:r>
          </a:p>
          <a:p>
            <a:r>
              <a:rPr lang="en-US" dirty="0"/>
              <a:t>Different materials required for different systems, depending upon irradiation, temperature, salt exposure, etc. </a:t>
            </a:r>
          </a:p>
          <a:p>
            <a:r>
              <a:rPr lang="en-US" dirty="0"/>
              <a:t>Recent corrosion summary showed:</a:t>
            </a:r>
          </a:p>
          <a:p>
            <a:pPr lvl="1"/>
            <a:r>
              <a:rPr lang="en-US" sz="1800" dirty="0"/>
              <a:t>purity of the salts is the primary factor impacting corrosion rates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4A71-5BB4-A11A-36A4-A225B5DE447F}"/>
              </a:ext>
            </a:extLst>
          </p:cNvPr>
          <p:cNvSpPr>
            <a:spLocks noGrp="1"/>
          </p:cNvSpPr>
          <p:nvPr>
            <p:ph type="title"/>
          </p:nvPr>
        </p:nvSpPr>
        <p:spPr/>
        <p:txBody>
          <a:bodyPr/>
          <a:lstStyle/>
          <a:p>
            <a:r>
              <a:rPr lang="en-US" dirty="0"/>
              <a:t>Need for molten salt data</a:t>
            </a:r>
          </a:p>
        </p:txBody>
      </p:sp>
      <p:sp>
        <p:nvSpPr>
          <p:cNvPr id="3" name="Content Placeholder 2">
            <a:extLst>
              <a:ext uri="{FF2B5EF4-FFF2-40B4-BE49-F238E27FC236}">
                <a16:creationId xmlns:a16="http://schemas.microsoft.com/office/drawing/2014/main" id="{118E785B-48D9-CA6F-0E7A-CC6FCB6831F3}"/>
              </a:ext>
            </a:extLst>
          </p:cNvPr>
          <p:cNvSpPr>
            <a:spLocks noGrp="1"/>
          </p:cNvSpPr>
          <p:nvPr>
            <p:ph sz="half" idx="1"/>
          </p:nvPr>
        </p:nvSpPr>
        <p:spPr/>
        <p:txBody>
          <a:bodyPr/>
          <a:lstStyle/>
          <a:p>
            <a:r>
              <a:rPr lang="en-US" dirty="0"/>
              <a:t>The thermophysical properties of many of these salts are not well known for many of the fluoride salt systems of interest because of a lack of thermophysical property measurement data</a:t>
            </a:r>
          </a:p>
          <a:p>
            <a:r>
              <a:rPr lang="en-US" dirty="0"/>
              <a:t>If data are available for higher order systems, they are typically for only one (often the eutectic) or a handful of compositions of a particular system, providing little knowledge of how the thermophysical properties may change as functions of component concentrations and temperature</a:t>
            </a:r>
          </a:p>
        </p:txBody>
      </p:sp>
      <p:sp>
        <p:nvSpPr>
          <p:cNvPr id="4" name="Content Placeholder 3">
            <a:extLst>
              <a:ext uri="{FF2B5EF4-FFF2-40B4-BE49-F238E27FC236}">
                <a16:creationId xmlns:a16="http://schemas.microsoft.com/office/drawing/2014/main" id="{3AEAAA78-D567-8273-9AA5-FA6BBDD9B6F9}"/>
              </a:ext>
            </a:extLst>
          </p:cNvPr>
          <p:cNvSpPr>
            <a:spLocks noGrp="1"/>
          </p:cNvSpPr>
          <p:nvPr>
            <p:ph sz="half" idx="2"/>
          </p:nvPr>
        </p:nvSpPr>
        <p:spPr/>
        <p:txBody>
          <a:bodyPr/>
          <a:lstStyle/>
          <a:p>
            <a:r>
              <a:rPr lang="en-US" dirty="0"/>
              <a:t>A primary reason for the lack of these thermophysical property data is the inherent difficulty in taking experimental measurements with fluoride salts, which tend to have high melting points, high corrosivity, and reactivity with oxygen and moisture</a:t>
            </a:r>
          </a:p>
          <a:p>
            <a:r>
              <a:rPr lang="en-US" dirty="0"/>
              <a:t>Because of these gaps, accurate thermal modeling of molten salt reactor designs is challenging, and safety evaluations may come with too high a degree of uncertainty</a:t>
            </a:r>
          </a:p>
        </p:txBody>
      </p:sp>
      <p:sp>
        <p:nvSpPr>
          <p:cNvPr id="5" name="Slide Number Placeholder 4">
            <a:extLst>
              <a:ext uri="{FF2B5EF4-FFF2-40B4-BE49-F238E27FC236}">
                <a16:creationId xmlns:a16="http://schemas.microsoft.com/office/drawing/2014/main" id="{8A486CC1-868B-DE2A-AA94-A7A9D4B3F2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5322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04EF1-7474-EDB7-ECA5-EAC8E886D9BE}"/>
              </a:ext>
            </a:extLst>
          </p:cNvPr>
          <p:cNvSpPr>
            <a:spLocks noGrp="1"/>
          </p:cNvSpPr>
          <p:nvPr>
            <p:ph type="title"/>
          </p:nvPr>
        </p:nvSpPr>
        <p:spPr/>
        <p:txBody>
          <a:bodyPr/>
          <a:lstStyle/>
          <a:p>
            <a:r>
              <a:rPr lang="en-US" dirty="0"/>
              <a:t>Molten Salt Thermal Properties Database</a:t>
            </a:r>
          </a:p>
        </p:txBody>
      </p:sp>
      <p:sp>
        <p:nvSpPr>
          <p:cNvPr id="3" name="Content Placeholder 2">
            <a:extLst>
              <a:ext uri="{FF2B5EF4-FFF2-40B4-BE49-F238E27FC236}">
                <a16:creationId xmlns:a16="http://schemas.microsoft.com/office/drawing/2014/main" id="{83D7E986-8C60-EDDB-C810-B9911BDA50B9}"/>
              </a:ext>
            </a:extLst>
          </p:cNvPr>
          <p:cNvSpPr>
            <a:spLocks noGrp="1"/>
          </p:cNvSpPr>
          <p:nvPr>
            <p:ph sz="half" idx="1"/>
          </p:nvPr>
        </p:nvSpPr>
        <p:spPr>
          <a:xfrm>
            <a:off x="609600" y="1968503"/>
            <a:ext cx="5811078" cy="4157663"/>
          </a:xfrm>
        </p:spPr>
        <p:txBody>
          <a:bodyPr/>
          <a:lstStyle/>
          <a:p>
            <a:r>
              <a:rPr lang="en-US" dirty="0"/>
              <a:t>Fundamental thermodynamic salt properties are pivotal in facilitating the development of multiscale and multiphysics reactor models for molten salt reactors</a:t>
            </a:r>
          </a:p>
          <a:p>
            <a:r>
              <a:rPr lang="en-US" dirty="0"/>
              <a:t>The MSTDB is a collection of thermal properties of molten salts relevant to the nuclear industry</a:t>
            </a:r>
          </a:p>
          <a:p>
            <a:r>
              <a:rPr lang="en-US" dirty="0"/>
              <a:t>Currently includes data for: Melting and boiling point, Density, Viscosity, Thermal conductivity, and Heat capacity</a:t>
            </a:r>
          </a:p>
          <a:p>
            <a:r>
              <a:rPr lang="en-US" dirty="0"/>
              <a:t>The current MSTDB-TP contains data for 811 different salt compositions</a:t>
            </a:r>
          </a:p>
          <a:p>
            <a:r>
              <a:rPr lang="en-US" dirty="0"/>
              <a:t>There is also a MSTDB-TC which includes phase diagrams</a:t>
            </a:r>
          </a:p>
        </p:txBody>
      </p:sp>
      <p:sp>
        <p:nvSpPr>
          <p:cNvPr id="5" name="Slide Number Placeholder 4">
            <a:extLst>
              <a:ext uri="{FF2B5EF4-FFF2-40B4-BE49-F238E27FC236}">
                <a16:creationId xmlns:a16="http://schemas.microsoft.com/office/drawing/2014/main" id="{A60447E5-0ABB-F728-6AB7-1C8F921D54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 name="Picture 6">
            <a:extLst>
              <a:ext uri="{FF2B5EF4-FFF2-40B4-BE49-F238E27FC236}">
                <a16:creationId xmlns:a16="http://schemas.microsoft.com/office/drawing/2014/main" id="{BC6E718F-0DA9-94EC-30B7-DE985F78E338}"/>
              </a:ext>
            </a:extLst>
          </p:cNvPr>
          <p:cNvPicPr>
            <a:picLocks noChangeAspect="1"/>
          </p:cNvPicPr>
          <p:nvPr/>
        </p:nvPicPr>
        <p:blipFill>
          <a:blip r:embed="rId2"/>
          <a:stretch>
            <a:fillRect/>
          </a:stretch>
        </p:blipFill>
        <p:spPr>
          <a:xfrm>
            <a:off x="6420678" y="1819156"/>
            <a:ext cx="2520122" cy="3219687"/>
          </a:xfrm>
          <a:prstGeom prst="rect">
            <a:avLst/>
          </a:prstGeom>
        </p:spPr>
      </p:pic>
      <p:pic>
        <p:nvPicPr>
          <p:cNvPr id="8" name="Picture 7">
            <a:extLst>
              <a:ext uri="{FF2B5EF4-FFF2-40B4-BE49-F238E27FC236}">
                <a16:creationId xmlns:a16="http://schemas.microsoft.com/office/drawing/2014/main" id="{931B74CE-7FDB-1A79-EBDE-D66EA2D9F215}"/>
              </a:ext>
            </a:extLst>
          </p:cNvPr>
          <p:cNvPicPr>
            <a:picLocks noChangeAspect="1"/>
          </p:cNvPicPr>
          <p:nvPr/>
        </p:nvPicPr>
        <p:blipFill>
          <a:blip r:embed="rId3"/>
          <a:srcRect l="6135" t="6165" r="9605"/>
          <a:stretch>
            <a:fillRect/>
          </a:stretch>
        </p:blipFill>
        <p:spPr>
          <a:xfrm>
            <a:off x="8871225" y="2759657"/>
            <a:ext cx="3224107" cy="2872409"/>
          </a:xfrm>
          <a:prstGeom prst="rect">
            <a:avLst/>
          </a:prstGeom>
        </p:spPr>
      </p:pic>
      <p:pic>
        <p:nvPicPr>
          <p:cNvPr id="9" name="Picture 8">
            <a:extLst>
              <a:ext uri="{FF2B5EF4-FFF2-40B4-BE49-F238E27FC236}">
                <a16:creationId xmlns:a16="http://schemas.microsoft.com/office/drawing/2014/main" id="{0C41F1E3-4715-5156-40AB-EA592ABC3561}"/>
              </a:ext>
            </a:extLst>
          </p:cNvPr>
          <p:cNvPicPr>
            <a:picLocks noChangeAspect="1"/>
          </p:cNvPicPr>
          <p:nvPr/>
        </p:nvPicPr>
        <p:blipFill>
          <a:blip r:embed="rId4"/>
          <a:stretch>
            <a:fillRect/>
          </a:stretch>
        </p:blipFill>
        <p:spPr>
          <a:xfrm>
            <a:off x="6420678" y="5208621"/>
            <a:ext cx="2520122" cy="1330294"/>
          </a:xfrm>
          <a:prstGeom prst="rect">
            <a:avLst/>
          </a:prstGeom>
        </p:spPr>
      </p:pic>
    </p:spTree>
    <p:extLst>
      <p:ext uri="{BB962C8B-B14F-4D97-AF65-F5344CB8AC3E}">
        <p14:creationId xmlns:p14="http://schemas.microsoft.com/office/powerpoint/2010/main" val="291131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6974F1F-5F04-F5B3-A86B-8EFFBC5DC849}"/>
              </a:ext>
            </a:extLst>
          </p:cNvPr>
          <p:cNvSpPr txBox="1">
            <a:spLocks/>
          </p:cNvSpPr>
          <p:nvPr/>
        </p:nvSpPr>
        <p:spPr bwMode="auto">
          <a:xfrm>
            <a:off x="6177723" y="1968503"/>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pPr marL="457189" marR="0" lvl="0" indent="-457189" algn="l" defTabSz="609585" rtl="0" eaLnBrk="1" fontAlgn="base" latinLnBrk="0" hangingPunct="1">
              <a:lnSpc>
                <a:spcPct val="100000"/>
              </a:lnSpc>
              <a:spcBef>
                <a:spcPct val="20000"/>
              </a:spcBef>
              <a:spcAft>
                <a:spcPct val="0"/>
              </a:spcAft>
              <a:buClrTx/>
              <a:buSzTx/>
              <a:buFont typeface="Arial" charset="0"/>
              <a:buChar char="•"/>
              <a:tabLst/>
              <a:defRPr/>
            </a:pPr>
            <a:r>
              <a:rPr kumimoji="0" lang="en-US" sz="2000" b="0" i="0" u="none" strike="noStrike" kern="1200" cap="none" spc="0" normalizeH="0" baseline="0" noProof="0" dirty="0">
                <a:ln>
                  <a:noFill/>
                </a:ln>
                <a:solidFill>
                  <a:prstClr val="black"/>
                </a:solidFill>
                <a:effectLst/>
                <a:uLnTx/>
                <a:uFillTx/>
                <a:latin typeface="Arial"/>
                <a:ea typeface="ＭＳ Ｐゴシック" charset="0"/>
                <a:cs typeface="Arial"/>
              </a:rPr>
              <a:t>The RK expansion can account for deviation from ideal mixing with the addition of an excess term</a:t>
            </a:r>
          </a:p>
        </p:txBody>
      </p:sp>
      <p:sp>
        <p:nvSpPr>
          <p:cNvPr id="2" name="Title 1">
            <a:extLst>
              <a:ext uri="{FF2B5EF4-FFF2-40B4-BE49-F238E27FC236}">
                <a16:creationId xmlns:a16="http://schemas.microsoft.com/office/drawing/2014/main" id="{EFC8BA78-2D2A-D9CC-2AEE-43E28BBF7FBF}"/>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CB89110-826B-7FB0-CC64-CDE0B36AF47F}"/>
              </a:ext>
            </a:extLst>
          </p:cNvPr>
          <p:cNvSpPr>
            <a:spLocks noGrp="1"/>
          </p:cNvSpPr>
          <p:nvPr>
            <p:ph sz="half" idx="1"/>
          </p:nvPr>
        </p:nvSpPr>
        <p:spPr/>
        <p:txBody>
          <a:bodyPr/>
          <a:lstStyle/>
          <a:p>
            <a:r>
              <a:rPr lang="en-US" dirty="0"/>
              <a:t>One way to increase the thermophysical understanding of these salt systems is by using estimation techniques</a:t>
            </a:r>
          </a:p>
          <a:p>
            <a:r>
              <a:rPr lang="en-US" dirty="0"/>
              <a:t>One method to quantify the pseudo-binary system interaction as it relates to salt density (and other properties) is use of a Redlich-Kister (RK) expansion</a:t>
            </a:r>
          </a:p>
          <a:p>
            <a:r>
              <a:rPr lang="en-US" dirty="0"/>
              <a:t>The choice to use an RK formalism for density estimation of molten salts has basis because excess molar volumes, which are directly related to density, have been commonly modeled using RK expansions</a:t>
            </a:r>
          </a:p>
        </p:txBody>
      </p:sp>
      <p:sp>
        <p:nvSpPr>
          <p:cNvPr id="5" name="Slide Number Placeholder 4">
            <a:extLst>
              <a:ext uri="{FF2B5EF4-FFF2-40B4-BE49-F238E27FC236}">
                <a16:creationId xmlns:a16="http://schemas.microsoft.com/office/drawing/2014/main" id="{556373A4-2A01-EF5E-FDEC-F933DD940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D5ACF2E3-2EB1-8121-0D88-FD080BD4E431}"/>
              </a:ext>
            </a:extLst>
          </p:cNvPr>
          <p:cNvPicPr>
            <a:picLocks noChangeAspect="1"/>
          </p:cNvPicPr>
          <p:nvPr/>
        </p:nvPicPr>
        <p:blipFill>
          <a:blip r:embed="rId2"/>
          <a:stretch>
            <a:fillRect/>
          </a:stretch>
        </p:blipFill>
        <p:spPr>
          <a:xfrm>
            <a:off x="7943850" y="3061499"/>
            <a:ext cx="1587500" cy="406400"/>
          </a:xfrm>
          <a:prstGeom prst="rect">
            <a:avLst/>
          </a:prstGeom>
        </p:spPr>
      </p:pic>
      <p:pic>
        <p:nvPicPr>
          <p:cNvPr id="7" name="Picture 6">
            <a:extLst>
              <a:ext uri="{FF2B5EF4-FFF2-40B4-BE49-F238E27FC236}">
                <a16:creationId xmlns:a16="http://schemas.microsoft.com/office/drawing/2014/main" id="{04BAB5A5-38B6-1F48-CE47-D5AD8F401B25}"/>
              </a:ext>
            </a:extLst>
          </p:cNvPr>
          <p:cNvPicPr>
            <a:picLocks noChangeAspect="1"/>
          </p:cNvPicPr>
          <p:nvPr/>
        </p:nvPicPr>
        <p:blipFill>
          <a:blip r:embed="rId3"/>
          <a:stretch>
            <a:fillRect/>
          </a:stretch>
        </p:blipFill>
        <p:spPr>
          <a:xfrm>
            <a:off x="8991600" y="3499646"/>
            <a:ext cx="2667000" cy="749300"/>
          </a:xfrm>
          <a:prstGeom prst="rect">
            <a:avLst/>
          </a:prstGeom>
        </p:spPr>
      </p:pic>
      <p:pic>
        <p:nvPicPr>
          <p:cNvPr id="8" name="Picture 7">
            <a:extLst>
              <a:ext uri="{FF2B5EF4-FFF2-40B4-BE49-F238E27FC236}">
                <a16:creationId xmlns:a16="http://schemas.microsoft.com/office/drawing/2014/main" id="{883DD54B-7AD2-9D86-EBDE-94FA23751DFC}"/>
              </a:ext>
            </a:extLst>
          </p:cNvPr>
          <p:cNvPicPr>
            <a:picLocks noChangeAspect="1"/>
          </p:cNvPicPr>
          <p:nvPr/>
        </p:nvPicPr>
        <p:blipFill>
          <a:blip r:embed="rId4"/>
          <a:stretch>
            <a:fillRect/>
          </a:stretch>
        </p:blipFill>
        <p:spPr>
          <a:xfrm>
            <a:off x="7899400" y="4464092"/>
            <a:ext cx="1676400" cy="520700"/>
          </a:xfrm>
          <a:prstGeom prst="rect">
            <a:avLst/>
          </a:prstGeom>
        </p:spPr>
      </p:pic>
      <p:pic>
        <p:nvPicPr>
          <p:cNvPr id="9" name="Picture 8">
            <a:extLst>
              <a:ext uri="{FF2B5EF4-FFF2-40B4-BE49-F238E27FC236}">
                <a16:creationId xmlns:a16="http://schemas.microsoft.com/office/drawing/2014/main" id="{FFF3B41C-EFF9-7B05-1512-251C27345CA4}"/>
              </a:ext>
            </a:extLst>
          </p:cNvPr>
          <p:cNvPicPr>
            <a:picLocks noChangeAspect="1"/>
          </p:cNvPicPr>
          <p:nvPr/>
        </p:nvPicPr>
        <p:blipFill>
          <a:blip r:embed="rId5"/>
          <a:stretch>
            <a:fillRect/>
          </a:stretch>
        </p:blipFill>
        <p:spPr>
          <a:xfrm>
            <a:off x="6888923" y="5214978"/>
            <a:ext cx="3962400" cy="812800"/>
          </a:xfrm>
          <a:prstGeom prst="rect">
            <a:avLst/>
          </a:prstGeom>
        </p:spPr>
      </p:pic>
      <p:pic>
        <p:nvPicPr>
          <p:cNvPr id="10" name="Picture 9">
            <a:extLst>
              <a:ext uri="{FF2B5EF4-FFF2-40B4-BE49-F238E27FC236}">
                <a16:creationId xmlns:a16="http://schemas.microsoft.com/office/drawing/2014/main" id="{49FC16DB-E36E-C6DA-3428-D117337C53E9}"/>
              </a:ext>
            </a:extLst>
          </p:cNvPr>
          <p:cNvPicPr>
            <a:picLocks noChangeAspect="1"/>
          </p:cNvPicPr>
          <p:nvPr/>
        </p:nvPicPr>
        <p:blipFill>
          <a:blip r:embed="rId6"/>
          <a:stretch>
            <a:fillRect/>
          </a:stretch>
        </p:blipFill>
        <p:spPr>
          <a:xfrm>
            <a:off x="6273800" y="3511314"/>
            <a:ext cx="2463800" cy="787400"/>
          </a:xfrm>
          <a:prstGeom prst="rect">
            <a:avLst/>
          </a:prstGeom>
        </p:spPr>
      </p:pic>
    </p:spTree>
    <p:extLst>
      <p:ext uri="{BB962C8B-B14F-4D97-AF65-F5344CB8AC3E}">
        <p14:creationId xmlns:p14="http://schemas.microsoft.com/office/powerpoint/2010/main" val="115379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8A39-12D5-9997-0931-206615C16ABD}"/>
              </a:ext>
            </a:extLst>
          </p:cNvPr>
          <p:cNvSpPr>
            <a:spLocks noGrp="1"/>
          </p:cNvSpPr>
          <p:nvPr>
            <p:ph type="title"/>
          </p:nvPr>
        </p:nvSpPr>
        <p:spPr/>
        <p:txBody>
          <a:bodyPr/>
          <a:lstStyle/>
          <a:p>
            <a:r>
              <a:rPr lang="en-US" dirty="0"/>
              <a:t>Redlich-Kister expansion</a:t>
            </a:r>
          </a:p>
        </p:txBody>
      </p:sp>
      <p:sp>
        <p:nvSpPr>
          <p:cNvPr id="3" name="Content Placeholder 2">
            <a:extLst>
              <a:ext uri="{FF2B5EF4-FFF2-40B4-BE49-F238E27FC236}">
                <a16:creationId xmlns:a16="http://schemas.microsoft.com/office/drawing/2014/main" id="{6BB1E503-0B77-9943-4DF9-77ACC144EB15}"/>
              </a:ext>
            </a:extLst>
          </p:cNvPr>
          <p:cNvSpPr>
            <a:spLocks noGrp="1"/>
          </p:cNvSpPr>
          <p:nvPr>
            <p:ph idx="1"/>
          </p:nvPr>
        </p:nvSpPr>
        <p:spPr>
          <a:xfrm>
            <a:off x="609600" y="1968500"/>
            <a:ext cx="5084587" cy="4157664"/>
          </a:xfrm>
        </p:spPr>
        <p:txBody>
          <a:bodyPr/>
          <a:lstStyle/>
          <a:p>
            <a:r>
              <a:rPr lang="en-US" dirty="0"/>
              <a:t>The R-K approach shows improved predictions over assuming ideal mixing for both pseudo-binary and pseudo-ternary systems</a:t>
            </a:r>
          </a:p>
          <a:p>
            <a:r>
              <a:rPr lang="en-US" dirty="0"/>
              <a:t>Some systems can still present large errors, and need to be investigated through experiments or modeling to supplement the knowledge base</a:t>
            </a:r>
          </a:p>
          <a:p>
            <a:r>
              <a:rPr lang="en-US" dirty="0"/>
              <a:t>R-K models have also been extended to heat capacity and viscosity, and show similar improvements compared to ideal mixing </a:t>
            </a:r>
          </a:p>
        </p:txBody>
      </p:sp>
      <p:sp>
        <p:nvSpPr>
          <p:cNvPr id="4" name="Slide Number Placeholder 3">
            <a:extLst>
              <a:ext uri="{FF2B5EF4-FFF2-40B4-BE49-F238E27FC236}">
                <a16:creationId xmlns:a16="http://schemas.microsoft.com/office/drawing/2014/main" id="{2BC4D052-992F-4D2C-990C-D1A1B6451A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C082969-1708-8439-6D8A-6B6664BEB211}"/>
              </a:ext>
            </a:extLst>
          </p:cNvPr>
          <p:cNvPicPr>
            <a:picLocks noChangeAspect="1"/>
          </p:cNvPicPr>
          <p:nvPr/>
        </p:nvPicPr>
        <p:blipFill>
          <a:blip r:embed="rId2"/>
          <a:stretch>
            <a:fillRect/>
          </a:stretch>
        </p:blipFill>
        <p:spPr>
          <a:xfrm>
            <a:off x="6094597" y="1679714"/>
            <a:ext cx="5951780" cy="1830172"/>
          </a:xfrm>
          <a:prstGeom prst="rect">
            <a:avLst/>
          </a:prstGeom>
        </p:spPr>
      </p:pic>
      <p:pic>
        <p:nvPicPr>
          <p:cNvPr id="6" name="Picture 5">
            <a:extLst>
              <a:ext uri="{FF2B5EF4-FFF2-40B4-BE49-F238E27FC236}">
                <a16:creationId xmlns:a16="http://schemas.microsoft.com/office/drawing/2014/main" id="{A18A8938-6677-1837-22EC-4842EA01CBB9}"/>
              </a:ext>
            </a:extLst>
          </p:cNvPr>
          <p:cNvPicPr>
            <a:picLocks noChangeAspect="1"/>
          </p:cNvPicPr>
          <p:nvPr/>
        </p:nvPicPr>
        <p:blipFill>
          <a:blip r:embed="rId3"/>
          <a:stretch>
            <a:fillRect/>
          </a:stretch>
        </p:blipFill>
        <p:spPr>
          <a:xfrm>
            <a:off x="6889642" y="3606762"/>
            <a:ext cx="4182549" cy="3001991"/>
          </a:xfrm>
          <a:prstGeom prst="rect">
            <a:avLst/>
          </a:prstGeom>
        </p:spPr>
      </p:pic>
      <p:sp>
        <p:nvSpPr>
          <p:cNvPr id="8" name="TextBox 7">
            <a:extLst>
              <a:ext uri="{FF2B5EF4-FFF2-40B4-BE49-F238E27FC236}">
                <a16:creationId xmlns:a16="http://schemas.microsoft.com/office/drawing/2014/main" id="{01884CE8-E57B-3D24-A865-3C5AD8DDA7E5}"/>
              </a:ext>
            </a:extLst>
          </p:cNvPr>
          <p:cNvSpPr txBox="1"/>
          <p:nvPr/>
        </p:nvSpPr>
        <p:spPr>
          <a:xfrm>
            <a:off x="7553739" y="5879062"/>
            <a:ext cx="1918252"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Times"/>
                <a:ea typeface="+mn-ea"/>
                <a:cs typeface="+mn-cs"/>
              </a:rPr>
              <a:t>Density of NaF-LiFZrF4</a:t>
            </a:r>
          </a:p>
        </p:txBody>
      </p:sp>
    </p:spTree>
    <p:extLst>
      <p:ext uri="{BB962C8B-B14F-4D97-AF65-F5344CB8AC3E}">
        <p14:creationId xmlns:p14="http://schemas.microsoft.com/office/powerpoint/2010/main" val="90301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94FA3-8437-78AC-49B0-DA340BAA38E5}"/>
              </a:ext>
            </a:extLst>
          </p:cNvPr>
          <p:cNvSpPr>
            <a:spLocks noGrp="1"/>
          </p:cNvSpPr>
          <p:nvPr>
            <p:ph type="title"/>
          </p:nvPr>
        </p:nvSpPr>
        <p:spPr/>
        <p:txBody>
          <a:bodyPr/>
          <a:lstStyle/>
          <a:p>
            <a:r>
              <a:rPr lang="en-US" dirty="0"/>
              <a:t>End of Molten Salts</a:t>
            </a:r>
          </a:p>
        </p:txBody>
      </p:sp>
      <p:sp>
        <p:nvSpPr>
          <p:cNvPr id="3" name="Content Placeholder 2">
            <a:extLst>
              <a:ext uri="{FF2B5EF4-FFF2-40B4-BE49-F238E27FC236}">
                <a16:creationId xmlns:a16="http://schemas.microsoft.com/office/drawing/2014/main" id="{75266A45-77B8-FBC0-4A2C-2882C729F5FB}"/>
              </a:ext>
            </a:extLst>
          </p:cNvPr>
          <p:cNvSpPr>
            <a:spLocks noGrp="1"/>
          </p:cNvSpPr>
          <p:nvPr>
            <p:ph idx="1"/>
          </p:nvPr>
        </p:nvSpPr>
        <p:spPr/>
        <p:txBody>
          <a:bodyPr/>
          <a:lstStyle/>
          <a:p>
            <a:r>
              <a:rPr lang="en-US" dirty="0"/>
              <a:t>Questions?</a:t>
            </a:r>
          </a:p>
        </p:txBody>
      </p:sp>
      <p:sp>
        <p:nvSpPr>
          <p:cNvPr id="4" name="Slide Number Placeholder 3">
            <a:extLst>
              <a:ext uri="{FF2B5EF4-FFF2-40B4-BE49-F238E27FC236}">
                <a16:creationId xmlns:a16="http://schemas.microsoft.com/office/drawing/2014/main" id="{6F53B52F-98BA-AE3A-E635-FA0FE0482DB3}"/>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spTree>
    <p:extLst>
      <p:ext uri="{BB962C8B-B14F-4D97-AF65-F5344CB8AC3E}">
        <p14:creationId xmlns:p14="http://schemas.microsoft.com/office/powerpoint/2010/main" val="3440980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Non-oxide ceramic fuels:</a:t>
            </a:r>
            <a:br>
              <a:rPr lang="en-US" dirty="0"/>
            </a:br>
            <a:r>
              <a:rPr lang="en-US" dirty="0"/>
              <a:t>Carbides and nitrides</a:t>
            </a:r>
          </a:p>
        </p:txBody>
      </p:sp>
      <p:sp>
        <p:nvSpPr>
          <p:cNvPr id="3" name="Slide Number Placeholder 2">
            <a:extLst>
              <a:ext uri="{FF2B5EF4-FFF2-40B4-BE49-F238E27FC236}">
                <a16:creationId xmlns:a16="http://schemas.microsoft.com/office/drawing/2014/main" id="{5AF24BB4-C5F0-CF45-96CF-0C1214D571AD}"/>
              </a:ext>
            </a:extLst>
          </p:cNvPr>
          <p:cNvSpPr>
            <a:spLocks noGrp="1"/>
          </p:cNvSpPr>
          <p:nvPr>
            <p:ph type="sldNum" sz="quarter" idx="12"/>
          </p:nvPr>
        </p:nvSpPr>
        <p:spPr/>
        <p:txBody>
          <a:bodyPr/>
          <a:lstStyle/>
          <a:p>
            <a:pPr>
              <a:defRPr/>
            </a:pPr>
            <a:fld id="{0DA6BD0F-ABBC-C14D-BC96-77BE126A748B}" type="slidenum">
              <a:rPr lang="en-US" smtClean="0"/>
              <a:pPr>
                <a:defRPr/>
              </a:pPr>
              <a:t>9</a:t>
            </a:fld>
            <a:endParaRPr lang="en-US"/>
          </a:p>
        </p:txBody>
      </p:sp>
    </p:spTree>
    <p:extLst>
      <p:ext uri="{BB962C8B-B14F-4D97-AF65-F5344CB8AC3E}">
        <p14:creationId xmlns:p14="http://schemas.microsoft.com/office/powerpoint/2010/main" val="406366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3667-D7F3-C040-9ACE-7257404B6EED}"/>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77B3B284-5863-EF40-8BE8-7546A06A329B}"/>
              </a:ext>
            </a:extLst>
          </p:cNvPr>
          <p:cNvSpPr>
            <a:spLocks noGrp="1"/>
          </p:cNvSpPr>
          <p:nvPr>
            <p:ph sz="half" idx="1"/>
          </p:nvPr>
        </p:nvSpPr>
        <p:spPr/>
        <p:txBody>
          <a:bodyPr/>
          <a:lstStyle/>
          <a:p>
            <a:r>
              <a:rPr lang="en-US" sz="2200" dirty="0"/>
              <a:t>Possible fuel compositions with higher fissile atom density are non-oxide ceramics, for example, uranium–plutonium-mixed carbide or nitride</a:t>
            </a:r>
          </a:p>
          <a:p>
            <a:r>
              <a:rPr lang="en-US" sz="2200" dirty="0"/>
              <a:t>These fuels have higher thermal conductivity, high fissile heavy-atom density, and a high melting point compared to metallic fuel</a:t>
            </a:r>
          </a:p>
          <a:p>
            <a:r>
              <a:rPr lang="en-US" sz="2200" dirty="0"/>
              <a:t>The higher thermal conductivity of carbide fuel and high melting point makes carbide fuel suitable for operation at high power</a:t>
            </a:r>
          </a:p>
          <a:p>
            <a:endParaRPr lang="en-US" sz="2200" dirty="0"/>
          </a:p>
        </p:txBody>
      </p:sp>
      <p:pic>
        <p:nvPicPr>
          <p:cNvPr id="5" name="Content Placeholder 4">
            <a:extLst>
              <a:ext uri="{FF2B5EF4-FFF2-40B4-BE49-F238E27FC236}">
                <a16:creationId xmlns:a16="http://schemas.microsoft.com/office/drawing/2014/main" id="{BB56616C-BF45-FA4A-9C7F-93C80D42975F}"/>
              </a:ext>
            </a:extLst>
          </p:cNvPr>
          <p:cNvPicPr>
            <a:picLocks noGrp="1" noChangeAspect="1"/>
          </p:cNvPicPr>
          <p:nvPr>
            <p:ph sz="half" idx="2"/>
          </p:nvPr>
        </p:nvPicPr>
        <p:blipFill>
          <a:blip r:embed="rId2"/>
          <a:stretch>
            <a:fillRect/>
          </a:stretch>
        </p:blipFill>
        <p:spPr>
          <a:xfrm>
            <a:off x="6270103" y="1968500"/>
            <a:ext cx="5239794" cy="4157663"/>
          </a:xfrm>
          <a:prstGeom prst="rect">
            <a:avLst/>
          </a:prstGeom>
        </p:spPr>
      </p:pic>
      <p:sp>
        <p:nvSpPr>
          <p:cNvPr id="6" name="Slide Number Placeholder 5">
            <a:extLst>
              <a:ext uri="{FF2B5EF4-FFF2-40B4-BE49-F238E27FC236}">
                <a16:creationId xmlns:a16="http://schemas.microsoft.com/office/drawing/2014/main" id="{5F2E4374-5441-0444-8A37-078B5B6F7E68}"/>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167121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1C43-9B9D-B349-B9F3-F022D59E5819}"/>
              </a:ext>
            </a:extLst>
          </p:cNvPr>
          <p:cNvSpPr>
            <a:spLocks noGrp="1"/>
          </p:cNvSpPr>
          <p:nvPr>
            <p:ph type="title"/>
          </p:nvPr>
        </p:nvSpPr>
        <p:spPr/>
        <p:txBody>
          <a:bodyPr/>
          <a:lstStyle/>
          <a:p>
            <a:r>
              <a:rPr lang="en-US" dirty="0"/>
              <a:t>Why Carbides?</a:t>
            </a:r>
          </a:p>
        </p:txBody>
      </p:sp>
      <p:sp>
        <p:nvSpPr>
          <p:cNvPr id="3" name="Content Placeholder 2">
            <a:extLst>
              <a:ext uri="{FF2B5EF4-FFF2-40B4-BE49-F238E27FC236}">
                <a16:creationId xmlns:a16="http://schemas.microsoft.com/office/drawing/2014/main" id="{9120415F-8417-444E-8975-5B73728626B9}"/>
              </a:ext>
            </a:extLst>
          </p:cNvPr>
          <p:cNvSpPr>
            <a:spLocks noGrp="1"/>
          </p:cNvSpPr>
          <p:nvPr>
            <p:ph sz="half" idx="1"/>
          </p:nvPr>
        </p:nvSpPr>
        <p:spPr/>
        <p:txBody>
          <a:bodyPr/>
          <a:lstStyle/>
          <a:p>
            <a:r>
              <a:rPr lang="en-US" sz="2200" dirty="0"/>
              <a:t>The more efficient heat transfer also allows for the possibility of large diameter fuel pins, with more fissile material per pin, and more power generation</a:t>
            </a:r>
          </a:p>
          <a:p>
            <a:r>
              <a:rPr lang="en-US" sz="2200" dirty="0"/>
              <a:t>High-specific-power operation permits fewer pins, compared to oxide, and a more compact core, which can reduce plant costs</a:t>
            </a:r>
          </a:p>
          <a:p>
            <a:r>
              <a:rPr lang="en-US" sz="2200" dirty="0"/>
              <a:t>Carbide fuel has a breeding ratio of at least 1.30, a doubling time of 15 years or less, and a burnup limit of more than 15 at.%</a:t>
            </a:r>
          </a:p>
          <a:p>
            <a:endParaRPr lang="en-US" sz="2200" dirty="0"/>
          </a:p>
        </p:txBody>
      </p:sp>
      <p:sp>
        <p:nvSpPr>
          <p:cNvPr id="4" name="Content Placeholder 3">
            <a:extLst>
              <a:ext uri="{FF2B5EF4-FFF2-40B4-BE49-F238E27FC236}">
                <a16:creationId xmlns:a16="http://schemas.microsoft.com/office/drawing/2014/main" id="{6A3C5400-516A-5A49-8D03-57F249E204BE}"/>
              </a:ext>
            </a:extLst>
          </p:cNvPr>
          <p:cNvSpPr>
            <a:spLocks noGrp="1"/>
          </p:cNvSpPr>
          <p:nvPr>
            <p:ph sz="half" idx="2"/>
          </p:nvPr>
        </p:nvSpPr>
        <p:spPr/>
        <p:txBody>
          <a:bodyPr/>
          <a:lstStyle/>
          <a:p>
            <a:r>
              <a:rPr lang="en-US" sz="2200" dirty="0"/>
              <a:t>A large amount of development work on carbide and nitride fuels was performed from 1960 to 1970, and more than 5000 advanced fuel pins have been fabricated and irradiated</a:t>
            </a:r>
          </a:p>
          <a:p>
            <a:r>
              <a:rPr lang="en-US" sz="2200" dirty="0"/>
              <a:t>The practical difficulty of fabrication of carbide fuel hampered carbide development</a:t>
            </a:r>
          </a:p>
          <a:p>
            <a:r>
              <a:rPr lang="en-US" sz="2200" dirty="0"/>
              <a:t>The high-purity inert cover gas required for fuel fabrication was expensive and maintenance of C/M ratio was difficult</a:t>
            </a:r>
          </a:p>
          <a:p>
            <a:endParaRPr lang="en-US" sz="2200" dirty="0"/>
          </a:p>
          <a:p>
            <a:endParaRPr lang="en-US" sz="2200" dirty="0"/>
          </a:p>
        </p:txBody>
      </p:sp>
      <p:sp>
        <p:nvSpPr>
          <p:cNvPr id="5" name="Slide Number Placeholder 4">
            <a:extLst>
              <a:ext uri="{FF2B5EF4-FFF2-40B4-BE49-F238E27FC236}">
                <a16:creationId xmlns:a16="http://schemas.microsoft.com/office/drawing/2014/main" id="{16A94781-3047-BF4E-96EB-456108115511}"/>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287255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Carbide Fuels: Reactor Applications</a:t>
            </a:r>
          </a:p>
        </p:txBody>
      </p:sp>
      <p:sp>
        <p:nvSpPr>
          <p:cNvPr id="3" name="Content Placeholder 2"/>
          <p:cNvSpPr>
            <a:spLocks noGrp="1"/>
          </p:cNvSpPr>
          <p:nvPr>
            <p:ph sz="half" idx="1"/>
          </p:nvPr>
        </p:nvSpPr>
        <p:spPr/>
        <p:txBody>
          <a:bodyPr wrap="square"/>
          <a:lstStyle/>
          <a:p>
            <a:pPr>
              <a:lnSpc>
                <a:spcPct val="103000"/>
              </a:lnSpc>
              <a:spcBef>
                <a:spcPts val="0"/>
              </a:spcBef>
              <a:spcAft>
                <a:spcPts val="0"/>
              </a:spcAft>
            </a:pPr>
            <a:r>
              <a:rPr sz="2200" b="1" dirty="0">
                <a:latin typeface="Arial"/>
              </a:rPr>
              <a:t>Sodium-cooled fast reactors (SFRs): </a:t>
            </a:r>
            <a:r>
              <a:rPr sz="2200" dirty="0">
                <a:latin typeface="Arial"/>
              </a:rPr>
              <a:t>(</a:t>
            </a:r>
            <a:r>
              <a:rPr sz="2200" dirty="0" err="1">
                <a:latin typeface="Arial"/>
              </a:rPr>
              <a:t>U,Pu</a:t>
            </a:r>
            <a:r>
              <a:rPr sz="2200" dirty="0">
                <a:latin typeface="Arial"/>
              </a:rPr>
              <a:t>)C demonstrated in India’s FBTR; newer PFBR uses MOX.</a:t>
            </a:r>
          </a:p>
          <a:p>
            <a:pPr>
              <a:lnSpc>
                <a:spcPct val="103000"/>
              </a:lnSpc>
              <a:spcBef>
                <a:spcPts val="0"/>
              </a:spcBef>
              <a:spcAft>
                <a:spcPts val="0"/>
              </a:spcAft>
            </a:pPr>
            <a:r>
              <a:rPr sz="2200" b="1" dirty="0">
                <a:latin typeface="Arial"/>
              </a:rPr>
              <a:t>Gas-cooled fast reactors (GFRs): </a:t>
            </a:r>
            <a:r>
              <a:rPr sz="2200" dirty="0">
                <a:latin typeface="Arial"/>
              </a:rPr>
              <a:t>UC proposed for General Atomics EM² (</a:t>
            </a:r>
            <a:r>
              <a:rPr sz="2200" dirty="0" err="1">
                <a:latin typeface="Arial"/>
              </a:rPr>
              <a:t>SiC</a:t>
            </a:r>
            <a:r>
              <a:rPr sz="2200" dirty="0">
                <a:latin typeface="Arial"/>
              </a:rPr>
              <a:t>-clad fuel; conceptual design).</a:t>
            </a:r>
            <a:endParaRPr lang="en-US" sz="2200" dirty="0">
              <a:latin typeface="Arial"/>
            </a:endParaRPr>
          </a:p>
          <a:p>
            <a:pPr>
              <a:lnSpc>
                <a:spcPct val="103000"/>
              </a:lnSpc>
              <a:spcBef>
                <a:spcPts val="0"/>
              </a:spcBef>
              <a:spcAft>
                <a:spcPts val="0"/>
              </a:spcAft>
            </a:pPr>
            <a:r>
              <a:rPr lang="en-US" sz="2200" b="1" dirty="0"/>
              <a:t>High-temperature gas reactors (HTGRs): </a:t>
            </a:r>
            <a:r>
              <a:rPr lang="en-US" sz="2200" dirty="0"/>
              <a:t>UCO TRISO in X-energy Xe-100; licensing and fuel fabrication underway.</a:t>
            </a:r>
          </a:p>
          <a:p>
            <a:pPr>
              <a:lnSpc>
                <a:spcPct val="103000"/>
              </a:lnSpc>
              <a:spcBef>
                <a:spcPts val="0"/>
              </a:spcBef>
              <a:spcAft>
                <a:spcPts val="0"/>
              </a:spcAft>
            </a:pPr>
            <a:endParaRPr sz="2200" dirty="0">
              <a:latin typeface="Arial"/>
            </a:endParaRPr>
          </a:p>
        </p:txBody>
      </p:sp>
      <p:sp>
        <p:nvSpPr>
          <p:cNvPr id="4" name="Content Placeholder 3"/>
          <p:cNvSpPr>
            <a:spLocks noGrp="1"/>
          </p:cNvSpPr>
          <p:nvPr>
            <p:ph sz="half" idx="2"/>
          </p:nvPr>
        </p:nvSpPr>
        <p:spPr/>
        <p:txBody>
          <a:bodyPr wrap="square"/>
          <a:lstStyle/>
          <a:p>
            <a:pPr>
              <a:lnSpc>
                <a:spcPct val="103000"/>
              </a:lnSpc>
              <a:spcBef>
                <a:spcPts val="0"/>
              </a:spcBef>
              <a:spcAft>
                <a:spcPts val="0"/>
              </a:spcAft>
            </a:pPr>
            <a:r>
              <a:rPr sz="2200" b="1" dirty="0">
                <a:latin typeface="Arial"/>
              </a:rPr>
              <a:t>Nuclear thermal propulsion: </a:t>
            </a:r>
            <a:r>
              <a:rPr sz="2200" dirty="0">
                <a:latin typeface="Arial"/>
              </a:rPr>
              <a:t>(</a:t>
            </a:r>
            <a:r>
              <a:rPr sz="2200" dirty="0" err="1">
                <a:latin typeface="Arial"/>
              </a:rPr>
              <a:t>U,Zr,Nb</a:t>
            </a:r>
            <a:r>
              <a:rPr sz="2200" dirty="0">
                <a:latin typeface="Arial"/>
              </a:rPr>
              <a:t>)C under study for high-temperature hydrogen-cooled rocket reactors.</a:t>
            </a:r>
            <a:endParaRPr lang="en-US" sz="2200" dirty="0">
              <a:latin typeface="Arial"/>
            </a:endParaRPr>
          </a:p>
          <a:p>
            <a:pPr marL="0" indent="0">
              <a:lnSpc>
                <a:spcPct val="103000"/>
              </a:lnSpc>
              <a:spcBef>
                <a:spcPts val="0"/>
              </a:spcBef>
              <a:spcAft>
                <a:spcPts val="0"/>
              </a:spcAft>
              <a:buNone/>
            </a:pPr>
            <a:endParaRPr lang="en-US" sz="2200" dirty="0">
              <a:latin typeface="Arial"/>
            </a:endParaRPr>
          </a:p>
          <a:p>
            <a:pPr>
              <a:spcBef>
                <a:spcPts val="0"/>
              </a:spcBef>
              <a:spcAft>
                <a:spcPts val="0"/>
              </a:spcAft>
            </a:pPr>
            <a:r>
              <a:rPr lang="en-US" sz="2200" dirty="0"/>
              <a:t>Carbide fuel cannot be used in LWR because of its incompatibility with the coolant</a:t>
            </a:r>
          </a:p>
          <a:p>
            <a:pPr>
              <a:spcBef>
                <a:spcPts val="0"/>
              </a:spcBef>
              <a:spcAft>
                <a:spcPts val="0"/>
              </a:spcAft>
            </a:pPr>
            <a:r>
              <a:rPr lang="en-US" sz="2200" dirty="0"/>
              <a:t>However, it can be safely used with liquid metal (Na or Pb) or gas (CO2 or He) coolants in Gen-IV reactors</a:t>
            </a:r>
          </a:p>
          <a:p>
            <a:pPr>
              <a:lnSpc>
                <a:spcPct val="103000"/>
              </a:lnSpc>
              <a:spcBef>
                <a:spcPts val="0"/>
              </a:spcBef>
              <a:spcAft>
                <a:spcPts val="0"/>
              </a:spcAft>
            </a:pPr>
            <a:endParaRPr sz="2200" dirty="0">
              <a:latin typeface="Arial"/>
            </a:endParaRPr>
          </a:p>
        </p:txBody>
      </p:sp>
      <p:sp>
        <p:nvSpPr>
          <p:cNvPr id="6" name="TextBox 5"/>
          <p:cNvSpPr txBox="1"/>
          <p:nvPr/>
        </p:nvSpPr>
        <p:spPr>
          <a:xfrm>
            <a:off x="785368" y="6382512"/>
            <a:ext cx="9966960" cy="210312"/>
          </a:xfrm>
          <a:prstGeom prst="rect">
            <a:avLst/>
          </a:prstGeom>
          <a:noFill/>
        </p:spPr>
        <p:txBody>
          <a:bodyPr wrap="none">
            <a:spAutoFit/>
          </a:bodyPr>
          <a:lstStyle/>
          <a:p>
            <a:r>
              <a:rPr sz="900" dirty="0">
                <a:solidFill>
                  <a:srgbClr val="5F5F5F"/>
                </a:solidFill>
                <a:latin typeface="Arial"/>
                <a:hlinkClick r:id="rId2"/>
              </a:rPr>
              <a:t>Sources: IAEA (FBTR)</a:t>
            </a:r>
            <a:r>
              <a:rPr sz="900" dirty="0">
                <a:solidFill>
                  <a:srgbClr val="5F5F5F"/>
                </a:solidFill>
                <a:latin typeface="Arial"/>
                <a:hlinkClick r:id="rId3"/>
              </a:rPr>
              <a:t>   |   DOE (EM²)</a:t>
            </a:r>
            <a:r>
              <a:rPr sz="900" dirty="0">
                <a:solidFill>
                  <a:srgbClr val="5F5F5F"/>
                </a:solidFill>
                <a:latin typeface="Arial"/>
                <a:hlinkClick r:id="rId4"/>
              </a:rPr>
              <a:t>   |   DOE (Xe-100)</a:t>
            </a:r>
            <a:r>
              <a:rPr sz="900" dirty="0">
                <a:solidFill>
                  <a:srgbClr val="5F5F5F"/>
                </a:solidFill>
                <a:latin typeface="Arial"/>
                <a:hlinkClick r:id="rId5"/>
              </a:rPr>
              <a:t>   |   NASA (NTP)</a:t>
            </a:r>
          </a:p>
        </p:txBody>
      </p:sp>
      <p:sp>
        <p:nvSpPr>
          <p:cNvPr id="7" name="TextBox 6"/>
          <p:cNvSpPr txBox="1"/>
          <p:nvPr/>
        </p:nvSpPr>
        <p:spPr>
          <a:xfrm>
            <a:off x="11237976" y="6400800"/>
            <a:ext cx="283464" cy="173736"/>
          </a:xfrm>
          <a:prstGeom prst="rect">
            <a:avLst/>
          </a:prstGeom>
          <a:noFill/>
        </p:spPr>
        <p:txBody>
          <a:bodyPr wrap="none">
            <a:spAutoFit/>
          </a:bodyPr>
          <a:lstStyle/>
          <a:p>
            <a:pPr algn="r"/>
            <a:r>
              <a:rPr sz="1100">
                <a:solidFill>
                  <a:srgbClr val="969696"/>
                </a:solidFill>
                <a:latin typeface="Arial"/>
              </a:rPr>
              <a:t>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6AD-4071-E144-BFEA-DE21A18868C0}"/>
              </a:ext>
            </a:extLst>
          </p:cNvPr>
          <p:cNvSpPr>
            <a:spLocks noGrp="1"/>
          </p:cNvSpPr>
          <p:nvPr>
            <p:ph type="title"/>
          </p:nvPr>
        </p:nvSpPr>
        <p:spPr/>
        <p:txBody>
          <a:bodyPr/>
          <a:lstStyle/>
          <a:p>
            <a:r>
              <a:rPr lang="en-US" dirty="0"/>
              <a:t>Fast Breeder Test Reactor (FBTR)</a:t>
            </a:r>
          </a:p>
        </p:txBody>
      </p:sp>
      <p:sp>
        <p:nvSpPr>
          <p:cNvPr id="3" name="Content Placeholder 2">
            <a:extLst>
              <a:ext uri="{FF2B5EF4-FFF2-40B4-BE49-F238E27FC236}">
                <a16:creationId xmlns:a16="http://schemas.microsoft.com/office/drawing/2014/main" id="{9367DB9B-7D3E-8440-8B4D-45B193FE2A95}"/>
              </a:ext>
            </a:extLst>
          </p:cNvPr>
          <p:cNvSpPr>
            <a:spLocks noGrp="1"/>
          </p:cNvSpPr>
          <p:nvPr>
            <p:ph sz="half" idx="1"/>
          </p:nvPr>
        </p:nvSpPr>
        <p:spPr>
          <a:xfrm>
            <a:off x="548640" y="1874520"/>
            <a:ext cx="6207760" cy="4343400"/>
          </a:xfrm>
        </p:spPr>
        <p:txBody>
          <a:bodyPr/>
          <a:lstStyle/>
          <a:p>
            <a:r>
              <a:rPr lang="en-US" sz="1800" dirty="0"/>
              <a:t>40 MWt (13.2 MWe) Na-cooled test reactor, Kalpakkam; critical October 1985</a:t>
            </a:r>
          </a:p>
          <a:p>
            <a:r>
              <a:rPr lang="en-US" sz="1800" dirty="0" err="1"/>
              <a:t>Rapsodie</a:t>
            </a:r>
            <a:r>
              <a:rPr lang="en-US" sz="1800" dirty="0"/>
              <a:t>-based design (loop-type SFR); Pu-rich carbide fuel</a:t>
            </a:r>
          </a:p>
          <a:p>
            <a:r>
              <a:rPr lang="en-US" sz="1800" b="1" dirty="0"/>
              <a:t>Only reactor to run on a full mixed-carbide driver core</a:t>
            </a:r>
          </a:p>
          <a:p>
            <a:r>
              <a:rPr lang="en-US" sz="1800" dirty="0"/>
              <a:t>He-bonded pins, cold-worked SS316 clad</a:t>
            </a:r>
          </a:p>
          <a:p>
            <a:pPr lvl="1"/>
            <a:r>
              <a:rPr lang="en-US" sz="1600" dirty="0"/>
              <a:t>Mark I: (U</a:t>
            </a:r>
            <a:r>
              <a:rPr lang="en-US" sz="1600" baseline="-25000" dirty="0"/>
              <a:t>0.3</a:t>
            </a:r>
            <a:r>
              <a:rPr lang="en-US" sz="1600" dirty="0"/>
              <a:t>Pu</a:t>
            </a:r>
            <a:r>
              <a:rPr lang="en-US" sz="1600" baseline="-25000" dirty="0"/>
              <a:t>0.7</a:t>
            </a:r>
            <a:r>
              <a:rPr lang="en-US" sz="1600" dirty="0"/>
              <a:t>)C; Mark II: (U</a:t>
            </a:r>
            <a:r>
              <a:rPr lang="en-US" sz="1600" baseline="-25000" dirty="0"/>
              <a:t>0.45</a:t>
            </a:r>
            <a:r>
              <a:rPr lang="en-US" sz="1600" dirty="0"/>
              <a:t>Pu</a:t>
            </a:r>
            <a:r>
              <a:rPr lang="en-US" sz="1600" baseline="-25000" dirty="0"/>
              <a:t>0.55</a:t>
            </a:r>
            <a:r>
              <a:rPr lang="en-US" sz="1600" dirty="0"/>
              <a:t>)C</a:t>
            </a:r>
          </a:p>
          <a:p>
            <a:r>
              <a:rPr lang="en-US" sz="1800" dirty="0"/>
              <a:t>Mark I: &gt;2000 pins at 155 GWd/t; lead subassembly at 165 GWd/t (~16.5% FIMA)</a:t>
            </a:r>
          </a:p>
          <a:p>
            <a:pPr lvl="1"/>
            <a:r>
              <a:rPr lang="en-US" sz="1600" dirty="0"/>
              <a:t>155 GWd/t limit: clad ductility, wrapper dilation, porosity exhaustion</a:t>
            </a:r>
          </a:p>
          <a:p>
            <a:pPr lvl="1"/>
            <a:r>
              <a:rPr lang="en-US" sz="1600" dirty="0"/>
              <a:t>Only one pin failure, judged to be random</a:t>
            </a:r>
          </a:p>
          <a:p>
            <a:r>
              <a:rPr lang="en-US" sz="1800" dirty="0"/>
              <a:t>40 MWt since 2022</a:t>
            </a:r>
          </a:p>
          <a:p>
            <a:r>
              <a:rPr lang="en-US" sz="1800" dirty="0"/>
              <a:t>PFBR (500 MWe, critical April 2026) uses MOX</a:t>
            </a:r>
          </a:p>
        </p:txBody>
      </p:sp>
      <p:sp>
        <p:nvSpPr>
          <p:cNvPr id="5" name="Slide Number Placeholder 4">
            <a:extLst>
              <a:ext uri="{FF2B5EF4-FFF2-40B4-BE49-F238E27FC236}">
                <a16:creationId xmlns:a16="http://schemas.microsoft.com/office/drawing/2014/main" id="{6C015CED-94EA-284E-BF63-B8181C13C277}"/>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8" name="Picture 7">
            <a:extLst>
              <a:ext uri="{FF2B5EF4-FFF2-40B4-BE49-F238E27FC236}">
                <a16:creationId xmlns:a16="http://schemas.microsoft.com/office/drawing/2014/main" id="{7D958696-7CA8-0249-88C1-91F75801F6FF}"/>
              </a:ext>
            </a:extLst>
          </p:cNvPr>
          <p:cNvPicPr>
            <a:picLocks noChangeAspect="1"/>
          </p:cNvPicPr>
          <p:nvPr/>
        </p:nvPicPr>
        <p:blipFill>
          <a:blip r:embed="rId2"/>
          <a:stretch>
            <a:fillRect/>
          </a:stretch>
        </p:blipFill>
        <p:spPr>
          <a:xfrm rot="5400000">
            <a:off x="8900504" y="3344625"/>
            <a:ext cx="1556558" cy="4076700"/>
          </a:xfrm>
          <a:prstGeom prst="rect">
            <a:avLst/>
          </a:prstGeom>
        </p:spPr>
      </p:pic>
      <p:pic>
        <p:nvPicPr>
          <p:cNvPr id="9" name="Picture 8" descr="Fast Breeder Test Reactor - Wikipedia">
            <a:extLst>
              <a:ext uri="{FF2B5EF4-FFF2-40B4-BE49-F238E27FC236}">
                <a16:creationId xmlns:a16="http://schemas.microsoft.com/office/drawing/2014/main" id="{3759C711-7246-6823-8F49-DF6D26655A60}"/>
              </a:ext>
            </a:extLst>
          </p:cNvPr>
          <p:cNvPicPr>
            <a:picLocks noChangeAspect="1"/>
          </p:cNvPicPr>
          <p:nvPr/>
        </p:nvPicPr>
        <p:blipFill>
          <a:blip r:embed="rId3"/>
          <a:stretch>
            <a:fillRect/>
          </a:stretch>
        </p:blipFill>
        <p:spPr>
          <a:xfrm>
            <a:off x="7640433" y="2066048"/>
            <a:ext cx="4339731" cy="2441099"/>
          </a:xfrm>
          <a:prstGeom prst="rect">
            <a:avLst/>
          </a:prstGeom>
        </p:spPr>
      </p:pic>
    </p:spTree>
    <p:extLst>
      <p:ext uri="{BB962C8B-B14F-4D97-AF65-F5344CB8AC3E}">
        <p14:creationId xmlns:p14="http://schemas.microsoft.com/office/powerpoint/2010/main" val="3104214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CE25E-C08D-864C-A111-8FD31D8758D5}"/>
              </a:ext>
            </a:extLst>
          </p:cNvPr>
          <p:cNvSpPr>
            <a:spLocks noGrp="1"/>
          </p:cNvSpPr>
          <p:nvPr>
            <p:ph type="title"/>
          </p:nvPr>
        </p:nvSpPr>
        <p:spPr/>
        <p:txBody>
          <a:bodyPr/>
          <a:lstStyle/>
          <a:p>
            <a:r>
              <a:rPr lang="en-US" dirty="0"/>
              <a:t>US Interest in Carbide Fuels</a:t>
            </a:r>
          </a:p>
        </p:txBody>
      </p:sp>
      <p:sp>
        <p:nvSpPr>
          <p:cNvPr id="3" name="Content Placeholder 2">
            <a:extLst>
              <a:ext uri="{FF2B5EF4-FFF2-40B4-BE49-F238E27FC236}">
                <a16:creationId xmlns:a16="http://schemas.microsoft.com/office/drawing/2014/main" id="{B05D22D5-C79B-564E-B875-7D713E6981FF}"/>
              </a:ext>
            </a:extLst>
          </p:cNvPr>
          <p:cNvSpPr>
            <a:spLocks noGrp="1"/>
          </p:cNvSpPr>
          <p:nvPr>
            <p:ph sz="half" idx="1"/>
          </p:nvPr>
        </p:nvSpPr>
        <p:spPr>
          <a:xfrm>
            <a:off x="609599" y="1853515"/>
            <a:ext cx="5890055" cy="4272652"/>
          </a:xfrm>
        </p:spPr>
        <p:txBody>
          <a:bodyPr/>
          <a:lstStyle/>
          <a:p>
            <a:r>
              <a:rPr lang="en-US" sz="2000" dirty="0"/>
              <a:t>Many laboratories in the world were engaged in studies on the development of carbide fuels based on uranium, plutonium, and thorium</a:t>
            </a:r>
          </a:p>
          <a:p>
            <a:r>
              <a:rPr lang="en-US" sz="2000" dirty="0"/>
              <a:t>After the oil crisis in 1974, a national advanced liquid-metal-cooled FBR fuels development program was initiated that built upon early years of carbide fuel development</a:t>
            </a:r>
          </a:p>
          <a:p>
            <a:r>
              <a:rPr lang="en-US" sz="2000" dirty="0"/>
              <a:t>Both carbide and nitride fuels offer a middle ground for LMFBR performance because of their higher thermal conductivity, fissile-atom density, and chemical compatibility with liquid sodium, and much higher melting point than metallic fuels</a:t>
            </a:r>
          </a:p>
          <a:p>
            <a:endParaRPr lang="en-US" sz="2000" dirty="0"/>
          </a:p>
        </p:txBody>
      </p:sp>
      <p:pic>
        <p:nvPicPr>
          <p:cNvPr id="5" name="Content Placeholder 4">
            <a:extLst>
              <a:ext uri="{FF2B5EF4-FFF2-40B4-BE49-F238E27FC236}">
                <a16:creationId xmlns:a16="http://schemas.microsoft.com/office/drawing/2014/main" id="{34C5B275-8917-7643-A743-A6A4050A95F4}"/>
              </a:ext>
            </a:extLst>
          </p:cNvPr>
          <p:cNvPicPr>
            <a:picLocks noGrp="1" noChangeAspect="1"/>
          </p:cNvPicPr>
          <p:nvPr>
            <p:ph sz="half" idx="2"/>
          </p:nvPr>
        </p:nvPicPr>
        <p:blipFill>
          <a:blip r:embed="rId2"/>
          <a:stretch>
            <a:fillRect/>
          </a:stretch>
        </p:blipFill>
        <p:spPr>
          <a:xfrm>
            <a:off x="6605104" y="3363124"/>
            <a:ext cx="5384800" cy="3052753"/>
          </a:xfrm>
          <a:prstGeom prst="rect">
            <a:avLst/>
          </a:prstGeom>
        </p:spPr>
      </p:pic>
      <p:sp>
        <p:nvSpPr>
          <p:cNvPr id="6" name="Slide Number Placeholder 5">
            <a:extLst>
              <a:ext uri="{FF2B5EF4-FFF2-40B4-BE49-F238E27FC236}">
                <a16:creationId xmlns:a16="http://schemas.microsoft.com/office/drawing/2014/main" id="{A71476E2-4575-6B4B-AB78-2768A20691EE}"/>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4" name="Picture 3">
            <a:extLst>
              <a:ext uri="{FF2B5EF4-FFF2-40B4-BE49-F238E27FC236}">
                <a16:creationId xmlns:a16="http://schemas.microsoft.com/office/drawing/2014/main" id="{79BA0BCC-41FB-4B6B-1EE8-BC607A8A152D}"/>
              </a:ext>
            </a:extLst>
          </p:cNvPr>
          <p:cNvPicPr>
            <a:picLocks noChangeAspect="1"/>
          </p:cNvPicPr>
          <p:nvPr/>
        </p:nvPicPr>
        <p:blipFill>
          <a:blip r:embed="rId3"/>
          <a:stretch>
            <a:fillRect/>
          </a:stretch>
        </p:blipFill>
        <p:spPr>
          <a:xfrm>
            <a:off x="6918247" y="1360673"/>
            <a:ext cx="4758513" cy="2002451"/>
          </a:xfrm>
          <a:prstGeom prst="rect">
            <a:avLst/>
          </a:prstGeom>
        </p:spPr>
      </p:pic>
    </p:spTree>
    <p:extLst>
      <p:ext uri="{BB962C8B-B14F-4D97-AF65-F5344CB8AC3E}">
        <p14:creationId xmlns:p14="http://schemas.microsoft.com/office/powerpoint/2010/main" val="129096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C2F7-ECEA-1C46-B945-9B4A42DFD0E8}"/>
              </a:ext>
            </a:extLst>
          </p:cNvPr>
          <p:cNvSpPr>
            <a:spLocks noGrp="1"/>
          </p:cNvSpPr>
          <p:nvPr>
            <p:ph type="title"/>
          </p:nvPr>
        </p:nvSpPr>
        <p:spPr/>
        <p:txBody>
          <a:bodyPr/>
          <a:lstStyle/>
          <a:p>
            <a:r>
              <a:rPr lang="en-US" dirty="0"/>
              <a:t>Carbide Pin Designs</a:t>
            </a:r>
          </a:p>
        </p:txBody>
      </p:sp>
      <p:sp>
        <p:nvSpPr>
          <p:cNvPr id="3" name="Content Placeholder 2">
            <a:extLst>
              <a:ext uri="{FF2B5EF4-FFF2-40B4-BE49-F238E27FC236}">
                <a16:creationId xmlns:a16="http://schemas.microsoft.com/office/drawing/2014/main" id="{D83C09B7-9821-2E48-817A-5ACA221C60AF}"/>
              </a:ext>
            </a:extLst>
          </p:cNvPr>
          <p:cNvSpPr>
            <a:spLocks noGrp="1"/>
          </p:cNvSpPr>
          <p:nvPr>
            <p:ph sz="half" idx="1"/>
          </p:nvPr>
        </p:nvSpPr>
        <p:spPr/>
        <p:txBody>
          <a:bodyPr/>
          <a:lstStyle/>
          <a:p>
            <a:r>
              <a:rPr lang="en-US" sz="2200" dirty="0"/>
              <a:t>There are two concepts available for the carbide fuel pin depending upon the type of bond between the fuel pellet and the cladding material: He-bonded and Na-bonded carbide fuels</a:t>
            </a:r>
          </a:p>
          <a:p>
            <a:r>
              <a:rPr lang="en-US" sz="2200" dirty="0"/>
              <a:t>The average operating fuel temperature of the He-bonded pin is high because of low thermal conductivity of the He bond compared to the Na bond</a:t>
            </a:r>
          </a:p>
          <a:p>
            <a:r>
              <a:rPr lang="en-US" sz="2200" dirty="0"/>
              <a:t>This design requires a larger fuel–clad gap and an 85%TD pellet density to accommodate the swelling of the fuel</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AC0BD468-0FF3-AF49-A6B5-57D5753C066E}"/>
              </a:ext>
            </a:extLst>
          </p:cNvPr>
          <p:cNvSpPr>
            <a:spLocks noGrp="1"/>
          </p:cNvSpPr>
          <p:nvPr>
            <p:ph sz="half" idx="2"/>
          </p:nvPr>
        </p:nvSpPr>
        <p:spPr/>
        <p:txBody>
          <a:bodyPr/>
          <a:lstStyle/>
          <a:p>
            <a:r>
              <a:rPr lang="en-US" sz="2200" dirty="0"/>
              <a:t>The fission gas release in a He-bonded pin will be higher compared to that from a sodium-bonded pin, due to the higher temperatures</a:t>
            </a:r>
          </a:p>
          <a:p>
            <a:r>
              <a:rPr lang="en-US" sz="2200" dirty="0"/>
              <a:t>Na-bonded carbide fuel pins also require a reduced smear density compared to oxide fuels to account for fuel swelling</a:t>
            </a:r>
          </a:p>
          <a:p>
            <a:r>
              <a:rPr lang="en-US" sz="2200" dirty="0"/>
              <a:t>The purity of the Na bond is very important, requiring strict tolerances on O content</a:t>
            </a:r>
          </a:p>
          <a:p>
            <a:endParaRPr lang="en-US" sz="2200" dirty="0"/>
          </a:p>
          <a:p>
            <a:endParaRPr lang="en-US" sz="2200" dirty="0"/>
          </a:p>
        </p:txBody>
      </p:sp>
      <p:sp>
        <p:nvSpPr>
          <p:cNvPr id="5" name="Slide Number Placeholder 4">
            <a:extLst>
              <a:ext uri="{FF2B5EF4-FFF2-40B4-BE49-F238E27FC236}">
                <a16:creationId xmlns:a16="http://schemas.microsoft.com/office/drawing/2014/main" id="{AFE4DD2B-241E-3F45-A29F-08A759C66858}"/>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83872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6AD-4071-E144-BFEA-DE21A18868C0}"/>
              </a:ext>
            </a:extLst>
          </p:cNvPr>
          <p:cNvSpPr>
            <a:spLocks noGrp="1"/>
          </p:cNvSpPr>
          <p:nvPr>
            <p:ph type="title"/>
          </p:nvPr>
        </p:nvSpPr>
        <p:spPr/>
        <p:txBody>
          <a:bodyPr/>
          <a:lstStyle/>
          <a:p>
            <a:r>
              <a:rPr lang="en-US" dirty="0"/>
              <a:t>Fuel Density Definitions</a:t>
            </a:r>
          </a:p>
        </p:txBody>
      </p:sp>
      <p:sp>
        <p:nvSpPr>
          <p:cNvPr id="3" name="Content Placeholder 2">
            <a:extLst>
              <a:ext uri="{FF2B5EF4-FFF2-40B4-BE49-F238E27FC236}">
                <a16:creationId xmlns:a16="http://schemas.microsoft.com/office/drawing/2014/main" id="{9367DB9B-7D3E-8440-8B4D-45B193FE2A95}"/>
              </a:ext>
            </a:extLst>
          </p:cNvPr>
          <p:cNvSpPr>
            <a:spLocks noGrp="1"/>
          </p:cNvSpPr>
          <p:nvPr>
            <p:ph sz="half" idx="1"/>
          </p:nvPr>
        </p:nvSpPr>
        <p:spPr>
          <a:xfrm>
            <a:off x="548640" y="1920240"/>
            <a:ext cx="5349240" cy="4023360"/>
          </a:xfrm>
        </p:spPr>
        <p:txBody>
          <a:bodyPr/>
          <a:lstStyle/>
          <a:p>
            <a:r>
              <a:rPr lang="en-US" sz="1800" b="1" dirty="0">
                <a:solidFill>
                  <a:srgbClr val="000000"/>
                </a:solidFill>
                <a:latin typeface="Arial"/>
                <a:cs typeface="Arial"/>
              </a:rPr>
              <a:t>Theoretical density (TD): </a:t>
            </a:r>
            <a:r>
              <a:rPr lang="en-US" sz="1800" dirty="0">
                <a:solidFill>
                  <a:srgbClr val="000000"/>
                </a:solidFill>
                <a:latin typeface="Arial"/>
                <a:cs typeface="Arial"/>
              </a:rPr>
              <a:t>density of a perfect, pore-free crystal; a fixed material property</a:t>
            </a:r>
          </a:p>
          <a:p>
            <a:pPr lvl="1"/>
            <a:r>
              <a:rPr lang="en-US" sz="1600" dirty="0">
                <a:solidFill>
                  <a:srgbClr val="000000"/>
                </a:solidFill>
                <a:latin typeface="Arial"/>
                <a:cs typeface="Arial"/>
              </a:rPr>
              <a:t>(U,Pu)N: 14.3 g/cm</a:t>
            </a:r>
            <a:r>
              <a:rPr lang="en-US" sz="1600" baseline="30000" dirty="0">
                <a:solidFill>
                  <a:srgbClr val="000000"/>
                </a:solidFill>
                <a:latin typeface="Arial"/>
                <a:cs typeface="Arial"/>
              </a:rPr>
              <a:t>3</a:t>
            </a:r>
            <a:r>
              <a:rPr lang="en-US" sz="1600" dirty="0">
                <a:solidFill>
                  <a:srgbClr val="000000"/>
                </a:solidFill>
                <a:latin typeface="Arial"/>
                <a:cs typeface="Arial"/>
              </a:rPr>
              <a:t>; (U,Pu)C: 13.6 g/cm</a:t>
            </a:r>
            <a:r>
              <a:rPr lang="en-US" sz="1600" baseline="30000" dirty="0">
                <a:solidFill>
                  <a:srgbClr val="000000"/>
                </a:solidFill>
                <a:latin typeface="Arial"/>
                <a:cs typeface="Arial"/>
              </a:rPr>
              <a:t>3</a:t>
            </a:r>
          </a:p>
          <a:p>
            <a:r>
              <a:rPr lang="en-US" sz="1800" b="1" dirty="0">
                <a:solidFill>
                  <a:srgbClr val="000000"/>
                </a:solidFill>
                <a:latin typeface="Arial"/>
                <a:cs typeface="Arial"/>
              </a:rPr>
              <a:t>Pellet density: </a:t>
            </a:r>
            <a:r>
              <a:rPr lang="en-US" sz="1800" dirty="0">
                <a:solidFill>
                  <a:srgbClr val="000000"/>
                </a:solidFill>
                <a:latin typeface="Arial"/>
                <a:cs typeface="Arial"/>
              </a:rPr>
              <a:t>actual density of the fabricated pellet, as % TD</a:t>
            </a:r>
          </a:p>
          <a:p>
            <a:pPr lvl="1"/>
            <a:r>
              <a:rPr lang="en-US" sz="1600" dirty="0">
                <a:solidFill>
                  <a:srgbClr val="000000"/>
                </a:solidFill>
                <a:latin typeface="Arial"/>
                <a:cs typeface="Arial"/>
              </a:rPr>
              <a:t>Porosity = 100% − pellet %TD</a:t>
            </a:r>
          </a:p>
          <a:p>
            <a:r>
              <a:rPr lang="en-US" sz="1800" b="1" dirty="0">
                <a:solidFill>
                  <a:srgbClr val="000000"/>
                </a:solidFill>
                <a:latin typeface="Arial"/>
                <a:cs typeface="Arial"/>
              </a:rPr>
              <a:t>Smear density (SD): </a:t>
            </a:r>
            <a:r>
              <a:rPr lang="en-US" sz="1800" dirty="0">
                <a:solidFill>
                  <a:srgbClr val="000000"/>
                </a:solidFill>
                <a:latin typeface="Arial"/>
                <a:cs typeface="Arial"/>
              </a:rPr>
              <a:t>fuel mass averaged over the entire clad interior, as % TD</a:t>
            </a:r>
          </a:p>
          <a:p>
            <a:pPr lvl="1"/>
            <a:r>
              <a:rPr lang="en-US" sz="1600" dirty="0">
                <a:solidFill>
                  <a:srgbClr val="000000"/>
                </a:solidFill>
                <a:latin typeface="Arial"/>
                <a:cs typeface="Arial"/>
              </a:rPr>
              <a:t>SD = (pellet %TD) × (r</a:t>
            </a:r>
            <a:r>
              <a:rPr lang="en-US" sz="1600" baseline="-25000" dirty="0">
                <a:solidFill>
                  <a:srgbClr val="000000"/>
                </a:solidFill>
                <a:latin typeface="Arial"/>
                <a:cs typeface="Arial"/>
              </a:rPr>
              <a:t>pellet</a:t>
            </a:r>
            <a:r>
              <a:rPr lang="en-US" sz="1600" dirty="0">
                <a:solidFill>
                  <a:srgbClr val="000000"/>
                </a:solidFill>
                <a:latin typeface="Arial"/>
                <a:cs typeface="Arial"/>
              </a:rPr>
              <a:t> / r</a:t>
            </a:r>
            <a:r>
              <a:rPr lang="en-US" sz="1600" baseline="-25000" dirty="0">
                <a:solidFill>
                  <a:srgbClr val="000000"/>
                </a:solidFill>
                <a:latin typeface="Arial"/>
                <a:cs typeface="Arial"/>
              </a:rPr>
              <a:t>clad,in</a:t>
            </a:r>
            <a:r>
              <a:rPr lang="en-US" sz="1600" dirty="0">
                <a:solidFill>
                  <a:srgbClr val="000000"/>
                </a:solidFill>
                <a:latin typeface="Arial"/>
                <a:cs typeface="Arial"/>
              </a:rPr>
              <a:t>)</a:t>
            </a:r>
            <a:r>
              <a:rPr lang="en-US" sz="1600" baseline="30000" dirty="0">
                <a:solidFill>
                  <a:srgbClr val="000000"/>
                </a:solidFill>
                <a:latin typeface="Arial"/>
                <a:cs typeface="Arial"/>
              </a:rPr>
              <a:t>2</a:t>
            </a:r>
          </a:p>
          <a:p>
            <a:pPr lvl="1"/>
            <a:r>
              <a:rPr lang="en-US" sz="1600" dirty="0">
                <a:solidFill>
                  <a:srgbClr val="000000"/>
                </a:solidFill>
                <a:latin typeface="Arial"/>
                <a:cs typeface="Arial"/>
              </a:rPr>
              <a:t>Pores and gap both accommodate swelling</a:t>
            </a:r>
          </a:p>
          <a:p>
            <a:r>
              <a:rPr lang="en-US" sz="1800" dirty="0">
                <a:solidFill>
                  <a:srgbClr val="000000"/>
                </a:solidFill>
                <a:latin typeface="Arial"/>
                <a:cs typeface="Arial"/>
              </a:rPr>
              <a:t>He-bonded: low pellet density, small gap</a:t>
            </a:r>
          </a:p>
          <a:p>
            <a:r>
              <a:rPr lang="en-US" sz="1800" dirty="0">
                <a:solidFill>
                  <a:srgbClr val="000000"/>
                </a:solidFill>
                <a:latin typeface="Arial"/>
                <a:cs typeface="Arial"/>
              </a:rPr>
              <a:t>Na-bonded: high pellet density, large gap</a:t>
            </a:r>
          </a:p>
          <a:p>
            <a:pPr lvl="1"/>
            <a:r>
              <a:rPr lang="en-US" sz="1600" dirty="0">
                <a:solidFill>
                  <a:srgbClr val="000000"/>
                </a:solidFill>
                <a:latin typeface="Arial"/>
                <a:cs typeface="Arial"/>
              </a:rPr>
              <a:t>Both reach SD of ~70–80% TD</a:t>
            </a:r>
          </a:p>
        </p:txBody>
      </p:sp>
      <p:sp>
        <p:nvSpPr>
          <p:cNvPr id="101" name="Label 101"/>
          <p:cNvSpPr txBox="1"/>
          <p:nvPr/>
        </p:nvSpPr>
        <p:spPr>
          <a:xfrm>
            <a:off x="6126480" y="1920240"/>
            <a:ext cx="1783080" cy="292608"/>
          </a:xfrm>
          <a:prstGeom prst="rect">
            <a:avLst/>
          </a:prstGeom>
          <a:noFill/>
        </p:spPr>
        <p:txBody>
          <a:bodyPr wrap="square" lIns="0" tIns="0" rIns="0" bIns="0" rtlCol="0">
            <a:noAutofit/>
          </a:bodyPr>
          <a:lstStyle/>
          <a:p>
            <a:pPr algn="ctr"/>
            <a:r>
              <a:rPr lang="en-US" sz="1400" b="1" dirty="0">
                <a:solidFill>
                  <a:srgbClr val="000000"/>
                </a:solidFill>
                <a:latin typeface="Arial"/>
                <a:cs typeface="Arial"/>
              </a:rPr>
              <a:t>Theoretical density</a:t>
            </a:r>
          </a:p>
        </p:txBody>
      </p:sp>
      <p:sp>
        <p:nvSpPr>
          <p:cNvPr id="102" name="Fuel 102"/>
          <p:cNvSpPr/>
          <p:nvPr/>
        </p:nvSpPr>
        <p:spPr>
          <a:xfrm>
            <a:off x="6492240" y="2446020"/>
            <a:ext cx="1051560" cy="1051560"/>
          </a:xfrm>
          <a:prstGeom prst="ellipse">
            <a:avLst/>
          </a:prstGeom>
          <a:solidFill>
            <a:srgbClr val="595959"/>
          </a:solidFill>
          <a:ln>
            <a:noFill/>
          </a:ln>
        </p:spPr>
        <p:txBody>
          <a:bodyPr rtlCol="0" anchor="ctr"/>
          <a:lstStyle/>
          <a:p>
            <a:endParaRPr lang="en-US"/>
          </a:p>
        </p:txBody>
      </p:sp>
      <p:sp>
        <p:nvSpPr>
          <p:cNvPr id="103" name="Caption 103"/>
          <p:cNvSpPr txBox="1"/>
          <p:nvPr/>
        </p:nvSpPr>
        <p:spPr>
          <a:xfrm>
            <a:off x="6126480" y="3767328"/>
            <a:ext cx="1783080" cy="457200"/>
          </a:xfrm>
          <a:prstGeom prst="rect">
            <a:avLst/>
          </a:prstGeom>
          <a:noFill/>
        </p:spPr>
        <p:txBody>
          <a:bodyPr wrap="square" lIns="0" tIns="0" rIns="0" bIns="0" rtlCol="0">
            <a:noAutofit/>
          </a:bodyPr>
          <a:lstStyle/>
          <a:p>
            <a:pPr algn="ctr"/>
            <a:r>
              <a:rPr lang="en-US" sz="1200" dirty="0">
                <a:solidFill>
                  <a:srgbClr val="404040"/>
                </a:solidFill>
                <a:latin typeface="Arial"/>
                <a:cs typeface="Arial"/>
              </a:rPr>
              <a:t>Pore-free crystal;</a:t>
            </a:r>
          </a:p>
          <a:p>
            <a:pPr algn="ctr"/>
            <a:r>
              <a:rPr lang="en-US" sz="1200" dirty="0">
                <a:solidFill>
                  <a:srgbClr val="404040"/>
                </a:solidFill>
                <a:latin typeface="Arial"/>
                <a:cs typeface="Arial"/>
              </a:rPr>
              <a:t>material constant</a:t>
            </a:r>
          </a:p>
        </p:txBody>
      </p:sp>
      <p:sp>
        <p:nvSpPr>
          <p:cNvPr id="104" name="Label 104"/>
          <p:cNvSpPr txBox="1"/>
          <p:nvPr/>
        </p:nvSpPr>
        <p:spPr>
          <a:xfrm>
            <a:off x="7909560" y="1920240"/>
            <a:ext cx="1783080" cy="292608"/>
          </a:xfrm>
          <a:prstGeom prst="rect">
            <a:avLst/>
          </a:prstGeom>
          <a:noFill/>
        </p:spPr>
        <p:txBody>
          <a:bodyPr wrap="square" lIns="0" tIns="0" rIns="0" bIns="0" rtlCol="0">
            <a:noAutofit/>
          </a:bodyPr>
          <a:lstStyle/>
          <a:p>
            <a:pPr algn="ctr"/>
            <a:r>
              <a:rPr lang="en-US" sz="1400" b="1" dirty="0">
                <a:solidFill>
                  <a:srgbClr val="000000"/>
                </a:solidFill>
                <a:latin typeface="Arial"/>
                <a:cs typeface="Arial"/>
              </a:rPr>
              <a:t>Pellet density</a:t>
            </a:r>
          </a:p>
        </p:txBody>
      </p:sp>
      <p:sp>
        <p:nvSpPr>
          <p:cNvPr id="105" name="Fuel 105"/>
          <p:cNvSpPr/>
          <p:nvPr/>
        </p:nvSpPr>
        <p:spPr>
          <a:xfrm>
            <a:off x="8275320" y="2446020"/>
            <a:ext cx="1051560" cy="1051560"/>
          </a:xfrm>
          <a:prstGeom prst="ellipse">
            <a:avLst/>
          </a:prstGeom>
          <a:solidFill>
            <a:srgbClr val="595959"/>
          </a:solidFill>
          <a:ln>
            <a:noFill/>
          </a:ln>
        </p:spPr>
        <p:txBody>
          <a:bodyPr rtlCol="0" anchor="ctr"/>
          <a:lstStyle/>
          <a:p>
            <a:endParaRPr lang="en-US"/>
          </a:p>
        </p:txBody>
      </p:sp>
      <p:sp>
        <p:nvSpPr>
          <p:cNvPr id="106" name="Pore 106"/>
          <p:cNvSpPr/>
          <p:nvPr/>
        </p:nvSpPr>
        <p:spPr>
          <a:xfrm>
            <a:off x="8755380" y="2926080"/>
            <a:ext cx="91440" cy="91440"/>
          </a:xfrm>
          <a:prstGeom prst="ellipse">
            <a:avLst/>
          </a:prstGeom>
          <a:solidFill>
            <a:srgbClr val="FFFFFF"/>
          </a:solidFill>
          <a:ln>
            <a:noFill/>
          </a:ln>
        </p:spPr>
        <p:txBody>
          <a:bodyPr rtlCol="0" anchor="ctr"/>
          <a:lstStyle/>
          <a:p>
            <a:endParaRPr lang="en-US"/>
          </a:p>
        </p:txBody>
      </p:sp>
      <p:sp>
        <p:nvSpPr>
          <p:cNvPr id="107" name="Pore 107"/>
          <p:cNvSpPr/>
          <p:nvPr/>
        </p:nvSpPr>
        <p:spPr>
          <a:xfrm>
            <a:off x="8947864" y="2960020"/>
            <a:ext cx="91440" cy="91440"/>
          </a:xfrm>
          <a:prstGeom prst="ellipse">
            <a:avLst/>
          </a:prstGeom>
          <a:solidFill>
            <a:srgbClr val="FFFFFF"/>
          </a:solidFill>
          <a:ln>
            <a:noFill/>
          </a:ln>
        </p:spPr>
        <p:txBody>
          <a:bodyPr rtlCol="0" anchor="ctr"/>
          <a:lstStyle/>
          <a:p>
            <a:endParaRPr lang="en-US"/>
          </a:p>
        </p:txBody>
      </p:sp>
      <p:sp>
        <p:nvSpPr>
          <p:cNvPr id="108" name="Pore 108"/>
          <p:cNvSpPr/>
          <p:nvPr/>
        </p:nvSpPr>
        <p:spPr>
          <a:xfrm>
            <a:off x="8789320" y="3118564"/>
            <a:ext cx="91440" cy="91440"/>
          </a:xfrm>
          <a:prstGeom prst="ellipse">
            <a:avLst/>
          </a:prstGeom>
          <a:solidFill>
            <a:srgbClr val="FFFFFF"/>
          </a:solidFill>
          <a:ln>
            <a:noFill/>
          </a:ln>
        </p:spPr>
        <p:txBody>
          <a:bodyPr rtlCol="0" anchor="ctr"/>
          <a:lstStyle/>
          <a:p>
            <a:endParaRPr lang="en-US"/>
          </a:p>
        </p:txBody>
      </p:sp>
      <p:sp>
        <p:nvSpPr>
          <p:cNvPr id="109" name="Pore 109"/>
          <p:cNvSpPr/>
          <p:nvPr/>
        </p:nvSpPr>
        <p:spPr>
          <a:xfrm>
            <a:off x="8586113" y="3023806"/>
            <a:ext cx="91440" cy="91440"/>
          </a:xfrm>
          <a:prstGeom prst="ellipse">
            <a:avLst/>
          </a:prstGeom>
          <a:solidFill>
            <a:srgbClr val="FFFFFF"/>
          </a:solidFill>
          <a:ln>
            <a:noFill/>
          </a:ln>
        </p:spPr>
        <p:txBody>
          <a:bodyPr rtlCol="0" anchor="ctr"/>
          <a:lstStyle/>
          <a:p>
            <a:endParaRPr lang="en-US"/>
          </a:p>
        </p:txBody>
      </p:sp>
      <p:sp>
        <p:nvSpPr>
          <p:cNvPr id="110" name="Pore 110"/>
          <p:cNvSpPr/>
          <p:nvPr/>
        </p:nvSpPr>
        <p:spPr>
          <a:xfrm>
            <a:off x="8605654" y="2800445"/>
            <a:ext cx="91440" cy="91440"/>
          </a:xfrm>
          <a:prstGeom prst="ellipse">
            <a:avLst/>
          </a:prstGeom>
          <a:solidFill>
            <a:srgbClr val="FFFFFF"/>
          </a:solidFill>
          <a:ln>
            <a:noFill/>
          </a:ln>
        </p:spPr>
        <p:txBody>
          <a:bodyPr rtlCol="0" anchor="ctr"/>
          <a:lstStyle/>
          <a:p>
            <a:endParaRPr lang="en-US"/>
          </a:p>
        </p:txBody>
      </p:sp>
      <p:sp>
        <p:nvSpPr>
          <p:cNvPr id="111" name="Pore 111"/>
          <p:cNvSpPr/>
          <p:nvPr/>
        </p:nvSpPr>
        <p:spPr>
          <a:xfrm>
            <a:off x="8822229" y="2742414"/>
            <a:ext cx="91440" cy="91440"/>
          </a:xfrm>
          <a:prstGeom prst="ellipse">
            <a:avLst/>
          </a:prstGeom>
          <a:solidFill>
            <a:srgbClr val="FFFFFF"/>
          </a:solidFill>
          <a:ln>
            <a:noFill/>
          </a:ln>
        </p:spPr>
        <p:txBody>
          <a:bodyPr rtlCol="0" anchor="ctr"/>
          <a:lstStyle/>
          <a:p>
            <a:endParaRPr lang="en-US"/>
          </a:p>
        </p:txBody>
      </p:sp>
      <p:sp>
        <p:nvSpPr>
          <p:cNvPr id="112" name="Pore 112"/>
          <p:cNvSpPr/>
          <p:nvPr/>
        </p:nvSpPr>
        <p:spPr>
          <a:xfrm>
            <a:off x="9054831" y="3177350"/>
            <a:ext cx="91440" cy="91440"/>
          </a:xfrm>
          <a:prstGeom prst="ellipse">
            <a:avLst/>
          </a:prstGeom>
          <a:solidFill>
            <a:srgbClr val="FFFFFF"/>
          </a:solidFill>
          <a:ln>
            <a:noFill/>
          </a:ln>
        </p:spPr>
        <p:txBody>
          <a:bodyPr rtlCol="0" anchor="ctr"/>
          <a:lstStyle/>
          <a:p>
            <a:endParaRPr lang="en-US"/>
          </a:p>
        </p:txBody>
      </p:sp>
      <p:sp>
        <p:nvSpPr>
          <p:cNvPr id="113" name="Pore 113"/>
          <p:cNvSpPr/>
          <p:nvPr/>
        </p:nvSpPr>
        <p:spPr>
          <a:xfrm>
            <a:off x="8721310" y="3315498"/>
            <a:ext cx="91440" cy="91440"/>
          </a:xfrm>
          <a:prstGeom prst="ellipse">
            <a:avLst/>
          </a:prstGeom>
          <a:solidFill>
            <a:srgbClr val="FFFFFF"/>
          </a:solidFill>
          <a:ln>
            <a:noFill/>
          </a:ln>
        </p:spPr>
        <p:txBody>
          <a:bodyPr rtlCol="0" anchor="ctr"/>
          <a:lstStyle/>
          <a:p>
            <a:endParaRPr lang="en-US"/>
          </a:p>
        </p:txBody>
      </p:sp>
      <p:sp>
        <p:nvSpPr>
          <p:cNvPr id="114" name="Pore 114"/>
          <p:cNvSpPr/>
          <p:nvPr/>
        </p:nvSpPr>
        <p:spPr>
          <a:xfrm>
            <a:off x="8435169" y="3150294"/>
            <a:ext cx="91440" cy="91440"/>
          </a:xfrm>
          <a:prstGeom prst="ellipse">
            <a:avLst/>
          </a:prstGeom>
          <a:solidFill>
            <a:srgbClr val="FFFFFF"/>
          </a:solidFill>
          <a:ln>
            <a:noFill/>
          </a:ln>
        </p:spPr>
        <p:txBody>
          <a:bodyPr rtlCol="0" anchor="ctr"/>
          <a:lstStyle/>
          <a:p>
            <a:endParaRPr lang="en-US"/>
          </a:p>
        </p:txBody>
      </p:sp>
      <p:sp>
        <p:nvSpPr>
          <p:cNvPr id="115" name="Pore 115"/>
          <p:cNvSpPr/>
          <p:nvPr/>
        </p:nvSpPr>
        <p:spPr>
          <a:xfrm>
            <a:off x="8370413" y="2858200"/>
            <a:ext cx="91440" cy="91440"/>
          </a:xfrm>
          <a:prstGeom prst="ellipse">
            <a:avLst/>
          </a:prstGeom>
          <a:solidFill>
            <a:srgbClr val="FFFFFF"/>
          </a:solidFill>
          <a:ln>
            <a:noFill/>
          </a:ln>
        </p:spPr>
        <p:txBody>
          <a:bodyPr rtlCol="0" anchor="ctr"/>
          <a:lstStyle/>
          <a:p>
            <a:endParaRPr lang="en-US"/>
          </a:p>
        </p:txBody>
      </p:sp>
      <p:sp>
        <p:nvSpPr>
          <p:cNvPr id="116" name="Pore 116"/>
          <p:cNvSpPr/>
          <p:nvPr/>
        </p:nvSpPr>
        <p:spPr>
          <a:xfrm>
            <a:off x="8590176" y="2571799"/>
            <a:ext cx="91440" cy="91440"/>
          </a:xfrm>
          <a:prstGeom prst="ellipse">
            <a:avLst/>
          </a:prstGeom>
          <a:solidFill>
            <a:srgbClr val="FFFFFF"/>
          </a:solidFill>
          <a:ln>
            <a:noFill/>
          </a:ln>
        </p:spPr>
        <p:txBody>
          <a:bodyPr rtlCol="0" anchor="ctr"/>
          <a:lstStyle/>
          <a:p>
            <a:endParaRPr lang="en-US"/>
          </a:p>
        </p:txBody>
      </p:sp>
      <p:sp>
        <p:nvSpPr>
          <p:cNvPr id="117" name="Pore 117"/>
          <p:cNvSpPr/>
          <p:nvPr/>
        </p:nvSpPr>
        <p:spPr>
          <a:xfrm>
            <a:off x="8950833" y="2587545"/>
            <a:ext cx="91440" cy="91440"/>
          </a:xfrm>
          <a:prstGeom prst="ellipse">
            <a:avLst/>
          </a:prstGeom>
          <a:solidFill>
            <a:srgbClr val="FFFFFF"/>
          </a:solidFill>
          <a:ln>
            <a:noFill/>
          </a:ln>
        </p:spPr>
        <p:txBody>
          <a:bodyPr rtlCol="0" anchor="ctr"/>
          <a:lstStyle/>
          <a:p>
            <a:endParaRPr lang="en-US"/>
          </a:p>
        </p:txBody>
      </p:sp>
      <p:sp>
        <p:nvSpPr>
          <p:cNvPr id="118" name="Pore 118"/>
          <p:cNvSpPr/>
          <p:nvPr/>
        </p:nvSpPr>
        <p:spPr>
          <a:xfrm>
            <a:off x="9140347" y="2858200"/>
            <a:ext cx="91440" cy="91440"/>
          </a:xfrm>
          <a:prstGeom prst="ellipse">
            <a:avLst/>
          </a:prstGeom>
          <a:solidFill>
            <a:srgbClr val="FFFFFF"/>
          </a:solidFill>
          <a:ln>
            <a:noFill/>
          </a:ln>
        </p:spPr>
        <p:txBody>
          <a:bodyPr rtlCol="0" anchor="ctr"/>
          <a:lstStyle/>
          <a:p>
            <a:endParaRPr lang="en-US"/>
          </a:p>
        </p:txBody>
      </p:sp>
      <p:sp>
        <p:nvSpPr>
          <p:cNvPr id="119" name="Caption 119"/>
          <p:cNvSpPr txBox="1"/>
          <p:nvPr/>
        </p:nvSpPr>
        <p:spPr>
          <a:xfrm>
            <a:off x="7909560" y="3767328"/>
            <a:ext cx="1783080" cy="457200"/>
          </a:xfrm>
          <a:prstGeom prst="rect">
            <a:avLst/>
          </a:prstGeom>
          <a:noFill/>
        </p:spPr>
        <p:txBody>
          <a:bodyPr wrap="square" lIns="0" tIns="0" rIns="0" bIns="0" rtlCol="0">
            <a:noAutofit/>
          </a:bodyPr>
          <a:lstStyle/>
          <a:p>
            <a:pPr algn="ctr"/>
            <a:r>
              <a:rPr lang="en-US" sz="1200" dirty="0">
                <a:solidFill>
                  <a:srgbClr val="404040"/>
                </a:solidFill>
                <a:latin typeface="Arial"/>
                <a:cs typeface="Arial"/>
              </a:rPr>
              <a:t>Pores lower density;</a:t>
            </a:r>
          </a:p>
          <a:p>
            <a:pPr algn="ctr"/>
            <a:r>
              <a:rPr lang="en-US" sz="1200" dirty="0">
                <a:solidFill>
                  <a:srgbClr val="404040"/>
                </a:solidFill>
                <a:latin typeface="Arial"/>
                <a:cs typeface="Arial"/>
              </a:rPr>
              <a:t>quoted as % TD</a:t>
            </a:r>
          </a:p>
        </p:txBody>
      </p:sp>
      <p:sp>
        <p:nvSpPr>
          <p:cNvPr id="120" name="Label 120"/>
          <p:cNvSpPr txBox="1"/>
          <p:nvPr/>
        </p:nvSpPr>
        <p:spPr>
          <a:xfrm>
            <a:off x="9692640" y="1920240"/>
            <a:ext cx="1783080" cy="292608"/>
          </a:xfrm>
          <a:prstGeom prst="rect">
            <a:avLst/>
          </a:prstGeom>
          <a:noFill/>
        </p:spPr>
        <p:txBody>
          <a:bodyPr wrap="square" lIns="0" tIns="0" rIns="0" bIns="0" rtlCol="0">
            <a:noAutofit/>
          </a:bodyPr>
          <a:lstStyle/>
          <a:p>
            <a:pPr algn="ctr"/>
            <a:r>
              <a:rPr lang="en-US" sz="1400" b="1" dirty="0">
                <a:solidFill>
                  <a:srgbClr val="000000"/>
                </a:solidFill>
                <a:latin typeface="Arial"/>
                <a:cs typeface="Arial"/>
              </a:rPr>
              <a:t>Smear density</a:t>
            </a:r>
          </a:p>
        </p:txBody>
      </p:sp>
      <p:sp>
        <p:nvSpPr>
          <p:cNvPr id="121" name="Clad 121"/>
          <p:cNvSpPr/>
          <p:nvPr/>
        </p:nvSpPr>
        <p:spPr>
          <a:xfrm>
            <a:off x="9898380" y="2286000"/>
            <a:ext cx="1371600" cy="1371600"/>
          </a:xfrm>
          <a:prstGeom prst="ellipse">
            <a:avLst/>
          </a:prstGeom>
          <a:solidFill>
            <a:srgbClr val="CC0000"/>
          </a:solidFill>
          <a:ln>
            <a:noFill/>
          </a:ln>
        </p:spPr>
        <p:txBody>
          <a:bodyPr rtlCol="0" anchor="ctr"/>
          <a:lstStyle/>
          <a:p>
            <a:endParaRPr lang="en-US"/>
          </a:p>
        </p:txBody>
      </p:sp>
      <p:sp>
        <p:nvSpPr>
          <p:cNvPr id="122" name="Gap 122"/>
          <p:cNvSpPr/>
          <p:nvPr/>
        </p:nvSpPr>
        <p:spPr>
          <a:xfrm>
            <a:off x="9980676" y="2368296"/>
            <a:ext cx="1207008" cy="1207008"/>
          </a:xfrm>
          <a:prstGeom prst="ellipse">
            <a:avLst/>
          </a:prstGeom>
          <a:solidFill>
            <a:srgbClr val="FFFFFF"/>
          </a:solidFill>
          <a:ln>
            <a:noFill/>
          </a:ln>
        </p:spPr>
        <p:txBody>
          <a:bodyPr rtlCol="0" anchor="ctr"/>
          <a:lstStyle/>
          <a:p>
            <a:endParaRPr lang="en-US"/>
          </a:p>
        </p:txBody>
      </p:sp>
      <p:sp>
        <p:nvSpPr>
          <p:cNvPr id="123" name="Fuel 123"/>
          <p:cNvSpPr/>
          <p:nvPr/>
        </p:nvSpPr>
        <p:spPr>
          <a:xfrm>
            <a:off x="10058400" y="2446020"/>
            <a:ext cx="1051560" cy="1051560"/>
          </a:xfrm>
          <a:prstGeom prst="ellipse">
            <a:avLst/>
          </a:prstGeom>
          <a:solidFill>
            <a:srgbClr val="595959"/>
          </a:solidFill>
          <a:ln>
            <a:noFill/>
          </a:ln>
        </p:spPr>
        <p:txBody>
          <a:bodyPr rtlCol="0" anchor="ctr"/>
          <a:lstStyle/>
          <a:p>
            <a:endParaRPr lang="en-US"/>
          </a:p>
        </p:txBody>
      </p:sp>
      <p:sp>
        <p:nvSpPr>
          <p:cNvPr id="124" name="Pore 124"/>
          <p:cNvSpPr/>
          <p:nvPr/>
        </p:nvSpPr>
        <p:spPr>
          <a:xfrm>
            <a:off x="10538460" y="2926080"/>
            <a:ext cx="91440" cy="91440"/>
          </a:xfrm>
          <a:prstGeom prst="ellipse">
            <a:avLst/>
          </a:prstGeom>
          <a:solidFill>
            <a:srgbClr val="FFFFFF"/>
          </a:solidFill>
          <a:ln>
            <a:noFill/>
          </a:ln>
        </p:spPr>
        <p:txBody>
          <a:bodyPr rtlCol="0" anchor="ctr"/>
          <a:lstStyle/>
          <a:p>
            <a:endParaRPr lang="en-US"/>
          </a:p>
        </p:txBody>
      </p:sp>
      <p:sp>
        <p:nvSpPr>
          <p:cNvPr id="125" name="Pore 125"/>
          <p:cNvSpPr/>
          <p:nvPr/>
        </p:nvSpPr>
        <p:spPr>
          <a:xfrm>
            <a:off x="10730944" y="2960020"/>
            <a:ext cx="91440" cy="91440"/>
          </a:xfrm>
          <a:prstGeom prst="ellipse">
            <a:avLst/>
          </a:prstGeom>
          <a:solidFill>
            <a:srgbClr val="FFFFFF"/>
          </a:solidFill>
          <a:ln>
            <a:noFill/>
          </a:ln>
        </p:spPr>
        <p:txBody>
          <a:bodyPr rtlCol="0" anchor="ctr"/>
          <a:lstStyle/>
          <a:p>
            <a:endParaRPr lang="en-US"/>
          </a:p>
        </p:txBody>
      </p:sp>
      <p:sp>
        <p:nvSpPr>
          <p:cNvPr id="126" name="Pore 126"/>
          <p:cNvSpPr/>
          <p:nvPr/>
        </p:nvSpPr>
        <p:spPr>
          <a:xfrm>
            <a:off x="10572400" y="3118564"/>
            <a:ext cx="91440" cy="91440"/>
          </a:xfrm>
          <a:prstGeom prst="ellipse">
            <a:avLst/>
          </a:prstGeom>
          <a:solidFill>
            <a:srgbClr val="FFFFFF"/>
          </a:solidFill>
          <a:ln>
            <a:noFill/>
          </a:ln>
        </p:spPr>
        <p:txBody>
          <a:bodyPr rtlCol="0" anchor="ctr"/>
          <a:lstStyle/>
          <a:p>
            <a:endParaRPr lang="en-US"/>
          </a:p>
        </p:txBody>
      </p:sp>
      <p:sp>
        <p:nvSpPr>
          <p:cNvPr id="127" name="Pore 127"/>
          <p:cNvSpPr/>
          <p:nvPr/>
        </p:nvSpPr>
        <p:spPr>
          <a:xfrm>
            <a:off x="10369193" y="3023806"/>
            <a:ext cx="91440" cy="91440"/>
          </a:xfrm>
          <a:prstGeom prst="ellipse">
            <a:avLst/>
          </a:prstGeom>
          <a:solidFill>
            <a:srgbClr val="FFFFFF"/>
          </a:solidFill>
          <a:ln>
            <a:noFill/>
          </a:ln>
        </p:spPr>
        <p:txBody>
          <a:bodyPr rtlCol="0" anchor="ctr"/>
          <a:lstStyle/>
          <a:p>
            <a:endParaRPr lang="en-US"/>
          </a:p>
        </p:txBody>
      </p:sp>
      <p:sp>
        <p:nvSpPr>
          <p:cNvPr id="128" name="Pore 128"/>
          <p:cNvSpPr/>
          <p:nvPr/>
        </p:nvSpPr>
        <p:spPr>
          <a:xfrm>
            <a:off x="10388734" y="2800445"/>
            <a:ext cx="91440" cy="91440"/>
          </a:xfrm>
          <a:prstGeom prst="ellipse">
            <a:avLst/>
          </a:prstGeom>
          <a:solidFill>
            <a:srgbClr val="FFFFFF"/>
          </a:solidFill>
          <a:ln>
            <a:noFill/>
          </a:ln>
        </p:spPr>
        <p:txBody>
          <a:bodyPr rtlCol="0" anchor="ctr"/>
          <a:lstStyle/>
          <a:p>
            <a:endParaRPr lang="en-US"/>
          </a:p>
        </p:txBody>
      </p:sp>
      <p:sp>
        <p:nvSpPr>
          <p:cNvPr id="129" name="Pore 129"/>
          <p:cNvSpPr/>
          <p:nvPr/>
        </p:nvSpPr>
        <p:spPr>
          <a:xfrm>
            <a:off x="10605309" y="2742414"/>
            <a:ext cx="91440" cy="91440"/>
          </a:xfrm>
          <a:prstGeom prst="ellipse">
            <a:avLst/>
          </a:prstGeom>
          <a:solidFill>
            <a:srgbClr val="FFFFFF"/>
          </a:solidFill>
          <a:ln>
            <a:noFill/>
          </a:ln>
        </p:spPr>
        <p:txBody>
          <a:bodyPr rtlCol="0" anchor="ctr"/>
          <a:lstStyle/>
          <a:p>
            <a:endParaRPr lang="en-US"/>
          </a:p>
        </p:txBody>
      </p:sp>
      <p:sp>
        <p:nvSpPr>
          <p:cNvPr id="130" name="Pore 130"/>
          <p:cNvSpPr/>
          <p:nvPr/>
        </p:nvSpPr>
        <p:spPr>
          <a:xfrm>
            <a:off x="10837911" y="3177350"/>
            <a:ext cx="91440" cy="91440"/>
          </a:xfrm>
          <a:prstGeom prst="ellipse">
            <a:avLst/>
          </a:prstGeom>
          <a:solidFill>
            <a:srgbClr val="FFFFFF"/>
          </a:solidFill>
          <a:ln>
            <a:noFill/>
          </a:ln>
        </p:spPr>
        <p:txBody>
          <a:bodyPr rtlCol="0" anchor="ctr"/>
          <a:lstStyle/>
          <a:p>
            <a:endParaRPr lang="en-US"/>
          </a:p>
        </p:txBody>
      </p:sp>
      <p:sp>
        <p:nvSpPr>
          <p:cNvPr id="131" name="Pore 131"/>
          <p:cNvSpPr/>
          <p:nvPr/>
        </p:nvSpPr>
        <p:spPr>
          <a:xfrm>
            <a:off x="10504390" y="3315498"/>
            <a:ext cx="91440" cy="91440"/>
          </a:xfrm>
          <a:prstGeom prst="ellipse">
            <a:avLst/>
          </a:prstGeom>
          <a:solidFill>
            <a:srgbClr val="FFFFFF"/>
          </a:solidFill>
          <a:ln>
            <a:noFill/>
          </a:ln>
        </p:spPr>
        <p:txBody>
          <a:bodyPr rtlCol="0" anchor="ctr"/>
          <a:lstStyle/>
          <a:p>
            <a:endParaRPr lang="en-US"/>
          </a:p>
        </p:txBody>
      </p:sp>
      <p:sp>
        <p:nvSpPr>
          <p:cNvPr id="132" name="Pore 132"/>
          <p:cNvSpPr/>
          <p:nvPr/>
        </p:nvSpPr>
        <p:spPr>
          <a:xfrm>
            <a:off x="10218249" y="3150294"/>
            <a:ext cx="91440" cy="91440"/>
          </a:xfrm>
          <a:prstGeom prst="ellipse">
            <a:avLst/>
          </a:prstGeom>
          <a:solidFill>
            <a:srgbClr val="FFFFFF"/>
          </a:solidFill>
          <a:ln>
            <a:noFill/>
          </a:ln>
        </p:spPr>
        <p:txBody>
          <a:bodyPr rtlCol="0" anchor="ctr"/>
          <a:lstStyle/>
          <a:p>
            <a:endParaRPr lang="en-US"/>
          </a:p>
        </p:txBody>
      </p:sp>
      <p:sp>
        <p:nvSpPr>
          <p:cNvPr id="133" name="Pore 133"/>
          <p:cNvSpPr/>
          <p:nvPr/>
        </p:nvSpPr>
        <p:spPr>
          <a:xfrm>
            <a:off x="10153493" y="2858200"/>
            <a:ext cx="91440" cy="91440"/>
          </a:xfrm>
          <a:prstGeom prst="ellipse">
            <a:avLst/>
          </a:prstGeom>
          <a:solidFill>
            <a:srgbClr val="FFFFFF"/>
          </a:solidFill>
          <a:ln>
            <a:noFill/>
          </a:ln>
        </p:spPr>
        <p:txBody>
          <a:bodyPr rtlCol="0" anchor="ctr"/>
          <a:lstStyle/>
          <a:p>
            <a:endParaRPr lang="en-US"/>
          </a:p>
        </p:txBody>
      </p:sp>
      <p:sp>
        <p:nvSpPr>
          <p:cNvPr id="134" name="Pore 134"/>
          <p:cNvSpPr/>
          <p:nvPr/>
        </p:nvSpPr>
        <p:spPr>
          <a:xfrm>
            <a:off x="10373256" y="2571799"/>
            <a:ext cx="91440" cy="91440"/>
          </a:xfrm>
          <a:prstGeom prst="ellipse">
            <a:avLst/>
          </a:prstGeom>
          <a:solidFill>
            <a:srgbClr val="FFFFFF"/>
          </a:solidFill>
          <a:ln>
            <a:noFill/>
          </a:ln>
        </p:spPr>
        <p:txBody>
          <a:bodyPr rtlCol="0" anchor="ctr"/>
          <a:lstStyle/>
          <a:p>
            <a:endParaRPr lang="en-US"/>
          </a:p>
        </p:txBody>
      </p:sp>
      <p:sp>
        <p:nvSpPr>
          <p:cNvPr id="135" name="Pore 135"/>
          <p:cNvSpPr/>
          <p:nvPr/>
        </p:nvSpPr>
        <p:spPr>
          <a:xfrm>
            <a:off x="10733913" y="2587545"/>
            <a:ext cx="91440" cy="91440"/>
          </a:xfrm>
          <a:prstGeom prst="ellipse">
            <a:avLst/>
          </a:prstGeom>
          <a:solidFill>
            <a:srgbClr val="FFFFFF"/>
          </a:solidFill>
          <a:ln>
            <a:noFill/>
          </a:ln>
        </p:spPr>
        <p:txBody>
          <a:bodyPr rtlCol="0" anchor="ctr"/>
          <a:lstStyle/>
          <a:p>
            <a:endParaRPr lang="en-US"/>
          </a:p>
        </p:txBody>
      </p:sp>
      <p:sp>
        <p:nvSpPr>
          <p:cNvPr id="136" name="Pore 136"/>
          <p:cNvSpPr/>
          <p:nvPr/>
        </p:nvSpPr>
        <p:spPr>
          <a:xfrm>
            <a:off x="10923427" y="2858200"/>
            <a:ext cx="91440" cy="91440"/>
          </a:xfrm>
          <a:prstGeom prst="ellipse">
            <a:avLst/>
          </a:prstGeom>
          <a:solidFill>
            <a:srgbClr val="FFFFFF"/>
          </a:solidFill>
          <a:ln>
            <a:noFill/>
          </a:ln>
        </p:spPr>
        <p:txBody>
          <a:bodyPr rtlCol="0" anchor="ctr"/>
          <a:lstStyle/>
          <a:p>
            <a:endParaRPr lang="en-US"/>
          </a:p>
        </p:txBody>
      </p:sp>
      <p:sp>
        <p:nvSpPr>
          <p:cNvPr id="137" name="Caption 137"/>
          <p:cNvSpPr txBox="1"/>
          <p:nvPr/>
        </p:nvSpPr>
        <p:spPr>
          <a:xfrm>
            <a:off x="9692640" y="3767328"/>
            <a:ext cx="1783080" cy="457200"/>
          </a:xfrm>
          <a:prstGeom prst="rect">
            <a:avLst/>
          </a:prstGeom>
          <a:noFill/>
        </p:spPr>
        <p:txBody>
          <a:bodyPr wrap="square" lIns="0" tIns="0" rIns="0" bIns="0" rtlCol="0">
            <a:noAutofit/>
          </a:bodyPr>
          <a:lstStyle/>
          <a:p>
            <a:pPr algn="ctr"/>
            <a:r>
              <a:rPr lang="en-US" sz="1200" dirty="0">
                <a:solidFill>
                  <a:srgbClr val="404040"/>
                </a:solidFill>
                <a:latin typeface="Arial"/>
                <a:cs typeface="Arial"/>
              </a:rPr>
              <a:t>Pores + gap; fuel spread</a:t>
            </a:r>
          </a:p>
          <a:p>
            <a:pPr algn="ctr"/>
            <a:r>
              <a:rPr lang="en-US" sz="1200" dirty="0">
                <a:solidFill>
                  <a:srgbClr val="404040"/>
                </a:solidFill>
                <a:latin typeface="Arial"/>
                <a:cs typeface="Arial"/>
              </a:rPr>
              <a:t>over clad interior, % TD</a:t>
            </a:r>
          </a:p>
        </p:txBody>
      </p:sp>
      <p:sp>
        <p:nvSpPr>
          <p:cNvPr id="138" name="Legend 138"/>
          <p:cNvSpPr/>
          <p:nvPr/>
        </p:nvSpPr>
        <p:spPr>
          <a:xfrm>
            <a:off x="6629400" y="4416552"/>
            <a:ext cx="164592" cy="164592"/>
          </a:xfrm>
          <a:prstGeom prst="ellipse">
            <a:avLst/>
          </a:prstGeom>
          <a:solidFill>
            <a:srgbClr val="595959"/>
          </a:solidFill>
          <a:ln>
            <a:noFill/>
          </a:ln>
        </p:spPr>
        <p:txBody>
          <a:bodyPr rtlCol="0" anchor="ctr"/>
          <a:lstStyle/>
          <a:p>
            <a:endParaRPr lang="en-US"/>
          </a:p>
        </p:txBody>
      </p:sp>
      <p:sp>
        <p:nvSpPr>
          <p:cNvPr id="139" name="Legend text 139"/>
          <p:cNvSpPr txBox="1"/>
          <p:nvPr/>
        </p:nvSpPr>
        <p:spPr>
          <a:xfrm>
            <a:off x="6867144" y="4389120"/>
            <a:ext cx="1280160" cy="237744"/>
          </a:xfrm>
          <a:prstGeom prst="rect">
            <a:avLst/>
          </a:prstGeom>
          <a:noFill/>
        </p:spPr>
        <p:txBody>
          <a:bodyPr wrap="square" lIns="0" tIns="0" rIns="0" bIns="0" rtlCol="0">
            <a:noAutofit/>
          </a:bodyPr>
          <a:lstStyle/>
          <a:p>
            <a:pPr algn="l"/>
            <a:r>
              <a:rPr lang="en-US" sz="1200" dirty="0">
                <a:solidFill>
                  <a:srgbClr val="000000"/>
                </a:solidFill>
                <a:latin typeface="Arial"/>
                <a:cs typeface="Arial"/>
              </a:rPr>
              <a:t>Fuel</a:t>
            </a:r>
          </a:p>
        </p:txBody>
      </p:sp>
      <p:sp>
        <p:nvSpPr>
          <p:cNvPr id="140" name="Legend 140"/>
          <p:cNvSpPr/>
          <p:nvPr/>
        </p:nvSpPr>
        <p:spPr>
          <a:xfrm>
            <a:off x="8229600" y="4416552"/>
            <a:ext cx="164592" cy="164592"/>
          </a:xfrm>
          <a:prstGeom prst="ellipse">
            <a:avLst/>
          </a:prstGeom>
          <a:solidFill>
            <a:srgbClr val="FFFFFF"/>
          </a:solidFill>
          <a:ln w="9525">
            <a:solidFill>
              <a:srgbClr val="7F7F7F"/>
            </a:solidFill>
          </a:ln>
        </p:spPr>
        <p:txBody>
          <a:bodyPr rtlCol="0" anchor="ctr"/>
          <a:lstStyle/>
          <a:p>
            <a:endParaRPr lang="en-US"/>
          </a:p>
        </p:txBody>
      </p:sp>
      <p:sp>
        <p:nvSpPr>
          <p:cNvPr id="141" name="Legend text 141"/>
          <p:cNvSpPr txBox="1"/>
          <p:nvPr/>
        </p:nvSpPr>
        <p:spPr>
          <a:xfrm>
            <a:off x="8467344" y="4389120"/>
            <a:ext cx="1280160" cy="237744"/>
          </a:xfrm>
          <a:prstGeom prst="rect">
            <a:avLst/>
          </a:prstGeom>
          <a:noFill/>
        </p:spPr>
        <p:txBody>
          <a:bodyPr wrap="square" lIns="0" tIns="0" rIns="0" bIns="0" rtlCol="0">
            <a:noAutofit/>
          </a:bodyPr>
          <a:lstStyle/>
          <a:p>
            <a:pPr algn="l"/>
            <a:r>
              <a:rPr lang="en-US" sz="1200" dirty="0">
                <a:solidFill>
                  <a:srgbClr val="000000"/>
                </a:solidFill>
                <a:latin typeface="Arial"/>
                <a:cs typeface="Arial"/>
              </a:rPr>
              <a:t>Pore / gap</a:t>
            </a:r>
          </a:p>
        </p:txBody>
      </p:sp>
      <p:sp>
        <p:nvSpPr>
          <p:cNvPr id="142" name="Legend 142"/>
          <p:cNvSpPr/>
          <p:nvPr/>
        </p:nvSpPr>
        <p:spPr>
          <a:xfrm>
            <a:off x="9829800" y="4416552"/>
            <a:ext cx="164592" cy="164592"/>
          </a:xfrm>
          <a:prstGeom prst="ellipse">
            <a:avLst/>
          </a:prstGeom>
          <a:solidFill>
            <a:srgbClr val="CC0000"/>
          </a:solidFill>
          <a:ln>
            <a:noFill/>
          </a:ln>
        </p:spPr>
        <p:txBody>
          <a:bodyPr rtlCol="0" anchor="ctr"/>
          <a:lstStyle/>
          <a:p>
            <a:endParaRPr lang="en-US"/>
          </a:p>
        </p:txBody>
      </p:sp>
      <p:sp>
        <p:nvSpPr>
          <p:cNvPr id="143" name="Legend text 143"/>
          <p:cNvSpPr txBox="1"/>
          <p:nvPr/>
        </p:nvSpPr>
        <p:spPr>
          <a:xfrm>
            <a:off x="10067544" y="4389120"/>
            <a:ext cx="1280160" cy="237744"/>
          </a:xfrm>
          <a:prstGeom prst="rect">
            <a:avLst/>
          </a:prstGeom>
          <a:noFill/>
        </p:spPr>
        <p:txBody>
          <a:bodyPr wrap="square" lIns="0" tIns="0" rIns="0" bIns="0" rtlCol="0">
            <a:noAutofit/>
          </a:bodyPr>
          <a:lstStyle/>
          <a:p>
            <a:pPr algn="l"/>
            <a:r>
              <a:rPr lang="en-US" sz="1200" dirty="0">
                <a:solidFill>
                  <a:srgbClr val="000000"/>
                </a:solidFill>
                <a:latin typeface="Arial"/>
                <a:cs typeface="Arial"/>
              </a:rPr>
              <a:t>Cladding</a:t>
            </a:r>
          </a:p>
        </p:txBody>
      </p:sp>
      <p:sp>
        <p:nvSpPr>
          <p:cNvPr id="144" name="Example box 144"/>
          <p:cNvSpPr/>
          <p:nvPr/>
        </p:nvSpPr>
        <p:spPr>
          <a:xfrm>
            <a:off x="6126480" y="4846320"/>
            <a:ext cx="5349240" cy="868680"/>
          </a:xfrm>
          <a:prstGeom prst="roundRect">
            <a:avLst>
              <a:gd name="adj" fmla="val 8000"/>
            </a:avLst>
          </a:prstGeom>
          <a:solidFill>
            <a:srgbClr val="F2F2F2"/>
          </a:solidFill>
          <a:ln>
            <a:noFill/>
          </a:ln>
        </p:spPr>
        <p:txBody>
          <a:bodyPr rtlCol="0" anchor="ctr"/>
          <a:lstStyle/>
          <a:p>
            <a:endParaRPr lang="en-US"/>
          </a:p>
        </p:txBody>
      </p:sp>
      <p:sp>
        <p:nvSpPr>
          <p:cNvPr id="145" name="Example text 145"/>
          <p:cNvSpPr txBox="1"/>
          <p:nvPr/>
        </p:nvSpPr>
        <p:spPr>
          <a:xfrm>
            <a:off x="6291072" y="4937760"/>
            <a:ext cx="5020056" cy="685800"/>
          </a:xfrm>
          <a:prstGeom prst="rect">
            <a:avLst/>
          </a:prstGeom>
          <a:noFill/>
        </p:spPr>
        <p:txBody>
          <a:bodyPr wrap="square" lIns="0" tIns="0" rIns="0" bIns="0" rtlCol="0">
            <a:noAutofit/>
          </a:bodyPr>
          <a:lstStyle/>
          <a:p>
            <a:pPr algn="l"/>
            <a:r>
              <a:rPr lang="en-US" sz="1300" b="1" dirty="0">
                <a:solidFill>
                  <a:srgbClr val="000000"/>
                </a:solidFill>
                <a:latin typeface="Arial"/>
                <a:cs typeface="Arial"/>
              </a:rPr>
              <a:t>Example: German reference He-bonded carbide pin</a:t>
            </a:r>
          </a:p>
          <a:p>
            <a:pPr algn="l"/>
            <a:r>
              <a:rPr lang="en-US" sz="1300" dirty="0">
                <a:solidFill>
                  <a:srgbClr val="000000"/>
                </a:solidFill>
                <a:latin typeface="Arial"/>
                <a:cs typeface="Arial"/>
              </a:rPr>
              <a:t>84% TD pellet, 7.0 mm diameter, 7.4 mm clad ID</a:t>
            </a:r>
          </a:p>
          <a:p>
            <a:pPr algn="l"/>
            <a:r>
              <a:rPr lang="en-US" sz="1300" dirty="0">
                <a:solidFill>
                  <a:srgbClr val="000000"/>
                </a:solidFill>
                <a:latin typeface="Arial"/>
                <a:cs typeface="Arial"/>
              </a:rPr>
              <a:t>SD = 0.84 × (7.0/7.4)</a:t>
            </a:r>
            <a:r>
              <a:rPr lang="en-US" sz="1300" baseline="30000" dirty="0">
                <a:solidFill>
                  <a:srgbClr val="000000"/>
                </a:solidFill>
                <a:latin typeface="Arial"/>
                <a:cs typeface="Arial"/>
              </a:rPr>
              <a:t>2</a:t>
            </a:r>
            <a:r>
              <a:rPr lang="en-US" sz="1300" dirty="0">
                <a:solidFill>
                  <a:srgbClr val="000000"/>
                </a:solidFill>
                <a:latin typeface="Arial"/>
                <a:cs typeface="Arial"/>
              </a:rPr>
              <a:t> ≈ 0.75 → 75% TD</a:t>
            </a:r>
          </a:p>
        </p:txBody>
      </p:sp>
      <p:sp>
        <p:nvSpPr>
          <p:cNvPr id="5" name="Slide Number Placeholder 4">
            <a:extLst>
              <a:ext uri="{FF2B5EF4-FFF2-40B4-BE49-F238E27FC236}">
                <a16:creationId xmlns:a16="http://schemas.microsoft.com/office/drawing/2014/main" id="{6C015CED-94EA-284E-BF63-B8181C13C277}"/>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4288529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B9F1-8657-D945-BCB0-236F08579EA0}"/>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61FDEF9C-306C-EE44-9778-68E9B5064630}"/>
              </a:ext>
            </a:extLst>
          </p:cNvPr>
          <p:cNvSpPr>
            <a:spLocks noGrp="1"/>
          </p:cNvSpPr>
          <p:nvPr>
            <p:ph sz="half" idx="1"/>
          </p:nvPr>
        </p:nvSpPr>
        <p:spPr>
          <a:xfrm>
            <a:off x="609600" y="1968503"/>
            <a:ext cx="5588000" cy="4157663"/>
          </a:xfrm>
        </p:spPr>
        <p:txBody>
          <a:bodyPr/>
          <a:lstStyle/>
          <a:p>
            <a:r>
              <a:rPr lang="en-US" sz="2000" dirty="0"/>
              <a:t>A hyperstoichiometric (C/M&gt;1, carbon to metal ratio) fuel composition is chosen so that it contains some amount of </a:t>
            </a:r>
            <a:r>
              <a:rPr lang="en-US" sz="2000" dirty="0" err="1"/>
              <a:t>sesquicarbide</a:t>
            </a:r>
            <a:r>
              <a:rPr lang="en-US" sz="2000" dirty="0"/>
              <a:t> M2C3 phase (M=</a:t>
            </a:r>
            <a:r>
              <a:rPr lang="en-US" sz="2000" dirty="0" err="1"/>
              <a:t>U+Pu</a:t>
            </a:r>
            <a:r>
              <a:rPr lang="en-US" sz="2000" dirty="0"/>
              <a:t>), which accounts for the decrease in (C/M) ratio with burnup</a:t>
            </a:r>
          </a:p>
          <a:p>
            <a:r>
              <a:rPr lang="en-US" dirty="0"/>
              <a:t>Why would C/M decrease with burnup?</a:t>
            </a:r>
            <a:endParaRPr lang="en-US" sz="2000" dirty="0"/>
          </a:p>
          <a:p>
            <a:r>
              <a:rPr lang="en-US" sz="2000" dirty="0"/>
              <a:t>A low C/M ratio may result in the formation of actinide metal phases, which may form low-melting eutectics with the cladding and limit the life of the fuel pin</a:t>
            </a:r>
          </a:p>
          <a:p>
            <a:r>
              <a:rPr lang="en-US" sz="2000" dirty="0"/>
              <a:t>FCMI can potentially exist, depending upon the operating temperature of the fuel</a:t>
            </a:r>
          </a:p>
          <a:p>
            <a:endParaRPr lang="en-US" sz="2000" dirty="0"/>
          </a:p>
        </p:txBody>
      </p:sp>
      <p:sp>
        <p:nvSpPr>
          <p:cNvPr id="4" name="Content Placeholder 3">
            <a:extLst>
              <a:ext uri="{FF2B5EF4-FFF2-40B4-BE49-F238E27FC236}">
                <a16:creationId xmlns:a16="http://schemas.microsoft.com/office/drawing/2014/main" id="{2EA0D0FD-D89A-C544-A6F9-1ED4AB392FBE}"/>
              </a:ext>
            </a:extLst>
          </p:cNvPr>
          <p:cNvSpPr>
            <a:spLocks noGrp="1"/>
          </p:cNvSpPr>
          <p:nvPr>
            <p:ph sz="half" idx="2"/>
          </p:nvPr>
        </p:nvSpPr>
        <p:spPr/>
        <p:txBody>
          <a:bodyPr/>
          <a:lstStyle/>
          <a:p>
            <a:r>
              <a:rPr lang="en-US" sz="2000" dirty="0"/>
              <a:t>O and N impurities play important roles, as they act as ‘carbon equivalent’, which affect the carbon potential of the fuel</a:t>
            </a:r>
          </a:p>
          <a:p>
            <a:r>
              <a:rPr lang="en-US" sz="2000" dirty="0"/>
              <a:t>Also have high Pu and low Pu designs, which impact properties and impurity sensitivity</a:t>
            </a:r>
          </a:p>
          <a:p>
            <a:endParaRPr lang="en-US" sz="2000" dirty="0"/>
          </a:p>
        </p:txBody>
      </p:sp>
      <p:sp>
        <p:nvSpPr>
          <p:cNvPr id="6" name="Slide Number Placeholder 5">
            <a:extLst>
              <a:ext uri="{FF2B5EF4-FFF2-40B4-BE49-F238E27FC236}">
                <a16:creationId xmlns:a16="http://schemas.microsoft.com/office/drawing/2014/main" id="{3EA86367-26E1-E346-97CE-8311FC1FD947}"/>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5" name="Picture 4">
            <a:extLst>
              <a:ext uri="{FF2B5EF4-FFF2-40B4-BE49-F238E27FC236}">
                <a16:creationId xmlns:a16="http://schemas.microsoft.com/office/drawing/2014/main" id="{C986DF4E-5487-084A-8406-3D3F07D022A2}"/>
              </a:ext>
            </a:extLst>
          </p:cNvPr>
          <p:cNvPicPr>
            <a:picLocks noChangeAspect="1"/>
          </p:cNvPicPr>
          <p:nvPr/>
        </p:nvPicPr>
        <p:blipFill>
          <a:blip r:embed="rId2"/>
          <a:stretch>
            <a:fillRect/>
          </a:stretch>
        </p:blipFill>
        <p:spPr>
          <a:xfrm>
            <a:off x="6381156" y="4047334"/>
            <a:ext cx="4712887" cy="2244232"/>
          </a:xfrm>
          <a:prstGeom prst="rect">
            <a:avLst/>
          </a:prstGeom>
        </p:spPr>
      </p:pic>
    </p:spTree>
    <p:extLst>
      <p:ext uri="{BB962C8B-B14F-4D97-AF65-F5344CB8AC3E}">
        <p14:creationId xmlns:p14="http://schemas.microsoft.com/office/powerpoint/2010/main" val="866820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45704-BA08-874E-B583-4A36194720BE}"/>
              </a:ext>
            </a:extLst>
          </p:cNvPr>
          <p:cNvSpPr>
            <a:spLocks noGrp="1"/>
          </p:cNvSpPr>
          <p:nvPr>
            <p:ph type="title"/>
          </p:nvPr>
        </p:nvSpPr>
        <p:spPr/>
        <p:txBody>
          <a:bodyPr/>
          <a:lstStyle/>
          <a:p>
            <a:r>
              <a:rPr lang="en-US" dirty="0"/>
              <a:t>Carbide Fuel Details</a:t>
            </a:r>
          </a:p>
        </p:txBody>
      </p:sp>
      <p:sp>
        <p:nvSpPr>
          <p:cNvPr id="3" name="Content Placeholder 2">
            <a:extLst>
              <a:ext uri="{FF2B5EF4-FFF2-40B4-BE49-F238E27FC236}">
                <a16:creationId xmlns:a16="http://schemas.microsoft.com/office/drawing/2014/main" id="{B93E3DD4-CA29-8E93-8A98-181D904F2F0B}"/>
              </a:ext>
            </a:extLst>
          </p:cNvPr>
          <p:cNvSpPr>
            <a:spLocks noGrp="1"/>
          </p:cNvSpPr>
          <p:nvPr>
            <p:ph sz="half" idx="1"/>
          </p:nvPr>
        </p:nvSpPr>
        <p:spPr/>
        <p:txBody>
          <a:bodyPr/>
          <a:lstStyle/>
          <a:p>
            <a:r>
              <a:rPr lang="en-US" sz="2400" dirty="0"/>
              <a:t>Carbide fuels have higher swelling and lower fission gas release than oxide fuels</a:t>
            </a:r>
          </a:p>
          <a:p>
            <a:r>
              <a:rPr lang="en-US" sz="2400" dirty="0"/>
              <a:t>This is due to the lower fuel temperatures (higher thermal conductivity), and the microstructural evolution of fission gases</a:t>
            </a:r>
          </a:p>
          <a:p>
            <a:endParaRPr lang="en-US" sz="2400" dirty="0"/>
          </a:p>
        </p:txBody>
      </p:sp>
      <p:sp>
        <p:nvSpPr>
          <p:cNvPr id="4" name="Content Placeholder 3">
            <a:extLst>
              <a:ext uri="{FF2B5EF4-FFF2-40B4-BE49-F238E27FC236}">
                <a16:creationId xmlns:a16="http://schemas.microsoft.com/office/drawing/2014/main" id="{A394C6AC-9A8B-9F28-67D4-2EC5E7CA6CE8}"/>
              </a:ext>
            </a:extLst>
          </p:cNvPr>
          <p:cNvSpPr>
            <a:spLocks noGrp="1"/>
          </p:cNvSpPr>
          <p:nvPr>
            <p:ph sz="half" idx="2"/>
          </p:nvPr>
        </p:nvSpPr>
        <p:spPr/>
        <p:txBody>
          <a:bodyPr/>
          <a:lstStyle/>
          <a:p>
            <a:r>
              <a:rPr lang="en-US" sz="2400" dirty="0"/>
              <a:t>However, carbide fuels go to significantly higher burnups, leading to larger fission product inventories</a:t>
            </a:r>
          </a:p>
          <a:p>
            <a:r>
              <a:rPr lang="en-US" sz="2400" dirty="0"/>
              <a:t>Burnup limits are imposed by cladding stresses/damage due to fission gas pressure and FCMI</a:t>
            </a:r>
          </a:p>
        </p:txBody>
      </p:sp>
      <p:sp>
        <p:nvSpPr>
          <p:cNvPr id="5" name="Slide Number Placeholder 4">
            <a:extLst>
              <a:ext uri="{FF2B5EF4-FFF2-40B4-BE49-F238E27FC236}">
                <a16:creationId xmlns:a16="http://schemas.microsoft.com/office/drawing/2014/main" id="{49DA1353-6BB8-89B5-1DA7-D0D2D47321D1}"/>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660271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0AB6-2DF3-5268-6963-D38D0648BFD4}"/>
              </a:ext>
            </a:extLst>
          </p:cNvPr>
          <p:cNvSpPr>
            <a:spLocks noGrp="1"/>
          </p:cNvSpPr>
          <p:nvPr>
            <p:ph type="title"/>
          </p:nvPr>
        </p:nvSpPr>
        <p:spPr/>
        <p:txBody>
          <a:bodyPr/>
          <a:lstStyle/>
          <a:p>
            <a:r>
              <a:rPr lang="en-US" dirty="0"/>
              <a:t>Questions on carbide fuel overview?</a:t>
            </a:r>
          </a:p>
        </p:txBody>
      </p:sp>
      <p:sp>
        <p:nvSpPr>
          <p:cNvPr id="3" name="Content Placeholder 2">
            <a:extLst>
              <a:ext uri="{FF2B5EF4-FFF2-40B4-BE49-F238E27FC236}">
                <a16:creationId xmlns:a16="http://schemas.microsoft.com/office/drawing/2014/main" id="{E96A43B3-7358-1C5D-E197-7623CBB27CFA}"/>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3D3C1A34-CBEE-0353-9FAB-49DF46FD46E9}"/>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386D0107-E049-9522-75B9-ECDE1F20A21F}"/>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3422165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2A0-F305-5736-FE6A-329FC9215562}"/>
              </a:ext>
            </a:extLst>
          </p:cNvPr>
          <p:cNvSpPr>
            <a:spLocks noGrp="1"/>
          </p:cNvSpPr>
          <p:nvPr>
            <p:ph type="title"/>
          </p:nvPr>
        </p:nvSpPr>
        <p:spPr/>
        <p:txBody>
          <a:bodyPr/>
          <a:lstStyle/>
          <a:p>
            <a:r>
              <a:rPr lang="en-US" dirty="0"/>
              <a:t>U(Pu)-C Phases</a:t>
            </a:r>
          </a:p>
        </p:txBody>
      </p:sp>
      <p:sp>
        <p:nvSpPr>
          <p:cNvPr id="3" name="Content Placeholder 2">
            <a:extLst>
              <a:ext uri="{FF2B5EF4-FFF2-40B4-BE49-F238E27FC236}">
                <a16:creationId xmlns:a16="http://schemas.microsoft.com/office/drawing/2014/main" id="{B7B55A35-429C-84EF-0E5E-DFCA47999421}"/>
              </a:ext>
            </a:extLst>
          </p:cNvPr>
          <p:cNvSpPr>
            <a:spLocks noGrp="1"/>
          </p:cNvSpPr>
          <p:nvPr>
            <p:ph sz="half" idx="1"/>
          </p:nvPr>
        </p:nvSpPr>
        <p:spPr/>
        <p:txBody>
          <a:bodyPr/>
          <a:lstStyle/>
          <a:p>
            <a:r>
              <a:rPr lang="en-US" sz="2000" dirty="0"/>
              <a:t>Uranium forms three compounds with carbon: UC, U2C3, and UC2, with only U2C3 being stoichiometric</a:t>
            </a:r>
          </a:p>
          <a:p>
            <a:r>
              <a:rPr lang="en-US" sz="2000" dirty="0"/>
              <a:t>UC is stable over a wide temperature and composition range</a:t>
            </a:r>
          </a:p>
          <a:p>
            <a:r>
              <a:rPr lang="en-US" sz="2000" dirty="0"/>
              <a:t>UC2 is stable in two high temperature phases</a:t>
            </a:r>
          </a:p>
          <a:p>
            <a:r>
              <a:rPr lang="en-US" sz="2000" dirty="0"/>
              <a:t>The Pu–C system has four compounds: Pu3C2, PuC1–x, Pu2C3, and PuC2</a:t>
            </a:r>
          </a:p>
          <a:p>
            <a:r>
              <a:rPr lang="en-US" sz="2000" dirty="0"/>
              <a:t>UC and </a:t>
            </a:r>
            <a:r>
              <a:rPr lang="en-US" sz="2000" dirty="0" err="1"/>
              <a:t>PuC</a:t>
            </a:r>
            <a:r>
              <a:rPr lang="en-US" sz="2000" dirty="0"/>
              <a:t> are face-centered cubic structures (NaCl-type)</a:t>
            </a:r>
          </a:p>
        </p:txBody>
      </p:sp>
      <p:sp>
        <p:nvSpPr>
          <p:cNvPr id="5" name="Slide Number Placeholder 4">
            <a:extLst>
              <a:ext uri="{FF2B5EF4-FFF2-40B4-BE49-F238E27FC236}">
                <a16:creationId xmlns:a16="http://schemas.microsoft.com/office/drawing/2014/main" id="{190EEB34-26B2-8EB2-1D1B-40AF71482A0C}"/>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6" name="Content Placeholder 4">
            <a:extLst>
              <a:ext uri="{FF2B5EF4-FFF2-40B4-BE49-F238E27FC236}">
                <a16:creationId xmlns:a16="http://schemas.microsoft.com/office/drawing/2014/main" id="{AD9AFA01-D07D-4E58-FF82-16667B39EAE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auto">
          <a:xfrm>
            <a:off x="6501950" y="2038423"/>
            <a:ext cx="5168153" cy="40178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2991043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1C8F-E88B-7742-AEB2-46AFA5B6409A}"/>
              </a:ext>
            </a:extLst>
          </p:cNvPr>
          <p:cNvSpPr>
            <a:spLocks noGrp="1"/>
          </p:cNvSpPr>
          <p:nvPr>
            <p:ph type="title"/>
          </p:nvPr>
        </p:nvSpPr>
        <p:spPr/>
        <p:txBody>
          <a:bodyPr/>
          <a:lstStyle/>
          <a:p>
            <a:r>
              <a:rPr lang="en-US" dirty="0"/>
              <a:t>U/Pu-C Phase</a:t>
            </a:r>
          </a:p>
        </p:txBody>
      </p:sp>
      <p:pic>
        <p:nvPicPr>
          <p:cNvPr id="6" name="Content Placeholder 5">
            <a:extLst>
              <a:ext uri="{FF2B5EF4-FFF2-40B4-BE49-F238E27FC236}">
                <a16:creationId xmlns:a16="http://schemas.microsoft.com/office/drawing/2014/main" id="{B3D5C563-6A58-B040-B702-2BAB72907BE3}"/>
              </a:ext>
            </a:extLst>
          </p:cNvPr>
          <p:cNvPicPr>
            <a:picLocks noGrp="1" noChangeAspect="1"/>
          </p:cNvPicPr>
          <p:nvPr>
            <p:ph sz="half" idx="1"/>
          </p:nvPr>
        </p:nvPicPr>
        <p:blipFill>
          <a:blip r:embed="rId2"/>
          <a:stretch>
            <a:fillRect/>
          </a:stretch>
        </p:blipFill>
        <p:spPr>
          <a:xfrm>
            <a:off x="1863850" y="1975151"/>
            <a:ext cx="8464299" cy="3863889"/>
          </a:xfrm>
          <a:prstGeom prst="rect">
            <a:avLst/>
          </a:prstGeom>
        </p:spPr>
      </p:pic>
      <p:sp>
        <p:nvSpPr>
          <p:cNvPr id="5" name="Slide Number Placeholder 4">
            <a:extLst>
              <a:ext uri="{FF2B5EF4-FFF2-40B4-BE49-F238E27FC236}">
                <a16:creationId xmlns:a16="http://schemas.microsoft.com/office/drawing/2014/main" id="{7403A8A2-EBA6-8949-81B8-AC8A99940712}"/>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spTree>
    <p:extLst>
      <p:ext uri="{BB962C8B-B14F-4D97-AF65-F5344CB8AC3E}">
        <p14:creationId xmlns:p14="http://schemas.microsoft.com/office/powerpoint/2010/main" val="1759899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82E71-2EFC-3144-A39F-0D931DCCD7F4}"/>
              </a:ext>
            </a:extLst>
          </p:cNvPr>
          <p:cNvSpPr>
            <a:spLocks noGrp="1"/>
          </p:cNvSpPr>
          <p:nvPr>
            <p:ph type="title"/>
          </p:nvPr>
        </p:nvSpPr>
        <p:spPr/>
        <p:txBody>
          <a:bodyPr/>
          <a:lstStyle/>
          <a:p>
            <a:r>
              <a:rPr lang="en-US" dirty="0"/>
              <a:t>U/Pu2-C3</a:t>
            </a:r>
          </a:p>
        </p:txBody>
      </p:sp>
      <p:sp>
        <p:nvSpPr>
          <p:cNvPr id="3" name="Content Placeholder 2">
            <a:extLst>
              <a:ext uri="{FF2B5EF4-FFF2-40B4-BE49-F238E27FC236}">
                <a16:creationId xmlns:a16="http://schemas.microsoft.com/office/drawing/2014/main" id="{4CA2C577-5DF8-8042-AB8A-ADF405838207}"/>
              </a:ext>
            </a:extLst>
          </p:cNvPr>
          <p:cNvSpPr>
            <a:spLocks noGrp="1"/>
          </p:cNvSpPr>
          <p:nvPr>
            <p:ph sz="half" idx="1"/>
          </p:nvPr>
        </p:nvSpPr>
        <p:spPr>
          <a:xfrm>
            <a:off x="609600" y="1968503"/>
            <a:ext cx="10972800" cy="1170113"/>
          </a:xfrm>
        </p:spPr>
        <p:txBody>
          <a:bodyPr/>
          <a:lstStyle/>
          <a:p>
            <a:r>
              <a:rPr lang="en-US" sz="2200" dirty="0"/>
              <a:t>This structure is more complex than that of the mono- and dicarbides, and is often difficult to form</a:t>
            </a:r>
          </a:p>
          <a:p>
            <a:r>
              <a:rPr lang="en-US" sz="2200" dirty="0"/>
              <a:t>U2C3 is produced by a complex preparation procedure and decomposes into a mixture of mono- and dicarbides at high temperatures</a:t>
            </a:r>
          </a:p>
          <a:p>
            <a:endParaRPr lang="en-US" sz="2200" dirty="0"/>
          </a:p>
          <a:p>
            <a:endParaRPr lang="en-US" sz="2200" dirty="0"/>
          </a:p>
        </p:txBody>
      </p:sp>
      <p:pic>
        <p:nvPicPr>
          <p:cNvPr id="6" name="Content Placeholder 5">
            <a:extLst>
              <a:ext uri="{FF2B5EF4-FFF2-40B4-BE49-F238E27FC236}">
                <a16:creationId xmlns:a16="http://schemas.microsoft.com/office/drawing/2014/main" id="{2DD6098A-3E88-3940-ACE8-13DAAEE0E111}"/>
              </a:ext>
            </a:extLst>
          </p:cNvPr>
          <p:cNvPicPr>
            <a:picLocks noGrp="1" noChangeAspect="1"/>
          </p:cNvPicPr>
          <p:nvPr>
            <p:ph sz="half" idx="2"/>
          </p:nvPr>
        </p:nvPicPr>
        <p:blipFill>
          <a:blip r:embed="rId2"/>
          <a:stretch>
            <a:fillRect/>
          </a:stretch>
        </p:blipFill>
        <p:spPr>
          <a:xfrm>
            <a:off x="2190680" y="3694008"/>
            <a:ext cx="8221947" cy="2662344"/>
          </a:xfrm>
          <a:prstGeom prst="rect">
            <a:avLst/>
          </a:prstGeom>
        </p:spPr>
      </p:pic>
      <p:sp>
        <p:nvSpPr>
          <p:cNvPr id="5" name="Slide Number Placeholder 4">
            <a:extLst>
              <a:ext uri="{FF2B5EF4-FFF2-40B4-BE49-F238E27FC236}">
                <a16:creationId xmlns:a16="http://schemas.microsoft.com/office/drawing/2014/main" id="{060802DF-F464-C147-89B9-3A4CF96508F2}"/>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852010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0BB2-F999-A149-87DE-31AF525C3360}"/>
              </a:ext>
            </a:extLst>
          </p:cNvPr>
          <p:cNvSpPr>
            <a:spLocks noGrp="1"/>
          </p:cNvSpPr>
          <p:nvPr>
            <p:ph type="title"/>
          </p:nvPr>
        </p:nvSpPr>
        <p:spPr/>
        <p:txBody>
          <a:bodyPr/>
          <a:lstStyle/>
          <a:p>
            <a:r>
              <a:rPr lang="en-US" dirty="0"/>
              <a:t>Phase Diagrams of Carbides</a:t>
            </a:r>
          </a:p>
        </p:txBody>
      </p:sp>
      <p:pic>
        <p:nvPicPr>
          <p:cNvPr id="6" name="Content Placeholder 5">
            <a:extLst>
              <a:ext uri="{FF2B5EF4-FFF2-40B4-BE49-F238E27FC236}">
                <a16:creationId xmlns:a16="http://schemas.microsoft.com/office/drawing/2014/main" id="{165A8731-948F-0340-96A1-1D477E926424}"/>
              </a:ext>
            </a:extLst>
          </p:cNvPr>
          <p:cNvPicPr>
            <a:picLocks noGrp="1" noChangeAspect="1"/>
          </p:cNvPicPr>
          <p:nvPr>
            <p:ph sz="half" idx="1"/>
          </p:nvPr>
        </p:nvPicPr>
        <p:blipFill>
          <a:blip r:embed="rId2"/>
          <a:stretch>
            <a:fillRect/>
          </a:stretch>
        </p:blipFill>
        <p:spPr>
          <a:xfrm>
            <a:off x="711200" y="2318160"/>
            <a:ext cx="5384800" cy="4146720"/>
          </a:xfrm>
          <a:prstGeom prst="rect">
            <a:avLst/>
          </a:prstGeom>
        </p:spPr>
      </p:pic>
      <p:pic>
        <p:nvPicPr>
          <p:cNvPr id="7" name="Content Placeholder 6">
            <a:extLst>
              <a:ext uri="{FF2B5EF4-FFF2-40B4-BE49-F238E27FC236}">
                <a16:creationId xmlns:a16="http://schemas.microsoft.com/office/drawing/2014/main" id="{2F07296D-3AF3-0741-B841-0AA9B7F84D5F}"/>
              </a:ext>
            </a:extLst>
          </p:cNvPr>
          <p:cNvPicPr>
            <a:picLocks noGrp="1" noChangeAspect="1"/>
          </p:cNvPicPr>
          <p:nvPr>
            <p:ph sz="half" idx="2"/>
          </p:nvPr>
        </p:nvPicPr>
        <p:blipFill>
          <a:blip r:embed="rId3"/>
          <a:stretch>
            <a:fillRect/>
          </a:stretch>
        </p:blipFill>
        <p:spPr>
          <a:xfrm>
            <a:off x="6334212" y="2318160"/>
            <a:ext cx="5131453" cy="4157663"/>
          </a:xfrm>
          <a:prstGeom prst="rect">
            <a:avLst/>
          </a:prstGeom>
        </p:spPr>
      </p:pic>
      <p:sp>
        <p:nvSpPr>
          <p:cNvPr id="5" name="Slide Number Placeholder 4">
            <a:extLst>
              <a:ext uri="{FF2B5EF4-FFF2-40B4-BE49-F238E27FC236}">
                <a16:creationId xmlns:a16="http://schemas.microsoft.com/office/drawing/2014/main" id="{4EE83E78-012B-1E47-B16F-E9D3BA390399}"/>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
        <p:nvSpPr>
          <p:cNvPr id="4" name="TextBox 3">
            <a:extLst>
              <a:ext uri="{FF2B5EF4-FFF2-40B4-BE49-F238E27FC236}">
                <a16:creationId xmlns:a16="http://schemas.microsoft.com/office/drawing/2014/main" id="{5127E9E9-CFC5-751F-89C5-D6278ACC6B3B}"/>
              </a:ext>
            </a:extLst>
          </p:cNvPr>
          <p:cNvSpPr txBox="1"/>
          <p:nvPr/>
        </p:nvSpPr>
        <p:spPr>
          <a:xfrm>
            <a:off x="609600" y="1792029"/>
            <a:ext cx="10972800" cy="646331"/>
          </a:xfrm>
          <a:prstGeom prst="rect">
            <a:avLst/>
          </a:prstGeom>
          <a:noFill/>
        </p:spPr>
        <p:txBody>
          <a:bodyPr wrap="square">
            <a:spAutoFit/>
          </a:bodyPr>
          <a:lstStyle/>
          <a:p>
            <a:pPr marL="285750" indent="-285750">
              <a:buFont typeface="Arial" panose="020B0604020202020204" pitchFamily="34" charset="0"/>
              <a:buChar char="•"/>
            </a:pPr>
            <a:r>
              <a:rPr lang="en-US" sz="1800" dirty="0"/>
              <a:t>The differences in the UC/</a:t>
            </a:r>
            <a:r>
              <a:rPr lang="en-US" sz="1800" dirty="0" err="1"/>
              <a:t>PuC</a:t>
            </a:r>
            <a:r>
              <a:rPr lang="en-US" sz="1800" dirty="0"/>
              <a:t> diagrams are mainly due to (i) the presence of Pu3C2 compound, (ii) the low thermal stability of </a:t>
            </a:r>
            <a:r>
              <a:rPr lang="en-US" sz="1800" dirty="0" err="1"/>
              <a:t>PuC</a:t>
            </a:r>
            <a:r>
              <a:rPr lang="en-US" sz="1800" dirty="0"/>
              <a:t> compared to UC, and (iii) the high stability of Pu2C3 compared to U2C3</a:t>
            </a:r>
          </a:p>
        </p:txBody>
      </p:sp>
    </p:spTree>
    <p:extLst>
      <p:ext uri="{BB962C8B-B14F-4D97-AF65-F5344CB8AC3E}">
        <p14:creationId xmlns:p14="http://schemas.microsoft.com/office/powerpoint/2010/main" val="3561921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1E25F-60CE-CE4A-B120-09555536AC60}"/>
              </a:ext>
            </a:extLst>
          </p:cNvPr>
          <p:cNvSpPr>
            <a:spLocks noGrp="1"/>
          </p:cNvSpPr>
          <p:nvPr>
            <p:ph type="title"/>
          </p:nvPr>
        </p:nvSpPr>
        <p:spPr/>
        <p:txBody>
          <a:bodyPr/>
          <a:lstStyle/>
          <a:p>
            <a:r>
              <a:rPr lang="en-US" dirty="0"/>
              <a:t>Phase Properties</a:t>
            </a:r>
          </a:p>
        </p:txBody>
      </p:sp>
      <p:sp>
        <p:nvSpPr>
          <p:cNvPr id="3" name="Content Placeholder 2">
            <a:extLst>
              <a:ext uri="{FF2B5EF4-FFF2-40B4-BE49-F238E27FC236}">
                <a16:creationId xmlns:a16="http://schemas.microsoft.com/office/drawing/2014/main" id="{2A379551-B673-8D42-AB4A-B1CDA688DC56}"/>
              </a:ext>
            </a:extLst>
          </p:cNvPr>
          <p:cNvSpPr>
            <a:spLocks noGrp="1"/>
          </p:cNvSpPr>
          <p:nvPr>
            <p:ph sz="half" idx="1"/>
          </p:nvPr>
        </p:nvSpPr>
        <p:spPr/>
        <p:txBody>
          <a:bodyPr/>
          <a:lstStyle/>
          <a:p>
            <a:r>
              <a:rPr lang="en-US" sz="2200" dirty="0"/>
              <a:t>The brittleness of the monocarbides is due to alternate close-packed planes of metal and nonmetal atoms, restricting the slip and thereby hardening the crystal</a:t>
            </a:r>
          </a:p>
          <a:p>
            <a:r>
              <a:rPr lang="en-US" sz="2200" dirty="0"/>
              <a:t>Many fission products are not soluble in the monocarbide lattice due to the nature of the carbon bonding</a:t>
            </a:r>
          </a:p>
          <a:p>
            <a:r>
              <a:rPr lang="en-US" sz="2200" dirty="0"/>
              <a:t>The high density and low FP solubility of UC leads to higher swelling than UO2</a:t>
            </a:r>
          </a:p>
          <a:p>
            <a:endParaRPr lang="en-US" sz="2200" dirty="0"/>
          </a:p>
          <a:p>
            <a:endParaRPr lang="en-US" sz="2200" dirty="0"/>
          </a:p>
        </p:txBody>
      </p:sp>
      <p:sp>
        <p:nvSpPr>
          <p:cNvPr id="4" name="Content Placeholder 3">
            <a:extLst>
              <a:ext uri="{FF2B5EF4-FFF2-40B4-BE49-F238E27FC236}">
                <a16:creationId xmlns:a16="http://schemas.microsoft.com/office/drawing/2014/main" id="{7FE29DDC-36AD-F648-93C2-A2D2456A4805}"/>
              </a:ext>
            </a:extLst>
          </p:cNvPr>
          <p:cNvSpPr>
            <a:spLocks noGrp="1"/>
          </p:cNvSpPr>
          <p:nvPr>
            <p:ph sz="half" idx="2"/>
          </p:nvPr>
        </p:nvSpPr>
        <p:spPr/>
        <p:txBody>
          <a:bodyPr/>
          <a:lstStyle/>
          <a:p>
            <a:r>
              <a:rPr lang="en-US" sz="2200" dirty="0"/>
              <a:t>The U2C3 phase has more open space in the structure, and generally has less swelling than UC</a:t>
            </a:r>
          </a:p>
          <a:p>
            <a:r>
              <a:rPr lang="en-US" sz="2200" dirty="0"/>
              <a:t>An increase in O and N impurities results in an increase of carbon activity and CO pressure of the fuel</a:t>
            </a:r>
          </a:p>
          <a:p>
            <a:r>
              <a:rPr lang="en-US" sz="2200" dirty="0"/>
              <a:t>O impurities are also known to contribute to the actinide redistribution in carbide fuels and fuel restructuring during burnup</a:t>
            </a:r>
          </a:p>
          <a:p>
            <a:endParaRPr lang="en-US" sz="2200" dirty="0"/>
          </a:p>
        </p:txBody>
      </p:sp>
      <p:sp>
        <p:nvSpPr>
          <p:cNvPr id="5" name="Slide Number Placeholder 4">
            <a:extLst>
              <a:ext uri="{FF2B5EF4-FFF2-40B4-BE49-F238E27FC236}">
                <a16:creationId xmlns:a16="http://schemas.microsoft.com/office/drawing/2014/main" id="{642009A3-D16C-3D4E-81D1-A135A90A048A}"/>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spTree>
    <p:extLst>
      <p:ext uri="{BB962C8B-B14F-4D97-AF65-F5344CB8AC3E}">
        <p14:creationId xmlns:p14="http://schemas.microsoft.com/office/powerpoint/2010/main" val="382548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88CC-1BB6-514C-AC44-52BB40C50D42}"/>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9B16093F-79D4-BF49-AF82-65E548519481}"/>
              </a:ext>
            </a:extLst>
          </p:cNvPr>
          <p:cNvSpPr>
            <a:spLocks noGrp="1"/>
          </p:cNvSpPr>
          <p:nvPr>
            <p:ph sz="half" idx="1"/>
          </p:nvPr>
        </p:nvSpPr>
        <p:spPr/>
        <p:txBody>
          <a:bodyPr/>
          <a:lstStyle/>
          <a:p>
            <a:r>
              <a:rPr lang="en-US" sz="2200" dirty="0"/>
              <a:t>The thermophysical properties that are of importance and affect the fuel performance are solidus/liquidus temperature, thermal conductivity, coefficient of thermal expansion, elastic/fracture properties, creep, and hardness at ambient and at high temperatures</a:t>
            </a:r>
          </a:p>
          <a:p>
            <a:r>
              <a:rPr lang="en-US" sz="2200" dirty="0"/>
              <a:t>The solidus/liquidus temperatures along with thermal conductivity limit the fuel operating temperature in terms of linear heating rate</a:t>
            </a:r>
          </a:p>
          <a:p>
            <a:endParaRPr lang="en-US" sz="2200" dirty="0"/>
          </a:p>
          <a:p>
            <a:endParaRPr lang="en-US" sz="2200" dirty="0"/>
          </a:p>
        </p:txBody>
      </p:sp>
      <p:sp>
        <p:nvSpPr>
          <p:cNvPr id="4" name="Content Placeholder 3">
            <a:extLst>
              <a:ext uri="{FF2B5EF4-FFF2-40B4-BE49-F238E27FC236}">
                <a16:creationId xmlns:a16="http://schemas.microsoft.com/office/drawing/2014/main" id="{5D1C976F-524A-4B44-90F3-0C48AEE31CA5}"/>
              </a:ext>
            </a:extLst>
          </p:cNvPr>
          <p:cNvSpPr>
            <a:spLocks noGrp="1"/>
          </p:cNvSpPr>
          <p:nvPr>
            <p:ph sz="half" idx="2"/>
          </p:nvPr>
        </p:nvSpPr>
        <p:spPr>
          <a:xfrm>
            <a:off x="6197600" y="1968503"/>
            <a:ext cx="5700110" cy="4157663"/>
          </a:xfrm>
        </p:spPr>
        <p:txBody>
          <a:bodyPr/>
          <a:lstStyle/>
          <a:p>
            <a:r>
              <a:rPr lang="en-US" sz="2200" dirty="0"/>
              <a:t>Thermal conductivity varies as a function of density, porosity (shape, size, and distribution), composition, presence of a second phase, grain size, etc.</a:t>
            </a:r>
          </a:p>
          <a:p>
            <a:r>
              <a:rPr lang="en-US" sz="2200" dirty="0"/>
              <a:t>Coefficient of thermal expansion is an important design parameter, the stresses generated in the fuel and by the fuel in the cladding are partly due to the difference in the CTE between the fuel and the cladding</a:t>
            </a:r>
          </a:p>
          <a:p>
            <a:endParaRPr lang="en-US" sz="2200" dirty="0"/>
          </a:p>
          <a:p>
            <a:endParaRPr lang="en-US" sz="2200" dirty="0"/>
          </a:p>
        </p:txBody>
      </p:sp>
      <p:sp>
        <p:nvSpPr>
          <p:cNvPr id="5" name="Slide Number Placeholder 4">
            <a:extLst>
              <a:ext uri="{FF2B5EF4-FFF2-40B4-BE49-F238E27FC236}">
                <a16:creationId xmlns:a16="http://schemas.microsoft.com/office/drawing/2014/main" id="{C2264A02-2A42-0C4B-8A4E-291E1FA62EB8}"/>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965333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7BD0-C1CB-C349-A457-2C88A6EF970E}"/>
              </a:ext>
            </a:extLst>
          </p:cNvPr>
          <p:cNvSpPr>
            <a:spLocks noGrp="1"/>
          </p:cNvSpPr>
          <p:nvPr>
            <p:ph type="title"/>
          </p:nvPr>
        </p:nvSpPr>
        <p:spPr/>
        <p:txBody>
          <a:bodyPr/>
          <a:lstStyle/>
          <a:p>
            <a:r>
              <a:rPr lang="en-US" dirty="0"/>
              <a:t>Key Properties</a:t>
            </a:r>
          </a:p>
        </p:txBody>
      </p:sp>
      <p:sp>
        <p:nvSpPr>
          <p:cNvPr id="3" name="Content Placeholder 2">
            <a:extLst>
              <a:ext uri="{FF2B5EF4-FFF2-40B4-BE49-F238E27FC236}">
                <a16:creationId xmlns:a16="http://schemas.microsoft.com/office/drawing/2014/main" id="{E9F86B96-B1AD-624F-8D43-C46F28840DB8}"/>
              </a:ext>
            </a:extLst>
          </p:cNvPr>
          <p:cNvSpPr>
            <a:spLocks noGrp="1"/>
          </p:cNvSpPr>
          <p:nvPr>
            <p:ph sz="half" idx="1"/>
          </p:nvPr>
        </p:nvSpPr>
        <p:spPr/>
        <p:txBody>
          <a:bodyPr/>
          <a:lstStyle/>
          <a:p>
            <a:r>
              <a:rPr lang="en-US" sz="2200" dirty="0"/>
              <a:t>The elastic and fracture properties of the fuel are primarily responsible for the extent and severity of FCMI</a:t>
            </a:r>
          </a:p>
          <a:p>
            <a:r>
              <a:rPr lang="en-US" sz="2200" dirty="0"/>
              <a:t>Both thermal-induced and irradiation- induced creep of the fuel also determine the extent of FCMI</a:t>
            </a:r>
          </a:p>
          <a:p>
            <a:r>
              <a:rPr lang="en-US" sz="2200" dirty="0"/>
              <a:t>Mechanical and creep properties depend on composition, second phases, grain size, etc.</a:t>
            </a:r>
          </a:p>
          <a:p>
            <a:r>
              <a:rPr lang="en-US" sz="2200" dirty="0"/>
              <a:t>Pu lowers melting point, decreases thermal conductivity, increases expansion, and softens the fuel</a:t>
            </a:r>
          </a:p>
          <a:p>
            <a:endParaRPr lang="en-US" sz="2200" dirty="0"/>
          </a:p>
          <a:p>
            <a:endParaRPr lang="en-US" sz="2200" dirty="0"/>
          </a:p>
        </p:txBody>
      </p:sp>
      <p:pic>
        <p:nvPicPr>
          <p:cNvPr id="6" name="Content Placeholder 5">
            <a:extLst>
              <a:ext uri="{FF2B5EF4-FFF2-40B4-BE49-F238E27FC236}">
                <a16:creationId xmlns:a16="http://schemas.microsoft.com/office/drawing/2014/main" id="{31A647DE-3829-494D-9F53-7F4BB235E734}"/>
              </a:ext>
            </a:extLst>
          </p:cNvPr>
          <p:cNvPicPr>
            <a:picLocks noGrp="1" noChangeAspect="1"/>
          </p:cNvPicPr>
          <p:nvPr>
            <p:ph sz="half" idx="2"/>
          </p:nvPr>
        </p:nvPicPr>
        <p:blipFill>
          <a:blip r:embed="rId2"/>
          <a:stretch>
            <a:fillRect/>
          </a:stretch>
        </p:blipFill>
        <p:spPr>
          <a:xfrm>
            <a:off x="6197600" y="2895151"/>
            <a:ext cx="5384800" cy="2304360"/>
          </a:xfrm>
          <a:prstGeom prst="rect">
            <a:avLst/>
          </a:prstGeom>
        </p:spPr>
      </p:pic>
      <p:sp>
        <p:nvSpPr>
          <p:cNvPr id="5" name="Slide Number Placeholder 4">
            <a:extLst>
              <a:ext uri="{FF2B5EF4-FFF2-40B4-BE49-F238E27FC236}">
                <a16:creationId xmlns:a16="http://schemas.microsoft.com/office/drawing/2014/main" id="{B4C3B9DF-A6BF-AF4B-9DEE-02BA4A2DDB5C}"/>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4175726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2D744-E000-D044-9BFC-6EE1C9CED3EF}"/>
              </a:ext>
            </a:extLst>
          </p:cNvPr>
          <p:cNvSpPr>
            <a:spLocks noGrp="1"/>
          </p:cNvSpPr>
          <p:nvPr>
            <p:ph type="title"/>
          </p:nvPr>
        </p:nvSpPr>
        <p:spPr/>
        <p:txBody>
          <a:bodyPr/>
          <a:lstStyle/>
          <a:p>
            <a:r>
              <a:rPr lang="en-US" dirty="0"/>
              <a:t>In-pile behavior</a:t>
            </a:r>
          </a:p>
        </p:txBody>
      </p:sp>
      <p:sp>
        <p:nvSpPr>
          <p:cNvPr id="3" name="Content Placeholder 2">
            <a:extLst>
              <a:ext uri="{FF2B5EF4-FFF2-40B4-BE49-F238E27FC236}">
                <a16:creationId xmlns:a16="http://schemas.microsoft.com/office/drawing/2014/main" id="{1DCFBD09-66E9-F641-BD46-4D986467D8B8}"/>
              </a:ext>
            </a:extLst>
          </p:cNvPr>
          <p:cNvSpPr>
            <a:spLocks noGrp="1"/>
          </p:cNvSpPr>
          <p:nvPr>
            <p:ph sz="half" idx="1"/>
          </p:nvPr>
        </p:nvSpPr>
        <p:spPr>
          <a:xfrm>
            <a:off x="609599" y="1968503"/>
            <a:ext cx="10972799" cy="4157663"/>
          </a:xfrm>
        </p:spPr>
        <p:txBody>
          <a:bodyPr/>
          <a:lstStyle/>
          <a:p>
            <a:r>
              <a:rPr lang="en-US" sz="2100" dirty="0"/>
              <a:t>The in-pile fuel behavior depends to a large extent on the fuel operating temperature, which in turn depends on the type of pin or bond concept, namely, He-bonded fuel or Na-bonded fuel</a:t>
            </a:r>
          </a:p>
          <a:p>
            <a:r>
              <a:rPr lang="en-US" sz="2100" dirty="0"/>
              <a:t>A large number of mixed carbide fuels have been irradiated in the US, Europe, Russia, India, and Japan</a:t>
            </a:r>
          </a:p>
          <a:p>
            <a:r>
              <a:rPr lang="en-US" sz="2100" dirty="0"/>
              <a:t>The performance analysis of the mixed carbide fuel can be best understood based on their burnup period, the structural changes occurring during the burnup, and subsequently the swelling of the pin</a:t>
            </a:r>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331414E0-D9C5-CD48-876D-85B98E715584}"/>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1754100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1141D-3C90-5041-9E09-F750A9C6B96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5D452DFC-4943-064B-902E-2AF9A1B3FDF7}"/>
              </a:ext>
            </a:extLst>
          </p:cNvPr>
          <p:cNvSpPr>
            <a:spLocks noGrp="1"/>
          </p:cNvSpPr>
          <p:nvPr>
            <p:ph sz="half" idx="1"/>
          </p:nvPr>
        </p:nvSpPr>
        <p:spPr/>
        <p:txBody>
          <a:bodyPr/>
          <a:lstStyle/>
          <a:p>
            <a:r>
              <a:rPr lang="en-US" sz="2200" dirty="0"/>
              <a:t>This is for He-bonded fuels</a:t>
            </a:r>
          </a:p>
          <a:p>
            <a:r>
              <a:rPr lang="en-US" sz="2200" dirty="0"/>
              <a:t>Stage A: At the BOL, the fuel undergoes cracking, which results in the movement of the fragmented fuel toward the cladding surface</a:t>
            </a:r>
          </a:p>
          <a:p>
            <a:r>
              <a:rPr lang="en-US" sz="2200" dirty="0"/>
              <a:t>The fuel–clad gap partly reduces but does not close</a:t>
            </a:r>
          </a:p>
          <a:p>
            <a:r>
              <a:rPr lang="en-US" sz="2200" dirty="0"/>
              <a:t>Fuel sees a dramatic increase in temperature due to cracking</a:t>
            </a:r>
          </a:p>
          <a:p>
            <a:r>
              <a:rPr lang="en-US" sz="2200" dirty="0"/>
              <a:t>Stage A lasts for a few days</a:t>
            </a:r>
          </a:p>
          <a:p>
            <a:endParaRPr lang="en-US" sz="2200" dirty="0"/>
          </a:p>
          <a:p>
            <a:endParaRPr lang="en-US" sz="2200" dirty="0"/>
          </a:p>
        </p:txBody>
      </p:sp>
      <p:sp>
        <p:nvSpPr>
          <p:cNvPr id="5" name="Slide Number Placeholder 4">
            <a:extLst>
              <a:ext uri="{FF2B5EF4-FFF2-40B4-BE49-F238E27FC236}">
                <a16:creationId xmlns:a16="http://schemas.microsoft.com/office/drawing/2014/main" id="{811183AE-E984-6142-A43B-2C01C9421B30}"/>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Content Placeholder 5">
            <a:extLst>
              <a:ext uri="{FF2B5EF4-FFF2-40B4-BE49-F238E27FC236}">
                <a16:creationId xmlns:a16="http://schemas.microsoft.com/office/drawing/2014/main" id="{FD8D3293-6A26-6DA2-2193-C80B0A1FC7FF}"/>
              </a:ext>
            </a:extLst>
          </p:cNvPr>
          <p:cNvPicPr>
            <a:picLocks noChangeAspect="1"/>
          </p:cNvPicPr>
          <p:nvPr/>
        </p:nvPicPr>
        <p:blipFill>
          <a:blip r:embed="rId2"/>
          <a:stretch>
            <a:fillRect/>
          </a:stretch>
        </p:blipFill>
        <p:spPr bwMode="auto">
          <a:xfrm>
            <a:off x="6375779" y="1968500"/>
            <a:ext cx="5028441"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217928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pPr algn="l"/>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a:xfrm>
            <a:off x="609600" y="1968503"/>
            <a:ext cx="5593492" cy="4157663"/>
          </a:xfrm>
        </p:spPr>
        <p:txBody>
          <a:bodyPr/>
          <a:lstStyle/>
          <a:p>
            <a:r>
              <a:rPr lang="en-US" sz="2000" dirty="0"/>
              <a:t>Stage B: Fuel undergoes unrestrained free swelling, crack healing, or </a:t>
            </a:r>
            <a:r>
              <a:rPr lang="en-US" sz="2000" dirty="0" err="1"/>
              <a:t>resintering</a:t>
            </a:r>
            <a:endParaRPr lang="en-US" sz="2000" dirty="0"/>
          </a:p>
          <a:p>
            <a:r>
              <a:rPr lang="en-US" sz="2000" dirty="0" err="1"/>
              <a:t>Resintering</a:t>
            </a:r>
            <a:r>
              <a:rPr lang="en-US" sz="2000" dirty="0"/>
              <a:t>/densification occurs for thermally unstable (high Pu high O) or low-density fuels, which causes an initial increase in gap size resulting in the rise in the fuel surface temperature</a:t>
            </a:r>
          </a:p>
          <a:p>
            <a:r>
              <a:rPr lang="en-US" sz="2000" dirty="0"/>
              <a:t>In stage B, free swelling occurs and crack healing starts, which results in the relocation of fuel fragments further from the center of the fuel to the periphery</a:t>
            </a:r>
          </a:p>
          <a:p>
            <a:r>
              <a:rPr lang="en-US" sz="2000" dirty="0">
                <a:latin typeface="Arial" panose="020B0604020202020204" pitchFamily="34" charset="0"/>
                <a:cs typeface="Arial" panose="020B0604020202020204" pitchFamily="34" charset="0"/>
              </a:rPr>
              <a:t>Swelling causes fuel–clad gap closure, increase in heat transfer coefficient, and decrease in fuel surface temperature</a:t>
            </a:r>
            <a:endParaRPr lang="en-US" sz="2000" dirty="0"/>
          </a:p>
          <a:p>
            <a:endParaRPr lang="en-US" sz="20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816537" y="724144"/>
            <a:ext cx="4292187" cy="3548907"/>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sp>
        <p:nvSpPr>
          <p:cNvPr id="7" name="TextBox 6">
            <a:extLst>
              <a:ext uri="{FF2B5EF4-FFF2-40B4-BE49-F238E27FC236}">
                <a16:creationId xmlns:a16="http://schemas.microsoft.com/office/drawing/2014/main" id="{97E2CC9F-1EC5-FF6B-3BD7-545B8186DD70}"/>
              </a:ext>
            </a:extLst>
          </p:cNvPr>
          <p:cNvSpPr txBox="1"/>
          <p:nvPr/>
        </p:nvSpPr>
        <p:spPr>
          <a:xfrm>
            <a:off x="6300575" y="4427830"/>
            <a:ext cx="5281825" cy="1938992"/>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Surface roughness of fuel and cladding limits complete gap closure</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FCMI begins due to the swelling of the fuel</a:t>
            </a: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Stage B ends after a burnup of approximately 3 at.%</a:t>
            </a:r>
          </a:p>
        </p:txBody>
      </p:sp>
    </p:spTree>
    <p:extLst>
      <p:ext uri="{BB962C8B-B14F-4D97-AF65-F5344CB8AC3E}">
        <p14:creationId xmlns:p14="http://schemas.microsoft.com/office/powerpoint/2010/main" val="2840788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0BBE5-8976-7040-8E91-D762B0789F59}"/>
              </a:ext>
            </a:extLst>
          </p:cNvPr>
          <p:cNvSpPr>
            <a:spLocks noGrp="1"/>
          </p:cNvSpPr>
          <p:nvPr>
            <p:ph type="title"/>
          </p:nvPr>
        </p:nvSpPr>
        <p:spPr/>
        <p:txBody>
          <a:bodyPr/>
          <a:lstStyle/>
          <a:p>
            <a:r>
              <a:rPr lang="en-US" dirty="0"/>
              <a:t>Burnup Stages</a:t>
            </a:r>
          </a:p>
        </p:txBody>
      </p:sp>
      <p:sp>
        <p:nvSpPr>
          <p:cNvPr id="3" name="Content Placeholder 2">
            <a:extLst>
              <a:ext uri="{FF2B5EF4-FFF2-40B4-BE49-F238E27FC236}">
                <a16:creationId xmlns:a16="http://schemas.microsoft.com/office/drawing/2014/main" id="{ACD8FF96-A4A4-B04C-8E63-7F9402037E0E}"/>
              </a:ext>
            </a:extLst>
          </p:cNvPr>
          <p:cNvSpPr>
            <a:spLocks noGrp="1"/>
          </p:cNvSpPr>
          <p:nvPr>
            <p:ph sz="half" idx="1"/>
          </p:nvPr>
        </p:nvSpPr>
        <p:spPr/>
        <p:txBody>
          <a:bodyPr/>
          <a:lstStyle/>
          <a:p>
            <a:r>
              <a:rPr lang="en-US" sz="2200" dirty="0"/>
              <a:t>Stage C</a:t>
            </a:r>
          </a:p>
          <a:p>
            <a:r>
              <a:rPr lang="en-US" sz="2200" dirty="0"/>
              <a:t>This stage starts after fuel–clad gap closure when a steady minimum surface temperature is reached, and it continues until the end of fuel life</a:t>
            </a:r>
          </a:p>
          <a:p>
            <a:r>
              <a:rPr lang="en-US" sz="2200" dirty="0"/>
              <a:t>For carbide fuel, this could be up to 15 at.%</a:t>
            </a:r>
          </a:p>
          <a:p>
            <a:r>
              <a:rPr lang="en-US" sz="2200" dirty="0"/>
              <a:t>At this stage, more homogeneous fuel–cladding interaction starts</a:t>
            </a:r>
          </a:p>
          <a:p>
            <a:endParaRPr lang="en-US" sz="2200" dirty="0"/>
          </a:p>
        </p:txBody>
      </p:sp>
      <p:pic>
        <p:nvPicPr>
          <p:cNvPr id="6" name="Content Placeholder 5">
            <a:extLst>
              <a:ext uri="{FF2B5EF4-FFF2-40B4-BE49-F238E27FC236}">
                <a16:creationId xmlns:a16="http://schemas.microsoft.com/office/drawing/2014/main" id="{DFEF2B59-A0E5-C747-A7B4-2E0A6FAA672D}"/>
              </a:ext>
            </a:extLst>
          </p:cNvPr>
          <p:cNvPicPr>
            <a:picLocks noGrp="1" noChangeAspect="1"/>
          </p:cNvPicPr>
          <p:nvPr>
            <p:ph sz="half" idx="2"/>
          </p:nvPr>
        </p:nvPicPr>
        <p:blipFill>
          <a:blip r:embed="rId2"/>
          <a:stretch>
            <a:fillRect/>
          </a:stretch>
        </p:blipFill>
        <p:spPr>
          <a:xfrm>
            <a:off x="6375779" y="1968500"/>
            <a:ext cx="5028441" cy="4157663"/>
          </a:xfrm>
          <a:prstGeom prst="rect">
            <a:avLst/>
          </a:prstGeom>
        </p:spPr>
      </p:pic>
      <p:sp>
        <p:nvSpPr>
          <p:cNvPr id="5" name="Slide Number Placeholder 4">
            <a:extLst>
              <a:ext uri="{FF2B5EF4-FFF2-40B4-BE49-F238E27FC236}">
                <a16:creationId xmlns:a16="http://schemas.microsoft.com/office/drawing/2014/main" id="{EDEDD36B-4554-C54E-AFEC-4EBDDA51961E}"/>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1977332457"/>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4624</TotalTime>
  <Words>2555</Words>
  <Application>Microsoft Macintosh PowerPoint</Application>
  <PresentationFormat>Widescreen</PresentationFormat>
  <Paragraphs>215</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vt:lpstr>
      <vt:lpstr>2_NCStateU-horizontal-left-logo</vt:lpstr>
      <vt:lpstr>NE 763: Advanced Reactor Materials</vt:lpstr>
      <vt:lpstr>Housekeeping</vt:lpstr>
      <vt:lpstr>Last Time</vt:lpstr>
      <vt:lpstr>Need for molten salt data</vt:lpstr>
      <vt:lpstr>Molten Salt Thermal Properties Database</vt:lpstr>
      <vt:lpstr>Redlich-Kister expansion</vt:lpstr>
      <vt:lpstr>Redlich-Kister expansion</vt:lpstr>
      <vt:lpstr>End of Molten Salts</vt:lpstr>
      <vt:lpstr>Non-oxide ceramic fuels: Carbides and nitrides</vt:lpstr>
      <vt:lpstr>Why Carbides?</vt:lpstr>
      <vt:lpstr>Why Carbides?</vt:lpstr>
      <vt:lpstr>Carbide Fuels: Reactor Applications</vt:lpstr>
      <vt:lpstr>Fast Breeder Test Reactor (FBTR)</vt:lpstr>
      <vt:lpstr>US Interest in Carbide Fuels</vt:lpstr>
      <vt:lpstr>Carbide Pin Designs</vt:lpstr>
      <vt:lpstr>Fuel Density Definitions</vt:lpstr>
      <vt:lpstr>Carbide Fuel Details</vt:lpstr>
      <vt:lpstr>Carbide Fuel Details</vt:lpstr>
      <vt:lpstr>Questions on carbide fuel overview?</vt:lpstr>
      <vt:lpstr>U(Pu)-C Phases</vt:lpstr>
      <vt:lpstr>U/Pu-C Phase</vt:lpstr>
      <vt:lpstr>U/Pu2-C3</vt:lpstr>
      <vt:lpstr>Phase Diagrams of Carbides</vt:lpstr>
      <vt:lpstr>Phase Properties</vt:lpstr>
      <vt:lpstr>Key Properties</vt:lpstr>
      <vt:lpstr>Key Properties</vt:lpstr>
      <vt:lpstr>In-pile behavior</vt:lpstr>
      <vt:lpstr>Burnup Stages</vt:lpstr>
      <vt:lpstr>Burnup Stages</vt:lpstr>
      <vt:lpstr>Burnup Stages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51</cp:revision>
  <dcterms:created xsi:type="dcterms:W3CDTF">2021-06-30T18:29:00Z</dcterms:created>
  <dcterms:modified xsi:type="dcterms:W3CDTF">2026-10-13T20:26:42Z</dcterms:modified>
</cp:coreProperties>
</file>
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9"/>
  </p:notesMasterIdLst>
  <p:sldIdLst>
    <p:sldId id="256" r:id="rId2"/>
    <p:sldId id="573" r:id="rId3"/>
    <p:sldId id="574" r:id="rId4"/>
    <p:sldId id="530" r:id="rId5"/>
    <p:sldId id="531" r:id="rId6"/>
    <p:sldId id="532" r:id="rId7"/>
    <p:sldId id="534" r:id="rId8"/>
    <p:sldId id="571" r:id="rId9"/>
    <p:sldId id="568" r:id="rId10"/>
    <p:sldId id="537" r:id="rId11"/>
    <p:sldId id="538" r:id="rId12"/>
    <p:sldId id="539" r:id="rId13"/>
    <p:sldId id="540" r:id="rId14"/>
    <p:sldId id="541" r:id="rId15"/>
    <p:sldId id="542" r:id="rId16"/>
    <p:sldId id="572" r:id="rId17"/>
    <p:sldId id="543" r:id="rId18"/>
    <p:sldId id="544" r:id="rId19"/>
    <p:sldId id="545" r:id="rId20"/>
    <p:sldId id="546" r:id="rId21"/>
    <p:sldId id="423" r:id="rId22"/>
    <p:sldId id="547" r:id="rId23"/>
    <p:sldId id="548" r:id="rId24"/>
    <p:sldId id="549" r:id="rId25"/>
    <p:sldId id="565" r:id="rId26"/>
    <p:sldId id="550" r:id="rId27"/>
    <p:sldId id="55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15"/>
    <p:restoredTop sz="94744"/>
  </p:normalViewPr>
  <p:slideViewPr>
    <p:cSldViewPr snapToGrid="0" snapToObjects="1">
      <p:cViewPr varScale="1">
        <p:scale>
          <a:sx n="119" d="100"/>
          <a:sy n="119" d="100"/>
        </p:scale>
        <p:origin x="3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200"/>
            </a:lvl1pPr>
            <a:lvl2pPr>
              <a:defRPr sz="2200"/>
            </a:lvl2pPr>
            <a:lvl3pPr>
              <a:defRPr sz="2200"/>
            </a:lvl3pPr>
            <a:lvl4pPr>
              <a:defRPr sz="2200"/>
            </a:lvl4pPr>
            <a:lvl5pPr>
              <a:defRPr sz="22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4000"/>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2200"/>
            </a:lvl1pPr>
            <a:lvl2pPr>
              <a:defRPr sz="2200"/>
            </a:lvl2pPr>
            <a:lvl3pPr>
              <a:defRPr sz="2200"/>
            </a:lvl3pPr>
            <a:lvl4pPr>
              <a:defRPr sz="2200"/>
            </a:lvl4pPr>
            <a:lvl5pPr>
              <a:defRPr sz="22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9/22/26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9/22/26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9/22/26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9/22/26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9/22/26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9/22/26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B4E0-97C0-3C9F-C365-D19CA98CD27D}"/>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6ED9CB18-05BE-9285-A620-337D4D9BB63D}"/>
              </a:ext>
            </a:extLst>
          </p:cNvPr>
          <p:cNvSpPr>
            <a:spLocks noGrp="1"/>
          </p:cNvSpPr>
          <p:nvPr>
            <p:ph idx="1"/>
          </p:nvPr>
        </p:nvSpPr>
        <p:spPr>
          <a:xfrm>
            <a:off x="609600" y="1968500"/>
            <a:ext cx="10972800" cy="4157664"/>
          </a:xfrm>
        </p:spPr>
        <p:txBody>
          <a:bodyPr/>
          <a:lstStyle/>
          <a:p>
            <a:r>
              <a:rPr lang="en-US" sz="2000" dirty="0"/>
              <a:t>Metallic fuel performance modeling</a:t>
            </a:r>
          </a:p>
          <a:p>
            <a:pPr lvl="1"/>
            <a:r>
              <a:rPr lang="en-US" sz="2000" dirty="0"/>
              <a:t>needs to fully encompass mechanical behavior, chemical interactions, fission gas behavior, and temperature profile</a:t>
            </a:r>
          </a:p>
          <a:p>
            <a:pPr lvl="1"/>
            <a:r>
              <a:rPr lang="en-US" sz="2000" dirty="0"/>
              <a:t>Porosity models inform temperature profiles which inform redistribution/phases (cycle)</a:t>
            </a:r>
          </a:p>
          <a:p>
            <a:pPr lvl="1"/>
            <a:r>
              <a:rPr lang="en-US" sz="2000" dirty="0"/>
              <a:t>Validate against limited data: cladding strain, gas release, cladding T</a:t>
            </a:r>
          </a:p>
          <a:p>
            <a:r>
              <a:rPr lang="en-US" sz="2000" dirty="0"/>
              <a:t>Metal fuel fabrication/reprocessing</a:t>
            </a:r>
          </a:p>
          <a:p>
            <a:pPr lvl="1"/>
            <a:r>
              <a:rPr lang="en-US" sz="2000" dirty="0"/>
              <a:t>historically via injection casting</a:t>
            </a:r>
          </a:p>
          <a:p>
            <a:pPr lvl="1"/>
            <a:r>
              <a:rPr lang="en-US" sz="2000" dirty="0"/>
              <a:t>pyroprocessing with molten salts, depositing U/MA/TRU on cathodes</a:t>
            </a:r>
          </a:p>
          <a:p>
            <a:pPr lvl="1"/>
            <a:r>
              <a:rPr lang="en-US" sz="2000" dirty="0"/>
              <a:t>can refabricate via injection casting for closure of fuel cycle</a:t>
            </a:r>
          </a:p>
        </p:txBody>
      </p:sp>
      <p:sp>
        <p:nvSpPr>
          <p:cNvPr id="4" name="Slide Number Placeholder 3">
            <a:extLst>
              <a:ext uri="{FF2B5EF4-FFF2-40B4-BE49-F238E27FC236}">
                <a16:creationId xmlns:a16="http://schemas.microsoft.com/office/drawing/2014/main" id="{F347CC04-8729-4334-3A05-C9D8ED2B75E5}"/>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479116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B92C-2DD0-782B-72B0-728AC8609AA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F00271D1-8FD2-A99A-8923-6B1E1DB5F5B9}"/>
              </a:ext>
            </a:extLst>
          </p:cNvPr>
          <p:cNvSpPr>
            <a:spLocks noGrp="1"/>
          </p:cNvSpPr>
          <p:nvPr>
            <p:ph idx="1"/>
          </p:nvPr>
        </p:nvSpPr>
        <p:spPr/>
        <p:txBody>
          <a:bodyPr/>
          <a:lstStyle/>
          <a:p>
            <a:r>
              <a:rPr lang="en-US" sz="2000" dirty="0"/>
              <a:t>MOX fuels</a:t>
            </a:r>
          </a:p>
          <a:p>
            <a:pPr lvl="1"/>
            <a:r>
              <a:rPr lang="en-US" sz="2000" dirty="0"/>
              <a:t>higher powers and higher temperatures</a:t>
            </a:r>
          </a:p>
          <a:p>
            <a:pPr lvl="1"/>
            <a:r>
              <a:rPr lang="en-US" sz="2000" dirty="0"/>
              <a:t>similar geometry to metallic fuels, but with higher smear density, pellet fuel</a:t>
            </a:r>
          </a:p>
          <a:p>
            <a:r>
              <a:rPr lang="en-US" sz="2000" dirty="0"/>
              <a:t>MOX restructuring</a:t>
            </a:r>
          </a:p>
          <a:p>
            <a:pPr lvl="1"/>
            <a:r>
              <a:rPr lang="en-US" sz="2000" dirty="0"/>
              <a:t>high T and steep T gradient lead to four distinct zones in MOX fuel</a:t>
            </a:r>
          </a:p>
          <a:p>
            <a:pPr lvl="1"/>
            <a:r>
              <a:rPr lang="en-US" sz="2000" dirty="0"/>
              <a:t>central void, columnar grains, large equiaxed grains, as-fab microstructure</a:t>
            </a:r>
          </a:p>
          <a:p>
            <a:pPr lvl="1"/>
            <a:r>
              <a:rPr lang="en-US" sz="2000" dirty="0" err="1"/>
              <a:t>void+columnar</a:t>
            </a:r>
            <a:r>
              <a:rPr lang="en-US" sz="2000" dirty="0"/>
              <a:t> grains result of pore migration up the T gradient</a:t>
            </a:r>
          </a:p>
          <a:p>
            <a:endParaRPr lang="en-US" dirty="0"/>
          </a:p>
        </p:txBody>
      </p:sp>
      <p:sp>
        <p:nvSpPr>
          <p:cNvPr id="4" name="Slide Number Placeholder 3">
            <a:extLst>
              <a:ext uri="{FF2B5EF4-FFF2-40B4-BE49-F238E27FC236}">
                <a16:creationId xmlns:a16="http://schemas.microsoft.com/office/drawing/2014/main" id="{0045BF72-AB50-BC42-18F9-3F09410A0FA3}"/>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dirty="0"/>
          </a:p>
        </p:txBody>
      </p:sp>
    </p:spTree>
    <p:extLst>
      <p:ext uri="{BB962C8B-B14F-4D97-AF65-F5344CB8AC3E}">
        <p14:creationId xmlns:p14="http://schemas.microsoft.com/office/powerpoint/2010/main" val="254187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59D7-F111-9644-83CA-EBC31572D77B}"/>
              </a:ext>
            </a:extLst>
          </p:cNvPr>
          <p:cNvSpPr>
            <a:spLocks noGrp="1"/>
          </p:cNvSpPr>
          <p:nvPr>
            <p:ph type="title"/>
          </p:nvPr>
        </p:nvSpPr>
        <p:spPr/>
        <p:txBody>
          <a:bodyPr/>
          <a:lstStyle/>
          <a:p>
            <a:r>
              <a:rPr lang="en-US" dirty="0"/>
              <a:t>Redistribution of Pu</a:t>
            </a:r>
          </a:p>
        </p:txBody>
      </p:sp>
      <p:sp>
        <p:nvSpPr>
          <p:cNvPr id="3" name="Content Placeholder 2">
            <a:extLst>
              <a:ext uri="{FF2B5EF4-FFF2-40B4-BE49-F238E27FC236}">
                <a16:creationId xmlns:a16="http://schemas.microsoft.com/office/drawing/2014/main" id="{B78184F8-17E6-9445-9A62-605C963B1DB3}"/>
              </a:ext>
            </a:extLst>
          </p:cNvPr>
          <p:cNvSpPr>
            <a:spLocks noGrp="1"/>
          </p:cNvSpPr>
          <p:nvPr>
            <p:ph sz="half" idx="1"/>
          </p:nvPr>
        </p:nvSpPr>
        <p:spPr>
          <a:xfrm>
            <a:off x="609599" y="1968503"/>
            <a:ext cx="6117022" cy="4157663"/>
          </a:xfrm>
        </p:spPr>
        <p:txBody>
          <a:bodyPr/>
          <a:lstStyle/>
          <a:p>
            <a:r>
              <a:rPr lang="en-US" sz="2200" dirty="0"/>
              <a:t>The movement of pores leads to a redistribution of plutonium, resulting in a spike in Pu concentration surrounding the central void</a:t>
            </a:r>
          </a:p>
          <a:p>
            <a:r>
              <a:rPr lang="en-US" sz="2200" dirty="0"/>
              <a:t>Similar behavior has been observed for americium</a:t>
            </a:r>
          </a:p>
          <a:p>
            <a:r>
              <a:rPr lang="en-US" sz="2200" dirty="0"/>
              <a:t>This transuranic concentration increase is accompanied with a decrease in U concentration</a:t>
            </a:r>
          </a:p>
          <a:p>
            <a:r>
              <a:rPr lang="en-US" sz="2200" dirty="0"/>
              <a:t>This redistribution increases the local fission rate and centerline temperature, while generating lower melting point phases</a:t>
            </a:r>
          </a:p>
          <a:p>
            <a:endParaRPr lang="en-US" sz="2200" dirty="0"/>
          </a:p>
          <a:p>
            <a:endParaRPr lang="en-US" sz="2200" dirty="0"/>
          </a:p>
        </p:txBody>
      </p:sp>
      <p:pic>
        <p:nvPicPr>
          <p:cNvPr id="6" name="Content Placeholder 5">
            <a:extLst>
              <a:ext uri="{FF2B5EF4-FFF2-40B4-BE49-F238E27FC236}">
                <a16:creationId xmlns:a16="http://schemas.microsoft.com/office/drawing/2014/main" id="{0F3CBD17-CE47-A741-8474-8D1C41467FE1}"/>
              </a:ext>
            </a:extLst>
          </p:cNvPr>
          <p:cNvPicPr>
            <a:picLocks noGrp="1" noChangeAspect="1"/>
          </p:cNvPicPr>
          <p:nvPr>
            <p:ph sz="half" idx="2"/>
          </p:nvPr>
        </p:nvPicPr>
        <p:blipFill>
          <a:blip r:embed="rId2"/>
          <a:stretch>
            <a:fillRect/>
          </a:stretch>
        </p:blipFill>
        <p:spPr>
          <a:xfrm>
            <a:off x="6726621" y="1968500"/>
            <a:ext cx="4574637" cy="4157663"/>
          </a:xfrm>
          <a:prstGeom prst="rect">
            <a:avLst/>
          </a:prstGeom>
        </p:spPr>
      </p:pic>
      <p:sp>
        <p:nvSpPr>
          <p:cNvPr id="5" name="Slide Number Placeholder 4">
            <a:extLst>
              <a:ext uri="{FF2B5EF4-FFF2-40B4-BE49-F238E27FC236}">
                <a16:creationId xmlns:a16="http://schemas.microsoft.com/office/drawing/2014/main" id="{D3927B47-98A0-CD43-B5B9-CC8E31B0E069}"/>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2946164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47834-14FB-1444-96E6-771D2147723C}"/>
              </a:ext>
            </a:extLst>
          </p:cNvPr>
          <p:cNvSpPr>
            <a:spLocks noGrp="1"/>
          </p:cNvSpPr>
          <p:nvPr>
            <p:ph type="title"/>
          </p:nvPr>
        </p:nvSpPr>
        <p:spPr/>
        <p:txBody>
          <a:bodyPr/>
          <a:lstStyle/>
          <a:p>
            <a:r>
              <a:rPr lang="en-US" dirty="0"/>
              <a:t>Redistribution of Pu</a:t>
            </a:r>
          </a:p>
        </p:txBody>
      </p:sp>
      <p:sp>
        <p:nvSpPr>
          <p:cNvPr id="3" name="Content Placeholder 2">
            <a:extLst>
              <a:ext uri="{FF2B5EF4-FFF2-40B4-BE49-F238E27FC236}">
                <a16:creationId xmlns:a16="http://schemas.microsoft.com/office/drawing/2014/main" id="{8AD37A6E-0E1E-1642-AE7E-B8C29912AF4E}"/>
              </a:ext>
            </a:extLst>
          </p:cNvPr>
          <p:cNvSpPr>
            <a:spLocks noGrp="1"/>
          </p:cNvSpPr>
          <p:nvPr>
            <p:ph sz="half" idx="1"/>
          </p:nvPr>
        </p:nvSpPr>
        <p:spPr/>
        <p:txBody>
          <a:bodyPr/>
          <a:lstStyle/>
          <a:p>
            <a:r>
              <a:rPr lang="en-US" sz="2000" dirty="0"/>
              <a:t>This phenomenon is currently understood as an evaporation-condensation process</a:t>
            </a:r>
          </a:p>
          <a:p>
            <a:r>
              <a:rPr lang="en-US" sz="2000" dirty="0"/>
              <a:t>The fuel at the edge of the pore closest to the centerline becomes gaseous inside the pore and deposits itself on the cooler region of the pore closest to the cladding</a:t>
            </a:r>
          </a:p>
          <a:p>
            <a:r>
              <a:rPr lang="en-US" sz="2000" dirty="0"/>
              <a:t>UO2 is the more volatile of the U/Pu heavy metal species present in the fuel matrix</a:t>
            </a:r>
          </a:p>
          <a:p>
            <a:r>
              <a:rPr lang="en-US" sz="2000" dirty="0"/>
              <a:t>The high oxygen potential can lead to a high partial pressure of UO3 within the self-contained pores</a:t>
            </a:r>
          </a:p>
          <a:p>
            <a:endParaRPr lang="en-US" sz="2000" dirty="0"/>
          </a:p>
          <a:p>
            <a:endParaRPr lang="en-US" sz="2000" dirty="0"/>
          </a:p>
          <a:p>
            <a:endParaRPr lang="en-US" sz="2000" dirty="0"/>
          </a:p>
        </p:txBody>
      </p:sp>
      <p:sp>
        <p:nvSpPr>
          <p:cNvPr id="4" name="Content Placeholder 3">
            <a:extLst>
              <a:ext uri="{FF2B5EF4-FFF2-40B4-BE49-F238E27FC236}">
                <a16:creationId xmlns:a16="http://schemas.microsoft.com/office/drawing/2014/main" id="{9AC94C8A-4E2C-264F-AADF-9BDFE938BFD6}"/>
              </a:ext>
            </a:extLst>
          </p:cNvPr>
          <p:cNvSpPr>
            <a:spLocks noGrp="1"/>
          </p:cNvSpPr>
          <p:nvPr>
            <p:ph sz="half" idx="2"/>
          </p:nvPr>
        </p:nvSpPr>
        <p:spPr/>
        <p:txBody>
          <a:bodyPr/>
          <a:lstStyle/>
          <a:p>
            <a:r>
              <a:rPr lang="en-US" sz="2000" dirty="0"/>
              <a:t>Enriched regions of PuO2 are left behind and deposited at the leading edge of the central void as the porosity accumulates in the fuel center</a:t>
            </a:r>
          </a:p>
          <a:p>
            <a:r>
              <a:rPr lang="en-US" sz="2000" dirty="0"/>
              <a:t>Some experiments on O/M ratio seems to point towards higher O potential leading to more redistribution</a:t>
            </a:r>
          </a:p>
          <a:p>
            <a:r>
              <a:rPr lang="en-US" sz="2000" dirty="0"/>
              <a:t>While this is the working theory, it is not clear if this explanation can also account for the necessary pore velocities</a:t>
            </a:r>
          </a:p>
          <a:p>
            <a:r>
              <a:rPr lang="en-US" sz="2000" dirty="0"/>
              <a:t>No experimentally proven substitution has been put forth as a replacement theory to the observed features</a:t>
            </a:r>
          </a:p>
          <a:p>
            <a:endParaRPr lang="en-US" sz="2000" dirty="0"/>
          </a:p>
          <a:p>
            <a:endParaRPr lang="en-US" sz="2000" dirty="0"/>
          </a:p>
          <a:p>
            <a:endParaRPr lang="en-US" sz="2000" dirty="0"/>
          </a:p>
          <a:p>
            <a:endParaRPr lang="en-US" sz="2000" dirty="0"/>
          </a:p>
        </p:txBody>
      </p:sp>
      <p:sp>
        <p:nvSpPr>
          <p:cNvPr id="5" name="Slide Number Placeholder 4">
            <a:extLst>
              <a:ext uri="{FF2B5EF4-FFF2-40B4-BE49-F238E27FC236}">
                <a16:creationId xmlns:a16="http://schemas.microsoft.com/office/drawing/2014/main" id="{9F684B3F-3122-4749-8084-8691DAC76E9A}"/>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83725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7B49-03D0-DD4F-AC9F-929E0781430F}"/>
              </a:ext>
            </a:extLst>
          </p:cNvPr>
          <p:cNvSpPr>
            <a:spLocks noGrp="1"/>
          </p:cNvSpPr>
          <p:nvPr>
            <p:ph type="title"/>
          </p:nvPr>
        </p:nvSpPr>
        <p:spPr/>
        <p:txBody>
          <a:bodyPr/>
          <a:lstStyle/>
          <a:p>
            <a:r>
              <a:rPr lang="en-US" dirty="0"/>
              <a:t>Pu-rich Agglomerates</a:t>
            </a:r>
          </a:p>
        </p:txBody>
      </p:sp>
      <p:sp>
        <p:nvSpPr>
          <p:cNvPr id="3" name="Content Placeholder 2">
            <a:extLst>
              <a:ext uri="{FF2B5EF4-FFF2-40B4-BE49-F238E27FC236}">
                <a16:creationId xmlns:a16="http://schemas.microsoft.com/office/drawing/2014/main" id="{14CA3A04-7F84-3547-9CCB-1F050BDED88F}"/>
              </a:ext>
            </a:extLst>
          </p:cNvPr>
          <p:cNvSpPr>
            <a:spLocks noGrp="1"/>
          </p:cNvSpPr>
          <p:nvPr>
            <p:ph sz="half" idx="1"/>
          </p:nvPr>
        </p:nvSpPr>
        <p:spPr>
          <a:xfrm>
            <a:off x="609599" y="1968503"/>
            <a:ext cx="7083973" cy="4157663"/>
          </a:xfrm>
        </p:spPr>
        <p:txBody>
          <a:bodyPr/>
          <a:lstStyle/>
          <a:p>
            <a:r>
              <a:rPr lang="en-US" sz="1800" dirty="0"/>
              <a:t>Regions of high Pu concentration can also form in the MOX fuel matrix due to incomplete mixing during fabrication</a:t>
            </a:r>
          </a:p>
          <a:p>
            <a:r>
              <a:rPr lang="en-US" sz="1800" dirty="0"/>
              <a:t>Clusters of dispersed porosity form in high Pu concentration regions because of the high fission rate</a:t>
            </a:r>
          </a:p>
          <a:p>
            <a:r>
              <a:rPr lang="en-US" sz="1800" dirty="0"/>
              <a:t>Thermal conductivity of the spots is also lower than the surrounding matrix, thus the PAs are both hotter and undergo a greater number of fission events in a very small region</a:t>
            </a:r>
          </a:p>
          <a:p>
            <a:r>
              <a:rPr lang="en-US" sz="1800" dirty="0"/>
              <a:t>Burnup in these regions may be 2-3 times greater than that of the pellet as a whole</a:t>
            </a:r>
          </a:p>
          <a:p>
            <a:r>
              <a:rPr lang="en-US" sz="1800" dirty="0"/>
              <a:t>The morphology of porosity in the agglomerates depends on the temperature, with smaller bubbles in cold regions and large bubbles in hot regions</a:t>
            </a:r>
          </a:p>
          <a:p>
            <a:r>
              <a:rPr lang="en-US" sz="1800" dirty="0"/>
              <a:t>Porosity formed due to PAs are visually distinct from fission gas bubbles or pre-existing porosity</a:t>
            </a:r>
          </a:p>
          <a:p>
            <a:endParaRPr lang="en-US" sz="1800" dirty="0"/>
          </a:p>
          <a:p>
            <a:endParaRPr lang="en-US" sz="1800" dirty="0"/>
          </a:p>
        </p:txBody>
      </p:sp>
      <p:pic>
        <p:nvPicPr>
          <p:cNvPr id="6" name="Content Placeholder 5">
            <a:extLst>
              <a:ext uri="{FF2B5EF4-FFF2-40B4-BE49-F238E27FC236}">
                <a16:creationId xmlns:a16="http://schemas.microsoft.com/office/drawing/2014/main" id="{E2FA4246-8318-F441-8A94-ABA0E4BC87CF}"/>
              </a:ext>
            </a:extLst>
          </p:cNvPr>
          <p:cNvPicPr>
            <a:picLocks noGrp="1" noChangeAspect="1"/>
          </p:cNvPicPr>
          <p:nvPr>
            <p:ph sz="half" idx="2"/>
          </p:nvPr>
        </p:nvPicPr>
        <p:blipFill rotWithShape="1">
          <a:blip r:embed="rId2"/>
          <a:srcRect r="33712"/>
          <a:stretch/>
        </p:blipFill>
        <p:spPr>
          <a:xfrm>
            <a:off x="7693573" y="2035597"/>
            <a:ext cx="3678621" cy="2054481"/>
          </a:xfrm>
          <a:prstGeom prst="rect">
            <a:avLst/>
          </a:prstGeom>
        </p:spPr>
      </p:pic>
      <p:sp>
        <p:nvSpPr>
          <p:cNvPr id="5" name="Slide Number Placeholder 4">
            <a:extLst>
              <a:ext uri="{FF2B5EF4-FFF2-40B4-BE49-F238E27FC236}">
                <a16:creationId xmlns:a16="http://schemas.microsoft.com/office/drawing/2014/main" id="{D2350DCF-5E1C-8646-93EB-A265501B5874}"/>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4" name="Content Placeholder 5">
            <a:extLst>
              <a:ext uri="{FF2B5EF4-FFF2-40B4-BE49-F238E27FC236}">
                <a16:creationId xmlns:a16="http://schemas.microsoft.com/office/drawing/2014/main" id="{84F334C5-0539-61BB-8B4D-CBF84A394057}"/>
              </a:ext>
            </a:extLst>
          </p:cNvPr>
          <p:cNvPicPr>
            <a:picLocks noChangeAspect="1"/>
          </p:cNvPicPr>
          <p:nvPr/>
        </p:nvPicPr>
        <p:blipFill rotWithShape="1">
          <a:blip r:embed="rId2"/>
          <a:srcRect l="66193"/>
          <a:stretch/>
        </p:blipFill>
        <p:spPr bwMode="auto">
          <a:xfrm>
            <a:off x="8734097" y="4071685"/>
            <a:ext cx="1876096" cy="20544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3061748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09AE0-F18C-BA47-B0C9-8381ACE92FBF}"/>
              </a:ext>
            </a:extLst>
          </p:cNvPr>
          <p:cNvSpPr>
            <a:spLocks noGrp="1"/>
          </p:cNvSpPr>
          <p:nvPr>
            <p:ph type="title"/>
          </p:nvPr>
        </p:nvSpPr>
        <p:spPr/>
        <p:txBody>
          <a:bodyPr/>
          <a:lstStyle/>
          <a:p>
            <a:r>
              <a:rPr lang="en-US" dirty="0"/>
              <a:t>Pu-rich Agglomerates</a:t>
            </a:r>
          </a:p>
        </p:txBody>
      </p:sp>
      <p:sp>
        <p:nvSpPr>
          <p:cNvPr id="3" name="Content Placeholder 2">
            <a:extLst>
              <a:ext uri="{FF2B5EF4-FFF2-40B4-BE49-F238E27FC236}">
                <a16:creationId xmlns:a16="http://schemas.microsoft.com/office/drawing/2014/main" id="{4A3AF477-1E19-0D4B-88D1-05C88582BE0A}"/>
              </a:ext>
            </a:extLst>
          </p:cNvPr>
          <p:cNvSpPr>
            <a:spLocks noGrp="1"/>
          </p:cNvSpPr>
          <p:nvPr>
            <p:ph sz="half" idx="1"/>
          </p:nvPr>
        </p:nvSpPr>
        <p:spPr/>
        <p:txBody>
          <a:bodyPr/>
          <a:lstStyle/>
          <a:p>
            <a:r>
              <a:rPr lang="en-US" sz="2000" dirty="0"/>
              <a:t>The presence of the high burnup structure (HBS) has been observed within the PA regions</a:t>
            </a:r>
          </a:p>
          <a:p>
            <a:r>
              <a:rPr lang="en-US" sz="2000" dirty="0"/>
              <a:t>The HBS is basically a fine grained, cauliflower-like structure</a:t>
            </a:r>
          </a:p>
          <a:p>
            <a:r>
              <a:rPr lang="en-US" sz="2000" dirty="0"/>
              <a:t>In MOX fuels, the HBS structure appears in fuels following burnups between 60 and 80 </a:t>
            </a:r>
            <a:r>
              <a:rPr lang="en-US" sz="2000" dirty="0" err="1"/>
              <a:t>GWd</a:t>
            </a:r>
            <a:r>
              <a:rPr lang="en-US" sz="2000" dirty="0"/>
              <a:t>/</a:t>
            </a:r>
            <a:r>
              <a:rPr lang="en-US" sz="2000" dirty="0" err="1"/>
              <a:t>tM</a:t>
            </a:r>
            <a:r>
              <a:rPr lang="en-US" sz="2000" dirty="0"/>
              <a:t> at temperatures below approximately 1100C</a:t>
            </a:r>
          </a:p>
          <a:p>
            <a:r>
              <a:rPr lang="en-US" sz="2000" dirty="0"/>
              <a:t>PA's reach these local burnups at pellet burnups far below this threshold</a:t>
            </a:r>
          </a:p>
          <a:p>
            <a:endParaRPr lang="en-US" sz="2000" dirty="0"/>
          </a:p>
        </p:txBody>
      </p:sp>
      <p:pic>
        <p:nvPicPr>
          <p:cNvPr id="6" name="Content Placeholder 5">
            <a:extLst>
              <a:ext uri="{FF2B5EF4-FFF2-40B4-BE49-F238E27FC236}">
                <a16:creationId xmlns:a16="http://schemas.microsoft.com/office/drawing/2014/main" id="{197C0C76-77B9-C24A-9770-74989A93DC8C}"/>
              </a:ext>
            </a:extLst>
          </p:cNvPr>
          <p:cNvPicPr>
            <a:picLocks noGrp="1" noChangeAspect="1"/>
          </p:cNvPicPr>
          <p:nvPr>
            <p:ph sz="half" idx="2"/>
          </p:nvPr>
        </p:nvPicPr>
        <p:blipFill>
          <a:blip r:embed="rId2"/>
          <a:stretch>
            <a:fillRect/>
          </a:stretch>
        </p:blipFill>
        <p:spPr>
          <a:xfrm>
            <a:off x="6540500" y="2269331"/>
            <a:ext cx="4699000" cy="3556000"/>
          </a:xfrm>
          <a:prstGeom prst="rect">
            <a:avLst/>
          </a:prstGeom>
        </p:spPr>
      </p:pic>
      <p:sp>
        <p:nvSpPr>
          <p:cNvPr id="5" name="Slide Number Placeholder 4">
            <a:extLst>
              <a:ext uri="{FF2B5EF4-FFF2-40B4-BE49-F238E27FC236}">
                <a16:creationId xmlns:a16="http://schemas.microsoft.com/office/drawing/2014/main" id="{0580CD1A-0607-994D-8528-92DDAE5E2AF8}"/>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spTree>
    <p:extLst>
      <p:ext uri="{BB962C8B-B14F-4D97-AF65-F5344CB8AC3E}">
        <p14:creationId xmlns:p14="http://schemas.microsoft.com/office/powerpoint/2010/main" val="1054828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6DB1-57B8-64CF-6392-AF36CAC3E4E2}"/>
              </a:ext>
            </a:extLst>
          </p:cNvPr>
          <p:cNvSpPr>
            <a:spLocks noGrp="1"/>
          </p:cNvSpPr>
          <p:nvPr>
            <p:ph type="title"/>
          </p:nvPr>
        </p:nvSpPr>
        <p:spPr/>
        <p:txBody>
          <a:bodyPr/>
          <a:lstStyle/>
          <a:p>
            <a:r>
              <a:rPr lang="en-US" dirty="0"/>
              <a:t>Oxygen Redistribution</a:t>
            </a:r>
          </a:p>
        </p:txBody>
      </p:sp>
      <p:sp>
        <p:nvSpPr>
          <p:cNvPr id="3" name="Content Placeholder 2">
            <a:extLst>
              <a:ext uri="{FF2B5EF4-FFF2-40B4-BE49-F238E27FC236}">
                <a16:creationId xmlns:a16="http://schemas.microsoft.com/office/drawing/2014/main" id="{FC8BD6EE-0405-FE2B-A027-E70C2F67C33F}"/>
              </a:ext>
            </a:extLst>
          </p:cNvPr>
          <p:cNvSpPr>
            <a:spLocks noGrp="1"/>
          </p:cNvSpPr>
          <p:nvPr>
            <p:ph sz="half" idx="1"/>
          </p:nvPr>
        </p:nvSpPr>
        <p:spPr>
          <a:xfrm>
            <a:off x="609599" y="1968503"/>
            <a:ext cx="6520833" cy="4157663"/>
          </a:xfrm>
        </p:spPr>
        <p:txBody>
          <a:bodyPr/>
          <a:lstStyle/>
          <a:p>
            <a:r>
              <a:rPr lang="en-US" sz="2200" dirty="0"/>
              <a:t>The as-fabricated oxide pellets used as fuel in fast reactors are always </a:t>
            </a:r>
            <a:r>
              <a:rPr lang="en-US" sz="2200" dirty="0" err="1"/>
              <a:t>hypostoichiometric</a:t>
            </a:r>
            <a:r>
              <a:rPr lang="en-US" sz="2200" dirty="0"/>
              <a:t> with an initial O/M typically in the range 1.93–2.00</a:t>
            </a:r>
          </a:p>
          <a:p>
            <a:r>
              <a:rPr lang="en-US" sz="2200" dirty="0"/>
              <a:t>Oxygen is redistributed radially, migrating down the thermal gradient, thus bringing the composition close to stoichiometry near the periphery, whereas the O/M ratio becomes very low in the hottest area</a:t>
            </a:r>
          </a:p>
          <a:p>
            <a:r>
              <a:rPr lang="en-US" sz="2200" dirty="0"/>
              <a:t>Oxygen transport is likely a combination of vapor and solid diffusion</a:t>
            </a:r>
          </a:p>
          <a:p>
            <a:endParaRPr lang="en-US" sz="2200" dirty="0"/>
          </a:p>
        </p:txBody>
      </p:sp>
      <p:sp>
        <p:nvSpPr>
          <p:cNvPr id="5" name="Slide Number Placeholder 4">
            <a:extLst>
              <a:ext uri="{FF2B5EF4-FFF2-40B4-BE49-F238E27FC236}">
                <a16:creationId xmlns:a16="http://schemas.microsoft.com/office/drawing/2014/main" id="{CB6257F7-A5E3-1101-670A-160E8FDEF757}"/>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pic>
        <p:nvPicPr>
          <p:cNvPr id="6" name="Picture 5">
            <a:extLst>
              <a:ext uri="{FF2B5EF4-FFF2-40B4-BE49-F238E27FC236}">
                <a16:creationId xmlns:a16="http://schemas.microsoft.com/office/drawing/2014/main" id="{E9D4F043-5AC7-3FB0-8613-AC477AAF6971}"/>
              </a:ext>
            </a:extLst>
          </p:cNvPr>
          <p:cNvPicPr>
            <a:picLocks noChangeAspect="1"/>
          </p:cNvPicPr>
          <p:nvPr/>
        </p:nvPicPr>
        <p:blipFill>
          <a:blip r:embed="rId2"/>
          <a:stretch>
            <a:fillRect/>
          </a:stretch>
        </p:blipFill>
        <p:spPr>
          <a:xfrm>
            <a:off x="7599193" y="2400520"/>
            <a:ext cx="3983207" cy="3106901"/>
          </a:xfrm>
          <a:prstGeom prst="rect">
            <a:avLst/>
          </a:prstGeom>
        </p:spPr>
      </p:pic>
    </p:spTree>
    <p:extLst>
      <p:ext uri="{BB962C8B-B14F-4D97-AF65-F5344CB8AC3E}">
        <p14:creationId xmlns:p14="http://schemas.microsoft.com/office/powerpoint/2010/main" val="1978531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6DB1-57B8-64CF-6392-AF36CAC3E4E2}"/>
              </a:ext>
            </a:extLst>
          </p:cNvPr>
          <p:cNvSpPr>
            <a:spLocks noGrp="1"/>
          </p:cNvSpPr>
          <p:nvPr>
            <p:ph type="title"/>
          </p:nvPr>
        </p:nvSpPr>
        <p:spPr/>
        <p:txBody>
          <a:bodyPr/>
          <a:lstStyle/>
          <a:p>
            <a:r>
              <a:rPr lang="en-US" dirty="0"/>
              <a:t>O/M Ratio</a:t>
            </a:r>
          </a:p>
        </p:txBody>
      </p:sp>
      <p:sp>
        <p:nvSpPr>
          <p:cNvPr id="3" name="Content Placeholder 2">
            <a:extLst>
              <a:ext uri="{FF2B5EF4-FFF2-40B4-BE49-F238E27FC236}">
                <a16:creationId xmlns:a16="http://schemas.microsoft.com/office/drawing/2014/main" id="{FC8BD6EE-0405-FE2B-A027-E70C2F67C33F}"/>
              </a:ext>
            </a:extLst>
          </p:cNvPr>
          <p:cNvSpPr>
            <a:spLocks noGrp="1"/>
          </p:cNvSpPr>
          <p:nvPr>
            <p:ph sz="half" idx="1"/>
          </p:nvPr>
        </p:nvSpPr>
        <p:spPr/>
        <p:txBody>
          <a:bodyPr/>
          <a:lstStyle/>
          <a:p>
            <a:r>
              <a:rPr lang="en-US" sz="2200" dirty="0"/>
              <a:t>Fission releases two oxygen atoms, which cannot be fully bound by the fission products, this increases the O potential in the fuel as dissolved O</a:t>
            </a:r>
          </a:p>
          <a:p>
            <a:r>
              <a:rPr lang="en-US" sz="2200" dirty="0"/>
              <a:t>The O potential increases until the point where Mo starts to oxidize, leaving the metallic inclusions</a:t>
            </a:r>
          </a:p>
          <a:p>
            <a:r>
              <a:rPr lang="en-US" sz="2200" dirty="0"/>
              <a:t>The O/M ratio increases until Mo starts to oxidize, then maintains at approximately 2.0 or thereabouts</a:t>
            </a:r>
          </a:p>
          <a:p>
            <a:endParaRPr lang="en-US" sz="2200" dirty="0"/>
          </a:p>
        </p:txBody>
      </p:sp>
      <p:sp>
        <p:nvSpPr>
          <p:cNvPr id="5" name="Slide Number Placeholder 4">
            <a:extLst>
              <a:ext uri="{FF2B5EF4-FFF2-40B4-BE49-F238E27FC236}">
                <a16:creationId xmlns:a16="http://schemas.microsoft.com/office/drawing/2014/main" id="{CB6257F7-A5E3-1101-670A-160E8FDEF757}"/>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pic>
        <p:nvPicPr>
          <p:cNvPr id="6" name="Picture 5">
            <a:extLst>
              <a:ext uri="{FF2B5EF4-FFF2-40B4-BE49-F238E27FC236}">
                <a16:creationId xmlns:a16="http://schemas.microsoft.com/office/drawing/2014/main" id="{5ED1FE4F-809F-9DBE-0FA4-44257004B131}"/>
              </a:ext>
            </a:extLst>
          </p:cNvPr>
          <p:cNvPicPr>
            <a:picLocks noChangeAspect="1"/>
          </p:cNvPicPr>
          <p:nvPr/>
        </p:nvPicPr>
        <p:blipFill>
          <a:blip r:embed="rId2"/>
          <a:stretch>
            <a:fillRect/>
          </a:stretch>
        </p:blipFill>
        <p:spPr>
          <a:xfrm>
            <a:off x="6604000" y="4096875"/>
            <a:ext cx="4267200" cy="2029291"/>
          </a:xfrm>
          <a:prstGeom prst="rect">
            <a:avLst/>
          </a:prstGeom>
        </p:spPr>
      </p:pic>
      <p:pic>
        <p:nvPicPr>
          <p:cNvPr id="7" name="Picture 6">
            <a:extLst>
              <a:ext uri="{FF2B5EF4-FFF2-40B4-BE49-F238E27FC236}">
                <a16:creationId xmlns:a16="http://schemas.microsoft.com/office/drawing/2014/main" id="{77C40237-1493-B869-3448-F71467A8B147}"/>
              </a:ext>
            </a:extLst>
          </p:cNvPr>
          <p:cNvPicPr>
            <a:picLocks noChangeAspect="1"/>
          </p:cNvPicPr>
          <p:nvPr/>
        </p:nvPicPr>
        <p:blipFill>
          <a:blip r:embed="rId3"/>
          <a:stretch>
            <a:fillRect/>
          </a:stretch>
        </p:blipFill>
        <p:spPr>
          <a:xfrm>
            <a:off x="6603999" y="996044"/>
            <a:ext cx="4267200" cy="2569803"/>
          </a:xfrm>
          <a:prstGeom prst="rect">
            <a:avLst/>
          </a:prstGeom>
        </p:spPr>
      </p:pic>
      <p:sp>
        <p:nvSpPr>
          <p:cNvPr id="4" name="TextBox 3">
            <a:extLst>
              <a:ext uri="{FF2B5EF4-FFF2-40B4-BE49-F238E27FC236}">
                <a16:creationId xmlns:a16="http://schemas.microsoft.com/office/drawing/2014/main" id="{5297DFB7-E54F-282E-81DA-21E0B69FF6A1}"/>
              </a:ext>
            </a:extLst>
          </p:cNvPr>
          <p:cNvSpPr txBox="1"/>
          <p:nvPr/>
        </p:nvSpPr>
        <p:spPr>
          <a:xfrm>
            <a:off x="7328477" y="6225547"/>
            <a:ext cx="2919845" cy="261610"/>
          </a:xfrm>
          <a:prstGeom prst="rect">
            <a:avLst/>
          </a:prstGeom>
          <a:noFill/>
        </p:spPr>
        <p:txBody>
          <a:bodyPr wrap="square" rtlCol="0">
            <a:spAutoFit/>
          </a:bodyPr>
          <a:lstStyle/>
          <a:p>
            <a:pPr algn="ctr"/>
            <a:r>
              <a:rPr lang="en-US" sz="1100" dirty="0"/>
              <a:t>Ratio of Mo/Ru in metal precipitates</a:t>
            </a:r>
          </a:p>
        </p:txBody>
      </p:sp>
      <p:sp>
        <p:nvSpPr>
          <p:cNvPr id="8" name="TextBox 7">
            <a:extLst>
              <a:ext uri="{FF2B5EF4-FFF2-40B4-BE49-F238E27FC236}">
                <a16:creationId xmlns:a16="http://schemas.microsoft.com/office/drawing/2014/main" id="{E33514C5-2E06-3FC2-0431-6F120C8F2794}"/>
              </a:ext>
            </a:extLst>
          </p:cNvPr>
          <p:cNvSpPr txBox="1"/>
          <p:nvPr/>
        </p:nvSpPr>
        <p:spPr>
          <a:xfrm>
            <a:off x="7277677" y="3639058"/>
            <a:ext cx="2919845" cy="261610"/>
          </a:xfrm>
          <a:prstGeom prst="rect">
            <a:avLst/>
          </a:prstGeom>
          <a:noFill/>
        </p:spPr>
        <p:txBody>
          <a:bodyPr wrap="square" rtlCol="0">
            <a:spAutoFit/>
          </a:bodyPr>
          <a:lstStyle/>
          <a:p>
            <a:pPr algn="ctr"/>
            <a:r>
              <a:rPr lang="en-US" sz="1100" dirty="0"/>
              <a:t>Oxygen potential vs T at different burnups</a:t>
            </a:r>
          </a:p>
        </p:txBody>
      </p:sp>
    </p:spTree>
    <p:extLst>
      <p:ext uri="{BB962C8B-B14F-4D97-AF65-F5344CB8AC3E}">
        <p14:creationId xmlns:p14="http://schemas.microsoft.com/office/powerpoint/2010/main" val="548102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4018C-385B-1049-ACFA-F6D9FE3BAF13}"/>
              </a:ext>
            </a:extLst>
          </p:cNvPr>
          <p:cNvSpPr>
            <a:spLocks noGrp="1"/>
          </p:cNvSpPr>
          <p:nvPr>
            <p:ph type="title"/>
          </p:nvPr>
        </p:nvSpPr>
        <p:spPr/>
        <p:txBody>
          <a:bodyPr/>
          <a:lstStyle/>
          <a:p>
            <a:r>
              <a:rPr lang="en-US" dirty="0"/>
              <a:t>Solid Fission Products</a:t>
            </a:r>
          </a:p>
        </p:txBody>
      </p:sp>
      <p:sp>
        <p:nvSpPr>
          <p:cNvPr id="3" name="Content Placeholder 2">
            <a:extLst>
              <a:ext uri="{FF2B5EF4-FFF2-40B4-BE49-F238E27FC236}">
                <a16:creationId xmlns:a16="http://schemas.microsoft.com/office/drawing/2014/main" id="{04A6B6FB-589F-E04B-A7F7-777414FB96C6}"/>
              </a:ext>
            </a:extLst>
          </p:cNvPr>
          <p:cNvSpPr>
            <a:spLocks noGrp="1"/>
          </p:cNvSpPr>
          <p:nvPr>
            <p:ph sz="half" idx="1"/>
          </p:nvPr>
        </p:nvSpPr>
        <p:spPr>
          <a:xfrm>
            <a:off x="609600" y="1968503"/>
            <a:ext cx="5778500" cy="4157663"/>
          </a:xfrm>
        </p:spPr>
        <p:txBody>
          <a:bodyPr/>
          <a:lstStyle/>
          <a:p>
            <a:r>
              <a:rPr lang="en-US" sz="2200" dirty="0"/>
              <a:t>Fission products in oxide fuels can be grouped into 4/5 categories</a:t>
            </a:r>
          </a:p>
          <a:p>
            <a:r>
              <a:rPr lang="en-US" sz="2200" dirty="0"/>
              <a:t>Fission gases and volatile species</a:t>
            </a:r>
          </a:p>
          <a:p>
            <a:r>
              <a:rPr lang="en-US" sz="2200" dirty="0"/>
              <a:t>Metallic precipitates</a:t>
            </a:r>
          </a:p>
          <a:p>
            <a:r>
              <a:rPr lang="en-US" sz="2200" dirty="0"/>
              <a:t>Oxide precipitates</a:t>
            </a:r>
          </a:p>
          <a:p>
            <a:r>
              <a:rPr lang="en-US" sz="2200" dirty="0"/>
              <a:t>Soluble oxides</a:t>
            </a:r>
          </a:p>
          <a:p>
            <a:r>
              <a:rPr lang="en-US" sz="2200" dirty="0"/>
              <a:t>LWR fuel vs Pu-containing MOX fuel, we see a higher concentration Ru, Rh, Pd, and a lower concentration of Zr and Mo</a:t>
            </a:r>
          </a:p>
          <a:p>
            <a:r>
              <a:rPr lang="en-US" sz="2200" dirty="0"/>
              <a:t>Target higher burnups, so we have a very high inventory of fission products</a:t>
            </a:r>
          </a:p>
          <a:p>
            <a:endParaRPr lang="en-US" sz="2200" dirty="0"/>
          </a:p>
        </p:txBody>
      </p:sp>
      <p:pic>
        <p:nvPicPr>
          <p:cNvPr id="6" name="Content Placeholder 5">
            <a:extLst>
              <a:ext uri="{FF2B5EF4-FFF2-40B4-BE49-F238E27FC236}">
                <a16:creationId xmlns:a16="http://schemas.microsoft.com/office/drawing/2014/main" id="{C03B8B5F-71C7-CD4C-A8F0-798DBEF9EA6D}"/>
              </a:ext>
            </a:extLst>
          </p:cNvPr>
          <p:cNvPicPr>
            <a:picLocks noGrp="1" noChangeAspect="1"/>
          </p:cNvPicPr>
          <p:nvPr>
            <p:ph sz="half" idx="2"/>
          </p:nvPr>
        </p:nvPicPr>
        <p:blipFill>
          <a:blip r:embed="rId2"/>
          <a:stretch>
            <a:fillRect/>
          </a:stretch>
        </p:blipFill>
        <p:spPr>
          <a:xfrm>
            <a:off x="6578600" y="2415384"/>
            <a:ext cx="5003800" cy="3263900"/>
          </a:xfrm>
          <a:prstGeom prst="rect">
            <a:avLst/>
          </a:prstGeom>
        </p:spPr>
      </p:pic>
      <p:sp>
        <p:nvSpPr>
          <p:cNvPr id="5" name="Slide Number Placeholder 4">
            <a:extLst>
              <a:ext uri="{FF2B5EF4-FFF2-40B4-BE49-F238E27FC236}">
                <a16:creationId xmlns:a16="http://schemas.microsoft.com/office/drawing/2014/main" id="{92663ABC-724E-0D48-B18F-DDF7C756BDEC}"/>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1438437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C8077-E59D-7A47-B44B-9EEFE63920A7}"/>
              </a:ext>
            </a:extLst>
          </p:cNvPr>
          <p:cNvSpPr>
            <a:spLocks noGrp="1"/>
          </p:cNvSpPr>
          <p:nvPr>
            <p:ph type="title"/>
          </p:nvPr>
        </p:nvSpPr>
        <p:spPr/>
        <p:txBody>
          <a:bodyPr/>
          <a:lstStyle/>
          <a:p>
            <a:r>
              <a:rPr lang="en-US" dirty="0"/>
              <a:t>Metallic Inclusions</a:t>
            </a:r>
          </a:p>
        </p:txBody>
      </p:sp>
      <p:sp>
        <p:nvSpPr>
          <p:cNvPr id="3" name="Content Placeholder 2">
            <a:extLst>
              <a:ext uri="{FF2B5EF4-FFF2-40B4-BE49-F238E27FC236}">
                <a16:creationId xmlns:a16="http://schemas.microsoft.com/office/drawing/2014/main" id="{C1A2BD2C-4E65-324F-B9F0-2674236F0284}"/>
              </a:ext>
            </a:extLst>
          </p:cNvPr>
          <p:cNvSpPr>
            <a:spLocks noGrp="1"/>
          </p:cNvSpPr>
          <p:nvPr>
            <p:ph sz="half" idx="1"/>
          </p:nvPr>
        </p:nvSpPr>
        <p:spPr/>
        <p:txBody>
          <a:bodyPr/>
          <a:lstStyle/>
          <a:p>
            <a:r>
              <a:rPr lang="en-US" sz="2000" dirty="0"/>
              <a:t>Mo, Tc, Ru, Rh, and Pd form prominent phases in irradiated nuclear fuels commonly referred to as “white inclusions,” “noble metal,” or “five-metal” precipitates</a:t>
            </a:r>
          </a:p>
          <a:p>
            <a:r>
              <a:rPr lang="en-US" sz="2000" dirty="0"/>
              <a:t>The particles exist as a solid solution taking on the hexagonal close packed (hcp) structure</a:t>
            </a:r>
          </a:p>
          <a:p>
            <a:r>
              <a:rPr lang="en-US" sz="2000" dirty="0"/>
              <a:t>The particle size, frequency, and composition exist over a wide range, depending on the burnup and position found within the pellet</a:t>
            </a:r>
          </a:p>
          <a:p>
            <a:endParaRPr lang="en-US" sz="2000" dirty="0"/>
          </a:p>
          <a:p>
            <a:endParaRPr lang="en-US" sz="2000" dirty="0"/>
          </a:p>
          <a:p>
            <a:endParaRPr lang="en-US" sz="2000" dirty="0"/>
          </a:p>
          <a:p>
            <a:endParaRPr lang="en-US" sz="2000" dirty="0"/>
          </a:p>
        </p:txBody>
      </p:sp>
      <p:pic>
        <p:nvPicPr>
          <p:cNvPr id="6" name="Content Placeholder 5">
            <a:extLst>
              <a:ext uri="{FF2B5EF4-FFF2-40B4-BE49-F238E27FC236}">
                <a16:creationId xmlns:a16="http://schemas.microsoft.com/office/drawing/2014/main" id="{1C84C28D-F26E-EC43-9AAE-E7D616EF7035}"/>
              </a:ext>
            </a:extLst>
          </p:cNvPr>
          <p:cNvPicPr>
            <a:picLocks noGrp="1" noChangeAspect="1"/>
          </p:cNvPicPr>
          <p:nvPr>
            <p:ph sz="half" idx="2"/>
          </p:nvPr>
        </p:nvPicPr>
        <p:blipFill>
          <a:blip r:embed="rId2"/>
          <a:stretch>
            <a:fillRect/>
          </a:stretch>
        </p:blipFill>
        <p:spPr>
          <a:xfrm>
            <a:off x="6197600" y="2143564"/>
            <a:ext cx="4890814" cy="3458243"/>
          </a:xfrm>
          <a:prstGeom prst="rect">
            <a:avLst/>
          </a:prstGeom>
        </p:spPr>
      </p:pic>
      <p:sp>
        <p:nvSpPr>
          <p:cNvPr id="5" name="Slide Number Placeholder 4">
            <a:extLst>
              <a:ext uri="{FF2B5EF4-FFF2-40B4-BE49-F238E27FC236}">
                <a16:creationId xmlns:a16="http://schemas.microsoft.com/office/drawing/2014/main" id="{2A38C00D-893B-EE46-809C-CAD40D4CFE2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56465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C5362-0171-C640-A17E-74C18D0F00DB}"/>
              </a:ext>
            </a:extLst>
          </p:cNvPr>
          <p:cNvSpPr>
            <a:spLocks noGrp="1"/>
          </p:cNvSpPr>
          <p:nvPr>
            <p:ph type="title"/>
          </p:nvPr>
        </p:nvSpPr>
        <p:spPr/>
        <p:txBody>
          <a:bodyPr/>
          <a:lstStyle/>
          <a:p>
            <a:r>
              <a:rPr lang="en-US" dirty="0"/>
              <a:t>Metallic Inclusions</a:t>
            </a:r>
          </a:p>
        </p:txBody>
      </p:sp>
      <p:sp>
        <p:nvSpPr>
          <p:cNvPr id="3" name="Content Placeholder 2">
            <a:extLst>
              <a:ext uri="{FF2B5EF4-FFF2-40B4-BE49-F238E27FC236}">
                <a16:creationId xmlns:a16="http://schemas.microsoft.com/office/drawing/2014/main" id="{9ADC5525-BFBA-6146-A665-4D0CB7C245DB}"/>
              </a:ext>
            </a:extLst>
          </p:cNvPr>
          <p:cNvSpPr>
            <a:spLocks noGrp="1"/>
          </p:cNvSpPr>
          <p:nvPr>
            <p:ph sz="half" idx="1"/>
          </p:nvPr>
        </p:nvSpPr>
        <p:spPr/>
        <p:txBody>
          <a:bodyPr/>
          <a:lstStyle/>
          <a:p>
            <a:r>
              <a:rPr lang="en-US" sz="2000" dirty="0"/>
              <a:t>In the columnar grain region of the fuel, the particles are commonly 5-10 </a:t>
            </a:r>
            <a:r>
              <a:rPr lang="en-US" sz="2000" dirty="0">
                <a:latin typeface="Symbol" pitchFamily="2" charset="2"/>
              </a:rPr>
              <a:t>m</a:t>
            </a:r>
            <a:r>
              <a:rPr lang="en-US" sz="2000" dirty="0"/>
              <a:t>m in diameter, collecting primarily on the grain boundaries</a:t>
            </a:r>
          </a:p>
          <a:p>
            <a:r>
              <a:rPr lang="en-US" sz="2000" dirty="0"/>
              <a:t>Particles tend to be much smaller (2 </a:t>
            </a:r>
            <a:r>
              <a:rPr lang="en-US" sz="2000" dirty="0">
                <a:latin typeface="Symbol" pitchFamily="2" charset="2"/>
              </a:rPr>
              <a:t>m</a:t>
            </a:r>
            <a:r>
              <a:rPr lang="en-US" sz="2000" dirty="0"/>
              <a:t>m and below) in the equiaxed and as-sintered regions, but occur more frequently </a:t>
            </a:r>
            <a:r>
              <a:rPr lang="en-US" sz="2000" dirty="0" err="1"/>
              <a:t>intragranularly</a:t>
            </a:r>
            <a:endParaRPr lang="en-US" sz="2000" dirty="0"/>
          </a:p>
          <a:p>
            <a:r>
              <a:rPr lang="en-US" sz="2000" dirty="0"/>
              <a:t>The particles form as a result of fission product phase agglomeration, as opposed to nucleation and growth process</a:t>
            </a:r>
          </a:p>
          <a:p>
            <a:endParaRPr lang="en-US" sz="2000" dirty="0"/>
          </a:p>
        </p:txBody>
      </p:sp>
      <p:pic>
        <p:nvPicPr>
          <p:cNvPr id="6" name="Content Placeholder 5">
            <a:extLst>
              <a:ext uri="{FF2B5EF4-FFF2-40B4-BE49-F238E27FC236}">
                <a16:creationId xmlns:a16="http://schemas.microsoft.com/office/drawing/2014/main" id="{E0FF34BE-514F-2C4D-8452-B03794A0CD21}"/>
              </a:ext>
            </a:extLst>
          </p:cNvPr>
          <p:cNvPicPr>
            <a:picLocks noGrp="1" noChangeAspect="1"/>
          </p:cNvPicPr>
          <p:nvPr>
            <p:ph sz="half" idx="2"/>
          </p:nvPr>
        </p:nvPicPr>
        <p:blipFill>
          <a:blip r:embed="rId2"/>
          <a:stretch>
            <a:fillRect/>
          </a:stretch>
        </p:blipFill>
        <p:spPr>
          <a:xfrm>
            <a:off x="6197600" y="2505680"/>
            <a:ext cx="5384800" cy="3083303"/>
          </a:xfrm>
          <a:prstGeom prst="rect">
            <a:avLst/>
          </a:prstGeom>
        </p:spPr>
      </p:pic>
      <p:sp>
        <p:nvSpPr>
          <p:cNvPr id="5" name="Slide Number Placeholder 4">
            <a:extLst>
              <a:ext uri="{FF2B5EF4-FFF2-40B4-BE49-F238E27FC236}">
                <a16:creationId xmlns:a16="http://schemas.microsoft.com/office/drawing/2014/main" id="{ED4E3A19-DEC5-C942-B3DC-2DE0F4EDB636}"/>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
        <p:nvSpPr>
          <p:cNvPr id="7" name="TextBox 6">
            <a:extLst>
              <a:ext uri="{FF2B5EF4-FFF2-40B4-BE49-F238E27FC236}">
                <a16:creationId xmlns:a16="http://schemas.microsoft.com/office/drawing/2014/main" id="{38EC7E62-0393-2D44-90C7-F67FBC6AD7BB}"/>
              </a:ext>
            </a:extLst>
          </p:cNvPr>
          <p:cNvSpPr txBox="1"/>
          <p:nvPr/>
        </p:nvSpPr>
        <p:spPr>
          <a:xfrm>
            <a:off x="6423572" y="2167126"/>
            <a:ext cx="2364827" cy="338554"/>
          </a:xfrm>
          <a:prstGeom prst="rect">
            <a:avLst/>
          </a:prstGeom>
          <a:noFill/>
        </p:spPr>
        <p:txBody>
          <a:bodyPr wrap="square" rtlCol="0">
            <a:spAutoFit/>
          </a:bodyPr>
          <a:lstStyle/>
          <a:p>
            <a:pPr algn="ctr"/>
            <a:r>
              <a:rPr lang="en-US" sz="1600" dirty="0"/>
              <a:t>Columnar Grain Region</a:t>
            </a:r>
          </a:p>
        </p:txBody>
      </p:sp>
      <p:sp>
        <p:nvSpPr>
          <p:cNvPr id="8" name="TextBox 7">
            <a:extLst>
              <a:ext uri="{FF2B5EF4-FFF2-40B4-BE49-F238E27FC236}">
                <a16:creationId xmlns:a16="http://schemas.microsoft.com/office/drawing/2014/main" id="{A17A85DB-3477-1449-894E-CDA10AF7CE8F}"/>
              </a:ext>
            </a:extLst>
          </p:cNvPr>
          <p:cNvSpPr txBox="1"/>
          <p:nvPr/>
        </p:nvSpPr>
        <p:spPr>
          <a:xfrm>
            <a:off x="9014371" y="2167126"/>
            <a:ext cx="2364827" cy="338554"/>
          </a:xfrm>
          <a:prstGeom prst="rect">
            <a:avLst/>
          </a:prstGeom>
          <a:noFill/>
        </p:spPr>
        <p:txBody>
          <a:bodyPr wrap="square" rtlCol="0">
            <a:spAutoFit/>
          </a:bodyPr>
          <a:lstStyle/>
          <a:p>
            <a:pPr algn="ctr"/>
            <a:r>
              <a:rPr lang="en-US" sz="1600" dirty="0"/>
              <a:t>Equiaxed Grain Region</a:t>
            </a:r>
          </a:p>
        </p:txBody>
      </p:sp>
    </p:spTree>
    <p:extLst>
      <p:ext uri="{BB962C8B-B14F-4D97-AF65-F5344CB8AC3E}">
        <p14:creationId xmlns:p14="http://schemas.microsoft.com/office/powerpoint/2010/main" val="469998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2E58-9AE8-8C4A-A4E9-971A117D48F2}"/>
              </a:ext>
            </a:extLst>
          </p:cNvPr>
          <p:cNvSpPr>
            <a:spLocks noGrp="1"/>
          </p:cNvSpPr>
          <p:nvPr>
            <p:ph type="title"/>
          </p:nvPr>
        </p:nvSpPr>
        <p:spPr/>
        <p:txBody>
          <a:bodyPr/>
          <a:lstStyle/>
          <a:p>
            <a:r>
              <a:rPr lang="en-US" dirty="0"/>
              <a:t>Oxide Phases</a:t>
            </a:r>
          </a:p>
        </p:txBody>
      </p:sp>
      <p:sp>
        <p:nvSpPr>
          <p:cNvPr id="3" name="Content Placeholder 2">
            <a:extLst>
              <a:ext uri="{FF2B5EF4-FFF2-40B4-BE49-F238E27FC236}">
                <a16:creationId xmlns:a16="http://schemas.microsoft.com/office/drawing/2014/main" id="{5D1DFC64-802E-ED43-BE80-06AA3881165E}"/>
              </a:ext>
            </a:extLst>
          </p:cNvPr>
          <p:cNvSpPr>
            <a:spLocks noGrp="1"/>
          </p:cNvSpPr>
          <p:nvPr>
            <p:ph sz="half" idx="1"/>
          </p:nvPr>
        </p:nvSpPr>
        <p:spPr>
          <a:xfrm>
            <a:off x="609600" y="1756065"/>
            <a:ext cx="5588000" cy="4370102"/>
          </a:xfrm>
        </p:spPr>
        <p:txBody>
          <a:bodyPr/>
          <a:lstStyle/>
          <a:p>
            <a:r>
              <a:rPr lang="en-US" sz="2000" dirty="0"/>
              <a:t>Oxides containing Sr, Zr, or the rare earth (RE) elements form solid solutions with either UO2, PuO2, or both at low concentrations</a:t>
            </a:r>
          </a:p>
          <a:p>
            <a:r>
              <a:rPr lang="en-US" sz="2000" dirty="0"/>
              <a:t>Barium is only soluble to 1.6 at% in MOX fuels and thus precipitates a separate oxide phase at higher concentrations</a:t>
            </a:r>
          </a:p>
          <a:p>
            <a:r>
              <a:rPr lang="en-US" sz="2000" dirty="0"/>
              <a:t>The separate oxide phase, commonly referred to as the “grey phase,” form ABO3 perovskite structures, in which A=(Ba1-x-y, </a:t>
            </a:r>
            <a:r>
              <a:rPr lang="en-US" sz="2000" dirty="0" err="1"/>
              <a:t>Srx</a:t>
            </a:r>
            <a:r>
              <a:rPr lang="en-US" sz="2000" dirty="0"/>
              <a:t>, </a:t>
            </a:r>
            <a:r>
              <a:rPr lang="en-US" sz="2000" dirty="0" err="1"/>
              <a:t>Csy</a:t>
            </a:r>
            <a:r>
              <a:rPr lang="en-US" sz="2000" dirty="0"/>
              <a:t>, </a:t>
            </a:r>
            <a:r>
              <a:rPr lang="en-US" sz="2000" dirty="0" err="1"/>
              <a:t>x,y</a:t>
            </a:r>
            <a:r>
              <a:rPr lang="en-US" sz="2000" dirty="0"/>
              <a:t> ≪1) and B=(U, Pu, Zr, Mo, RE)</a:t>
            </a:r>
          </a:p>
          <a:p>
            <a:r>
              <a:rPr lang="en-US" sz="2000" dirty="0"/>
              <a:t>The particles are primarily Ba rich, followed by Zr, U, Pu, Mo, Sr, and trace amounts of the remaining products</a:t>
            </a:r>
          </a:p>
          <a:p>
            <a:endParaRPr lang="en-US" sz="2000" dirty="0"/>
          </a:p>
          <a:p>
            <a:endParaRPr lang="en-US" sz="2000" dirty="0"/>
          </a:p>
          <a:p>
            <a:endParaRPr lang="en-US" sz="2000" dirty="0"/>
          </a:p>
        </p:txBody>
      </p:sp>
      <p:sp>
        <p:nvSpPr>
          <p:cNvPr id="4" name="Content Placeholder 3">
            <a:extLst>
              <a:ext uri="{FF2B5EF4-FFF2-40B4-BE49-F238E27FC236}">
                <a16:creationId xmlns:a16="http://schemas.microsoft.com/office/drawing/2014/main" id="{6F2A44FA-914D-8B45-B4C0-3E8EE9446F99}"/>
              </a:ext>
            </a:extLst>
          </p:cNvPr>
          <p:cNvSpPr>
            <a:spLocks noGrp="1"/>
          </p:cNvSpPr>
          <p:nvPr>
            <p:ph sz="half" idx="2"/>
          </p:nvPr>
        </p:nvSpPr>
        <p:spPr>
          <a:xfrm>
            <a:off x="6197599" y="1756065"/>
            <a:ext cx="5710621" cy="4370101"/>
          </a:xfrm>
        </p:spPr>
        <p:txBody>
          <a:bodyPr/>
          <a:lstStyle/>
          <a:p>
            <a:r>
              <a:rPr lang="en-US" sz="2000" dirty="0"/>
              <a:t>Due to the sheer number of constituents, the structures are largely unknown</a:t>
            </a:r>
          </a:p>
          <a:p>
            <a:r>
              <a:rPr lang="en-US" sz="2000" dirty="0"/>
              <a:t>Grey phase is typically found in the equiaxed or outermost regions of the columnar grains commonly intermixed with other constituent oxides</a:t>
            </a:r>
          </a:p>
          <a:p>
            <a:endParaRPr lang="en-US" sz="2000" dirty="0"/>
          </a:p>
          <a:p>
            <a:endParaRPr lang="en-US" sz="2000" dirty="0"/>
          </a:p>
        </p:txBody>
      </p:sp>
      <p:sp>
        <p:nvSpPr>
          <p:cNvPr id="5" name="Slide Number Placeholder 4">
            <a:extLst>
              <a:ext uri="{FF2B5EF4-FFF2-40B4-BE49-F238E27FC236}">
                <a16:creationId xmlns:a16="http://schemas.microsoft.com/office/drawing/2014/main" id="{FAAC435F-12FB-8248-A31C-B9F24DF8BB8F}"/>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dirty="0"/>
          </a:p>
        </p:txBody>
      </p:sp>
      <p:pic>
        <p:nvPicPr>
          <p:cNvPr id="6" name="Picture 5">
            <a:extLst>
              <a:ext uri="{FF2B5EF4-FFF2-40B4-BE49-F238E27FC236}">
                <a16:creationId xmlns:a16="http://schemas.microsoft.com/office/drawing/2014/main" id="{92CC5C14-8E82-2848-A936-3D6B92610815}"/>
              </a:ext>
            </a:extLst>
          </p:cNvPr>
          <p:cNvPicPr>
            <a:picLocks noChangeAspect="1"/>
          </p:cNvPicPr>
          <p:nvPr/>
        </p:nvPicPr>
        <p:blipFill>
          <a:blip r:embed="rId2"/>
          <a:stretch>
            <a:fillRect/>
          </a:stretch>
        </p:blipFill>
        <p:spPr>
          <a:xfrm>
            <a:off x="6739977" y="3741174"/>
            <a:ext cx="4300045" cy="2877597"/>
          </a:xfrm>
          <a:prstGeom prst="rect">
            <a:avLst/>
          </a:prstGeom>
        </p:spPr>
      </p:pic>
    </p:spTree>
    <p:extLst>
      <p:ext uri="{BB962C8B-B14F-4D97-AF65-F5344CB8AC3E}">
        <p14:creationId xmlns:p14="http://schemas.microsoft.com/office/powerpoint/2010/main" val="924570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CCF0-6415-A54B-A9C5-087F67239D5D}"/>
              </a:ext>
            </a:extLst>
          </p:cNvPr>
          <p:cNvSpPr>
            <a:spLocks noGrp="1"/>
          </p:cNvSpPr>
          <p:nvPr>
            <p:ph type="title"/>
          </p:nvPr>
        </p:nvSpPr>
        <p:spPr/>
        <p:txBody>
          <a:bodyPr/>
          <a:lstStyle/>
          <a:p>
            <a:r>
              <a:rPr lang="en-US" dirty="0"/>
              <a:t>Joint </a:t>
            </a:r>
            <a:r>
              <a:rPr lang="en-US" dirty="0" err="1"/>
              <a:t>Oxyde</a:t>
            </a:r>
            <a:r>
              <a:rPr lang="en-US" dirty="0"/>
              <a:t> </a:t>
            </a:r>
            <a:r>
              <a:rPr lang="en-US" dirty="0" err="1"/>
              <a:t>Gaine</a:t>
            </a:r>
            <a:endParaRPr lang="en-US" dirty="0"/>
          </a:p>
        </p:txBody>
      </p:sp>
      <p:sp>
        <p:nvSpPr>
          <p:cNvPr id="3" name="Content Placeholder 2">
            <a:extLst>
              <a:ext uri="{FF2B5EF4-FFF2-40B4-BE49-F238E27FC236}">
                <a16:creationId xmlns:a16="http://schemas.microsoft.com/office/drawing/2014/main" id="{555C30B3-9691-0343-B222-58F9AAD48F71}"/>
              </a:ext>
            </a:extLst>
          </p:cNvPr>
          <p:cNvSpPr>
            <a:spLocks noGrp="1"/>
          </p:cNvSpPr>
          <p:nvPr>
            <p:ph sz="half" idx="1"/>
          </p:nvPr>
        </p:nvSpPr>
        <p:spPr/>
        <p:txBody>
          <a:bodyPr/>
          <a:lstStyle/>
          <a:p>
            <a:r>
              <a:rPr lang="en-US" sz="2200" dirty="0"/>
              <a:t>The volatiles class of fission products produced during reactor operation are of particular interest to fuel-cladding interactions</a:t>
            </a:r>
          </a:p>
          <a:p>
            <a:r>
              <a:rPr lang="en-US" sz="2200" dirty="0"/>
              <a:t>Cs, </a:t>
            </a:r>
            <a:r>
              <a:rPr lang="en-US" sz="2200" dirty="0" err="1"/>
              <a:t>Te</a:t>
            </a:r>
            <a:r>
              <a:rPr lang="en-US" sz="2200" dirty="0"/>
              <a:t>, and I all evaporate at low operating temperatures and migrate to the coolest part of the fuel where they react with fuel or cladding constituents</a:t>
            </a:r>
          </a:p>
          <a:p>
            <a:r>
              <a:rPr lang="en-US" sz="2200" dirty="0"/>
              <a:t>Mo has a tendency to combine with Cs and O to become volatile and migrate toward cooler fuel regions</a:t>
            </a:r>
          </a:p>
        </p:txBody>
      </p:sp>
      <p:sp>
        <p:nvSpPr>
          <p:cNvPr id="4" name="Content Placeholder 3">
            <a:extLst>
              <a:ext uri="{FF2B5EF4-FFF2-40B4-BE49-F238E27FC236}">
                <a16:creationId xmlns:a16="http://schemas.microsoft.com/office/drawing/2014/main" id="{F3A4FCED-8373-084C-B7D2-F6BB142F207F}"/>
              </a:ext>
            </a:extLst>
          </p:cNvPr>
          <p:cNvSpPr>
            <a:spLocks noGrp="1"/>
          </p:cNvSpPr>
          <p:nvPr>
            <p:ph sz="half" idx="2"/>
          </p:nvPr>
        </p:nvSpPr>
        <p:spPr/>
        <p:txBody>
          <a:bodyPr/>
          <a:lstStyle/>
          <a:p>
            <a:r>
              <a:rPr lang="en-US" sz="2200" dirty="0"/>
              <a:t>This has been termed Joint </a:t>
            </a:r>
            <a:r>
              <a:rPr lang="en-US" sz="2200" dirty="0" err="1"/>
              <a:t>Oxyde</a:t>
            </a:r>
            <a:r>
              <a:rPr lang="en-US" sz="2200" dirty="0"/>
              <a:t> </a:t>
            </a:r>
            <a:r>
              <a:rPr lang="en-US" sz="2200" dirty="0" err="1"/>
              <a:t>Gaine</a:t>
            </a:r>
            <a:r>
              <a:rPr lang="en-US" sz="2200" dirty="0"/>
              <a:t> (JOG)</a:t>
            </a:r>
          </a:p>
          <a:p>
            <a:r>
              <a:rPr lang="en-US" sz="2200" dirty="0"/>
              <a:t>JOG is an oxide buildup formed on the fuel surface between the pellet and cladding</a:t>
            </a:r>
          </a:p>
          <a:p>
            <a:r>
              <a:rPr lang="en-US" sz="2200" dirty="0"/>
              <a:t>After gap closure, there remains a minimal residual gap</a:t>
            </a:r>
          </a:p>
          <a:p>
            <a:r>
              <a:rPr lang="en-US" sz="2200" dirty="0"/>
              <a:t>Primarily Cs2MoO4 or Cs2(U, Pu)O4, the JOG structure is irregular and dense, found in regions where the peak fuel temperature is lowest</a:t>
            </a:r>
          </a:p>
        </p:txBody>
      </p:sp>
      <p:sp>
        <p:nvSpPr>
          <p:cNvPr id="5" name="Slide Number Placeholder 4">
            <a:extLst>
              <a:ext uri="{FF2B5EF4-FFF2-40B4-BE49-F238E27FC236}">
                <a16:creationId xmlns:a16="http://schemas.microsoft.com/office/drawing/2014/main" id="{F1B2191A-DB31-A547-AE55-3FA147A12B5F}"/>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Tree>
    <p:extLst>
      <p:ext uri="{BB962C8B-B14F-4D97-AF65-F5344CB8AC3E}">
        <p14:creationId xmlns:p14="http://schemas.microsoft.com/office/powerpoint/2010/main" val="2911537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7CCF0-6415-A54B-A9C5-087F67239D5D}"/>
              </a:ext>
            </a:extLst>
          </p:cNvPr>
          <p:cNvSpPr>
            <a:spLocks noGrp="1"/>
          </p:cNvSpPr>
          <p:nvPr>
            <p:ph type="title"/>
          </p:nvPr>
        </p:nvSpPr>
        <p:spPr/>
        <p:txBody>
          <a:bodyPr/>
          <a:lstStyle/>
          <a:p>
            <a:r>
              <a:rPr lang="en-US" dirty="0"/>
              <a:t>Joint Oxide Gain</a:t>
            </a:r>
          </a:p>
        </p:txBody>
      </p:sp>
      <p:sp>
        <p:nvSpPr>
          <p:cNvPr id="3" name="Content Placeholder 2">
            <a:extLst>
              <a:ext uri="{FF2B5EF4-FFF2-40B4-BE49-F238E27FC236}">
                <a16:creationId xmlns:a16="http://schemas.microsoft.com/office/drawing/2014/main" id="{555C30B3-9691-0343-B222-58F9AAD48F71}"/>
              </a:ext>
            </a:extLst>
          </p:cNvPr>
          <p:cNvSpPr>
            <a:spLocks noGrp="1"/>
          </p:cNvSpPr>
          <p:nvPr>
            <p:ph sz="half" idx="1"/>
          </p:nvPr>
        </p:nvSpPr>
        <p:spPr/>
        <p:txBody>
          <a:bodyPr/>
          <a:lstStyle/>
          <a:p>
            <a:r>
              <a:rPr lang="en-US" sz="2200" dirty="0"/>
              <a:t>The volatile constituents of the JOG structure evaporate from the fuel pellet at high temperatures and condense to become solid at the cooler top or bottom of the fuel</a:t>
            </a:r>
          </a:p>
          <a:p>
            <a:r>
              <a:rPr lang="en-US" sz="2200" dirty="0"/>
              <a:t>It is believed that the existence of JOG aids in thermal transport of the fuel, as the oxide structures have higher thermal conductivity than a fuel-cladding gap filled with fission gases</a:t>
            </a:r>
          </a:p>
          <a:p>
            <a:endParaRPr lang="en-US" sz="2200" dirty="0"/>
          </a:p>
        </p:txBody>
      </p:sp>
      <p:pic>
        <p:nvPicPr>
          <p:cNvPr id="6" name="Content Placeholder 5">
            <a:extLst>
              <a:ext uri="{FF2B5EF4-FFF2-40B4-BE49-F238E27FC236}">
                <a16:creationId xmlns:a16="http://schemas.microsoft.com/office/drawing/2014/main" id="{6F523490-3C9F-D74C-A262-21A623B00206}"/>
              </a:ext>
            </a:extLst>
          </p:cNvPr>
          <p:cNvPicPr>
            <a:picLocks noGrp="1" noChangeAspect="1"/>
          </p:cNvPicPr>
          <p:nvPr>
            <p:ph sz="half" idx="2"/>
          </p:nvPr>
        </p:nvPicPr>
        <p:blipFill>
          <a:blip r:embed="rId2"/>
          <a:stretch>
            <a:fillRect/>
          </a:stretch>
        </p:blipFill>
        <p:spPr>
          <a:xfrm>
            <a:off x="6197599" y="1589809"/>
            <a:ext cx="5915295" cy="4510531"/>
          </a:xfrm>
          <a:prstGeom prst="rect">
            <a:avLst/>
          </a:prstGeom>
        </p:spPr>
      </p:pic>
      <p:sp>
        <p:nvSpPr>
          <p:cNvPr id="5" name="Slide Number Placeholder 4">
            <a:extLst>
              <a:ext uri="{FF2B5EF4-FFF2-40B4-BE49-F238E27FC236}">
                <a16:creationId xmlns:a16="http://schemas.microsoft.com/office/drawing/2014/main" id="{F1B2191A-DB31-A547-AE55-3FA147A12B5F}"/>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39273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8C29-A150-F7AF-8201-AC01F0B14AB8}"/>
              </a:ext>
            </a:extLst>
          </p:cNvPr>
          <p:cNvSpPr>
            <a:spLocks noGrp="1"/>
          </p:cNvSpPr>
          <p:nvPr>
            <p:ph type="title"/>
          </p:nvPr>
        </p:nvSpPr>
        <p:spPr/>
        <p:txBody>
          <a:bodyPr/>
          <a:lstStyle/>
          <a:p>
            <a:r>
              <a:rPr lang="en-US" dirty="0"/>
              <a:t>Joint Oxide Gain</a:t>
            </a:r>
          </a:p>
        </p:txBody>
      </p:sp>
      <p:sp>
        <p:nvSpPr>
          <p:cNvPr id="3" name="Content Placeholder 2">
            <a:extLst>
              <a:ext uri="{FF2B5EF4-FFF2-40B4-BE49-F238E27FC236}">
                <a16:creationId xmlns:a16="http://schemas.microsoft.com/office/drawing/2014/main" id="{60F05048-521C-0C93-5762-C681FD714629}"/>
              </a:ext>
            </a:extLst>
          </p:cNvPr>
          <p:cNvSpPr>
            <a:spLocks noGrp="1"/>
          </p:cNvSpPr>
          <p:nvPr>
            <p:ph sz="half" idx="1"/>
          </p:nvPr>
        </p:nvSpPr>
        <p:spPr>
          <a:xfrm>
            <a:off x="609600" y="1968503"/>
            <a:ext cx="5133196" cy="4157663"/>
          </a:xfrm>
        </p:spPr>
        <p:txBody>
          <a:bodyPr/>
          <a:lstStyle/>
          <a:p>
            <a:r>
              <a:rPr lang="en-US" sz="2400" dirty="0"/>
              <a:t>JOG acts as a mechanical buffer, limiting the amount of PCMI, or stresses in the cladding</a:t>
            </a:r>
          </a:p>
          <a:p>
            <a:r>
              <a:rPr lang="en-US" sz="2400" dirty="0"/>
              <a:t>JOG reduces fuel swelling, by allowing fission products to leave the fuel into a preferable chemical state</a:t>
            </a:r>
          </a:p>
          <a:p>
            <a:r>
              <a:rPr lang="en-US" sz="2400" dirty="0"/>
              <a:t>Fission products in the JOG play a predominant role on FCCI and on the resulting strong cladding corrosion</a:t>
            </a:r>
          </a:p>
          <a:p>
            <a:endParaRPr lang="en-US" sz="2400" dirty="0"/>
          </a:p>
        </p:txBody>
      </p:sp>
      <p:pic>
        <p:nvPicPr>
          <p:cNvPr id="6" name="Content Placeholder 5">
            <a:extLst>
              <a:ext uri="{FF2B5EF4-FFF2-40B4-BE49-F238E27FC236}">
                <a16:creationId xmlns:a16="http://schemas.microsoft.com/office/drawing/2014/main" id="{8DBBE775-7F3D-61E1-5204-9DD3DFBEFE08}"/>
              </a:ext>
            </a:extLst>
          </p:cNvPr>
          <p:cNvPicPr>
            <a:picLocks noGrp="1" noChangeAspect="1"/>
          </p:cNvPicPr>
          <p:nvPr>
            <p:ph sz="half" idx="2"/>
          </p:nvPr>
        </p:nvPicPr>
        <p:blipFill>
          <a:blip r:embed="rId2"/>
          <a:stretch>
            <a:fillRect/>
          </a:stretch>
        </p:blipFill>
        <p:spPr>
          <a:xfrm>
            <a:off x="6275975" y="1614196"/>
            <a:ext cx="5673570" cy="4511968"/>
          </a:xfrm>
          <a:prstGeom prst="rect">
            <a:avLst/>
          </a:prstGeom>
        </p:spPr>
      </p:pic>
      <p:sp>
        <p:nvSpPr>
          <p:cNvPr id="5" name="Slide Number Placeholder 4">
            <a:extLst>
              <a:ext uri="{FF2B5EF4-FFF2-40B4-BE49-F238E27FC236}">
                <a16:creationId xmlns:a16="http://schemas.microsoft.com/office/drawing/2014/main" id="{BE207629-50D0-DB6D-55F4-D4F1C73C10C1}"/>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724289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A996-1D29-8D4D-A912-9F041F791FC4}"/>
              </a:ext>
            </a:extLst>
          </p:cNvPr>
          <p:cNvSpPr>
            <a:spLocks noGrp="1"/>
          </p:cNvSpPr>
          <p:nvPr>
            <p:ph type="title"/>
          </p:nvPr>
        </p:nvSpPr>
        <p:spPr/>
        <p:txBody>
          <a:bodyPr/>
          <a:lstStyle/>
          <a:p>
            <a:r>
              <a:rPr lang="en-US" dirty="0"/>
              <a:t>MOX FCCI</a:t>
            </a:r>
          </a:p>
        </p:txBody>
      </p:sp>
      <p:sp>
        <p:nvSpPr>
          <p:cNvPr id="3" name="Content Placeholder 2">
            <a:extLst>
              <a:ext uri="{FF2B5EF4-FFF2-40B4-BE49-F238E27FC236}">
                <a16:creationId xmlns:a16="http://schemas.microsoft.com/office/drawing/2014/main" id="{78A8BA7E-7D5A-3945-9DC0-F2FEDBE21D48}"/>
              </a:ext>
            </a:extLst>
          </p:cNvPr>
          <p:cNvSpPr>
            <a:spLocks noGrp="1"/>
          </p:cNvSpPr>
          <p:nvPr>
            <p:ph sz="half" idx="1"/>
          </p:nvPr>
        </p:nvSpPr>
        <p:spPr>
          <a:xfrm>
            <a:off x="609599" y="1968503"/>
            <a:ext cx="6497783" cy="4157663"/>
          </a:xfrm>
        </p:spPr>
        <p:txBody>
          <a:bodyPr/>
          <a:lstStyle/>
          <a:p>
            <a:r>
              <a:rPr lang="en-US" sz="2000" dirty="0"/>
              <a:t>While T is too low in LWRs with MOX to initiate FCCI, in SFRs with MOX, the cladding inner surface temperature can reach sufficiently high temperatures under normal operating conditions to initiate detrimental oxidation and chemical attack</a:t>
            </a:r>
          </a:p>
          <a:p>
            <a:r>
              <a:rPr lang="en-US" sz="2000" dirty="0"/>
              <a:t>FCCI manifests itself in three primary modes: matrix attack, intergranular attack, or combined, which demonstrates the properties of both matrix and intergranular attack</a:t>
            </a:r>
          </a:p>
          <a:p>
            <a:r>
              <a:rPr lang="en-US" sz="2000" dirty="0"/>
              <a:t>Matrix FCCI attack corresponds to the localized oxidation of the cladding material, with primarily oxidation of the Cr in the stainless steel</a:t>
            </a:r>
          </a:p>
          <a:p>
            <a:endParaRPr lang="en-US" sz="2000" dirty="0"/>
          </a:p>
          <a:p>
            <a:endParaRPr lang="en-US" sz="2000" dirty="0"/>
          </a:p>
        </p:txBody>
      </p:sp>
      <p:pic>
        <p:nvPicPr>
          <p:cNvPr id="6" name="Content Placeholder 5">
            <a:extLst>
              <a:ext uri="{FF2B5EF4-FFF2-40B4-BE49-F238E27FC236}">
                <a16:creationId xmlns:a16="http://schemas.microsoft.com/office/drawing/2014/main" id="{96C309C8-B1E8-3044-953E-EE3DE70B136A}"/>
              </a:ext>
            </a:extLst>
          </p:cNvPr>
          <p:cNvPicPr>
            <a:picLocks noGrp="1" noChangeAspect="1"/>
          </p:cNvPicPr>
          <p:nvPr>
            <p:ph sz="half" idx="2"/>
          </p:nvPr>
        </p:nvPicPr>
        <p:blipFill>
          <a:blip r:embed="rId2"/>
          <a:stretch>
            <a:fillRect/>
          </a:stretch>
        </p:blipFill>
        <p:spPr>
          <a:xfrm>
            <a:off x="7461236" y="1800224"/>
            <a:ext cx="4245855" cy="4157663"/>
          </a:xfrm>
          <a:prstGeom prst="rect">
            <a:avLst/>
          </a:prstGeom>
        </p:spPr>
      </p:pic>
      <p:sp>
        <p:nvSpPr>
          <p:cNvPr id="5" name="Slide Number Placeholder 4">
            <a:extLst>
              <a:ext uri="{FF2B5EF4-FFF2-40B4-BE49-F238E27FC236}">
                <a16:creationId xmlns:a16="http://schemas.microsoft.com/office/drawing/2014/main" id="{D121CB91-AAB8-1D4E-87F6-7CC58FC4FD0D}"/>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1041278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A996-1D29-8D4D-A912-9F041F791FC4}"/>
              </a:ext>
            </a:extLst>
          </p:cNvPr>
          <p:cNvSpPr>
            <a:spLocks noGrp="1"/>
          </p:cNvSpPr>
          <p:nvPr>
            <p:ph type="title"/>
          </p:nvPr>
        </p:nvSpPr>
        <p:spPr/>
        <p:txBody>
          <a:bodyPr/>
          <a:lstStyle/>
          <a:p>
            <a:r>
              <a:rPr lang="en-US" dirty="0"/>
              <a:t>MOX FCCI</a:t>
            </a:r>
          </a:p>
        </p:txBody>
      </p:sp>
      <p:sp>
        <p:nvSpPr>
          <p:cNvPr id="3" name="Content Placeholder 2">
            <a:extLst>
              <a:ext uri="{FF2B5EF4-FFF2-40B4-BE49-F238E27FC236}">
                <a16:creationId xmlns:a16="http://schemas.microsoft.com/office/drawing/2014/main" id="{78A8BA7E-7D5A-3945-9DC0-F2FEDBE21D48}"/>
              </a:ext>
            </a:extLst>
          </p:cNvPr>
          <p:cNvSpPr>
            <a:spLocks noGrp="1"/>
          </p:cNvSpPr>
          <p:nvPr>
            <p:ph sz="half" idx="1"/>
          </p:nvPr>
        </p:nvSpPr>
        <p:spPr>
          <a:xfrm>
            <a:off x="609599" y="1968503"/>
            <a:ext cx="5738649" cy="4157663"/>
          </a:xfrm>
        </p:spPr>
        <p:txBody>
          <a:bodyPr/>
          <a:lstStyle/>
          <a:p>
            <a:r>
              <a:rPr lang="en-US" sz="2000" dirty="0"/>
              <a:t>Intergranular attack modes occur due to the depletion of Cr in grain boundaries due to the formation of Cr23C6 carbides allowing penetration of corrosive species</a:t>
            </a:r>
          </a:p>
          <a:p>
            <a:r>
              <a:rPr lang="en-US" sz="2000" dirty="0"/>
              <a:t>Oxygen and volatile fission products (Cs, </a:t>
            </a:r>
            <a:r>
              <a:rPr lang="en-US" sz="2000" dirty="0" err="1"/>
              <a:t>Te</a:t>
            </a:r>
            <a:r>
              <a:rPr lang="en-US" sz="2000" dirty="0"/>
              <a:t>, I, etc.) are the primary culprits of FCCI initiation in oxide fuel systems</a:t>
            </a:r>
          </a:p>
          <a:p>
            <a:r>
              <a:rPr lang="en-US" sz="2000" dirty="0"/>
              <a:t>In MOX fuels, the oxygen potential of the system is the greatest difference from LWR UO2</a:t>
            </a:r>
          </a:p>
          <a:p>
            <a:r>
              <a:rPr lang="en-US" sz="2000" dirty="0"/>
              <a:t>The preferential formation of noble metals rather than oxide formers leads to an excess of available oxygen in the system</a:t>
            </a:r>
          </a:p>
          <a:p>
            <a:endParaRPr lang="en-US" sz="2000" dirty="0"/>
          </a:p>
          <a:p>
            <a:endParaRPr lang="en-US" sz="2000" dirty="0"/>
          </a:p>
          <a:p>
            <a:endParaRPr lang="en-US" sz="2000" dirty="0"/>
          </a:p>
          <a:p>
            <a:endParaRPr lang="en-US" sz="2000" dirty="0"/>
          </a:p>
        </p:txBody>
      </p:sp>
      <p:pic>
        <p:nvPicPr>
          <p:cNvPr id="9" name="Content Placeholder 8">
            <a:extLst>
              <a:ext uri="{FF2B5EF4-FFF2-40B4-BE49-F238E27FC236}">
                <a16:creationId xmlns:a16="http://schemas.microsoft.com/office/drawing/2014/main" id="{2742A9BD-7832-5344-803D-02C91FBF28CA}"/>
              </a:ext>
            </a:extLst>
          </p:cNvPr>
          <p:cNvPicPr>
            <a:picLocks noGrp="1" noChangeAspect="1"/>
          </p:cNvPicPr>
          <p:nvPr>
            <p:ph sz="half" idx="2"/>
          </p:nvPr>
        </p:nvPicPr>
        <p:blipFill>
          <a:blip r:embed="rId2"/>
          <a:stretch>
            <a:fillRect/>
          </a:stretch>
        </p:blipFill>
        <p:spPr>
          <a:xfrm>
            <a:off x="6781800" y="1970881"/>
            <a:ext cx="4216400" cy="4152900"/>
          </a:xfrm>
          <a:prstGeom prst="rect">
            <a:avLst/>
          </a:prstGeom>
        </p:spPr>
      </p:pic>
      <p:sp>
        <p:nvSpPr>
          <p:cNvPr id="5" name="Slide Number Placeholder 4">
            <a:extLst>
              <a:ext uri="{FF2B5EF4-FFF2-40B4-BE49-F238E27FC236}">
                <a16:creationId xmlns:a16="http://schemas.microsoft.com/office/drawing/2014/main" id="{D121CB91-AAB8-1D4E-87F6-7CC58FC4FD0D}"/>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423010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A8BE-71EE-ED46-92F3-14308525C58D}"/>
              </a:ext>
            </a:extLst>
          </p:cNvPr>
          <p:cNvSpPr>
            <a:spLocks noGrp="1"/>
          </p:cNvSpPr>
          <p:nvPr>
            <p:ph type="title"/>
          </p:nvPr>
        </p:nvSpPr>
        <p:spPr/>
        <p:txBody>
          <a:bodyPr/>
          <a:lstStyle/>
          <a:p>
            <a:r>
              <a:rPr lang="en-US" dirty="0"/>
              <a:t>MOX FCCI</a:t>
            </a:r>
          </a:p>
        </p:txBody>
      </p:sp>
      <p:sp>
        <p:nvSpPr>
          <p:cNvPr id="3" name="Content Placeholder 2">
            <a:extLst>
              <a:ext uri="{FF2B5EF4-FFF2-40B4-BE49-F238E27FC236}">
                <a16:creationId xmlns:a16="http://schemas.microsoft.com/office/drawing/2014/main" id="{5780C6AA-3F7C-6B42-A3C7-16F5392C52CF}"/>
              </a:ext>
            </a:extLst>
          </p:cNvPr>
          <p:cNvSpPr>
            <a:spLocks noGrp="1"/>
          </p:cNvSpPr>
          <p:nvPr>
            <p:ph sz="half" idx="1"/>
          </p:nvPr>
        </p:nvSpPr>
        <p:spPr/>
        <p:txBody>
          <a:bodyPr/>
          <a:lstStyle/>
          <a:p>
            <a:r>
              <a:rPr lang="en-US" sz="2000" dirty="0"/>
              <a:t>Under normal operation, stainless steel cladding forms a chromia (Cr2O3) layer that acts to protect the cladding from corrosion </a:t>
            </a:r>
          </a:p>
          <a:p>
            <a:r>
              <a:rPr lang="en-US" sz="2000" dirty="0"/>
              <a:t>Cs is generally unreactive with stainless steel claddings, but reacts with the protective oxide layer to create Cs-chromates (Cs2CrO4 or Cs2Cr2O7) when excess oxygen is present</a:t>
            </a:r>
          </a:p>
          <a:p>
            <a:r>
              <a:rPr lang="en-US" sz="2000" dirty="0"/>
              <a:t>The decay of the protective oxide layer causes deeper penetration of the FCCI into the cladding</a:t>
            </a:r>
          </a:p>
          <a:p>
            <a:endParaRPr lang="en-US" sz="2000" dirty="0"/>
          </a:p>
        </p:txBody>
      </p:sp>
      <p:sp>
        <p:nvSpPr>
          <p:cNvPr id="4" name="Content Placeholder 3">
            <a:extLst>
              <a:ext uri="{FF2B5EF4-FFF2-40B4-BE49-F238E27FC236}">
                <a16:creationId xmlns:a16="http://schemas.microsoft.com/office/drawing/2014/main" id="{4F122219-D24D-C94F-B0C5-99956CB05B7F}"/>
              </a:ext>
            </a:extLst>
          </p:cNvPr>
          <p:cNvSpPr>
            <a:spLocks noGrp="1"/>
          </p:cNvSpPr>
          <p:nvPr>
            <p:ph sz="half" idx="2"/>
          </p:nvPr>
        </p:nvSpPr>
        <p:spPr>
          <a:xfrm>
            <a:off x="6197600" y="1968503"/>
            <a:ext cx="5700110" cy="4157663"/>
          </a:xfrm>
        </p:spPr>
        <p:txBody>
          <a:bodyPr/>
          <a:lstStyle/>
          <a:p>
            <a:r>
              <a:rPr lang="en-US" sz="2000" dirty="0"/>
              <a:t>Iodine is primarily bound to Cs in the form of </a:t>
            </a:r>
            <a:r>
              <a:rPr lang="en-US" sz="2000" dirty="0" err="1"/>
              <a:t>CsI</a:t>
            </a:r>
            <a:r>
              <a:rPr lang="en-US" sz="2000" dirty="0"/>
              <a:t>, and can lead to an enhancement in oxidation in </a:t>
            </a:r>
            <a:r>
              <a:rPr lang="en-US" sz="2000" dirty="0" err="1"/>
              <a:t>hyperstoichiometric</a:t>
            </a:r>
            <a:r>
              <a:rPr lang="en-US" sz="2000" dirty="0"/>
              <a:t> fuels</a:t>
            </a:r>
          </a:p>
          <a:p>
            <a:r>
              <a:rPr lang="en-US" sz="2000" dirty="0"/>
              <a:t>Tellurium is highly active when combined with Cs to create Cs2Te, which can dissolve cladding constituents in the presence of high oxygen potential</a:t>
            </a:r>
          </a:p>
          <a:p>
            <a:r>
              <a:rPr lang="en-US" sz="2000" dirty="0"/>
              <a:t>The O/M ratio of the fuel before and during irradiation are significant factors, and FCCI can potentially be limited by operating with a </a:t>
            </a:r>
            <a:r>
              <a:rPr lang="en-US" sz="2000" dirty="0" err="1"/>
              <a:t>hypostoichiometric</a:t>
            </a:r>
            <a:r>
              <a:rPr lang="en-US" sz="2000" dirty="0"/>
              <a:t> initial fuel composition</a:t>
            </a:r>
          </a:p>
        </p:txBody>
      </p:sp>
      <p:sp>
        <p:nvSpPr>
          <p:cNvPr id="5" name="Slide Number Placeholder 4">
            <a:extLst>
              <a:ext uri="{FF2B5EF4-FFF2-40B4-BE49-F238E27FC236}">
                <a16:creationId xmlns:a16="http://schemas.microsoft.com/office/drawing/2014/main" id="{11B1FEDF-B9D7-8D42-BB11-3522F97DDCC9}"/>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273127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31969-4403-8A42-98B4-FE0B32DD14D2}"/>
              </a:ext>
            </a:extLst>
          </p:cNvPr>
          <p:cNvSpPr>
            <a:spLocks noGrp="1"/>
          </p:cNvSpPr>
          <p:nvPr>
            <p:ph type="title"/>
          </p:nvPr>
        </p:nvSpPr>
        <p:spPr/>
        <p:txBody>
          <a:bodyPr/>
          <a:lstStyle/>
          <a:p>
            <a:r>
              <a:rPr lang="en-US" dirty="0"/>
              <a:t>MOX Summary</a:t>
            </a:r>
          </a:p>
        </p:txBody>
      </p:sp>
      <p:sp>
        <p:nvSpPr>
          <p:cNvPr id="3" name="Content Placeholder 2">
            <a:extLst>
              <a:ext uri="{FF2B5EF4-FFF2-40B4-BE49-F238E27FC236}">
                <a16:creationId xmlns:a16="http://schemas.microsoft.com/office/drawing/2014/main" id="{29C85F92-BE47-B44D-ADDD-589941230655}"/>
              </a:ext>
            </a:extLst>
          </p:cNvPr>
          <p:cNvSpPr>
            <a:spLocks noGrp="1"/>
          </p:cNvSpPr>
          <p:nvPr>
            <p:ph sz="half" idx="1"/>
          </p:nvPr>
        </p:nvSpPr>
        <p:spPr>
          <a:xfrm>
            <a:off x="609600" y="1968503"/>
            <a:ext cx="10972800" cy="4157663"/>
          </a:xfrm>
        </p:spPr>
        <p:txBody>
          <a:bodyPr/>
          <a:lstStyle/>
          <a:p>
            <a:r>
              <a:rPr lang="en-US" sz="2400" dirty="0"/>
              <a:t>Phenomena of interest: Restructuring, O and Pu redistribution, Pu agglomerates, fission product chemistries, JOG formation, and FCCI</a:t>
            </a:r>
          </a:p>
          <a:p>
            <a:r>
              <a:rPr lang="en-US" sz="2400" dirty="0"/>
              <a:t>O/M ratio is one of the most significant factors in determining the nature of actinide redistribution, fission product precipitate chemistries, and FCCI formation</a:t>
            </a:r>
          </a:p>
          <a:p>
            <a:r>
              <a:rPr lang="en-US" sz="2400" dirty="0"/>
              <a:t>The effects of fission product precipitates and Pu agglomerates on fuel thermal behavior is highly localized with little discernible influence on the overall fuel burnup behavior</a:t>
            </a:r>
          </a:p>
          <a:p>
            <a:endParaRPr lang="en-US" sz="2400" dirty="0"/>
          </a:p>
        </p:txBody>
      </p:sp>
      <p:sp>
        <p:nvSpPr>
          <p:cNvPr id="5" name="Slide Number Placeholder 4">
            <a:extLst>
              <a:ext uri="{FF2B5EF4-FFF2-40B4-BE49-F238E27FC236}">
                <a16:creationId xmlns:a16="http://schemas.microsoft.com/office/drawing/2014/main" id="{2D2F797F-F6CD-934E-87DD-23006FE5CEA2}"/>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3614050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Sodium coolant</a:t>
            </a:r>
          </a:p>
        </p:txBody>
      </p:sp>
      <p:sp>
        <p:nvSpPr>
          <p:cNvPr id="3" name="Slide Number Placeholder 2">
            <a:extLst>
              <a:ext uri="{FF2B5EF4-FFF2-40B4-BE49-F238E27FC236}">
                <a16:creationId xmlns:a16="http://schemas.microsoft.com/office/drawing/2014/main" id="{8C13F456-584A-824C-B8DE-78755B7103C2}"/>
              </a:ext>
            </a:extLst>
          </p:cNvPr>
          <p:cNvSpPr>
            <a:spLocks noGrp="1"/>
          </p:cNvSpPr>
          <p:nvPr>
            <p:ph type="sldNum" sz="quarter" idx="12"/>
          </p:nvPr>
        </p:nvSpPr>
        <p:spPr/>
        <p:txBody>
          <a:bodyPr/>
          <a:lstStyle/>
          <a:p>
            <a:pPr>
              <a:defRPr/>
            </a:pPr>
            <a:fld id="{0DA6BD0F-ABBC-C14D-BC96-77BE126A748B}" type="slidenum">
              <a:rPr lang="en-US" smtClean="0"/>
              <a:pPr>
                <a:defRPr/>
              </a:pPr>
              <a:t>21</a:t>
            </a:fld>
            <a:endParaRPr lang="en-US"/>
          </a:p>
        </p:txBody>
      </p:sp>
    </p:spTree>
    <p:extLst>
      <p:ext uri="{BB962C8B-B14F-4D97-AF65-F5344CB8AC3E}">
        <p14:creationId xmlns:p14="http://schemas.microsoft.com/office/powerpoint/2010/main" val="3558648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7CBA7-244E-2742-8A82-38A7C55165D4}"/>
              </a:ext>
            </a:extLst>
          </p:cNvPr>
          <p:cNvSpPr>
            <a:spLocks noGrp="1"/>
          </p:cNvSpPr>
          <p:nvPr>
            <p:ph type="title"/>
          </p:nvPr>
        </p:nvSpPr>
        <p:spPr/>
        <p:txBody>
          <a:bodyPr/>
          <a:lstStyle/>
          <a:p>
            <a:r>
              <a:rPr lang="en-US" dirty="0"/>
              <a:t>Liquid Metal Coolants</a:t>
            </a:r>
          </a:p>
        </p:txBody>
      </p:sp>
      <p:sp>
        <p:nvSpPr>
          <p:cNvPr id="3" name="Content Placeholder 2">
            <a:extLst>
              <a:ext uri="{FF2B5EF4-FFF2-40B4-BE49-F238E27FC236}">
                <a16:creationId xmlns:a16="http://schemas.microsoft.com/office/drawing/2014/main" id="{95EC59BB-8940-7141-A266-5E5ECEA7CA03}"/>
              </a:ext>
            </a:extLst>
          </p:cNvPr>
          <p:cNvSpPr>
            <a:spLocks noGrp="1"/>
          </p:cNvSpPr>
          <p:nvPr>
            <p:ph sz="half" idx="1"/>
          </p:nvPr>
        </p:nvSpPr>
        <p:spPr>
          <a:xfrm>
            <a:off x="609600" y="1968504"/>
            <a:ext cx="10612582" cy="1787424"/>
          </a:xfrm>
        </p:spPr>
        <p:txBody>
          <a:bodyPr/>
          <a:lstStyle/>
          <a:p>
            <a:r>
              <a:rPr lang="en-US" sz="2100" dirty="0"/>
              <a:t>Liquid metals (LM), such as sodium (Na), lead (Pb), and lead–bismuth (Pb–Bi) eutectic, are considered as potential coolants for the fast spectrum nuclear reactors of the next generation</a:t>
            </a:r>
          </a:p>
          <a:p>
            <a:r>
              <a:rPr lang="en-US" sz="2100" dirty="0"/>
              <a:t>The main advantages of Na coolant in comparison with Pb are the lower melting temperature, density, and dynamic viscosity and the higher thermal and electrical conductivities</a:t>
            </a:r>
          </a:p>
        </p:txBody>
      </p:sp>
      <p:pic>
        <p:nvPicPr>
          <p:cNvPr id="6" name="Content Placeholder 5">
            <a:extLst>
              <a:ext uri="{FF2B5EF4-FFF2-40B4-BE49-F238E27FC236}">
                <a16:creationId xmlns:a16="http://schemas.microsoft.com/office/drawing/2014/main" id="{CCF40845-2C40-7D4B-8C00-AAB2855E17D6}"/>
              </a:ext>
            </a:extLst>
          </p:cNvPr>
          <p:cNvPicPr>
            <a:picLocks noGrp="1" noChangeAspect="1"/>
          </p:cNvPicPr>
          <p:nvPr>
            <p:ph sz="half" idx="2"/>
          </p:nvPr>
        </p:nvPicPr>
        <p:blipFill>
          <a:blip r:embed="rId2"/>
          <a:stretch>
            <a:fillRect/>
          </a:stretch>
        </p:blipFill>
        <p:spPr>
          <a:xfrm>
            <a:off x="1870841" y="4036272"/>
            <a:ext cx="8089462" cy="2685205"/>
          </a:xfrm>
          <a:prstGeom prst="rect">
            <a:avLst/>
          </a:prstGeom>
        </p:spPr>
      </p:pic>
      <p:sp>
        <p:nvSpPr>
          <p:cNvPr id="5" name="Slide Number Placeholder 4">
            <a:extLst>
              <a:ext uri="{FF2B5EF4-FFF2-40B4-BE49-F238E27FC236}">
                <a16:creationId xmlns:a16="http://schemas.microsoft.com/office/drawing/2014/main" id="{7A87E258-6803-BB49-9CDB-AAB54D249ACA}"/>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3743628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683C-027F-DA43-9916-565005F8CD91}"/>
              </a:ext>
            </a:extLst>
          </p:cNvPr>
          <p:cNvSpPr>
            <a:spLocks noGrp="1"/>
          </p:cNvSpPr>
          <p:nvPr>
            <p:ph type="title"/>
          </p:nvPr>
        </p:nvSpPr>
        <p:spPr/>
        <p:txBody>
          <a:bodyPr/>
          <a:lstStyle/>
          <a:p>
            <a:r>
              <a:rPr lang="en-US" dirty="0"/>
              <a:t>Sodium</a:t>
            </a:r>
          </a:p>
        </p:txBody>
      </p:sp>
      <p:sp>
        <p:nvSpPr>
          <p:cNvPr id="3" name="Content Placeholder 2">
            <a:extLst>
              <a:ext uri="{FF2B5EF4-FFF2-40B4-BE49-F238E27FC236}">
                <a16:creationId xmlns:a16="http://schemas.microsoft.com/office/drawing/2014/main" id="{A9D49355-732C-AF48-88D0-DADBF4CD9B08}"/>
              </a:ext>
            </a:extLst>
          </p:cNvPr>
          <p:cNvSpPr>
            <a:spLocks noGrp="1"/>
          </p:cNvSpPr>
          <p:nvPr>
            <p:ph sz="half" idx="1"/>
          </p:nvPr>
        </p:nvSpPr>
        <p:spPr/>
        <p:txBody>
          <a:bodyPr/>
          <a:lstStyle/>
          <a:p>
            <a:r>
              <a:rPr lang="en-US" sz="2200" dirty="0"/>
              <a:t>Sodium is a solid at room temperature; melting point is 98 C; boiling point is 881 C</a:t>
            </a:r>
          </a:p>
          <a:p>
            <a:r>
              <a:rPr lang="en-US" sz="2200" dirty="0"/>
              <a:t>Therefore, sodium is in the liquid phase at FR operating temperatures without pressurization</a:t>
            </a:r>
          </a:p>
          <a:p>
            <a:r>
              <a:rPr lang="en-US" sz="2200" dirty="0"/>
              <a:t>For this reason, it is not necessary to adopt the pressurized design employed in light water reactors for SFRs (SFRs operate near atmospheric pressure)</a:t>
            </a:r>
          </a:p>
          <a:p>
            <a:endParaRPr lang="en-US" sz="2200" dirty="0"/>
          </a:p>
        </p:txBody>
      </p:sp>
      <p:sp>
        <p:nvSpPr>
          <p:cNvPr id="4" name="Content Placeholder 3">
            <a:extLst>
              <a:ext uri="{FF2B5EF4-FFF2-40B4-BE49-F238E27FC236}">
                <a16:creationId xmlns:a16="http://schemas.microsoft.com/office/drawing/2014/main" id="{AC6C5F63-5F3D-AA49-9F2B-E1CC8ABC2C66}"/>
              </a:ext>
            </a:extLst>
          </p:cNvPr>
          <p:cNvSpPr>
            <a:spLocks noGrp="1"/>
          </p:cNvSpPr>
          <p:nvPr>
            <p:ph sz="half" idx="2"/>
          </p:nvPr>
        </p:nvSpPr>
        <p:spPr/>
        <p:txBody>
          <a:bodyPr/>
          <a:lstStyle/>
          <a:p>
            <a:r>
              <a:rPr lang="en-US" sz="2200" dirty="0"/>
              <a:t>Sodium is a great heat transfer medium due to high thermal conductivity, high heat capacity, and large liquid range </a:t>
            </a:r>
          </a:p>
          <a:p>
            <a:r>
              <a:rPr lang="en-US" sz="2200" dirty="0"/>
              <a:t>Allows for high power density core and low coolant fraction</a:t>
            </a:r>
          </a:p>
          <a:p>
            <a:r>
              <a:rPr lang="en-US" sz="2200" dirty="0"/>
              <a:t>Na has insignificant neutron moderation, making it suitable for the coolant for the FBR</a:t>
            </a:r>
          </a:p>
          <a:p>
            <a:r>
              <a:rPr lang="en-US" sz="2200" dirty="0"/>
              <a:t>The weakness of sodium as a coolant is its reactivity with oxygen and/or water</a:t>
            </a:r>
          </a:p>
          <a:p>
            <a:endParaRPr lang="en-US" sz="2200" dirty="0"/>
          </a:p>
        </p:txBody>
      </p:sp>
      <p:sp>
        <p:nvSpPr>
          <p:cNvPr id="5" name="Slide Number Placeholder 4">
            <a:extLst>
              <a:ext uri="{FF2B5EF4-FFF2-40B4-BE49-F238E27FC236}">
                <a16:creationId xmlns:a16="http://schemas.microsoft.com/office/drawing/2014/main" id="{3679DB4B-55B2-6D43-8474-A44525DE08D1}"/>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dirty="0"/>
          </a:p>
        </p:txBody>
      </p:sp>
    </p:spTree>
    <p:extLst>
      <p:ext uri="{BB962C8B-B14F-4D97-AF65-F5344CB8AC3E}">
        <p14:creationId xmlns:p14="http://schemas.microsoft.com/office/powerpoint/2010/main" val="2056651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9D82E-EBE3-EB46-AD8E-A3DC923B5B95}"/>
              </a:ext>
            </a:extLst>
          </p:cNvPr>
          <p:cNvSpPr>
            <a:spLocks noGrp="1"/>
          </p:cNvSpPr>
          <p:nvPr>
            <p:ph type="title"/>
          </p:nvPr>
        </p:nvSpPr>
        <p:spPr/>
        <p:txBody>
          <a:bodyPr/>
          <a:lstStyle/>
          <a:p>
            <a:r>
              <a:rPr lang="en-US" dirty="0"/>
              <a:t>Structural Material Selection for Na</a:t>
            </a:r>
          </a:p>
        </p:txBody>
      </p:sp>
      <p:sp>
        <p:nvSpPr>
          <p:cNvPr id="3" name="Content Placeholder 2">
            <a:extLst>
              <a:ext uri="{FF2B5EF4-FFF2-40B4-BE49-F238E27FC236}">
                <a16:creationId xmlns:a16="http://schemas.microsoft.com/office/drawing/2014/main" id="{50F026EB-A1A5-4544-8249-55E7796EC8E9}"/>
              </a:ext>
            </a:extLst>
          </p:cNvPr>
          <p:cNvSpPr>
            <a:spLocks noGrp="1"/>
          </p:cNvSpPr>
          <p:nvPr>
            <p:ph sz="half" idx="1"/>
          </p:nvPr>
        </p:nvSpPr>
        <p:spPr/>
        <p:txBody>
          <a:bodyPr/>
          <a:lstStyle/>
          <a:p>
            <a:r>
              <a:rPr lang="en-US" sz="2200" dirty="0"/>
              <a:t>It is necessary to take the environment into consideration by estimating the mechanical properties and thermal characteristics</a:t>
            </a:r>
          </a:p>
          <a:p>
            <a:r>
              <a:rPr lang="en-US" sz="2200" dirty="0"/>
              <a:t>Environments specific to the SFR components include: (a) contact with the coolant, (b) high temperature at which the creep effects must be taken into account, and (c) neutron irradiation</a:t>
            </a:r>
          </a:p>
          <a:p>
            <a:endParaRPr lang="en-US" sz="2200" dirty="0"/>
          </a:p>
          <a:p>
            <a:endParaRPr lang="en-US" sz="2200" dirty="0"/>
          </a:p>
        </p:txBody>
      </p:sp>
      <p:sp>
        <p:nvSpPr>
          <p:cNvPr id="4" name="Content Placeholder 3">
            <a:extLst>
              <a:ext uri="{FF2B5EF4-FFF2-40B4-BE49-F238E27FC236}">
                <a16:creationId xmlns:a16="http://schemas.microsoft.com/office/drawing/2014/main" id="{C3218D9D-46F1-CD4C-9C78-E1769806AE9B}"/>
              </a:ext>
            </a:extLst>
          </p:cNvPr>
          <p:cNvSpPr>
            <a:spLocks noGrp="1"/>
          </p:cNvSpPr>
          <p:nvPr>
            <p:ph sz="half" idx="2"/>
          </p:nvPr>
        </p:nvSpPr>
        <p:spPr/>
        <p:txBody>
          <a:bodyPr/>
          <a:lstStyle/>
          <a:p>
            <a:r>
              <a:rPr lang="en-US" sz="2200" dirty="0"/>
              <a:t>The dissolution of elements contained in the material, such as iron, chromium, and nickel, in sodium and the reverse phenomenon (deposition) occur on the material surface due to the difference in chemical potential</a:t>
            </a:r>
          </a:p>
          <a:p>
            <a:r>
              <a:rPr lang="en-US" sz="2200" dirty="0"/>
              <a:t>The behavior is fundamentally controlled by the solubility of the material elements in sodium and by the diffusion rate of the materials</a:t>
            </a:r>
          </a:p>
          <a:p>
            <a:endParaRPr lang="en-US" sz="2200" dirty="0"/>
          </a:p>
        </p:txBody>
      </p:sp>
      <p:sp>
        <p:nvSpPr>
          <p:cNvPr id="5" name="Slide Number Placeholder 4">
            <a:extLst>
              <a:ext uri="{FF2B5EF4-FFF2-40B4-BE49-F238E27FC236}">
                <a16:creationId xmlns:a16="http://schemas.microsoft.com/office/drawing/2014/main" id="{41C45C84-E3B6-9A43-B72E-AF4C9B8640F1}"/>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dirty="0"/>
          </a:p>
        </p:txBody>
      </p:sp>
    </p:spTree>
    <p:extLst>
      <p:ext uri="{BB962C8B-B14F-4D97-AF65-F5344CB8AC3E}">
        <p14:creationId xmlns:p14="http://schemas.microsoft.com/office/powerpoint/2010/main" val="3299280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3C72C-34F4-F1FE-EFBD-A3F4BED58555}"/>
              </a:ext>
            </a:extLst>
          </p:cNvPr>
          <p:cNvSpPr>
            <a:spLocks noGrp="1"/>
          </p:cNvSpPr>
          <p:nvPr>
            <p:ph type="title"/>
          </p:nvPr>
        </p:nvSpPr>
        <p:spPr/>
        <p:txBody>
          <a:bodyPr/>
          <a:lstStyle/>
          <a:p>
            <a:r>
              <a:rPr lang="en-US" dirty="0"/>
              <a:t>Structural Materials in SFRs</a:t>
            </a:r>
          </a:p>
        </p:txBody>
      </p:sp>
      <p:sp>
        <p:nvSpPr>
          <p:cNvPr id="3" name="Content Placeholder 2">
            <a:extLst>
              <a:ext uri="{FF2B5EF4-FFF2-40B4-BE49-F238E27FC236}">
                <a16:creationId xmlns:a16="http://schemas.microsoft.com/office/drawing/2014/main" id="{1FD490FE-9BC1-15B6-3D88-9986B1CBC6D3}"/>
              </a:ext>
            </a:extLst>
          </p:cNvPr>
          <p:cNvSpPr>
            <a:spLocks noGrp="1"/>
          </p:cNvSpPr>
          <p:nvPr>
            <p:ph sz="half" idx="1"/>
          </p:nvPr>
        </p:nvSpPr>
        <p:spPr>
          <a:xfrm>
            <a:off x="609600" y="1968503"/>
            <a:ext cx="10972800" cy="2551543"/>
          </a:xfrm>
        </p:spPr>
        <p:txBody>
          <a:bodyPr/>
          <a:lstStyle/>
          <a:p>
            <a:r>
              <a:rPr lang="en-US" sz="2000" dirty="0"/>
              <a:t>Austenitic and ferritic/martensitic steels are two key alloy classes for SFR structural materials</a:t>
            </a:r>
          </a:p>
          <a:p>
            <a:r>
              <a:rPr lang="en-US" sz="2000" dirty="0"/>
              <a:t>Most research has been done on SS-304 and SS-316, but advanced alloy behavior (HT9, T91, ODS steels, etc.) is being studied</a:t>
            </a:r>
          </a:p>
          <a:p>
            <a:endParaRPr lang="en-US" sz="2000" dirty="0"/>
          </a:p>
        </p:txBody>
      </p:sp>
      <p:sp>
        <p:nvSpPr>
          <p:cNvPr id="5" name="Slide Number Placeholder 4">
            <a:extLst>
              <a:ext uri="{FF2B5EF4-FFF2-40B4-BE49-F238E27FC236}">
                <a16:creationId xmlns:a16="http://schemas.microsoft.com/office/drawing/2014/main" id="{9FBE107A-5209-0443-717B-AA659B0F1C28}"/>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pic>
        <p:nvPicPr>
          <p:cNvPr id="6" name="Picture 5">
            <a:extLst>
              <a:ext uri="{FF2B5EF4-FFF2-40B4-BE49-F238E27FC236}">
                <a16:creationId xmlns:a16="http://schemas.microsoft.com/office/drawing/2014/main" id="{ED064E3A-3098-4EA0-6BFC-7416AC1A3C44}"/>
              </a:ext>
            </a:extLst>
          </p:cNvPr>
          <p:cNvPicPr>
            <a:picLocks noChangeAspect="1"/>
          </p:cNvPicPr>
          <p:nvPr/>
        </p:nvPicPr>
        <p:blipFill>
          <a:blip r:embed="rId2"/>
          <a:stretch>
            <a:fillRect/>
          </a:stretch>
        </p:blipFill>
        <p:spPr>
          <a:xfrm>
            <a:off x="2209800" y="3647687"/>
            <a:ext cx="7772400" cy="2201431"/>
          </a:xfrm>
          <a:prstGeom prst="rect">
            <a:avLst/>
          </a:prstGeom>
        </p:spPr>
      </p:pic>
    </p:spTree>
    <p:extLst>
      <p:ext uri="{BB962C8B-B14F-4D97-AF65-F5344CB8AC3E}">
        <p14:creationId xmlns:p14="http://schemas.microsoft.com/office/powerpoint/2010/main" val="3265448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8CFF-EC63-A146-AB80-0ED5E1A96244}"/>
              </a:ext>
            </a:extLst>
          </p:cNvPr>
          <p:cNvSpPr>
            <a:spLocks noGrp="1"/>
          </p:cNvSpPr>
          <p:nvPr>
            <p:ph type="title"/>
          </p:nvPr>
        </p:nvSpPr>
        <p:spPr/>
        <p:txBody>
          <a:bodyPr/>
          <a:lstStyle/>
          <a:p>
            <a:r>
              <a:rPr lang="en-US" dirty="0"/>
              <a:t>Solubilities and Compatibility</a:t>
            </a:r>
          </a:p>
        </p:txBody>
      </p:sp>
      <p:sp>
        <p:nvSpPr>
          <p:cNvPr id="3" name="Content Placeholder 2">
            <a:extLst>
              <a:ext uri="{FF2B5EF4-FFF2-40B4-BE49-F238E27FC236}">
                <a16:creationId xmlns:a16="http://schemas.microsoft.com/office/drawing/2014/main" id="{BF87F994-5F5B-E546-8403-7D3AEC1A16D0}"/>
              </a:ext>
            </a:extLst>
          </p:cNvPr>
          <p:cNvSpPr>
            <a:spLocks noGrp="1"/>
          </p:cNvSpPr>
          <p:nvPr>
            <p:ph sz="half" idx="1"/>
          </p:nvPr>
        </p:nvSpPr>
        <p:spPr>
          <a:xfrm>
            <a:off x="609600" y="1968503"/>
            <a:ext cx="4199068" cy="4157663"/>
          </a:xfrm>
        </p:spPr>
        <p:txBody>
          <a:bodyPr/>
          <a:lstStyle/>
          <a:p>
            <a:r>
              <a:rPr lang="en-US" sz="2200" dirty="0"/>
              <a:t>Among the elements in austenitic stainless steel, the solubility of nickel is greatest</a:t>
            </a:r>
          </a:p>
          <a:p>
            <a:r>
              <a:rPr lang="en-US" sz="2200" dirty="0"/>
              <a:t>Therefore, the phase transformation of austenite to ferrite through nickel dissolution is observed on the surface in long-term immersion in sodium</a:t>
            </a:r>
          </a:p>
          <a:p>
            <a:r>
              <a:rPr lang="en-US" dirty="0"/>
              <a:t>Solubility can be greatly impacted by impurities</a:t>
            </a:r>
            <a:endParaRPr lang="en-US" sz="2200" dirty="0"/>
          </a:p>
          <a:p>
            <a:endParaRPr lang="en-US" sz="2200" dirty="0"/>
          </a:p>
        </p:txBody>
      </p:sp>
      <p:pic>
        <p:nvPicPr>
          <p:cNvPr id="6" name="Content Placeholder 5">
            <a:extLst>
              <a:ext uri="{FF2B5EF4-FFF2-40B4-BE49-F238E27FC236}">
                <a16:creationId xmlns:a16="http://schemas.microsoft.com/office/drawing/2014/main" id="{1326BE5E-CC79-0543-A39C-6AA515D5B408}"/>
              </a:ext>
            </a:extLst>
          </p:cNvPr>
          <p:cNvPicPr>
            <a:picLocks noGrp="1" noChangeAspect="1"/>
          </p:cNvPicPr>
          <p:nvPr>
            <p:ph sz="half" idx="2"/>
          </p:nvPr>
        </p:nvPicPr>
        <p:blipFill>
          <a:blip r:embed="rId2"/>
          <a:stretch>
            <a:fillRect/>
          </a:stretch>
        </p:blipFill>
        <p:spPr>
          <a:xfrm>
            <a:off x="4992194" y="1995583"/>
            <a:ext cx="2676062" cy="3829872"/>
          </a:xfrm>
          <a:prstGeom prst="rect">
            <a:avLst/>
          </a:prstGeom>
        </p:spPr>
      </p:pic>
      <p:sp>
        <p:nvSpPr>
          <p:cNvPr id="5" name="Slide Number Placeholder 4">
            <a:extLst>
              <a:ext uri="{FF2B5EF4-FFF2-40B4-BE49-F238E27FC236}">
                <a16:creationId xmlns:a16="http://schemas.microsoft.com/office/drawing/2014/main" id="{2150DFF3-725D-FF42-9E9F-6855DA25E60A}"/>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pic>
        <p:nvPicPr>
          <p:cNvPr id="7" name="Picture 6">
            <a:extLst>
              <a:ext uri="{FF2B5EF4-FFF2-40B4-BE49-F238E27FC236}">
                <a16:creationId xmlns:a16="http://schemas.microsoft.com/office/drawing/2014/main" id="{30198D36-00DF-0C4E-AF33-7FB3661A388D}"/>
              </a:ext>
            </a:extLst>
          </p:cNvPr>
          <p:cNvPicPr>
            <a:picLocks noChangeAspect="1"/>
          </p:cNvPicPr>
          <p:nvPr/>
        </p:nvPicPr>
        <p:blipFill>
          <a:blip r:embed="rId3"/>
          <a:stretch>
            <a:fillRect/>
          </a:stretch>
        </p:blipFill>
        <p:spPr>
          <a:xfrm>
            <a:off x="7668256" y="2323882"/>
            <a:ext cx="4444164" cy="3173275"/>
          </a:xfrm>
          <a:prstGeom prst="rect">
            <a:avLst/>
          </a:prstGeom>
        </p:spPr>
      </p:pic>
    </p:spTree>
    <p:extLst>
      <p:ext uri="{BB962C8B-B14F-4D97-AF65-F5344CB8AC3E}">
        <p14:creationId xmlns:p14="http://schemas.microsoft.com/office/powerpoint/2010/main" val="3913003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9CB4C-5A5A-CB47-8454-49985BAA9E47}"/>
              </a:ext>
            </a:extLst>
          </p:cNvPr>
          <p:cNvSpPr>
            <a:spLocks noGrp="1"/>
          </p:cNvSpPr>
          <p:nvPr>
            <p:ph type="title"/>
          </p:nvPr>
        </p:nvSpPr>
        <p:spPr/>
        <p:txBody>
          <a:bodyPr/>
          <a:lstStyle/>
          <a:p>
            <a:r>
              <a:rPr lang="en-US" dirty="0"/>
              <a:t>Sodium Corrosion</a:t>
            </a:r>
          </a:p>
        </p:txBody>
      </p:sp>
      <p:sp>
        <p:nvSpPr>
          <p:cNvPr id="3" name="Content Placeholder 2">
            <a:extLst>
              <a:ext uri="{FF2B5EF4-FFF2-40B4-BE49-F238E27FC236}">
                <a16:creationId xmlns:a16="http://schemas.microsoft.com/office/drawing/2014/main" id="{C3286D14-8D08-2346-AB86-32FE6E6E3F3D}"/>
              </a:ext>
            </a:extLst>
          </p:cNvPr>
          <p:cNvSpPr>
            <a:spLocks noGrp="1"/>
          </p:cNvSpPr>
          <p:nvPr>
            <p:ph sz="half" idx="1"/>
          </p:nvPr>
        </p:nvSpPr>
        <p:spPr>
          <a:xfrm>
            <a:off x="609599" y="1968503"/>
            <a:ext cx="5749159" cy="4157663"/>
          </a:xfrm>
        </p:spPr>
        <p:txBody>
          <a:bodyPr/>
          <a:lstStyle/>
          <a:p>
            <a:r>
              <a:rPr lang="en-US" sz="2200" dirty="0"/>
              <a:t>There are two known mechanisms of sodium corrosion</a:t>
            </a:r>
          </a:p>
          <a:p>
            <a:pPr lvl="1"/>
            <a:r>
              <a:rPr lang="en-US" sz="2200" dirty="0"/>
              <a:t>Type I: corrosion produced by the dissolution of alloy elements to sodium</a:t>
            </a:r>
          </a:p>
          <a:p>
            <a:pPr lvl="1"/>
            <a:r>
              <a:rPr lang="en-US" sz="2200" dirty="0"/>
              <a:t>Type II: corrosion produced through chemical reaction with the impurities in sodium</a:t>
            </a:r>
          </a:p>
          <a:p>
            <a:r>
              <a:rPr lang="en-US" sz="2200" dirty="0"/>
              <a:t>Type I corrosion is dependent on the solubility in sodium of the elemental composition in the material, temperature, and the rate of solution</a:t>
            </a:r>
          </a:p>
          <a:p>
            <a:endParaRPr lang="en-US" sz="2200" dirty="0"/>
          </a:p>
          <a:p>
            <a:endParaRPr lang="en-US" sz="2200" dirty="0"/>
          </a:p>
        </p:txBody>
      </p:sp>
      <p:sp>
        <p:nvSpPr>
          <p:cNvPr id="4" name="Content Placeholder 3">
            <a:extLst>
              <a:ext uri="{FF2B5EF4-FFF2-40B4-BE49-F238E27FC236}">
                <a16:creationId xmlns:a16="http://schemas.microsoft.com/office/drawing/2014/main" id="{B3E49A3A-C4B0-A240-8C8A-C67BBBF5AEA9}"/>
              </a:ext>
            </a:extLst>
          </p:cNvPr>
          <p:cNvSpPr>
            <a:spLocks noGrp="1"/>
          </p:cNvSpPr>
          <p:nvPr>
            <p:ph sz="half" idx="2"/>
          </p:nvPr>
        </p:nvSpPr>
        <p:spPr/>
        <p:txBody>
          <a:bodyPr/>
          <a:lstStyle/>
          <a:p>
            <a:endParaRPr lang="en-US" sz="2200" dirty="0"/>
          </a:p>
          <a:p>
            <a:endParaRPr lang="en-US" sz="2200" dirty="0"/>
          </a:p>
        </p:txBody>
      </p:sp>
      <p:sp>
        <p:nvSpPr>
          <p:cNvPr id="5" name="Slide Number Placeholder 4">
            <a:extLst>
              <a:ext uri="{FF2B5EF4-FFF2-40B4-BE49-F238E27FC236}">
                <a16:creationId xmlns:a16="http://schemas.microsoft.com/office/drawing/2014/main" id="{69902977-34CC-F747-A484-C883180BCC55}"/>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pic>
        <p:nvPicPr>
          <p:cNvPr id="6" name="Picture 5">
            <a:extLst>
              <a:ext uri="{FF2B5EF4-FFF2-40B4-BE49-F238E27FC236}">
                <a16:creationId xmlns:a16="http://schemas.microsoft.com/office/drawing/2014/main" id="{FB4787C2-FB8B-9F43-9E26-D38BB5FED042}"/>
              </a:ext>
            </a:extLst>
          </p:cNvPr>
          <p:cNvPicPr>
            <a:picLocks noChangeAspect="1"/>
          </p:cNvPicPr>
          <p:nvPr/>
        </p:nvPicPr>
        <p:blipFill>
          <a:blip r:embed="rId2"/>
          <a:stretch>
            <a:fillRect/>
          </a:stretch>
        </p:blipFill>
        <p:spPr>
          <a:xfrm>
            <a:off x="6784974" y="1738317"/>
            <a:ext cx="3905251" cy="4045224"/>
          </a:xfrm>
          <a:prstGeom prst="rect">
            <a:avLst/>
          </a:prstGeom>
        </p:spPr>
      </p:pic>
      <p:pic>
        <p:nvPicPr>
          <p:cNvPr id="7" name="Picture 6">
            <a:extLst>
              <a:ext uri="{FF2B5EF4-FFF2-40B4-BE49-F238E27FC236}">
                <a16:creationId xmlns:a16="http://schemas.microsoft.com/office/drawing/2014/main" id="{0BDD92F6-80A3-C8D3-0605-87FC9AE016EF}"/>
              </a:ext>
            </a:extLst>
          </p:cNvPr>
          <p:cNvPicPr>
            <a:picLocks noChangeAspect="1"/>
          </p:cNvPicPr>
          <p:nvPr/>
        </p:nvPicPr>
        <p:blipFill>
          <a:blip r:embed="rId3"/>
          <a:stretch>
            <a:fillRect/>
          </a:stretch>
        </p:blipFill>
        <p:spPr>
          <a:xfrm>
            <a:off x="8322879" y="5670827"/>
            <a:ext cx="1816100" cy="685800"/>
          </a:xfrm>
          <a:prstGeom prst="rect">
            <a:avLst/>
          </a:prstGeom>
        </p:spPr>
      </p:pic>
      <p:sp>
        <p:nvSpPr>
          <p:cNvPr id="9" name="TextBox 8">
            <a:extLst>
              <a:ext uri="{FF2B5EF4-FFF2-40B4-BE49-F238E27FC236}">
                <a16:creationId xmlns:a16="http://schemas.microsoft.com/office/drawing/2014/main" id="{C4536672-EDA8-F1B8-C663-FB8A25D2D02C}"/>
              </a:ext>
            </a:extLst>
          </p:cNvPr>
          <p:cNvSpPr txBox="1"/>
          <p:nvPr/>
        </p:nvSpPr>
        <p:spPr>
          <a:xfrm>
            <a:off x="7725102" y="6140908"/>
            <a:ext cx="3342291" cy="430887"/>
          </a:xfrm>
          <a:prstGeom prst="rect">
            <a:avLst/>
          </a:prstGeom>
          <a:noFill/>
        </p:spPr>
        <p:txBody>
          <a:bodyPr wrap="square">
            <a:spAutoFit/>
          </a:bodyPr>
          <a:lstStyle/>
          <a:p>
            <a:pPr algn="ctr"/>
            <a:r>
              <a:rPr lang="en-US" sz="1100" dirty="0"/>
              <a:t>K is the solution rate constant, Cs is the solubility limit in sodium, and Ci is the actual concentration in sodium</a:t>
            </a:r>
          </a:p>
        </p:txBody>
      </p:sp>
    </p:spTree>
    <p:extLst>
      <p:ext uri="{BB962C8B-B14F-4D97-AF65-F5344CB8AC3E}">
        <p14:creationId xmlns:p14="http://schemas.microsoft.com/office/powerpoint/2010/main" val="1037336503"/>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40225</TotalTime>
  <Words>2274</Words>
  <Application>Microsoft Macintosh PowerPoint</Application>
  <PresentationFormat>Widescreen</PresentationFormat>
  <Paragraphs>181</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Symbol</vt:lpstr>
      <vt:lpstr>1_NCStateU-horizontal-left-logo</vt:lpstr>
      <vt:lpstr>NE 763: Advanced Reactor Materials</vt:lpstr>
      <vt:lpstr>Last Time</vt:lpstr>
      <vt:lpstr>Last Time</vt:lpstr>
      <vt:lpstr>Redistribution of Pu</vt:lpstr>
      <vt:lpstr>Redistribution of Pu</vt:lpstr>
      <vt:lpstr>Pu-rich Agglomerates</vt:lpstr>
      <vt:lpstr>Pu-rich Agglomerates</vt:lpstr>
      <vt:lpstr>Oxygen Redistribution</vt:lpstr>
      <vt:lpstr>O/M Ratio</vt:lpstr>
      <vt:lpstr>Solid Fission Products</vt:lpstr>
      <vt:lpstr>Metallic Inclusions</vt:lpstr>
      <vt:lpstr>Metallic Inclusions</vt:lpstr>
      <vt:lpstr>Oxide Phases</vt:lpstr>
      <vt:lpstr>Joint Oxyde Gaine</vt:lpstr>
      <vt:lpstr>Joint Oxide Gain</vt:lpstr>
      <vt:lpstr>Joint Oxide Gain</vt:lpstr>
      <vt:lpstr>MOX FCCI</vt:lpstr>
      <vt:lpstr>MOX FCCI</vt:lpstr>
      <vt:lpstr>MOX FCCI</vt:lpstr>
      <vt:lpstr>MOX Summary</vt:lpstr>
      <vt:lpstr>Sodium coolant</vt:lpstr>
      <vt:lpstr>Liquid Metal Coolants</vt:lpstr>
      <vt:lpstr>Sodium</vt:lpstr>
      <vt:lpstr>Structural Material Selection for Na</vt:lpstr>
      <vt:lpstr>Structural Materials in SFRs</vt:lpstr>
      <vt:lpstr>Solubilities and Compatibility</vt:lpstr>
      <vt:lpstr>Sodium Corrosion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127</cp:revision>
  <dcterms:created xsi:type="dcterms:W3CDTF">2019-12-09T16:44:02Z</dcterms:created>
  <dcterms:modified xsi:type="dcterms:W3CDTF">2026-09-22T19:02:41Z</dcterms:modified>
</cp:coreProperties>
</file>
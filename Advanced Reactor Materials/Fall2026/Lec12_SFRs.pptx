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44"/>
  </p:notesMasterIdLst>
  <p:sldIdLst>
    <p:sldId id="256" r:id="rId2"/>
    <p:sldId id="573" r:id="rId3"/>
    <p:sldId id="574" r:id="rId4"/>
    <p:sldId id="530" r:id="rId5"/>
    <p:sldId id="531" r:id="rId6"/>
    <p:sldId id="532" r:id="rId7"/>
    <p:sldId id="534" r:id="rId8"/>
    <p:sldId id="571" r:id="rId9"/>
    <p:sldId id="568" r:id="rId10"/>
    <p:sldId id="537" r:id="rId11"/>
    <p:sldId id="538" r:id="rId12"/>
    <p:sldId id="539" r:id="rId13"/>
    <p:sldId id="540" r:id="rId14"/>
    <p:sldId id="541" r:id="rId15"/>
    <p:sldId id="542" r:id="rId16"/>
    <p:sldId id="572" r:id="rId17"/>
    <p:sldId id="543" r:id="rId18"/>
    <p:sldId id="544" r:id="rId19"/>
    <p:sldId id="545" r:id="rId20"/>
    <p:sldId id="546" r:id="rId21"/>
    <p:sldId id="423" r:id="rId22"/>
    <p:sldId id="547" r:id="rId23"/>
    <p:sldId id="548" r:id="rId24"/>
    <p:sldId id="549" r:id="rId25"/>
    <p:sldId id="565" r:id="rId26"/>
    <p:sldId id="550" r:id="rId27"/>
    <p:sldId id="551" r:id="rId28"/>
    <p:sldId id="552" r:id="rId29"/>
    <p:sldId id="570" r:id="rId30"/>
    <p:sldId id="553" r:id="rId31"/>
    <p:sldId id="554" r:id="rId32"/>
    <p:sldId id="555" r:id="rId33"/>
    <p:sldId id="556" r:id="rId34"/>
    <p:sldId id="566" r:id="rId35"/>
    <p:sldId id="557" r:id="rId36"/>
    <p:sldId id="558" r:id="rId37"/>
    <p:sldId id="559" r:id="rId38"/>
    <p:sldId id="560" r:id="rId39"/>
    <p:sldId id="567" r:id="rId40"/>
    <p:sldId id="561" r:id="rId41"/>
    <p:sldId id="562" r:id="rId42"/>
    <p:sldId id="569"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15"/>
    <p:restoredTop sz="94714"/>
  </p:normalViewPr>
  <p:slideViewPr>
    <p:cSldViewPr snapToGrid="0" snapToObjects="1">
      <p:cViewPr varScale="1">
        <p:scale>
          <a:sx n="123" d="100"/>
          <a:sy n="123" d="100"/>
        </p:scale>
        <p:origin x="224" y="8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516A0F-2645-F945-ADC5-B2CC11F8F912}" type="datetimeFigureOut">
              <a:rPr lang="en-US" smtClean="0"/>
              <a:t>9/23/25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59D32B1-08AD-0943-8C60-7CB4F1A83E64}" type="slidenum">
              <a:rPr lang="en-US" smtClean="0"/>
              <a:t>‹#›</a:t>
            </a:fld>
            <a:endParaRPr lang="en-US"/>
          </a:p>
        </p:txBody>
      </p:sp>
    </p:spTree>
    <p:extLst>
      <p:ext uri="{BB962C8B-B14F-4D97-AF65-F5344CB8AC3E}">
        <p14:creationId xmlns:p14="http://schemas.microsoft.com/office/powerpoint/2010/main" val="3836597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0785609-E5CC-DE44-B37C-B4F30876FF32}"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a:xfrm>
            <a:off x="609600" y="2280746"/>
            <a:ext cx="10972800" cy="384541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DD2F8954-4A2E-3243-B2DC-9CD5CB712752}"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2FD4575D-199B-0745-9376-4BA74FA8EFA7}"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200"/>
            </a:lvl1pPr>
            <a:lvl2pPr>
              <a:defRPr sz="2200"/>
            </a:lvl2pPr>
            <a:lvl3pPr>
              <a:defRPr sz="2200"/>
            </a:lvl3pPr>
            <a:lvl4pPr>
              <a:defRPr sz="2200"/>
            </a:lvl4pPr>
            <a:lvl5pPr>
              <a:defRPr sz="22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334EC5E2-8D01-2849-BCEF-95F1335AF02C}" type="datetime1">
              <a:rPr lang="en-US" smtClean="0"/>
              <a:t>9/23/25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4000"/>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200"/>
            </a:lvl2pPr>
            <a:lvl3pPr>
              <a:defRPr sz="2200"/>
            </a:lvl3pPr>
            <a:lvl4pPr>
              <a:defRPr sz="2200"/>
            </a:lvl4pPr>
            <a:lvl5pPr>
              <a:defRPr sz="22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1BB4091-1279-5E46-833E-3B1192709521}" type="datetime1">
              <a:rPr lang="en-US" smtClean="0"/>
              <a:t>9/23/25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98C5C5CE-9A98-3649-A752-35F044CBF5B8}" type="datetime1">
              <a:rPr lang="en-US" smtClean="0"/>
              <a:t>9/23/25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79324C5E-CE4C-B646-8BD9-2D7670818E7E}" type="datetime1">
              <a:rPr lang="en-US" smtClean="0"/>
              <a:t>9/23/25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03B3BC9F-3142-5445-97AB-BA4A48743DCA}" type="datetime1">
              <a:rPr lang="en-US" smtClean="0"/>
              <a:t>9/23/25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1897FE6E-4AF1-BB43-A3BB-BA9931BC385B}" type="datetime1">
              <a:rPr lang="en-US" smtClean="0"/>
              <a:t>9/23/25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0DAF1F23-51F5-E24D-A2F3-F9FF410B2C6B}"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C7F9506E-CC5A-D948-B9E0-FC81D1F3EEB8}"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4F3AB534-2132-774F-82DE-4210B1BD5FED}" type="datetime1">
              <a:rPr lang="en-US" smtClean="0"/>
              <a:t>9/23/25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4.xml"/><Relationship Id="rId5" Type="http://schemas.openxmlformats.org/officeDocument/2006/relationships/image" Target="../media/image28.png"/><Relationship Id="rId4" Type="http://schemas.openxmlformats.org/officeDocument/2006/relationships/image" Target="../media/image27.png"/></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35.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4.xml"/><Relationship Id="rId4" Type="http://schemas.openxmlformats.org/officeDocument/2006/relationships/image" Target="../media/image4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91667053-FE0B-2E4F-88E8-0DE41FF95167}"/>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07B4E0-97C0-3C9F-C365-D19CA98CD27D}"/>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6ED9CB18-05BE-9285-A620-337D4D9BB63D}"/>
              </a:ext>
            </a:extLst>
          </p:cNvPr>
          <p:cNvSpPr>
            <a:spLocks noGrp="1"/>
          </p:cNvSpPr>
          <p:nvPr>
            <p:ph idx="1"/>
          </p:nvPr>
        </p:nvSpPr>
        <p:spPr>
          <a:xfrm>
            <a:off x="609600" y="1968500"/>
            <a:ext cx="10972800" cy="4157664"/>
          </a:xfrm>
        </p:spPr>
        <p:txBody>
          <a:bodyPr/>
          <a:lstStyle/>
          <a:p>
            <a:r>
              <a:rPr lang="en-US" sz="2000" dirty="0"/>
              <a:t>Metallic fuel performance modeling</a:t>
            </a:r>
          </a:p>
          <a:p>
            <a:pPr lvl="1"/>
            <a:r>
              <a:rPr lang="en-US" sz="2000" dirty="0"/>
              <a:t>needs to fully encompass mechanical behavior, chemical interactions, fission gas behavior, and temperature profile</a:t>
            </a:r>
          </a:p>
          <a:p>
            <a:pPr lvl="1"/>
            <a:r>
              <a:rPr lang="en-US" sz="2000" dirty="0"/>
              <a:t>Porosity models inform temperature profiles which inform redistribution/phases (cycle)</a:t>
            </a:r>
          </a:p>
          <a:p>
            <a:pPr lvl="1"/>
            <a:r>
              <a:rPr lang="en-US" sz="2000" dirty="0"/>
              <a:t>Validate against limited data: cladding strain, gas release, cladding T</a:t>
            </a:r>
          </a:p>
          <a:p>
            <a:r>
              <a:rPr lang="en-US" sz="2000" dirty="0"/>
              <a:t>Metal fuel fabrication/reprocessing</a:t>
            </a:r>
          </a:p>
          <a:p>
            <a:pPr lvl="1"/>
            <a:r>
              <a:rPr lang="en-US" sz="2000" dirty="0"/>
              <a:t>historically via injection casting</a:t>
            </a:r>
          </a:p>
          <a:p>
            <a:pPr lvl="1"/>
            <a:r>
              <a:rPr lang="en-US" sz="2000" dirty="0"/>
              <a:t>pyroprocessing with molten salts, depositing U/MA/TRU on cathodes</a:t>
            </a:r>
          </a:p>
          <a:p>
            <a:pPr lvl="1"/>
            <a:r>
              <a:rPr lang="en-US" sz="2000" dirty="0"/>
              <a:t>can refabricate via injection casting for closure of fuel cycle</a:t>
            </a:r>
          </a:p>
        </p:txBody>
      </p:sp>
      <p:sp>
        <p:nvSpPr>
          <p:cNvPr id="4" name="Slide Number Placeholder 3">
            <a:extLst>
              <a:ext uri="{FF2B5EF4-FFF2-40B4-BE49-F238E27FC236}">
                <a16:creationId xmlns:a16="http://schemas.microsoft.com/office/drawing/2014/main" id="{F347CC04-8729-4334-3A05-C9D8ED2B75E5}"/>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3479116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DB92C-2DD0-782B-72B0-728AC8609AA9}"/>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F00271D1-8FD2-A99A-8923-6B1E1DB5F5B9}"/>
              </a:ext>
            </a:extLst>
          </p:cNvPr>
          <p:cNvSpPr>
            <a:spLocks noGrp="1"/>
          </p:cNvSpPr>
          <p:nvPr>
            <p:ph idx="1"/>
          </p:nvPr>
        </p:nvSpPr>
        <p:spPr/>
        <p:txBody>
          <a:bodyPr/>
          <a:lstStyle/>
          <a:p>
            <a:r>
              <a:rPr lang="en-US" sz="2000" dirty="0"/>
              <a:t>MOX fuels</a:t>
            </a:r>
          </a:p>
          <a:p>
            <a:pPr lvl="1"/>
            <a:r>
              <a:rPr lang="en-US" sz="2000" dirty="0"/>
              <a:t>higher powers and higher temperatures</a:t>
            </a:r>
          </a:p>
          <a:p>
            <a:pPr lvl="1"/>
            <a:r>
              <a:rPr lang="en-US" sz="2000" dirty="0"/>
              <a:t>similar geometry to metallic fuels, but with shorter plenum, higher smear density, pellet fuel</a:t>
            </a:r>
          </a:p>
          <a:p>
            <a:r>
              <a:rPr lang="en-US" sz="2000" dirty="0"/>
              <a:t>MOX restructuring</a:t>
            </a:r>
          </a:p>
          <a:p>
            <a:pPr lvl="1"/>
            <a:r>
              <a:rPr lang="en-US" sz="2000" dirty="0"/>
              <a:t>high T and steep T gradient lead to four distinct zones in MOX fuel</a:t>
            </a:r>
          </a:p>
          <a:p>
            <a:pPr lvl="1"/>
            <a:r>
              <a:rPr lang="en-US" sz="2000" dirty="0"/>
              <a:t>central void, columnar grains, large equiaxed grains, as-fab microstructure</a:t>
            </a:r>
          </a:p>
          <a:p>
            <a:pPr lvl="1"/>
            <a:r>
              <a:rPr lang="en-US" sz="2000" dirty="0" err="1"/>
              <a:t>void+columnar</a:t>
            </a:r>
            <a:r>
              <a:rPr lang="en-US" sz="2000" dirty="0"/>
              <a:t> grains result of pore migration up the T gradient</a:t>
            </a:r>
          </a:p>
          <a:p>
            <a:endParaRPr lang="en-US" dirty="0"/>
          </a:p>
        </p:txBody>
      </p:sp>
      <p:sp>
        <p:nvSpPr>
          <p:cNvPr id="4" name="Slide Number Placeholder 3">
            <a:extLst>
              <a:ext uri="{FF2B5EF4-FFF2-40B4-BE49-F238E27FC236}">
                <a16:creationId xmlns:a16="http://schemas.microsoft.com/office/drawing/2014/main" id="{0045BF72-AB50-BC42-18F9-3F09410A0FA3}"/>
              </a:ext>
            </a:extLst>
          </p:cNvPr>
          <p:cNvSpPr>
            <a:spLocks noGrp="1"/>
          </p:cNvSpPr>
          <p:nvPr>
            <p:ph type="sldNum" sz="quarter" idx="12"/>
          </p:nvPr>
        </p:nvSpPr>
        <p:spPr/>
        <p:txBody>
          <a:bodyPr/>
          <a:lstStyle/>
          <a:p>
            <a:pPr>
              <a:defRPr/>
            </a:pPr>
            <a:fld id="{3FF2C605-4958-CF43-AA48-80339EFDB0AF}" type="slidenum">
              <a:rPr lang="en-US" smtClean="0"/>
              <a:pPr>
                <a:defRPr/>
              </a:pPr>
              <a:t>3</a:t>
            </a:fld>
            <a:endParaRPr lang="en-US"/>
          </a:p>
        </p:txBody>
      </p:sp>
    </p:spTree>
    <p:extLst>
      <p:ext uri="{BB962C8B-B14F-4D97-AF65-F5344CB8AC3E}">
        <p14:creationId xmlns:p14="http://schemas.microsoft.com/office/powerpoint/2010/main" val="2541876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959D7-F111-9644-83CA-EBC31572D77B}"/>
              </a:ext>
            </a:extLst>
          </p:cNvPr>
          <p:cNvSpPr>
            <a:spLocks noGrp="1"/>
          </p:cNvSpPr>
          <p:nvPr>
            <p:ph type="title"/>
          </p:nvPr>
        </p:nvSpPr>
        <p:spPr/>
        <p:txBody>
          <a:bodyPr/>
          <a:lstStyle/>
          <a:p>
            <a:r>
              <a:rPr lang="en-US" dirty="0"/>
              <a:t>Redistribution of Pu</a:t>
            </a:r>
          </a:p>
        </p:txBody>
      </p:sp>
      <p:sp>
        <p:nvSpPr>
          <p:cNvPr id="3" name="Content Placeholder 2">
            <a:extLst>
              <a:ext uri="{FF2B5EF4-FFF2-40B4-BE49-F238E27FC236}">
                <a16:creationId xmlns:a16="http://schemas.microsoft.com/office/drawing/2014/main" id="{B78184F8-17E6-9445-9A62-605C963B1DB3}"/>
              </a:ext>
            </a:extLst>
          </p:cNvPr>
          <p:cNvSpPr>
            <a:spLocks noGrp="1"/>
          </p:cNvSpPr>
          <p:nvPr>
            <p:ph sz="half" idx="1"/>
          </p:nvPr>
        </p:nvSpPr>
        <p:spPr>
          <a:xfrm>
            <a:off x="609599" y="1968503"/>
            <a:ext cx="6117022" cy="4157663"/>
          </a:xfrm>
        </p:spPr>
        <p:txBody>
          <a:bodyPr/>
          <a:lstStyle/>
          <a:p>
            <a:r>
              <a:rPr lang="en-US" sz="2200" dirty="0"/>
              <a:t>The movement of pores leads to a redistribution of plutonium, resulting in a spike in Pu concentration surrounding the central void</a:t>
            </a:r>
          </a:p>
          <a:p>
            <a:r>
              <a:rPr lang="en-US" sz="2200" dirty="0"/>
              <a:t>Similar behavior has been observed for americium</a:t>
            </a:r>
          </a:p>
          <a:p>
            <a:r>
              <a:rPr lang="en-US" sz="2200" dirty="0"/>
              <a:t>This transuranic concentration increase is accompanied with a decrease in U concentration</a:t>
            </a:r>
          </a:p>
          <a:p>
            <a:r>
              <a:rPr lang="en-US" sz="2200" dirty="0"/>
              <a:t>This redistribution increases the local fission rate and centerline temperature, while generating lower melting point phases</a:t>
            </a:r>
          </a:p>
          <a:p>
            <a:endParaRPr lang="en-US" sz="2200" dirty="0"/>
          </a:p>
          <a:p>
            <a:endParaRPr lang="en-US" sz="2200" dirty="0"/>
          </a:p>
        </p:txBody>
      </p:sp>
      <p:pic>
        <p:nvPicPr>
          <p:cNvPr id="6" name="Content Placeholder 5">
            <a:extLst>
              <a:ext uri="{FF2B5EF4-FFF2-40B4-BE49-F238E27FC236}">
                <a16:creationId xmlns:a16="http://schemas.microsoft.com/office/drawing/2014/main" id="{0F3CBD17-CE47-A741-8474-8D1C41467FE1}"/>
              </a:ext>
            </a:extLst>
          </p:cNvPr>
          <p:cNvPicPr>
            <a:picLocks noGrp="1" noChangeAspect="1"/>
          </p:cNvPicPr>
          <p:nvPr>
            <p:ph sz="half" idx="2"/>
          </p:nvPr>
        </p:nvPicPr>
        <p:blipFill>
          <a:blip r:embed="rId2"/>
          <a:stretch>
            <a:fillRect/>
          </a:stretch>
        </p:blipFill>
        <p:spPr>
          <a:xfrm>
            <a:off x="6726621" y="1968500"/>
            <a:ext cx="4574637" cy="4157663"/>
          </a:xfrm>
          <a:prstGeom prst="rect">
            <a:avLst/>
          </a:prstGeom>
        </p:spPr>
      </p:pic>
      <p:sp>
        <p:nvSpPr>
          <p:cNvPr id="5" name="Slide Number Placeholder 4">
            <a:extLst>
              <a:ext uri="{FF2B5EF4-FFF2-40B4-BE49-F238E27FC236}">
                <a16:creationId xmlns:a16="http://schemas.microsoft.com/office/drawing/2014/main" id="{D3927B47-98A0-CD43-B5B9-CC8E31B0E069}"/>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Tree>
    <p:extLst>
      <p:ext uri="{BB962C8B-B14F-4D97-AF65-F5344CB8AC3E}">
        <p14:creationId xmlns:p14="http://schemas.microsoft.com/office/powerpoint/2010/main" val="29461642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47834-14FB-1444-96E6-771D2147723C}"/>
              </a:ext>
            </a:extLst>
          </p:cNvPr>
          <p:cNvSpPr>
            <a:spLocks noGrp="1"/>
          </p:cNvSpPr>
          <p:nvPr>
            <p:ph type="title"/>
          </p:nvPr>
        </p:nvSpPr>
        <p:spPr/>
        <p:txBody>
          <a:bodyPr/>
          <a:lstStyle/>
          <a:p>
            <a:r>
              <a:rPr lang="en-US" dirty="0"/>
              <a:t>Redistribution of Pu</a:t>
            </a:r>
          </a:p>
        </p:txBody>
      </p:sp>
      <p:sp>
        <p:nvSpPr>
          <p:cNvPr id="3" name="Content Placeholder 2">
            <a:extLst>
              <a:ext uri="{FF2B5EF4-FFF2-40B4-BE49-F238E27FC236}">
                <a16:creationId xmlns:a16="http://schemas.microsoft.com/office/drawing/2014/main" id="{8AD37A6E-0E1E-1642-AE7E-B8C29912AF4E}"/>
              </a:ext>
            </a:extLst>
          </p:cNvPr>
          <p:cNvSpPr>
            <a:spLocks noGrp="1"/>
          </p:cNvSpPr>
          <p:nvPr>
            <p:ph sz="half" idx="1"/>
          </p:nvPr>
        </p:nvSpPr>
        <p:spPr/>
        <p:txBody>
          <a:bodyPr/>
          <a:lstStyle/>
          <a:p>
            <a:r>
              <a:rPr lang="en-US" sz="2000" dirty="0"/>
              <a:t>This phenomenon is currently understood as an evaporation-condensation process</a:t>
            </a:r>
          </a:p>
          <a:p>
            <a:r>
              <a:rPr lang="en-US" sz="2000" dirty="0"/>
              <a:t>The fuel at the edge of the pore closest to the centerline becomes gaseous inside the pore and deposits itself on the cooler region of the pore closest to the cladding</a:t>
            </a:r>
          </a:p>
          <a:p>
            <a:r>
              <a:rPr lang="en-US" sz="2000" dirty="0"/>
              <a:t>UO2 is the more volatile of the U/Pu heavy metal species present in the fuel matrix</a:t>
            </a:r>
          </a:p>
          <a:p>
            <a:r>
              <a:rPr lang="en-US" sz="2000" dirty="0"/>
              <a:t>The high oxygen potential can lead to a high partial pressure of UO3 within the self-contained pores</a:t>
            </a:r>
          </a:p>
          <a:p>
            <a:endParaRPr lang="en-US" sz="2000" dirty="0"/>
          </a:p>
          <a:p>
            <a:endParaRPr lang="en-US" sz="2000" dirty="0"/>
          </a:p>
          <a:p>
            <a:endParaRPr lang="en-US" sz="2000" dirty="0"/>
          </a:p>
        </p:txBody>
      </p:sp>
      <p:sp>
        <p:nvSpPr>
          <p:cNvPr id="4" name="Content Placeholder 3">
            <a:extLst>
              <a:ext uri="{FF2B5EF4-FFF2-40B4-BE49-F238E27FC236}">
                <a16:creationId xmlns:a16="http://schemas.microsoft.com/office/drawing/2014/main" id="{9AC94C8A-4E2C-264F-AADF-9BDFE938BFD6}"/>
              </a:ext>
            </a:extLst>
          </p:cNvPr>
          <p:cNvSpPr>
            <a:spLocks noGrp="1"/>
          </p:cNvSpPr>
          <p:nvPr>
            <p:ph sz="half" idx="2"/>
          </p:nvPr>
        </p:nvSpPr>
        <p:spPr/>
        <p:txBody>
          <a:bodyPr/>
          <a:lstStyle/>
          <a:p>
            <a:r>
              <a:rPr lang="en-US" sz="2000" dirty="0"/>
              <a:t>Enriched regions of PuO2 are left behind and deposited at the leading edge of the central void as the porosity accumulates in the fuel center</a:t>
            </a:r>
          </a:p>
          <a:p>
            <a:r>
              <a:rPr lang="en-US" sz="2000" dirty="0"/>
              <a:t>Some experiments on O/M ratio seems to point towards higher O potential leading to more redistribution</a:t>
            </a:r>
          </a:p>
          <a:p>
            <a:r>
              <a:rPr lang="en-US" sz="2000" dirty="0"/>
              <a:t>While this is the working theory, it is not clear if this explanation can also account for the necessary pore velocities</a:t>
            </a:r>
          </a:p>
          <a:p>
            <a:r>
              <a:rPr lang="en-US" sz="2000" dirty="0"/>
              <a:t>No experimentally proven substitution has been put forth as a replacement theory to the observed features</a:t>
            </a:r>
          </a:p>
          <a:p>
            <a:endParaRPr lang="en-US" sz="2000" dirty="0"/>
          </a:p>
          <a:p>
            <a:endParaRPr lang="en-US" sz="2000" dirty="0"/>
          </a:p>
          <a:p>
            <a:endParaRPr lang="en-US" sz="2000" dirty="0"/>
          </a:p>
          <a:p>
            <a:endParaRPr lang="en-US" sz="2000" dirty="0"/>
          </a:p>
        </p:txBody>
      </p:sp>
      <p:sp>
        <p:nvSpPr>
          <p:cNvPr id="5" name="Slide Number Placeholder 4">
            <a:extLst>
              <a:ext uri="{FF2B5EF4-FFF2-40B4-BE49-F238E27FC236}">
                <a16:creationId xmlns:a16="http://schemas.microsoft.com/office/drawing/2014/main" id="{9F684B3F-3122-4749-8084-8691DAC76E9A}"/>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spTree>
    <p:extLst>
      <p:ext uri="{BB962C8B-B14F-4D97-AF65-F5344CB8AC3E}">
        <p14:creationId xmlns:p14="http://schemas.microsoft.com/office/powerpoint/2010/main" val="837258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87B49-03D0-DD4F-AC9F-929E0781430F}"/>
              </a:ext>
            </a:extLst>
          </p:cNvPr>
          <p:cNvSpPr>
            <a:spLocks noGrp="1"/>
          </p:cNvSpPr>
          <p:nvPr>
            <p:ph type="title"/>
          </p:nvPr>
        </p:nvSpPr>
        <p:spPr/>
        <p:txBody>
          <a:bodyPr/>
          <a:lstStyle/>
          <a:p>
            <a:r>
              <a:rPr lang="en-US" dirty="0"/>
              <a:t>Pu-rich Agglomerates</a:t>
            </a:r>
          </a:p>
        </p:txBody>
      </p:sp>
      <p:sp>
        <p:nvSpPr>
          <p:cNvPr id="3" name="Content Placeholder 2">
            <a:extLst>
              <a:ext uri="{FF2B5EF4-FFF2-40B4-BE49-F238E27FC236}">
                <a16:creationId xmlns:a16="http://schemas.microsoft.com/office/drawing/2014/main" id="{14CA3A04-7F84-3547-9CCB-1F050BDED88F}"/>
              </a:ext>
            </a:extLst>
          </p:cNvPr>
          <p:cNvSpPr>
            <a:spLocks noGrp="1"/>
          </p:cNvSpPr>
          <p:nvPr>
            <p:ph sz="half" idx="1"/>
          </p:nvPr>
        </p:nvSpPr>
        <p:spPr>
          <a:xfrm>
            <a:off x="609599" y="1968503"/>
            <a:ext cx="7083973" cy="4157663"/>
          </a:xfrm>
        </p:spPr>
        <p:txBody>
          <a:bodyPr/>
          <a:lstStyle/>
          <a:p>
            <a:r>
              <a:rPr lang="en-US" sz="1800" dirty="0"/>
              <a:t>Regions of high Pu concentration form in the MOX fuel matrix due to incomplete mixing during fabrication</a:t>
            </a:r>
          </a:p>
          <a:p>
            <a:r>
              <a:rPr lang="en-US" sz="1800" dirty="0"/>
              <a:t>Clusters of dispersed porosity form in high Pu concentration regions because of the high fission rate</a:t>
            </a:r>
          </a:p>
          <a:p>
            <a:r>
              <a:rPr lang="en-US" sz="1800" dirty="0"/>
              <a:t>Thermal conductivity of the spots is also lower than the surrounding matrix, thus the PAs are both hotter and undergo a greater number of fission events in a very small region</a:t>
            </a:r>
          </a:p>
          <a:p>
            <a:r>
              <a:rPr lang="en-US" sz="1800" dirty="0"/>
              <a:t>Burnup in these regions may be 2-3 times greater than that of the pellet as a whole</a:t>
            </a:r>
          </a:p>
          <a:p>
            <a:r>
              <a:rPr lang="en-US" sz="1800" dirty="0"/>
              <a:t>The morphology of porosity in the agglomerates depends on the temperature, with smaller bubbles in cold regions and large bubbles in hot regions</a:t>
            </a:r>
          </a:p>
          <a:p>
            <a:r>
              <a:rPr lang="en-US" sz="1800" dirty="0"/>
              <a:t>Porosity formed due to PAs are visually distinct from fission gas bubbles or pre-existing porosity</a:t>
            </a:r>
          </a:p>
          <a:p>
            <a:endParaRPr lang="en-US" sz="1800" dirty="0"/>
          </a:p>
          <a:p>
            <a:endParaRPr lang="en-US" sz="1800" dirty="0"/>
          </a:p>
        </p:txBody>
      </p:sp>
      <p:pic>
        <p:nvPicPr>
          <p:cNvPr id="6" name="Content Placeholder 5">
            <a:extLst>
              <a:ext uri="{FF2B5EF4-FFF2-40B4-BE49-F238E27FC236}">
                <a16:creationId xmlns:a16="http://schemas.microsoft.com/office/drawing/2014/main" id="{E2FA4246-8318-F441-8A94-ABA0E4BC87CF}"/>
              </a:ext>
            </a:extLst>
          </p:cNvPr>
          <p:cNvPicPr>
            <a:picLocks noGrp="1" noChangeAspect="1"/>
          </p:cNvPicPr>
          <p:nvPr>
            <p:ph sz="half" idx="2"/>
          </p:nvPr>
        </p:nvPicPr>
        <p:blipFill rotWithShape="1">
          <a:blip r:embed="rId2"/>
          <a:srcRect r="33712"/>
          <a:stretch/>
        </p:blipFill>
        <p:spPr>
          <a:xfrm>
            <a:off x="7693573" y="2035597"/>
            <a:ext cx="3678621" cy="2054481"/>
          </a:xfrm>
          <a:prstGeom prst="rect">
            <a:avLst/>
          </a:prstGeom>
        </p:spPr>
      </p:pic>
      <p:sp>
        <p:nvSpPr>
          <p:cNvPr id="5" name="Slide Number Placeholder 4">
            <a:extLst>
              <a:ext uri="{FF2B5EF4-FFF2-40B4-BE49-F238E27FC236}">
                <a16:creationId xmlns:a16="http://schemas.microsoft.com/office/drawing/2014/main" id="{D2350DCF-5E1C-8646-93EB-A265501B5874}"/>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a:p>
        </p:txBody>
      </p:sp>
      <p:pic>
        <p:nvPicPr>
          <p:cNvPr id="4" name="Content Placeholder 5">
            <a:extLst>
              <a:ext uri="{FF2B5EF4-FFF2-40B4-BE49-F238E27FC236}">
                <a16:creationId xmlns:a16="http://schemas.microsoft.com/office/drawing/2014/main" id="{84F334C5-0539-61BB-8B4D-CBF84A394057}"/>
              </a:ext>
            </a:extLst>
          </p:cNvPr>
          <p:cNvPicPr>
            <a:picLocks noChangeAspect="1"/>
          </p:cNvPicPr>
          <p:nvPr/>
        </p:nvPicPr>
        <p:blipFill rotWithShape="1">
          <a:blip r:embed="rId2"/>
          <a:srcRect l="66193"/>
          <a:stretch/>
        </p:blipFill>
        <p:spPr bwMode="auto">
          <a:xfrm>
            <a:off x="8734097" y="4071685"/>
            <a:ext cx="1876096" cy="205448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pic>
    </p:spTree>
    <p:extLst>
      <p:ext uri="{BB962C8B-B14F-4D97-AF65-F5344CB8AC3E}">
        <p14:creationId xmlns:p14="http://schemas.microsoft.com/office/powerpoint/2010/main" val="30617486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09AE0-F18C-BA47-B0C9-8381ACE92FBF}"/>
              </a:ext>
            </a:extLst>
          </p:cNvPr>
          <p:cNvSpPr>
            <a:spLocks noGrp="1"/>
          </p:cNvSpPr>
          <p:nvPr>
            <p:ph type="title"/>
          </p:nvPr>
        </p:nvSpPr>
        <p:spPr/>
        <p:txBody>
          <a:bodyPr/>
          <a:lstStyle/>
          <a:p>
            <a:r>
              <a:rPr lang="en-US" dirty="0"/>
              <a:t>Pu-rich Agglomerates</a:t>
            </a:r>
          </a:p>
        </p:txBody>
      </p:sp>
      <p:sp>
        <p:nvSpPr>
          <p:cNvPr id="3" name="Content Placeholder 2">
            <a:extLst>
              <a:ext uri="{FF2B5EF4-FFF2-40B4-BE49-F238E27FC236}">
                <a16:creationId xmlns:a16="http://schemas.microsoft.com/office/drawing/2014/main" id="{4A3AF477-1E19-0D4B-88D1-05C88582BE0A}"/>
              </a:ext>
            </a:extLst>
          </p:cNvPr>
          <p:cNvSpPr>
            <a:spLocks noGrp="1"/>
          </p:cNvSpPr>
          <p:nvPr>
            <p:ph sz="half" idx="1"/>
          </p:nvPr>
        </p:nvSpPr>
        <p:spPr/>
        <p:txBody>
          <a:bodyPr/>
          <a:lstStyle/>
          <a:p>
            <a:r>
              <a:rPr lang="en-US" sz="2000" dirty="0"/>
              <a:t>The presence of the high burnup structure (HBS) has been observed within the PA regions</a:t>
            </a:r>
          </a:p>
          <a:p>
            <a:r>
              <a:rPr lang="en-US" sz="2000" dirty="0"/>
              <a:t>The HBS is basically a fine grained, cauliflower-like structure</a:t>
            </a:r>
          </a:p>
          <a:p>
            <a:r>
              <a:rPr lang="en-US" sz="2000" dirty="0"/>
              <a:t>In MOX fuels, the HBS structure appears in fuels following burnups between 60 and 80 </a:t>
            </a:r>
            <a:r>
              <a:rPr lang="en-US" sz="2000" dirty="0" err="1"/>
              <a:t>GWd</a:t>
            </a:r>
            <a:r>
              <a:rPr lang="en-US" sz="2000" dirty="0"/>
              <a:t>/</a:t>
            </a:r>
            <a:r>
              <a:rPr lang="en-US" sz="2000" dirty="0" err="1"/>
              <a:t>tM</a:t>
            </a:r>
            <a:r>
              <a:rPr lang="en-US" sz="2000" dirty="0"/>
              <a:t> at temperatures below approximately 1100C</a:t>
            </a:r>
          </a:p>
          <a:p>
            <a:r>
              <a:rPr lang="en-US" sz="2000" dirty="0"/>
              <a:t>PA's reach these local burnups at pellet burnups far below this threshold</a:t>
            </a:r>
          </a:p>
          <a:p>
            <a:endParaRPr lang="en-US" sz="2000" dirty="0"/>
          </a:p>
        </p:txBody>
      </p:sp>
      <p:pic>
        <p:nvPicPr>
          <p:cNvPr id="6" name="Content Placeholder 5">
            <a:extLst>
              <a:ext uri="{FF2B5EF4-FFF2-40B4-BE49-F238E27FC236}">
                <a16:creationId xmlns:a16="http://schemas.microsoft.com/office/drawing/2014/main" id="{197C0C76-77B9-C24A-9770-74989A93DC8C}"/>
              </a:ext>
            </a:extLst>
          </p:cNvPr>
          <p:cNvPicPr>
            <a:picLocks noGrp="1" noChangeAspect="1"/>
          </p:cNvPicPr>
          <p:nvPr>
            <p:ph sz="half" idx="2"/>
          </p:nvPr>
        </p:nvPicPr>
        <p:blipFill>
          <a:blip r:embed="rId2"/>
          <a:stretch>
            <a:fillRect/>
          </a:stretch>
        </p:blipFill>
        <p:spPr>
          <a:xfrm>
            <a:off x="6540500" y="2269331"/>
            <a:ext cx="4699000" cy="3556000"/>
          </a:xfrm>
          <a:prstGeom prst="rect">
            <a:avLst/>
          </a:prstGeom>
        </p:spPr>
      </p:pic>
      <p:sp>
        <p:nvSpPr>
          <p:cNvPr id="5" name="Slide Number Placeholder 4">
            <a:extLst>
              <a:ext uri="{FF2B5EF4-FFF2-40B4-BE49-F238E27FC236}">
                <a16:creationId xmlns:a16="http://schemas.microsoft.com/office/drawing/2014/main" id="{0580CD1A-0607-994D-8528-92DDAE5E2AF8}"/>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a:p>
        </p:txBody>
      </p:sp>
    </p:spTree>
    <p:extLst>
      <p:ext uri="{BB962C8B-B14F-4D97-AF65-F5344CB8AC3E}">
        <p14:creationId xmlns:p14="http://schemas.microsoft.com/office/powerpoint/2010/main" val="10548289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46DB1-57B8-64CF-6392-AF36CAC3E4E2}"/>
              </a:ext>
            </a:extLst>
          </p:cNvPr>
          <p:cNvSpPr>
            <a:spLocks noGrp="1"/>
          </p:cNvSpPr>
          <p:nvPr>
            <p:ph type="title"/>
          </p:nvPr>
        </p:nvSpPr>
        <p:spPr/>
        <p:txBody>
          <a:bodyPr/>
          <a:lstStyle/>
          <a:p>
            <a:r>
              <a:rPr lang="en-US" dirty="0"/>
              <a:t>Oxygen Redistribution</a:t>
            </a:r>
          </a:p>
        </p:txBody>
      </p:sp>
      <p:sp>
        <p:nvSpPr>
          <p:cNvPr id="3" name="Content Placeholder 2">
            <a:extLst>
              <a:ext uri="{FF2B5EF4-FFF2-40B4-BE49-F238E27FC236}">
                <a16:creationId xmlns:a16="http://schemas.microsoft.com/office/drawing/2014/main" id="{FC8BD6EE-0405-FE2B-A027-E70C2F67C33F}"/>
              </a:ext>
            </a:extLst>
          </p:cNvPr>
          <p:cNvSpPr>
            <a:spLocks noGrp="1"/>
          </p:cNvSpPr>
          <p:nvPr>
            <p:ph sz="half" idx="1"/>
          </p:nvPr>
        </p:nvSpPr>
        <p:spPr>
          <a:xfrm>
            <a:off x="609599" y="1968503"/>
            <a:ext cx="6520833" cy="4157663"/>
          </a:xfrm>
        </p:spPr>
        <p:txBody>
          <a:bodyPr/>
          <a:lstStyle/>
          <a:p>
            <a:r>
              <a:rPr lang="en-US" sz="2200" dirty="0"/>
              <a:t>The as-fabricated oxide pellets used as fuel in fast reactors are always </a:t>
            </a:r>
            <a:r>
              <a:rPr lang="en-US" sz="2200" dirty="0" err="1"/>
              <a:t>hypostoichiometric</a:t>
            </a:r>
            <a:r>
              <a:rPr lang="en-US" sz="2200" dirty="0"/>
              <a:t> with an initial O/M typically in the range 1.93–2.00</a:t>
            </a:r>
          </a:p>
          <a:p>
            <a:r>
              <a:rPr lang="en-US" sz="2200" dirty="0"/>
              <a:t>Oxygen is redistributed radially, migrating down the thermal gradient, thus bringing the composition close to stoichiometry near the periphery, whereas the O/M ratio becomes very low in the hottest area</a:t>
            </a:r>
          </a:p>
          <a:p>
            <a:r>
              <a:rPr lang="en-US" sz="2200" dirty="0"/>
              <a:t>Oxygen transport is likely a combination of vapor and solid diffusion</a:t>
            </a:r>
          </a:p>
          <a:p>
            <a:endParaRPr lang="en-US" sz="2200" dirty="0"/>
          </a:p>
        </p:txBody>
      </p:sp>
      <p:sp>
        <p:nvSpPr>
          <p:cNvPr id="5" name="Slide Number Placeholder 4">
            <a:extLst>
              <a:ext uri="{FF2B5EF4-FFF2-40B4-BE49-F238E27FC236}">
                <a16:creationId xmlns:a16="http://schemas.microsoft.com/office/drawing/2014/main" id="{CB6257F7-A5E3-1101-670A-160E8FDEF757}"/>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pic>
        <p:nvPicPr>
          <p:cNvPr id="6" name="Picture 5">
            <a:extLst>
              <a:ext uri="{FF2B5EF4-FFF2-40B4-BE49-F238E27FC236}">
                <a16:creationId xmlns:a16="http://schemas.microsoft.com/office/drawing/2014/main" id="{E9D4F043-5AC7-3FB0-8613-AC477AAF6971}"/>
              </a:ext>
            </a:extLst>
          </p:cNvPr>
          <p:cNvPicPr>
            <a:picLocks noChangeAspect="1"/>
          </p:cNvPicPr>
          <p:nvPr/>
        </p:nvPicPr>
        <p:blipFill>
          <a:blip r:embed="rId2"/>
          <a:stretch>
            <a:fillRect/>
          </a:stretch>
        </p:blipFill>
        <p:spPr>
          <a:xfrm>
            <a:off x="7599193" y="2400520"/>
            <a:ext cx="3983207" cy="3106901"/>
          </a:xfrm>
          <a:prstGeom prst="rect">
            <a:avLst/>
          </a:prstGeom>
        </p:spPr>
      </p:pic>
    </p:spTree>
    <p:extLst>
      <p:ext uri="{BB962C8B-B14F-4D97-AF65-F5344CB8AC3E}">
        <p14:creationId xmlns:p14="http://schemas.microsoft.com/office/powerpoint/2010/main" val="19785316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46DB1-57B8-64CF-6392-AF36CAC3E4E2}"/>
              </a:ext>
            </a:extLst>
          </p:cNvPr>
          <p:cNvSpPr>
            <a:spLocks noGrp="1"/>
          </p:cNvSpPr>
          <p:nvPr>
            <p:ph type="title"/>
          </p:nvPr>
        </p:nvSpPr>
        <p:spPr/>
        <p:txBody>
          <a:bodyPr/>
          <a:lstStyle/>
          <a:p>
            <a:r>
              <a:rPr lang="en-US" dirty="0"/>
              <a:t>O/M Ratio</a:t>
            </a:r>
          </a:p>
        </p:txBody>
      </p:sp>
      <p:sp>
        <p:nvSpPr>
          <p:cNvPr id="3" name="Content Placeholder 2">
            <a:extLst>
              <a:ext uri="{FF2B5EF4-FFF2-40B4-BE49-F238E27FC236}">
                <a16:creationId xmlns:a16="http://schemas.microsoft.com/office/drawing/2014/main" id="{FC8BD6EE-0405-FE2B-A027-E70C2F67C33F}"/>
              </a:ext>
            </a:extLst>
          </p:cNvPr>
          <p:cNvSpPr>
            <a:spLocks noGrp="1"/>
          </p:cNvSpPr>
          <p:nvPr>
            <p:ph sz="half" idx="1"/>
          </p:nvPr>
        </p:nvSpPr>
        <p:spPr/>
        <p:txBody>
          <a:bodyPr/>
          <a:lstStyle/>
          <a:p>
            <a:r>
              <a:rPr lang="en-US" sz="2200" dirty="0"/>
              <a:t>Fission releases two oxygen atoms, which cannot be fully bound by the fission products, this increases the O potential in the fuel as dissolved O</a:t>
            </a:r>
          </a:p>
          <a:p>
            <a:r>
              <a:rPr lang="en-US" sz="2200" dirty="0"/>
              <a:t>The O potential increases until the point where Mo starts to oxidize, leaving the metallic inclusions</a:t>
            </a:r>
          </a:p>
          <a:p>
            <a:r>
              <a:rPr lang="en-US" sz="2200" dirty="0"/>
              <a:t>The O/M ratio increases until Mo starts to oxidize, then maintains at approximately 2.0 or thereabouts</a:t>
            </a:r>
          </a:p>
          <a:p>
            <a:endParaRPr lang="en-US" sz="2200" dirty="0"/>
          </a:p>
        </p:txBody>
      </p:sp>
      <p:sp>
        <p:nvSpPr>
          <p:cNvPr id="5" name="Slide Number Placeholder 4">
            <a:extLst>
              <a:ext uri="{FF2B5EF4-FFF2-40B4-BE49-F238E27FC236}">
                <a16:creationId xmlns:a16="http://schemas.microsoft.com/office/drawing/2014/main" id="{CB6257F7-A5E3-1101-670A-160E8FDEF757}"/>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pic>
        <p:nvPicPr>
          <p:cNvPr id="6" name="Picture 5">
            <a:extLst>
              <a:ext uri="{FF2B5EF4-FFF2-40B4-BE49-F238E27FC236}">
                <a16:creationId xmlns:a16="http://schemas.microsoft.com/office/drawing/2014/main" id="{5ED1FE4F-809F-9DBE-0FA4-44257004B131}"/>
              </a:ext>
            </a:extLst>
          </p:cNvPr>
          <p:cNvPicPr>
            <a:picLocks noChangeAspect="1"/>
          </p:cNvPicPr>
          <p:nvPr/>
        </p:nvPicPr>
        <p:blipFill>
          <a:blip r:embed="rId2"/>
          <a:stretch>
            <a:fillRect/>
          </a:stretch>
        </p:blipFill>
        <p:spPr>
          <a:xfrm>
            <a:off x="6604000" y="4096875"/>
            <a:ext cx="4267200" cy="2029291"/>
          </a:xfrm>
          <a:prstGeom prst="rect">
            <a:avLst/>
          </a:prstGeom>
        </p:spPr>
      </p:pic>
      <p:pic>
        <p:nvPicPr>
          <p:cNvPr id="7" name="Picture 6">
            <a:extLst>
              <a:ext uri="{FF2B5EF4-FFF2-40B4-BE49-F238E27FC236}">
                <a16:creationId xmlns:a16="http://schemas.microsoft.com/office/drawing/2014/main" id="{77C40237-1493-B869-3448-F71467A8B147}"/>
              </a:ext>
            </a:extLst>
          </p:cNvPr>
          <p:cNvPicPr>
            <a:picLocks noChangeAspect="1"/>
          </p:cNvPicPr>
          <p:nvPr/>
        </p:nvPicPr>
        <p:blipFill>
          <a:blip r:embed="rId3"/>
          <a:stretch>
            <a:fillRect/>
          </a:stretch>
        </p:blipFill>
        <p:spPr>
          <a:xfrm>
            <a:off x="6603999" y="996044"/>
            <a:ext cx="4267200" cy="2569803"/>
          </a:xfrm>
          <a:prstGeom prst="rect">
            <a:avLst/>
          </a:prstGeom>
        </p:spPr>
      </p:pic>
      <p:sp>
        <p:nvSpPr>
          <p:cNvPr id="4" name="TextBox 3">
            <a:extLst>
              <a:ext uri="{FF2B5EF4-FFF2-40B4-BE49-F238E27FC236}">
                <a16:creationId xmlns:a16="http://schemas.microsoft.com/office/drawing/2014/main" id="{5297DFB7-E54F-282E-81DA-21E0B69FF6A1}"/>
              </a:ext>
            </a:extLst>
          </p:cNvPr>
          <p:cNvSpPr txBox="1"/>
          <p:nvPr/>
        </p:nvSpPr>
        <p:spPr>
          <a:xfrm>
            <a:off x="7328477" y="6225547"/>
            <a:ext cx="2919845" cy="261610"/>
          </a:xfrm>
          <a:prstGeom prst="rect">
            <a:avLst/>
          </a:prstGeom>
          <a:noFill/>
        </p:spPr>
        <p:txBody>
          <a:bodyPr wrap="square" rtlCol="0">
            <a:spAutoFit/>
          </a:bodyPr>
          <a:lstStyle/>
          <a:p>
            <a:pPr algn="ctr"/>
            <a:r>
              <a:rPr lang="en-US" sz="1100" dirty="0"/>
              <a:t>Ratio of Mo/Ru in metal precipitates</a:t>
            </a:r>
          </a:p>
        </p:txBody>
      </p:sp>
      <p:sp>
        <p:nvSpPr>
          <p:cNvPr id="8" name="TextBox 7">
            <a:extLst>
              <a:ext uri="{FF2B5EF4-FFF2-40B4-BE49-F238E27FC236}">
                <a16:creationId xmlns:a16="http://schemas.microsoft.com/office/drawing/2014/main" id="{E33514C5-2E06-3FC2-0431-6F120C8F2794}"/>
              </a:ext>
            </a:extLst>
          </p:cNvPr>
          <p:cNvSpPr txBox="1"/>
          <p:nvPr/>
        </p:nvSpPr>
        <p:spPr>
          <a:xfrm>
            <a:off x="7277677" y="3639058"/>
            <a:ext cx="2919845" cy="261610"/>
          </a:xfrm>
          <a:prstGeom prst="rect">
            <a:avLst/>
          </a:prstGeom>
          <a:noFill/>
        </p:spPr>
        <p:txBody>
          <a:bodyPr wrap="square" rtlCol="0">
            <a:spAutoFit/>
          </a:bodyPr>
          <a:lstStyle/>
          <a:p>
            <a:pPr algn="ctr"/>
            <a:r>
              <a:rPr lang="en-US" sz="1100" dirty="0"/>
              <a:t>Oxygen potential vs T at different burnups</a:t>
            </a:r>
          </a:p>
        </p:txBody>
      </p:sp>
    </p:spTree>
    <p:extLst>
      <p:ext uri="{BB962C8B-B14F-4D97-AF65-F5344CB8AC3E}">
        <p14:creationId xmlns:p14="http://schemas.microsoft.com/office/powerpoint/2010/main" val="5481028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4018C-385B-1049-ACFA-F6D9FE3BAF13}"/>
              </a:ext>
            </a:extLst>
          </p:cNvPr>
          <p:cNvSpPr>
            <a:spLocks noGrp="1"/>
          </p:cNvSpPr>
          <p:nvPr>
            <p:ph type="title"/>
          </p:nvPr>
        </p:nvSpPr>
        <p:spPr/>
        <p:txBody>
          <a:bodyPr/>
          <a:lstStyle/>
          <a:p>
            <a:r>
              <a:rPr lang="en-US" dirty="0"/>
              <a:t>Solid Fission Products</a:t>
            </a:r>
          </a:p>
        </p:txBody>
      </p:sp>
      <p:sp>
        <p:nvSpPr>
          <p:cNvPr id="3" name="Content Placeholder 2">
            <a:extLst>
              <a:ext uri="{FF2B5EF4-FFF2-40B4-BE49-F238E27FC236}">
                <a16:creationId xmlns:a16="http://schemas.microsoft.com/office/drawing/2014/main" id="{04A6B6FB-589F-E04B-A7F7-777414FB96C6}"/>
              </a:ext>
            </a:extLst>
          </p:cNvPr>
          <p:cNvSpPr>
            <a:spLocks noGrp="1"/>
          </p:cNvSpPr>
          <p:nvPr>
            <p:ph sz="half" idx="1"/>
          </p:nvPr>
        </p:nvSpPr>
        <p:spPr>
          <a:xfrm>
            <a:off x="609600" y="1968503"/>
            <a:ext cx="5778500" cy="4157663"/>
          </a:xfrm>
        </p:spPr>
        <p:txBody>
          <a:bodyPr/>
          <a:lstStyle/>
          <a:p>
            <a:r>
              <a:rPr lang="en-US" sz="2200" dirty="0"/>
              <a:t>Fission products in oxide fuels can be grouped into 4/5 categories</a:t>
            </a:r>
          </a:p>
          <a:p>
            <a:r>
              <a:rPr lang="en-US" sz="2200" dirty="0"/>
              <a:t>Fission gases and volatile species</a:t>
            </a:r>
          </a:p>
          <a:p>
            <a:r>
              <a:rPr lang="en-US" sz="2200" dirty="0"/>
              <a:t>Metallic precipitates</a:t>
            </a:r>
          </a:p>
          <a:p>
            <a:r>
              <a:rPr lang="en-US" sz="2200" dirty="0"/>
              <a:t>Oxide precipitates</a:t>
            </a:r>
          </a:p>
          <a:p>
            <a:r>
              <a:rPr lang="en-US" sz="2200" dirty="0"/>
              <a:t>Soluble oxides</a:t>
            </a:r>
          </a:p>
          <a:p>
            <a:r>
              <a:rPr lang="en-US" sz="2200" dirty="0"/>
              <a:t>LWR fuel vs Pu-containing MOX fuel, we see a higher concentration Ru, Rh, Pd, and a lower concentration of Zr and Mo</a:t>
            </a:r>
          </a:p>
          <a:p>
            <a:r>
              <a:rPr lang="en-US" sz="2200" dirty="0"/>
              <a:t>Target higher burnups, so we have a very high inventory of fission products</a:t>
            </a:r>
          </a:p>
          <a:p>
            <a:endParaRPr lang="en-US" sz="2200" dirty="0"/>
          </a:p>
        </p:txBody>
      </p:sp>
      <p:pic>
        <p:nvPicPr>
          <p:cNvPr id="6" name="Content Placeholder 5">
            <a:extLst>
              <a:ext uri="{FF2B5EF4-FFF2-40B4-BE49-F238E27FC236}">
                <a16:creationId xmlns:a16="http://schemas.microsoft.com/office/drawing/2014/main" id="{C03B8B5F-71C7-CD4C-A8F0-798DBEF9EA6D}"/>
              </a:ext>
            </a:extLst>
          </p:cNvPr>
          <p:cNvPicPr>
            <a:picLocks noGrp="1" noChangeAspect="1"/>
          </p:cNvPicPr>
          <p:nvPr>
            <p:ph sz="half" idx="2"/>
          </p:nvPr>
        </p:nvPicPr>
        <p:blipFill>
          <a:blip r:embed="rId2"/>
          <a:stretch>
            <a:fillRect/>
          </a:stretch>
        </p:blipFill>
        <p:spPr>
          <a:xfrm>
            <a:off x="6578600" y="2415384"/>
            <a:ext cx="5003800" cy="3263900"/>
          </a:xfrm>
          <a:prstGeom prst="rect">
            <a:avLst/>
          </a:prstGeom>
        </p:spPr>
      </p:pic>
      <p:sp>
        <p:nvSpPr>
          <p:cNvPr id="5" name="Slide Number Placeholder 4">
            <a:extLst>
              <a:ext uri="{FF2B5EF4-FFF2-40B4-BE49-F238E27FC236}">
                <a16:creationId xmlns:a16="http://schemas.microsoft.com/office/drawing/2014/main" id="{92663ABC-724E-0D48-B18F-DDF7C756BDEC}"/>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spTree>
    <p:extLst>
      <p:ext uri="{BB962C8B-B14F-4D97-AF65-F5344CB8AC3E}">
        <p14:creationId xmlns:p14="http://schemas.microsoft.com/office/powerpoint/2010/main" val="14384370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C8077-E59D-7A47-B44B-9EEFE63920A7}"/>
              </a:ext>
            </a:extLst>
          </p:cNvPr>
          <p:cNvSpPr>
            <a:spLocks noGrp="1"/>
          </p:cNvSpPr>
          <p:nvPr>
            <p:ph type="title"/>
          </p:nvPr>
        </p:nvSpPr>
        <p:spPr/>
        <p:txBody>
          <a:bodyPr/>
          <a:lstStyle/>
          <a:p>
            <a:r>
              <a:rPr lang="en-US" dirty="0"/>
              <a:t>Metallic Inclusions</a:t>
            </a:r>
          </a:p>
        </p:txBody>
      </p:sp>
      <p:sp>
        <p:nvSpPr>
          <p:cNvPr id="3" name="Content Placeholder 2">
            <a:extLst>
              <a:ext uri="{FF2B5EF4-FFF2-40B4-BE49-F238E27FC236}">
                <a16:creationId xmlns:a16="http://schemas.microsoft.com/office/drawing/2014/main" id="{C1A2BD2C-4E65-324F-B9F0-2674236F0284}"/>
              </a:ext>
            </a:extLst>
          </p:cNvPr>
          <p:cNvSpPr>
            <a:spLocks noGrp="1"/>
          </p:cNvSpPr>
          <p:nvPr>
            <p:ph sz="half" idx="1"/>
          </p:nvPr>
        </p:nvSpPr>
        <p:spPr/>
        <p:txBody>
          <a:bodyPr/>
          <a:lstStyle/>
          <a:p>
            <a:r>
              <a:rPr lang="en-US" sz="2000" dirty="0"/>
              <a:t>Mo, Tc, Ru, Rh, and Pd form prominent phases in irradiated nuclear fuels commonly referred to as “white inclusions,” “noble metal,” or “five-metal” precipitates</a:t>
            </a:r>
          </a:p>
          <a:p>
            <a:r>
              <a:rPr lang="en-US" sz="2000" dirty="0"/>
              <a:t>The particles exist as a solid solution taking on the hexagonal close packed (hcp) structure</a:t>
            </a:r>
          </a:p>
          <a:p>
            <a:r>
              <a:rPr lang="en-US" sz="2000" dirty="0"/>
              <a:t>The particle size, frequency, and composition exist over a wide range, depending on the burnup and position found within the pellet</a:t>
            </a:r>
          </a:p>
          <a:p>
            <a:endParaRPr lang="en-US" sz="2000" dirty="0"/>
          </a:p>
          <a:p>
            <a:endParaRPr lang="en-US" sz="2000" dirty="0"/>
          </a:p>
          <a:p>
            <a:endParaRPr lang="en-US" sz="2000" dirty="0"/>
          </a:p>
          <a:p>
            <a:endParaRPr lang="en-US" sz="2000" dirty="0"/>
          </a:p>
        </p:txBody>
      </p:sp>
      <p:pic>
        <p:nvPicPr>
          <p:cNvPr id="6" name="Content Placeholder 5">
            <a:extLst>
              <a:ext uri="{FF2B5EF4-FFF2-40B4-BE49-F238E27FC236}">
                <a16:creationId xmlns:a16="http://schemas.microsoft.com/office/drawing/2014/main" id="{1C84C28D-F26E-EC43-9AAE-E7D616EF7035}"/>
              </a:ext>
            </a:extLst>
          </p:cNvPr>
          <p:cNvPicPr>
            <a:picLocks noGrp="1" noChangeAspect="1"/>
          </p:cNvPicPr>
          <p:nvPr>
            <p:ph sz="half" idx="2"/>
          </p:nvPr>
        </p:nvPicPr>
        <p:blipFill>
          <a:blip r:embed="rId2"/>
          <a:stretch>
            <a:fillRect/>
          </a:stretch>
        </p:blipFill>
        <p:spPr>
          <a:xfrm>
            <a:off x="6197600" y="2143564"/>
            <a:ext cx="4890814" cy="3458243"/>
          </a:xfrm>
          <a:prstGeom prst="rect">
            <a:avLst/>
          </a:prstGeom>
        </p:spPr>
      </p:pic>
      <p:sp>
        <p:nvSpPr>
          <p:cNvPr id="5" name="Slide Number Placeholder 4">
            <a:extLst>
              <a:ext uri="{FF2B5EF4-FFF2-40B4-BE49-F238E27FC236}">
                <a16:creationId xmlns:a16="http://schemas.microsoft.com/office/drawing/2014/main" id="{2A38C00D-893B-EE46-809C-CAD40D4CFE2D}"/>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spTree>
    <p:extLst>
      <p:ext uri="{BB962C8B-B14F-4D97-AF65-F5344CB8AC3E}">
        <p14:creationId xmlns:p14="http://schemas.microsoft.com/office/powerpoint/2010/main" val="2564652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8C5362-0171-C640-A17E-74C18D0F00DB}"/>
              </a:ext>
            </a:extLst>
          </p:cNvPr>
          <p:cNvSpPr>
            <a:spLocks noGrp="1"/>
          </p:cNvSpPr>
          <p:nvPr>
            <p:ph type="title"/>
          </p:nvPr>
        </p:nvSpPr>
        <p:spPr/>
        <p:txBody>
          <a:bodyPr/>
          <a:lstStyle/>
          <a:p>
            <a:r>
              <a:rPr lang="en-US" dirty="0"/>
              <a:t>Metallic Inclusions</a:t>
            </a:r>
          </a:p>
        </p:txBody>
      </p:sp>
      <p:sp>
        <p:nvSpPr>
          <p:cNvPr id="3" name="Content Placeholder 2">
            <a:extLst>
              <a:ext uri="{FF2B5EF4-FFF2-40B4-BE49-F238E27FC236}">
                <a16:creationId xmlns:a16="http://schemas.microsoft.com/office/drawing/2014/main" id="{9ADC5525-BFBA-6146-A665-4D0CB7C245DB}"/>
              </a:ext>
            </a:extLst>
          </p:cNvPr>
          <p:cNvSpPr>
            <a:spLocks noGrp="1"/>
          </p:cNvSpPr>
          <p:nvPr>
            <p:ph sz="half" idx="1"/>
          </p:nvPr>
        </p:nvSpPr>
        <p:spPr/>
        <p:txBody>
          <a:bodyPr/>
          <a:lstStyle/>
          <a:p>
            <a:r>
              <a:rPr lang="en-US" sz="2000" dirty="0"/>
              <a:t>In the columnar grain region of the fuel, the particles are commonly 5-10 </a:t>
            </a:r>
            <a:r>
              <a:rPr lang="en-US" sz="2000" dirty="0">
                <a:latin typeface="Symbol" pitchFamily="2" charset="2"/>
              </a:rPr>
              <a:t>m</a:t>
            </a:r>
            <a:r>
              <a:rPr lang="en-US" sz="2000" dirty="0"/>
              <a:t>m in diameter, collecting primarily on the grain boundaries</a:t>
            </a:r>
          </a:p>
          <a:p>
            <a:r>
              <a:rPr lang="en-US" sz="2000" dirty="0"/>
              <a:t>Particles tend to be much smaller (2 </a:t>
            </a:r>
            <a:r>
              <a:rPr lang="en-US" sz="2000" dirty="0">
                <a:latin typeface="Symbol" pitchFamily="2" charset="2"/>
              </a:rPr>
              <a:t>m</a:t>
            </a:r>
            <a:r>
              <a:rPr lang="en-US" sz="2000" dirty="0"/>
              <a:t>m and below) in the equiaxed and as-sintered regions, but occur more frequently </a:t>
            </a:r>
            <a:r>
              <a:rPr lang="en-US" sz="2000" dirty="0" err="1"/>
              <a:t>intragranularly</a:t>
            </a:r>
            <a:endParaRPr lang="en-US" sz="2000" dirty="0"/>
          </a:p>
          <a:p>
            <a:r>
              <a:rPr lang="en-US" sz="2000" dirty="0"/>
              <a:t>The particles form as a result of fission product phase agglomeration, as opposed to nucleation and growth process</a:t>
            </a:r>
          </a:p>
          <a:p>
            <a:endParaRPr lang="en-US" sz="2000" dirty="0"/>
          </a:p>
        </p:txBody>
      </p:sp>
      <p:pic>
        <p:nvPicPr>
          <p:cNvPr id="6" name="Content Placeholder 5">
            <a:extLst>
              <a:ext uri="{FF2B5EF4-FFF2-40B4-BE49-F238E27FC236}">
                <a16:creationId xmlns:a16="http://schemas.microsoft.com/office/drawing/2014/main" id="{E0FF34BE-514F-2C4D-8452-B03794A0CD21}"/>
              </a:ext>
            </a:extLst>
          </p:cNvPr>
          <p:cNvPicPr>
            <a:picLocks noGrp="1" noChangeAspect="1"/>
          </p:cNvPicPr>
          <p:nvPr>
            <p:ph sz="half" idx="2"/>
          </p:nvPr>
        </p:nvPicPr>
        <p:blipFill>
          <a:blip r:embed="rId2"/>
          <a:stretch>
            <a:fillRect/>
          </a:stretch>
        </p:blipFill>
        <p:spPr>
          <a:xfrm>
            <a:off x="6197600" y="2505680"/>
            <a:ext cx="5384800" cy="3083303"/>
          </a:xfrm>
          <a:prstGeom prst="rect">
            <a:avLst/>
          </a:prstGeom>
        </p:spPr>
      </p:pic>
      <p:sp>
        <p:nvSpPr>
          <p:cNvPr id="5" name="Slide Number Placeholder 4">
            <a:extLst>
              <a:ext uri="{FF2B5EF4-FFF2-40B4-BE49-F238E27FC236}">
                <a16:creationId xmlns:a16="http://schemas.microsoft.com/office/drawing/2014/main" id="{ED4E3A19-DEC5-C942-B3DC-2DE0F4EDB636}"/>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sp>
        <p:nvSpPr>
          <p:cNvPr id="7" name="TextBox 6">
            <a:extLst>
              <a:ext uri="{FF2B5EF4-FFF2-40B4-BE49-F238E27FC236}">
                <a16:creationId xmlns:a16="http://schemas.microsoft.com/office/drawing/2014/main" id="{38EC7E62-0393-2D44-90C7-F67FBC6AD7BB}"/>
              </a:ext>
            </a:extLst>
          </p:cNvPr>
          <p:cNvSpPr txBox="1"/>
          <p:nvPr/>
        </p:nvSpPr>
        <p:spPr>
          <a:xfrm>
            <a:off x="6423572" y="2167126"/>
            <a:ext cx="2364827" cy="338554"/>
          </a:xfrm>
          <a:prstGeom prst="rect">
            <a:avLst/>
          </a:prstGeom>
          <a:noFill/>
        </p:spPr>
        <p:txBody>
          <a:bodyPr wrap="square" rtlCol="0">
            <a:spAutoFit/>
          </a:bodyPr>
          <a:lstStyle/>
          <a:p>
            <a:pPr algn="ctr"/>
            <a:r>
              <a:rPr lang="en-US" sz="1600" dirty="0"/>
              <a:t>Columnar Grain Region</a:t>
            </a:r>
          </a:p>
        </p:txBody>
      </p:sp>
      <p:sp>
        <p:nvSpPr>
          <p:cNvPr id="8" name="TextBox 7">
            <a:extLst>
              <a:ext uri="{FF2B5EF4-FFF2-40B4-BE49-F238E27FC236}">
                <a16:creationId xmlns:a16="http://schemas.microsoft.com/office/drawing/2014/main" id="{A17A85DB-3477-1449-894E-CDA10AF7CE8F}"/>
              </a:ext>
            </a:extLst>
          </p:cNvPr>
          <p:cNvSpPr txBox="1"/>
          <p:nvPr/>
        </p:nvSpPr>
        <p:spPr>
          <a:xfrm>
            <a:off x="9014371" y="2167126"/>
            <a:ext cx="2364827" cy="338554"/>
          </a:xfrm>
          <a:prstGeom prst="rect">
            <a:avLst/>
          </a:prstGeom>
          <a:noFill/>
        </p:spPr>
        <p:txBody>
          <a:bodyPr wrap="square" rtlCol="0">
            <a:spAutoFit/>
          </a:bodyPr>
          <a:lstStyle/>
          <a:p>
            <a:pPr algn="ctr"/>
            <a:r>
              <a:rPr lang="en-US" sz="1600" dirty="0"/>
              <a:t>Equiaxed Grain Region</a:t>
            </a:r>
          </a:p>
        </p:txBody>
      </p:sp>
    </p:spTree>
    <p:extLst>
      <p:ext uri="{BB962C8B-B14F-4D97-AF65-F5344CB8AC3E}">
        <p14:creationId xmlns:p14="http://schemas.microsoft.com/office/powerpoint/2010/main" val="4699985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12E58-9AE8-8C4A-A4E9-971A117D48F2}"/>
              </a:ext>
            </a:extLst>
          </p:cNvPr>
          <p:cNvSpPr>
            <a:spLocks noGrp="1"/>
          </p:cNvSpPr>
          <p:nvPr>
            <p:ph type="title"/>
          </p:nvPr>
        </p:nvSpPr>
        <p:spPr/>
        <p:txBody>
          <a:bodyPr/>
          <a:lstStyle/>
          <a:p>
            <a:r>
              <a:rPr lang="en-US" dirty="0"/>
              <a:t>Oxide Phases</a:t>
            </a:r>
          </a:p>
        </p:txBody>
      </p:sp>
      <p:sp>
        <p:nvSpPr>
          <p:cNvPr id="3" name="Content Placeholder 2">
            <a:extLst>
              <a:ext uri="{FF2B5EF4-FFF2-40B4-BE49-F238E27FC236}">
                <a16:creationId xmlns:a16="http://schemas.microsoft.com/office/drawing/2014/main" id="{5D1DFC64-802E-ED43-BE80-06AA3881165E}"/>
              </a:ext>
            </a:extLst>
          </p:cNvPr>
          <p:cNvSpPr>
            <a:spLocks noGrp="1"/>
          </p:cNvSpPr>
          <p:nvPr>
            <p:ph sz="half" idx="1"/>
          </p:nvPr>
        </p:nvSpPr>
        <p:spPr>
          <a:xfrm>
            <a:off x="609600" y="1756065"/>
            <a:ext cx="5588000" cy="4370102"/>
          </a:xfrm>
        </p:spPr>
        <p:txBody>
          <a:bodyPr/>
          <a:lstStyle/>
          <a:p>
            <a:r>
              <a:rPr lang="en-US" sz="2000" dirty="0"/>
              <a:t>Oxides containing Sr, Zr, or the rare earth (RE) elements form solid solutions with either UO2, PuO2, or both at low concentrations</a:t>
            </a:r>
          </a:p>
          <a:p>
            <a:r>
              <a:rPr lang="en-US" sz="2000" dirty="0"/>
              <a:t>Barium is only soluble to 1.6 at% in MOX fuels and thus precipitates a separate oxide phase at higher concentrations</a:t>
            </a:r>
          </a:p>
          <a:p>
            <a:r>
              <a:rPr lang="en-US" sz="2000" dirty="0"/>
              <a:t>The separate oxide phase, commonly referred to as the “grey phase,” form ABO3 perovskite structures, in which A=(Ba1-x-y, </a:t>
            </a:r>
            <a:r>
              <a:rPr lang="en-US" sz="2000" dirty="0" err="1"/>
              <a:t>Srx</a:t>
            </a:r>
            <a:r>
              <a:rPr lang="en-US" sz="2000" dirty="0"/>
              <a:t>, </a:t>
            </a:r>
            <a:r>
              <a:rPr lang="en-US" sz="2000" dirty="0" err="1"/>
              <a:t>Csy</a:t>
            </a:r>
            <a:r>
              <a:rPr lang="en-US" sz="2000" dirty="0"/>
              <a:t>, </a:t>
            </a:r>
            <a:r>
              <a:rPr lang="en-US" sz="2000" dirty="0" err="1"/>
              <a:t>x,y</a:t>
            </a:r>
            <a:r>
              <a:rPr lang="en-US" sz="2000" dirty="0"/>
              <a:t> ≪1) and B=(U, Pu, Zr, Mo, RE)</a:t>
            </a:r>
          </a:p>
          <a:p>
            <a:r>
              <a:rPr lang="en-US" sz="2000" dirty="0"/>
              <a:t>The particles are primarily Ba rich, followed by Zr, U, Pu, Mo, Sr, and trace amounts of the remaining products</a:t>
            </a:r>
          </a:p>
          <a:p>
            <a:endParaRPr lang="en-US" sz="2000" dirty="0"/>
          </a:p>
          <a:p>
            <a:endParaRPr lang="en-US" sz="2000" dirty="0"/>
          </a:p>
          <a:p>
            <a:endParaRPr lang="en-US" sz="2000" dirty="0"/>
          </a:p>
        </p:txBody>
      </p:sp>
      <p:sp>
        <p:nvSpPr>
          <p:cNvPr id="4" name="Content Placeholder 3">
            <a:extLst>
              <a:ext uri="{FF2B5EF4-FFF2-40B4-BE49-F238E27FC236}">
                <a16:creationId xmlns:a16="http://schemas.microsoft.com/office/drawing/2014/main" id="{6F2A44FA-914D-8B45-B4C0-3E8EE9446F99}"/>
              </a:ext>
            </a:extLst>
          </p:cNvPr>
          <p:cNvSpPr>
            <a:spLocks noGrp="1"/>
          </p:cNvSpPr>
          <p:nvPr>
            <p:ph sz="half" idx="2"/>
          </p:nvPr>
        </p:nvSpPr>
        <p:spPr>
          <a:xfrm>
            <a:off x="6197599" y="1756065"/>
            <a:ext cx="5710621" cy="4370101"/>
          </a:xfrm>
        </p:spPr>
        <p:txBody>
          <a:bodyPr/>
          <a:lstStyle/>
          <a:p>
            <a:r>
              <a:rPr lang="en-US" sz="2000" dirty="0"/>
              <a:t>Due to the sheer number of constituents, the structures are largely unknown</a:t>
            </a:r>
          </a:p>
          <a:p>
            <a:r>
              <a:rPr lang="en-US" sz="2000" dirty="0"/>
              <a:t>Grey phase is typically found in the equiaxed or outermost regions of the columnar grains commonly intermixed with other constituent oxides</a:t>
            </a:r>
          </a:p>
          <a:p>
            <a:endParaRPr lang="en-US" sz="2000" dirty="0"/>
          </a:p>
          <a:p>
            <a:endParaRPr lang="en-US" sz="2000" dirty="0"/>
          </a:p>
        </p:txBody>
      </p:sp>
      <p:sp>
        <p:nvSpPr>
          <p:cNvPr id="5" name="Slide Number Placeholder 4">
            <a:extLst>
              <a:ext uri="{FF2B5EF4-FFF2-40B4-BE49-F238E27FC236}">
                <a16:creationId xmlns:a16="http://schemas.microsoft.com/office/drawing/2014/main" id="{FAAC435F-12FB-8248-A31C-B9F24DF8BB8F}"/>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dirty="0"/>
          </a:p>
        </p:txBody>
      </p:sp>
      <p:pic>
        <p:nvPicPr>
          <p:cNvPr id="6" name="Picture 5">
            <a:extLst>
              <a:ext uri="{FF2B5EF4-FFF2-40B4-BE49-F238E27FC236}">
                <a16:creationId xmlns:a16="http://schemas.microsoft.com/office/drawing/2014/main" id="{92CC5C14-8E82-2848-A936-3D6B92610815}"/>
              </a:ext>
            </a:extLst>
          </p:cNvPr>
          <p:cNvPicPr>
            <a:picLocks noChangeAspect="1"/>
          </p:cNvPicPr>
          <p:nvPr/>
        </p:nvPicPr>
        <p:blipFill>
          <a:blip r:embed="rId2"/>
          <a:stretch>
            <a:fillRect/>
          </a:stretch>
        </p:blipFill>
        <p:spPr>
          <a:xfrm>
            <a:off x="6739977" y="3741174"/>
            <a:ext cx="4300045" cy="2877597"/>
          </a:xfrm>
          <a:prstGeom prst="rect">
            <a:avLst/>
          </a:prstGeom>
        </p:spPr>
      </p:pic>
    </p:spTree>
    <p:extLst>
      <p:ext uri="{BB962C8B-B14F-4D97-AF65-F5344CB8AC3E}">
        <p14:creationId xmlns:p14="http://schemas.microsoft.com/office/powerpoint/2010/main" val="9245706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7CCF0-6415-A54B-A9C5-087F67239D5D}"/>
              </a:ext>
            </a:extLst>
          </p:cNvPr>
          <p:cNvSpPr>
            <a:spLocks noGrp="1"/>
          </p:cNvSpPr>
          <p:nvPr>
            <p:ph type="title"/>
          </p:nvPr>
        </p:nvSpPr>
        <p:spPr/>
        <p:txBody>
          <a:bodyPr/>
          <a:lstStyle/>
          <a:p>
            <a:r>
              <a:rPr lang="en-US" dirty="0"/>
              <a:t>Joint </a:t>
            </a:r>
            <a:r>
              <a:rPr lang="en-US" dirty="0" err="1"/>
              <a:t>Oxyde</a:t>
            </a:r>
            <a:r>
              <a:rPr lang="en-US" dirty="0"/>
              <a:t> </a:t>
            </a:r>
            <a:r>
              <a:rPr lang="en-US" dirty="0" err="1"/>
              <a:t>Gaine</a:t>
            </a:r>
            <a:endParaRPr lang="en-US" dirty="0"/>
          </a:p>
        </p:txBody>
      </p:sp>
      <p:sp>
        <p:nvSpPr>
          <p:cNvPr id="3" name="Content Placeholder 2">
            <a:extLst>
              <a:ext uri="{FF2B5EF4-FFF2-40B4-BE49-F238E27FC236}">
                <a16:creationId xmlns:a16="http://schemas.microsoft.com/office/drawing/2014/main" id="{555C30B3-9691-0343-B222-58F9AAD48F71}"/>
              </a:ext>
            </a:extLst>
          </p:cNvPr>
          <p:cNvSpPr>
            <a:spLocks noGrp="1"/>
          </p:cNvSpPr>
          <p:nvPr>
            <p:ph sz="half" idx="1"/>
          </p:nvPr>
        </p:nvSpPr>
        <p:spPr/>
        <p:txBody>
          <a:bodyPr/>
          <a:lstStyle/>
          <a:p>
            <a:r>
              <a:rPr lang="en-US" sz="2200" dirty="0"/>
              <a:t>The volatiles class of fission products produced during reactor operation are of particular interest to fuel-cladding interactions</a:t>
            </a:r>
          </a:p>
          <a:p>
            <a:r>
              <a:rPr lang="en-US" sz="2200" dirty="0"/>
              <a:t>Cs, </a:t>
            </a:r>
            <a:r>
              <a:rPr lang="en-US" sz="2200" dirty="0" err="1"/>
              <a:t>Te</a:t>
            </a:r>
            <a:r>
              <a:rPr lang="en-US" sz="2200" dirty="0"/>
              <a:t>, and I all evaporate at low operating temperatures and migrate to the coolest part of the fuel where they react with fuel or cladding constituents</a:t>
            </a:r>
          </a:p>
          <a:p>
            <a:r>
              <a:rPr lang="en-US" sz="2200" dirty="0"/>
              <a:t>Mo has a tendency to combine with Cs and O to become volatile and migrate toward cooler fuel regions</a:t>
            </a:r>
          </a:p>
        </p:txBody>
      </p:sp>
      <p:sp>
        <p:nvSpPr>
          <p:cNvPr id="4" name="Content Placeholder 3">
            <a:extLst>
              <a:ext uri="{FF2B5EF4-FFF2-40B4-BE49-F238E27FC236}">
                <a16:creationId xmlns:a16="http://schemas.microsoft.com/office/drawing/2014/main" id="{F3A4FCED-8373-084C-B7D2-F6BB142F207F}"/>
              </a:ext>
            </a:extLst>
          </p:cNvPr>
          <p:cNvSpPr>
            <a:spLocks noGrp="1"/>
          </p:cNvSpPr>
          <p:nvPr>
            <p:ph sz="half" idx="2"/>
          </p:nvPr>
        </p:nvSpPr>
        <p:spPr/>
        <p:txBody>
          <a:bodyPr/>
          <a:lstStyle/>
          <a:p>
            <a:r>
              <a:rPr lang="en-US" sz="2200" dirty="0"/>
              <a:t>This has been termed Joint </a:t>
            </a:r>
            <a:r>
              <a:rPr lang="en-US" sz="2200" dirty="0" err="1"/>
              <a:t>Oxyde</a:t>
            </a:r>
            <a:r>
              <a:rPr lang="en-US" sz="2200" dirty="0"/>
              <a:t> </a:t>
            </a:r>
            <a:r>
              <a:rPr lang="en-US" sz="2200" dirty="0" err="1"/>
              <a:t>Gaine</a:t>
            </a:r>
            <a:r>
              <a:rPr lang="en-US" sz="2200" dirty="0"/>
              <a:t> (JOG)</a:t>
            </a:r>
          </a:p>
          <a:p>
            <a:r>
              <a:rPr lang="en-US" sz="2200" dirty="0"/>
              <a:t>JOG is an oxide buildup formed on the fuel surface between the pellet and cladding</a:t>
            </a:r>
          </a:p>
          <a:p>
            <a:r>
              <a:rPr lang="en-US" sz="2200" dirty="0"/>
              <a:t>After gap closure, there remains a minimal residual gap</a:t>
            </a:r>
          </a:p>
          <a:p>
            <a:r>
              <a:rPr lang="en-US" sz="2200" dirty="0"/>
              <a:t>Primarily Cs2MoO4 or Cs2(U, Pu)O4, the JOG structure is irregular and dense, found in regions where the peak fuel temperature is lowest</a:t>
            </a:r>
          </a:p>
        </p:txBody>
      </p:sp>
      <p:sp>
        <p:nvSpPr>
          <p:cNvPr id="5" name="Slide Number Placeholder 4">
            <a:extLst>
              <a:ext uri="{FF2B5EF4-FFF2-40B4-BE49-F238E27FC236}">
                <a16:creationId xmlns:a16="http://schemas.microsoft.com/office/drawing/2014/main" id="{F1B2191A-DB31-A547-AE55-3FA147A12B5F}"/>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spTree>
    <p:extLst>
      <p:ext uri="{BB962C8B-B14F-4D97-AF65-F5344CB8AC3E}">
        <p14:creationId xmlns:p14="http://schemas.microsoft.com/office/powerpoint/2010/main" val="29115376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7CCF0-6415-A54B-A9C5-087F67239D5D}"/>
              </a:ext>
            </a:extLst>
          </p:cNvPr>
          <p:cNvSpPr>
            <a:spLocks noGrp="1"/>
          </p:cNvSpPr>
          <p:nvPr>
            <p:ph type="title"/>
          </p:nvPr>
        </p:nvSpPr>
        <p:spPr/>
        <p:txBody>
          <a:bodyPr/>
          <a:lstStyle/>
          <a:p>
            <a:r>
              <a:rPr lang="en-US" dirty="0"/>
              <a:t>Joint Oxide Gain</a:t>
            </a:r>
          </a:p>
        </p:txBody>
      </p:sp>
      <p:sp>
        <p:nvSpPr>
          <p:cNvPr id="3" name="Content Placeholder 2">
            <a:extLst>
              <a:ext uri="{FF2B5EF4-FFF2-40B4-BE49-F238E27FC236}">
                <a16:creationId xmlns:a16="http://schemas.microsoft.com/office/drawing/2014/main" id="{555C30B3-9691-0343-B222-58F9AAD48F71}"/>
              </a:ext>
            </a:extLst>
          </p:cNvPr>
          <p:cNvSpPr>
            <a:spLocks noGrp="1"/>
          </p:cNvSpPr>
          <p:nvPr>
            <p:ph sz="half" idx="1"/>
          </p:nvPr>
        </p:nvSpPr>
        <p:spPr/>
        <p:txBody>
          <a:bodyPr/>
          <a:lstStyle/>
          <a:p>
            <a:r>
              <a:rPr lang="en-US" sz="2200" dirty="0"/>
              <a:t>The volatile constituents of the JOG structure evaporate from the fuel pellet at high temperatures and condense to become solid at the cooler top or bottom of the fuel</a:t>
            </a:r>
          </a:p>
          <a:p>
            <a:r>
              <a:rPr lang="en-US" sz="2200" dirty="0"/>
              <a:t>It is believed that the existence of JOG aids in thermal transport of the fuel, as the oxide structures have higher thermal conductivity than a fuel-cladding gap filled with fission gases</a:t>
            </a:r>
          </a:p>
          <a:p>
            <a:endParaRPr lang="en-US" sz="2200" dirty="0"/>
          </a:p>
        </p:txBody>
      </p:sp>
      <p:pic>
        <p:nvPicPr>
          <p:cNvPr id="6" name="Content Placeholder 5">
            <a:extLst>
              <a:ext uri="{FF2B5EF4-FFF2-40B4-BE49-F238E27FC236}">
                <a16:creationId xmlns:a16="http://schemas.microsoft.com/office/drawing/2014/main" id="{6F523490-3C9F-D74C-A262-21A623B00206}"/>
              </a:ext>
            </a:extLst>
          </p:cNvPr>
          <p:cNvPicPr>
            <a:picLocks noGrp="1" noChangeAspect="1"/>
          </p:cNvPicPr>
          <p:nvPr>
            <p:ph sz="half" idx="2"/>
          </p:nvPr>
        </p:nvPicPr>
        <p:blipFill>
          <a:blip r:embed="rId2"/>
          <a:stretch>
            <a:fillRect/>
          </a:stretch>
        </p:blipFill>
        <p:spPr>
          <a:xfrm>
            <a:off x="6197599" y="1589809"/>
            <a:ext cx="5915295" cy="4510531"/>
          </a:xfrm>
          <a:prstGeom prst="rect">
            <a:avLst/>
          </a:prstGeom>
        </p:spPr>
      </p:pic>
      <p:sp>
        <p:nvSpPr>
          <p:cNvPr id="5" name="Slide Number Placeholder 4">
            <a:extLst>
              <a:ext uri="{FF2B5EF4-FFF2-40B4-BE49-F238E27FC236}">
                <a16:creationId xmlns:a16="http://schemas.microsoft.com/office/drawing/2014/main" id="{F1B2191A-DB31-A547-AE55-3FA147A12B5F}"/>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spTree>
    <p:extLst>
      <p:ext uri="{BB962C8B-B14F-4D97-AF65-F5344CB8AC3E}">
        <p14:creationId xmlns:p14="http://schemas.microsoft.com/office/powerpoint/2010/main" val="3392732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38C29-A150-F7AF-8201-AC01F0B14AB8}"/>
              </a:ext>
            </a:extLst>
          </p:cNvPr>
          <p:cNvSpPr>
            <a:spLocks noGrp="1"/>
          </p:cNvSpPr>
          <p:nvPr>
            <p:ph type="title"/>
          </p:nvPr>
        </p:nvSpPr>
        <p:spPr/>
        <p:txBody>
          <a:bodyPr/>
          <a:lstStyle/>
          <a:p>
            <a:r>
              <a:rPr lang="en-US" dirty="0"/>
              <a:t>Joint Oxide Gain</a:t>
            </a:r>
          </a:p>
        </p:txBody>
      </p:sp>
      <p:sp>
        <p:nvSpPr>
          <p:cNvPr id="3" name="Content Placeholder 2">
            <a:extLst>
              <a:ext uri="{FF2B5EF4-FFF2-40B4-BE49-F238E27FC236}">
                <a16:creationId xmlns:a16="http://schemas.microsoft.com/office/drawing/2014/main" id="{60F05048-521C-0C93-5762-C681FD714629}"/>
              </a:ext>
            </a:extLst>
          </p:cNvPr>
          <p:cNvSpPr>
            <a:spLocks noGrp="1"/>
          </p:cNvSpPr>
          <p:nvPr>
            <p:ph sz="half" idx="1"/>
          </p:nvPr>
        </p:nvSpPr>
        <p:spPr>
          <a:xfrm>
            <a:off x="609600" y="1968503"/>
            <a:ext cx="5133196" cy="4157663"/>
          </a:xfrm>
        </p:spPr>
        <p:txBody>
          <a:bodyPr/>
          <a:lstStyle/>
          <a:p>
            <a:r>
              <a:rPr lang="en-US" sz="2400" dirty="0"/>
              <a:t>JOG acts as a mechanical buffer, limiting the amount of PCMI, or stresses in the cladding</a:t>
            </a:r>
          </a:p>
          <a:p>
            <a:r>
              <a:rPr lang="en-US" sz="2400" dirty="0"/>
              <a:t>JOG reduces fuel swelling, by allowing fission products to leave the fuel into a preferable chemical state</a:t>
            </a:r>
          </a:p>
          <a:p>
            <a:r>
              <a:rPr lang="en-US" sz="2400" dirty="0"/>
              <a:t>Fission products in the JOG play a predominant role on FCCI and on the resulting strong cladding corrosion</a:t>
            </a:r>
          </a:p>
          <a:p>
            <a:endParaRPr lang="en-US" sz="2400" dirty="0"/>
          </a:p>
        </p:txBody>
      </p:sp>
      <p:pic>
        <p:nvPicPr>
          <p:cNvPr id="6" name="Content Placeholder 5">
            <a:extLst>
              <a:ext uri="{FF2B5EF4-FFF2-40B4-BE49-F238E27FC236}">
                <a16:creationId xmlns:a16="http://schemas.microsoft.com/office/drawing/2014/main" id="{8DBBE775-7F3D-61E1-5204-9DD3DFBEFE08}"/>
              </a:ext>
            </a:extLst>
          </p:cNvPr>
          <p:cNvPicPr>
            <a:picLocks noGrp="1" noChangeAspect="1"/>
          </p:cNvPicPr>
          <p:nvPr>
            <p:ph sz="half" idx="2"/>
          </p:nvPr>
        </p:nvPicPr>
        <p:blipFill>
          <a:blip r:embed="rId2"/>
          <a:stretch>
            <a:fillRect/>
          </a:stretch>
        </p:blipFill>
        <p:spPr>
          <a:xfrm>
            <a:off x="6275975" y="1614196"/>
            <a:ext cx="5673570" cy="4511968"/>
          </a:xfrm>
          <a:prstGeom prst="rect">
            <a:avLst/>
          </a:prstGeom>
        </p:spPr>
      </p:pic>
      <p:sp>
        <p:nvSpPr>
          <p:cNvPr id="5" name="Slide Number Placeholder 4">
            <a:extLst>
              <a:ext uri="{FF2B5EF4-FFF2-40B4-BE49-F238E27FC236}">
                <a16:creationId xmlns:a16="http://schemas.microsoft.com/office/drawing/2014/main" id="{BE207629-50D0-DB6D-55F4-D4F1C73C10C1}"/>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spTree>
    <p:extLst>
      <p:ext uri="{BB962C8B-B14F-4D97-AF65-F5344CB8AC3E}">
        <p14:creationId xmlns:p14="http://schemas.microsoft.com/office/powerpoint/2010/main" val="7242893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60A996-1D29-8D4D-A912-9F041F791FC4}"/>
              </a:ext>
            </a:extLst>
          </p:cNvPr>
          <p:cNvSpPr>
            <a:spLocks noGrp="1"/>
          </p:cNvSpPr>
          <p:nvPr>
            <p:ph type="title"/>
          </p:nvPr>
        </p:nvSpPr>
        <p:spPr/>
        <p:txBody>
          <a:bodyPr/>
          <a:lstStyle/>
          <a:p>
            <a:r>
              <a:rPr lang="en-US" dirty="0"/>
              <a:t>MOX FCCI</a:t>
            </a:r>
          </a:p>
        </p:txBody>
      </p:sp>
      <p:sp>
        <p:nvSpPr>
          <p:cNvPr id="3" name="Content Placeholder 2">
            <a:extLst>
              <a:ext uri="{FF2B5EF4-FFF2-40B4-BE49-F238E27FC236}">
                <a16:creationId xmlns:a16="http://schemas.microsoft.com/office/drawing/2014/main" id="{78A8BA7E-7D5A-3945-9DC0-F2FEDBE21D48}"/>
              </a:ext>
            </a:extLst>
          </p:cNvPr>
          <p:cNvSpPr>
            <a:spLocks noGrp="1"/>
          </p:cNvSpPr>
          <p:nvPr>
            <p:ph sz="half" idx="1"/>
          </p:nvPr>
        </p:nvSpPr>
        <p:spPr>
          <a:xfrm>
            <a:off x="609599" y="1968503"/>
            <a:ext cx="6497783" cy="4157663"/>
          </a:xfrm>
        </p:spPr>
        <p:txBody>
          <a:bodyPr/>
          <a:lstStyle/>
          <a:p>
            <a:r>
              <a:rPr lang="en-US" sz="2000" dirty="0"/>
              <a:t>While T is too low in LWRs with MOX to initiate FCCI, in SFRs with MOX, the cladding inner surface temperature can reach sufficiently high temperatures under normal operating conditions to initiate detrimental oxidation and chemical attack</a:t>
            </a:r>
          </a:p>
          <a:p>
            <a:r>
              <a:rPr lang="en-US" sz="2000" dirty="0"/>
              <a:t>FCCI manifests itself in three primary modes: matrix attack, intergranular attack, or combined, which demonstrates the properties of both matrix and intergranular attack</a:t>
            </a:r>
          </a:p>
          <a:p>
            <a:r>
              <a:rPr lang="en-US" sz="2000" dirty="0"/>
              <a:t>Matrix FCCI attack corresponds to the localized oxidation of the cladding material, with primarily oxidation of the Cr in the stainless steel</a:t>
            </a:r>
          </a:p>
          <a:p>
            <a:endParaRPr lang="en-US" sz="2000" dirty="0"/>
          </a:p>
          <a:p>
            <a:endParaRPr lang="en-US" sz="2000" dirty="0"/>
          </a:p>
        </p:txBody>
      </p:sp>
      <p:pic>
        <p:nvPicPr>
          <p:cNvPr id="6" name="Content Placeholder 5">
            <a:extLst>
              <a:ext uri="{FF2B5EF4-FFF2-40B4-BE49-F238E27FC236}">
                <a16:creationId xmlns:a16="http://schemas.microsoft.com/office/drawing/2014/main" id="{96C309C8-B1E8-3044-953E-EE3DE70B136A}"/>
              </a:ext>
            </a:extLst>
          </p:cNvPr>
          <p:cNvPicPr>
            <a:picLocks noGrp="1" noChangeAspect="1"/>
          </p:cNvPicPr>
          <p:nvPr>
            <p:ph sz="half" idx="2"/>
          </p:nvPr>
        </p:nvPicPr>
        <p:blipFill>
          <a:blip r:embed="rId2"/>
          <a:stretch>
            <a:fillRect/>
          </a:stretch>
        </p:blipFill>
        <p:spPr>
          <a:xfrm>
            <a:off x="7461236" y="1800224"/>
            <a:ext cx="4245855" cy="4157663"/>
          </a:xfrm>
          <a:prstGeom prst="rect">
            <a:avLst/>
          </a:prstGeom>
        </p:spPr>
      </p:pic>
      <p:sp>
        <p:nvSpPr>
          <p:cNvPr id="5" name="Slide Number Placeholder 4">
            <a:extLst>
              <a:ext uri="{FF2B5EF4-FFF2-40B4-BE49-F238E27FC236}">
                <a16:creationId xmlns:a16="http://schemas.microsoft.com/office/drawing/2014/main" id="{D121CB91-AAB8-1D4E-87F6-7CC58FC4FD0D}"/>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spTree>
    <p:extLst>
      <p:ext uri="{BB962C8B-B14F-4D97-AF65-F5344CB8AC3E}">
        <p14:creationId xmlns:p14="http://schemas.microsoft.com/office/powerpoint/2010/main" val="10412785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60A996-1D29-8D4D-A912-9F041F791FC4}"/>
              </a:ext>
            </a:extLst>
          </p:cNvPr>
          <p:cNvSpPr>
            <a:spLocks noGrp="1"/>
          </p:cNvSpPr>
          <p:nvPr>
            <p:ph type="title"/>
          </p:nvPr>
        </p:nvSpPr>
        <p:spPr/>
        <p:txBody>
          <a:bodyPr/>
          <a:lstStyle/>
          <a:p>
            <a:r>
              <a:rPr lang="en-US" dirty="0"/>
              <a:t>MOX FCCI</a:t>
            </a:r>
          </a:p>
        </p:txBody>
      </p:sp>
      <p:sp>
        <p:nvSpPr>
          <p:cNvPr id="3" name="Content Placeholder 2">
            <a:extLst>
              <a:ext uri="{FF2B5EF4-FFF2-40B4-BE49-F238E27FC236}">
                <a16:creationId xmlns:a16="http://schemas.microsoft.com/office/drawing/2014/main" id="{78A8BA7E-7D5A-3945-9DC0-F2FEDBE21D48}"/>
              </a:ext>
            </a:extLst>
          </p:cNvPr>
          <p:cNvSpPr>
            <a:spLocks noGrp="1"/>
          </p:cNvSpPr>
          <p:nvPr>
            <p:ph sz="half" idx="1"/>
          </p:nvPr>
        </p:nvSpPr>
        <p:spPr>
          <a:xfrm>
            <a:off x="609599" y="1968503"/>
            <a:ext cx="5738649" cy="4157663"/>
          </a:xfrm>
        </p:spPr>
        <p:txBody>
          <a:bodyPr/>
          <a:lstStyle/>
          <a:p>
            <a:r>
              <a:rPr lang="en-US" sz="2000" dirty="0"/>
              <a:t>Intergranular attack modes occur due to the depletion of Cr in grain boundaries due to the formation of Cr23C6 carbides allowing penetration of corrosive species</a:t>
            </a:r>
          </a:p>
          <a:p>
            <a:r>
              <a:rPr lang="en-US" sz="2000" dirty="0"/>
              <a:t>Oxygen and volatile fission products (Cs, </a:t>
            </a:r>
            <a:r>
              <a:rPr lang="en-US" sz="2000" dirty="0" err="1"/>
              <a:t>Te</a:t>
            </a:r>
            <a:r>
              <a:rPr lang="en-US" sz="2000" dirty="0"/>
              <a:t>, I, etc.) are the primary culprits of FCCI initiation in oxide fuel systems</a:t>
            </a:r>
          </a:p>
          <a:p>
            <a:r>
              <a:rPr lang="en-US" sz="2000" dirty="0"/>
              <a:t>In MOX fuels, the oxygen potential of the system is the greatest difference from LWR UO2</a:t>
            </a:r>
          </a:p>
          <a:p>
            <a:r>
              <a:rPr lang="en-US" sz="2000" dirty="0"/>
              <a:t>The preferential formation of noble metals rather than oxide formers leads to an excess of available oxygen in the system</a:t>
            </a:r>
          </a:p>
          <a:p>
            <a:endParaRPr lang="en-US" sz="2000" dirty="0"/>
          </a:p>
          <a:p>
            <a:endParaRPr lang="en-US" sz="2000" dirty="0"/>
          </a:p>
          <a:p>
            <a:endParaRPr lang="en-US" sz="2000" dirty="0"/>
          </a:p>
          <a:p>
            <a:endParaRPr lang="en-US" sz="2000" dirty="0"/>
          </a:p>
        </p:txBody>
      </p:sp>
      <p:pic>
        <p:nvPicPr>
          <p:cNvPr id="9" name="Content Placeholder 8">
            <a:extLst>
              <a:ext uri="{FF2B5EF4-FFF2-40B4-BE49-F238E27FC236}">
                <a16:creationId xmlns:a16="http://schemas.microsoft.com/office/drawing/2014/main" id="{2742A9BD-7832-5344-803D-02C91FBF28CA}"/>
              </a:ext>
            </a:extLst>
          </p:cNvPr>
          <p:cNvPicPr>
            <a:picLocks noGrp="1" noChangeAspect="1"/>
          </p:cNvPicPr>
          <p:nvPr>
            <p:ph sz="half" idx="2"/>
          </p:nvPr>
        </p:nvPicPr>
        <p:blipFill>
          <a:blip r:embed="rId2"/>
          <a:stretch>
            <a:fillRect/>
          </a:stretch>
        </p:blipFill>
        <p:spPr>
          <a:xfrm>
            <a:off x="6781800" y="1970881"/>
            <a:ext cx="4216400" cy="4152900"/>
          </a:xfrm>
          <a:prstGeom prst="rect">
            <a:avLst/>
          </a:prstGeom>
        </p:spPr>
      </p:pic>
      <p:sp>
        <p:nvSpPr>
          <p:cNvPr id="5" name="Slide Number Placeholder 4">
            <a:extLst>
              <a:ext uri="{FF2B5EF4-FFF2-40B4-BE49-F238E27FC236}">
                <a16:creationId xmlns:a16="http://schemas.microsoft.com/office/drawing/2014/main" id="{D121CB91-AAB8-1D4E-87F6-7CC58FC4FD0D}"/>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spTree>
    <p:extLst>
      <p:ext uri="{BB962C8B-B14F-4D97-AF65-F5344CB8AC3E}">
        <p14:creationId xmlns:p14="http://schemas.microsoft.com/office/powerpoint/2010/main" val="34230108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6A8BE-71EE-ED46-92F3-14308525C58D}"/>
              </a:ext>
            </a:extLst>
          </p:cNvPr>
          <p:cNvSpPr>
            <a:spLocks noGrp="1"/>
          </p:cNvSpPr>
          <p:nvPr>
            <p:ph type="title"/>
          </p:nvPr>
        </p:nvSpPr>
        <p:spPr/>
        <p:txBody>
          <a:bodyPr/>
          <a:lstStyle/>
          <a:p>
            <a:r>
              <a:rPr lang="en-US" dirty="0"/>
              <a:t>MOX FCCI</a:t>
            </a:r>
          </a:p>
        </p:txBody>
      </p:sp>
      <p:sp>
        <p:nvSpPr>
          <p:cNvPr id="3" name="Content Placeholder 2">
            <a:extLst>
              <a:ext uri="{FF2B5EF4-FFF2-40B4-BE49-F238E27FC236}">
                <a16:creationId xmlns:a16="http://schemas.microsoft.com/office/drawing/2014/main" id="{5780C6AA-3F7C-6B42-A3C7-16F5392C52CF}"/>
              </a:ext>
            </a:extLst>
          </p:cNvPr>
          <p:cNvSpPr>
            <a:spLocks noGrp="1"/>
          </p:cNvSpPr>
          <p:nvPr>
            <p:ph sz="half" idx="1"/>
          </p:nvPr>
        </p:nvSpPr>
        <p:spPr/>
        <p:txBody>
          <a:bodyPr/>
          <a:lstStyle/>
          <a:p>
            <a:r>
              <a:rPr lang="en-US" sz="2000" dirty="0"/>
              <a:t>Under normal operation, stainless steel cladding forms a chromia (Cr2O3) layer that acts to protect the cladding from corrosion </a:t>
            </a:r>
          </a:p>
          <a:p>
            <a:r>
              <a:rPr lang="en-US" sz="2000" dirty="0"/>
              <a:t>Cs is generally unreactive with stainless steel claddings, but reacts with the protective oxide layer to create Cs-chromates (Cs2CrO4 or Cs2Cr2O7) when excess oxygen is present</a:t>
            </a:r>
          </a:p>
          <a:p>
            <a:r>
              <a:rPr lang="en-US" sz="2000" dirty="0"/>
              <a:t>The decay of the protective oxide layer causes deeper penetration of the FCCI into the cladding</a:t>
            </a:r>
          </a:p>
          <a:p>
            <a:endParaRPr lang="en-US" sz="2000" dirty="0"/>
          </a:p>
        </p:txBody>
      </p:sp>
      <p:sp>
        <p:nvSpPr>
          <p:cNvPr id="4" name="Content Placeholder 3">
            <a:extLst>
              <a:ext uri="{FF2B5EF4-FFF2-40B4-BE49-F238E27FC236}">
                <a16:creationId xmlns:a16="http://schemas.microsoft.com/office/drawing/2014/main" id="{4F122219-D24D-C94F-B0C5-99956CB05B7F}"/>
              </a:ext>
            </a:extLst>
          </p:cNvPr>
          <p:cNvSpPr>
            <a:spLocks noGrp="1"/>
          </p:cNvSpPr>
          <p:nvPr>
            <p:ph sz="half" idx="2"/>
          </p:nvPr>
        </p:nvSpPr>
        <p:spPr>
          <a:xfrm>
            <a:off x="6197600" y="1968503"/>
            <a:ext cx="5700110" cy="4157663"/>
          </a:xfrm>
        </p:spPr>
        <p:txBody>
          <a:bodyPr/>
          <a:lstStyle/>
          <a:p>
            <a:r>
              <a:rPr lang="en-US" sz="2000" dirty="0"/>
              <a:t>Iodine is primarily bound to Cs in the form of </a:t>
            </a:r>
            <a:r>
              <a:rPr lang="en-US" sz="2000" dirty="0" err="1"/>
              <a:t>CsI</a:t>
            </a:r>
            <a:r>
              <a:rPr lang="en-US" sz="2000" dirty="0"/>
              <a:t>, and can lead to an enhancement in oxidation in </a:t>
            </a:r>
            <a:r>
              <a:rPr lang="en-US" sz="2000" dirty="0" err="1"/>
              <a:t>hyperstoichiometric</a:t>
            </a:r>
            <a:r>
              <a:rPr lang="en-US" sz="2000" dirty="0"/>
              <a:t> fuels</a:t>
            </a:r>
          </a:p>
          <a:p>
            <a:r>
              <a:rPr lang="en-US" sz="2000" dirty="0"/>
              <a:t>Tellurium is highly active when combined with Cs to create Cs2Te, which can dissolve cladding constituents in the presence of high oxygen potential</a:t>
            </a:r>
          </a:p>
          <a:p>
            <a:r>
              <a:rPr lang="en-US" sz="2000" dirty="0"/>
              <a:t>The O/M ratio of the fuel before and during irradiation are significant factors, and FCCI can potentially be limited by operating with a </a:t>
            </a:r>
            <a:r>
              <a:rPr lang="en-US" sz="2000" dirty="0" err="1"/>
              <a:t>hypostoichiometric</a:t>
            </a:r>
            <a:r>
              <a:rPr lang="en-US" sz="2000" dirty="0"/>
              <a:t> initial fuel composition</a:t>
            </a:r>
          </a:p>
        </p:txBody>
      </p:sp>
      <p:sp>
        <p:nvSpPr>
          <p:cNvPr id="5" name="Slide Number Placeholder 4">
            <a:extLst>
              <a:ext uri="{FF2B5EF4-FFF2-40B4-BE49-F238E27FC236}">
                <a16:creationId xmlns:a16="http://schemas.microsoft.com/office/drawing/2014/main" id="{11B1FEDF-B9D7-8D42-BB11-3522F97DDCC9}"/>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spTree>
    <p:extLst>
      <p:ext uri="{BB962C8B-B14F-4D97-AF65-F5344CB8AC3E}">
        <p14:creationId xmlns:p14="http://schemas.microsoft.com/office/powerpoint/2010/main" val="2731275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31969-4403-8A42-98B4-FE0B32DD14D2}"/>
              </a:ext>
            </a:extLst>
          </p:cNvPr>
          <p:cNvSpPr>
            <a:spLocks noGrp="1"/>
          </p:cNvSpPr>
          <p:nvPr>
            <p:ph type="title"/>
          </p:nvPr>
        </p:nvSpPr>
        <p:spPr/>
        <p:txBody>
          <a:bodyPr/>
          <a:lstStyle/>
          <a:p>
            <a:r>
              <a:rPr lang="en-US" dirty="0"/>
              <a:t>MOX Summary</a:t>
            </a:r>
          </a:p>
        </p:txBody>
      </p:sp>
      <p:sp>
        <p:nvSpPr>
          <p:cNvPr id="3" name="Content Placeholder 2">
            <a:extLst>
              <a:ext uri="{FF2B5EF4-FFF2-40B4-BE49-F238E27FC236}">
                <a16:creationId xmlns:a16="http://schemas.microsoft.com/office/drawing/2014/main" id="{29C85F92-BE47-B44D-ADDD-589941230655}"/>
              </a:ext>
            </a:extLst>
          </p:cNvPr>
          <p:cNvSpPr>
            <a:spLocks noGrp="1"/>
          </p:cNvSpPr>
          <p:nvPr>
            <p:ph sz="half" idx="1"/>
          </p:nvPr>
        </p:nvSpPr>
        <p:spPr>
          <a:xfrm>
            <a:off x="609600" y="1968503"/>
            <a:ext cx="10972800" cy="4157663"/>
          </a:xfrm>
        </p:spPr>
        <p:txBody>
          <a:bodyPr/>
          <a:lstStyle/>
          <a:p>
            <a:r>
              <a:rPr lang="en-US" sz="2400" dirty="0"/>
              <a:t>Phenomena of interest: Restructuring, O and Pu redistribution, Pu agglomerates, fission product chemistries, JOG formation, and FCCI</a:t>
            </a:r>
          </a:p>
          <a:p>
            <a:r>
              <a:rPr lang="en-US" sz="2400" dirty="0"/>
              <a:t>O/M ratio is one of the most significant factors in determining the nature of actinide redistribution, fission product precipitate chemistries, and FCCI formation</a:t>
            </a:r>
          </a:p>
          <a:p>
            <a:r>
              <a:rPr lang="en-US" sz="2400" dirty="0"/>
              <a:t>The effects of fission product precipitates and Pu agglomerates on fuel thermal behavior is highly localized with little discernible influence on the overall fuel burnup behavior</a:t>
            </a:r>
          </a:p>
          <a:p>
            <a:endParaRPr lang="en-US" sz="2400" dirty="0"/>
          </a:p>
        </p:txBody>
      </p:sp>
      <p:sp>
        <p:nvSpPr>
          <p:cNvPr id="5" name="Slide Number Placeholder 4">
            <a:extLst>
              <a:ext uri="{FF2B5EF4-FFF2-40B4-BE49-F238E27FC236}">
                <a16:creationId xmlns:a16="http://schemas.microsoft.com/office/drawing/2014/main" id="{2D2F797F-F6CD-934E-87DD-23006FE5CEA2}"/>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a:p>
        </p:txBody>
      </p:sp>
    </p:spTree>
    <p:extLst>
      <p:ext uri="{BB962C8B-B14F-4D97-AF65-F5344CB8AC3E}">
        <p14:creationId xmlns:p14="http://schemas.microsoft.com/office/powerpoint/2010/main" val="36140500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Sodium coolant</a:t>
            </a:r>
          </a:p>
        </p:txBody>
      </p:sp>
      <p:sp>
        <p:nvSpPr>
          <p:cNvPr id="3" name="Slide Number Placeholder 2">
            <a:extLst>
              <a:ext uri="{FF2B5EF4-FFF2-40B4-BE49-F238E27FC236}">
                <a16:creationId xmlns:a16="http://schemas.microsoft.com/office/drawing/2014/main" id="{8C13F456-584A-824C-B8DE-78755B7103C2}"/>
              </a:ext>
            </a:extLst>
          </p:cNvPr>
          <p:cNvSpPr>
            <a:spLocks noGrp="1"/>
          </p:cNvSpPr>
          <p:nvPr>
            <p:ph type="sldNum" sz="quarter" idx="12"/>
          </p:nvPr>
        </p:nvSpPr>
        <p:spPr/>
        <p:txBody>
          <a:bodyPr/>
          <a:lstStyle/>
          <a:p>
            <a:pPr>
              <a:defRPr/>
            </a:pPr>
            <a:fld id="{0DA6BD0F-ABBC-C14D-BC96-77BE126A748B}" type="slidenum">
              <a:rPr lang="en-US" smtClean="0"/>
              <a:pPr>
                <a:defRPr/>
              </a:pPr>
              <a:t>21</a:t>
            </a:fld>
            <a:endParaRPr lang="en-US"/>
          </a:p>
        </p:txBody>
      </p:sp>
    </p:spTree>
    <p:extLst>
      <p:ext uri="{BB962C8B-B14F-4D97-AF65-F5344CB8AC3E}">
        <p14:creationId xmlns:p14="http://schemas.microsoft.com/office/powerpoint/2010/main" val="35586485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7CBA7-244E-2742-8A82-38A7C55165D4}"/>
              </a:ext>
            </a:extLst>
          </p:cNvPr>
          <p:cNvSpPr>
            <a:spLocks noGrp="1"/>
          </p:cNvSpPr>
          <p:nvPr>
            <p:ph type="title"/>
          </p:nvPr>
        </p:nvSpPr>
        <p:spPr/>
        <p:txBody>
          <a:bodyPr/>
          <a:lstStyle/>
          <a:p>
            <a:r>
              <a:rPr lang="en-US" dirty="0"/>
              <a:t>Liquid Metal Coolants</a:t>
            </a:r>
          </a:p>
        </p:txBody>
      </p:sp>
      <p:sp>
        <p:nvSpPr>
          <p:cNvPr id="3" name="Content Placeholder 2">
            <a:extLst>
              <a:ext uri="{FF2B5EF4-FFF2-40B4-BE49-F238E27FC236}">
                <a16:creationId xmlns:a16="http://schemas.microsoft.com/office/drawing/2014/main" id="{95EC59BB-8940-7141-A266-5E5ECEA7CA03}"/>
              </a:ext>
            </a:extLst>
          </p:cNvPr>
          <p:cNvSpPr>
            <a:spLocks noGrp="1"/>
          </p:cNvSpPr>
          <p:nvPr>
            <p:ph sz="half" idx="1"/>
          </p:nvPr>
        </p:nvSpPr>
        <p:spPr>
          <a:xfrm>
            <a:off x="609600" y="1968504"/>
            <a:ext cx="10612582" cy="1787424"/>
          </a:xfrm>
        </p:spPr>
        <p:txBody>
          <a:bodyPr/>
          <a:lstStyle/>
          <a:p>
            <a:r>
              <a:rPr lang="en-US" sz="2100" dirty="0"/>
              <a:t>Liquid metals (LM), such as sodium (Na), lead (Pb), and lead–bismuth (Pb–Bi) eutectic, are considered as potential coolants for the fast spectrum nuclear reactors of the next generation</a:t>
            </a:r>
          </a:p>
          <a:p>
            <a:r>
              <a:rPr lang="en-US" sz="2100" dirty="0"/>
              <a:t>The main advantages of Na coolant in comparison with Pb are the lower melting temperature, density, and dynamic viscosity and the higher thermal and electrical conductivities</a:t>
            </a:r>
          </a:p>
        </p:txBody>
      </p:sp>
      <p:pic>
        <p:nvPicPr>
          <p:cNvPr id="6" name="Content Placeholder 5">
            <a:extLst>
              <a:ext uri="{FF2B5EF4-FFF2-40B4-BE49-F238E27FC236}">
                <a16:creationId xmlns:a16="http://schemas.microsoft.com/office/drawing/2014/main" id="{CCF40845-2C40-7D4B-8C00-AAB2855E17D6}"/>
              </a:ext>
            </a:extLst>
          </p:cNvPr>
          <p:cNvPicPr>
            <a:picLocks noGrp="1" noChangeAspect="1"/>
          </p:cNvPicPr>
          <p:nvPr>
            <p:ph sz="half" idx="2"/>
          </p:nvPr>
        </p:nvPicPr>
        <p:blipFill>
          <a:blip r:embed="rId2"/>
          <a:stretch>
            <a:fillRect/>
          </a:stretch>
        </p:blipFill>
        <p:spPr>
          <a:xfrm>
            <a:off x="1870841" y="4036272"/>
            <a:ext cx="8089462" cy="2685205"/>
          </a:xfrm>
          <a:prstGeom prst="rect">
            <a:avLst/>
          </a:prstGeom>
        </p:spPr>
      </p:pic>
      <p:sp>
        <p:nvSpPr>
          <p:cNvPr id="5" name="Slide Number Placeholder 4">
            <a:extLst>
              <a:ext uri="{FF2B5EF4-FFF2-40B4-BE49-F238E27FC236}">
                <a16:creationId xmlns:a16="http://schemas.microsoft.com/office/drawing/2014/main" id="{7A87E258-6803-BB49-9CDB-AAB54D249ACA}"/>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spTree>
    <p:extLst>
      <p:ext uri="{BB962C8B-B14F-4D97-AF65-F5344CB8AC3E}">
        <p14:creationId xmlns:p14="http://schemas.microsoft.com/office/powerpoint/2010/main" val="37436288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6A683C-027F-DA43-9916-565005F8CD91}"/>
              </a:ext>
            </a:extLst>
          </p:cNvPr>
          <p:cNvSpPr>
            <a:spLocks noGrp="1"/>
          </p:cNvSpPr>
          <p:nvPr>
            <p:ph type="title"/>
          </p:nvPr>
        </p:nvSpPr>
        <p:spPr/>
        <p:txBody>
          <a:bodyPr/>
          <a:lstStyle/>
          <a:p>
            <a:r>
              <a:rPr lang="en-US" dirty="0"/>
              <a:t>Sodium</a:t>
            </a:r>
          </a:p>
        </p:txBody>
      </p:sp>
      <p:sp>
        <p:nvSpPr>
          <p:cNvPr id="3" name="Content Placeholder 2">
            <a:extLst>
              <a:ext uri="{FF2B5EF4-FFF2-40B4-BE49-F238E27FC236}">
                <a16:creationId xmlns:a16="http://schemas.microsoft.com/office/drawing/2014/main" id="{A9D49355-732C-AF48-88D0-DADBF4CD9B08}"/>
              </a:ext>
            </a:extLst>
          </p:cNvPr>
          <p:cNvSpPr>
            <a:spLocks noGrp="1"/>
          </p:cNvSpPr>
          <p:nvPr>
            <p:ph sz="half" idx="1"/>
          </p:nvPr>
        </p:nvSpPr>
        <p:spPr/>
        <p:txBody>
          <a:bodyPr/>
          <a:lstStyle/>
          <a:p>
            <a:r>
              <a:rPr lang="en-US" sz="2200" dirty="0"/>
              <a:t>Sodium is a solid at room temperature; melting point is 98 C; boiling point is 881 C</a:t>
            </a:r>
          </a:p>
          <a:p>
            <a:r>
              <a:rPr lang="en-US" sz="2200" dirty="0"/>
              <a:t>Therefore, sodium is in the liquid phase at FR operating temperatures without pressurization</a:t>
            </a:r>
          </a:p>
          <a:p>
            <a:r>
              <a:rPr lang="en-US" sz="2200" dirty="0"/>
              <a:t>For this reason, it is not necessary to adopt the pressurized design employed in light water reactors for SFRs (SFRs operate near atmospheric pressure)</a:t>
            </a:r>
          </a:p>
          <a:p>
            <a:endParaRPr lang="en-US" sz="2200" dirty="0"/>
          </a:p>
        </p:txBody>
      </p:sp>
      <p:sp>
        <p:nvSpPr>
          <p:cNvPr id="4" name="Content Placeholder 3">
            <a:extLst>
              <a:ext uri="{FF2B5EF4-FFF2-40B4-BE49-F238E27FC236}">
                <a16:creationId xmlns:a16="http://schemas.microsoft.com/office/drawing/2014/main" id="{AC6C5F63-5F3D-AA49-9F2B-E1CC8ABC2C66}"/>
              </a:ext>
            </a:extLst>
          </p:cNvPr>
          <p:cNvSpPr>
            <a:spLocks noGrp="1"/>
          </p:cNvSpPr>
          <p:nvPr>
            <p:ph sz="half" idx="2"/>
          </p:nvPr>
        </p:nvSpPr>
        <p:spPr/>
        <p:txBody>
          <a:bodyPr/>
          <a:lstStyle/>
          <a:p>
            <a:r>
              <a:rPr lang="en-US" sz="2200" dirty="0"/>
              <a:t>Sodium is a great heat transfer medium due to high thermal conductivity, high heat capacity, and large liquid range </a:t>
            </a:r>
          </a:p>
          <a:p>
            <a:r>
              <a:rPr lang="en-US" sz="2200" dirty="0"/>
              <a:t>Allows for high power density core and low coolant fraction</a:t>
            </a:r>
          </a:p>
          <a:p>
            <a:r>
              <a:rPr lang="en-US" sz="2200" dirty="0"/>
              <a:t>Na has insignificant neutron moderation, making it suitable for the coolant for the FBR</a:t>
            </a:r>
          </a:p>
          <a:p>
            <a:r>
              <a:rPr lang="en-US" sz="2200" dirty="0"/>
              <a:t>The weakness of sodium as a coolant is its reactivity with oxygen and/or water</a:t>
            </a:r>
          </a:p>
          <a:p>
            <a:endParaRPr lang="en-US" sz="2200" dirty="0"/>
          </a:p>
        </p:txBody>
      </p:sp>
      <p:sp>
        <p:nvSpPr>
          <p:cNvPr id="5" name="Slide Number Placeholder 4">
            <a:extLst>
              <a:ext uri="{FF2B5EF4-FFF2-40B4-BE49-F238E27FC236}">
                <a16:creationId xmlns:a16="http://schemas.microsoft.com/office/drawing/2014/main" id="{3679DB4B-55B2-6D43-8474-A44525DE08D1}"/>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dirty="0"/>
          </a:p>
        </p:txBody>
      </p:sp>
    </p:spTree>
    <p:extLst>
      <p:ext uri="{BB962C8B-B14F-4D97-AF65-F5344CB8AC3E}">
        <p14:creationId xmlns:p14="http://schemas.microsoft.com/office/powerpoint/2010/main" val="20566517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9D82E-EBE3-EB46-AD8E-A3DC923B5B95}"/>
              </a:ext>
            </a:extLst>
          </p:cNvPr>
          <p:cNvSpPr>
            <a:spLocks noGrp="1"/>
          </p:cNvSpPr>
          <p:nvPr>
            <p:ph type="title"/>
          </p:nvPr>
        </p:nvSpPr>
        <p:spPr/>
        <p:txBody>
          <a:bodyPr/>
          <a:lstStyle/>
          <a:p>
            <a:r>
              <a:rPr lang="en-US" dirty="0"/>
              <a:t>Structural Material Selection for Na</a:t>
            </a:r>
          </a:p>
        </p:txBody>
      </p:sp>
      <p:sp>
        <p:nvSpPr>
          <p:cNvPr id="3" name="Content Placeholder 2">
            <a:extLst>
              <a:ext uri="{FF2B5EF4-FFF2-40B4-BE49-F238E27FC236}">
                <a16:creationId xmlns:a16="http://schemas.microsoft.com/office/drawing/2014/main" id="{50F026EB-A1A5-4544-8249-55E7796EC8E9}"/>
              </a:ext>
            </a:extLst>
          </p:cNvPr>
          <p:cNvSpPr>
            <a:spLocks noGrp="1"/>
          </p:cNvSpPr>
          <p:nvPr>
            <p:ph sz="half" idx="1"/>
          </p:nvPr>
        </p:nvSpPr>
        <p:spPr/>
        <p:txBody>
          <a:bodyPr/>
          <a:lstStyle/>
          <a:p>
            <a:r>
              <a:rPr lang="en-US" sz="2200" dirty="0"/>
              <a:t>It is necessary to take the environment into consideration by estimating the mechanical properties and thermal characteristics</a:t>
            </a:r>
          </a:p>
          <a:p>
            <a:r>
              <a:rPr lang="en-US" sz="2200" dirty="0"/>
              <a:t>Environments specific to the SFR components include: (a) contact with the coolant, (b) high temperature at which the creep effects must be taken into account, and (c) neutron irradiation</a:t>
            </a:r>
          </a:p>
          <a:p>
            <a:endParaRPr lang="en-US" sz="2200" dirty="0"/>
          </a:p>
          <a:p>
            <a:endParaRPr lang="en-US" sz="2200" dirty="0"/>
          </a:p>
        </p:txBody>
      </p:sp>
      <p:sp>
        <p:nvSpPr>
          <p:cNvPr id="4" name="Content Placeholder 3">
            <a:extLst>
              <a:ext uri="{FF2B5EF4-FFF2-40B4-BE49-F238E27FC236}">
                <a16:creationId xmlns:a16="http://schemas.microsoft.com/office/drawing/2014/main" id="{C3218D9D-46F1-CD4C-9C78-E1769806AE9B}"/>
              </a:ext>
            </a:extLst>
          </p:cNvPr>
          <p:cNvSpPr>
            <a:spLocks noGrp="1"/>
          </p:cNvSpPr>
          <p:nvPr>
            <p:ph sz="half" idx="2"/>
          </p:nvPr>
        </p:nvSpPr>
        <p:spPr/>
        <p:txBody>
          <a:bodyPr/>
          <a:lstStyle/>
          <a:p>
            <a:r>
              <a:rPr lang="en-US" sz="2200" dirty="0"/>
              <a:t>The dissolution of elements contained in the material, such as iron, chromium, and nickel, in sodium and the reverse phenomenon (deposition) occur on the material surface due to the difference in chemical potential</a:t>
            </a:r>
          </a:p>
          <a:p>
            <a:r>
              <a:rPr lang="en-US" sz="2200" dirty="0"/>
              <a:t>The behavior is fundamentally controlled by the solubility of the material elements in sodium and by the diffusion rate of the materials</a:t>
            </a:r>
          </a:p>
          <a:p>
            <a:endParaRPr lang="en-US" sz="2200" dirty="0"/>
          </a:p>
        </p:txBody>
      </p:sp>
      <p:sp>
        <p:nvSpPr>
          <p:cNvPr id="5" name="Slide Number Placeholder 4">
            <a:extLst>
              <a:ext uri="{FF2B5EF4-FFF2-40B4-BE49-F238E27FC236}">
                <a16:creationId xmlns:a16="http://schemas.microsoft.com/office/drawing/2014/main" id="{41C45C84-E3B6-9A43-B72E-AF4C9B8640F1}"/>
              </a:ext>
            </a:extLst>
          </p:cNvPr>
          <p:cNvSpPr>
            <a:spLocks noGrp="1"/>
          </p:cNvSpPr>
          <p:nvPr>
            <p:ph type="sldNum" sz="quarter" idx="12"/>
          </p:nvPr>
        </p:nvSpPr>
        <p:spPr/>
        <p:txBody>
          <a:bodyPr/>
          <a:lstStyle/>
          <a:p>
            <a:pPr>
              <a:defRPr/>
            </a:pPr>
            <a:fld id="{EC35E9FC-F6D5-0349-BBED-EA7D7A9BC49B}" type="slidenum">
              <a:rPr lang="en-US" smtClean="0"/>
              <a:pPr>
                <a:defRPr/>
              </a:pPr>
              <a:t>24</a:t>
            </a:fld>
            <a:endParaRPr lang="en-US" dirty="0"/>
          </a:p>
        </p:txBody>
      </p:sp>
    </p:spTree>
    <p:extLst>
      <p:ext uri="{BB962C8B-B14F-4D97-AF65-F5344CB8AC3E}">
        <p14:creationId xmlns:p14="http://schemas.microsoft.com/office/powerpoint/2010/main" val="32992805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33C72C-34F4-F1FE-EFBD-A3F4BED58555}"/>
              </a:ext>
            </a:extLst>
          </p:cNvPr>
          <p:cNvSpPr>
            <a:spLocks noGrp="1"/>
          </p:cNvSpPr>
          <p:nvPr>
            <p:ph type="title"/>
          </p:nvPr>
        </p:nvSpPr>
        <p:spPr/>
        <p:txBody>
          <a:bodyPr/>
          <a:lstStyle/>
          <a:p>
            <a:r>
              <a:rPr lang="en-US" dirty="0"/>
              <a:t>Structural Materials in SFRs</a:t>
            </a:r>
          </a:p>
        </p:txBody>
      </p:sp>
      <p:sp>
        <p:nvSpPr>
          <p:cNvPr id="3" name="Content Placeholder 2">
            <a:extLst>
              <a:ext uri="{FF2B5EF4-FFF2-40B4-BE49-F238E27FC236}">
                <a16:creationId xmlns:a16="http://schemas.microsoft.com/office/drawing/2014/main" id="{1FD490FE-9BC1-15B6-3D88-9986B1CBC6D3}"/>
              </a:ext>
            </a:extLst>
          </p:cNvPr>
          <p:cNvSpPr>
            <a:spLocks noGrp="1"/>
          </p:cNvSpPr>
          <p:nvPr>
            <p:ph sz="half" idx="1"/>
          </p:nvPr>
        </p:nvSpPr>
        <p:spPr>
          <a:xfrm>
            <a:off x="609600" y="1968503"/>
            <a:ext cx="10972800" cy="2551543"/>
          </a:xfrm>
        </p:spPr>
        <p:txBody>
          <a:bodyPr/>
          <a:lstStyle/>
          <a:p>
            <a:r>
              <a:rPr lang="en-US" sz="2000" dirty="0"/>
              <a:t>Austenitic and ferritic/martensitic steels are two key alloy classes for SFR structural materials</a:t>
            </a:r>
          </a:p>
          <a:p>
            <a:r>
              <a:rPr lang="en-US" sz="2000" dirty="0"/>
              <a:t>Most research has been done on SS-304 and SS-316, but advanced alloy behavior (HT9, T91, ODS steels, etc.) is being studied</a:t>
            </a:r>
          </a:p>
          <a:p>
            <a:endParaRPr lang="en-US" sz="2000" dirty="0"/>
          </a:p>
        </p:txBody>
      </p:sp>
      <p:sp>
        <p:nvSpPr>
          <p:cNvPr id="5" name="Slide Number Placeholder 4">
            <a:extLst>
              <a:ext uri="{FF2B5EF4-FFF2-40B4-BE49-F238E27FC236}">
                <a16:creationId xmlns:a16="http://schemas.microsoft.com/office/drawing/2014/main" id="{9FBE107A-5209-0443-717B-AA659B0F1C28}"/>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pic>
        <p:nvPicPr>
          <p:cNvPr id="6" name="Picture 5">
            <a:extLst>
              <a:ext uri="{FF2B5EF4-FFF2-40B4-BE49-F238E27FC236}">
                <a16:creationId xmlns:a16="http://schemas.microsoft.com/office/drawing/2014/main" id="{ED064E3A-3098-4EA0-6BFC-7416AC1A3C44}"/>
              </a:ext>
            </a:extLst>
          </p:cNvPr>
          <p:cNvPicPr>
            <a:picLocks noChangeAspect="1"/>
          </p:cNvPicPr>
          <p:nvPr/>
        </p:nvPicPr>
        <p:blipFill>
          <a:blip r:embed="rId2"/>
          <a:stretch>
            <a:fillRect/>
          </a:stretch>
        </p:blipFill>
        <p:spPr>
          <a:xfrm>
            <a:off x="2209800" y="3647687"/>
            <a:ext cx="7772400" cy="2201431"/>
          </a:xfrm>
          <a:prstGeom prst="rect">
            <a:avLst/>
          </a:prstGeom>
        </p:spPr>
      </p:pic>
    </p:spTree>
    <p:extLst>
      <p:ext uri="{BB962C8B-B14F-4D97-AF65-F5344CB8AC3E}">
        <p14:creationId xmlns:p14="http://schemas.microsoft.com/office/powerpoint/2010/main" val="32654483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88CFF-EC63-A146-AB80-0ED5E1A96244}"/>
              </a:ext>
            </a:extLst>
          </p:cNvPr>
          <p:cNvSpPr>
            <a:spLocks noGrp="1"/>
          </p:cNvSpPr>
          <p:nvPr>
            <p:ph type="title"/>
          </p:nvPr>
        </p:nvSpPr>
        <p:spPr/>
        <p:txBody>
          <a:bodyPr/>
          <a:lstStyle/>
          <a:p>
            <a:r>
              <a:rPr lang="en-US" dirty="0"/>
              <a:t>Solubilities and Compatibility</a:t>
            </a:r>
          </a:p>
        </p:txBody>
      </p:sp>
      <p:sp>
        <p:nvSpPr>
          <p:cNvPr id="3" name="Content Placeholder 2">
            <a:extLst>
              <a:ext uri="{FF2B5EF4-FFF2-40B4-BE49-F238E27FC236}">
                <a16:creationId xmlns:a16="http://schemas.microsoft.com/office/drawing/2014/main" id="{BF87F994-5F5B-E546-8403-7D3AEC1A16D0}"/>
              </a:ext>
            </a:extLst>
          </p:cNvPr>
          <p:cNvSpPr>
            <a:spLocks noGrp="1"/>
          </p:cNvSpPr>
          <p:nvPr>
            <p:ph sz="half" idx="1"/>
          </p:nvPr>
        </p:nvSpPr>
        <p:spPr>
          <a:xfrm>
            <a:off x="609600" y="1968503"/>
            <a:ext cx="3404260" cy="4157663"/>
          </a:xfrm>
        </p:spPr>
        <p:txBody>
          <a:bodyPr/>
          <a:lstStyle/>
          <a:p>
            <a:r>
              <a:rPr lang="en-US" sz="2200" dirty="0"/>
              <a:t>Among the elements in austenitic stainless steel, the solubility of nickel is greatest</a:t>
            </a:r>
          </a:p>
          <a:p>
            <a:r>
              <a:rPr lang="en-US" sz="2200" dirty="0"/>
              <a:t>Therefore, the phase transformation of austenite to ferrite through nickel dissolution is observed on the surface in long-term immersion in sodium</a:t>
            </a:r>
          </a:p>
          <a:p>
            <a:endParaRPr lang="en-US" sz="2200" dirty="0"/>
          </a:p>
        </p:txBody>
      </p:sp>
      <p:pic>
        <p:nvPicPr>
          <p:cNvPr id="6" name="Content Placeholder 5">
            <a:extLst>
              <a:ext uri="{FF2B5EF4-FFF2-40B4-BE49-F238E27FC236}">
                <a16:creationId xmlns:a16="http://schemas.microsoft.com/office/drawing/2014/main" id="{1326BE5E-CC79-0543-A39C-6AA515D5B408}"/>
              </a:ext>
            </a:extLst>
          </p:cNvPr>
          <p:cNvPicPr>
            <a:picLocks noGrp="1" noChangeAspect="1"/>
          </p:cNvPicPr>
          <p:nvPr>
            <p:ph sz="half" idx="2"/>
          </p:nvPr>
        </p:nvPicPr>
        <p:blipFill>
          <a:blip r:embed="rId2"/>
          <a:stretch>
            <a:fillRect/>
          </a:stretch>
        </p:blipFill>
        <p:spPr>
          <a:xfrm>
            <a:off x="4196904" y="1968500"/>
            <a:ext cx="2905101" cy="4157663"/>
          </a:xfrm>
          <a:prstGeom prst="rect">
            <a:avLst/>
          </a:prstGeom>
        </p:spPr>
      </p:pic>
      <p:sp>
        <p:nvSpPr>
          <p:cNvPr id="5" name="Slide Number Placeholder 4">
            <a:extLst>
              <a:ext uri="{FF2B5EF4-FFF2-40B4-BE49-F238E27FC236}">
                <a16:creationId xmlns:a16="http://schemas.microsoft.com/office/drawing/2014/main" id="{2150DFF3-725D-FF42-9E9F-6855DA25E60A}"/>
              </a:ext>
            </a:extLst>
          </p:cNvPr>
          <p:cNvSpPr>
            <a:spLocks noGrp="1"/>
          </p:cNvSpPr>
          <p:nvPr>
            <p:ph type="sldNum" sz="quarter" idx="12"/>
          </p:nvPr>
        </p:nvSpPr>
        <p:spPr/>
        <p:txBody>
          <a:bodyPr/>
          <a:lstStyle/>
          <a:p>
            <a:pPr>
              <a:defRPr/>
            </a:pPr>
            <a:fld id="{EC35E9FC-F6D5-0349-BBED-EA7D7A9BC49B}" type="slidenum">
              <a:rPr lang="en-US" smtClean="0"/>
              <a:pPr>
                <a:defRPr/>
              </a:pPr>
              <a:t>26</a:t>
            </a:fld>
            <a:endParaRPr lang="en-US"/>
          </a:p>
        </p:txBody>
      </p:sp>
      <p:pic>
        <p:nvPicPr>
          <p:cNvPr id="7" name="Picture 6">
            <a:extLst>
              <a:ext uri="{FF2B5EF4-FFF2-40B4-BE49-F238E27FC236}">
                <a16:creationId xmlns:a16="http://schemas.microsoft.com/office/drawing/2014/main" id="{30198D36-00DF-0C4E-AF33-7FB3661A388D}"/>
              </a:ext>
            </a:extLst>
          </p:cNvPr>
          <p:cNvPicPr>
            <a:picLocks noChangeAspect="1"/>
          </p:cNvPicPr>
          <p:nvPr/>
        </p:nvPicPr>
        <p:blipFill>
          <a:blip r:embed="rId3"/>
          <a:stretch>
            <a:fillRect/>
          </a:stretch>
        </p:blipFill>
        <p:spPr>
          <a:xfrm>
            <a:off x="7285049" y="2323882"/>
            <a:ext cx="4827371" cy="3446897"/>
          </a:xfrm>
          <a:prstGeom prst="rect">
            <a:avLst/>
          </a:prstGeom>
        </p:spPr>
      </p:pic>
    </p:spTree>
    <p:extLst>
      <p:ext uri="{BB962C8B-B14F-4D97-AF65-F5344CB8AC3E}">
        <p14:creationId xmlns:p14="http://schemas.microsoft.com/office/powerpoint/2010/main" val="39130037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9CB4C-5A5A-CB47-8454-49985BAA9E47}"/>
              </a:ext>
            </a:extLst>
          </p:cNvPr>
          <p:cNvSpPr>
            <a:spLocks noGrp="1"/>
          </p:cNvSpPr>
          <p:nvPr>
            <p:ph type="title"/>
          </p:nvPr>
        </p:nvSpPr>
        <p:spPr/>
        <p:txBody>
          <a:bodyPr/>
          <a:lstStyle/>
          <a:p>
            <a:r>
              <a:rPr lang="en-US" dirty="0"/>
              <a:t>Sodium Corrosion</a:t>
            </a:r>
          </a:p>
        </p:txBody>
      </p:sp>
      <p:sp>
        <p:nvSpPr>
          <p:cNvPr id="3" name="Content Placeholder 2">
            <a:extLst>
              <a:ext uri="{FF2B5EF4-FFF2-40B4-BE49-F238E27FC236}">
                <a16:creationId xmlns:a16="http://schemas.microsoft.com/office/drawing/2014/main" id="{C3286D14-8D08-2346-AB86-32FE6E6E3F3D}"/>
              </a:ext>
            </a:extLst>
          </p:cNvPr>
          <p:cNvSpPr>
            <a:spLocks noGrp="1"/>
          </p:cNvSpPr>
          <p:nvPr>
            <p:ph sz="half" idx="1"/>
          </p:nvPr>
        </p:nvSpPr>
        <p:spPr>
          <a:xfrm>
            <a:off x="609599" y="1968503"/>
            <a:ext cx="5749159" cy="4157663"/>
          </a:xfrm>
        </p:spPr>
        <p:txBody>
          <a:bodyPr/>
          <a:lstStyle/>
          <a:p>
            <a:r>
              <a:rPr lang="en-US" sz="2200" dirty="0"/>
              <a:t>There are two known mechanisms of sodium corrosion</a:t>
            </a:r>
          </a:p>
          <a:p>
            <a:pPr lvl="1"/>
            <a:r>
              <a:rPr lang="en-US" sz="2200" dirty="0"/>
              <a:t>Type I: corrosion produced by the dissolution of alloy elements to sodium</a:t>
            </a:r>
          </a:p>
          <a:p>
            <a:pPr lvl="1"/>
            <a:r>
              <a:rPr lang="en-US" sz="2200" dirty="0"/>
              <a:t>Type II: corrosion produced through chemical reaction with the impurities in sodium</a:t>
            </a:r>
          </a:p>
          <a:p>
            <a:r>
              <a:rPr lang="en-US" sz="2200" dirty="0"/>
              <a:t>Type I corrosion is dependent on the solubility in sodium of the elemental composition in the material, temperature, and the rate of solution</a:t>
            </a:r>
          </a:p>
          <a:p>
            <a:endParaRPr lang="en-US" sz="2200" dirty="0"/>
          </a:p>
          <a:p>
            <a:endParaRPr lang="en-US" sz="2200" dirty="0"/>
          </a:p>
        </p:txBody>
      </p:sp>
      <p:sp>
        <p:nvSpPr>
          <p:cNvPr id="4" name="Content Placeholder 3">
            <a:extLst>
              <a:ext uri="{FF2B5EF4-FFF2-40B4-BE49-F238E27FC236}">
                <a16:creationId xmlns:a16="http://schemas.microsoft.com/office/drawing/2014/main" id="{B3E49A3A-C4B0-A240-8C8A-C67BBBF5AEA9}"/>
              </a:ext>
            </a:extLst>
          </p:cNvPr>
          <p:cNvSpPr>
            <a:spLocks noGrp="1"/>
          </p:cNvSpPr>
          <p:nvPr>
            <p:ph sz="half" idx="2"/>
          </p:nvPr>
        </p:nvSpPr>
        <p:spPr/>
        <p:txBody>
          <a:bodyPr/>
          <a:lstStyle/>
          <a:p>
            <a:endParaRPr lang="en-US" sz="2200" dirty="0"/>
          </a:p>
          <a:p>
            <a:endParaRPr lang="en-US" sz="2200" dirty="0"/>
          </a:p>
        </p:txBody>
      </p:sp>
      <p:sp>
        <p:nvSpPr>
          <p:cNvPr id="5" name="Slide Number Placeholder 4">
            <a:extLst>
              <a:ext uri="{FF2B5EF4-FFF2-40B4-BE49-F238E27FC236}">
                <a16:creationId xmlns:a16="http://schemas.microsoft.com/office/drawing/2014/main" id="{69902977-34CC-F747-A484-C883180BCC55}"/>
              </a:ext>
            </a:extLst>
          </p:cNvPr>
          <p:cNvSpPr>
            <a:spLocks noGrp="1"/>
          </p:cNvSpPr>
          <p:nvPr>
            <p:ph type="sldNum" sz="quarter" idx="12"/>
          </p:nvPr>
        </p:nvSpPr>
        <p:spPr/>
        <p:txBody>
          <a:bodyPr/>
          <a:lstStyle/>
          <a:p>
            <a:pPr>
              <a:defRPr/>
            </a:pPr>
            <a:fld id="{EC35E9FC-F6D5-0349-BBED-EA7D7A9BC49B}" type="slidenum">
              <a:rPr lang="en-US" smtClean="0"/>
              <a:pPr>
                <a:defRPr/>
              </a:pPr>
              <a:t>27</a:t>
            </a:fld>
            <a:endParaRPr lang="en-US"/>
          </a:p>
        </p:txBody>
      </p:sp>
      <p:pic>
        <p:nvPicPr>
          <p:cNvPr id="6" name="Picture 5">
            <a:extLst>
              <a:ext uri="{FF2B5EF4-FFF2-40B4-BE49-F238E27FC236}">
                <a16:creationId xmlns:a16="http://schemas.microsoft.com/office/drawing/2014/main" id="{FB4787C2-FB8B-9F43-9E26-D38BB5FED042}"/>
              </a:ext>
            </a:extLst>
          </p:cNvPr>
          <p:cNvPicPr>
            <a:picLocks noChangeAspect="1"/>
          </p:cNvPicPr>
          <p:nvPr/>
        </p:nvPicPr>
        <p:blipFill>
          <a:blip r:embed="rId2"/>
          <a:stretch>
            <a:fillRect/>
          </a:stretch>
        </p:blipFill>
        <p:spPr>
          <a:xfrm>
            <a:off x="6784974" y="1738317"/>
            <a:ext cx="3905251" cy="4045224"/>
          </a:xfrm>
          <a:prstGeom prst="rect">
            <a:avLst/>
          </a:prstGeom>
        </p:spPr>
      </p:pic>
      <p:pic>
        <p:nvPicPr>
          <p:cNvPr id="7" name="Picture 6">
            <a:extLst>
              <a:ext uri="{FF2B5EF4-FFF2-40B4-BE49-F238E27FC236}">
                <a16:creationId xmlns:a16="http://schemas.microsoft.com/office/drawing/2014/main" id="{0BDD92F6-80A3-C8D3-0605-87FC9AE016EF}"/>
              </a:ext>
            </a:extLst>
          </p:cNvPr>
          <p:cNvPicPr>
            <a:picLocks noChangeAspect="1"/>
          </p:cNvPicPr>
          <p:nvPr/>
        </p:nvPicPr>
        <p:blipFill>
          <a:blip r:embed="rId3"/>
          <a:stretch>
            <a:fillRect/>
          </a:stretch>
        </p:blipFill>
        <p:spPr>
          <a:xfrm>
            <a:off x="8322879" y="5670827"/>
            <a:ext cx="1816100" cy="685800"/>
          </a:xfrm>
          <a:prstGeom prst="rect">
            <a:avLst/>
          </a:prstGeom>
        </p:spPr>
      </p:pic>
      <p:sp>
        <p:nvSpPr>
          <p:cNvPr id="9" name="TextBox 8">
            <a:extLst>
              <a:ext uri="{FF2B5EF4-FFF2-40B4-BE49-F238E27FC236}">
                <a16:creationId xmlns:a16="http://schemas.microsoft.com/office/drawing/2014/main" id="{C4536672-EDA8-F1B8-C663-FB8A25D2D02C}"/>
              </a:ext>
            </a:extLst>
          </p:cNvPr>
          <p:cNvSpPr txBox="1"/>
          <p:nvPr/>
        </p:nvSpPr>
        <p:spPr>
          <a:xfrm>
            <a:off x="7725102" y="6140908"/>
            <a:ext cx="3342291" cy="430887"/>
          </a:xfrm>
          <a:prstGeom prst="rect">
            <a:avLst/>
          </a:prstGeom>
          <a:noFill/>
        </p:spPr>
        <p:txBody>
          <a:bodyPr wrap="square">
            <a:spAutoFit/>
          </a:bodyPr>
          <a:lstStyle/>
          <a:p>
            <a:pPr algn="ctr"/>
            <a:r>
              <a:rPr lang="en-US" sz="1100" dirty="0"/>
              <a:t>K is the solution rate constant, Cs is the solubility limit in sodium, and Ci is the actual concentration in sodium</a:t>
            </a:r>
          </a:p>
        </p:txBody>
      </p:sp>
    </p:spTree>
    <p:extLst>
      <p:ext uri="{BB962C8B-B14F-4D97-AF65-F5344CB8AC3E}">
        <p14:creationId xmlns:p14="http://schemas.microsoft.com/office/powerpoint/2010/main" val="10373365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D35ED-0734-1840-B41F-ECA065D791AD}"/>
              </a:ext>
            </a:extLst>
          </p:cNvPr>
          <p:cNvSpPr>
            <a:spLocks noGrp="1"/>
          </p:cNvSpPr>
          <p:nvPr>
            <p:ph type="title"/>
          </p:nvPr>
        </p:nvSpPr>
        <p:spPr/>
        <p:txBody>
          <a:bodyPr/>
          <a:lstStyle/>
          <a:p>
            <a:r>
              <a:rPr lang="en-US" dirty="0"/>
              <a:t>Sodium Corrosion</a:t>
            </a:r>
          </a:p>
        </p:txBody>
      </p:sp>
      <p:sp>
        <p:nvSpPr>
          <p:cNvPr id="3" name="Content Placeholder 2">
            <a:extLst>
              <a:ext uri="{FF2B5EF4-FFF2-40B4-BE49-F238E27FC236}">
                <a16:creationId xmlns:a16="http://schemas.microsoft.com/office/drawing/2014/main" id="{69DECCCB-22FB-3541-966C-6321257DB30D}"/>
              </a:ext>
            </a:extLst>
          </p:cNvPr>
          <p:cNvSpPr>
            <a:spLocks noGrp="1"/>
          </p:cNvSpPr>
          <p:nvPr>
            <p:ph sz="half" idx="1"/>
          </p:nvPr>
        </p:nvSpPr>
        <p:spPr/>
        <p:txBody>
          <a:bodyPr/>
          <a:lstStyle/>
          <a:p>
            <a:r>
              <a:rPr lang="en-US" sz="2200" dirty="0"/>
              <a:t>The solubility of each of the primary components of stainless steel in sodium at 550 C is less than a few parts per million</a:t>
            </a:r>
          </a:p>
          <a:p>
            <a:r>
              <a:rPr lang="en-US" sz="2200" dirty="0"/>
              <a:t>This means that the nominal compatibility of the steels with sodium is excellent</a:t>
            </a:r>
          </a:p>
          <a:p>
            <a:r>
              <a:rPr lang="en-US" sz="2200" dirty="0"/>
              <a:t>In the isothermal sodium condition, the corrosion of the steels stops when the dissolved elements reach saturation concentration at the temperature of sodium</a:t>
            </a:r>
          </a:p>
          <a:p>
            <a:endParaRPr lang="en-US" sz="2200" dirty="0"/>
          </a:p>
        </p:txBody>
      </p:sp>
      <p:sp>
        <p:nvSpPr>
          <p:cNvPr id="4" name="Content Placeholder 3">
            <a:extLst>
              <a:ext uri="{FF2B5EF4-FFF2-40B4-BE49-F238E27FC236}">
                <a16:creationId xmlns:a16="http://schemas.microsoft.com/office/drawing/2014/main" id="{961136F3-0B47-F744-819E-958D5AAB0D19}"/>
              </a:ext>
            </a:extLst>
          </p:cNvPr>
          <p:cNvSpPr>
            <a:spLocks noGrp="1"/>
          </p:cNvSpPr>
          <p:nvPr>
            <p:ph sz="half" idx="2"/>
          </p:nvPr>
        </p:nvSpPr>
        <p:spPr/>
        <p:txBody>
          <a:bodyPr/>
          <a:lstStyle/>
          <a:p>
            <a:r>
              <a:rPr lang="en-US" sz="2200" dirty="0"/>
              <a:t>Under non-isothermal conditions, the corrosion behavior is called thermal gradient mass transfer</a:t>
            </a:r>
          </a:p>
          <a:p>
            <a:r>
              <a:rPr lang="en-US" sz="2200" dirty="0"/>
              <a:t>In the cooling system, the elements in the materials in the high-temperature section dissolve as a result of the temperature dependency of the solubility of the elements in sodium, and the dissolved elements are deposited on the steel surface in the low-temperature section by the same mechanism</a:t>
            </a:r>
          </a:p>
          <a:p>
            <a:endParaRPr lang="en-US" sz="2200" dirty="0"/>
          </a:p>
        </p:txBody>
      </p:sp>
      <p:sp>
        <p:nvSpPr>
          <p:cNvPr id="5" name="Slide Number Placeholder 4">
            <a:extLst>
              <a:ext uri="{FF2B5EF4-FFF2-40B4-BE49-F238E27FC236}">
                <a16:creationId xmlns:a16="http://schemas.microsoft.com/office/drawing/2014/main" id="{7E41FE5B-9644-FD49-91E1-D131D7962446}"/>
              </a:ext>
            </a:extLst>
          </p:cNvPr>
          <p:cNvSpPr>
            <a:spLocks noGrp="1"/>
          </p:cNvSpPr>
          <p:nvPr>
            <p:ph type="sldNum" sz="quarter" idx="12"/>
          </p:nvPr>
        </p:nvSpPr>
        <p:spPr/>
        <p:txBody>
          <a:bodyPr/>
          <a:lstStyle/>
          <a:p>
            <a:pPr>
              <a:defRPr/>
            </a:pPr>
            <a:fld id="{EC35E9FC-F6D5-0349-BBED-EA7D7A9BC49B}" type="slidenum">
              <a:rPr lang="en-US" smtClean="0"/>
              <a:pPr>
                <a:defRPr/>
              </a:pPr>
              <a:t>28</a:t>
            </a:fld>
            <a:endParaRPr lang="en-US"/>
          </a:p>
        </p:txBody>
      </p:sp>
    </p:spTree>
    <p:extLst>
      <p:ext uri="{BB962C8B-B14F-4D97-AF65-F5344CB8AC3E}">
        <p14:creationId xmlns:p14="http://schemas.microsoft.com/office/powerpoint/2010/main" val="26215737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D78C65-9684-083E-F58C-A3672032D5F5}"/>
              </a:ext>
            </a:extLst>
          </p:cNvPr>
          <p:cNvSpPr>
            <a:spLocks noGrp="1"/>
          </p:cNvSpPr>
          <p:nvPr>
            <p:ph type="title"/>
          </p:nvPr>
        </p:nvSpPr>
        <p:spPr/>
        <p:txBody>
          <a:bodyPr/>
          <a:lstStyle/>
          <a:p>
            <a:r>
              <a:rPr lang="en-US" sz="4400" dirty="0"/>
              <a:t>Thermal gradient mass transfer</a:t>
            </a:r>
            <a:endParaRPr lang="en-US" dirty="0"/>
          </a:p>
        </p:txBody>
      </p:sp>
      <p:sp>
        <p:nvSpPr>
          <p:cNvPr id="3" name="Slide Number Placeholder 2">
            <a:extLst>
              <a:ext uri="{FF2B5EF4-FFF2-40B4-BE49-F238E27FC236}">
                <a16:creationId xmlns:a16="http://schemas.microsoft.com/office/drawing/2014/main" id="{222FDD56-9739-C00B-FC94-4EF89518DE41}"/>
              </a:ext>
            </a:extLst>
          </p:cNvPr>
          <p:cNvSpPr>
            <a:spLocks noGrp="1"/>
          </p:cNvSpPr>
          <p:nvPr>
            <p:ph type="sldNum" sz="quarter" idx="12"/>
          </p:nvPr>
        </p:nvSpPr>
        <p:spPr/>
        <p:txBody>
          <a:bodyPr/>
          <a:lstStyle/>
          <a:p>
            <a:pPr>
              <a:defRPr/>
            </a:pPr>
            <a:fld id="{C2AB7D4D-4E81-5B40-91F6-CF14C25F8623}" type="slidenum">
              <a:rPr lang="en-US" smtClean="0"/>
              <a:pPr>
                <a:defRPr/>
              </a:pPr>
              <a:t>29</a:t>
            </a:fld>
            <a:endParaRPr lang="en-US"/>
          </a:p>
        </p:txBody>
      </p:sp>
      <p:grpSp>
        <p:nvGrpSpPr>
          <p:cNvPr id="11" name="Group 10">
            <a:extLst>
              <a:ext uri="{FF2B5EF4-FFF2-40B4-BE49-F238E27FC236}">
                <a16:creationId xmlns:a16="http://schemas.microsoft.com/office/drawing/2014/main" id="{A83CE363-836F-5583-7BA4-DCCCBE6163E2}"/>
              </a:ext>
            </a:extLst>
          </p:cNvPr>
          <p:cNvGrpSpPr/>
          <p:nvPr/>
        </p:nvGrpSpPr>
        <p:grpSpPr>
          <a:xfrm>
            <a:off x="4039365" y="2021273"/>
            <a:ext cx="4113270" cy="4335079"/>
            <a:chOff x="2592330" y="1968500"/>
            <a:chExt cx="5245320" cy="5214882"/>
          </a:xfrm>
        </p:grpSpPr>
        <p:sp>
          <p:nvSpPr>
            <p:cNvPr id="7" name="Bent Arrow 6">
              <a:extLst>
                <a:ext uri="{FF2B5EF4-FFF2-40B4-BE49-F238E27FC236}">
                  <a16:creationId xmlns:a16="http://schemas.microsoft.com/office/drawing/2014/main" id="{00226477-FE62-ECEB-EA3B-DFCA963C1DA6}"/>
                </a:ext>
              </a:extLst>
            </p:cNvPr>
            <p:cNvSpPr/>
            <p:nvPr/>
          </p:nvSpPr>
          <p:spPr>
            <a:xfrm>
              <a:off x="2911366" y="1968500"/>
              <a:ext cx="2343806" cy="2582479"/>
            </a:xfrm>
            <a:prstGeom prst="bentArrow">
              <a:avLst/>
            </a:prstGeom>
            <a:solidFill>
              <a:schemeClr val="accent2">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8" name="Bent Arrow 7">
              <a:extLst>
                <a:ext uri="{FF2B5EF4-FFF2-40B4-BE49-F238E27FC236}">
                  <a16:creationId xmlns:a16="http://schemas.microsoft.com/office/drawing/2014/main" id="{E7EB8A7C-5BAB-9751-318E-6133D59A16E4}"/>
                </a:ext>
              </a:extLst>
            </p:cNvPr>
            <p:cNvSpPr/>
            <p:nvPr/>
          </p:nvSpPr>
          <p:spPr>
            <a:xfrm rot="5400000">
              <a:off x="5374508" y="2137761"/>
              <a:ext cx="2343806" cy="2582479"/>
            </a:xfrm>
            <a:prstGeom prst="bentArrow">
              <a:avLst/>
            </a:prstGeom>
            <a:solidFill>
              <a:schemeClr val="accent2">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9" name="Bent Arrow 8">
              <a:extLst>
                <a:ext uri="{FF2B5EF4-FFF2-40B4-BE49-F238E27FC236}">
                  <a16:creationId xmlns:a16="http://schemas.microsoft.com/office/drawing/2014/main" id="{FEDFADD4-916A-F8D6-5A54-1DE83F8780F5}"/>
                </a:ext>
              </a:extLst>
            </p:cNvPr>
            <p:cNvSpPr/>
            <p:nvPr/>
          </p:nvSpPr>
          <p:spPr>
            <a:xfrm rot="10800000">
              <a:off x="5174810" y="4600903"/>
              <a:ext cx="2343806" cy="2582479"/>
            </a:xfrm>
            <a:prstGeom prst="bentArrow">
              <a:avLst/>
            </a:prstGeom>
            <a:solidFill>
              <a:schemeClr val="accent1">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sp>
          <p:nvSpPr>
            <p:cNvPr id="10" name="Bent Arrow 9">
              <a:extLst>
                <a:ext uri="{FF2B5EF4-FFF2-40B4-BE49-F238E27FC236}">
                  <a16:creationId xmlns:a16="http://schemas.microsoft.com/office/drawing/2014/main" id="{F39CEA6B-100B-1A00-2651-3A958BEDA5A0}"/>
                </a:ext>
              </a:extLst>
            </p:cNvPr>
            <p:cNvSpPr/>
            <p:nvPr/>
          </p:nvSpPr>
          <p:spPr>
            <a:xfrm rot="16200000">
              <a:off x="2711667" y="4431642"/>
              <a:ext cx="2343806" cy="2582479"/>
            </a:xfrm>
            <a:prstGeom prst="bentArrow">
              <a:avLst/>
            </a:prstGeom>
            <a:solidFill>
              <a:schemeClr val="accent1">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tx1"/>
                </a:solidFill>
              </a:endParaRPr>
            </a:p>
          </p:txBody>
        </p:sp>
      </p:grpSp>
      <p:sp>
        <p:nvSpPr>
          <p:cNvPr id="12" name="TextBox 11">
            <a:extLst>
              <a:ext uri="{FF2B5EF4-FFF2-40B4-BE49-F238E27FC236}">
                <a16:creationId xmlns:a16="http://schemas.microsoft.com/office/drawing/2014/main" id="{D12FB249-B967-751D-5815-DF8D6B99EC1F}"/>
              </a:ext>
            </a:extLst>
          </p:cNvPr>
          <p:cNvSpPr txBox="1"/>
          <p:nvPr/>
        </p:nvSpPr>
        <p:spPr>
          <a:xfrm>
            <a:off x="1287267" y="2496708"/>
            <a:ext cx="3002278" cy="1477328"/>
          </a:xfrm>
          <a:prstGeom prst="rect">
            <a:avLst/>
          </a:prstGeom>
          <a:noFill/>
        </p:spPr>
        <p:txBody>
          <a:bodyPr wrap="square" rtlCol="0">
            <a:spAutoFit/>
          </a:bodyPr>
          <a:lstStyle/>
          <a:p>
            <a:r>
              <a:rPr lang="en-US" dirty="0"/>
              <a:t>Coolant heated in the core; high solubility for elements in the coolant; elements leave structural materials, go into coolant</a:t>
            </a:r>
          </a:p>
        </p:txBody>
      </p:sp>
      <p:sp>
        <p:nvSpPr>
          <p:cNvPr id="13" name="TextBox 12">
            <a:extLst>
              <a:ext uri="{FF2B5EF4-FFF2-40B4-BE49-F238E27FC236}">
                <a16:creationId xmlns:a16="http://schemas.microsoft.com/office/drawing/2014/main" id="{527A2208-1964-6D80-4194-5B635C0399F2}"/>
              </a:ext>
            </a:extLst>
          </p:cNvPr>
          <p:cNvSpPr txBox="1"/>
          <p:nvPr/>
        </p:nvSpPr>
        <p:spPr>
          <a:xfrm>
            <a:off x="8152635" y="4405795"/>
            <a:ext cx="3002278" cy="1754326"/>
          </a:xfrm>
          <a:prstGeom prst="rect">
            <a:avLst/>
          </a:prstGeom>
          <a:noFill/>
        </p:spPr>
        <p:txBody>
          <a:bodyPr wrap="square" rtlCol="0">
            <a:spAutoFit/>
          </a:bodyPr>
          <a:lstStyle/>
          <a:p>
            <a:r>
              <a:rPr lang="en-US" dirty="0"/>
              <a:t>Heat removed from coolant via IHX; lower T means lower solubility; elements plate out on piping surfaces; coolant now has lower concentration of corrosion species</a:t>
            </a:r>
          </a:p>
        </p:txBody>
      </p:sp>
    </p:spTree>
    <p:extLst>
      <p:ext uri="{BB962C8B-B14F-4D97-AF65-F5344CB8AC3E}">
        <p14:creationId xmlns:p14="http://schemas.microsoft.com/office/powerpoint/2010/main" val="1665927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09FF4A-F700-724B-B9DD-F6AC20A0CE07}"/>
              </a:ext>
            </a:extLst>
          </p:cNvPr>
          <p:cNvSpPr>
            <a:spLocks noGrp="1"/>
          </p:cNvSpPr>
          <p:nvPr>
            <p:ph type="title"/>
          </p:nvPr>
        </p:nvSpPr>
        <p:spPr/>
        <p:txBody>
          <a:bodyPr/>
          <a:lstStyle/>
          <a:p>
            <a:r>
              <a:rPr lang="en-US" dirty="0"/>
              <a:t>Sodium Corrosion</a:t>
            </a:r>
          </a:p>
        </p:txBody>
      </p:sp>
      <p:sp>
        <p:nvSpPr>
          <p:cNvPr id="3" name="Content Placeholder 2">
            <a:extLst>
              <a:ext uri="{FF2B5EF4-FFF2-40B4-BE49-F238E27FC236}">
                <a16:creationId xmlns:a16="http://schemas.microsoft.com/office/drawing/2014/main" id="{9C373BE2-545A-8446-8730-763023DA9269}"/>
              </a:ext>
            </a:extLst>
          </p:cNvPr>
          <p:cNvSpPr>
            <a:spLocks noGrp="1"/>
          </p:cNvSpPr>
          <p:nvPr>
            <p:ph sz="half" idx="1"/>
          </p:nvPr>
        </p:nvSpPr>
        <p:spPr/>
        <p:txBody>
          <a:bodyPr/>
          <a:lstStyle/>
          <a:p>
            <a:r>
              <a:rPr lang="en-US" sz="2200" dirty="0"/>
              <a:t>The results of thermal gradient mass transfer using a sodium loop made of 316SS</a:t>
            </a:r>
          </a:p>
          <a:p>
            <a:r>
              <a:rPr lang="en-US" sz="2200" dirty="0"/>
              <a:t>The weight loss caused by the dissolution of the elements in the steel is in the high-temperature section, and the weight gain caused by the deposit of the dissolved elements in sodium is observed in the low-temperature section</a:t>
            </a:r>
          </a:p>
          <a:p>
            <a:endParaRPr lang="en-US" sz="2200" dirty="0"/>
          </a:p>
          <a:p>
            <a:endParaRPr lang="en-US" sz="2200" dirty="0"/>
          </a:p>
        </p:txBody>
      </p:sp>
      <p:pic>
        <p:nvPicPr>
          <p:cNvPr id="6" name="Content Placeholder 5">
            <a:extLst>
              <a:ext uri="{FF2B5EF4-FFF2-40B4-BE49-F238E27FC236}">
                <a16:creationId xmlns:a16="http://schemas.microsoft.com/office/drawing/2014/main" id="{4292A330-9738-9346-B2D2-317406C0E004}"/>
              </a:ext>
            </a:extLst>
          </p:cNvPr>
          <p:cNvPicPr>
            <a:picLocks noGrp="1" noChangeAspect="1"/>
          </p:cNvPicPr>
          <p:nvPr>
            <p:ph sz="half" idx="2"/>
          </p:nvPr>
        </p:nvPicPr>
        <p:blipFill>
          <a:blip r:embed="rId2"/>
          <a:stretch>
            <a:fillRect/>
          </a:stretch>
        </p:blipFill>
        <p:spPr>
          <a:xfrm>
            <a:off x="6674977" y="2277259"/>
            <a:ext cx="4907423" cy="3259931"/>
          </a:xfrm>
          <a:prstGeom prst="rect">
            <a:avLst/>
          </a:prstGeom>
        </p:spPr>
      </p:pic>
      <p:sp>
        <p:nvSpPr>
          <p:cNvPr id="5" name="Slide Number Placeholder 4">
            <a:extLst>
              <a:ext uri="{FF2B5EF4-FFF2-40B4-BE49-F238E27FC236}">
                <a16:creationId xmlns:a16="http://schemas.microsoft.com/office/drawing/2014/main" id="{13E4FCDC-66F6-4942-B92C-3F7248E25BE2}"/>
              </a:ext>
            </a:extLst>
          </p:cNvPr>
          <p:cNvSpPr>
            <a:spLocks noGrp="1"/>
          </p:cNvSpPr>
          <p:nvPr>
            <p:ph type="sldNum" sz="quarter" idx="12"/>
          </p:nvPr>
        </p:nvSpPr>
        <p:spPr/>
        <p:txBody>
          <a:bodyPr/>
          <a:lstStyle/>
          <a:p>
            <a:pPr>
              <a:defRPr/>
            </a:pPr>
            <a:fld id="{EC35E9FC-F6D5-0349-BBED-EA7D7A9BC49B}" type="slidenum">
              <a:rPr lang="en-US" smtClean="0"/>
              <a:pPr>
                <a:defRPr/>
              </a:pPr>
              <a:t>30</a:t>
            </a:fld>
            <a:endParaRPr lang="en-US"/>
          </a:p>
        </p:txBody>
      </p:sp>
    </p:spTree>
    <p:extLst>
      <p:ext uri="{BB962C8B-B14F-4D97-AF65-F5344CB8AC3E}">
        <p14:creationId xmlns:p14="http://schemas.microsoft.com/office/powerpoint/2010/main" val="13811873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BF1D8-592A-AD4B-9E64-9767AA09101A}"/>
              </a:ext>
            </a:extLst>
          </p:cNvPr>
          <p:cNvSpPr>
            <a:spLocks noGrp="1"/>
          </p:cNvSpPr>
          <p:nvPr>
            <p:ph type="title"/>
          </p:nvPr>
        </p:nvSpPr>
        <p:spPr/>
        <p:txBody>
          <a:bodyPr/>
          <a:lstStyle/>
          <a:p>
            <a:r>
              <a:rPr lang="en-US" dirty="0"/>
              <a:t>Sodium Corrosion</a:t>
            </a:r>
          </a:p>
        </p:txBody>
      </p:sp>
      <p:sp>
        <p:nvSpPr>
          <p:cNvPr id="3" name="Content Placeholder 2">
            <a:extLst>
              <a:ext uri="{FF2B5EF4-FFF2-40B4-BE49-F238E27FC236}">
                <a16:creationId xmlns:a16="http://schemas.microsoft.com/office/drawing/2014/main" id="{E04BA5BE-75C5-5D4E-8676-678618A700EE}"/>
              </a:ext>
            </a:extLst>
          </p:cNvPr>
          <p:cNvSpPr>
            <a:spLocks noGrp="1"/>
          </p:cNvSpPr>
          <p:nvPr>
            <p:ph sz="half" idx="1"/>
          </p:nvPr>
        </p:nvSpPr>
        <p:spPr>
          <a:xfrm>
            <a:off x="609600" y="1968503"/>
            <a:ext cx="10972800" cy="1665345"/>
          </a:xfrm>
        </p:spPr>
        <p:txBody>
          <a:bodyPr/>
          <a:lstStyle/>
          <a:p>
            <a:r>
              <a:rPr lang="en-US" sz="2200" dirty="0"/>
              <a:t>Dissolution of the elements in the material is observed in the high-temperature section, and precipitation is observed in the low-temperature section</a:t>
            </a:r>
          </a:p>
          <a:p>
            <a:endParaRPr lang="en-US" sz="2200" dirty="0"/>
          </a:p>
        </p:txBody>
      </p:sp>
      <p:sp>
        <p:nvSpPr>
          <p:cNvPr id="5" name="Slide Number Placeholder 4">
            <a:extLst>
              <a:ext uri="{FF2B5EF4-FFF2-40B4-BE49-F238E27FC236}">
                <a16:creationId xmlns:a16="http://schemas.microsoft.com/office/drawing/2014/main" id="{296EA24F-AAC9-3547-9852-C5B5F84A217A}"/>
              </a:ext>
            </a:extLst>
          </p:cNvPr>
          <p:cNvSpPr>
            <a:spLocks noGrp="1"/>
          </p:cNvSpPr>
          <p:nvPr>
            <p:ph type="sldNum" sz="quarter" idx="12"/>
          </p:nvPr>
        </p:nvSpPr>
        <p:spPr/>
        <p:txBody>
          <a:bodyPr/>
          <a:lstStyle/>
          <a:p>
            <a:pPr>
              <a:defRPr/>
            </a:pPr>
            <a:fld id="{EC35E9FC-F6D5-0349-BBED-EA7D7A9BC49B}" type="slidenum">
              <a:rPr lang="en-US" smtClean="0"/>
              <a:pPr>
                <a:defRPr/>
              </a:pPr>
              <a:t>31</a:t>
            </a:fld>
            <a:endParaRPr lang="en-US"/>
          </a:p>
        </p:txBody>
      </p:sp>
      <p:pic>
        <p:nvPicPr>
          <p:cNvPr id="6" name="Picture 5">
            <a:extLst>
              <a:ext uri="{FF2B5EF4-FFF2-40B4-BE49-F238E27FC236}">
                <a16:creationId xmlns:a16="http://schemas.microsoft.com/office/drawing/2014/main" id="{CCD71BA5-368F-584D-A94A-5C2DBD2CF3A9}"/>
              </a:ext>
            </a:extLst>
          </p:cNvPr>
          <p:cNvPicPr>
            <a:picLocks noChangeAspect="1"/>
          </p:cNvPicPr>
          <p:nvPr/>
        </p:nvPicPr>
        <p:blipFill>
          <a:blip r:embed="rId2"/>
          <a:stretch>
            <a:fillRect/>
          </a:stretch>
        </p:blipFill>
        <p:spPr>
          <a:xfrm>
            <a:off x="1334173" y="2867572"/>
            <a:ext cx="9523653" cy="3038675"/>
          </a:xfrm>
          <a:prstGeom prst="rect">
            <a:avLst/>
          </a:prstGeom>
        </p:spPr>
      </p:pic>
    </p:spTree>
    <p:extLst>
      <p:ext uri="{BB962C8B-B14F-4D97-AF65-F5344CB8AC3E}">
        <p14:creationId xmlns:p14="http://schemas.microsoft.com/office/powerpoint/2010/main" val="2316493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9EBFD-F693-B34D-B0E2-B62AAAB649A3}"/>
              </a:ext>
            </a:extLst>
          </p:cNvPr>
          <p:cNvSpPr>
            <a:spLocks noGrp="1"/>
          </p:cNvSpPr>
          <p:nvPr>
            <p:ph type="title"/>
          </p:nvPr>
        </p:nvSpPr>
        <p:spPr/>
        <p:txBody>
          <a:bodyPr/>
          <a:lstStyle/>
          <a:p>
            <a:r>
              <a:rPr lang="en-US" dirty="0"/>
              <a:t>Impurity Sodium Corrosion</a:t>
            </a:r>
          </a:p>
        </p:txBody>
      </p:sp>
      <p:sp>
        <p:nvSpPr>
          <p:cNvPr id="3" name="Content Placeholder 2">
            <a:extLst>
              <a:ext uri="{FF2B5EF4-FFF2-40B4-BE49-F238E27FC236}">
                <a16:creationId xmlns:a16="http://schemas.microsoft.com/office/drawing/2014/main" id="{1C1062C9-556F-F646-B710-7385A3FD25D7}"/>
              </a:ext>
            </a:extLst>
          </p:cNvPr>
          <p:cNvSpPr>
            <a:spLocks noGrp="1"/>
          </p:cNvSpPr>
          <p:nvPr>
            <p:ph sz="half" idx="1"/>
          </p:nvPr>
        </p:nvSpPr>
        <p:spPr>
          <a:xfrm>
            <a:off x="609600" y="1968503"/>
            <a:ext cx="6468094" cy="4157663"/>
          </a:xfrm>
        </p:spPr>
        <p:txBody>
          <a:bodyPr/>
          <a:lstStyle/>
          <a:p>
            <a:r>
              <a:rPr lang="en-US" sz="2000" dirty="0"/>
              <a:t>Type II-Corrosion Produced Through Chemical Reaction with the Impurities in Sodium</a:t>
            </a:r>
          </a:p>
          <a:p>
            <a:r>
              <a:rPr lang="en-US" sz="2000" dirty="0"/>
              <a:t>The control of impurities in sodium can be achieved by using techniques to deposit/collect the dissolved impurities in sodium</a:t>
            </a:r>
          </a:p>
          <a:p>
            <a:r>
              <a:rPr lang="en-US" sz="2000" dirty="0"/>
              <a:t>Impurities such as oxygen, carbon and nitrogen in sodium can have a strong effect on the corrosion rate of a material</a:t>
            </a:r>
          </a:p>
          <a:p>
            <a:r>
              <a:rPr lang="en-US" sz="2000" dirty="0"/>
              <a:t>Sodium is the reducing agent, and its affinity to oxygen is very strong</a:t>
            </a:r>
          </a:p>
          <a:p>
            <a:r>
              <a:rPr lang="en-US" sz="2000" dirty="0"/>
              <a:t>The solubility of oxygen in sodium is significantly higher than in water</a:t>
            </a:r>
          </a:p>
          <a:p>
            <a:endParaRPr lang="en-US" sz="2000" dirty="0"/>
          </a:p>
          <a:p>
            <a:endParaRPr lang="en-US" sz="2000" dirty="0"/>
          </a:p>
        </p:txBody>
      </p:sp>
      <p:pic>
        <p:nvPicPr>
          <p:cNvPr id="6" name="Content Placeholder 5">
            <a:extLst>
              <a:ext uri="{FF2B5EF4-FFF2-40B4-BE49-F238E27FC236}">
                <a16:creationId xmlns:a16="http://schemas.microsoft.com/office/drawing/2014/main" id="{DDCE3FF3-6FF7-FA46-A01F-9F933C0891A4}"/>
              </a:ext>
            </a:extLst>
          </p:cNvPr>
          <p:cNvPicPr>
            <a:picLocks noGrp="1" noChangeAspect="1"/>
          </p:cNvPicPr>
          <p:nvPr>
            <p:ph sz="half" idx="2"/>
          </p:nvPr>
        </p:nvPicPr>
        <p:blipFill>
          <a:blip r:embed="rId2"/>
          <a:stretch>
            <a:fillRect/>
          </a:stretch>
        </p:blipFill>
        <p:spPr>
          <a:xfrm>
            <a:off x="7181017" y="2024744"/>
            <a:ext cx="4769518" cy="4090583"/>
          </a:xfrm>
          <a:prstGeom prst="rect">
            <a:avLst/>
          </a:prstGeom>
        </p:spPr>
      </p:pic>
      <p:sp>
        <p:nvSpPr>
          <p:cNvPr id="5" name="Slide Number Placeholder 4">
            <a:extLst>
              <a:ext uri="{FF2B5EF4-FFF2-40B4-BE49-F238E27FC236}">
                <a16:creationId xmlns:a16="http://schemas.microsoft.com/office/drawing/2014/main" id="{4800BBB2-BF27-7443-AD0A-AD0D03E2F328}"/>
              </a:ext>
            </a:extLst>
          </p:cNvPr>
          <p:cNvSpPr>
            <a:spLocks noGrp="1"/>
          </p:cNvSpPr>
          <p:nvPr>
            <p:ph type="sldNum" sz="quarter" idx="12"/>
          </p:nvPr>
        </p:nvSpPr>
        <p:spPr/>
        <p:txBody>
          <a:bodyPr/>
          <a:lstStyle/>
          <a:p>
            <a:pPr>
              <a:defRPr/>
            </a:pPr>
            <a:fld id="{EC35E9FC-F6D5-0349-BBED-EA7D7A9BC49B}" type="slidenum">
              <a:rPr lang="en-US" smtClean="0"/>
              <a:pPr>
                <a:defRPr/>
              </a:pPr>
              <a:t>32</a:t>
            </a:fld>
            <a:endParaRPr lang="en-US"/>
          </a:p>
        </p:txBody>
      </p:sp>
    </p:spTree>
    <p:extLst>
      <p:ext uri="{BB962C8B-B14F-4D97-AF65-F5344CB8AC3E}">
        <p14:creationId xmlns:p14="http://schemas.microsoft.com/office/powerpoint/2010/main" val="31966462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AF8398-890C-F642-8244-077F8F7EF663}"/>
              </a:ext>
            </a:extLst>
          </p:cNvPr>
          <p:cNvSpPr>
            <a:spLocks noGrp="1"/>
          </p:cNvSpPr>
          <p:nvPr>
            <p:ph type="title"/>
          </p:nvPr>
        </p:nvSpPr>
        <p:spPr/>
        <p:txBody>
          <a:bodyPr/>
          <a:lstStyle/>
          <a:p>
            <a:r>
              <a:rPr lang="en-US" dirty="0"/>
              <a:t>Oxygen Acceleration</a:t>
            </a:r>
          </a:p>
        </p:txBody>
      </p:sp>
      <p:sp>
        <p:nvSpPr>
          <p:cNvPr id="3" name="Content Placeholder 2">
            <a:extLst>
              <a:ext uri="{FF2B5EF4-FFF2-40B4-BE49-F238E27FC236}">
                <a16:creationId xmlns:a16="http://schemas.microsoft.com/office/drawing/2014/main" id="{FEB685D1-E991-A243-9D12-F2260D37AC78}"/>
              </a:ext>
            </a:extLst>
          </p:cNvPr>
          <p:cNvSpPr>
            <a:spLocks noGrp="1"/>
          </p:cNvSpPr>
          <p:nvPr>
            <p:ph sz="half" idx="1"/>
          </p:nvPr>
        </p:nvSpPr>
        <p:spPr>
          <a:xfrm>
            <a:off x="609600" y="1968503"/>
            <a:ext cx="5150070" cy="4157663"/>
          </a:xfrm>
        </p:spPr>
        <p:txBody>
          <a:bodyPr/>
          <a:lstStyle/>
          <a:p>
            <a:r>
              <a:rPr lang="en-US" sz="2200" dirty="0"/>
              <a:t>The introduction of oxygen into sodium may occur during refueling, supplementing of the reactor cover gas, opening of the coolant boundary for maintenance operations, etc. </a:t>
            </a:r>
          </a:p>
          <a:p>
            <a:r>
              <a:rPr lang="en-US" sz="2200" dirty="0"/>
              <a:t>The thermodynamically stable oxide in sodium is sodium oxide, Na2O</a:t>
            </a:r>
          </a:p>
          <a:p>
            <a:r>
              <a:rPr lang="en-US" sz="2200" dirty="0"/>
              <a:t>Fe spontaneously reacts with Na2O above 380C, forming Na4FeO3</a:t>
            </a:r>
          </a:p>
          <a:p>
            <a:r>
              <a:rPr lang="en-US" sz="2200" dirty="0"/>
              <a:t>These reactions increase the effective solubility of Cr/Fe in Na</a:t>
            </a:r>
          </a:p>
          <a:p>
            <a:endParaRPr lang="en-US" sz="2200" dirty="0"/>
          </a:p>
          <a:p>
            <a:endParaRPr lang="en-US" sz="2200" dirty="0"/>
          </a:p>
        </p:txBody>
      </p:sp>
      <p:sp>
        <p:nvSpPr>
          <p:cNvPr id="5" name="Slide Number Placeholder 4">
            <a:extLst>
              <a:ext uri="{FF2B5EF4-FFF2-40B4-BE49-F238E27FC236}">
                <a16:creationId xmlns:a16="http://schemas.microsoft.com/office/drawing/2014/main" id="{8F4874AE-52D2-3941-9942-0DA4E97E47D9}"/>
              </a:ext>
            </a:extLst>
          </p:cNvPr>
          <p:cNvSpPr>
            <a:spLocks noGrp="1"/>
          </p:cNvSpPr>
          <p:nvPr>
            <p:ph type="sldNum" sz="quarter" idx="12"/>
          </p:nvPr>
        </p:nvSpPr>
        <p:spPr/>
        <p:txBody>
          <a:bodyPr/>
          <a:lstStyle/>
          <a:p>
            <a:pPr>
              <a:defRPr/>
            </a:pPr>
            <a:fld id="{EC35E9FC-F6D5-0349-BBED-EA7D7A9BC49B}" type="slidenum">
              <a:rPr lang="en-US" smtClean="0"/>
              <a:pPr>
                <a:defRPr/>
              </a:pPr>
              <a:t>33</a:t>
            </a:fld>
            <a:endParaRPr lang="en-US"/>
          </a:p>
        </p:txBody>
      </p:sp>
      <p:pic>
        <p:nvPicPr>
          <p:cNvPr id="6" name="Content Placeholder 5">
            <a:extLst>
              <a:ext uri="{FF2B5EF4-FFF2-40B4-BE49-F238E27FC236}">
                <a16:creationId xmlns:a16="http://schemas.microsoft.com/office/drawing/2014/main" id="{3F07F25C-A095-5642-A449-20D61CC460E0}"/>
              </a:ext>
            </a:extLst>
          </p:cNvPr>
          <p:cNvPicPr>
            <a:picLocks noGrp="1" noChangeAspect="1"/>
          </p:cNvPicPr>
          <p:nvPr>
            <p:ph sz="half" idx="2"/>
          </p:nvPr>
        </p:nvPicPr>
        <p:blipFill>
          <a:blip r:embed="rId2"/>
          <a:stretch>
            <a:fillRect/>
          </a:stretch>
        </p:blipFill>
        <p:spPr>
          <a:xfrm>
            <a:off x="5996574" y="2156867"/>
            <a:ext cx="2900183" cy="2961671"/>
          </a:xfrm>
          <a:prstGeom prst="rect">
            <a:avLst/>
          </a:prstGeom>
        </p:spPr>
      </p:pic>
      <p:pic>
        <p:nvPicPr>
          <p:cNvPr id="7" name="Picture 6">
            <a:extLst>
              <a:ext uri="{FF2B5EF4-FFF2-40B4-BE49-F238E27FC236}">
                <a16:creationId xmlns:a16="http://schemas.microsoft.com/office/drawing/2014/main" id="{BB34F4B4-5901-904D-AD54-11DE040DBDEE}"/>
              </a:ext>
            </a:extLst>
          </p:cNvPr>
          <p:cNvPicPr>
            <a:picLocks noChangeAspect="1"/>
          </p:cNvPicPr>
          <p:nvPr/>
        </p:nvPicPr>
        <p:blipFill>
          <a:blip r:embed="rId3"/>
          <a:stretch>
            <a:fillRect/>
          </a:stretch>
        </p:blipFill>
        <p:spPr>
          <a:xfrm>
            <a:off x="7315607" y="5871394"/>
            <a:ext cx="3162300" cy="355600"/>
          </a:xfrm>
          <a:prstGeom prst="rect">
            <a:avLst/>
          </a:prstGeom>
        </p:spPr>
      </p:pic>
      <p:pic>
        <p:nvPicPr>
          <p:cNvPr id="4" name="Picture 3">
            <a:extLst>
              <a:ext uri="{FF2B5EF4-FFF2-40B4-BE49-F238E27FC236}">
                <a16:creationId xmlns:a16="http://schemas.microsoft.com/office/drawing/2014/main" id="{6168F379-E6F3-301E-D9EB-0BDA918E758C}"/>
              </a:ext>
            </a:extLst>
          </p:cNvPr>
          <p:cNvPicPr>
            <a:picLocks noChangeAspect="1"/>
          </p:cNvPicPr>
          <p:nvPr/>
        </p:nvPicPr>
        <p:blipFill>
          <a:blip r:embed="rId4"/>
          <a:stretch>
            <a:fillRect/>
          </a:stretch>
        </p:blipFill>
        <p:spPr>
          <a:xfrm>
            <a:off x="7393429" y="5478338"/>
            <a:ext cx="3006656" cy="309965"/>
          </a:xfrm>
          <a:prstGeom prst="rect">
            <a:avLst/>
          </a:prstGeom>
        </p:spPr>
      </p:pic>
      <p:pic>
        <p:nvPicPr>
          <p:cNvPr id="8" name="Picture 7">
            <a:extLst>
              <a:ext uri="{FF2B5EF4-FFF2-40B4-BE49-F238E27FC236}">
                <a16:creationId xmlns:a16="http://schemas.microsoft.com/office/drawing/2014/main" id="{1814B565-28E5-159A-44AB-6BE4D3D4236D}"/>
              </a:ext>
            </a:extLst>
          </p:cNvPr>
          <p:cNvPicPr>
            <a:picLocks noChangeAspect="1"/>
          </p:cNvPicPr>
          <p:nvPr/>
        </p:nvPicPr>
        <p:blipFill>
          <a:blip r:embed="rId5"/>
          <a:stretch>
            <a:fillRect/>
          </a:stretch>
        </p:blipFill>
        <p:spPr>
          <a:xfrm>
            <a:off x="9216226" y="1207271"/>
            <a:ext cx="2711544" cy="4273874"/>
          </a:xfrm>
          <a:prstGeom prst="rect">
            <a:avLst/>
          </a:prstGeom>
        </p:spPr>
      </p:pic>
    </p:spTree>
    <p:extLst>
      <p:ext uri="{BB962C8B-B14F-4D97-AF65-F5344CB8AC3E}">
        <p14:creationId xmlns:p14="http://schemas.microsoft.com/office/powerpoint/2010/main" val="42699246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A428A-1882-D8EE-2070-8616FFDD8C30}"/>
              </a:ext>
            </a:extLst>
          </p:cNvPr>
          <p:cNvSpPr>
            <a:spLocks noGrp="1"/>
          </p:cNvSpPr>
          <p:nvPr>
            <p:ph type="title"/>
          </p:nvPr>
        </p:nvSpPr>
        <p:spPr/>
        <p:txBody>
          <a:bodyPr/>
          <a:lstStyle/>
          <a:p>
            <a:r>
              <a:rPr lang="en-US" dirty="0"/>
              <a:t>Carbon Effects</a:t>
            </a:r>
          </a:p>
        </p:txBody>
      </p:sp>
      <p:sp>
        <p:nvSpPr>
          <p:cNvPr id="3" name="Content Placeholder 2">
            <a:extLst>
              <a:ext uri="{FF2B5EF4-FFF2-40B4-BE49-F238E27FC236}">
                <a16:creationId xmlns:a16="http://schemas.microsoft.com/office/drawing/2014/main" id="{E4E846CC-FC59-20F7-1479-ECEC6706D73F}"/>
              </a:ext>
            </a:extLst>
          </p:cNvPr>
          <p:cNvSpPr>
            <a:spLocks noGrp="1"/>
          </p:cNvSpPr>
          <p:nvPr>
            <p:ph sz="half" idx="1"/>
          </p:nvPr>
        </p:nvSpPr>
        <p:spPr>
          <a:xfrm>
            <a:off x="609599" y="1968503"/>
            <a:ext cx="6043449" cy="4157663"/>
          </a:xfrm>
        </p:spPr>
        <p:txBody>
          <a:bodyPr/>
          <a:lstStyle/>
          <a:p>
            <a:r>
              <a:rPr lang="en-US" sz="2000" dirty="0"/>
              <a:t>Carbon is an important element in maintaining the superior mechanical strength of steel</a:t>
            </a:r>
          </a:p>
          <a:p>
            <a:r>
              <a:rPr lang="en-US" sz="2000" dirty="0"/>
              <a:t>Carbon transfer can occur due to the chemical activity difference resulting from the temperature gradient</a:t>
            </a:r>
          </a:p>
          <a:p>
            <a:r>
              <a:rPr lang="en-US" sz="2000" dirty="0"/>
              <a:t>The materials located in the high temperature regions tend to decarburize</a:t>
            </a:r>
          </a:p>
          <a:p>
            <a:r>
              <a:rPr lang="en-US" sz="2000" dirty="0"/>
              <a:t>If a system has both austenitic and ferritic steels, carbon transfer can occur due to different chemical activities in these materials; austenitic steels carburize</a:t>
            </a:r>
          </a:p>
          <a:p>
            <a:r>
              <a:rPr lang="en-US" sz="2000" dirty="0"/>
              <a:t>High Cr content reduces susceptibility for decarburization, largely through forming Cr-C precipitates</a:t>
            </a:r>
          </a:p>
          <a:p>
            <a:endParaRPr lang="en-US" sz="2000" dirty="0"/>
          </a:p>
        </p:txBody>
      </p:sp>
      <p:sp>
        <p:nvSpPr>
          <p:cNvPr id="5" name="Slide Number Placeholder 4">
            <a:extLst>
              <a:ext uri="{FF2B5EF4-FFF2-40B4-BE49-F238E27FC236}">
                <a16:creationId xmlns:a16="http://schemas.microsoft.com/office/drawing/2014/main" id="{FB82CC21-F7E2-E0B7-56DA-7BF3B6B68DB1}"/>
              </a:ext>
            </a:extLst>
          </p:cNvPr>
          <p:cNvSpPr>
            <a:spLocks noGrp="1"/>
          </p:cNvSpPr>
          <p:nvPr>
            <p:ph type="sldNum" sz="quarter" idx="12"/>
          </p:nvPr>
        </p:nvSpPr>
        <p:spPr/>
        <p:txBody>
          <a:bodyPr/>
          <a:lstStyle/>
          <a:p>
            <a:pPr>
              <a:defRPr/>
            </a:pPr>
            <a:fld id="{EC35E9FC-F6D5-0349-BBED-EA7D7A9BC49B}" type="slidenum">
              <a:rPr lang="en-US" smtClean="0"/>
              <a:pPr>
                <a:defRPr/>
              </a:pPr>
              <a:t>34</a:t>
            </a:fld>
            <a:endParaRPr lang="en-US"/>
          </a:p>
        </p:txBody>
      </p:sp>
      <p:pic>
        <p:nvPicPr>
          <p:cNvPr id="7" name="Picture 6">
            <a:extLst>
              <a:ext uri="{FF2B5EF4-FFF2-40B4-BE49-F238E27FC236}">
                <a16:creationId xmlns:a16="http://schemas.microsoft.com/office/drawing/2014/main" id="{352A48AF-96B7-C513-93EF-94C76484E72E}"/>
              </a:ext>
            </a:extLst>
          </p:cNvPr>
          <p:cNvPicPr>
            <a:picLocks noChangeAspect="1"/>
          </p:cNvPicPr>
          <p:nvPr/>
        </p:nvPicPr>
        <p:blipFill>
          <a:blip r:embed="rId2"/>
          <a:stretch>
            <a:fillRect/>
          </a:stretch>
        </p:blipFill>
        <p:spPr>
          <a:xfrm>
            <a:off x="6436627" y="2285877"/>
            <a:ext cx="3211870" cy="3203328"/>
          </a:xfrm>
          <a:prstGeom prst="rect">
            <a:avLst/>
          </a:prstGeom>
        </p:spPr>
      </p:pic>
      <p:pic>
        <p:nvPicPr>
          <p:cNvPr id="8" name="Picture 7">
            <a:extLst>
              <a:ext uri="{FF2B5EF4-FFF2-40B4-BE49-F238E27FC236}">
                <a16:creationId xmlns:a16="http://schemas.microsoft.com/office/drawing/2014/main" id="{795CB8DD-ADBB-B3A5-1F38-7908E0F1FFDA}"/>
              </a:ext>
            </a:extLst>
          </p:cNvPr>
          <p:cNvPicPr>
            <a:picLocks noChangeAspect="1"/>
          </p:cNvPicPr>
          <p:nvPr/>
        </p:nvPicPr>
        <p:blipFill>
          <a:blip r:embed="rId3"/>
          <a:stretch>
            <a:fillRect/>
          </a:stretch>
        </p:blipFill>
        <p:spPr>
          <a:xfrm>
            <a:off x="9648497" y="2402311"/>
            <a:ext cx="2350046" cy="2970459"/>
          </a:xfrm>
          <a:prstGeom prst="rect">
            <a:avLst/>
          </a:prstGeom>
        </p:spPr>
      </p:pic>
    </p:spTree>
    <p:extLst>
      <p:ext uri="{BB962C8B-B14F-4D97-AF65-F5344CB8AC3E}">
        <p14:creationId xmlns:p14="http://schemas.microsoft.com/office/powerpoint/2010/main" val="11087385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C2F9A5-B008-A04C-93AD-5D0ED9FF1C91}"/>
              </a:ext>
            </a:extLst>
          </p:cNvPr>
          <p:cNvSpPr>
            <a:spLocks noGrp="1"/>
          </p:cNvSpPr>
          <p:nvPr>
            <p:ph type="title"/>
          </p:nvPr>
        </p:nvSpPr>
        <p:spPr/>
        <p:txBody>
          <a:bodyPr/>
          <a:lstStyle/>
          <a:p>
            <a:r>
              <a:rPr lang="en-US" dirty="0"/>
              <a:t>Na Corrosion of Austenitic Steel</a:t>
            </a:r>
          </a:p>
        </p:txBody>
      </p:sp>
      <p:sp>
        <p:nvSpPr>
          <p:cNvPr id="3" name="Content Placeholder 2">
            <a:extLst>
              <a:ext uri="{FF2B5EF4-FFF2-40B4-BE49-F238E27FC236}">
                <a16:creationId xmlns:a16="http://schemas.microsoft.com/office/drawing/2014/main" id="{F9E5152F-079F-084C-A070-71735687A497}"/>
              </a:ext>
            </a:extLst>
          </p:cNvPr>
          <p:cNvSpPr>
            <a:spLocks noGrp="1"/>
          </p:cNvSpPr>
          <p:nvPr>
            <p:ph sz="half" idx="1"/>
          </p:nvPr>
        </p:nvSpPr>
        <p:spPr>
          <a:xfrm>
            <a:off x="609600" y="1968503"/>
            <a:ext cx="6254338" cy="4157663"/>
          </a:xfrm>
        </p:spPr>
        <p:txBody>
          <a:bodyPr/>
          <a:lstStyle/>
          <a:p>
            <a:r>
              <a:rPr lang="en-US" sz="2200" dirty="0"/>
              <a:t>The important factors which influence the corrosion of the steels in sodium are: (1) immersion time, (2) temperature, (3) dissolved oxygen, (4) sodium velocity, (5) alloy elements, and (6) carburization and decarburization</a:t>
            </a:r>
          </a:p>
          <a:p>
            <a:r>
              <a:rPr lang="en-US" sz="2200" dirty="0"/>
              <a:t>Ni and Mn have high Na solubilities and dissolve first in selective (start-up) corrosion, whereas Fe corrodes in general (steady-state) corrosion</a:t>
            </a:r>
          </a:p>
          <a:p>
            <a:endParaRPr lang="en-US" sz="2200" dirty="0"/>
          </a:p>
          <a:p>
            <a:endParaRPr lang="en-US" sz="2200" dirty="0"/>
          </a:p>
          <a:p>
            <a:endParaRPr lang="en-US" sz="2200" dirty="0"/>
          </a:p>
        </p:txBody>
      </p:sp>
      <p:pic>
        <p:nvPicPr>
          <p:cNvPr id="6" name="Content Placeholder 5">
            <a:extLst>
              <a:ext uri="{FF2B5EF4-FFF2-40B4-BE49-F238E27FC236}">
                <a16:creationId xmlns:a16="http://schemas.microsoft.com/office/drawing/2014/main" id="{EEC2702A-D768-9D41-A649-2376E4F87FC8}"/>
              </a:ext>
            </a:extLst>
          </p:cNvPr>
          <p:cNvPicPr>
            <a:picLocks noGrp="1" noChangeAspect="1"/>
          </p:cNvPicPr>
          <p:nvPr>
            <p:ph sz="half" idx="2"/>
          </p:nvPr>
        </p:nvPicPr>
        <p:blipFill>
          <a:blip r:embed="rId2"/>
          <a:stretch>
            <a:fillRect/>
          </a:stretch>
        </p:blipFill>
        <p:spPr>
          <a:xfrm>
            <a:off x="7311223" y="2145880"/>
            <a:ext cx="4271177" cy="3802908"/>
          </a:xfrm>
          <a:prstGeom prst="rect">
            <a:avLst/>
          </a:prstGeom>
        </p:spPr>
      </p:pic>
      <p:sp>
        <p:nvSpPr>
          <p:cNvPr id="5" name="Slide Number Placeholder 4">
            <a:extLst>
              <a:ext uri="{FF2B5EF4-FFF2-40B4-BE49-F238E27FC236}">
                <a16:creationId xmlns:a16="http://schemas.microsoft.com/office/drawing/2014/main" id="{0604BF2F-993E-FA4B-A8C8-F9A672CBA29F}"/>
              </a:ext>
            </a:extLst>
          </p:cNvPr>
          <p:cNvSpPr>
            <a:spLocks noGrp="1"/>
          </p:cNvSpPr>
          <p:nvPr>
            <p:ph type="sldNum" sz="quarter" idx="12"/>
          </p:nvPr>
        </p:nvSpPr>
        <p:spPr/>
        <p:txBody>
          <a:bodyPr/>
          <a:lstStyle/>
          <a:p>
            <a:pPr>
              <a:defRPr/>
            </a:pPr>
            <a:fld id="{EC35E9FC-F6D5-0349-BBED-EA7D7A9BC49B}" type="slidenum">
              <a:rPr lang="en-US" smtClean="0"/>
              <a:pPr>
                <a:defRPr/>
              </a:pPr>
              <a:t>35</a:t>
            </a:fld>
            <a:endParaRPr lang="en-US"/>
          </a:p>
        </p:txBody>
      </p:sp>
    </p:spTree>
    <p:extLst>
      <p:ext uri="{BB962C8B-B14F-4D97-AF65-F5344CB8AC3E}">
        <p14:creationId xmlns:p14="http://schemas.microsoft.com/office/powerpoint/2010/main" val="34025862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8E721-D352-624A-8C7F-593FC3BB9568}"/>
              </a:ext>
            </a:extLst>
          </p:cNvPr>
          <p:cNvSpPr>
            <a:spLocks noGrp="1"/>
          </p:cNvSpPr>
          <p:nvPr>
            <p:ph type="title"/>
          </p:nvPr>
        </p:nvSpPr>
        <p:spPr/>
        <p:txBody>
          <a:bodyPr/>
          <a:lstStyle/>
          <a:p>
            <a:r>
              <a:rPr lang="en-US" dirty="0"/>
              <a:t>Na Corrosion of Austenitic Steel</a:t>
            </a:r>
          </a:p>
        </p:txBody>
      </p:sp>
      <p:sp>
        <p:nvSpPr>
          <p:cNvPr id="3" name="Content Placeholder 2">
            <a:extLst>
              <a:ext uri="{FF2B5EF4-FFF2-40B4-BE49-F238E27FC236}">
                <a16:creationId xmlns:a16="http://schemas.microsoft.com/office/drawing/2014/main" id="{DC04F040-91FB-CC4D-B3B7-81371603BDA9}"/>
              </a:ext>
            </a:extLst>
          </p:cNvPr>
          <p:cNvSpPr>
            <a:spLocks noGrp="1"/>
          </p:cNvSpPr>
          <p:nvPr>
            <p:ph sz="half" idx="1"/>
          </p:nvPr>
        </p:nvSpPr>
        <p:spPr>
          <a:xfrm>
            <a:off x="609599" y="1968503"/>
            <a:ext cx="5770179" cy="4157663"/>
          </a:xfrm>
        </p:spPr>
        <p:txBody>
          <a:bodyPr/>
          <a:lstStyle/>
          <a:p>
            <a:r>
              <a:rPr lang="en-US" sz="2000" dirty="0"/>
              <a:t>Corrosion rate follows an Arrhenius function</a:t>
            </a:r>
          </a:p>
          <a:p>
            <a:r>
              <a:rPr lang="en-US" sz="2000" dirty="0"/>
              <a:t>The effective activation energy is a function of temperature, and agrees with the activation energy of solubility in Na</a:t>
            </a:r>
          </a:p>
          <a:p>
            <a:r>
              <a:rPr lang="en-US" sz="2000" dirty="0"/>
              <a:t>This matches the understanding of corrosion through dissolution processes</a:t>
            </a:r>
          </a:p>
          <a:p>
            <a:r>
              <a:rPr lang="en-US" sz="2000" dirty="0"/>
              <a:t>The corrosion rate is proportional to the oxygen concentration to a power n~1</a:t>
            </a:r>
          </a:p>
          <a:p>
            <a:r>
              <a:rPr lang="en-US" sz="2000" dirty="0"/>
              <a:t>Thus, limiting O2 in the Na can limit corrosion</a:t>
            </a:r>
          </a:p>
          <a:p>
            <a:r>
              <a:rPr lang="en-US" sz="2000" dirty="0"/>
              <a:t>Corrosion rates increase with velocity up to a certain point, then become velocity independent</a:t>
            </a:r>
          </a:p>
          <a:p>
            <a:endParaRPr lang="en-US" sz="2000" dirty="0"/>
          </a:p>
        </p:txBody>
      </p:sp>
      <p:sp>
        <p:nvSpPr>
          <p:cNvPr id="5" name="Slide Number Placeholder 4">
            <a:extLst>
              <a:ext uri="{FF2B5EF4-FFF2-40B4-BE49-F238E27FC236}">
                <a16:creationId xmlns:a16="http://schemas.microsoft.com/office/drawing/2014/main" id="{2366F64B-F199-8445-B555-DCBB18A4A8BB}"/>
              </a:ext>
            </a:extLst>
          </p:cNvPr>
          <p:cNvSpPr>
            <a:spLocks noGrp="1"/>
          </p:cNvSpPr>
          <p:nvPr>
            <p:ph type="sldNum" sz="quarter" idx="12"/>
          </p:nvPr>
        </p:nvSpPr>
        <p:spPr/>
        <p:txBody>
          <a:bodyPr/>
          <a:lstStyle/>
          <a:p>
            <a:pPr>
              <a:defRPr/>
            </a:pPr>
            <a:fld id="{EC35E9FC-F6D5-0349-BBED-EA7D7A9BC49B}" type="slidenum">
              <a:rPr lang="en-US" smtClean="0"/>
              <a:pPr>
                <a:defRPr/>
              </a:pPr>
              <a:t>36</a:t>
            </a:fld>
            <a:endParaRPr lang="en-US"/>
          </a:p>
        </p:txBody>
      </p:sp>
      <p:pic>
        <p:nvPicPr>
          <p:cNvPr id="6" name="Content Placeholder 5">
            <a:extLst>
              <a:ext uri="{FF2B5EF4-FFF2-40B4-BE49-F238E27FC236}">
                <a16:creationId xmlns:a16="http://schemas.microsoft.com/office/drawing/2014/main" id="{A65EDD3F-1619-8D45-AC8D-CF56DF5D348B}"/>
              </a:ext>
            </a:extLst>
          </p:cNvPr>
          <p:cNvPicPr>
            <a:picLocks noGrp="1" noChangeAspect="1"/>
          </p:cNvPicPr>
          <p:nvPr>
            <p:ph sz="half" idx="2"/>
          </p:nvPr>
        </p:nvPicPr>
        <p:blipFill>
          <a:blip r:embed="rId2"/>
          <a:stretch>
            <a:fillRect/>
          </a:stretch>
        </p:blipFill>
        <p:spPr>
          <a:xfrm>
            <a:off x="6379778" y="1769755"/>
            <a:ext cx="3389884" cy="4555158"/>
          </a:xfrm>
          <a:prstGeom prst="rect">
            <a:avLst/>
          </a:prstGeom>
        </p:spPr>
      </p:pic>
      <p:pic>
        <p:nvPicPr>
          <p:cNvPr id="7" name="Picture 6">
            <a:extLst>
              <a:ext uri="{FF2B5EF4-FFF2-40B4-BE49-F238E27FC236}">
                <a16:creationId xmlns:a16="http://schemas.microsoft.com/office/drawing/2014/main" id="{2AC5D08D-E4FC-C14B-A181-1A796BC75B49}"/>
              </a:ext>
            </a:extLst>
          </p:cNvPr>
          <p:cNvPicPr>
            <a:picLocks noChangeAspect="1"/>
          </p:cNvPicPr>
          <p:nvPr/>
        </p:nvPicPr>
        <p:blipFill>
          <a:blip r:embed="rId3"/>
          <a:stretch>
            <a:fillRect/>
          </a:stretch>
        </p:blipFill>
        <p:spPr>
          <a:xfrm>
            <a:off x="9536392" y="2452378"/>
            <a:ext cx="2541320" cy="1710047"/>
          </a:xfrm>
          <a:prstGeom prst="rect">
            <a:avLst/>
          </a:prstGeom>
        </p:spPr>
      </p:pic>
      <p:pic>
        <p:nvPicPr>
          <p:cNvPr id="8" name="Picture 7">
            <a:extLst>
              <a:ext uri="{FF2B5EF4-FFF2-40B4-BE49-F238E27FC236}">
                <a16:creationId xmlns:a16="http://schemas.microsoft.com/office/drawing/2014/main" id="{CBA4DFC7-0B8F-904D-AF61-1ACB8C39466A}"/>
              </a:ext>
            </a:extLst>
          </p:cNvPr>
          <p:cNvPicPr>
            <a:picLocks noChangeAspect="1"/>
          </p:cNvPicPr>
          <p:nvPr/>
        </p:nvPicPr>
        <p:blipFill>
          <a:blip r:embed="rId4"/>
          <a:stretch>
            <a:fillRect/>
          </a:stretch>
        </p:blipFill>
        <p:spPr>
          <a:xfrm>
            <a:off x="9505451" y="4247840"/>
            <a:ext cx="2562328" cy="1575892"/>
          </a:xfrm>
          <a:prstGeom prst="rect">
            <a:avLst/>
          </a:prstGeom>
        </p:spPr>
      </p:pic>
    </p:spTree>
    <p:extLst>
      <p:ext uri="{BB962C8B-B14F-4D97-AF65-F5344CB8AC3E}">
        <p14:creationId xmlns:p14="http://schemas.microsoft.com/office/powerpoint/2010/main" val="37077281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3B105-ED48-0746-88CF-F9411E3F0C21}"/>
              </a:ext>
            </a:extLst>
          </p:cNvPr>
          <p:cNvSpPr>
            <a:spLocks noGrp="1"/>
          </p:cNvSpPr>
          <p:nvPr>
            <p:ph type="title"/>
          </p:nvPr>
        </p:nvSpPr>
        <p:spPr/>
        <p:txBody>
          <a:bodyPr/>
          <a:lstStyle/>
          <a:p>
            <a:r>
              <a:rPr lang="en-US" dirty="0"/>
              <a:t>Na Corrosion in Austenitic Steel</a:t>
            </a:r>
          </a:p>
        </p:txBody>
      </p:sp>
      <p:sp>
        <p:nvSpPr>
          <p:cNvPr id="3" name="Content Placeholder 2">
            <a:extLst>
              <a:ext uri="{FF2B5EF4-FFF2-40B4-BE49-F238E27FC236}">
                <a16:creationId xmlns:a16="http://schemas.microsoft.com/office/drawing/2014/main" id="{BBE58F6E-C689-9D4D-9A47-77AA1D6591EF}"/>
              </a:ext>
            </a:extLst>
          </p:cNvPr>
          <p:cNvSpPr>
            <a:spLocks noGrp="1"/>
          </p:cNvSpPr>
          <p:nvPr>
            <p:ph sz="half" idx="1"/>
          </p:nvPr>
        </p:nvSpPr>
        <p:spPr>
          <a:xfrm>
            <a:off x="609600" y="1968503"/>
            <a:ext cx="5071400" cy="4157663"/>
          </a:xfrm>
        </p:spPr>
        <p:txBody>
          <a:bodyPr/>
          <a:lstStyle/>
          <a:p>
            <a:r>
              <a:rPr lang="en-US" sz="2200" dirty="0"/>
              <a:t>Because this is a dissolution driven process, the alloying elements are key to corrosion rates</a:t>
            </a:r>
          </a:p>
          <a:p>
            <a:r>
              <a:rPr lang="en-US" sz="2200" dirty="0"/>
              <a:t>Ni is especially soluble in Na, and as Ni content increases, corrosion rates increase</a:t>
            </a:r>
          </a:p>
          <a:p>
            <a:r>
              <a:rPr lang="en-US" sz="2200" dirty="0"/>
              <a:t>Cr has a much low solubility in Na and is thus preferred as an alloying element for Na-facing components</a:t>
            </a:r>
          </a:p>
          <a:p>
            <a:r>
              <a:rPr lang="en-US" sz="2200" dirty="0"/>
              <a:t>Decarburization or steels can also occur due to the temperature-dependent solubility of C in Na</a:t>
            </a:r>
          </a:p>
        </p:txBody>
      </p:sp>
      <p:pic>
        <p:nvPicPr>
          <p:cNvPr id="6" name="Content Placeholder 5">
            <a:extLst>
              <a:ext uri="{FF2B5EF4-FFF2-40B4-BE49-F238E27FC236}">
                <a16:creationId xmlns:a16="http://schemas.microsoft.com/office/drawing/2014/main" id="{697ADFCC-2D65-924E-B533-A60A1736CD03}"/>
              </a:ext>
            </a:extLst>
          </p:cNvPr>
          <p:cNvPicPr>
            <a:picLocks noGrp="1" noChangeAspect="1"/>
          </p:cNvPicPr>
          <p:nvPr>
            <p:ph sz="half" idx="2"/>
          </p:nvPr>
        </p:nvPicPr>
        <p:blipFill>
          <a:blip r:embed="rId2"/>
          <a:stretch>
            <a:fillRect/>
          </a:stretch>
        </p:blipFill>
        <p:spPr>
          <a:xfrm>
            <a:off x="5810356" y="2095562"/>
            <a:ext cx="3132837" cy="3619376"/>
          </a:xfrm>
          <a:prstGeom prst="rect">
            <a:avLst/>
          </a:prstGeom>
        </p:spPr>
      </p:pic>
      <p:sp>
        <p:nvSpPr>
          <p:cNvPr id="5" name="Slide Number Placeholder 4">
            <a:extLst>
              <a:ext uri="{FF2B5EF4-FFF2-40B4-BE49-F238E27FC236}">
                <a16:creationId xmlns:a16="http://schemas.microsoft.com/office/drawing/2014/main" id="{6BE89178-C003-EC46-AB3F-2C358691A52B}"/>
              </a:ext>
            </a:extLst>
          </p:cNvPr>
          <p:cNvSpPr>
            <a:spLocks noGrp="1"/>
          </p:cNvSpPr>
          <p:nvPr>
            <p:ph type="sldNum" sz="quarter" idx="12"/>
          </p:nvPr>
        </p:nvSpPr>
        <p:spPr/>
        <p:txBody>
          <a:bodyPr/>
          <a:lstStyle/>
          <a:p>
            <a:pPr>
              <a:defRPr/>
            </a:pPr>
            <a:fld id="{EC35E9FC-F6D5-0349-BBED-EA7D7A9BC49B}" type="slidenum">
              <a:rPr lang="en-US" smtClean="0"/>
              <a:pPr>
                <a:defRPr/>
              </a:pPr>
              <a:t>37</a:t>
            </a:fld>
            <a:endParaRPr lang="en-US"/>
          </a:p>
        </p:txBody>
      </p:sp>
      <p:pic>
        <p:nvPicPr>
          <p:cNvPr id="7" name="Picture 6">
            <a:extLst>
              <a:ext uri="{FF2B5EF4-FFF2-40B4-BE49-F238E27FC236}">
                <a16:creationId xmlns:a16="http://schemas.microsoft.com/office/drawing/2014/main" id="{7CEDAC1D-BF76-534F-8BCE-6567C81BD9C7}"/>
              </a:ext>
            </a:extLst>
          </p:cNvPr>
          <p:cNvPicPr>
            <a:picLocks noChangeAspect="1"/>
          </p:cNvPicPr>
          <p:nvPr/>
        </p:nvPicPr>
        <p:blipFill>
          <a:blip r:embed="rId3"/>
          <a:stretch>
            <a:fillRect/>
          </a:stretch>
        </p:blipFill>
        <p:spPr>
          <a:xfrm>
            <a:off x="8943193" y="2222624"/>
            <a:ext cx="3248807" cy="3365252"/>
          </a:xfrm>
          <a:prstGeom prst="rect">
            <a:avLst/>
          </a:prstGeom>
        </p:spPr>
      </p:pic>
    </p:spTree>
    <p:extLst>
      <p:ext uri="{BB962C8B-B14F-4D97-AF65-F5344CB8AC3E}">
        <p14:creationId xmlns:p14="http://schemas.microsoft.com/office/powerpoint/2010/main" val="7901338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68D39-9721-DD4B-959D-E2EC6C762310}"/>
              </a:ext>
            </a:extLst>
          </p:cNvPr>
          <p:cNvSpPr>
            <a:spLocks noGrp="1"/>
          </p:cNvSpPr>
          <p:nvPr>
            <p:ph type="title"/>
          </p:nvPr>
        </p:nvSpPr>
        <p:spPr/>
        <p:txBody>
          <a:bodyPr/>
          <a:lstStyle/>
          <a:p>
            <a:r>
              <a:rPr lang="en-US" dirty="0"/>
              <a:t>Na Corrosion in Austenitic Steel</a:t>
            </a:r>
          </a:p>
        </p:txBody>
      </p:sp>
      <p:sp>
        <p:nvSpPr>
          <p:cNvPr id="3" name="Content Placeholder 2">
            <a:extLst>
              <a:ext uri="{FF2B5EF4-FFF2-40B4-BE49-F238E27FC236}">
                <a16:creationId xmlns:a16="http://schemas.microsoft.com/office/drawing/2014/main" id="{25033A5B-18E7-9D43-A9F2-82C5F4ECF7F3}"/>
              </a:ext>
            </a:extLst>
          </p:cNvPr>
          <p:cNvSpPr>
            <a:spLocks noGrp="1"/>
          </p:cNvSpPr>
          <p:nvPr>
            <p:ph sz="half" idx="1"/>
          </p:nvPr>
        </p:nvSpPr>
        <p:spPr>
          <a:xfrm>
            <a:off x="609599" y="1968503"/>
            <a:ext cx="10972799" cy="1460497"/>
          </a:xfrm>
        </p:spPr>
        <p:txBody>
          <a:bodyPr/>
          <a:lstStyle/>
          <a:p>
            <a:r>
              <a:rPr lang="en-US" sz="2200" dirty="0"/>
              <a:t>Corrosion behavior of austenitic  stainless steels is well understood over the temperature range of 455–755 C</a:t>
            </a:r>
          </a:p>
          <a:p>
            <a:r>
              <a:rPr lang="en-US" sz="2200" dirty="0"/>
              <a:t>It is known that after the initial period of exposure, steady-state corrosion is reached, which governs the long-term corrosion behavior</a:t>
            </a:r>
          </a:p>
          <a:p>
            <a:r>
              <a:rPr lang="en-US" sz="2200" dirty="0"/>
              <a:t>Have relationships for corrosion which include flow velocity, oxygen content, and temperature</a:t>
            </a:r>
          </a:p>
          <a:p>
            <a:endParaRPr lang="en-US" sz="2200" dirty="0"/>
          </a:p>
        </p:txBody>
      </p:sp>
      <p:sp>
        <p:nvSpPr>
          <p:cNvPr id="5" name="Slide Number Placeholder 4">
            <a:extLst>
              <a:ext uri="{FF2B5EF4-FFF2-40B4-BE49-F238E27FC236}">
                <a16:creationId xmlns:a16="http://schemas.microsoft.com/office/drawing/2014/main" id="{DED31898-70FD-CB4C-9A2C-51C5DD536874}"/>
              </a:ext>
            </a:extLst>
          </p:cNvPr>
          <p:cNvSpPr>
            <a:spLocks noGrp="1"/>
          </p:cNvSpPr>
          <p:nvPr>
            <p:ph type="sldNum" sz="quarter" idx="12"/>
          </p:nvPr>
        </p:nvSpPr>
        <p:spPr/>
        <p:txBody>
          <a:bodyPr/>
          <a:lstStyle/>
          <a:p>
            <a:pPr>
              <a:defRPr/>
            </a:pPr>
            <a:fld id="{EC35E9FC-F6D5-0349-BBED-EA7D7A9BC49B}" type="slidenum">
              <a:rPr lang="en-US" smtClean="0"/>
              <a:pPr>
                <a:defRPr/>
              </a:pPr>
              <a:t>38</a:t>
            </a:fld>
            <a:endParaRPr lang="en-US"/>
          </a:p>
        </p:txBody>
      </p:sp>
      <p:pic>
        <p:nvPicPr>
          <p:cNvPr id="8" name="Picture 7">
            <a:extLst>
              <a:ext uri="{FF2B5EF4-FFF2-40B4-BE49-F238E27FC236}">
                <a16:creationId xmlns:a16="http://schemas.microsoft.com/office/drawing/2014/main" id="{269EC326-91D9-1DA4-A990-065F8401C983}"/>
              </a:ext>
            </a:extLst>
          </p:cNvPr>
          <p:cNvPicPr>
            <a:picLocks noChangeAspect="1"/>
          </p:cNvPicPr>
          <p:nvPr/>
        </p:nvPicPr>
        <p:blipFill>
          <a:blip r:embed="rId2"/>
          <a:stretch>
            <a:fillRect/>
          </a:stretch>
        </p:blipFill>
        <p:spPr>
          <a:xfrm>
            <a:off x="2129220" y="4489167"/>
            <a:ext cx="7772400" cy="1276805"/>
          </a:xfrm>
          <a:prstGeom prst="rect">
            <a:avLst/>
          </a:prstGeom>
        </p:spPr>
      </p:pic>
    </p:spTree>
    <p:extLst>
      <p:ext uri="{BB962C8B-B14F-4D97-AF65-F5344CB8AC3E}">
        <p14:creationId xmlns:p14="http://schemas.microsoft.com/office/powerpoint/2010/main" val="21852058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74CC8-C941-6DEF-1C03-05F50E44AEEC}"/>
              </a:ext>
            </a:extLst>
          </p:cNvPr>
          <p:cNvSpPr>
            <a:spLocks noGrp="1"/>
          </p:cNvSpPr>
          <p:nvPr>
            <p:ph type="title"/>
          </p:nvPr>
        </p:nvSpPr>
        <p:spPr/>
        <p:txBody>
          <a:bodyPr/>
          <a:lstStyle/>
          <a:p>
            <a:r>
              <a:rPr lang="en-US" dirty="0"/>
              <a:t>Na Corrosion in Ferritic Steels</a:t>
            </a:r>
          </a:p>
        </p:txBody>
      </p:sp>
      <p:sp>
        <p:nvSpPr>
          <p:cNvPr id="3" name="Content Placeholder 2">
            <a:extLst>
              <a:ext uri="{FF2B5EF4-FFF2-40B4-BE49-F238E27FC236}">
                <a16:creationId xmlns:a16="http://schemas.microsoft.com/office/drawing/2014/main" id="{084E8B4C-1E56-A4B8-AF62-4FB393AB0034}"/>
              </a:ext>
            </a:extLst>
          </p:cNvPr>
          <p:cNvSpPr>
            <a:spLocks noGrp="1"/>
          </p:cNvSpPr>
          <p:nvPr>
            <p:ph sz="half" idx="1"/>
          </p:nvPr>
        </p:nvSpPr>
        <p:spPr/>
        <p:txBody>
          <a:bodyPr/>
          <a:lstStyle/>
          <a:p>
            <a:r>
              <a:rPr lang="en-US" sz="2000" dirty="0"/>
              <a:t>Also sensitive to temperature, oxygen content, and Na flow velocity</a:t>
            </a:r>
          </a:p>
          <a:p>
            <a:r>
              <a:rPr lang="en-US" sz="2000" dirty="0"/>
              <a:t>Low-Cr steels show weight loss and decarburization, while high-Cr steels show weight gain and carburization</a:t>
            </a:r>
          </a:p>
          <a:p>
            <a:r>
              <a:rPr lang="en-US" sz="2000" dirty="0"/>
              <a:t>Oxygen content tends to increase corrosion rates</a:t>
            </a:r>
          </a:p>
          <a:p>
            <a:r>
              <a:rPr lang="en-US" sz="2000" dirty="0"/>
              <a:t>Flow velocity effects taper above 7 m/s, higher than in austenitic steels</a:t>
            </a:r>
          </a:p>
          <a:p>
            <a:r>
              <a:rPr lang="en-US" sz="2000" dirty="0"/>
              <a:t>In general, effects of corrosion in F/M steels are similar to austenitic steels, but with different chemical components</a:t>
            </a:r>
          </a:p>
          <a:p>
            <a:endParaRPr lang="en-US" sz="2000" dirty="0"/>
          </a:p>
        </p:txBody>
      </p:sp>
      <p:sp>
        <p:nvSpPr>
          <p:cNvPr id="5" name="Slide Number Placeholder 4">
            <a:extLst>
              <a:ext uri="{FF2B5EF4-FFF2-40B4-BE49-F238E27FC236}">
                <a16:creationId xmlns:a16="http://schemas.microsoft.com/office/drawing/2014/main" id="{28C8418A-F565-F063-947B-0DEDCFB4F0E1}"/>
              </a:ext>
            </a:extLst>
          </p:cNvPr>
          <p:cNvSpPr>
            <a:spLocks noGrp="1"/>
          </p:cNvSpPr>
          <p:nvPr>
            <p:ph type="sldNum" sz="quarter" idx="12"/>
          </p:nvPr>
        </p:nvSpPr>
        <p:spPr/>
        <p:txBody>
          <a:bodyPr/>
          <a:lstStyle/>
          <a:p>
            <a:pPr>
              <a:defRPr/>
            </a:pPr>
            <a:fld id="{EC35E9FC-F6D5-0349-BBED-EA7D7A9BC49B}" type="slidenum">
              <a:rPr lang="en-US" smtClean="0"/>
              <a:pPr>
                <a:defRPr/>
              </a:pPr>
              <a:t>39</a:t>
            </a:fld>
            <a:endParaRPr lang="en-US"/>
          </a:p>
        </p:txBody>
      </p:sp>
      <p:pic>
        <p:nvPicPr>
          <p:cNvPr id="6" name="Picture 5">
            <a:extLst>
              <a:ext uri="{FF2B5EF4-FFF2-40B4-BE49-F238E27FC236}">
                <a16:creationId xmlns:a16="http://schemas.microsoft.com/office/drawing/2014/main" id="{8924E875-0FE9-0E4C-CB7D-283EC0275947}"/>
              </a:ext>
            </a:extLst>
          </p:cNvPr>
          <p:cNvPicPr>
            <a:picLocks noChangeAspect="1"/>
          </p:cNvPicPr>
          <p:nvPr/>
        </p:nvPicPr>
        <p:blipFill>
          <a:blip r:embed="rId2"/>
          <a:stretch>
            <a:fillRect/>
          </a:stretch>
        </p:blipFill>
        <p:spPr>
          <a:xfrm>
            <a:off x="6779939" y="2078202"/>
            <a:ext cx="4016922" cy="3244901"/>
          </a:xfrm>
          <a:prstGeom prst="rect">
            <a:avLst/>
          </a:prstGeom>
        </p:spPr>
      </p:pic>
    </p:spTree>
    <p:extLst>
      <p:ext uri="{BB962C8B-B14F-4D97-AF65-F5344CB8AC3E}">
        <p14:creationId xmlns:p14="http://schemas.microsoft.com/office/powerpoint/2010/main" val="41095148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3A5DE-9466-7147-B389-5BA54D330939}"/>
              </a:ext>
            </a:extLst>
          </p:cNvPr>
          <p:cNvSpPr>
            <a:spLocks noGrp="1"/>
          </p:cNvSpPr>
          <p:nvPr>
            <p:ph type="title"/>
          </p:nvPr>
        </p:nvSpPr>
        <p:spPr/>
        <p:txBody>
          <a:bodyPr/>
          <a:lstStyle/>
          <a:p>
            <a:r>
              <a:rPr lang="en-US" dirty="0"/>
              <a:t>Effects on Mechanical Properties</a:t>
            </a:r>
          </a:p>
        </p:txBody>
      </p:sp>
      <p:sp>
        <p:nvSpPr>
          <p:cNvPr id="3" name="Content Placeholder 2">
            <a:extLst>
              <a:ext uri="{FF2B5EF4-FFF2-40B4-BE49-F238E27FC236}">
                <a16:creationId xmlns:a16="http://schemas.microsoft.com/office/drawing/2014/main" id="{9D347F8F-0CDC-5947-95CB-BBC45C248551}"/>
              </a:ext>
            </a:extLst>
          </p:cNvPr>
          <p:cNvSpPr>
            <a:spLocks noGrp="1"/>
          </p:cNvSpPr>
          <p:nvPr>
            <p:ph sz="half" idx="1"/>
          </p:nvPr>
        </p:nvSpPr>
        <p:spPr>
          <a:xfrm>
            <a:off x="609599" y="1968503"/>
            <a:ext cx="5938981" cy="4157663"/>
          </a:xfrm>
        </p:spPr>
        <p:txBody>
          <a:bodyPr/>
          <a:lstStyle/>
          <a:p>
            <a:r>
              <a:rPr lang="en-US" sz="2000" dirty="0"/>
              <a:t>The effect of sodium on the mechanical strength of steel is determined by three factors: (a) corrosion and mass transfer, (b) decarburization and carburization, and (c) oxidation/reduction</a:t>
            </a:r>
          </a:p>
          <a:p>
            <a:r>
              <a:rPr lang="en-US" sz="2000" dirty="0"/>
              <a:t>Since the cladding tubes are thin components and are exposed to high temperatures, the sodium corrosion affecting the base metal is larger than that of the structural materials</a:t>
            </a:r>
          </a:p>
          <a:p>
            <a:r>
              <a:rPr lang="en-US" sz="2000" dirty="0"/>
              <a:t>Minor impacts on tensile strength, elongation, and creep strength for Na vs air</a:t>
            </a:r>
          </a:p>
          <a:p>
            <a:r>
              <a:rPr lang="en-US" sz="2000" dirty="0"/>
              <a:t>Slight improvement in creep fatigue in sodium compared to air</a:t>
            </a:r>
          </a:p>
          <a:p>
            <a:endParaRPr lang="en-US" sz="2000" dirty="0"/>
          </a:p>
        </p:txBody>
      </p:sp>
      <p:pic>
        <p:nvPicPr>
          <p:cNvPr id="6" name="Content Placeholder 5">
            <a:extLst>
              <a:ext uri="{FF2B5EF4-FFF2-40B4-BE49-F238E27FC236}">
                <a16:creationId xmlns:a16="http://schemas.microsoft.com/office/drawing/2014/main" id="{0D6C2F26-5355-794E-8995-DFB1E0219092}"/>
              </a:ext>
            </a:extLst>
          </p:cNvPr>
          <p:cNvPicPr>
            <a:picLocks noGrp="1" noChangeAspect="1"/>
          </p:cNvPicPr>
          <p:nvPr>
            <p:ph sz="half" idx="2"/>
          </p:nvPr>
        </p:nvPicPr>
        <p:blipFill>
          <a:blip r:embed="rId2"/>
          <a:stretch>
            <a:fillRect/>
          </a:stretch>
        </p:blipFill>
        <p:spPr>
          <a:xfrm>
            <a:off x="7637316" y="4877451"/>
            <a:ext cx="3196506" cy="1700269"/>
          </a:xfrm>
          <a:prstGeom prst="rect">
            <a:avLst/>
          </a:prstGeom>
        </p:spPr>
      </p:pic>
      <p:sp>
        <p:nvSpPr>
          <p:cNvPr id="5" name="Slide Number Placeholder 4">
            <a:extLst>
              <a:ext uri="{FF2B5EF4-FFF2-40B4-BE49-F238E27FC236}">
                <a16:creationId xmlns:a16="http://schemas.microsoft.com/office/drawing/2014/main" id="{FF4E447F-2EE8-374D-9865-E5D5CADBB8DD}"/>
              </a:ext>
            </a:extLst>
          </p:cNvPr>
          <p:cNvSpPr>
            <a:spLocks noGrp="1"/>
          </p:cNvSpPr>
          <p:nvPr>
            <p:ph type="sldNum" sz="quarter" idx="12"/>
          </p:nvPr>
        </p:nvSpPr>
        <p:spPr/>
        <p:txBody>
          <a:bodyPr/>
          <a:lstStyle/>
          <a:p>
            <a:pPr>
              <a:defRPr/>
            </a:pPr>
            <a:fld id="{EC35E9FC-F6D5-0349-BBED-EA7D7A9BC49B}" type="slidenum">
              <a:rPr lang="en-US" smtClean="0"/>
              <a:pPr>
                <a:defRPr/>
              </a:pPr>
              <a:t>40</a:t>
            </a:fld>
            <a:endParaRPr lang="en-US"/>
          </a:p>
        </p:txBody>
      </p:sp>
      <p:sp>
        <p:nvSpPr>
          <p:cNvPr id="7" name="TextBox 6">
            <a:extLst>
              <a:ext uri="{FF2B5EF4-FFF2-40B4-BE49-F238E27FC236}">
                <a16:creationId xmlns:a16="http://schemas.microsoft.com/office/drawing/2014/main" id="{E76E18CF-AB4C-594A-AA68-4FD83D2877B2}"/>
              </a:ext>
            </a:extLst>
          </p:cNvPr>
          <p:cNvSpPr txBox="1"/>
          <p:nvPr/>
        </p:nvSpPr>
        <p:spPr>
          <a:xfrm>
            <a:off x="8982073" y="5894436"/>
            <a:ext cx="1443509" cy="261610"/>
          </a:xfrm>
          <a:prstGeom prst="rect">
            <a:avLst/>
          </a:prstGeom>
          <a:noFill/>
        </p:spPr>
        <p:txBody>
          <a:bodyPr wrap="square" rtlCol="0">
            <a:spAutoFit/>
          </a:bodyPr>
          <a:lstStyle/>
          <a:p>
            <a:pPr algn="ctr"/>
            <a:r>
              <a:rPr lang="en-US" sz="1100" dirty="0"/>
              <a:t>Creep Strength</a:t>
            </a:r>
          </a:p>
        </p:txBody>
      </p:sp>
      <p:pic>
        <p:nvPicPr>
          <p:cNvPr id="4" name="Picture 3">
            <a:extLst>
              <a:ext uri="{FF2B5EF4-FFF2-40B4-BE49-F238E27FC236}">
                <a16:creationId xmlns:a16="http://schemas.microsoft.com/office/drawing/2014/main" id="{B4F1FA49-64D7-2A9B-85E0-E94ABC32F76E}"/>
              </a:ext>
            </a:extLst>
          </p:cNvPr>
          <p:cNvPicPr>
            <a:picLocks noChangeAspect="1"/>
          </p:cNvPicPr>
          <p:nvPr/>
        </p:nvPicPr>
        <p:blipFill>
          <a:blip r:embed="rId3"/>
          <a:stretch>
            <a:fillRect/>
          </a:stretch>
        </p:blipFill>
        <p:spPr>
          <a:xfrm>
            <a:off x="6825671" y="1968500"/>
            <a:ext cx="5033819" cy="2908951"/>
          </a:xfrm>
          <a:prstGeom prst="rect">
            <a:avLst/>
          </a:prstGeom>
        </p:spPr>
      </p:pic>
    </p:spTree>
    <p:extLst>
      <p:ext uri="{BB962C8B-B14F-4D97-AF65-F5344CB8AC3E}">
        <p14:creationId xmlns:p14="http://schemas.microsoft.com/office/powerpoint/2010/main" val="22169673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5CB85-838B-B649-80DC-13F4B182E0BB}"/>
              </a:ext>
            </a:extLst>
          </p:cNvPr>
          <p:cNvSpPr>
            <a:spLocks noGrp="1"/>
          </p:cNvSpPr>
          <p:nvPr>
            <p:ph type="title"/>
          </p:nvPr>
        </p:nvSpPr>
        <p:spPr/>
        <p:txBody>
          <a:bodyPr/>
          <a:lstStyle/>
          <a:p>
            <a:r>
              <a:rPr lang="en-US" dirty="0"/>
              <a:t>Na-Water/Air Reactions</a:t>
            </a:r>
          </a:p>
        </p:txBody>
      </p:sp>
      <p:sp>
        <p:nvSpPr>
          <p:cNvPr id="3" name="Content Placeholder 2">
            <a:extLst>
              <a:ext uri="{FF2B5EF4-FFF2-40B4-BE49-F238E27FC236}">
                <a16:creationId xmlns:a16="http://schemas.microsoft.com/office/drawing/2014/main" id="{73589024-5CFC-184D-A9E7-D9EEC988E8A8}"/>
              </a:ext>
            </a:extLst>
          </p:cNvPr>
          <p:cNvSpPr>
            <a:spLocks noGrp="1"/>
          </p:cNvSpPr>
          <p:nvPr>
            <p:ph sz="half" idx="1"/>
          </p:nvPr>
        </p:nvSpPr>
        <p:spPr>
          <a:xfrm>
            <a:off x="609599" y="1968503"/>
            <a:ext cx="7228115" cy="4157663"/>
          </a:xfrm>
        </p:spPr>
        <p:txBody>
          <a:bodyPr/>
          <a:lstStyle/>
          <a:p>
            <a:r>
              <a:rPr lang="en-US" sz="2200" dirty="0"/>
              <a:t>One of the weak points of the present SFRs is the steam generator</a:t>
            </a:r>
          </a:p>
          <a:p>
            <a:r>
              <a:rPr lang="en-US" sz="2200" dirty="0"/>
              <a:t>If the steam generator tube is damaged, high-temperature pressurized steam is blown into the sodium</a:t>
            </a:r>
          </a:p>
          <a:p>
            <a:r>
              <a:rPr lang="en-US" sz="2200" dirty="0"/>
              <a:t>The environment around the failed tube is heated to high temperature (potentially up to 1200C) due to exothermic reactions</a:t>
            </a:r>
          </a:p>
          <a:p>
            <a:r>
              <a:rPr lang="en-US" sz="2200" dirty="0"/>
              <a:t>When high-temperature sodium is leaked into the atmosphere, it reacts with oxygen, and sodium oxides are formed</a:t>
            </a:r>
          </a:p>
          <a:p>
            <a:endParaRPr lang="en-US" sz="2200" dirty="0"/>
          </a:p>
          <a:p>
            <a:endParaRPr lang="en-US" sz="2200" dirty="0"/>
          </a:p>
          <a:p>
            <a:endParaRPr lang="en-US" sz="2200" dirty="0"/>
          </a:p>
        </p:txBody>
      </p:sp>
      <p:pic>
        <p:nvPicPr>
          <p:cNvPr id="6" name="Content Placeholder 5">
            <a:extLst>
              <a:ext uri="{FF2B5EF4-FFF2-40B4-BE49-F238E27FC236}">
                <a16:creationId xmlns:a16="http://schemas.microsoft.com/office/drawing/2014/main" id="{B59DB698-1892-1B4E-B98A-E7834925E8BC}"/>
              </a:ext>
            </a:extLst>
          </p:cNvPr>
          <p:cNvPicPr>
            <a:picLocks noGrp="1" noChangeAspect="1"/>
          </p:cNvPicPr>
          <p:nvPr>
            <p:ph sz="half" idx="2"/>
          </p:nvPr>
        </p:nvPicPr>
        <p:blipFill>
          <a:blip r:embed="rId2"/>
          <a:stretch>
            <a:fillRect/>
          </a:stretch>
        </p:blipFill>
        <p:spPr>
          <a:xfrm>
            <a:off x="7988300" y="3177352"/>
            <a:ext cx="3594100" cy="876300"/>
          </a:xfrm>
          <a:prstGeom prst="rect">
            <a:avLst/>
          </a:prstGeom>
        </p:spPr>
      </p:pic>
      <p:sp>
        <p:nvSpPr>
          <p:cNvPr id="5" name="Slide Number Placeholder 4">
            <a:extLst>
              <a:ext uri="{FF2B5EF4-FFF2-40B4-BE49-F238E27FC236}">
                <a16:creationId xmlns:a16="http://schemas.microsoft.com/office/drawing/2014/main" id="{923EA4FC-25C8-D944-8E7B-C1D5BC364F19}"/>
              </a:ext>
            </a:extLst>
          </p:cNvPr>
          <p:cNvSpPr>
            <a:spLocks noGrp="1"/>
          </p:cNvSpPr>
          <p:nvPr>
            <p:ph type="sldNum" sz="quarter" idx="12"/>
          </p:nvPr>
        </p:nvSpPr>
        <p:spPr/>
        <p:txBody>
          <a:bodyPr/>
          <a:lstStyle/>
          <a:p>
            <a:pPr>
              <a:defRPr/>
            </a:pPr>
            <a:fld id="{EC35E9FC-F6D5-0349-BBED-EA7D7A9BC49B}" type="slidenum">
              <a:rPr lang="en-US" smtClean="0"/>
              <a:pPr>
                <a:defRPr/>
              </a:pPr>
              <a:t>41</a:t>
            </a:fld>
            <a:endParaRPr lang="en-US"/>
          </a:p>
        </p:txBody>
      </p:sp>
      <p:pic>
        <p:nvPicPr>
          <p:cNvPr id="7" name="Picture 6">
            <a:extLst>
              <a:ext uri="{FF2B5EF4-FFF2-40B4-BE49-F238E27FC236}">
                <a16:creationId xmlns:a16="http://schemas.microsoft.com/office/drawing/2014/main" id="{2B4E0E25-0C9B-8D4B-9E1F-5C20B3D51C63}"/>
              </a:ext>
            </a:extLst>
          </p:cNvPr>
          <p:cNvPicPr>
            <a:picLocks noChangeAspect="1"/>
          </p:cNvPicPr>
          <p:nvPr/>
        </p:nvPicPr>
        <p:blipFill>
          <a:blip r:embed="rId3"/>
          <a:stretch>
            <a:fillRect/>
          </a:stretch>
        </p:blipFill>
        <p:spPr>
          <a:xfrm>
            <a:off x="7924800" y="2303031"/>
            <a:ext cx="3657600" cy="800100"/>
          </a:xfrm>
          <a:prstGeom prst="rect">
            <a:avLst/>
          </a:prstGeom>
        </p:spPr>
      </p:pic>
      <p:pic>
        <p:nvPicPr>
          <p:cNvPr id="8" name="Picture 7">
            <a:extLst>
              <a:ext uri="{FF2B5EF4-FFF2-40B4-BE49-F238E27FC236}">
                <a16:creationId xmlns:a16="http://schemas.microsoft.com/office/drawing/2014/main" id="{15073C22-63C5-534D-8A87-DBCDA4CF4A30}"/>
              </a:ext>
            </a:extLst>
          </p:cNvPr>
          <p:cNvPicPr>
            <a:picLocks noChangeAspect="1"/>
          </p:cNvPicPr>
          <p:nvPr/>
        </p:nvPicPr>
        <p:blipFill>
          <a:blip r:embed="rId4"/>
          <a:stretch>
            <a:fillRect/>
          </a:stretch>
        </p:blipFill>
        <p:spPr>
          <a:xfrm>
            <a:off x="8026400" y="4096121"/>
            <a:ext cx="3556000" cy="1549400"/>
          </a:xfrm>
          <a:prstGeom prst="rect">
            <a:avLst/>
          </a:prstGeom>
        </p:spPr>
      </p:pic>
    </p:spTree>
    <p:extLst>
      <p:ext uri="{BB962C8B-B14F-4D97-AF65-F5344CB8AC3E}">
        <p14:creationId xmlns:p14="http://schemas.microsoft.com/office/powerpoint/2010/main" val="9671160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E772F-FF94-C6FE-1B40-F8ECE7A227A4}"/>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252DE778-97D7-1242-3924-71DDDA26E637}"/>
              </a:ext>
            </a:extLst>
          </p:cNvPr>
          <p:cNvSpPr>
            <a:spLocks noGrp="1"/>
          </p:cNvSpPr>
          <p:nvPr>
            <p:ph sz="half" idx="1"/>
          </p:nvPr>
        </p:nvSpPr>
        <p:spPr>
          <a:xfrm>
            <a:off x="609600" y="1968500"/>
            <a:ext cx="10972800" cy="4157663"/>
          </a:xfrm>
        </p:spPr>
        <p:txBody>
          <a:bodyPr/>
          <a:lstStyle/>
          <a:p>
            <a:r>
              <a:rPr lang="en-US" sz="2200" dirty="0"/>
              <a:t>Na is used as a coolant due to high thermal conductivity, high heat capacity, high margin to boiling</a:t>
            </a:r>
          </a:p>
          <a:p>
            <a:r>
              <a:rPr lang="en-US" sz="2200" dirty="0"/>
              <a:t>There are two known mechanisms of sodium corrosion: Type I: corrosion produced by the dissolution of alloy elements to sodium; Type II: corrosion produced through chemical reaction with the impurities in sodium</a:t>
            </a:r>
          </a:p>
          <a:p>
            <a:r>
              <a:rPr lang="en-US" sz="2200" dirty="0"/>
              <a:t>Temperature gradient mass transfer is of high concern, based upon solubilities of steel elements, and highly impacts Ni</a:t>
            </a:r>
          </a:p>
          <a:p>
            <a:r>
              <a:rPr lang="en-US" sz="2200" dirty="0"/>
              <a:t>(De)carburization can occur, but can be limited with high Cr content</a:t>
            </a:r>
          </a:p>
          <a:p>
            <a:r>
              <a:rPr lang="en-US" sz="2200" dirty="0"/>
              <a:t>Oxygen accelerates corrosion by increasing effective solubilities</a:t>
            </a:r>
          </a:p>
          <a:p>
            <a:r>
              <a:rPr lang="en-US" sz="2200" dirty="0"/>
              <a:t>Sodium modified the microstructure of steels through precipitation, coarsening, etc.</a:t>
            </a:r>
          </a:p>
          <a:p>
            <a:r>
              <a:rPr lang="en-US" sz="2200" dirty="0"/>
              <a:t>Mechanical properties are minimally impacted by Na exposure</a:t>
            </a:r>
          </a:p>
        </p:txBody>
      </p:sp>
      <p:sp>
        <p:nvSpPr>
          <p:cNvPr id="5" name="Slide Number Placeholder 4">
            <a:extLst>
              <a:ext uri="{FF2B5EF4-FFF2-40B4-BE49-F238E27FC236}">
                <a16:creationId xmlns:a16="http://schemas.microsoft.com/office/drawing/2014/main" id="{4F4200EE-415D-7372-CEF5-D44BD076CCFC}"/>
              </a:ext>
            </a:extLst>
          </p:cNvPr>
          <p:cNvSpPr>
            <a:spLocks noGrp="1"/>
          </p:cNvSpPr>
          <p:nvPr>
            <p:ph type="sldNum" sz="quarter" idx="12"/>
          </p:nvPr>
        </p:nvSpPr>
        <p:spPr/>
        <p:txBody>
          <a:bodyPr/>
          <a:lstStyle/>
          <a:p>
            <a:pPr>
              <a:defRPr/>
            </a:pPr>
            <a:fld id="{EC35E9FC-F6D5-0349-BBED-EA7D7A9BC49B}" type="slidenum">
              <a:rPr lang="en-US" smtClean="0"/>
              <a:pPr>
                <a:defRPr/>
              </a:pPr>
              <a:t>42</a:t>
            </a:fld>
            <a:endParaRPr lang="en-US"/>
          </a:p>
        </p:txBody>
      </p:sp>
    </p:spTree>
    <p:extLst>
      <p:ext uri="{BB962C8B-B14F-4D97-AF65-F5344CB8AC3E}">
        <p14:creationId xmlns:p14="http://schemas.microsoft.com/office/powerpoint/2010/main" val="2008316517"/>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40106</TotalTime>
  <Words>3425</Words>
  <Application>Microsoft Macintosh PowerPoint</Application>
  <PresentationFormat>Widescreen</PresentationFormat>
  <Paragraphs>272</Paragraphs>
  <Slides>42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Arial</vt:lpstr>
      <vt:lpstr>Calibri</vt:lpstr>
      <vt:lpstr>Symbol</vt:lpstr>
      <vt:lpstr>1_NCStateU-horizontal-left-logo</vt:lpstr>
      <vt:lpstr>NE 763: Advanced Reactor Materials</vt:lpstr>
      <vt:lpstr>Last Time</vt:lpstr>
      <vt:lpstr>Last Time</vt:lpstr>
      <vt:lpstr>Redistribution of Pu</vt:lpstr>
      <vt:lpstr>Redistribution of Pu</vt:lpstr>
      <vt:lpstr>Pu-rich Agglomerates</vt:lpstr>
      <vt:lpstr>Pu-rich Agglomerates</vt:lpstr>
      <vt:lpstr>Oxygen Redistribution</vt:lpstr>
      <vt:lpstr>O/M Ratio</vt:lpstr>
      <vt:lpstr>Solid Fission Products</vt:lpstr>
      <vt:lpstr>Metallic Inclusions</vt:lpstr>
      <vt:lpstr>Metallic Inclusions</vt:lpstr>
      <vt:lpstr>Oxide Phases</vt:lpstr>
      <vt:lpstr>Joint Oxyde Gaine</vt:lpstr>
      <vt:lpstr>Joint Oxide Gain</vt:lpstr>
      <vt:lpstr>Joint Oxide Gain</vt:lpstr>
      <vt:lpstr>MOX FCCI</vt:lpstr>
      <vt:lpstr>MOX FCCI</vt:lpstr>
      <vt:lpstr>MOX FCCI</vt:lpstr>
      <vt:lpstr>MOX Summary</vt:lpstr>
      <vt:lpstr>Sodium coolant</vt:lpstr>
      <vt:lpstr>Liquid Metal Coolants</vt:lpstr>
      <vt:lpstr>Sodium</vt:lpstr>
      <vt:lpstr>Structural Material Selection for Na</vt:lpstr>
      <vt:lpstr>Structural Materials in SFRs</vt:lpstr>
      <vt:lpstr>Solubilities and Compatibility</vt:lpstr>
      <vt:lpstr>Sodium Corrosion</vt:lpstr>
      <vt:lpstr>Sodium Corrosion</vt:lpstr>
      <vt:lpstr>Thermal gradient mass transfer</vt:lpstr>
      <vt:lpstr>Sodium Corrosion</vt:lpstr>
      <vt:lpstr>Sodium Corrosion</vt:lpstr>
      <vt:lpstr>Impurity Sodium Corrosion</vt:lpstr>
      <vt:lpstr>Oxygen Acceleration</vt:lpstr>
      <vt:lpstr>Carbon Effects</vt:lpstr>
      <vt:lpstr>Na Corrosion of Austenitic Steel</vt:lpstr>
      <vt:lpstr>Na Corrosion of Austenitic Steel</vt:lpstr>
      <vt:lpstr>Na Corrosion in Austenitic Steel</vt:lpstr>
      <vt:lpstr>Na Corrosion in Austenitic Steel</vt:lpstr>
      <vt:lpstr>Na Corrosion in Ferritic Steels</vt:lpstr>
      <vt:lpstr>Effects on Mechanical Properties</vt:lpstr>
      <vt:lpstr>Na-Water/Air Reactions</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123</cp:revision>
  <dcterms:created xsi:type="dcterms:W3CDTF">2019-12-09T16:44:02Z</dcterms:created>
  <dcterms:modified xsi:type="dcterms:W3CDTF">2025-09-25T17:03:55Z</dcterms:modified>
</cp:coreProperties>
</file>
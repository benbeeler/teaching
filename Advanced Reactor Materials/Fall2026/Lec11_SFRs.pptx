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40"/>
  </p:notesMasterIdLst>
  <p:sldIdLst>
    <p:sldId id="256" r:id="rId2"/>
    <p:sldId id="572" r:id="rId3"/>
    <p:sldId id="570" r:id="rId4"/>
    <p:sldId id="513" r:id="rId5"/>
    <p:sldId id="514" r:id="rId6"/>
    <p:sldId id="515" r:id="rId7"/>
    <p:sldId id="516" r:id="rId8"/>
    <p:sldId id="517" r:id="rId9"/>
    <p:sldId id="518" r:id="rId10"/>
    <p:sldId id="519" r:id="rId11"/>
    <p:sldId id="520" r:id="rId12"/>
    <p:sldId id="521" r:id="rId13"/>
    <p:sldId id="522" r:id="rId14"/>
    <p:sldId id="523" r:id="rId15"/>
    <p:sldId id="524" r:id="rId16"/>
    <p:sldId id="573" r:id="rId17"/>
    <p:sldId id="505" r:id="rId18"/>
    <p:sldId id="434" r:id="rId19"/>
    <p:sldId id="443" r:id="rId20"/>
    <p:sldId id="444" r:id="rId21"/>
    <p:sldId id="574" r:id="rId22"/>
    <p:sldId id="433" r:id="rId23"/>
    <p:sldId id="510" r:id="rId24"/>
    <p:sldId id="511" r:id="rId25"/>
    <p:sldId id="508" r:id="rId26"/>
    <p:sldId id="512" r:id="rId27"/>
    <p:sldId id="436" r:id="rId28"/>
    <p:sldId id="422" r:id="rId29"/>
    <p:sldId id="419" r:id="rId30"/>
    <p:sldId id="563" r:id="rId31"/>
    <p:sldId id="525" r:id="rId32"/>
    <p:sldId id="564" r:id="rId33"/>
    <p:sldId id="526" r:id="rId34"/>
    <p:sldId id="527" r:id="rId35"/>
    <p:sldId id="528" r:id="rId36"/>
    <p:sldId id="529" r:id="rId37"/>
    <p:sldId id="566" r:id="rId38"/>
    <p:sldId id="56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15"/>
    <p:restoredTop sz="94744"/>
  </p:normalViewPr>
  <p:slideViewPr>
    <p:cSldViewPr snapToGrid="0" snapToObjects="1">
      <p:cViewPr varScale="1">
        <p:scale>
          <a:sx n="119" d="100"/>
          <a:sy n="119" d="100"/>
        </p:scale>
        <p:origin x="3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16A0F-2645-F945-ADC5-B2CC11F8F912}"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D32B1-08AD-0943-8C60-7CB4F1A83E64}" type="slidenum">
              <a:rPr lang="en-US" smtClean="0"/>
              <a:t>‹#›</a:t>
            </a:fld>
            <a:endParaRPr lang="en-US"/>
          </a:p>
        </p:txBody>
      </p:sp>
    </p:spTree>
    <p:extLst>
      <p:ext uri="{BB962C8B-B14F-4D97-AF65-F5344CB8AC3E}">
        <p14:creationId xmlns:p14="http://schemas.microsoft.com/office/powerpoint/2010/main" val="383659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D32B1-08AD-0943-8C60-7CB4F1A83E64}" type="slidenum">
              <a:rPr lang="en-US" smtClean="0"/>
              <a:t>18</a:t>
            </a:fld>
            <a:endParaRPr lang="en-US"/>
          </a:p>
        </p:txBody>
      </p:sp>
    </p:spTree>
    <p:extLst>
      <p:ext uri="{BB962C8B-B14F-4D97-AF65-F5344CB8AC3E}">
        <p14:creationId xmlns:p14="http://schemas.microsoft.com/office/powerpoint/2010/main" val="180954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D32B1-08AD-0943-8C60-7CB4F1A83E64}" type="slidenum">
              <a:rPr lang="en-US" smtClean="0"/>
              <a:t>19</a:t>
            </a:fld>
            <a:endParaRPr lang="en-US"/>
          </a:p>
        </p:txBody>
      </p:sp>
    </p:spTree>
    <p:extLst>
      <p:ext uri="{BB962C8B-B14F-4D97-AF65-F5344CB8AC3E}">
        <p14:creationId xmlns:p14="http://schemas.microsoft.com/office/powerpoint/2010/main" val="3136394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D32B1-08AD-0943-8C60-7CB4F1A83E64}" type="slidenum">
              <a:rPr lang="en-US" smtClean="0"/>
              <a:t>20</a:t>
            </a:fld>
            <a:endParaRPr lang="en-US"/>
          </a:p>
        </p:txBody>
      </p:sp>
    </p:spTree>
    <p:extLst>
      <p:ext uri="{BB962C8B-B14F-4D97-AF65-F5344CB8AC3E}">
        <p14:creationId xmlns:p14="http://schemas.microsoft.com/office/powerpoint/2010/main" val="613571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0785609-E5CC-DE44-B37C-B4F30876FF32}"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smtClean="0"/>
              <a:pPr>
                <a:defRPr/>
              </a:pPr>
              <a:t>‹#›</a:t>
            </a:fld>
            <a:endParaRPr lang="en-US"/>
          </a:p>
        </p:txBody>
      </p:sp>
    </p:spTree>
    <p:extLst>
      <p:ext uri="{BB962C8B-B14F-4D97-AF65-F5344CB8AC3E}">
        <p14:creationId xmlns:p14="http://schemas.microsoft.com/office/powerpoint/2010/main" val="4253537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a:xfrm>
            <a:off x="609600" y="2280746"/>
            <a:ext cx="10972800" cy="3845418"/>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D2F8954-4A2E-3243-B2DC-9CD5CB712752}"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smtClean="0"/>
              <a:pPr>
                <a:defRPr/>
              </a:pPr>
              <a:t>‹#›</a:t>
            </a:fld>
            <a:endParaRPr lang="en-US"/>
          </a:p>
        </p:txBody>
      </p:sp>
    </p:spTree>
    <p:extLst>
      <p:ext uri="{BB962C8B-B14F-4D97-AF65-F5344CB8AC3E}">
        <p14:creationId xmlns:p14="http://schemas.microsoft.com/office/powerpoint/2010/main" val="3510403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FD4575D-199B-0745-9376-4BA74FA8EFA7}"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smtClean="0"/>
              <a:pPr>
                <a:defRPr/>
              </a:pPr>
              <a:t>‹#›</a:t>
            </a:fld>
            <a:endParaRPr lang="en-US"/>
          </a:p>
        </p:txBody>
      </p:sp>
    </p:spTree>
    <p:extLst>
      <p:ext uri="{BB962C8B-B14F-4D97-AF65-F5344CB8AC3E}">
        <p14:creationId xmlns:p14="http://schemas.microsoft.com/office/powerpoint/2010/main" val="166711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200"/>
            </a:lvl1pPr>
            <a:lvl2pPr>
              <a:defRPr sz="2200"/>
            </a:lvl2pPr>
            <a:lvl3pPr>
              <a:defRPr sz="2200"/>
            </a:lvl3pPr>
            <a:lvl4pPr>
              <a:defRPr sz="2200"/>
            </a:lvl4pPr>
            <a:lvl5pPr>
              <a:defRPr sz="22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34EC5E2-8D01-2849-BCEF-95F1335AF02C}"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smtClean="0"/>
              <a:pPr>
                <a:defRPr/>
              </a:pPr>
              <a:t>‹#›</a:t>
            </a:fld>
            <a:endParaRPr lang="en-US"/>
          </a:p>
        </p:txBody>
      </p:sp>
    </p:spTree>
    <p:extLst>
      <p:ext uri="{BB962C8B-B14F-4D97-AF65-F5344CB8AC3E}">
        <p14:creationId xmlns:p14="http://schemas.microsoft.com/office/powerpoint/2010/main" val="3839532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4000"/>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200"/>
            </a:lvl2pPr>
            <a:lvl3pPr>
              <a:defRPr sz="2200"/>
            </a:lvl3pPr>
            <a:lvl4pPr>
              <a:defRPr sz="2200"/>
            </a:lvl4pPr>
            <a:lvl5pPr>
              <a:defRPr sz="22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10/13/26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smtClean="0"/>
              <a:pPr>
                <a:defRPr/>
              </a:pPr>
              <a:t>‹#›</a:t>
            </a:fld>
            <a:endParaRPr lang="en-US"/>
          </a:p>
        </p:txBody>
      </p:sp>
    </p:spTree>
    <p:extLst>
      <p:ext uri="{BB962C8B-B14F-4D97-AF65-F5344CB8AC3E}">
        <p14:creationId xmlns:p14="http://schemas.microsoft.com/office/powerpoint/2010/main" val="381089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8C5C5CE-9A98-3649-A752-35F044CBF5B8}" type="datetime1">
              <a:rPr lang="en-US" smtClean="0"/>
              <a:t>10/13/26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smtClean="0"/>
              <a:pPr>
                <a:defRPr/>
              </a:pPr>
              <a:t>‹#›</a:t>
            </a:fld>
            <a:endParaRPr lang="en-US"/>
          </a:p>
        </p:txBody>
      </p:sp>
    </p:spTree>
    <p:extLst>
      <p:ext uri="{BB962C8B-B14F-4D97-AF65-F5344CB8AC3E}">
        <p14:creationId xmlns:p14="http://schemas.microsoft.com/office/powerpoint/2010/main" val="1055640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9324C5E-CE4C-B646-8BD9-2D7670818E7E}" type="datetime1">
              <a:rPr lang="en-US" smtClean="0"/>
              <a:t>10/13/26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smtClean="0"/>
              <a:pPr>
                <a:defRPr/>
              </a:pPr>
              <a:t>‹#›</a:t>
            </a:fld>
            <a:endParaRPr lang="en-US"/>
          </a:p>
        </p:txBody>
      </p:sp>
    </p:spTree>
    <p:extLst>
      <p:ext uri="{BB962C8B-B14F-4D97-AF65-F5344CB8AC3E}">
        <p14:creationId xmlns:p14="http://schemas.microsoft.com/office/powerpoint/2010/main" val="289426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3B3BC9F-3142-5445-97AB-BA4A48743DCA}"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smtClean="0"/>
              <a:pPr>
                <a:defRPr/>
              </a:pPr>
              <a:t>‹#›</a:t>
            </a:fld>
            <a:endParaRPr lang="en-US"/>
          </a:p>
        </p:txBody>
      </p:sp>
    </p:spTree>
    <p:extLst>
      <p:ext uri="{BB962C8B-B14F-4D97-AF65-F5344CB8AC3E}">
        <p14:creationId xmlns:p14="http://schemas.microsoft.com/office/powerpoint/2010/main" val="1092495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897FE6E-4AF1-BB43-A3BB-BA9931BC385B}"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smtClean="0"/>
              <a:pPr>
                <a:defRPr/>
              </a:pPr>
              <a:t>‹#›</a:t>
            </a:fld>
            <a:endParaRPr lang="en-US"/>
          </a:p>
        </p:txBody>
      </p:sp>
    </p:spTree>
    <p:extLst>
      <p:ext uri="{BB962C8B-B14F-4D97-AF65-F5344CB8AC3E}">
        <p14:creationId xmlns:p14="http://schemas.microsoft.com/office/powerpoint/2010/main" val="215653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DAF1F23-51F5-E24D-A2F3-F9FF410B2C6B}"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smtClean="0"/>
              <a:pPr>
                <a:defRPr/>
              </a:pPr>
              <a:t>‹#›</a:t>
            </a:fld>
            <a:endParaRPr lang="en-US"/>
          </a:p>
        </p:txBody>
      </p:sp>
    </p:spTree>
    <p:extLst>
      <p:ext uri="{BB962C8B-B14F-4D97-AF65-F5344CB8AC3E}">
        <p14:creationId xmlns:p14="http://schemas.microsoft.com/office/powerpoint/2010/main" val="1006211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7F9506E-CC5A-D948-B9E0-FC81D1F3EEB8}"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smtClean="0"/>
              <a:pPr>
                <a:defRPr/>
              </a:pPr>
              <a:t>‹#›</a:t>
            </a:fld>
            <a:endParaRPr lang="en-US"/>
          </a:p>
        </p:txBody>
      </p:sp>
    </p:spTree>
    <p:extLst>
      <p:ext uri="{BB962C8B-B14F-4D97-AF65-F5344CB8AC3E}">
        <p14:creationId xmlns:p14="http://schemas.microsoft.com/office/powerpoint/2010/main" val="2195771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10/13/26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4F3AB534-2132-774F-82DE-4210B1BD5FED}" type="datetime1">
              <a:rPr lang="en-US" smtClean="0"/>
              <a:t>10/13/26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smtClean="0"/>
              <a:pPr>
                <a:defRPr/>
              </a:pPr>
              <a:t>‹#›</a:t>
            </a:fld>
            <a:endParaRPr lang="en-US" dirty="0"/>
          </a:p>
        </p:txBody>
      </p:sp>
      <p:pic>
        <p:nvPicPr>
          <p:cNvPr id="8" name="Picture 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pic>
        <p:nvPicPr>
          <p:cNvPr id="2" name="Picture 1">
            <a:extLst>
              <a:ext uri="{FF2B5EF4-FFF2-40B4-BE49-F238E27FC236}">
                <a16:creationId xmlns:a16="http://schemas.microsoft.com/office/drawing/2014/main" id="{0BF8D97C-4308-3B61-2B5B-C13404B70E8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pic>
        <p:nvPicPr>
          <p:cNvPr id="3" name="Picture 2">
            <a:extLst>
              <a:ext uri="{FF2B5EF4-FFF2-40B4-BE49-F238E27FC236}">
                <a16:creationId xmlns:a16="http://schemas.microsoft.com/office/drawing/2014/main" id="{C02054C5-3A3D-4B9F-F314-13BC597F406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pic>
        <p:nvPicPr>
          <p:cNvPr id="7" name="Picture 6">
            <a:extLst>
              <a:ext uri="{FF2B5EF4-FFF2-40B4-BE49-F238E27FC236}">
                <a16:creationId xmlns:a16="http://schemas.microsoft.com/office/drawing/2014/main" id="{D187C96D-147F-2B68-D8CC-FC91E42CAC0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248256830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689" r:id="rId12"/>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image" Target="../media/image18.tiff"/><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8.tif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91667053-FE0B-2E4F-88E8-0DE41FF95167}"/>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33BF-E729-77A0-1AD1-C8340E7E0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C0362-0889-478E-1647-B6DB13954EBC}"/>
              </a:ext>
            </a:extLst>
          </p:cNvPr>
          <p:cNvSpPr>
            <a:spLocks noGrp="1"/>
          </p:cNvSpPr>
          <p:nvPr>
            <p:ph type="title"/>
          </p:nvPr>
        </p:nvSpPr>
        <p:spPr/>
        <p:txBody>
          <a:bodyPr/>
          <a:lstStyle/>
          <a:p>
            <a:r>
              <a:rPr lang="en-US" dirty="0"/>
              <a:t>Paper Presentation Assignment</a:t>
            </a:r>
          </a:p>
        </p:txBody>
      </p:sp>
      <p:sp>
        <p:nvSpPr>
          <p:cNvPr id="3" name="Content Placeholder 2">
            <a:extLst>
              <a:ext uri="{FF2B5EF4-FFF2-40B4-BE49-F238E27FC236}">
                <a16:creationId xmlns:a16="http://schemas.microsoft.com/office/drawing/2014/main" id="{9E224EDD-47F3-2233-FCEB-2A4675B3FC03}"/>
              </a:ext>
            </a:extLst>
          </p:cNvPr>
          <p:cNvSpPr>
            <a:spLocks noGrp="1"/>
          </p:cNvSpPr>
          <p:nvPr>
            <p:ph idx="1"/>
          </p:nvPr>
        </p:nvSpPr>
        <p:spPr/>
        <p:txBody>
          <a:bodyPr/>
          <a:lstStyle/>
          <a:p>
            <a:r>
              <a:rPr lang="en-US" sz="2000" dirty="0"/>
              <a:t>A topic related to advanced reactor materials will be assigned and the student will present a presentation summarizing the topic area. </a:t>
            </a:r>
          </a:p>
          <a:p>
            <a:pPr lvl="1"/>
            <a:r>
              <a:rPr lang="en-US" dirty="0"/>
              <a:t>slightly changed… I am allowing you to choose from a list. This list is on the </a:t>
            </a:r>
            <a:r>
              <a:rPr lang="en-US" dirty="0" err="1"/>
              <a:t>moodle</a:t>
            </a:r>
            <a:r>
              <a:rPr lang="en-US" dirty="0"/>
              <a:t>. Put your name next to a topic that does not overlap with your research. I can change your topic if I feel like it.</a:t>
            </a:r>
          </a:p>
          <a:p>
            <a:r>
              <a:rPr lang="en-US" sz="2000" dirty="0"/>
              <a:t>Students will be evaluated on the technical content and the presentation/organization of the content. </a:t>
            </a:r>
          </a:p>
          <a:p>
            <a:r>
              <a:rPr lang="en-US" dirty="0"/>
              <a:t>Presentations occur in person.</a:t>
            </a:r>
            <a:endParaRPr lang="en-US" sz="2000" dirty="0"/>
          </a:p>
          <a:p>
            <a:r>
              <a:rPr lang="en-US" sz="2000" dirty="0"/>
              <a:t>Aim for 15 minutes. Will try to do 4 or 5 per class. </a:t>
            </a:r>
          </a:p>
          <a:p>
            <a:r>
              <a:rPr lang="en-US" sz="2000" dirty="0"/>
              <a:t>Distance students will upload a zoom recording. All students upload their slides.</a:t>
            </a:r>
          </a:p>
          <a:p>
            <a:r>
              <a:rPr lang="en-US" dirty="0"/>
              <a:t>Slides/Recordings are due by midnight Oct. 21, and presentations will start on Oct. 22</a:t>
            </a:r>
          </a:p>
          <a:p>
            <a:r>
              <a:rPr lang="en-US" sz="2000" dirty="0"/>
              <a:t>Five weeks to complete, should be plenty of time</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7F0CC8EB-A63B-4DDE-DA8F-76E979905091}"/>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625345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5D733-9A9D-0147-B472-6D2A3431311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357AA63C-5C44-4545-A937-4E8E5D379A5A}"/>
              </a:ext>
            </a:extLst>
          </p:cNvPr>
          <p:cNvSpPr>
            <a:spLocks noGrp="1"/>
          </p:cNvSpPr>
          <p:nvPr>
            <p:ph sz="half" idx="1"/>
          </p:nvPr>
        </p:nvSpPr>
        <p:spPr>
          <a:xfrm>
            <a:off x="609599" y="1968503"/>
            <a:ext cx="10972799" cy="4157663"/>
          </a:xfrm>
        </p:spPr>
        <p:txBody>
          <a:bodyPr/>
          <a:lstStyle/>
          <a:p>
            <a:r>
              <a:rPr lang="en-US" sz="1800" dirty="0"/>
              <a:t>Solid fission product swelling</a:t>
            </a:r>
          </a:p>
          <a:p>
            <a:pPr lvl="1"/>
            <a:r>
              <a:rPr lang="en-US" sz="1800" dirty="0"/>
              <a:t>fuel chemistry different than oxide fuels: solid solution elements, metallic precipitates, noble gases; many FP precipitates associated with porosity or the Na</a:t>
            </a:r>
          </a:p>
          <a:p>
            <a:pPr lvl="1"/>
            <a:r>
              <a:rPr lang="en-US" sz="1800" dirty="0"/>
              <a:t>net 1.5%-</a:t>
            </a:r>
            <a:r>
              <a:rPr lang="en-US" sz="1800" dirty="0" err="1"/>
              <a:t>ish</a:t>
            </a:r>
            <a:r>
              <a:rPr lang="en-US" sz="1800" dirty="0"/>
              <a:t> swelling per %FIMA</a:t>
            </a:r>
          </a:p>
          <a:p>
            <a:r>
              <a:rPr lang="en-US" sz="1800" dirty="0"/>
              <a:t>FCCI</a:t>
            </a:r>
          </a:p>
          <a:p>
            <a:pPr lvl="1"/>
            <a:r>
              <a:rPr lang="en-US" sz="1800" dirty="0"/>
              <a:t>a key life-limiting phenomenon in metallic fuels</a:t>
            </a:r>
          </a:p>
          <a:p>
            <a:pPr lvl="1"/>
            <a:r>
              <a:rPr lang="en-US" sz="1800" dirty="0"/>
              <a:t>wastage of cladding and formation of low </a:t>
            </a:r>
            <a:r>
              <a:rPr lang="en-US" sz="1800" dirty="0" err="1"/>
              <a:t>Tmelt</a:t>
            </a:r>
            <a:r>
              <a:rPr lang="en-US" sz="1800" dirty="0"/>
              <a:t> phases</a:t>
            </a:r>
          </a:p>
          <a:p>
            <a:pPr lvl="1"/>
            <a:r>
              <a:rPr lang="en-US" sz="1800" dirty="0"/>
              <a:t>adding Zr decreases FCCI, and impurities can form a Zr rind</a:t>
            </a:r>
          </a:p>
          <a:p>
            <a:pPr lvl="1"/>
            <a:r>
              <a:rPr lang="en-US" sz="1800" dirty="0"/>
              <a:t>Fe diffuses into the fuel, forms U(Pu)6Fe type phases</a:t>
            </a:r>
          </a:p>
          <a:p>
            <a:pPr lvl="1"/>
            <a:r>
              <a:rPr lang="en-US" sz="1800" dirty="0"/>
              <a:t>Nd/Ce diffuse into the cladding, form (</a:t>
            </a:r>
            <a:r>
              <a:rPr lang="en-US" sz="1800" dirty="0" err="1"/>
              <a:t>Fe,Cr</a:t>
            </a:r>
            <a:r>
              <a:rPr lang="en-US" sz="1800" dirty="0"/>
              <a:t>)17(</a:t>
            </a:r>
            <a:r>
              <a:rPr lang="en-US" sz="1800" dirty="0" err="1"/>
              <a:t>Nd,Ce</a:t>
            </a:r>
            <a:r>
              <a:rPr lang="en-US" sz="1800" dirty="0"/>
              <a:t>)2 type phases</a:t>
            </a:r>
          </a:p>
          <a:p>
            <a:pPr lvl="1"/>
            <a:r>
              <a:rPr lang="en-US" sz="1800" dirty="0"/>
              <a:t>FCCI is localized, and increases with T and with burnup</a:t>
            </a:r>
          </a:p>
          <a:p>
            <a:pPr lvl="1"/>
            <a:endParaRPr lang="en-US" sz="1800" dirty="0"/>
          </a:p>
        </p:txBody>
      </p:sp>
      <p:sp>
        <p:nvSpPr>
          <p:cNvPr id="5" name="Slide Number Placeholder 4">
            <a:extLst>
              <a:ext uri="{FF2B5EF4-FFF2-40B4-BE49-F238E27FC236}">
                <a16:creationId xmlns:a16="http://schemas.microsoft.com/office/drawing/2014/main" id="{ED13D8C5-2625-944D-A346-88684E6316EC}"/>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spTree>
    <p:extLst>
      <p:ext uri="{BB962C8B-B14F-4D97-AF65-F5344CB8AC3E}">
        <p14:creationId xmlns:p14="http://schemas.microsoft.com/office/powerpoint/2010/main" val="359338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Metallic fuel performance modeling</a:t>
            </a:r>
          </a:p>
        </p:txBody>
      </p:sp>
      <p:sp>
        <p:nvSpPr>
          <p:cNvPr id="3" name="Slide Number Placeholder 2">
            <a:extLst>
              <a:ext uri="{FF2B5EF4-FFF2-40B4-BE49-F238E27FC236}">
                <a16:creationId xmlns:a16="http://schemas.microsoft.com/office/drawing/2014/main" id="{5B3532C3-93BE-7043-BD18-1B055D494CE7}"/>
              </a:ext>
            </a:extLst>
          </p:cNvPr>
          <p:cNvSpPr>
            <a:spLocks noGrp="1"/>
          </p:cNvSpPr>
          <p:nvPr>
            <p:ph type="sldNum" sz="quarter" idx="12"/>
          </p:nvPr>
        </p:nvSpPr>
        <p:spPr/>
        <p:txBody>
          <a:bodyPr/>
          <a:lstStyle/>
          <a:p>
            <a:pPr>
              <a:defRPr/>
            </a:pPr>
            <a:fld id="{0DA6BD0F-ABBC-C14D-BC96-77BE126A748B}" type="slidenum">
              <a:rPr lang="en-US" smtClean="0"/>
              <a:pPr>
                <a:defRPr/>
              </a:pPr>
              <a:t>4</a:t>
            </a:fld>
            <a:endParaRPr lang="en-US"/>
          </a:p>
        </p:txBody>
      </p:sp>
    </p:spTree>
    <p:extLst>
      <p:ext uri="{BB962C8B-B14F-4D97-AF65-F5344CB8AC3E}">
        <p14:creationId xmlns:p14="http://schemas.microsoft.com/office/powerpoint/2010/main" val="3632152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CC907-5EBC-1E44-B3D7-2D72CA801E9C}"/>
              </a:ext>
            </a:extLst>
          </p:cNvPr>
          <p:cNvSpPr>
            <a:spLocks noGrp="1"/>
          </p:cNvSpPr>
          <p:nvPr>
            <p:ph type="title"/>
          </p:nvPr>
        </p:nvSpPr>
        <p:spPr/>
        <p:txBody>
          <a:bodyPr/>
          <a:lstStyle/>
          <a:p>
            <a:r>
              <a:rPr lang="en-US" dirty="0"/>
              <a:t>Metallic Fuel Phenomena</a:t>
            </a:r>
          </a:p>
        </p:txBody>
      </p:sp>
      <p:pic>
        <p:nvPicPr>
          <p:cNvPr id="6" name="Content Placeholder 5">
            <a:extLst>
              <a:ext uri="{FF2B5EF4-FFF2-40B4-BE49-F238E27FC236}">
                <a16:creationId xmlns:a16="http://schemas.microsoft.com/office/drawing/2014/main" id="{B6474A18-6EB3-6D44-9E95-EBFF662756F8}"/>
              </a:ext>
            </a:extLst>
          </p:cNvPr>
          <p:cNvPicPr>
            <a:picLocks noGrp="1" noChangeAspect="1"/>
          </p:cNvPicPr>
          <p:nvPr>
            <p:ph sz="half" idx="1"/>
          </p:nvPr>
        </p:nvPicPr>
        <p:blipFill>
          <a:blip r:embed="rId2"/>
          <a:stretch>
            <a:fillRect/>
          </a:stretch>
        </p:blipFill>
        <p:spPr>
          <a:xfrm>
            <a:off x="1975945" y="1639898"/>
            <a:ext cx="7914290" cy="5081579"/>
          </a:xfrm>
          <a:prstGeom prst="rect">
            <a:avLst/>
          </a:prstGeom>
        </p:spPr>
      </p:pic>
      <p:sp>
        <p:nvSpPr>
          <p:cNvPr id="5" name="Slide Number Placeholder 4">
            <a:extLst>
              <a:ext uri="{FF2B5EF4-FFF2-40B4-BE49-F238E27FC236}">
                <a16:creationId xmlns:a16="http://schemas.microsoft.com/office/drawing/2014/main" id="{18E45DC0-B5C2-B845-B439-31D7A1A9239D}"/>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spTree>
    <p:extLst>
      <p:ext uri="{BB962C8B-B14F-4D97-AF65-F5344CB8AC3E}">
        <p14:creationId xmlns:p14="http://schemas.microsoft.com/office/powerpoint/2010/main" val="2347550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CC907-5EBC-1E44-B3D7-2D72CA801E9C}"/>
              </a:ext>
            </a:extLst>
          </p:cNvPr>
          <p:cNvSpPr>
            <a:spLocks noGrp="1"/>
          </p:cNvSpPr>
          <p:nvPr>
            <p:ph type="title"/>
          </p:nvPr>
        </p:nvSpPr>
        <p:spPr/>
        <p:txBody>
          <a:bodyPr/>
          <a:lstStyle/>
          <a:p>
            <a:r>
              <a:rPr lang="en-US" dirty="0"/>
              <a:t>Constituent Redistribution Models</a:t>
            </a:r>
          </a:p>
        </p:txBody>
      </p:sp>
      <p:sp>
        <p:nvSpPr>
          <p:cNvPr id="4" name="Content Placeholder 3">
            <a:extLst>
              <a:ext uri="{FF2B5EF4-FFF2-40B4-BE49-F238E27FC236}">
                <a16:creationId xmlns:a16="http://schemas.microsoft.com/office/drawing/2014/main" id="{490984F8-AFC9-6E45-A1D6-302CF703FDD0}"/>
              </a:ext>
            </a:extLst>
          </p:cNvPr>
          <p:cNvSpPr>
            <a:spLocks noGrp="1"/>
          </p:cNvSpPr>
          <p:nvPr>
            <p:ph sz="half" idx="1"/>
          </p:nvPr>
        </p:nvSpPr>
        <p:spPr>
          <a:xfrm>
            <a:off x="711200" y="1968500"/>
            <a:ext cx="6880372" cy="4157663"/>
          </a:xfrm>
        </p:spPr>
        <p:txBody>
          <a:bodyPr/>
          <a:lstStyle/>
          <a:p>
            <a:r>
              <a:rPr lang="en-US" sz="2200" dirty="0"/>
              <a:t>Constituent redistribution is driven by:</a:t>
            </a:r>
          </a:p>
          <a:p>
            <a:pPr lvl="1"/>
            <a:r>
              <a:rPr lang="en-US" sz="2200" dirty="0"/>
              <a:t>temperature gradients in the fuel,</a:t>
            </a:r>
          </a:p>
          <a:p>
            <a:pPr lvl="1"/>
            <a:r>
              <a:rPr lang="en-US" sz="2200" dirty="0"/>
              <a:t>solubility gradients in a phase and phase boundaries,</a:t>
            </a:r>
          </a:p>
          <a:p>
            <a:pPr lvl="1"/>
            <a:r>
              <a:rPr lang="en-US" sz="2200" dirty="0"/>
              <a:t>additional chemical potentials applied by fuel– cladding gap and cladding</a:t>
            </a:r>
          </a:p>
          <a:p>
            <a:r>
              <a:rPr lang="en-US" sz="2200" dirty="0"/>
              <a:t>Results in three concentric zones, namely, a Zr-enriched central zone, a Zr-depleted and U-enriched intermediate zone, and a slightly Zr-enriched zone on the outer periphery</a:t>
            </a:r>
          </a:p>
          <a:p>
            <a:r>
              <a:rPr lang="en-US" sz="2200" dirty="0"/>
              <a:t>Migration quickly levels off early in life after a new distribution settles</a:t>
            </a:r>
          </a:p>
          <a:p>
            <a:endParaRPr lang="en-US" sz="2200" dirty="0"/>
          </a:p>
          <a:p>
            <a:endParaRPr lang="en-US" sz="2200" dirty="0"/>
          </a:p>
          <a:p>
            <a:endParaRPr lang="en-US" sz="2200" dirty="0"/>
          </a:p>
          <a:p>
            <a:pPr lvl="1"/>
            <a:endParaRPr lang="en-US" sz="2200" dirty="0"/>
          </a:p>
          <a:p>
            <a:endParaRPr lang="en-US" sz="2200" dirty="0"/>
          </a:p>
        </p:txBody>
      </p:sp>
      <p:sp>
        <p:nvSpPr>
          <p:cNvPr id="5" name="Slide Number Placeholder 4">
            <a:extLst>
              <a:ext uri="{FF2B5EF4-FFF2-40B4-BE49-F238E27FC236}">
                <a16:creationId xmlns:a16="http://schemas.microsoft.com/office/drawing/2014/main" id="{18E45DC0-B5C2-B845-B439-31D7A1A9239D}"/>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sp>
        <p:nvSpPr>
          <p:cNvPr id="7" name="Content Placeholder 3">
            <a:extLst>
              <a:ext uri="{FF2B5EF4-FFF2-40B4-BE49-F238E27FC236}">
                <a16:creationId xmlns:a16="http://schemas.microsoft.com/office/drawing/2014/main" id="{D796C92A-7407-414F-8D08-051D040CCDFD}"/>
              </a:ext>
            </a:extLst>
          </p:cNvPr>
          <p:cNvSpPr txBox="1">
            <a:spLocks/>
          </p:cNvSpPr>
          <p:nvPr/>
        </p:nvSpPr>
        <p:spPr bwMode="auto">
          <a:xfrm>
            <a:off x="6096000" y="1968500"/>
            <a:ext cx="5384800"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endParaRPr lang="en-US" dirty="0"/>
          </a:p>
        </p:txBody>
      </p:sp>
      <p:pic>
        <p:nvPicPr>
          <p:cNvPr id="8" name="Picture 7">
            <a:extLst>
              <a:ext uri="{FF2B5EF4-FFF2-40B4-BE49-F238E27FC236}">
                <a16:creationId xmlns:a16="http://schemas.microsoft.com/office/drawing/2014/main" id="{74883A55-769E-F848-97B3-CA4E4DC74466}"/>
              </a:ext>
            </a:extLst>
          </p:cNvPr>
          <p:cNvPicPr>
            <a:picLocks noChangeAspect="1"/>
          </p:cNvPicPr>
          <p:nvPr/>
        </p:nvPicPr>
        <p:blipFill>
          <a:blip r:embed="rId2"/>
          <a:stretch>
            <a:fillRect/>
          </a:stretch>
        </p:blipFill>
        <p:spPr>
          <a:xfrm>
            <a:off x="8162634" y="1696199"/>
            <a:ext cx="2747104" cy="5069155"/>
          </a:xfrm>
          <a:prstGeom prst="rect">
            <a:avLst/>
          </a:prstGeom>
        </p:spPr>
      </p:pic>
    </p:spTree>
    <p:extLst>
      <p:ext uri="{BB962C8B-B14F-4D97-AF65-F5344CB8AC3E}">
        <p14:creationId xmlns:p14="http://schemas.microsoft.com/office/powerpoint/2010/main" val="1575693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DE8B8-E62A-CD4E-BA04-FE59678573CE}"/>
              </a:ext>
            </a:extLst>
          </p:cNvPr>
          <p:cNvSpPr>
            <a:spLocks noGrp="1"/>
          </p:cNvSpPr>
          <p:nvPr>
            <p:ph type="title"/>
          </p:nvPr>
        </p:nvSpPr>
        <p:spPr/>
        <p:txBody>
          <a:bodyPr/>
          <a:lstStyle/>
          <a:p>
            <a:r>
              <a:rPr lang="en-US" dirty="0"/>
              <a:t>Constituent Redistribution Models</a:t>
            </a:r>
          </a:p>
        </p:txBody>
      </p:sp>
      <p:sp>
        <p:nvSpPr>
          <p:cNvPr id="3" name="Content Placeholder 2">
            <a:extLst>
              <a:ext uri="{FF2B5EF4-FFF2-40B4-BE49-F238E27FC236}">
                <a16:creationId xmlns:a16="http://schemas.microsoft.com/office/drawing/2014/main" id="{6E19742A-5B76-654D-988D-4CA69B089395}"/>
              </a:ext>
            </a:extLst>
          </p:cNvPr>
          <p:cNvSpPr>
            <a:spLocks noGrp="1"/>
          </p:cNvSpPr>
          <p:nvPr>
            <p:ph sz="half" idx="1"/>
          </p:nvPr>
        </p:nvSpPr>
        <p:spPr>
          <a:xfrm>
            <a:off x="609600" y="1968503"/>
            <a:ext cx="5013434" cy="4157663"/>
          </a:xfrm>
        </p:spPr>
        <p:txBody>
          <a:bodyPr/>
          <a:lstStyle/>
          <a:p>
            <a:r>
              <a:rPr lang="en-US" sz="2200" dirty="0"/>
              <a:t>While ternary phase diagrams exist, their accuracy is suspect, and simplified pseudo-binary phase diagrams can be more easily implemented, and removes complexities associated with largely unknown phases</a:t>
            </a:r>
          </a:p>
          <a:p>
            <a:r>
              <a:rPr lang="en-US" sz="2200" dirty="0"/>
              <a:t>When applied to a fuel with different Pu content, the phase diagram must be modified accordingly</a:t>
            </a:r>
          </a:p>
          <a:p>
            <a:endParaRPr lang="en-US" sz="2200" dirty="0"/>
          </a:p>
          <a:p>
            <a:endParaRPr lang="en-US" sz="2200" dirty="0"/>
          </a:p>
        </p:txBody>
      </p:sp>
      <p:pic>
        <p:nvPicPr>
          <p:cNvPr id="6" name="Content Placeholder 5">
            <a:extLst>
              <a:ext uri="{FF2B5EF4-FFF2-40B4-BE49-F238E27FC236}">
                <a16:creationId xmlns:a16="http://schemas.microsoft.com/office/drawing/2014/main" id="{C7E4539C-3CD6-E642-B535-3607691E27F3}"/>
              </a:ext>
            </a:extLst>
          </p:cNvPr>
          <p:cNvPicPr>
            <a:picLocks noGrp="1" noChangeAspect="1"/>
          </p:cNvPicPr>
          <p:nvPr>
            <p:ph sz="half" idx="2"/>
          </p:nvPr>
        </p:nvPicPr>
        <p:blipFill>
          <a:blip r:embed="rId2"/>
          <a:stretch>
            <a:fillRect/>
          </a:stretch>
        </p:blipFill>
        <p:spPr>
          <a:xfrm>
            <a:off x="9129912" y="2477148"/>
            <a:ext cx="3017651" cy="3118519"/>
          </a:xfrm>
          <a:prstGeom prst="rect">
            <a:avLst/>
          </a:prstGeom>
        </p:spPr>
      </p:pic>
      <p:sp>
        <p:nvSpPr>
          <p:cNvPr id="5" name="Slide Number Placeholder 4">
            <a:extLst>
              <a:ext uri="{FF2B5EF4-FFF2-40B4-BE49-F238E27FC236}">
                <a16:creationId xmlns:a16="http://schemas.microsoft.com/office/drawing/2014/main" id="{975B3768-FEF4-F34D-94D1-752ED8712FCB}"/>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pic>
        <p:nvPicPr>
          <p:cNvPr id="7" name="Picture 6">
            <a:extLst>
              <a:ext uri="{FF2B5EF4-FFF2-40B4-BE49-F238E27FC236}">
                <a16:creationId xmlns:a16="http://schemas.microsoft.com/office/drawing/2014/main" id="{F5BFADAE-4E8A-6946-BD59-A173921B0086}"/>
              </a:ext>
            </a:extLst>
          </p:cNvPr>
          <p:cNvPicPr>
            <a:picLocks noChangeAspect="1"/>
          </p:cNvPicPr>
          <p:nvPr/>
        </p:nvPicPr>
        <p:blipFill>
          <a:blip r:embed="rId3"/>
          <a:stretch>
            <a:fillRect/>
          </a:stretch>
        </p:blipFill>
        <p:spPr>
          <a:xfrm>
            <a:off x="5707385" y="2477148"/>
            <a:ext cx="3422527" cy="3040783"/>
          </a:xfrm>
          <a:prstGeom prst="rect">
            <a:avLst/>
          </a:prstGeom>
        </p:spPr>
      </p:pic>
    </p:spTree>
    <p:extLst>
      <p:ext uri="{BB962C8B-B14F-4D97-AF65-F5344CB8AC3E}">
        <p14:creationId xmlns:p14="http://schemas.microsoft.com/office/powerpoint/2010/main" val="2792788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DE8B8-E62A-CD4E-BA04-FE59678573CE}"/>
              </a:ext>
            </a:extLst>
          </p:cNvPr>
          <p:cNvSpPr>
            <a:spLocks noGrp="1"/>
          </p:cNvSpPr>
          <p:nvPr>
            <p:ph type="title"/>
          </p:nvPr>
        </p:nvSpPr>
        <p:spPr/>
        <p:txBody>
          <a:bodyPr/>
          <a:lstStyle/>
          <a:p>
            <a:r>
              <a:rPr lang="en-US" dirty="0"/>
              <a:t>Constituent Redistribution Models</a:t>
            </a:r>
          </a:p>
        </p:txBody>
      </p:sp>
      <p:sp>
        <p:nvSpPr>
          <p:cNvPr id="3" name="Content Placeholder 2">
            <a:extLst>
              <a:ext uri="{FF2B5EF4-FFF2-40B4-BE49-F238E27FC236}">
                <a16:creationId xmlns:a16="http://schemas.microsoft.com/office/drawing/2014/main" id="{6E19742A-5B76-654D-988D-4CA69B089395}"/>
              </a:ext>
            </a:extLst>
          </p:cNvPr>
          <p:cNvSpPr>
            <a:spLocks noGrp="1"/>
          </p:cNvSpPr>
          <p:nvPr>
            <p:ph sz="half" idx="1"/>
          </p:nvPr>
        </p:nvSpPr>
        <p:spPr>
          <a:xfrm>
            <a:off x="609600" y="1968503"/>
            <a:ext cx="5013434" cy="4157663"/>
          </a:xfrm>
        </p:spPr>
        <p:txBody>
          <a:bodyPr/>
          <a:lstStyle/>
          <a:p>
            <a:r>
              <a:rPr lang="en-US" sz="2200" dirty="0"/>
              <a:t>Using the calculated phase fractions, the </a:t>
            </a:r>
            <a:r>
              <a:rPr lang="en-US" sz="2200" dirty="0" err="1"/>
              <a:t>Fickian</a:t>
            </a:r>
            <a:r>
              <a:rPr lang="en-US" sz="2200" dirty="0"/>
              <a:t> and </a:t>
            </a:r>
            <a:r>
              <a:rPr lang="en-US" sz="2200" dirty="0" err="1"/>
              <a:t>Soret</a:t>
            </a:r>
            <a:r>
              <a:rPr lang="en-US" sz="2200" dirty="0"/>
              <a:t> diffusion coefficient are determined</a:t>
            </a:r>
          </a:p>
          <a:p>
            <a:r>
              <a:rPr lang="en-US" sz="2200" dirty="0"/>
              <a:t>Artificial factors are used to set the diffusivity in two-phase regions and to scale diffusivities in each phase</a:t>
            </a:r>
          </a:p>
          <a:p>
            <a:r>
              <a:rPr lang="en-US" sz="2200" dirty="0"/>
              <a:t>The magnitudes of diffusivities in each phase are largely unknown, and effectively wholly unknown in two-phase regions</a:t>
            </a:r>
          </a:p>
        </p:txBody>
      </p:sp>
      <p:pic>
        <p:nvPicPr>
          <p:cNvPr id="9" name="Content Placeholder 8">
            <a:extLst>
              <a:ext uri="{FF2B5EF4-FFF2-40B4-BE49-F238E27FC236}">
                <a16:creationId xmlns:a16="http://schemas.microsoft.com/office/drawing/2014/main" id="{6FE11CB8-7B65-0C4F-90AC-FF8957479E68}"/>
              </a:ext>
            </a:extLst>
          </p:cNvPr>
          <p:cNvPicPr>
            <a:picLocks noGrp="1" noChangeAspect="1"/>
          </p:cNvPicPr>
          <p:nvPr>
            <p:ph sz="half" idx="2"/>
          </p:nvPr>
        </p:nvPicPr>
        <p:blipFill>
          <a:blip r:embed="rId2"/>
          <a:stretch>
            <a:fillRect/>
          </a:stretch>
        </p:blipFill>
        <p:spPr>
          <a:xfrm>
            <a:off x="6197600" y="3073840"/>
            <a:ext cx="5384800" cy="1946983"/>
          </a:xfrm>
          <a:prstGeom prst="rect">
            <a:avLst/>
          </a:prstGeom>
        </p:spPr>
      </p:pic>
      <p:sp>
        <p:nvSpPr>
          <p:cNvPr id="5" name="Slide Number Placeholder 4">
            <a:extLst>
              <a:ext uri="{FF2B5EF4-FFF2-40B4-BE49-F238E27FC236}">
                <a16:creationId xmlns:a16="http://schemas.microsoft.com/office/drawing/2014/main" id="{975B3768-FEF4-F34D-94D1-752ED8712FCB}"/>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sp>
        <p:nvSpPr>
          <p:cNvPr id="10" name="TextBox 9">
            <a:extLst>
              <a:ext uri="{FF2B5EF4-FFF2-40B4-BE49-F238E27FC236}">
                <a16:creationId xmlns:a16="http://schemas.microsoft.com/office/drawing/2014/main" id="{75053B03-A773-6946-BA43-3CD4F89104E8}"/>
              </a:ext>
            </a:extLst>
          </p:cNvPr>
          <p:cNvSpPr txBox="1"/>
          <p:nvPr/>
        </p:nvSpPr>
        <p:spPr>
          <a:xfrm>
            <a:off x="7020910" y="2333297"/>
            <a:ext cx="3668111" cy="369332"/>
          </a:xfrm>
          <a:prstGeom prst="rect">
            <a:avLst/>
          </a:prstGeom>
          <a:noFill/>
        </p:spPr>
        <p:txBody>
          <a:bodyPr wrap="square" rtlCol="0">
            <a:spAutoFit/>
          </a:bodyPr>
          <a:lstStyle/>
          <a:p>
            <a:pPr algn="ctr"/>
            <a:r>
              <a:rPr lang="en-US" dirty="0"/>
              <a:t>BISON Zr Diffusion Model</a:t>
            </a:r>
          </a:p>
        </p:txBody>
      </p:sp>
      <p:pic>
        <p:nvPicPr>
          <p:cNvPr id="7" name="Picture 6">
            <a:extLst>
              <a:ext uri="{FF2B5EF4-FFF2-40B4-BE49-F238E27FC236}">
                <a16:creationId xmlns:a16="http://schemas.microsoft.com/office/drawing/2014/main" id="{F37186BA-DBB1-B826-CD38-241A5D6EB836}"/>
              </a:ext>
            </a:extLst>
          </p:cNvPr>
          <p:cNvPicPr>
            <a:picLocks noChangeAspect="1"/>
          </p:cNvPicPr>
          <p:nvPr/>
        </p:nvPicPr>
        <p:blipFill>
          <a:blip r:embed="rId3"/>
          <a:stretch>
            <a:fillRect/>
          </a:stretch>
        </p:blipFill>
        <p:spPr>
          <a:xfrm>
            <a:off x="7688854" y="2702629"/>
            <a:ext cx="2332222" cy="497393"/>
          </a:xfrm>
          <a:prstGeom prst="rect">
            <a:avLst/>
          </a:prstGeom>
        </p:spPr>
      </p:pic>
    </p:spTree>
    <p:extLst>
      <p:ext uri="{BB962C8B-B14F-4D97-AF65-F5344CB8AC3E}">
        <p14:creationId xmlns:p14="http://schemas.microsoft.com/office/powerpoint/2010/main" val="3427566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7470B-A497-7C4F-9BE2-9222549B47D5}"/>
              </a:ext>
            </a:extLst>
          </p:cNvPr>
          <p:cNvSpPr>
            <a:spLocks noGrp="1"/>
          </p:cNvSpPr>
          <p:nvPr>
            <p:ph type="title"/>
          </p:nvPr>
        </p:nvSpPr>
        <p:spPr/>
        <p:txBody>
          <a:bodyPr/>
          <a:lstStyle/>
          <a:p>
            <a:r>
              <a:rPr lang="en-US" dirty="0"/>
              <a:t>Temperature Predictions</a:t>
            </a:r>
          </a:p>
        </p:txBody>
      </p:sp>
      <p:sp>
        <p:nvSpPr>
          <p:cNvPr id="3" name="Content Placeholder 2">
            <a:extLst>
              <a:ext uri="{FF2B5EF4-FFF2-40B4-BE49-F238E27FC236}">
                <a16:creationId xmlns:a16="http://schemas.microsoft.com/office/drawing/2014/main" id="{A4A86595-5C9E-D346-8400-1BBFC116FE13}"/>
              </a:ext>
            </a:extLst>
          </p:cNvPr>
          <p:cNvSpPr>
            <a:spLocks noGrp="1"/>
          </p:cNvSpPr>
          <p:nvPr>
            <p:ph sz="half" idx="1"/>
          </p:nvPr>
        </p:nvSpPr>
        <p:spPr>
          <a:xfrm>
            <a:off x="609599" y="1968503"/>
            <a:ext cx="5868277" cy="4157663"/>
          </a:xfrm>
        </p:spPr>
        <p:txBody>
          <a:bodyPr/>
          <a:lstStyle/>
          <a:p>
            <a:r>
              <a:rPr lang="en-US" sz="2200" dirty="0"/>
              <a:t>Constituent redistribution relies on accurate temperature profiles</a:t>
            </a:r>
          </a:p>
          <a:p>
            <a:r>
              <a:rPr lang="en-US" sz="2200" dirty="0"/>
              <a:t>Fuel temperature is affected by the thermal conductivity of the fuel, which in turn is changed by porosity evolution and sodium infiltration, in addition to changes in Zr concentration</a:t>
            </a:r>
          </a:p>
          <a:p>
            <a:r>
              <a:rPr lang="en-US" sz="2200" dirty="0"/>
              <a:t>BISON thermal conductivity models exist for the distinct species, and account for degradation of thermal conductivity</a:t>
            </a:r>
          </a:p>
          <a:p>
            <a:r>
              <a:rPr lang="en-US" dirty="0"/>
              <a:t>No phase-specific data exists</a:t>
            </a:r>
            <a:endParaRPr lang="en-US" sz="2200" dirty="0"/>
          </a:p>
          <a:p>
            <a:endParaRPr lang="en-US" sz="2200" dirty="0"/>
          </a:p>
          <a:p>
            <a:endParaRPr lang="en-US" sz="2200" dirty="0"/>
          </a:p>
        </p:txBody>
      </p:sp>
      <p:pic>
        <p:nvPicPr>
          <p:cNvPr id="6" name="Content Placeholder 5">
            <a:extLst>
              <a:ext uri="{FF2B5EF4-FFF2-40B4-BE49-F238E27FC236}">
                <a16:creationId xmlns:a16="http://schemas.microsoft.com/office/drawing/2014/main" id="{683AE261-14AB-224B-9646-FF43777FC8A5}"/>
              </a:ext>
            </a:extLst>
          </p:cNvPr>
          <p:cNvPicPr>
            <a:picLocks noGrp="1" noChangeAspect="1"/>
          </p:cNvPicPr>
          <p:nvPr>
            <p:ph sz="half" idx="2"/>
          </p:nvPr>
        </p:nvPicPr>
        <p:blipFill>
          <a:blip r:embed="rId2"/>
          <a:stretch>
            <a:fillRect/>
          </a:stretch>
        </p:blipFill>
        <p:spPr>
          <a:xfrm>
            <a:off x="6477877" y="1807576"/>
            <a:ext cx="5384800" cy="1423567"/>
          </a:xfrm>
          <a:prstGeom prst="rect">
            <a:avLst/>
          </a:prstGeom>
        </p:spPr>
      </p:pic>
      <p:sp>
        <p:nvSpPr>
          <p:cNvPr id="5" name="Slide Number Placeholder 4">
            <a:extLst>
              <a:ext uri="{FF2B5EF4-FFF2-40B4-BE49-F238E27FC236}">
                <a16:creationId xmlns:a16="http://schemas.microsoft.com/office/drawing/2014/main" id="{B97BB72B-A6DE-AA4D-B916-AF29534AFA66}"/>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pic>
        <p:nvPicPr>
          <p:cNvPr id="7" name="Picture 6">
            <a:extLst>
              <a:ext uri="{FF2B5EF4-FFF2-40B4-BE49-F238E27FC236}">
                <a16:creationId xmlns:a16="http://schemas.microsoft.com/office/drawing/2014/main" id="{F88386A5-B620-AB42-AF26-92E29D3F7098}"/>
              </a:ext>
            </a:extLst>
          </p:cNvPr>
          <p:cNvPicPr>
            <a:picLocks noChangeAspect="1"/>
          </p:cNvPicPr>
          <p:nvPr/>
        </p:nvPicPr>
        <p:blipFill>
          <a:blip r:embed="rId3"/>
          <a:stretch>
            <a:fillRect/>
          </a:stretch>
        </p:blipFill>
        <p:spPr>
          <a:xfrm>
            <a:off x="7776724" y="3677250"/>
            <a:ext cx="1676400" cy="1219200"/>
          </a:xfrm>
          <a:prstGeom prst="rect">
            <a:avLst/>
          </a:prstGeom>
        </p:spPr>
      </p:pic>
      <p:pic>
        <p:nvPicPr>
          <p:cNvPr id="8" name="Picture 7">
            <a:extLst>
              <a:ext uri="{FF2B5EF4-FFF2-40B4-BE49-F238E27FC236}">
                <a16:creationId xmlns:a16="http://schemas.microsoft.com/office/drawing/2014/main" id="{EDA6426D-9EFE-F046-BE3A-7CD1517D7EDD}"/>
              </a:ext>
            </a:extLst>
          </p:cNvPr>
          <p:cNvPicPr>
            <a:picLocks noChangeAspect="1"/>
          </p:cNvPicPr>
          <p:nvPr/>
        </p:nvPicPr>
        <p:blipFill>
          <a:blip r:embed="rId4"/>
          <a:stretch>
            <a:fillRect/>
          </a:stretch>
        </p:blipFill>
        <p:spPr>
          <a:xfrm>
            <a:off x="6554954" y="4882547"/>
            <a:ext cx="4191000" cy="850900"/>
          </a:xfrm>
          <a:prstGeom prst="rect">
            <a:avLst/>
          </a:prstGeom>
        </p:spPr>
      </p:pic>
      <p:pic>
        <p:nvPicPr>
          <p:cNvPr id="4" name="Picture 3">
            <a:extLst>
              <a:ext uri="{FF2B5EF4-FFF2-40B4-BE49-F238E27FC236}">
                <a16:creationId xmlns:a16="http://schemas.microsoft.com/office/drawing/2014/main" id="{4079D1B9-D27A-0BF4-D53F-DA78FE432B50}"/>
              </a:ext>
            </a:extLst>
          </p:cNvPr>
          <p:cNvPicPr>
            <a:picLocks noChangeAspect="1"/>
          </p:cNvPicPr>
          <p:nvPr/>
        </p:nvPicPr>
        <p:blipFill>
          <a:blip r:embed="rId5"/>
          <a:stretch>
            <a:fillRect/>
          </a:stretch>
        </p:blipFill>
        <p:spPr>
          <a:xfrm>
            <a:off x="6477877" y="3173797"/>
            <a:ext cx="5168325" cy="411000"/>
          </a:xfrm>
          <a:prstGeom prst="rect">
            <a:avLst/>
          </a:prstGeom>
        </p:spPr>
      </p:pic>
    </p:spTree>
    <p:extLst>
      <p:ext uri="{BB962C8B-B14F-4D97-AF65-F5344CB8AC3E}">
        <p14:creationId xmlns:p14="http://schemas.microsoft.com/office/powerpoint/2010/main" val="3486750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CC706-43A7-8A4D-8E0A-84021D4626C3}"/>
              </a:ext>
            </a:extLst>
          </p:cNvPr>
          <p:cNvSpPr>
            <a:spLocks noGrp="1"/>
          </p:cNvSpPr>
          <p:nvPr>
            <p:ph type="title"/>
          </p:nvPr>
        </p:nvSpPr>
        <p:spPr/>
        <p:txBody>
          <a:bodyPr/>
          <a:lstStyle/>
          <a:p>
            <a:r>
              <a:rPr lang="en-US" dirty="0"/>
              <a:t>Porosity Predictions</a:t>
            </a:r>
          </a:p>
        </p:txBody>
      </p:sp>
      <p:sp>
        <p:nvSpPr>
          <p:cNvPr id="3" name="Content Placeholder 2">
            <a:extLst>
              <a:ext uri="{FF2B5EF4-FFF2-40B4-BE49-F238E27FC236}">
                <a16:creationId xmlns:a16="http://schemas.microsoft.com/office/drawing/2014/main" id="{1F22C7F1-7839-8E46-8812-8D1681A0D574}"/>
              </a:ext>
            </a:extLst>
          </p:cNvPr>
          <p:cNvSpPr>
            <a:spLocks noGrp="1"/>
          </p:cNvSpPr>
          <p:nvPr>
            <p:ph sz="half" idx="1"/>
          </p:nvPr>
        </p:nvSpPr>
        <p:spPr/>
        <p:txBody>
          <a:bodyPr/>
          <a:lstStyle/>
          <a:p>
            <a:r>
              <a:rPr lang="en-US" sz="2200" dirty="0"/>
              <a:t>BISON utilizes a simplified model for porosity</a:t>
            </a:r>
          </a:p>
          <a:p>
            <a:r>
              <a:rPr lang="en-US" sz="2200" dirty="0"/>
              <a:t>The mechanical force balance on an equilibrium bubble can be expressed by the Young-Laplace equation</a:t>
            </a:r>
          </a:p>
          <a:p>
            <a:r>
              <a:rPr lang="en-US" sz="2200" dirty="0"/>
              <a:t>Making assumptions for creep stress, bubble size, can calculate swelling due to fission gas</a:t>
            </a:r>
          </a:p>
          <a:p>
            <a:r>
              <a:rPr lang="en-US" sz="2200" dirty="0"/>
              <a:t>Finally, can determine porosity from the swelling</a:t>
            </a:r>
          </a:p>
          <a:p>
            <a:r>
              <a:rPr lang="en-US" sz="2200" dirty="0"/>
              <a:t>Solid fission products are a function of fission density</a:t>
            </a:r>
          </a:p>
          <a:p>
            <a:endParaRPr lang="en-US" sz="2200" dirty="0"/>
          </a:p>
          <a:p>
            <a:endParaRPr lang="en-US" sz="2200" dirty="0"/>
          </a:p>
        </p:txBody>
      </p:sp>
      <p:pic>
        <p:nvPicPr>
          <p:cNvPr id="6" name="Content Placeholder 5">
            <a:extLst>
              <a:ext uri="{FF2B5EF4-FFF2-40B4-BE49-F238E27FC236}">
                <a16:creationId xmlns:a16="http://schemas.microsoft.com/office/drawing/2014/main" id="{978F5F9C-EB50-CF4E-BAA3-2184EAE05049}"/>
              </a:ext>
            </a:extLst>
          </p:cNvPr>
          <p:cNvPicPr>
            <a:picLocks noGrp="1" noChangeAspect="1"/>
          </p:cNvPicPr>
          <p:nvPr>
            <p:ph sz="half" idx="2"/>
          </p:nvPr>
        </p:nvPicPr>
        <p:blipFill>
          <a:blip r:embed="rId2"/>
          <a:stretch>
            <a:fillRect/>
          </a:stretch>
        </p:blipFill>
        <p:spPr>
          <a:xfrm>
            <a:off x="6962775" y="2142662"/>
            <a:ext cx="1663700" cy="685800"/>
          </a:xfrm>
          <a:prstGeom prst="rect">
            <a:avLst/>
          </a:prstGeom>
        </p:spPr>
      </p:pic>
      <p:sp>
        <p:nvSpPr>
          <p:cNvPr id="5" name="Slide Number Placeholder 4">
            <a:extLst>
              <a:ext uri="{FF2B5EF4-FFF2-40B4-BE49-F238E27FC236}">
                <a16:creationId xmlns:a16="http://schemas.microsoft.com/office/drawing/2014/main" id="{27CB9C28-5E98-104F-B337-32FECBE0E91A}"/>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pic>
        <p:nvPicPr>
          <p:cNvPr id="7" name="Picture 6">
            <a:extLst>
              <a:ext uri="{FF2B5EF4-FFF2-40B4-BE49-F238E27FC236}">
                <a16:creationId xmlns:a16="http://schemas.microsoft.com/office/drawing/2014/main" id="{F1D8E115-9814-2B4A-A4E5-9F91AF327512}"/>
              </a:ext>
            </a:extLst>
          </p:cNvPr>
          <p:cNvPicPr>
            <a:picLocks noChangeAspect="1"/>
          </p:cNvPicPr>
          <p:nvPr/>
        </p:nvPicPr>
        <p:blipFill>
          <a:blip r:embed="rId3"/>
          <a:stretch>
            <a:fillRect/>
          </a:stretch>
        </p:blipFill>
        <p:spPr>
          <a:xfrm>
            <a:off x="7345745" y="2828462"/>
            <a:ext cx="1066800" cy="393700"/>
          </a:xfrm>
          <a:prstGeom prst="rect">
            <a:avLst/>
          </a:prstGeom>
        </p:spPr>
      </p:pic>
      <p:pic>
        <p:nvPicPr>
          <p:cNvPr id="8" name="Picture 7">
            <a:extLst>
              <a:ext uri="{FF2B5EF4-FFF2-40B4-BE49-F238E27FC236}">
                <a16:creationId xmlns:a16="http://schemas.microsoft.com/office/drawing/2014/main" id="{E7FD4180-6263-544A-9309-98CC553977E4}"/>
              </a:ext>
            </a:extLst>
          </p:cNvPr>
          <p:cNvPicPr>
            <a:picLocks noChangeAspect="1"/>
          </p:cNvPicPr>
          <p:nvPr/>
        </p:nvPicPr>
        <p:blipFill>
          <a:blip r:embed="rId4"/>
          <a:stretch>
            <a:fillRect/>
          </a:stretch>
        </p:blipFill>
        <p:spPr>
          <a:xfrm>
            <a:off x="9048750" y="2212512"/>
            <a:ext cx="1727200" cy="812800"/>
          </a:xfrm>
          <a:prstGeom prst="rect">
            <a:avLst/>
          </a:prstGeom>
        </p:spPr>
      </p:pic>
      <p:pic>
        <p:nvPicPr>
          <p:cNvPr id="9" name="Picture 8">
            <a:extLst>
              <a:ext uri="{FF2B5EF4-FFF2-40B4-BE49-F238E27FC236}">
                <a16:creationId xmlns:a16="http://schemas.microsoft.com/office/drawing/2014/main" id="{8F34534F-586B-2646-9A55-A1D2EB899D21}"/>
              </a:ext>
            </a:extLst>
          </p:cNvPr>
          <p:cNvPicPr>
            <a:picLocks noChangeAspect="1"/>
          </p:cNvPicPr>
          <p:nvPr/>
        </p:nvPicPr>
        <p:blipFill>
          <a:blip r:embed="rId5"/>
          <a:stretch>
            <a:fillRect/>
          </a:stretch>
        </p:blipFill>
        <p:spPr>
          <a:xfrm>
            <a:off x="7439025" y="3832689"/>
            <a:ext cx="2374900" cy="787400"/>
          </a:xfrm>
          <a:prstGeom prst="rect">
            <a:avLst/>
          </a:prstGeom>
        </p:spPr>
      </p:pic>
      <p:cxnSp>
        <p:nvCxnSpPr>
          <p:cNvPr id="11" name="Straight Arrow Connector 10">
            <a:extLst>
              <a:ext uri="{FF2B5EF4-FFF2-40B4-BE49-F238E27FC236}">
                <a16:creationId xmlns:a16="http://schemas.microsoft.com/office/drawing/2014/main" id="{1FC1671F-FD09-4242-9C3D-BF71E0417973}"/>
              </a:ext>
            </a:extLst>
          </p:cNvPr>
          <p:cNvCxnSpPr>
            <a:stCxn id="6" idx="3"/>
            <a:endCxn id="8" idx="1"/>
          </p:cNvCxnSpPr>
          <p:nvPr/>
        </p:nvCxnSpPr>
        <p:spPr>
          <a:xfrm>
            <a:off x="8626475" y="2485562"/>
            <a:ext cx="422275" cy="133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1523B2F9-552F-084A-9C09-237FF7EC4F6A}"/>
              </a:ext>
            </a:extLst>
          </p:cNvPr>
          <p:cNvCxnSpPr>
            <a:cxnSpLocks/>
          </p:cNvCxnSpPr>
          <p:nvPr/>
        </p:nvCxnSpPr>
        <p:spPr>
          <a:xfrm flipV="1">
            <a:off x="8550275" y="2670175"/>
            <a:ext cx="470502" cy="291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E0C185D-90D9-BA48-9BC9-5AC848C7296B}"/>
              </a:ext>
            </a:extLst>
          </p:cNvPr>
          <p:cNvCxnSpPr>
            <a:cxnSpLocks/>
            <a:endCxn id="9" idx="1"/>
          </p:cNvCxnSpPr>
          <p:nvPr/>
        </p:nvCxnSpPr>
        <p:spPr>
          <a:xfrm flipV="1">
            <a:off x="5970287" y="4226389"/>
            <a:ext cx="1468738" cy="12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1E06EA37-8F1A-3E4F-99D8-7737194C4152}"/>
              </a:ext>
            </a:extLst>
          </p:cNvPr>
          <p:cNvPicPr>
            <a:picLocks noChangeAspect="1"/>
          </p:cNvPicPr>
          <p:nvPr/>
        </p:nvPicPr>
        <p:blipFill>
          <a:blip r:embed="rId6"/>
          <a:stretch>
            <a:fillRect/>
          </a:stretch>
        </p:blipFill>
        <p:spPr>
          <a:xfrm>
            <a:off x="7550150" y="4797890"/>
            <a:ext cx="1498600" cy="1003300"/>
          </a:xfrm>
          <a:prstGeom prst="rect">
            <a:avLst/>
          </a:prstGeom>
        </p:spPr>
      </p:pic>
      <p:cxnSp>
        <p:nvCxnSpPr>
          <p:cNvPr id="19" name="Straight Arrow Connector 18">
            <a:extLst>
              <a:ext uri="{FF2B5EF4-FFF2-40B4-BE49-F238E27FC236}">
                <a16:creationId xmlns:a16="http://schemas.microsoft.com/office/drawing/2014/main" id="{2128E5EF-3AC5-2144-B5AA-BAB1AC8A9EF7}"/>
              </a:ext>
            </a:extLst>
          </p:cNvPr>
          <p:cNvCxnSpPr>
            <a:cxnSpLocks/>
          </p:cNvCxnSpPr>
          <p:nvPr/>
        </p:nvCxnSpPr>
        <p:spPr>
          <a:xfrm flipV="1">
            <a:off x="5935704" y="5306478"/>
            <a:ext cx="1468738" cy="12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E7820B72-CC71-C742-A338-E733A9F6FC41}"/>
              </a:ext>
            </a:extLst>
          </p:cNvPr>
          <p:cNvPicPr>
            <a:picLocks noChangeAspect="1"/>
          </p:cNvPicPr>
          <p:nvPr/>
        </p:nvPicPr>
        <p:blipFill>
          <a:blip r:embed="rId7"/>
          <a:stretch>
            <a:fillRect/>
          </a:stretch>
        </p:blipFill>
        <p:spPr>
          <a:xfrm>
            <a:off x="7466273" y="5764216"/>
            <a:ext cx="2146300" cy="723900"/>
          </a:xfrm>
          <a:prstGeom prst="rect">
            <a:avLst/>
          </a:prstGeom>
        </p:spPr>
      </p:pic>
      <p:cxnSp>
        <p:nvCxnSpPr>
          <p:cNvPr id="21" name="Straight Arrow Connector 20">
            <a:extLst>
              <a:ext uri="{FF2B5EF4-FFF2-40B4-BE49-F238E27FC236}">
                <a16:creationId xmlns:a16="http://schemas.microsoft.com/office/drawing/2014/main" id="{0A1A7033-3F6D-C54F-88BA-88E3F03A4293}"/>
              </a:ext>
            </a:extLst>
          </p:cNvPr>
          <p:cNvCxnSpPr>
            <a:cxnSpLocks/>
          </p:cNvCxnSpPr>
          <p:nvPr/>
        </p:nvCxnSpPr>
        <p:spPr>
          <a:xfrm flipV="1">
            <a:off x="5961909" y="6119815"/>
            <a:ext cx="1468738" cy="12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3783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77BC-B242-CB47-A094-6E5E6B46051C}"/>
              </a:ext>
            </a:extLst>
          </p:cNvPr>
          <p:cNvSpPr>
            <a:spLocks noGrp="1"/>
          </p:cNvSpPr>
          <p:nvPr>
            <p:ph type="title"/>
          </p:nvPr>
        </p:nvSpPr>
        <p:spPr/>
        <p:txBody>
          <a:bodyPr/>
          <a:lstStyle/>
          <a:p>
            <a:r>
              <a:rPr lang="en-US" dirty="0"/>
              <a:t>Porosity Predictions</a:t>
            </a:r>
          </a:p>
        </p:txBody>
      </p:sp>
      <p:sp>
        <p:nvSpPr>
          <p:cNvPr id="3" name="Content Placeholder 2">
            <a:extLst>
              <a:ext uri="{FF2B5EF4-FFF2-40B4-BE49-F238E27FC236}">
                <a16:creationId xmlns:a16="http://schemas.microsoft.com/office/drawing/2014/main" id="{FBA92812-498B-434E-B943-FD5D4EC611BD}"/>
              </a:ext>
            </a:extLst>
          </p:cNvPr>
          <p:cNvSpPr>
            <a:spLocks noGrp="1"/>
          </p:cNvSpPr>
          <p:nvPr>
            <p:ph sz="half" idx="1"/>
          </p:nvPr>
        </p:nvSpPr>
        <p:spPr>
          <a:xfrm>
            <a:off x="609600" y="1968503"/>
            <a:ext cx="5159894" cy="4157663"/>
          </a:xfrm>
        </p:spPr>
        <p:txBody>
          <a:bodyPr/>
          <a:lstStyle/>
          <a:p>
            <a:r>
              <a:rPr lang="en-US" dirty="0"/>
              <a:t>These porosity models don’t incorporate different phases, initial porosity, axial/radial swelling, etc.</a:t>
            </a:r>
          </a:p>
          <a:p>
            <a:r>
              <a:rPr lang="en-US" dirty="0"/>
              <a:t>These models have been updated slightly to improve code robustness, but still don’t incorporate these critical microstructural phenomena</a:t>
            </a:r>
          </a:p>
          <a:p>
            <a:r>
              <a:rPr lang="en-US" dirty="0"/>
              <a:t>For example, anisotropic swelling is modeling through a factor, which modifies the swelling into different dimensional strains radially/axially</a:t>
            </a:r>
          </a:p>
        </p:txBody>
      </p:sp>
      <p:pic>
        <p:nvPicPr>
          <p:cNvPr id="6" name="Content Placeholder 5">
            <a:extLst>
              <a:ext uri="{FF2B5EF4-FFF2-40B4-BE49-F238E27FC236}">
                <a16:creationId xmlns:a16="http://schemas.microsoft.com/office/drawing/2014/main" id="{8085DA03-EA26-B244-AEF6-4F6CC0AA07A4}"/>
              </a:ext>
            </a:extLst>
          </p:cNvPr>
          <p:cNvPicPr>
            <a:picLocks noGrp="1" noChangeAspect="1"/>
          </p:cNvPicPr>
          <p:nvPr>
            <p:ph sz="half" idx="2"/>
          </p:nvPr>
        </p:nvPicPr>
        <p:blipFill>
          <a:blip r:embed="rId2"/>
          <a:stretch>
            <a:fillRect/>
          </a:stretch>
        </p:blipFill>
        <p:spPr>
          <a:xfrm>
            <a:off x="5892800" y="2178999"/>
            <a:ext cx="2844800" cy="3005071"/>
          </a:xfrm>
          <a:prstGeom prst="rect">
            <a:avLst/>
          </a:prstGeom>
        </p:spPr>
      </p:pic>
      <p:sp>
        <p:nvSpPr>
          <p:cNvPr id="5" name="Slide Number Placeholder 4">
            <a:extLst>
              <a:ext uri="{FF2B5EF4-FFF2-40B4-BE49-F238E27FC236}">
                <a16:creationId xmlns:a16="http://schemas.microsoft.com/office/drawing/2014/main" id="{A3C106D1-EEEB-A841-B008-4E024B97EE27}"/>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pic>
        <p:nvPicPr>
          <p:cNvPr id="7" name="Picture 6">
            <a:extLst>
              <a:ext uri="{FF2B5EF4-FFF2-40B4-BE49-F238E27FC236}">
                <a16:creationId xmlns:a16="http://schemas.microsoft.com/office/drawing/2014/main" id="{0A210E6B-DD3D-E340-9AF1-16E49E394451}"/>
              </a:ext>
            </a:extLst>
          </p:cNvPr>
          <p:cNvPicPr>
            <a:picLocks noChangeAspect="1"/>
          </p:cNvPicPr>
          <p:nvPr/>
        </p:nvPicPr>
        <p:blipFill>
          <a:blip r:embed="rId3"/>
          <a:stretch>
            <a:fillRect/>
          </a:stretch>
        </p:blipFill>
        <p:spPr>
          <a:xfrm>
            <a:off x="9042841" y="2178863"/>
            <a:ext cx="2885448" cy="2865127"/>
          </a:xfrm>
          <a:prstGeom prst="rect">
            <a:avLst/>
          </a:prstGeom>
        </p:spPr>
      </p:pic>
      <p:pic>
        <p:nvPicPr>
          <p:cNvPr id="4" name="Picture 3">
            <a:extLst>
              <a:ext uri="{FF2B5EF4-FFF2-40B4-BE49-F238E27FC236}">
                <a16:creationId xmlns:a16="http://schemas.microsoft.com/office/drawing/2014/main" id="{DC0DD863-C058-CFC0-8523-635CFBA90D1D}"/>
              </a:ext>
            </a:extLst>
          </p:cNvPr>
          <p:cNvPicPr>
            <a:picLocks noChangeAspect="1"/>
          </p:cNvPicPr>
          <p:nvPr/>
        </p:nvPicPr>
        <p:blipFill>
          <a:blip r:embed="rId4"/>
          <a:stretch>
            <a:fillRect/>
          </a:stretch>
        </p:blipFill>
        <p:spPr>
          <a:xfrm>
            <a:off x="6540500" y="5141561"/>
            <a:ext cx="3619500" cy="1257300"/>
          </a:xfrm>
          <a:prstGeom prst="rect">
            <a:avLst/>
          </a:prstGeom>
        </p:spPr>
      </p:pic>
    </p:spTree>
    <p:extLst>
      <p:ext uri="{BB962C8B-B14F-4D97-AF65-F5344CB8AC3E}">
        <p14:creationId xmlns:p14="http://schemas.microsoft.com/office/powerpoint/2010/main" val="3950199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281C-9EB7-9F4D-BE82-BFCBEDA33AE5}"/>
              </a:ext>
            </a:extLst>
          </p:cNvPr>
          <p:cNvSpPr>
            <a:spLocks noGrp="1"/>
          </p:cNvSpPr>
          <p:nvPr>
            <p:ph type="title"/>
          </p:nvPr>
        </p:nvSpPr>
        <p:spPr/>
        <p:txBody>
          <a:bodyPr/>
          <a:lstStyle/>
          <a:p>
            <a:r>
              <a:rPr lang="en-US" dirty="0"/>
              <a:t>Mechanical Properties</a:t>
            </a:r>
          </a:p>
        </p:txBody>
      </p:sp>
      <p:sp>
        <p:nvSpPr>
          <p:cNvPr id="3" name="Content Placeholder 2">
            <a:extLst>
              <a:ext uri="{FF2B5EF4-FFF2-40B4-BE49-F238E27FC236}">
                <a16:creationId xmlns:a16="http://schemas.microsoft.com/office/drawing/2014/main" id="{6115AC0A-B93D-9C49-94E3-44261FC46B22}"/>
              </a:ext>
            </a:extLst>
          </p:cNvPr>
          <p:cNvSpPr>
            <a:spLocks noGrp="1"/>
          </p:cNvSpPr>
          <p:nvPr>
            <p:ph sz="half" idx="1"/>
          </p:nvPr>
        </p:nvSpPr>
        <p:spPr>
          <a:xfrm>
            <a:off x="609600" y="2210765"/>
            <a:ext cx="5384800" cy="3915401"/>
          </a:xfrm>
        </p:spPr>
        <p:txBody>
          <a:bodyPr/>
          <a:lstStyle/>
          <a:p>
            <a:r>
              <a:rPr lang="en-US" sz="2200" dirty="0"/>
              <a:t>Young’s Modulus</a:t>
            </a:r>
          </a:p>
          <a:p>
            <a:endParaRPr lang="en-US" sz="2200" dirty="0"/>
          </a:p>
          <a:p>
            <a:r>
              <a:rPr lang="en-US" sz="2200" dirty="0"/>
              <a:t>Poisson’s ratio</a:t>
            </a:r>
          </a:p>
          <a:p>
            <a:endParaRPr lang="en-US" sz="2200" dirty="0"/>
          </a:p>
          <a:p>
            <a:r>
              <a:rPr lang="en-US" sz="2200" dirty="0"/>
              <a:t>Creep</a:t>
            </a:r>
          </a:p>
          <a:p>
            <a:endParaRPr lang="en-US" sz="2200" dirty="0"/>
          </a:p>
          <a:p>
            <a:endParaRPr lang="en-US" sz="2200" dirty="0"/>
          </a:p>
          <a:p>
            <a:r>
              <a:rPr lang="en-US" sz="2200" dirty="0"/>
              <a:t>Cladding models for HT-9 creep and k</a:t>
            </a:r>
            <a:r>
              <a:rPr lang="en-US" sz="2200" baseline="-25000" dirty="0"/>
              <a:t>th</a:t>
            </a:r>
            <a:endParaRPr lang="en-US" sz="2200" dirty="0"/>
          </a:p>
        </p:txBody>
      </p:sp>
      <p:pic>
        <p:nvPicPr>
          <p:cNvPr id="6" name="Content Placeholder 5">
            <a:extLst>
              <a:ext uri="{FF2B5EF4-FFF2-40B4-BE49-F238E27FC236}">
                <a16:creationId xmlns:a16="http://schemas.microsoft.com/office/drawing/2014/main" id="{BDC51DC2-AA66-8440-BBC2-9953B33593CC}"/>
              </a:ext>
            </a:extLst>
          </p:cNvPr>
          <p:cNvPicPr>
            <a:picLocks noGrp="1" noChangeAspect="1"/>
          </p:cNvPicPr>
          <p:nvPr>
            <p:ph sz="half" idx="2"/>
          </p:nvPr>
        </p:nvPicPr>
        <p:blipFill>
          <a:blip r:embed="rId2"/>
          <a:stretch>
            <a:fillRect/>
          </a:stretch>
        </p:blipFill>
        <p:spPr>
          <a:xfrm>
            <a:off x="6492272" y="2103749"/>
            <a:ext cx="5003800" cy="762000"/>
          </a:xfrm>
          <a:prstGeom prst="rect">
            <a:avLst/>
          </a:prstGeom>
        </p:spPr>
      </p:pic>
      <p:sp>
        <p:nvSpPr>
          <p:cNvPr id="5" name="Slide Number Placeholder 4">
            <a:extLst>
              <a:ext uri="{FF2B5EF4-FFF2-40B4-BE49-F238E27FC236}">
                <a16:creationId xmlns:a16="http://schemas.microsoft.com/office/drawing/2014/main" id="{78BBE50D-632C-484A-B203-ACD5DA04A8DC}"/>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7" name="Picture 6">
            <a:extLst>
              <a:ext uri="{FF2B5EF4-FFF2-40B4-BE49-F238E27FC236}">
                <a16:creationId xmlns:a16="http://schemas.microsoft.com/office/drawing/2014/main" id="{D3286CDB-2E38-9A46-B5F7-683CC075ABE6}"/>
              </a:ext>
            </a:extLst>
          </p:cNvPr>
          <p:cNvPicPr>
            <a:picLocks noChangeAspect="1"/>
          </p:cNvPicPr>
          <p:nvPr/>
        </p:nvPicPr>
        <p:blipFill>
          <a:blip r:embed="rId3"/>
          <a:stretch>
            <a:fillRect/>
          </a:stretch>
        </p:blipFill>
        <p:spPr>
          <a:xfrm>
            <a:off x="7145438" y="3000998"/>
            <a:ext cx="4267200" cy="685800"/>
          </a:xfrm>
          <a:prstGeom prst="rect">
            <a:avLst/>
          </a:prstGeom>
        </p:spPr>
      </p:pic>
      <p:pic>
        <p:nvPicPr>
          <p:cNvPr id="8" name="Picture 7">
            <a:extLst>
              <a:ext uri="{FF2B5EF4-FFF2-40B4-BE49-F238E27FC236}">
                <a16:creationId xmlns:a16="http://schemas.microsoft.com/office/drawing/2014/main" id="{70E212EA-26EB-CF4D-AEB6-73B18E0BBB4E}"/>
              </a:ext>
            </a:extLst>
          </p:cNvPr>
          <p:cNvPicPr>
            <a:picLocks noChangeAspect="1"/>
          </p:cNvPicPr>
          <p:nvPr/>
        </p:nvPicPr>
        <p:blipFill>
          <a:blip r:embed="rId4"/>
          <a:stretch>
            <a:fillRect/>
          </a:stretch>
        </p:blipFill>
        <p:spPr>
          <a:xfrm>
            <a:off x="6902450" y="3912550"/>
            <a:ext cx="3670300" cy="698500"/>
          </a:xfrm>
          <a:prstGeom prst="rect">
            <a:avLst/>
          </a:prstGeom>
        </p:spPr>
      </p:pic>
      <p:pic>
        <p:nvPicPr>
          <p:cNvPr id="9" name="Picture 8">
            <a:extLst>
              <a:ext uri="{FF2B5EF4-FFF2-40B4-BE49-F238E27FC236}">
                <a16:creationId xmlns:a16="http://schemas.microsoft.com/office/drawing/2014/main" id="{780D863A-3EAD-C94B-8483-81793E077DF1}"/>
              </a:ext>
            </a:extLst>
          </p:cNvPr>
          <p:cNvPicPr>
            <a:picLocks noChangeAspect="1"/>
          </p:cNvPicPr>
          <p:nvPr/>
        </p:nvPicPr>
        <p:blipFill>
          <a:blip r:embed="rId5"/>
          <a:stretch>
            <a:fillRect/>
          </a:stretch>
        </p:blipFill>
        <p:spPr>
          <a:xfrm>
            <a:off x="6492272" y="5597689"/>
            <a:ext cx="4953000" cy="546100"/>
          </a:xfrm>
          <a:prstGeom prst="rect">
            <a:avLst/>
          </a:prstGeom>
        </p:spPr>
      </p:pic>
      <p:pic>
        <p:nvPicPr>
          <p:cNvPr id="10" name="Picture 9">
            <a:extLst>
              <a:ext uri="{FF2B5EF4-FFF2-40B4-BE49-F238E27FC236}">
                <a16:creationId xmlns:a16="http://schemas.microsoft.com/office/drawing/2014/main" id="{19DB0AE1-C483-EA45-82A9-DB22FCD5C80E}"/>
              </a:ext>
            </a:extLst>
          </p:cNvPr>
          <p:cNvPicPr>
            <a:picLocks noChangeAspect="1"/>
          </p:cNvPicPr>
          <p:nvPr/>
        </p:nvPicPr>
        <p:blipFill>
          <a:blip r:embed="rId6"/>
          <a:stretch>
            <a:fillRect/>
          </a:stretch>
        </p:blipFill>
        <p:spPr>
          <a:xfrm>
            <a:off x="6327172" y="4894508"/>
            <a:ext cx="5334000" cy="596900"/>
          </a:xfrm>
          <a:prstGeom prst="rect">
            <a:avLst/>
          </a:prstGeom>
        </p:spPr>
      </p:pic>
    </p:spTree>
    <p:extLst>
      <p:ext uri="{BB962C8B-B14F-4D97-AF65-F5344CB8AC3E}">
        <p14:creationId xmlns:p14="http://schemas.microsoft.com/office/powerpoint/2010/main" val="3273983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30D8-4046-0D42-AF5C-B434D559B6B8}"/>
              </a:ext>
            </a:extLst>
          </p:cNvPr>
          <p:cNvSpPr>
            <a:spLocks noGrp="1"/>
          </p:cNvSpPr>
          <p:nvPr>
            <p:ph type="title"/>
          </p:nvPr>
        </p:nvSpPr>
        <p:spPr/>
        <p:txBody>
          <a:bodyPr/>
          <a:lstStyle/>
          <a:p>
            <a:r>
              <a:rPr lang="en-US" dirty="0"/>
              <a:t>BISON Testing</a:t>
            </a:r>
          </a:p>
        </p:txBody>
      </p:sp>
      <p:sp>
        <p:nvSpPr>
          <p:cNvPr id="3" name="Content Placeholder 2">
            <a:extLst>
              <a:ext uri="{FF2B5EF4-FFF2-40B4-BE49-F238E27FC236}">
                <a16:creationId xmlns:a16="http://schemas.microsoft.com/office/drawing/2014/main" id="{F310A712-B774-3A47-9C6B-F4633A288CF2}"/>
              </a:ext>
            </a:extLst>
          </p:cNvPr>
          <p:cNvSpPr>
            <a:spLocks noGrp="1"/>
          </p:cNvSpPr>
          <p:nvPr>
            <p:ph sz="half" idx="1"/>
          </p:nvPr>
        </p:nvSpPr>
        <p:spPr>
          <a:xfrm>
            <a:off x="609600" y="1968503"/>
            <a:ext cx="4749478" cy="4157663"/>
          </a:xfrm>
        </p:spPr>
        <p:txBody>
          <a:bodyPr/>
          <a:lstStyle/>
          <a:p>
            <a:r>
              <a:rPr lang="en-US" sz="2200" dirty="0"/>
              <a:t>BISON can handle binary and ternary fuel and compares reasonably well with EBR-II data</a:t>
            </a:r>
          </a:p>
          <a:p>
            <a:r>
              <a:rPr lang="en-US" sz="2200" dirty="0"/>
              <a:t>Discrepancies are due to inadequate knowledge of materials models, and underlying issues with material descriptions, and code robustness</a:t>
            </a:r>
          </a:p>
          <a:p>
            <a:r>
              <a:rPr lang="en-US" sz="2200" dirty="0"/>
              <a:t>Development is ongoing, and improvements to swelling models, for example, have been made</a:t>
            </a:r>
          </a:p>
        </p:txBody>
      </p:sp>
      <p:pic>
        <p:nvPicPr>
          <p:cNvPr id="6" name="Content Placeholder 5">
            <a:extLst>
              <a:ext uri="{FF2B5EF4-FFF2-40B4-BE49-F238E27FC236}">
                <a16:creationId xmlns:a16="http://schemas.microsoft.com/office/drawing/2014/main" id="{15C841D7-202C-4E4E-87C2-BDC7994F6256}"/>
              </a:ext>
            </a:extLst>
          </p:cNvPr>
          <p:cNvPicPr>
            <a:picLocks noGrp="1" noChangeAspect="1"/>
          </p:cNvPicPr>
          <p:nvPr>
            <p:ph sz="half" idx="2"/>
          </p:nvPr>
        </p:nvPicPr>
        <p:blipFill>
          <a:blip r:embed="rId2"/>
          <a:stretch>
            <a:fillRect/>
          </a:stretch>
        </p:blipFill>
        <p:spPr>
          <a:xfrm>
            <a:off x="5476111" y="1739261"/>
            <a:ext cx="3261489" cy="2486086"/>
          </a:xfrm>
          <a:prstGeom prst="rect">
            <a:avLst/>
          </a:prstGeom>
        </p:spPr>
      </p:pic>
      <p:sp>
        <p:nvSpPr>
          <p:cNvPr id="5" name="Slide Number Placeholder 4">
            <a:extLst>
              <a:ext uri="{FF2B5EF4-FFF2-40B4-BE49-F238E27FC236}">
                <a16:creationId xmlns:a16="http://schemas.microsoft.com/office/drawing/2014/main" id="{2CA3A285-9F46-F44D-8B48-3DFC273A57D2}"/>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7" name="Picture 6">
            <a:extLst>
              <a:ext uri="{FF2B5EF4-FFF2-40B4-BE49-F238E27FC236}">
                <a16:creationId xmlns:a16="http://schemas.microsoft.com/office/drawing/2014/main" id="{B4B28F29-7E40-464C-A564-B22A874D185B}"/>
              </a:ext>
            </a:extLst>
          </p:cNvPr>
          <p:cNvPicPr>
            <a:picLocks noChangeAspect="1"/>
          </p:cNvPicPr>
          <p:nvPr/>
        </p:nvPicPr>
        <p:blipFill>
          <a:blip r:embed="rId3"/>
          <a:stretch>
            <a:fillRect/>
          </a:stretch>
        </p:blipFill>
        <p:spPr>
          <a:xfrm>
            <a:off x="5310279" y="4095186"/>
            <a:ext cx="3439873" cy="2632649"/>
          </a:xfrm>
          <a:prstGeom prst="rect">
            <a:avLst/>
          </a:prstGeom>
        </p:spPr>
      </p:pic>
      <p:pic>
        <p:nvPicPr>
          <p:cNvPr id="8" name="Picture 7">
            <a:extLst>
              <a:ext uri="{FF2B5EF4-FFF2-40B4-BE49-F238E27FC236}">
                <a16:creationId xmlns:a16="http://schemas.microsoft.com/office/drawing/2014/main" id="{567E08A7-E209-D445-8FEB-C9323859FCE9}"/>
              </a:ext>
            </a:extLst>
          </p:cNvPr>
          <p:cNvPicPr>
            <a:picLocks noChangeAspect="1"/>
          </p:cNvPicPr>
          <p:nvPr/>
        </p:nvPicPr>
        <p:blipFill>
          <a:blip r:embed="rId4"/>
          <a:stretch>
            <a:fillRect/>
          </a:stretch>
        </p:blipFill>
        <p:spPr>
          <a:xfrm>
            <a:off x="8654331" y="1602738"/>
            <a:ext cx="3261488" cy="2673502"/>
          </a:xfrm>
          <a:prstGeom prst="rect">
            <a:avLst/>
          </a:prstGeom>
        </p:spPr>
      </p:pic>
      <p:pic>
        <p:nvPicPr>
          <p:cNvPr id="9" name="Picture 8">
            <a:extLst>
              <a:ext uri="{FF2B5EF4-FFF2-40B4-BE49-F238E27FC236}">
                <a16:creationId xmlns:a16="http://schemas.microsoft.com/office/drawing/2014/main" id="{4545CFA0-B918-D147-847D-3A2D88AE5145}"/>
              </a:ext>
            </a:extLst>
          </p:cNvPr>
          <p:cNvPicPr>
            <a:picLocks noChangeAspect="1"/>
          </p:cNvPicPr>
          <p:nvPr/>
        </p:nvPicPr>
        <p:blipFill>
          <a:blip r:embed="rId5"/>
          <a:stretch>
            <a:fillRect/>
          </a:stretch>
        </p:blipFill>
        <p:spPr>
          <a:xfrm>
            <a:off x="8584320" y="4095183"/>
            <a:ext cx="3261488" cy="2599622"/>
          </a:xfrm>
          <a:prstGeom prst="rect">
            <a:avLst/>
          </a:prstGeom>
        </p:spPr>
      </p:pic>
    </p:spTree>
    <p:extLst>
      <p:ext uri="{BB962C8B-B14F-4D97-AF65-F5344CB8AC3E}">
        <p14:creationId xmlns:p14="http://schemas.microsoft.com/office/powerpoint/2010/main" val="1602508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5ACA-79FB-0E4B-A0B2-25968942F952}"/>
              </a:ext>
            </a:extLst>
          </p:cNvPr>
          <p:cNvSpPr>
            <a:spLocks noGrp="1"/>
          </p:cNvSpPr>
          <p:nvPr>
            <p:ph type="title"/>
          </p:nvPr>
        </p:nvSpPr>
        <p:spPr/>
        <p:txBody>
          <a:bodyPr/>
          <a:lstStyle/>
          <a:p>
            <a:r>
              <a:rPr lang="en-US" dirty="0"/>
              <a:t>Other Codes</a:t>
            </a:r>
          </a:p>
        </p:txBody>
      </p:sp>
      <p:sp>
        <p:nvSpPr>
          <p:cNvPr id="3" name="Content Placeholder 2">
            <a:extLst>
              <a:ext uri="{FF2B5EF4-FFF2-40B4-BE49-F238E27FC236}">
                <a16:creationId xmlns:a16="http://schemas.microsoft.com/office/drawing/2014/main" id="{68B4AC97-5854-D748-951F-02D652746B70}"/>
              </a:ext>
            </a:extLst>
          </p:cNvPr>
          <p:cNvSpPr>
            <a:spLocks noGrp="1"/>
          </p:cNvSpPr>
          <p:nvPr>
            <p:ph sz="half" idx="1"/>
          </p:nvPr>
        </p:nvSpPr>
        <p:spPr>
          <a:xfrm>
            <a:off x="609600" y="1968503"/>
            <a:ext cx="5720100" cy="4157663"/>
          </a:xfrm>
        </p:spPr>
        <p:txBody>
          <a:bodyPr/>
          <a:lstStyle/>
          <a:p>
            <a:r>
              <a:rPr lang="en-US" sz="2200" dirty="0"/>
              <a:t>LIFEMETAL</a:t>
            </a:r>
          </a:p>
          <a:p>
            <a:r>
              <a:rPr lang="en-US" sz="2200" dirty="0"/>
              <a:t>The code has evolved from the LIFE series of codes from ANL that perform steady-state and transient analyses for nuclear fuel</a:t>
            </a:r>
          </a:p>
          <a:p>
            <a:r>
              <a:rPr lang="en-US" sz="2200" dirty="0"/>
              <a:t>The original code was developed for UO2 and mixed oxide fuels for use in fast reactor systems</a:t>
            </a:r>
          </a:p>
          <a:p>
            <a:r>
              <a:rPr lang="en-US" sz="2200" dirty="0"/>
              <a:t>The code was developed in association with the IFR and has been extensively used for planning steady state and transient experiments at EBR-II</a:t>
            </a:r>
          </a:p>
        </p:txBody>
      </p:sp>
      <p:pic>
        <p:nvPicPr>
          <p:cNvPr id="6" name="Content Placeholder 5">
            <a:extLst>
              <a:ext uri="{FF2B5EF4-FFF2-40B4-BE49-F238E27FC236}">
                <a16:creationId xmlns:a16="http://schemas.microsoft.com/office/drawing/2014/main" id="{3FDDF2FC-4F43-5845-9530-62D3235B29D3}"/>
              </a:ext>
            </a:extLst>
          </p:cNvPr>
          <p:cNvPicPr>
            <a:picLocks noGrp="1" noChangeAspect="1"/>
          </p:cNvPicPr>
          <p:nvPr>
            <p:ph sz="half" idx="2"/>
          </p:nvPr>
        </p:nvPicPr>
        <p:blipFill>
          <a:blip r:embed="rId2"/>
          <a:stretch>
            <a:fillRect/>
          </a:stretch>
        </p:blipFill>
        <p:spPr>
          <a:xfrm>
            <a:off x="6329700" y="1289481"/>
            <a:ext cx="2631822" cy="4954885"/>
          </a:xfrm>
          <a:prstGeom prst="rect">
            <a:avLst/>
          </a:prstGeom>
        </p:spPr>
      </p:pic>
      <p:sp>
        <p:nvSpPr>
          <p:cNvPr id="5" name="Slide Number Placeholder 4">
            <a:extLst>
              <a:ext uri="{FF2B5EF4-FFF2-40B4-BE49-F238E27FC236}">
                <a16:creationId xmlns:a16="http://schemas.microsoft.com/office/drawing/2014/main" id="{63875A79-A3F2-8640-9FDA-967C03F5FD01}"/>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7" name="Picture 6">
            <a:extLst>
              <a:ext uri="{FF2B5EF4-FFF2-40B4-BE49-F238E27FC236}">
                <a16:creationId xmlns:a16="http://schemas.microsoft.com/office/drawing/2014/main" id="{6F601C3E-CC1C-674F-ADCB-9406DEBAF6BA}"/>
              </a:ext>
            </a:extLst>
          </p:cNvPr>
          <p:cNvPicPr>
            <a:picLocks noChangeAspect="1"/>
          </p:cNvPicPr>
          <p:nvPr/>
        </p:nvPicPr>
        <p:blipFill>
          <a:blip r:embed="rId3"/>
          <a:stretch>
            <a:fillRect/>
          </a:stretch>
        </p:blipFill>
        <p:spPr>
          <a:xfrm>
            <a:off x="9072900" y="1255057"/>
            <a:ext cx="2847849" cy="2511867"/>
          </a:xfrm>
          <a:prstGeom prst="rect">
            <a:avLst/>
          </a:prstGeom>
        </p:spPr>
      </p:pic>
      <p:pic>
        <p:nvPicPr>
          <p:cNvPr id="8" name="Picture 7">
            <a:extLst>
              <a:ext uri="{FF2B5EF4-FFF2-40B4-BE49-F238E27FC236}">
                <a16:creationId xmlns:a16="http://schemas.microsoft.com/office/drawing/2014/main" id="{95B04D0B-5914-A244-92D8-0DB8938A66B9}"/>
              </a:ext>
            </a:extLst>
          </p:cNvPr>
          <p:cNvPicPr>
            <a:picLocks noChangeAspect="1"/>
          </p:cNvPicPr>
          <p:nvPr/>
        </p:nvPicPr>
        <p:blipFill>
          <a:blip r:embed="rId4"/>
          <a:stretch>
            <a:fillRect/>
          </a:stretch>
        </p:blipFill>
        <p:spPr>
          <a:xfrm>
            <a:off x="9072900" y="3725044"/>
            <a:ext cx="3030248" cy="2631308"/>
          </a:xfrm>
          <a:prstGeom prst="rect">
            <a:avLst/>
          </a:prstGeom>
        </p:spPr>
      </p:pic>
    </p:spTree>
    <p:extLst>
      <p:ext uri="{BB962C8B-B14F-4D97-AF65-F5344CB8AC3E}">
        <p14:creationId xmlns:p14="http://schemas.microsoft.com/office/powerpoint/2010/main" val="1316821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5ACA-79FB-0E4B-A0B2-25968942F952}"/>
              </a:ext>
            </a:extLst>
          </p:cNvPr>
          <p:cNvSpPr>
            <a:spLocks noGrp="1"/>
          </p:cNvSpPr>
          <p:nvPr>
            <p:ph type="title"/>
          </p:nvPr>
        </p:nvSpPr>
        <p:spPr/>
        <p:txBody>
          <a:bodyPr/>
          <a:lstStyle/>
          <a:p>
            <a:r>
              <a:rPr lang="en-US" dirty="0"/>
              <a:t>Other Codes</a:t>
            </a:r>
          </a:p>
        </p:txBody>
      </p:sp>
      <p:sp>
        <p:nvSpPr>
          <p:cNvPr id="3" name="Content Placeholder 2">
            <a:extLst>
              <a:ext uri="{FF2B5EF4-FFF2-40B4-BE49-F238E27FC236}">
                <a16:creationId xmlns:a16="http://schemas.microsoft.com/office/drawing/2014/main" id="{68B4AC97-5854-D748-951F-02D652746B70}"/>
              </a:ext>
            </a:extLst>
          </p:cNvPr>
          <p:cNvSpPr>
            <a:spLocks noGrp="1"/>
          </p:cNvSpPr>
          <p:nvPr>
            <p:ph sz="half" idx="1"/>
          </p:nvPr>
        </p:nvSpPr>
        <p:spPr/>
        <p:txBody>
          <a:bodyPr/>
          <a:lstStyle/>
          <a:p>
            <a:r>
              <a:rPr lang="en-US" sz="2200" dirty="0"/>
              <a:t>ALFUS</a:t>
            </a:r>
          </a:p>
          <a:p>
            <a:r>
              <a:rPr lang="en-US" sz="2200" dirty="0"/>
              <a:t>JAEA code that is multiphysics in nature and focuses on the mechanical behavior of the fuel under irradiation</a:t>
            </a:r>
          </a:p>
          <a:p>
            <a:r>
              <a:rPr lang="en-US" sz="2200" dirty="0"/>
              <a:t>Both LIFE-METAL and ALFUS are capable of simulating metal fuel irradiation behavior to some extent</a:t>
            </a:r>
          </a:p>
          <a:p>
            <a:r>
              <a:rPr lang="en-US" sz="2200" dirty="0"/>
              <a:t>Both lack different swelling in different radial zone, coupling of redistribution, realistic predictions of FCCI, etc.</a:t>
            </a:r>
          </a:p>
          <a:p>
            <a:endParaRPr lang="en-US" sz="2200" dirty="0"/>
          </a:p>
        </p:txBody>
      </p:sp>
      <p:sp>
        <p:nvSpPr>
          <p:cNvPr id="5" name="Slide Number Placeholder 4">
            <a:extLst>
              <a:ext uri="{FF2B5EF4-FFF2-40B4-BE49-F238E27FC236}">
                <a16:creationId xmlns:a16="http://schemas.microsoft.com/office/drawing/2014/main" id="{63875A79-A3F2-8640-9FDA-967C03F5FD01}"/>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pic>
        <p:nvPicPr>
          <p:cNvPr id="7" name="Picture 6">
            <a:extLst>
              <a:ext uri="{FF2B5EF4-FFF2-40B4-BE49-F238E27FC236}">
                <a16:creationId xmlns:a16="http://schemas.microsoft.com/office/drawing/2014/main" id="{8D712EA4-8113-7A44-81A7-7B4CCC4E2B61}"/>
              </a:ext>
            </a:extLst>
          </p:cNvPr>
          <p:cNvPicPr>
            <a:picLocks noChangeAspect="1"/>
          </p:cNvPicPr>
          <p:nvPr/>
        </p:nvPicPr>
        <p:blipFill>
          <a:blip r:embed="rId2"/>
          <a:stretch>
            <a:fillRect/>
          </a:stretch>
        </p:blipFill>
        <p:spPr>
          <a:xfrm>
            <a:off x="8792064" y="1202155"/>
            <a:ext cx="3047153" cy="2523819"/>
          </a:xfrm>
          <a:prstGeom prst="rect">
            <a:avLst/>
          </a:prstGeom>
        </p:spPr>
      </p:pic>
      <p:pic>
        <p:nvPicPr>
          <p:cNvPr id="8" name="Picture 7">
            <a:extLst>
              <a:ext uri="{FF2B5EF4-FFF2-40B4-BE49-F238E27FC236}">
                <a16:creationId xmlns:a16="http://schemas.microsoft.com/office/drawing/2014/main" id="{E4276B0B-2B06-7340-B660-EC468AF1188E}"/>
              </a:ext>
            </a:extLst>
          </p:cNvPr>
          <p:cNvPicPr>
            <a:picLocks noChangeAspect="1"/>
          </p:cNvPicPr>
          <p:nvPr/>
        </p:nvPicPr>
        <p:blipFill>
          <a:blip r:embed="rId3"/>
          <a:stretch>
            <a:fillRect/>
          </a:stretch>
        </p:blipFill>
        <p:spPr>
          <a:xfrm>
            <a:off x="9074029" y="3779253"/>
            <a:ext cx="2171941" cy="2523819"/>
          </a:xfrm>
          <a:prstGeom prst="rect">
            <a:avLst/>
          </a:prstGeom>
        </p:spPr>
      </p:pic>
      <p:pic>
        <p:nvPicPr>
          <p:cNvPr id="6" name="Content Placeholder 5">
            <a:extLst>
              <a:ext uri="{FF2B5EF4-FFF2-40B4-BE49-F238E27FC236}">
                <a16:creationId xmlns:a16="http://schemas.microsoft.com/office/drawing/2014/main" id="{2359EACA-B41F-0B44-876D-BEB53E8F4AEC}"/>
              </a:ext>
            </a:extLst>
          </p:cNvPr>
          <p:cNvPicPr>
            <a:picLocks noGrp="1" noChangeAspect="1"/>
          </p:cNvPicPr>
          <p:nvPr>
            <p:ph sz="half" idx="2"/>
          </p:nvPr>
        </p:nvPicPr>
        <p:blipFill>
          <a:blip r:embed="rId4"/>
          <a:stretch>
            <a:fillRect/>
          </a:stretch>
        </p:blipFill>
        <p:spPr>
          <a:xfrm>
            <a:off x="6096000" y="1264454"/>
            <a:ext cx="2844800" cy="4923039"/>
          </a:xfrm>
          <a:prstGeom prst="rect">
            <a:avLst/>
          </a:prstGeom>
        </p:spPr>
      </p:pic>
    </p:spTree>
    <p:extLst>
      <p:ext uri="{BB962C8B-B14F-4D97-AF65-F5344CB8AC3E}">
        <p14:creationId xmlns:p14="http://schemas.microsoft.com/office/powerpoint/2010/main" val="3392761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39A5F-3531-470A-988B-08C23776C5C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D64F5CD-579C-B4C9-2037-160255015716}"/>
              </a:ext>
            </a:extLst>
          </p:cNvPr>
          <p:cNvSpPr>
            <a:spLocks noGrp="1"/>
          </p:cNvSpPr>
          <p:nvPr>
            <p:ph sz="half" idx="1"/>
          </p:nvPr>
        </p:nvSpPr>
        <p:spPr>
          <a:xfrm>
            <a:off x="609600" y="1968503"/>
            <a:ext cx="5908158" cy="4157663"/>
          </a:xfrm>
        </p:spPr>
        <p:txBody>
          <a:bodyPr/>
          <a:lstStyle/>
          <a:p>
            <a:r>
              <a:rPr lang="en-US" dirty="0">
                <a:latin typeface="Arial" panose="020B0604020202020204" pitchFamily="34" charset="0"/>
                <a:cs typeface="Arial" panose="020B0604020202020204" pitchFamily="34" charset="0"/>
              </a:rPr>
              <a:t>Fuel performance modeling is relatively underdeveloped for metallic fuels</a:t>
            </a:r>
          </a:p>
          <a:p>
            <a:r>
              <a:rPr lang="en-US" dirty="0">
                <a:latin typeface="Arial" panose="020B0604020202020204" pitchFamily="34" charset="0"/>
                <a:cs typeface="Arial" panose="020B0604020202020204" pitchFamily="34" charset="0"/>
              </a:rPr>
              <a:t>Lots of the pieces are there… but there is significant uncertainty in most materials models</a:t>
            </a:r>
          </a:p>
          <a:p>
            <a:r>
              <a:rPr lang="en-US" dirty="0">
                <a:latin typeface="Arial" panose="020B0604020202020204" pitchFamily="34" charset="0"/>
                <a:cs typeface="Arial" panose="020B0604020202020204" pitchFamily="34" charset="0"/>
              </a:rPr>
              <a:t>Still includes ad-hoc corrections and empirical relations based on 2-5 historical experiments</a:t>
            </a:r>
          </a:p>
          <a:p>
            <a:r>
              <a:rPr lang="en-US" dirty="0">
                <a:latin typeface="Arial" panose="020B0604020202020204" pitchFamily="34" charset="0"/>
                <a:cs typeface="Arial" panose="020B0604020202020204" pitchFamily="34" charset="0"/>
              </a:rPr>
              <a:t>Recent report details current state of knowledge in more depth:  </a:t>
            </a:r>
          </a:p>
          <a:p>
            <a:pPr lvl="1"/>
            <a:r>
              <a:rPr lang="en-US" dirty="0">
                <a:latin typeface="Arial" panose="020B0604020202020204" pitchFamily="34" charset="0"/>
                <a:cs typeface="Arial" panose="020B0604020202020204" pitchFamily="34" charset="0"/>
              </a:rPr>
              <a:t>ANL/CFCT-22/28</a:t>
            </a: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96F65F2-6DAC-77BD-C53C-F571910FC562}"/>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6" name="Picture 5">
            <a:extLst>
              <a:ext uri="{FF2B5EF4-FFF2-40B4-BE49-F238E27FC236}">
                <a16:creationId xmlns:a16="http://schemas.microsoft.com/office/drawing/2014/main" id="{CEDA0C82-F03E-4162-C885-8091C65C6F66}"/>
              </a:ext>
            </a:extLst>
          </p:cNvPr>
          <p:cNvPicPr>
            <a:picLocks noChangeAspect="1"/>
          </p:cNvPicPr>
          <p:nvPr/>
        </p:nvPicPr>
        <p:blipFill>
          <a:blip r:embed="rId2"/>
          <a:stretch>
            <a:fillRect/>
          </a:stretch>
        </p:blipFill>
        <p:spPr>
          <a:xfrm>
            <a:off x="7225176" y="705368"/>
            <a:ext cx="3902228" cy="2981959"/>
          </a:xfrm>
          <a:prstGeom prst="rect">
            <a:avLst/>
          </a:prstGeom>
        </p:spPr>
      </p:pic>
      <p:pic>
        <p:nvPicPr>
          <p:cNvPr id="7" name="Picture 6">
            <a:extLst>
              <a:ext uri="{FF2B5EF4-FFF2-40B4-BE49-F238E27FC236}">
                <a16:creationId xmlns:a16="http://schemas.microsoft.com/office/drawing/2014/main" id="{7E24BF1C-E46E-7499-3399-62203ACB72A6}"/>
              </a:ext>
            </a:extLst>
          </p:cNvPr>
          <p:cNvPicPr>
            <a:picLocks noChangeAspect="1"/>
          </p:cNvPicPr>
          <p:nvPr/>
        </p:nvPicPr>
        <p:blipFill>
          <a:blip r:embed="rId3"/>
          <a:stretch>
            <a:fillRect/>
          </a:stretch>
        </p:blipFill>
        <p:spPr>
          <a:xfrm>
            <a:off x="7225175" y="3646966"/>
            <a:ext cx="3902228" cy="2984057"/>
          </a:xfrm>
          <a:prstGeom prst="rect">
            <a:avLst/>
          </a:prstGeom>
        </p:spPr>
      </p:pic>
    </p:spTree>
    <p:extLst>
      <p:ext uri="{BB962C8B-B14F-4D97-AF65-F5344CB8AC3E}">
        <p14:creationId xmlns:p14="http://schemas.microsoft.com/office/powerpoint/2010/main" val="2276832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Metal fuel fabrication</a:t>
            </a:r>
          </a:p>
        </p:txBody>
      </p:sp>
      <p:sp>
        <p:nvSpPr>
          <p:cNvPr id="3" name="Slide Number Placeholder 2">
            <a:extLst>
              <a:ext uri="{FF2B5EF4-FFF2-40B4-BE49-F238E27FC236}">
                <a16:creationId xmlns:a16="http://schemas.microsoft.com/office/drawing/2014/main" id="{AB3C08B6-1600-4947-B6F4-BC6C06F3B322}"/>
              </a:ext>
            </a:extLst>
          </p:cNvPr>
          <p:cNvSpPr>
            <a:spLocks noGrp="1"/>
          </p:cNvSpPr>
          <p:nvPr>
            <p:ph type="sldNum" sz="quarter" idx="12"/>
          </p:nvPr>
        </p:nvSpPr>
        <p:spPr/>
        <p:txBody>
          <a:bodyPr/>
          <a:lstStyle/>
          <a:p>
            <a:pPr>
              <a:defRPr/>
            </a:pPr>
            <a:fld id="{0DA6BD0F-ABBC-C14D-BC96-77BE126A748B}" type="slidenum">
              <a:rPr lang="en-US" smtClean="0"/>
              <a:pPr>
                <a:defRPr/>
              </a:pPr>
              <a:t>17</a:t>
            </a:fld>
            <a:endParaRPr lang="en-US"/>
          </a:p>
        </p:txBody>
      </p:sp>
    </p:spTree>
    <p:extLst>
      <p:ext uri="{BB962C8B-B14F-4D97-AF65-F5344CB8AC3E}">
        <p14:creationId xmlns:p14="http://schemas.microsoft.com/office/powerpoint/2010/main" val="1160038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Metal Fuel Fabrication</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a:xfrm>
            <a:off x="609600" y="1968503"/>
            <a:ext cx="3888828" cy="4157663"/>
          </a:xfrm>
        </p:spPr>
        <p:txBody>
          <a:bodyPr/>
          <a:lstStyle/>
          <a:p>
            <a:r>
              <a:rPr lang="en-US" sz="2400" dirty="0"/>
              <a:t>Injection casting has been utilized for fuel slug fabrication</a:t>
            </a:r>
          </a:p>
          <a:p>
            <a:r>
              <a:rPr lang="en-US" sz="2400" dirty="0"/>
              <a:t>Remote fabrication has been performed inside a hot cell on recovered uranium</a:t>
            </a:r>
          </a:p>
          <a:p>
            <a:r>
              <a:rPr lang="en-US" sz="2400" dirty="0"/>
              <a:t>Fuel slugs for EBR II and FFTF were fabricated via injection casting</a:t>
            </a:r>
          </a:p>
        </p:txBody>
      </p:sp>
      <p:pic>
        <p:nvPicPr>
          <p:cNvPr id="6" name="Content Placeholder 5">
            <a:extLst>
              <a:ext uri="{FF2B5EF4-FFF2-40B4-BE49-F238E27FC236}">
                <a16:creationId xmlns:a16="http://schemas.microsoft.com/office/drawing/2014/main" id="{CFF54ABE-B410-0642-A653-583E0EDA6257}"/>
              </a:ext>
            </a:extLst>
          </p:cNvPr>
          <p:cNvPicPr>
            <a:picLocks noGrp="1" noChangeAspect="1"/>
          </p:cNvPicPr>
          <p:nvPr>
            <p:ph sz="half" idx="2"/>
          </p:nvPr>
        </p:nvPicPr>
        <p:blipFill>
          <a:blip r:embed="rId3"/>
          <a:stretch>
            <a:fillRect/>
          </a:stretch>
        </p:blipFill>
        <p:spPr>
          <a:xfrm>
            <a:off x="4820535" y="1968500"/>
            <a:ext cx="7205077" cy="3989387"/>
          </a:xfrm>
          <a:prstGeom prst="rect">
            <a:avLst/>
          </a:prstGeom>
        </p:spPr>
      </p:pic>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1598933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Metal Fuel Fabrication</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a:xfrm>
            <a:off x="609600" y="1968503"/>
            <a:ext cx="3888828" cy="4157663"/>
          </a:xfrm>
        </p:spPr>
        <p:txBody>
          <a:bodyPr/>
          <a:lstStyle/>
          <a:p>
            <a:r>
              <a:rPr lang="en-US" sz="2400" dirty="0"/>
              <a:t>Starting materials are charged into the graphite crucible in the furnace</a:t>
            </a:r>
          </a:p>
          <a:p>
            <a:r>
              <a:rPr lang="en-US" sz="2400" dirty="0"/>
              <a:t>Silica molds with tops closed are set above the crucible</a:t>
            </a:r>
          </a:p>
          <a:p>
            <a:r>
              <a:rPr lang="en-US" sz="2400" dirty="0"/>
              <a:t>Crucible is coated with yttria</a:t>
            </a:r>
          </a:p>
          <a:p>
            <a:r>
              <a:rPr lang="en-US" sz="2400" dirty="0"/>
              <a:t>Molds coated with zirconia</a:t>
            </a:r>
          </a:p>
        </p:txBody>
      </p:sp>
      <p:pic>
        <p:nvPicPr>
          <p:cNvPr id="6" name="Content Placeholder 5">
            <a:extLst>
              <a:ext uri="{FF2B5EF4-FFF2-40B4-BE49-F238E27FC236}">
                <a16:creationId xmlns:a16="http://schemas.microsoft.com/office/drawing/2014/main" id="{CFF54ABE-B410-0642-A653-583E0EDA6257}"/>
              </a:ext>
            </a:extLst>
          </p:cNvPr>
          <p:cNvPicPr>
            <a:picLocks noGrp="1" noChangeAspect="1"/>
          </p:cNvPicPr>
          <p:nvPr>
            <p:ph sz="half" idx="2"/>
          </p:nvPr>
        </p:nvPicPr>
        <p:blipFill>
          <a:blip r:embed="rId3"/>
          <a:stretch>
            <a:fillRect/>
          </a:stretch>
        </p:blipFill>
        <p:spPr>
          <a:xfrm>
            <a:off x="4820535" y="1968500"/>
            <a:ext cx="7205077" cy="3989387"/>
          </a:xfrm>
          <a:prstGeom prst="rect">
            <a:avLst/>
          </a:prstGeom>
        </p:spPr>
      </p:pic>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2982652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Metal Fuel Fabrication</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a:xfrm>
            <a:off x="609599" y="1968503"/>
            <a:ext cx="4210935" cy="4157663"/>
          </a:xfrm>
        </p:spPr>
        <p:txBody>
          <a:bodyPr/>
          <a:lstStyle/>
          <a:p>
            <a:r>
              <a:rPr lang="en-US" sz="2400" dirty="0"/>
              <a:t>Furnace closed and filled with </a:t>
            </a:r>
            <a:r>
              <a:rPr lang="en-US" sz="2400" dirty="0" err="1"/>
              <a:t>Ar</a:t>
            </a:r>
            <a:r>
              <a:rPr lang="en-US" sz="2400" dirty="0"/>
              <a:t> gas</a:t>
            </a:r>
          </a:p>
          <a:p>
            <a:r>
              <a:rPr lang="en-US" sz="2400" dirty="0"/>
              <a:t>Crucible is inductively heated to 1830K, and stirred electromagnetically</a:t>
            </a:r>
          </a:p>
          <a:p>
            <a:r>
              <a:rPr lang="en-US" sz="2400" dirty="0" err="1"/>
              <a:t>Ar</a:t>
            </a:r>
            <a:r>
              <a:rPr lang="en-US" sz="2400" dirty="0"/>
              <a:t> gas removed, molds are lowered, then </a:t>
            </a:r>
            <a:r>
              <a:rPr lang="en-US" sz="2400" dirty="0" err="1"/>
              <a:t>Ar</a:t>
            </a:r>
            <a:r>
              <a:rPr lang="en-US" sz="2400" dirty="0"/>
              <a:t> gas returned</a:t>
            </a:r>
          </a:p>
          <a:p>
            <a:r>
              <a:rPr lang="en-US" sz="2400" dirty="0"/>
              <a:t>Pressure difference injects the melt into the molds</a:t>
            </a:r>
          </a:p>
        </p:txBody>
      </p:sp>
      <p:pic>
        <p:nvPicPr>
          <p:cNvPr id="6" name="Content Placeholder 5">
            <a:extLst>
              <a:ext uri="{FF2B5EF4-FFF2-40B4-BE49-F238E27FC236}">
                <a16:creationId xmlns:a16="http://schemas.microsoft.com/office/drawing/2014/main" id="{CFF54ABE-B410-0642-A653-583E0EDA6257}"/>
              </a:ext>
            </a:extLst>
          </p:cNvPr>
          <p:cNvPicPr>
            <a:picLocks noGrp="1" noChangeAspect="1"/>
          </p:cNvPicPr>
          <p:nvPr>
            <p:ph sz="half" idx="2"/>
          </p:nvPr>
        </p:nvPicPr>
        <p:blipFill>
          <a:blip r:embed="rId3"/>
          <a:stretch>
            <a:fillRect/>
          </a:stretch>
        </p:blipFill>
        <p:spPr>
          <a:xfrm>
            <a:off x="4820535" y="1968500"/>
            <a:ext cx="7205077" cy="3989387"/>
          </a:xfrm>
          <a:prstGeom prst="rect">
            <a:avLst/>
          </a:prstGeom>
        </p:spPr>
      </p:pic>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Tree>
    <p:extLst>
      <p:ext uri="{BB962C8B-B14F-4D97-AF65-F5344CB8AC3E}">
        <p14:creationId xmlns:p14="http://schemas.microsoft.com/office/powerpoint/2010/main" val="1677275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2B3D1-E990-B15B-F53B-603F8BAE44A7}"/>
              </a:ext>
            </a:extLst>
          </p:cNvPr>
          <p:cNvSpPr>
            <a:spLocks noGrp="1"/>
          </p:cNvSpPr>
          <p:nvPr>
            <p:ph type="title"/>
          </p:nvPr>
        </p:nvSpPr>
        <p:spPr/>
        <p:txBody>
          <a:bodyPr/>
          <a:lstStyle/>
          <a:p>
            <a:r>
              <a:rPr lang="en-US" dirty="0"/>
              <a:t>Issues</a:t>
            </a:r>
          </a:p>
        </p:txBody>
      </p:sp>
      <p:sp>
        <p:nvSpPr>
          <p:cNvPr id="3" name="Content Placeholder 2">
            <a:extLst>
              <a:ext uri="{FF2B5EF4-FFF2-40B4-BE49-F238E27FC236}">
                <a16:creationId xmlns:a16="http://schemas.microsoft.com/office/drawing/2014/main" id="{3ED86CB5-1515-6658-48A0-1093916BBBAE}"/>
              </a:ext>
            </a:extLst>
          </p:cNvPr>
          <p:cNvSpPr>
            <a:spLocks noGrp="1"/>
          </p:cNvSpPr>
          <p:nvPr>
            <p:ph sz="half" idx="1"/>
          </p:nvPr>
        </p:nvSpPr>
        <p:spPr>
          <a:xfrm>
            <a:off x="609600" y="1968503"/>
            <a:ext cx="10972800" cy="4157663"/>
          </a:xfrm>
        </p:spPr>
        <p:txBody>
          <a:bodyPr/>
          <a:lstStyle/>
          <a:p>
            <a:r>
              <a:rPr lang="en-US" sz="2000" dirty="0"/>
              <a:t>Injection casting leads to lots of waste</a:t>
            </a:r>
          </a:p>
          <a:p>
            <a:pPr lvl="1"/>
            <a:r>
              <a:rPr lang="en-US" sz="2000" dirty="0"/>
              <a:t>A large ‘heel’ is required because if the open end of the quartz mold is exposed, gas is drawn in and creates voids</a:t>
            </a:r>
          </a:p>
          <a:p>
            <a:pPr lvl="1"/>
            <a:r>
              <a:rPr lang="en-US" sz="2000" dirty="0"/>
              <a:t>This heel needs to be recycled, and lowers melt utilization</a:t>
            </a:r>
          </a:p>
          <a:p>
            <a:r>
              <a:rPr lang="en-US" sz="2000" dirty="0"/>
              <a:t>Single use molds</a:t>
            </a:r>
          </a:p>
          <a:p>
            <a:pPr lvl="1"/>
            <a:r>
              <a:rPr lang="en-US" sz="2000" dirty="0"/>
              <a:t>Molds are quartz and need to be broken each time, and are then categorized as radioactive waste</a:t>
            </a:r>
          </a:p>
          <a:p>
            <a:r>
              <a:rPr lang="en-US" sz="2000" dirty="0"/>
              <a:t>Vaporization issues</a:t>
            </a:r>
          </a:p>
          <a:p>
            <a:pPr lvl="1"/>
            <a:r>
              <a:rPr lang="en-US" sz="2000" dirty="0"/>
              <a:t>More critical with MA-bearing fuels, where Pu and Am have high vapor pressures; can lead to loss of up to 40% of Am inventory in the fuel</a:t>
            </a:r>
          </a:p>
          <a:p>
            <a:r>
              <a:rPr lang="en-US" sz="2000" dirty="0"/>
              <a:t>Over 100K pins have been made, but different fabrication pathways are being explored</a:t>
            </a:r>
          </a:p>
        </p:txBody>
      </p:sp>
      <p:sp>
        <p:nvSpPr>
          <p:cNvPr id="5" name="Slide Number Placeholder 4">
            <a:extLst>
              <a:ext uri="{FF2B5EF4-FFF2-40B4-BE49-F238E27FC236}">
                <a16:creationId xmlns:a16="http://schemas.microsoft.com/office/drawing/2014/main" id="{7883166A-465C-3AB2-F28A-42022183268E}"/>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2187720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9E19-C1C9-7443-AF93-E2E066E639BA}"/>
              </a:ext>
            </a:extLst>
          </p:cNvPr>
          <p:cNvSpPr>
            <a:spLocks noGrp="1"/>
          </p:cNvSpPr>
          <p:nvPr>
            <p:ph type="title"/>
          </p:nvPr>
        </p:nvSpPr>
        <p:spPr/>
        <p:txBody>
          <a:bodyPr/>
          <a:lstStyle/>
          <a:p>
            <a:r>
              <a:rPr lang="en-US" dirty="0"/>
              <a:t>Closing the Fuel Cycle</a:t>
            </a:r>
          </a:p>
        </p:txBody>
      </p:sp>
      <p:sp>
        <p:nvSpPr>
          <p:cNvPr id="3" name="Content Placeholder 2">
            <a:extLst>
              <a:ext uri="{FF2B5EF4-FFF2-40B4-BE49-F238E27FC236}">
                <a16:creationId xmlns:a16="http://schemas.microsoft.com/office/drawing/2014/main" id="{D40D69A8-4E00-F24E-AB61-197E90D2FF1B}"/>
              </a:ext>
            </a:extLst>
          </p:cNvPr>
          <p:cNvSpPr>
            <a:spLocks noGrp="1"/>
          </p:cNvSpPr>
          <p:nvPr>
            <p:ph sz="half" idx="1"/>
          </p:nvPr>
        </p:nvSpPr>
        <p:spPr/>
        <p:txBody>
          <a:bodyPr/>
          <a:lstStyle/>
          <a:p>
            <a:r>
              <a:rPr lang="en-US" sz="2400" dirty="0"/>
              <a:t>An important factor in selecting a fuel form for fast reactors is ease of fuel recycling, including reprocessing and fuel refabrication</a:t>
            </a:r>
          </a:p>
          <a:p>
            <a:r>
              <a:rPr lang="en-US" sz="2400" dirty="0"/>
              <a:t>Pyrometallurgical processing, called ‘melt refining,’ can be combined with refining techniques to recycle spent metallic fuel</a:t>
            </a:r>
          </a:p>
          <a:p>
            <a:endParaRPr lang="en-US" sz="2400" dirty="0"/>
          </a:p>
          <a:p>
            <a:endParaRPr lang="en-US" sz="2400" dirty="0"/>
          </a:p>
        </p:txBody>
      </p:sp>
      <p:sp>
        <p:nvSpPr>
          <p:cNvPr id="4" name="Content Placeholder 3">
            <a:extLst>
              <a:ext uri="{FF2B5EF4-FFF2-40B4-BE49-F238E27FC236}">
                <a16:creationId xmlns:a16="http://schemas.microsoft.com/office/drawing/2014/main" id="{5EC804BA-81DE-1B42-92F0-1B2C0467510F}"/>
              </a:ext>
            </a:extLst>
          </p:cNvPr>
          <p:cNvSpPr>
            <a:spLocks noGrp="1"/>
          </p:cNvSpPr>
          <p:nvPr>
            <p:ph sz="half" idx="2"/>
          </p:nvPr>
        </p:nvSpPr>
        <p:spPr/>
        <p:txBody>
          <a:bodyPr/>
          <a:lstStyle/>
          <a:p>
            <a:r>
              <a:rPr lang="en-US" sz="2400" dirty="0"/>
              <a:t>This recycling process has been demonstrated for uranium alloy fuels in the 1960s, where fuel alloys were recycled as many as four times, and the fuel was returned to the reactor within 4–6 weeks of its removal from the reactor core</a:t>
            </a:r>
          </a:p>
          <a:p>
            <a:endParaRPr lang="en-US" sz="2400" dirty="0"/>
          </a:p>
        </p:txBody>
      </p:sp>
      <p:sp>
        <p:nvSpPr>
          <p:cNvPr id="5" name="Slide Number Placeholder 4">
            <a:extLst>
              <a:ext uri="{FF2B5EF4-FFF2-40B4-BE49-F238E27FC236}">
                <a16:creationId xmlns:a16="http://schemas.microsoft.com/office/drawing/2014/main" id="{964CFBE6-1DA7-D449-9FF3-3E279AA490A3}"/>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3408933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Reprocessing</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p:txBody>
          <a:bodyPr/>
          <a:lstStyle/>
          <a:p>
            <a:r>
              <a:rPr lang="en-US" sz="2200" dirty="0"/>
              <a:t>Pyroprocessing</a:t>
            </a:r>
          </a:p>
          <a:p>
            <a:endParaRPr lang="en-US" sz="2200" dirty="0"/>
          </a:p>
          <a:p>
            <a:r>
              <a:rPr lang="en-US" sz="2200" dirty="0"/>
              <a:t>For more than 50 years, pyrometallurgy has been studied as an alternative strategy in the reprocessing of used fuel</a:t>
            </a:r>
          </a:p>
          <a:p>
            <a:r>
              <a:rPr lang="en-US" sz="2200" dirty="0"/>
              <a:t>Pyrochemical processes rely on refining techniques at high temperature (500–900 C) depending on the molten salt eutectic used</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C3F700C4-0FFA-D147-ADAB-03DAB0B785D7}"/>
              </a:ext>
            </a:extLst>
          </p:cNvPr>
          <p:cNvSpPr>
            <a:spLocks noGrp="1"/>
          </p:cNvSpPr>
          <p:nvPr>
            <p:ph sz="half" idx="2"/>
          </p:nvPr>
        </p:nvSpPr>
        <p:spPr/>
        <p:txBody>
          <a:bodyPr/>
          <a:lstStyle/>
          <a:p>
            <a:r>
              <a:rPr lang="en-US" sz="2200" dirty="0"/>
              <a:t>Typically, chloride systems operate at lower temperature compared to fluoride systems, and are preferred in processing</a:t>
            </a:r>
          </a:p>
          <a:p>
            <a:r>
              <a:rPr lang="en-US" sz="2200" dirty="0"/>
              <a:t>These processes are mainly based on electrorefining or on extraction from the molten salt phase into liquid metal</a:t>
            </a:r>
          </a:p>
          <a:p>
            <a:r>
              <a:rPr lang="en-US" sz="2200" dirty="0"/>
              <a:t>Two processes-one for oxide fuel and one for metallic fuel-have been developed to near industrial scale</a:t>
            </a:r>
          </a:p>
          <a:p>
            <a:endParaRPr lang="en-US" sz="2200" dirty="0"/>
          </a:p>
          <a:p>
            <a:endParaRPr lang="en-US" sz="2200" dirty="0"/>
          </a:p>
        </p:txBody>
      </p:sp>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246038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C72D-B3DD-3049-A22B-F37C257A4E56}"/>
              </a:ext>
            </a:extLst>
          </p:cNvPr>
          <p:cNvSpPr>
            <a:spLocks noGrp="1"/>
          </p:cNvSpPr>
          <p:nvPr>
            <p:ph type="title"/>
          </p:nvPr>
        </p:nvSpPr>
        <p:spPr/>
        <p:txBody>
          <a:bodyPr/>
          <a:lstStyle/>
          <a:p>
            <a:r>
              <a:rPr lang="en-US" dirty="0"/>
              <a:t>IFR </a:t>
            </a:r>
            <a:r>
              <a:rPr lang="en-US" dirty="0" err="1"/>
              <a:t>Pyroprocess</a:t>
            </a:r>
            <a:endParaRPr lang="en-US" dirty="0"/>
          </a:p>
        </p:txBody>
      </p:sp>
      <p:sp>
        <p:nvSpPr>
          <p:cNvPr id="3" name="Content Placeholder 2">
            <a:extLst>
              <a:ext uri="{FF2B5EF4-FFF2-40B4-BE49-F238E27FC236}">
                <a16:creationId xmlns:a16="http://schemas.microsoft.com/office/drawing/2014/main" id="{FE3F92C1-C673-B346-BED3-52D24C6EAA35}"/>
              </a:ext>
            </a:extLst>
          </p:cNvPr>
          <p:cNvSpPr>
            <a:spLocks noGrp="1"/>
          </p:cNvSpPr>
          <p:nvPr>
            <p:ph sz="half" idx="1"/>
          </p:nvPr>
        </p:nvSpPr>
        <p:spPr>
          <a:xfrm>
            <a:off x="609600" y="1968503"/>
            <a:ext cx="5588000" cy="4157663"/>
          </a:xfrm>
        </p:spPr>
        <p:txBody>
          <a:bodyPr/>
          <a:lstStyle/>
          <a:p>
            <a:r>
              <a:rPr lang="en-US" sz="2200" dirty="0"/>
              <a:t>This process was developed in the US to be part of the IFR project, and can handle the treatment of </a:t>
            </a:r>
            <a:r>
              <a:rPr lang="en-US" sz="2200" dirty="0" err="1"/>
              <a:t>transuranics</a:t>
            </a:r>
            <a:endParaRPr lang="en-US" sz="2200" dirty="0"/>
          </a:p>
          <a:p>
            <a:r>
              <a:rPr lang="en-US" sz="2200" dirty="0"/>
              <a:t>The fuel is recycled using an electrochemical process based on molten chloride salts and liquid metals</a:t>
            </a:r>
          </a:p>
          <a:p>
            <a:r>
              <a:rPr lang="en-US" sz="2200" dirty="0"/>
              <a:t>The molten salt medium for electrorefining is a solution of a certain amount of UCl3 dissolved in a LiCl–</a:t>
            </a:r>
            <a:r>
              <a:rPr lang="en-US" sz="2200" dirty="0" err="1"/>
              <a:t>KCl</a:t>
            </a:r>
            <a:r>
              <a:rPr lang="en-US" sz="2200" dirty="0"/>
              <a:t> eutectic</a:t>
            </a:r>
          </a:p>
          <a:p>
            <a:endParaRPr lang="en-US" sz="2200" dirty="0"/>
          </a:p>
          <a:p>
            <a:endParaRPr lang="en-US" sz="2200" dirty="0"/>
          </a:p>
        </p:txBody>
      </p:sp>
      <p:pic>
        <p:nvPicPr>
          <p:cNvPr id="6" name="Content Placeholder 5">
            <a:extLst>
              <a:ext uri="{FF2B5EF4-FFF2-40B4-BE49-F238E27FC236}">
                <a16:creationId xmlns:a16="http://schemas.microsoft.com/office/drawing/2014/main" id="{093AC7C9-9F7C-8F4E-82BA-4B27743A84FE}"/>
              </a:ext>
            </a:extLst>
          </p:cNvPr>
          <p:cNvPicPr>
            <a:picLocks noGrp="1" noChangeAspect="1"/>
          </p:cNvPicPr>
          <p:nvPr>
            <p:ph sz="half" idx="2"/>
          </p:nvPr>
        </p:nvPicPr>
        <p:blipFill>
          <a:blip r:embed="rId2"/>
          <a:stretch>
            <a:fillRect/>
          </a:stretch>
        </p:blipFill>
        <p:spPr>
          <a:xfrm>
            <a:off x="6622903" y="2094466"/>
            <a:ext cx="5384800" cy="3650549"/>
          </a:xfrm>
          <a:prstGeom prst="rect">
            <a:avLst/>
          </a:prstGeom>
        </p:spPr>
      </p:pic>
      <p:sp>
        <p:nvSpPr>
          <p:cNvPr id="5" name="Slide Number Placeholder 4">
            <a:extLst>
              <a:ext uri="{FF2B5EF4-FFF2-40B4-BE49-F238E27FC236}">
                <a16:creationId xmlns:a16="http://schemas.microsoft.com/office/drawing/2014/main" id="{3D5AD5B2-0EFB-D14B-ABE8-E0AEFEF8AC8C}"/>
              </a:ext>
            </a:extLst>
          </p:cNvPr>
          <p:cNvSpPr>
            <a:spLocks noGrp="1"/>
          </p:cNvSpPr>
          <p:nvPr>
            <p:ph type="sldNum" sz="quarter" idx="12"/>
          </p:nvPr>
        </p:nvSpPr>
        <p:spPr>
          <a:xfrm>
            <a:off x="8748233" y="6356352"/>
            <a:ext cx="2844800" cy="365125"/>
          </a:xfrm>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933099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C72D-B3DD-3049-A22B-F37C257A4E56}"/>
              </a:ext>
            </a:extLst>
          </p:cNvPr>
          <p:cNvSpPr>
            <a:spLocks noGrp="1"/>
          </p:cNvSpPr>
          <p:nvPr>
            <p:ph type="title"/>
          </p:nvPr>
        </p:nvSpPr>
        <p:spPr/>
        <p:txBody>
          <a:bodyPr/>
          <a:lstStyle/>
          <a:p>
            <a:r>
              <a:rPr lang="en-US" dirty="0"/>
              <a:t>IFR </a:t>
            </a:r>
            <a:r>
              <a:rPr lang="en-US" dirty="0" err="1"/>
              <a:t>Pyroprocess</a:t>
            </a:r>
            <a:endParaRPr lang="en-US" dirty="0"/>
          </a:p>
        </p:txBody>
      </p:sp>
      <p:sp>
        <p:nvSpPr>
          <p:cNvPr id="3" name="Content Placeholder 2">
            <a:extLst>
              <a:ext uri="{FF2B5EF4-FFF2-40B4-BE49-F238E27FC236}">
                <a16:creationId xmlns:a16="http://schemas.microsoft.com/office/drawing/2014/main" id="{FE3F92C1-C673-B346-BED3-52D24C6EAA35}"/>
              </a:ext>
            </a:extLst>
          </p:cNvPr>
          <p:cNvSpPr>
            <a:spLocks noGrp="1"/>
          </p:cNvSpPr>
          <p:nvPr>
            <p:ph sz="half" idx="1"/>
          </p:nvPr>
        </p:nvSpPr>
        <p:spPr>
          <a:xfrm>
            <a:off x="609599" y="1968503"/>
            <a:ext cx="6117021" cy="4157663"/>
          </a:xfrm>
        </p:spPr>
        <p:txBody>
          <a:bodyPr/>
          <a:lstStyle/>
          <a:p>
            <a:r>
              <a:rPr lang="en-US" sz="2200" dirty="0"/>
              <a:t>The fuel is electrochemically dissolved using a potential between the basket (loaded with used fuel) as anode and a stainless steel electrode in the salt as the cathode</a:t>
            </a:r>
          </a:p>
          <a:p>
            <a:r>
              <a:rPr lang="en-US" sz="2200" dirty="0"/>
              <a:t>Uranium and TRU are deposited on the cathodes</a:t>
            </a:r>
          </a:p>
          <a:p>
            <a:r>
              <a:rPr lang="en-US" sz="2200" dirty="0"/>
              <a:t>Once the fuel is dissolved and most of the uranium is deposited on the solid steel, this cathode is replaced by a liquid cadmium cathode, and the remaining TRUs can be co-deposited with the remaining uranium</a:t>
            </a:r>
          </a:p>
          <a:p>
            <a:endParaRPr lang="en-US" sz="2200" dirty="0"/>
          </a:p>
          <a:p>
            <a:endParaRPr lang="en-US" sz="2200" dirty="0"/>
          </a:p>
        </p:txBody>
      </p:sp>
      <p:pic>
        <p:nvPicPr>
          <p:cNvPr id="6" name="Content Placeholder 5">
            <a:extLst>
              <a:ext uri="{FF2B5EF4-FFF2-40B4-BE49-F238E27FC236}">
                <a16:creationId xmlns:a16="http://schemas.microsoft.com/office/drawing/2014/main" id="{093AC7C9-9F7C-8F4E-82BA-4B27743A84FE}"/>
              </a:ext>
            </a:extLst>
          </p:cNvPr>
          <p:cNvPicPr>
            <a:picLocks noGrp="1" noChangeAspect="1"/>
          </p:cNvPicPr>
          <p:nvPr>
            <p:ph sz="half" idx="2"/>
          </p:nvPr>
        </p:nvPicPr>
        <p:blipFill>
          <a:blip r:embed="rId2"/>
          <a:stretch>
            <a:fillRect/>
          </a:stretch>
        </p:blipFill>
        <p:spPr>
          <a:xfrm>
            <a:off x="6726620" y="2074912"/>
            <a:ext cx="5384800" cy="3650549"/>
          </a:xfrm>
          <a:prstGeom prst="rect">
            <a:avLst/>
          </a:prstGeom>
        </p:spPr>
      </p:pic>
      <p:sp>
        <p:nvSpPr>
          <p:cNvPr id="5" name="Slide Number Placeholder 4">
            <a:extLst>
              <a:ext uri="{FF2B5EF4-FFF2-40B4-BE49-F238E27FC236}">
                <a16:creationId xmlns:a16="http://schemas.microsoft.com/office/drawing/2014/main" id="{3D5AD5B2-0EFB-D14B-ABE8-E0AEFEF8AC8C}"/>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2738623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C72D-B3DD-3049-A22B-F37C257A4E56}"/>
              </a:ext>
            </a:extLst>
          </p:cNvPr>
          <p:cNvSpPr>
            <a:spLocks noGrp="1"/>
          </p:cNvSpPr>
          <p:nvPr>
            <p:ph type="title"/>
          </p:nvPr>
        </p:nvSpPr>
        <p:spPr/>
        <p:txBody>
          <a:bodyPr/>
          <a:lstStyle/>
          <a:p>
            <a:r>
              <a:rPr lang="en-US" dirty="0"/>
              <a:t>IFR </a:t>
            </a:r>
            <a:r>
              <a:rPr lang="en-US" dirty="0" err="1"/>
              <a:t>Pyroprocess</a:t>
            </a:r>
            <a:endParaRPr lang="en-US" dirty="0"/>
          </a:p>
        </p:txBody>
      </p:sp>
      <p:sp>
        <p:nvSpPr>
          <p:cNvPr id="3" name="Content Placeholder 2">
            <a:extLst>
              <a:ext uri="{FF2B5EF4-FFF2-40B4-BE49-F238E27FC236}">
                <a16:creationId xmlns:a16="http://schemas.microsoft.com/office/drawing/2014/main" id="{FE3F92C1-C673-B346-BED3-52D24C6EAA35}"/>
              </a:ext>
            </a:extLst>
          </p:cNvPr>
          <p:cNvSpPr>
            <a:spLocks noGrp="1"/>
          </p:cNvSpPr>
          <p:nvPr>
            <p:ph sz="half" idx="1"/>
          </p:nvPr>
        </p:nvSpPr>
        <p:spPr>
          <a:xfrm>
            <a:off x="609599" y="1968503"/>
            <a:ext cx="6117021" cy="4157663"/>
          </a:xfrm>
        </p:spPr>
        <p:txBody>
          <a:bodyPr/>
          <a:lstStyle/>
          <a:p>
            <a:r>
              <a:rPr lang="en-US" sz="2200" dirty="0"/>
              <a:t>The alkali, alkaline earth, rare earth, and halide FPs remain primarily dissolved in the salt phase</a:t>
            </a:r>
          </a:p>
          <a:p>
            <a:r>
              <a:rPr lang="en-US" sz="2200" dirty="0"/>
              <a:t>More than 90% of the noble metal FPs and fuel alloy material are retained in the chopped fuel cladding segments in the anode baskets</a:t>
            </a:r>
          </a:p>
          <a:p>
            <a:r>
              <a:rPr lang="en-US" sz="2200" dirty="0"/>
              <a:t>Can reduce the repository burden of radioactive waste by separating long-lived MA from spent fuel, burning MA in fast reactors, and decreasing the long-term radioactivity of nuclear waste</a:t>
            </a:r>
          </a:p>
          <a:p>
            <a:endParaRPr lang="en-US" sz="2200" dirty="0"/>
          </a:p>
          <a:p>
            <a:endParaRPr lang="en-US" sz="2200" dirty="0"/>
          </a:p>
          <a:p>
            <a:endParaRPr lang="en-US" sz="2200" dirty="0"/>
          </a:p>
        </p:txBody>
      </p:sp>
      <p:pic>
        <p:nvPicPr>
          <p:cNvPr id="6" name="Content Placeholder 5">
            <a:extLst>
              <a:ext uri="{FF2B5EF4-FFF2-40B4-BE49-F238E27FC236}">
                <a16:creationId xmlns:a16="http://schemas.microsoft.com/office/drawing/2014/main" id="{093AC7C9-9F7C-8F4E-82BA-4B27743A84FE}"/>
              </a:ext>
            </a:extLst>
          </p:cNvPr>
          <p:cNvPicPr>
            <a:picLocks noGrp="1" noChangeAspect="1"/>
          </p:cNvPicPr>
          <p:nvPr>
            <p:ph sz="half" idx="2"/>
          </p:nvPr>
        </p:nvPicPr>
        <p:blipFill>
          <a:blip r:embed="rId2"/>
          <a:stretch>
            <a:fillRect/>
          </a:stretch>
        </p:blipFill>
        <p:spPr>
          <a:xfrm>
            <a:off x="6726620" y="2051936"/>
            <a:ext cx="5384800" cy="3650549"/>
          </a:xfrm>
          <a:prstGeom prst="rect">
            <a:avLst/>
          </a:prstGeom>
        </p:spPr>
      </p:pic>
      <p:sp>
        <p:nvSpPr>
          <p:cNvPr id="5" name="Slide Number Placeholder 4">
            <a:extLst>
              <a:ext uri="{FF2B5EF4-FFF2-40B4-BE49-F238E27FC236}">
                <a16:creationId xmlns:a16="http://schemas.microsoft.com/office/drawing/2014/main" id="{3D5AD5B2-0EFB-D14B-ABE8-E0AEFEF8AC8C}"/>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Tree>
    <p:extLst>
      <p:ext uri="{BB962C8B-B14F-4D97-AF65-F5344CB8AC3E}">
        <p14:creationId xmlns:p14="http://schemas.microsoft.com/office/powerpoint/2010/main" val="4032906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Refabrication</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p:txBody>
          <a:bodyPr/>
          <a:lstStyle/>
          <a:p>
            <a:r>
              <a:rPr lang="en-US" sz="2200" dirty="0"/>
              <a:t>Metal-fueled fast reactors facilitate the effective transmutation of MA because of the high-energy neutron spectrum</a:t>
            </a:r>
          </a:p>
          <a:p>
            <a:r>
              <a:rPr lang="en-US" sz="2200" dirty="0"/>
              <a:t>One of the measures to load MA into the reactor core is to add MA to the fuel alloy homogeneously</a:t>
            </a:r>
          </a:p>
          <a:p>
            <a:r>
              <a:rPr lang="en-US" sz="2200" dirty="0"/>
              <a:t>Can perform injection casting in the same manner as the fresh fuel, to form MA-bearing fuel alloys</a:t>
            </a:r>
          </a:p>
        </p:txBody>
      </p:sp>
      <p:sp>
        <p:nvSpPr>
          <p:cNvPr id="4" name="Content Placeholder 3">
            <a:extLst>
              <a:ext uri="{FF2B5EF4-FFF2-40B4-BE49-F238E27FC236}">
                <a16:creationId xmlns:a16="http://schemas.microsoft.com/office/drawing/2014/main" id="{C3F700C4-0FFA-D147-ADAB-03DAB0B785D7}"/>
              </a:ext>
            </a:extLst>
          </p:cNvPr>
          <p:cNvSpPr>
            <a:spLocks noGrp="1"/>
          </p:cNvSpPr>
          <p:nvPr>
            <p:ph sz="half" idx="2"/>
          </p:nvPr>
        </p:nvSpPr>
        <p:spPr/>
        <p:txBody>
          <a:bodyPr/>
          <a:lstStyle/>
          <a:p>
            <a:r>
              <a:rPr lang="en-US" sz="2200" dirty="0"/>
              <a:t>These technologies are expected to reduce the fuel cycle cost even for small-scale fuel cycle plants because of the simplicity of the process and the compactness of the equipment</a:t>
            </a:r>
          </a:p>
          <a:p>
            <a:r>
              <a:rPr lang="en-US" sz="2200" dirty="0"/>
              <a:t>For example, in the injection casting process, composition adjustment, melting (alloying), and casting of the fuel slug can be done in a single injection-casting furnace</a:t>
            </a:r>
          </a:p>
          <a:p>
            <a:endParaRPr lang="en-US" sz="2200" dirty="0"/>
          </a:p>
          <a:p>
            <a:endParaRPr lang="en-US" sz="2200" dirty="0"/>
          </a:p>
        </p:txBody>
      </p:sp>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2832699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Mixed oxide fuel</a:t>
            </a:r>
          </a:p>
        </p:txBody>
      </p:sp>
      <p:sp>
        <p:nvSpPr>
          <p:cNvPr id="3" name="Slide Number Placeholder 2">
            <a:extLst>
              <a:ext uri="{FF2B5EF4-FFF2-40B4-BE49-F238E27FC236}">
                <a16:creationId xmlns:a16="http://schemas.microsoft.com/office/drawing/2014/main" id="{5B3532C3-93BE-7043-BD18-1B055D494CE7}"/>
              </a:ext>
            </a:extLst>
          </p:cNvPr>
          <p:cNvSpPr>
            <a:spLocks noGrp="1"/>
          </p:cNvSpPr>
          <p:nvPr>
            <p:ph type="sldNum" sz="quarter" idx="12"/>
          </p:nvPr>
        </p:nvSpPr>
        <p:spPr/>
        <p:txBody>
          <a:bodyPr/>
          <a:lstStyle/>
          <a:p>
            <a:pPr>
              <a:defRPr/>
            </a:pPr>
            <a:fld id="{0DA6BD0F-ABBC-C14D-BC96-77BE126A748B}" type="slidenum">
              <a:rPr lang="en-US" smtClean="0"/>
              <a:pPr>
                <a:defRPr/>
              </a:pPr>
              <a:t>28</a:t>
            </a:fld>
            <a:endParaRPr lang="en-US"/>
          </a:p>
        </p:txBody>
      </p:sp>
    </p:spTree>
    <p:extLst>
      <p:ext uri="{BB962C8B-B14F-4D97-AF65-F5344CB8AC3E}">
        <p14:creationId xmlns:p14="http://schemas.microsoft.com/office/powerpoint/2010/main" val="199015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9D8F0-6373-E345-8C4D-00903DBA0CE7}"/>
              </a:ext>
            </a:extLst>
          </p:cNvPr>
          <p:cNvSpPr>
            <a:spLocks noGrp="1"/>
          </p:cNvSpPr>
          <p:nvPr>
            <p:ph type="title"/>
          </p:nvPr>
        </p:nvSpPr>
        <p:spPr/>
        <p:txBody>
          <a:bodyPr/>
          <a:lstStyle/>
          <a:p>
            <a:r>
              <a:rPr lang="en-US" dirty="0"/>
              <a:t>MOX Introduction</a:t>
            </a:r>
          </a:p>
        </p:txBody>
      </p:sp>
      <p:sp>
        <p:nvSpPr>
          <p:cNvPr id="3" name="Content Placeholder 2">
            <a:extLst>
              <a:ext uri="{FF2B5EF4-FFF2-40B4-BE49-F238E27FC236}">
                <a16:creationId xmlns:a16="http://schemas.microsoft.com/office/drawing/2014/main" id="{AEF6B378-35F8-3242-BD7F-AA5805B45888}"/>
              </a:ext>
            </a:extLst>
          </p:cNvPr>
          <p:cNvSpPr>
            <a:spLocks noGrp="1"/>
          </p:cNvSpPr>
          <p:nvPr>
            <p:ph idx="1"/>
          </p:nvPr>
        </p:nvSpPr>
        <p:spPr>
          <a:xfrm>
            <a:off x="609600" y="2052084"/>
            <a:ext cx="5586805" cy="4074080"/>
          </a:xfrm>
        </p:spPr>
        <p:txBody>
          <a:bodyPr>
            <a:noAutofit/>
          </a:bodyPr>
          <a:lstStyle/>
          <a:p>
            <a:r>
              <a:rPr lang="en-US" sz="2200" dirty="0"/>
              <a:t>Despite some disadvantages, such as its low U density, poor thermal conductivity, and its chemical reaction with sodium, MOX fuel (</a:t>
            </a:r>
            <a:r>
              <a:rPr lang="en-US" sz="2200" dirty="0" err="1"/>
              <a:t>U,Pu</a:t>
            </a:r>
            <a:r>
              <a:rPr lang="en-US" sz="2200" dirty="0"/>
              <a:t>)O2 is the fuel that has been used most in fast reactors</a:t>
            </a:r>
          </a:p>
          <a:p>
            <a:r>
              <a:rPr lang="en-US" sz="2200" dirty="0"/>
              <a:t>In order to avoid the dramatic swelling of metallic fuels, MOX fuels were explored in fast reactors</a:t>
            </a:r>
          </a:p>
          <a:p>
            <a:r>
              <a:rPr lang="en-US" sz="2200" dirty="0"/>
              <a:t>Behavior was observed to be satisfactory and was relatively widely implemented in SFRs</a:t>
            </a:r>
          </a:p>
          <a:p>
            <a:endParaRPr lang="en-US" sz="2000" dirty="0"/>
          </a:p>
        </p:txBody>
      </p:sp>
      <p:sp>
        <p:nvSpPr>
          <p:cNvPr id="5" name="Slide Number Placeholder 4">
            <a:extLst>
              <a:ext uri="{FF2B5EF4-FFF2-40B4-BE49-F238E27FC236}">
                <a16:creationId xmlns:a16="http://schemas.microsoft.com/office/drawing/2014/main" id="{D33C6E57-90AD-1244-B19C-60B5F752F204}"/>
              </a:ext>
            </a:extLst>
          </p:cNvPr>
          <p:cNvSpPr>
            <a:spLocks noGrp="1"/>
          </p:cNvSpPr>
          <p:nvPr>
            <p:ph type="sldNum" sz="quarter" idx="12"/>
          </p:nvPr>
        </p:nvSpPr>
        <p:spPr/>
        <p:txBody>
          <a:bodyPr/>
          <a:lstStyle/>
          <a:p>
            <a:pPr>
              <a:defRPr/>
            </a:pPr>
            <a:fld id="{3FF2C605-4958-CF43-AA48-80339EFDB0AF}" type="slidenum">
              <a:rPr lang="en-US" smtClean="0"/>
              <a:pPr>
                <a:defRPr/>
              </a:pPr>
              <a:t>29</a:t>
            </a:fld>
            <a:endParaRPr lang="en-US"/>
          </a:p>
        </p:txBody>
      </p:sp>
      <p:pic>
        <p:nvPicPr>
          <p:cNvPr id="4" name="Picture 3">
            <a:extLst>
              <a:ext uri="{FF2B5EF4-FFF2-40B4-BE49-F238E27FC236}">
                <a16:creationId xmlns:a16="http://schemas.microsoft.com/office/drawing/2014/main" id="{A0F089BA-F450-2445-8287-FAB6FE8B8C61}"/>
              </a:ext>
            </a:extLst>
          </p:cNvPr>
          <p:cNvPicPr>
            <a:picLocks noChangeAspect="1"/>
          </p:cNvPicPr>
          <p:nvPr/>
        </p:nvPicPr>
        <p:blipFill>
          <a:blip r:embed="rId2"/>
          <a:stretch>
            <a:fillRect/>
          </a:stretch>
        </p:blipFill>
        <p:spPr>
          <a:xfrm>
            <a:off x="6486987" y="1660156"/>
            <a:ext cx="5553507" cy="4555611"/>
          </a:xfrm>
          <a:prstGeom prst="rect">
            <a:avLst/>
          </a:prstGeom>
        </p:spPr>
      </p:pic>
    </p:spTree>
    <p:extLst>
      <p:ext uri="{BB962C8B-B14F-4D97-AF65-F5344CB8AC3E}">
        <p14:creationId xmlns:p14="http://schemas.microsoft.com/office/powerpoint/2010/main" val="2736021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A212F-5BCA-B26D-990B-4B3BE1D1EA78}"/>
              </a:ext>
            </a:extLst>
          </p:cNvPr>
          <p:cNvSpPr>
            <a:spLocks noGrp="1"/>
          </p:cNvSpPr>
          <p:nvPr>
            <p:ph type="title"/>
          </p:nvPr>
        </p:nvSpPr>
        <p:spPr/>
        <p:txBody>
          <a:bodyPr/>
          <a:lstStyle/>
          <a:p>
            <a:r>
              <a:rPr lang="en-US" dirty="0"/>
              <a:t>MOX Fuel Design</a:t>
            </a:r>
          </a:p>
        </p:txBody>
      </p:sp>
      <p:sp>
        <p:nvSpPr>
          <p:cNvPr id="3" name="Content Placeholder 2">
            <a:extLst>
              <a:ext uri="{FF2B5EF4-FFF2-40B4-BE49-F238E27FC236}">
                <a16:creationId xmlns:a16="http://schemas.microsoft.com/office/drawing/2014/main" id="{7580B6C5-6E13-E7F3-72A4-38D6DE0B8EAC}"/>
              </a:ext>
            </a:extLst>
          </p:cNvPr>
          <p:cNvSpPr>
            <a:spLocks noGrp="1"/>
          </p:cNvSpPr>
          <p:nvPr>
            <p:ph idx="1"/>
          </p:nvPr>
        </p:nvSpPr>
        <p:spPr>
          <a:xfrm>
            <a:off x="609600" y="2280746"/>
            <a:ext cx="4445876" cy="3845418"/>
          </a:xfrm>
        </p:spPr>
        <p:txBody>
          <a:bodyPr/>
          <a:lstStyle/>
          <a:p>
            <a:r>
              <a:rPr lang="en-US" sz="2000" dirty="0"/>
              <a:t>Typical fuel pin is 2-3 m long, with MOX pellets stacked 1 m with a plenum above and below the fueled zone</a:t>
            </a:r>
          </a:p>
          <a:p>
            <a:r>
              <a:rPr lang="en-US" sz="2000" dirty="0"/>
              <a:t>He bond, steel cladding</a:t>
            </a:r>
          </a:p>
          <a:p>
            <a:r>
              <a:rPr lang="en-US" sz="2000" dirty="0"/>
              <a:t>Hexagonal core and hexagonal assemblies</a:t>
            </a:r>
          </a:p>
          <a:p>
            <a:r>
              <a:rPr lang="en-US" sz="2000" dirty="0"/>
              <a:t>Each assembly contains 100-200 fuel pins</a:t>
            </a:r>
          </a:p>
          <a:p>
            <a:r>
              <a:rPr lang="en-US" sz="2000" dirty="0"/>
              <a:t>Schematics are from Phenix reactor</a:t>
            </a:r>
          </a:p>
          <a:p>
            <a:endParaRPr lang="en-US" sz="2000" dirty="0"/>
          </a:p>
          <a:p>
            <a:endParaRPr lang="en-US" sz="2000" dirty="0"/>
          </a:p>
        </p:txBody>
      </p:sp>
      <p:sp>
        <p:nvSpPr>
          <p:cNvPr id="4" name="Slide Number Placeholder 3">
            <a:extLst>
              <a:ext uri="{FF2B5EF4-FFF2-40B4-BE49-F238E27FC236}">
                <a16:creationId xmlns:a16="http://schemas.microsoft.com/office/drawing/2014/main" id="{47F6CC49-2763-C389-6DA4-5316A4CFE79D}"/>
              </a:ext>
            </a:extLst>
          </p:cNvPr>
          <p:cNvSpPr>
            <a:spLocks noGrp="1"/>
          </p:cNvSpPr>
          <p:nvPr>
            <p:ph type="sldNum" sz="quarter" idx="12"/>
          </p:nvPr>
        </p:nvSpPr>
        <p:spPr/>
        <p:txBody>
          <a:bodyPr/>
          <a:lstStyle/>
          <a:p>
            <a:pPr>
              <a:defRPr/>
            </a:pPr>
            <a:fld id="{3FF2C605-4958-CF43-AA48-80339EFDB0AF}" type="slidenum">
              <a:rPr lang="en-US" smtClean="0"/>
              <a:pPr>
                <a:defRPr/>
              </a:pPr>
              <a:t>30</a:t>
            </a:fld>
            <a:endParaRPr lang="en-US"/>
          </a:p>
        </p:txBody>
      </p:sp>
      <p:pic>
        <p:nvPicPr>
          <p:cNvPr id="1026" name="Picture 2" descr="3. Axial cross-section of the Phenix core [Gau10] and details of the... |  Download Scientific Diagram">
            <a:extLst>
              <a:ext uri="{FF2B5EF4-FFF2-40B4-BE49-F238E27FC236}">
                <a16:creationId xmlns:a16="http://schemas.microsoft.com/office/drawing/2014/main" id="{53C26523-4028-2583-B51E-CE09FEA36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7172" y="2716480"/>
            <a:ext cx="3457905" cy="29739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chematic of Phenix reactor block (International Atomic Energy Agency,... |  Download Scientific Diagram">
            <a:extLst>
              <a:ext uri="{FF2B5EF4-FFF2-40B4-BE49-F238E27FC236}">
                <a16:creationId xmlns:a16="http://schemas.microsoft.com/office/drawing/2014/main" id="{AF7532B7-EB8B-6E38-5FA1-CE1A34F5C6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6485" y="2137488"/>
            <a:ext cx="3410687" cy="3988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4082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53C1B-7C68-4148-9607-2156EA966992}"/>
              </a:ext>
            </a:extLst>
          </p:cNvPr>
          <p:cNvSpPr>
            <a:spLocks noGrp="1"/>
          </p:cNvSpPr>
          <p:nvPr>
            <p:ph type="title"/>
          </p:nvPr>
        </p:nvSpPr>
        <p:spPr/>
        <p:txBody>
          <a:bodyPr/>
          <a:lstStyle/>
          <a:p>
            <a:r>
              <a:rPr lang="en-US" dirty="0"/>
              <a:t>MOX Fuels in SFRs</a:t>
            </a:r>
          </a:p>
        </p:txBody>
      </p:sp>
      <p:sp>
        <p:nvSpPr>
          <p:cNvPr id="3" name="Content Placeholder 2">
            <a:extLst>
              <a:ext uri="{FF2B5EF4-FFF2-40B4-BE49-F238E27FC236}">
                <a16:creationId xmlns:a16="http://schemas.microsoft.com/office/drawing/2014/main" id="{18BC6534-4749-C647-9161-3F162DFB8D4A}"/>
              </a:ext>
            </a:extLst>
          </p:cNvPr>
          <p:cNvSpPr>
            <a:spLocks noGrp="1"/>
          </p:cNvSpPr>
          <p:nvPr>
            <p:ph sz="half" idx="1"/>
          </p:nvPr>
        </p:nvSpPr>
        <p:spPr>
          <a:xfrm>
            <a:off x="609600" y="1968503"/>
            <a:ext cx="6159062" cy="4157663"/>
          </a:xfrm>
        </p:spPr>
        <p:txBody>
          <a:bodyPr/>
          <a:lstStyle/>
          <a:p>
            <a:r>
              <a:rPr lang="en-US" sz="2200" dirty="0"/>
              <a:t>MOX fuel operates at linear heating rates that are 2X higher than LWR fuels (450 W/cm)</a:t>
            </a:r>
          </a:p>
          <a:p>
            <a:r>
              <a:rPr lang="en-US" sz="2200" dirty="0"/>
              <a:t>MOX will run at higher temperatures than LWR fuel, and thus with different properties</a:t>
            </a:r>
          </a:p>
          <a:p>
            <a:r>
              <a:rPr lang="en-US" sz="2200" dirty="0"/>
              <a:t>Fission product phases and evolving microstructures create highly localized properties that can differ significantly from the bulk fuel</a:t>
            </a:r>
          </a:p>
          <a:p>
            <a:r>
              <a:rPr lang="en-US" sz="2200" dirty="0"/>
              <a:t>Stoichiometry and Pu content are important factors that dictate thermal properties</a:t>
            </a:r>
          </a:p>
        </p:txBody>
      </p:sp>
      <p:pic>
        <p:nvPicPr>
          <p:cNvPr id="6" name="Content Placeholder 5">
            <a:extLst>
              <a:ext uri="{FF2B5EF4-FFF2-40B4-BE49-F238E27FC236}">
                <a16:creationId xmlns:a16="http://schemas.microsoft.com/office/drawing/2014/main" id="{C79218B4-AC26-E342-951C-5055492D3A7A}"/>
              </a:ext>
            </a:extLst>
          </p:cNvPr>
          <p:cNvPicPr>
            <a:picLocks noGrp="1" noChangeAspect="1"/>
          </p:cNvPicPr>
          <p:nvPr>
            <p:ph sz="half" idx="2"/>
          </p:nvPr>
        </p:nvPicPr>
        <p:blipFill>
          <a:blip r:embed="rId2"/>
          <a:stretch>
            <a:fillRect/>
          </a:stretch>
        </p:blipFill>
        <p:spPr>
          <a:xfrm>
            <a:off x="6892162" y="1968500"/>
            <a:ext cx="3995676" cy="4157663"/>
          </a:xfrm>
          <a:prstGeom prst="rect">
            <a:avLst/>
          </a:prstGeom>
        </p:spPr>
      </p:pic>
      <p:sp>
        <p:nvSpPr>
          <p:cNvPr id="5" name="Slide Number Placeholder 4">
            <a:extLst>
              <a:ext uri="{FF2B5EF4-FFF2-40B4-BE49-F238E27FC236}">
                <a16:creationId xmlns:a16="http://schemas.microsoft.com/office/drawing/2014/main" id="{25C2A153-6A4E-0741-8062-5A06429A09B7}"/>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spTree>
    <p:extLst>
      <p:ext uri="{BB962C8B-B14F-4D97-AF65-F5344CB8AC3E}">
        <p14:creationId xmlns:p14="http://schemas.microsoft.com/office/powerpoint/2010/main" val="2922286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AFD16-AC25-8F71-D3FC-2247A8FAF697}"/>
              </a:ext>
            </a:extLst>
          </p:cNvPr>
          <p:cNvSpPr>
            <a:spLocks noGrp="1"/>
          </p:cNvSpPr>
          <p:nvPr>
            <p:ph type="title"/>
          </p:nvPr>
        </p:nvSpPr>
        <p:spPr/>
        <p:txBody>
          <a:bodyPr/>
          <a:lstStyle/>
          <a:p>
            <a:r>
              <a:rPr lang="en-US" dirty="0"/>
              <a:t>Thermal Properties</a:t>
            </a:r>
          </a:p>
        </p:txBody>
      </p:sp>
      <p:sp>
        <p:nvSpPr>
          <p:cNvPr id="3" name="Content Placeholder 2">
            <a:extLst>
              <a:ext uri="{FF2B5EF4-FFF2-40B4-BE49-F238E27FC236}">
                <a16:creationId xmlns:a16="http://schemas.microsoft.com/office/drawing/2014/main" id="{D131502C-D61C-4C36-BB04-407FF84E128B}"/>
              </a:ext>
            </a:extLst>
          </p:cNvPr>
          <p:cNvSpPr>
            <a:spLocks noGrp="1"/>
          </p:cNvSpPr>
          <p:nvPr>
            <p:ph sz="half" idx="1"/>
          </p:nvPr>
        </p:nvSpPr>
        <p:spPr>
          <a:xfrm>
            <a:off x="609600" y="1968503"/>
            <a:ext cx="5738648" cy="4157663"/>
          </a:xfrm>
        </p:spPr>
        <p:txBody>
          <a:bodyPr/>
          <a:lstStyle/>
          <a:p>
            <a:r>
              <a:rPr lang="en-US" sz="2100" dirty="0"/>
              <a:t>Because we have higher temperatures, knowledge of the thermal field is critical</a:t>
            </a:r>
          </a:p>
          <a:p>
            <a:r>
              <a:rPr lang="en-US" sz="2100" dirty="0"/>
              <a:t>Thermal conductivity is similar to UO2, transport via phonons</a:t>
            </a:r>
          </a:p>
          <a:p>
            <a:r>
              <a:rPr lang="en-US" sz="2100" dirty="0"/>
              <a:t>Porosity, off-stoichiometry, fission products, etc., cause scattering and degrade </a:t>
            </a:r>
            <a:r>
              <a:rPr lang="en-US" sz="2100" i="1" dirty="0"/>
              <a:t>k</a:t>
            </a:r>
            <a:r>
              <a:rPr lang="en-US" sz="2100" dirty="0"/>
              <a:t>, metallic precipitates increase </a:t>
            </a:r>
            <a:r>
              <a:rPr lang="en-US" sz="2100" i="1" dirty="0"/>
              <a:t>k</a:t>
            </a:r>
          </a:p>
          <a:p>
            <a:r>
              <a:rPr lang="en-US" sz="2100" dirty="0"/>
              <a:t>The mixed oxide typically has worse conductivity than either pure oxide</a:t>
            </a:r>
          </a:p>
          <a:p>
            <a:r>
              <a:rPr lang="en-US" sz="2100" dirty="0"/>
              <a:t>Degrades with burnup</a:t>
            </a:r>
          </a:p>
          <a:p>
            <a:r>
              <a:rPr lang="en-US" sz="2100" dirty="0"/>
              <a:t>Various models have been developed to describe the degradation</a:t>
            </a:r>
          </a:p>
          <a:p>
            <a:endParaRPr lang="en-US" sz="2100" dirty="0"/>
          </a:p>
          <a:p>
            <a:endParaRPr lang="en-US" sz="2100" dirty="0"/>
          </a:p>
        </p:txBody>
      </p:sp>
      <p:pic>
        <p:nvPicPr>
          <p:cNvPr id="1026" name="Picture 2" descr="11: Thermal conductivity for ThO2, PuO2, UO2, U-MOX fuel and the... |  Download Scientific Diagram">
            <a:extLst>
              <a:ext uri="{FF2B5EF4-FFF2-40B4-BE49-F238E27FC236}">
                <a16:creationId xmlns:a16="http://schemas.microsoft.com/office/drawing/2014/main" id="{F34D8268-458E-043C-C098-C7ACF446C13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232417" y="1384110"/>
            <a:ext cx="3584027" cy="277831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BF1B0AAC-C2D4-DCCA-3EBE-8036DF9950D9}"/>
              </a:ext>
            </a:extLst>
          </p:cNvPr>
          <p:cNvSpPr>
            <a:spLocks noGrp="1"/>
          </p:cNvSpPr>
          <p:nvPr>
            <p:ph type="sldNum" sz="quarter" idx="12"/>
          </p:nvPr>
        </p:nvSpPr>
        <p:spPr/>
        <p:txBody>
          <a:bodyPr/>
          <a:lstStyle/>
          <a:p>
            <a:pPr>
              <a:defRPr/>
            </a:pPr>
            <a:fld id="{EC35E9FC-F6D5-0349-BBED-EA7D7A9BC49B}" type="slidenum">
              <a:rPr lang="en-US" smtClean="0"/>
              <a:pPr>
                <a:defRPr/>
              </a:pPr>
              <a:t>32</a:t>
            </a:fld>
            <a:endParaRPr lang="en-US"/>
          </a:p>
        </p:txBody>
      </p:sp>
      <p:pic>
        <p:nvPicPr>
          <p:cNvPr id="6" name="Picture 5">
            <a:extLst>
              <a:ext uri="{FF2B5EF4-FFF2-40B4-BE49-F238E27FC236}">
                <a16:creationId xmlns:a16="http://schemas.microsoft.com/office/drawing/2014/main" id="{FE5B3626-1FCB-51B9-2D97-FA0BC5D4D80D}"/>
              </a:ext>
            </a:extLst>
          </p:cNvPr>
          <p:cNvPicPr>
            <a:picLocks noChangeAspect="1"/>
          </p:cNvPicPr>
          <p:nvPr/>
        </p:nvPicPr>
        <p:blipFill>
          <a:blip r:embed="rId3"/>
          <a:stretch>
            <a:fillRect/>
          </a:stretch>
        </p:blipFill>
        <p:spPr>
          <a:xfrm>
            <a:off x="7343858" y="4162425"/>
            <a:ext cx="3472586" cy="2449087"/>
          </a:xfrm>
          <a:prstGeom prst="rect">
            <a:avLst/>
          </a:prstGeom>
        </p:spPr>
      </p:pic>
    </p:spTree>
    <p:extLst>
      <p:ext uri="{BB962C8B-B14F-4D97-AF65-F5344CB8AC3E}">
        <p14:creationId xmlns:p14="http://schemas.microsoft.com/office/powerpoint/2010/main" val="728805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5006C-B976-CC45-98EA-EE68C851966E}"/>
              </a:ext>
            </a:extLst>
          </p:cNvPr>
          <p:cNvSpPr>
            <a:spLocks noGrp="1"/>
          </p:cNvSpPr>
          <p:nvPr>
            <p:ph type="title"/>
          </p:nvPr>
        </p:nvSpPr>
        <p:spPr/>
        <p:txBody>
          <a:bodyPr/>
          <a:lstStyle/>
          <a:p>
            <a:r>
              <a:rPr lang="en-US" dirty="0"/>
              <a:t>MOX Restructuring</a:t>
            </a:r>
          </a:p>
        </p:txBody>
      </p:sp>
      <p:sp>
        <p:nvSpPr>
          <p:cNvPr id="3" name="Content Placeholder 2">
            <a:extLst>
              <a:ext uri="{FF2B5EF4-FFF2-40B4-BE49-F238E27FC236}">
                <a16:creationId xmlns:a16="http://schemas.microsoft.com/office/drawing/2014/main" id="{EE661C3D-6781-324D-82A7-D699690F2372}"/>
              </a:ext>
            </a:extLst>
          </p:cNvPr>
          <p:cNvSpPr>
            <a:spLocks noGrp="1"/>
          </p:cNvSpPr>
          <p:nvPr>
            <p:ph sz="half" idx="1"/>
          </p:nvPr>
        </p:nvSpPr>
        <p:spPr/>
        <p:txBody>
          <a:bodyPr/>
          <a:lstStyle/>
          <a:p>
            <a:r>
              <a:rPr lang="en-US" sz="2200" dirty="0"/>
              <a:t>Oxide nuclear fuels are commonly touted for their outstanding high temperature capabilities under irradiation, but this stability comes with the tradeoff of low thermal conductivity</a:t>
            </a:r>
          </a:p>
          <a:p>
            <a:r>
              <a:rPr lang="en-US" sz="2200" dirty="0"/>
              <a:t>Due to the low thermal transport, a steep temperature gradient is formed along the radius of the fuel pellet, with the hottest region at the center of the pellet and coolest near the cladding</a:t>
            </a:r>
          </a:p>
          <a:p>
            <a:r>
              <a:rPr lang="en-US" sz="2200" dirty="0"/>
              <a:t>This leads to grain growth and restructuring</a:t>
            </a:r>
          </a:p>
          <a:p>
            <a:endParaRPr lang="en-US" sz="2200" dirty="0"/>
          </a:p>
          <a:p>
            <a:endParaRPr lang="en-US" sz="2200" dirty="0"/>
          </a:p>
        </p:txBody>
      </p:sp>
      <p:sp>
        <p:nvSpPr>
          <p:cNvPr id="4" name="Content Placeholder 3">
            <a:extLst>
              <a:ext uri="{FF2B5EF4-FFF2-40B4-BE49-F238E27FC236}">
                <a16:creationId xmlns:a16="http://schemas.microsoft.com/office/drawing/2014/main" id="{78908943-F94E-5149-A9A5-B435C8C273A7}"/>
              </a:ext>
            </a:extLst>
          </p:cNvPr>
          <p:cNvSpPr>
            <a:spLocks noGrp="1"/>
          </p:cNvSpPr>
          <p:nvPr>
            <p:ph sz="half" idx="2"/>
          </p:nvPr>
        </p:nvSpPr>
        <p:spPr/>
        <p:txBody>
          <a:bodyPr/>
          <a:lstStyle/>
          <a:p>
            <a:r>
              <a:rPr lang="en-US" sz="2200" dirty="0"/>
              <a:t>Pu bearing fast reactor oxide fuels display four defining regions of a restructured pellet:</a:t>
            </a:r>
          </a:p>
          <a:p>
            <a:pPr lvl="1"/>
            <a:r>
              <a:rPr lang="en-US" sz="2200" dirty="0"/>
              <a:t>the central void, the columnar grain growth region, the equiaxed grain growth region, and the as-sintered region</a:t>
            </a:r>
          </a:p>
          <a:p>
            <a:r>
              <a:rPr lang="en-US" sz="2200" dirty="0"/>
              <a:t>The higher temperatures and heating rates form coarse, elongated grains that grow radially toward the outer rim of the fuel</a:t>
            </a:r>
          </a:p>
          <a:p>
            <a:endParaRPr lang="en-US" sz="2200" dirty="0"/>
          </a:p>
        </p:txBody>
      </p:sp>
      <p:sp>
        <p:nvSpPr>
          <p:cNvPr id="5" name="Slide Number Placeholder 4">
            <a:extLst>
              <a:ext uri="{FF2B5EF4-FFF2-40B4-BE49-F238E27FC236}">
                <a16:creationId xmlns:a16="http://schemas.microsoft.com/office/drawing/2014/main" id="{BE4CE650-9E19-124C-A881-A1E90D9899A5}"/>
              </a:ext>
            </a:extLst>
          </p:cNvPr>
          <p:cNvSpPr>
            <a:spLocks noGrp="1"/>
          </p:cNvSpPr>
          <p:nvPr>
            <p:ph type="sldNum" sz="quarter" idx="12"/>
          </p:nvPr>
        </p:nvSpPr>
        <p:spPr/>
        <p:txBody>
          <a:bodyPr/>
          <a:lstStyle/>
          <a:p>
            <a:pPr>
              <a:defRPr/>
            </a:pPr>
            <a:fld id="{EC35E9FC-F6D5-0349-BBED-EA7D7A9BC49B}" type="slidenum">
              <a:rPr lang="en-US" smtClean="0"/>
              <a:pPr>
                <a:defRPr/>
              </a:pPr>
              <a:t>33</a:t>
            </a:fld>
            <a:endParaRPr lang="en-US"/>
          </a:p>
        </p:txBody>
      </p:sp>
    </p:spTree>
    <p:extLst>
      <p:ext uri="{BB962C8B-B14F-4D97-AF65-F5344CB8AC3E}">
        <p14:creationId xmlns:p14="http://schemas.microsoft.com/office/powerpoint/2010/main" val="2117943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738E5-FF19-6549-A89B-239D72B4952D}"/>
              </a:ext>
            </a:extLst>
          </p:cNvPr>
          <p:cNvSpPr>
            <a:spLocks noGrp="1"/>
          </p:cNvSpPr>
          <p:nvPr>
            <p:ph type="title"/>
          </p:nvPr>
        </p:nvSpPr>
        <p:spPr/>
        <p:txBody>
          <a:bodyPr/>
          <a:lstStyle/>
          <a:p>
            <a:r>
              <a:rPr lang="en-US" dirty="0"/>
              <a:t>MOX Restructuring</a:t>
            </a:r>
          </a:p>
        </p:txBody>
      </p:sp>
      <p:sp>
        <p:nvSpPr>
          <p:cNvPr id="3" name="Content Placeholder 2">
            <a:extLst>
              <a:ext uri="{FF2B5EF4-FFF2-40B4-BE49-F238E27FC236}">
                <a16:creationId xmlns:a16="http://schemas.microsoft.com/office/drawing/2014/main" id="{CC91DE2E-ACC6-754E-AED4-E581904C753C}"/>
              </a:ext>
            </a:extLst>
          </p:cNvPr>
          <p:cNvSpPr>
            <a:spLocks noGrp="1"/>
          </p:cNvSpPr>
          <p:nvPr>
            <p:ph sz="half" idx="1"/>
          </p:nvPr>
        </p:nvSpPr>
        <p:spPr>
          <a:xfrm>
            <a:off x="609599" y="1968503"/>
            <a:ext cx="5744901" cy="4157663"/>
          </a:xfrm>
        </p:spPr>
        <p:txBody>
          <a:bodyPr/>
          <a:lstStyle/>
          <a:p>
            <a:r>
              <a:rPr lang="en-US" sz="2200" dirty="0"/>
              <a:t>The equiaxed region consists of grains that have undergone significant growth when compared to the un-irradiated samples</a:t>
            </a:r>
          </a:p>
          <a:p>
            <a:r>
              <a:rPr lang="en-US" sz="2200" dirty="0"/>
              <a:t>Central voids have been shown to appear in irradiation times as short as 10 min, demonstrating that the appearance the central void is a result of fuel temperature and linear heating rate, not high burnup</a:t>
            </a:r>
          </a:p>
          <a:p>
            <a:r>
              <a:rPr lang="en-US" sz="2200" dirty="0"/>
              <a:t>The central void forms from the accumulation of voids and pores present in the fuel along a thermal gradient</a:t>
            </a:r>
          </a:p>
          <a:p>
            <a:endParaRPr lang="en-US" sz="2200" dirty="0"/>
          </a:p>
          <a:p>
            <a:endParaRPr lang="en-US" sz="2200" dirty="0"/>
          </a:p>
        </p:txBody>
      </p:sp>
      <p:pic>
        <p:nvPicPr>
          <p:cNvPr id="6" name="Content Placeholder 5">
            <a:extLst>
              <a:ext uri="{FF2B5EF4-FFF2-40B4-BE49-F238E27FC236}">
                <a16:creationId xmlns:a16="http://schemas.microsoft.com/office/drawing/2014/main" id="{BAB170FC-1525-514B-8CC5-DDF8B15A0F15}"/>
              </a:ext>
            </a:extLst>
          </p:cNvPr>
          <p:cNvPicPr>
            <a:picLocks noGrp="1" noChangeAspect="1"/>
          </p:cNvPicPr>
          <p:nvPr>
            <p:ph sz="half" idx="2"/>
          </p:nvPr>
        </p:nvPicPr>
        <p:blipFill>
          <a:blip r:embed="rId2"/>
          <a:stretch>
            <a:fillRect/>
          </a:stretch>
        </p:blipFill>
        <p:spPr>
          <a:xfrm>
            <a:off x="6243812" y="1968500"/>
            <a:ext cx="5292376" cy="4157663"/>
          </a:xfrm>
          <a:prstGeom prst="rect">
            <a:avLst/>
          </a:prstGeom>
        </p:spPr>
      </p:pic>
      <p:sp>
        <p:nvSpPr>
          <p:cNvPr id="5" name="Slide Number Placeholder 4">
            <a:extLst>
              <a:ext uri="{FF2B5EF4-FFF2-40B4-BE49-F238E27FC236}">
                <a16:creationId xmlns:a16="http://schemas.microsoft.com/office/drawing/2014/main" id="{3BEC7A80-B6AB-4945-AECB-F607C0D6DF3C}"/>
              </a:ext>
            </a:extLst>
          </p:cNvPr>
          <p:cNvSpPr>
            <a:spLocks noGrp="1"/>
          </p:cNvSpPr>
          <p:nvPr>
            <p:ph type="sldNum" sz="quarter" idx="12"/>
          </p:nvPr>
        </p:nvSpPr>
        <p:spPr/>
        <p:txBody>
          <a:bodyPr/>
          <a:lstStyle/>
          <a:p>
            <a:pPr>
              <a:defRPr/>
            </a:pPr>
            <a:fld id="{EC35E9FC-F6D5-0349-BBED-EA7D7A9BC49B}" type="slidenum">
              <a:rPr lang="en-US" smtClean="0"/>
              <a:pPr>
                <a:defRPr/>
              </a:pPr>
              <a:t>34</a:t>
            </a:fld>
            <a:endParaRPr lang="en-US"/>
          </a:p>
        </p:txBody>
      </p:sp>
    </p:spTree>
    <p:extLst>
      <p:ext uri="{BB962C8B-B14F-4D97-AF65-F5344CB8AC3E}">
        <p14:creationId xmlns:p14="http://schemas.microsoft.com/office/powerpoint/2010/main" val="911284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738E5-FF19-6549-A89B-239D72B4952D}"/>
              </a:ext>
            </a:extLst>
          </p:cNvPr>
          <p:cNvSpPr>
            <a:spLocks noGrp="1"/>
          </p:cNvSpPr>
          <p:nvPr>
            <p:ph type="title"/>
          </p:nvPr>
        </p:nvSpPr>
        <p:spPr/>
        <p:txBody>
          <a:bodyPr/>
          <a:lstStyle/>
          <a:p>
            <a:r>
              <a:rPr lang="en-US" dirty="0"/>
              <a:t>MOX Pore Formation</a:t>
            </a:r>
          </a:p>
        </p:txBody>
      </p:sp>
      <p:sp>
        <p:nvSpPr>
          <p:cNvPr id="5" name="Slide Number Placeholder 4">
            <a:extLst>
              <a:ext uri="{FF2B5EF4-FFF2-40B4-BE49-F238E27FC236}">
                <a16:creationId xmlns:a16="http://schemas.microsoft.com/office/drawing/2014/main" id="{3BEC7A80-B6AB-4945-AECB-F607C0D6DF3C}"/>
              </a:ext>
            </a:extLst>
          </p:cNvPr>
          <p:cNvSpPr>
            <a:spLocks noGrp="1"/>
          </p:cNvSpPr>
          <p:nvPr>
            <p:ph type="sldNum" sz="quarter" idx="12"/>
          </p:nvPr>
        </p:nvSpPr>
        <p:spPr/>
        <p:txBody>
          <a:bodyPr/>
          <a:lstStyle/>
          <a:p>
            <a:pPr>
              <a:defRPr/>
            </a:pPr>
            <a:fld id="{EC35E9FC-F6D5-0349-BBED-EA7D7A9BC49B}" type="slidenum">
              <a:rPr lang="en-US" smtClean="0"/>
              <a:pPr>
                <a:defRPr/>
              </a:pPr>
              <a:t>35</a:t>
            </a:fld>
            <a:endParaRPr lang="en-US"/>
          </a:p>
        </p:txBody>
      </p:sp>
      <p:pic>
        <p:nvPicPr>
          <p:cNvPr id="10" name="Picture 9">
            <a:extLst>
              <a:ext uri="{FF2B5EF4-FFF2-40B4-BE49-F238E27FC236}">
                <a16:creationId xmlns:a16="http://schemas.microsoft.com/office/drawing/2014/main" id="{B32A0A18-B1BF-B443-BD1A-8187D82A57D4}"/>
              </a:ext>
            </a:extLst>
          </p:cNvPr>
          <p:cNvPicPr>
            <a:picLocks noChangeAspect="1"/>
          </p:cNvPicPr>
          <p:nvPr/>
        </p:nvPicPr>
        <p:blipFill>
          <a:blip r:embed="rId2"/>
          <a:stretch>
            <a:fillRect/>
          </a:stretch>
        </p:blipFill>
        <p:spPr>
          <a:xfrm>
            <a:off x="1276350" y="1968500"/>
            <a:ext cx="9639300" cy="3911600"/>
          </a:xfrm>
          <a:prstGeom prst="rect">
            <a:avLst/>
          </a:prstGeom>
        </p:spPr>
      </p:pic>
      <p:cxnSp>
        <p:nvCxnSpPr>
          <p:cNvPr id="12" name="Straight Arrow Connector 11">
            <a:extLst>
              <a:ext uri="{FF2B5EF4-FFF2-40B4-BE49-F238E27FC236}">
                <a16:creationId xmlns:a16="http://schemas.microsoft.com/office/drawing/2014/main" id="{51FBCB12-2EEB-CD44-B8CF-008C62C8FC4B}"/>
              </a:ext>
            </a:extLst>
          </p:cNvPr>
          <p:cNvCxnSpPr/>
          <p:nvPr/>
        </p:nvCxnSpPr>
        <p:spPr>
          <a:xfrm flipV="1">
            <a:off x="1770927" y="6053559"/>
            <a:ext cx="7882359" cy="81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1C92FA0-B504-5F40-BF35-AADB205254A5}"/>
              </a:ext>
            </a:extLst>
          </p:cNvPr>
          <p:cNvSpPr txBox="1"/>
          <p:nvPr/>
        </p:nvSpPr>
        <p:spPr>
          <a:xfrm>
            <a:off x="4776486" y="6180717"/>
            <a:ext cx="2639028" cy="369332"/>
          </a:xfrm>
          <a:prstGeom prst="rect">
            <a:avLst/>
          </a:prstGeom>
          <a:noFill/>
        </p:spPr>
        <p:txBody>
          <a:bodyPr wrap="square" rtlCol="0">
            <a:spAutoFit/>
          </a:bodyPr>
          <a:lstStyle/>
          <a:p>
            <a:pPr algn="ctr"/>
            <a:r>
              <a:rPr lang="en-US" dirty="0"/>
              <a:t>Heating Rate</a:t>
            </a:r>
          </a:p>
        </p:txBody>
      </p:sp>
    </p:spTree>
    <p:extLst>
      <p:ext uri="{BB962C8B-B14F-4D97-AF65-F5344CB8AC3E}">
        <p14:creationId xmlns:p14="http://schemas.microsoft.com/office/powerpoint/2010/main" val="1512533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F3F7-073B-724C-8869-4663EF9B3178}"/>
              </a:ext>
            </a:extLst>
          </p:cNvPr>
          <p:cNvSpPr>
            <a:spLocks noGrp="1"/>
          </p:cNvSpPr>
          <p:nvPr>
            <p:ph type="title"/>
          </p:nvPr>
        </p:nvSpPr>
        <p:spPr/>
        <p:txBody>
          <a:bodyPr/>
          <a:lstStyle/>
          <a:p>
            <a:r>
              <a:rPr lang="en-US" dirty="0"/>
              <a:t>MOX Pore Formation</a:t>
            </a:r>
          </a:p>
        </p:txBody>
      </p:sp>
      <p:sp>
        <p:nvSpPr>
          <p:cNvPr id="3" name="Content Placeholder 2">
            <a:extLst>
              <a:ext uri="{FF2B5EF4-FFF2-40B4-BE49-F238E27FC236}">
                <a16:creationId xmlns:a16="http://schemas.microsoft.com/office/drawing/2014/main" id="{31E1AB63-0EA6-6647-B2AE-C02D9ED92698}"/>
              </a:ext>
            </a:extLst>
          </p:cNvPr>
          <p:cNvSpPr>
            <a:spLocks noGrp="1"/>
          </p:cNvSpPr>
          <p:nvPr>
            <p:ph sz="half" idx="1"/>
          </p:nvPr>
        </p:nvSpPr>
        <p:spPr/>
        <p:txBody>
          <a:bodyPr/>
          <a:lstStyle/>
          <a:p>
            <a:r>
              <a:rPr lang="en-US" sz="2200" dirty="0"/>
              <a:t>The smallest spherical pores are highly mobile, being able to quickly and easily move through the restructured region</a:t>
            </a:r>
          </a:p>
          <a:p>
            <a:r>
              <a:rPr lang="en-US" sz="2200" dirty="0"/>
              <a:t>Intermediate sized pores become flat and elongated as they travel towards the fuel centers, leaving streaks at the tips of the voids as they travel</a:t>
            </a:r>
          </a:p>
          <a:p>
            <a:r>
              <a:rPr lang="en-US" sz="2200" dirty="0"/>
              <a:t>These “lenticular” voids are the most readily identifiable porosity feature in the irradiated MOX fuels due to their distinct shape</a:t>
            </a:r>
          </a:p>
          <a:p>
            <a:endParaRPr lang="en-US" sz="2200" dirty="0"/>
          </a:p>
        </p:txBody>
      </p:sp>
      <p:pic>
        <p:nvPicPr>
          <p:cNvPr id="6" name="Content Placeholder 5">
            <a:extLst>
              <a:ext uri="{FF2B5EF4-FFF2-40B4-BE49-F238E27FC236}">
                <a16:creationId xmlns:a16="http://schemas.microsoft.com/office/drawing/2014/main" id="{FB2B32E4-B081-3B4D-81DD-915D731FAB8E}"/>
              </a:ext>
            </a:extLst>
          </p:cNvPr>
          <p:cNvPicPr>
            <a:picLocks noGrp="1" noChangeAspect="1"/>
          </p:cNvPicPr>
          <p:nvPr>
            <p:ph sz="half" idx="2"/>
          </p:nvPr>
        </p:nvPicPr>
        <p:blipFill>
          <a:blip r:embed="rId2"/>
          <a:stretch>
            <a:fillRect/>
          </a:stretch>
        </p:blipFill>
        <p:spPr>
          <a:xfrm>
            <a:off x="6197600" y="2076886"/>
            <a:ext cx="5384800" cy="3940891"/>
          </a:xfrm>
          <a:prstGeom prst="rect">
            <a:avLst/>
          </a:prstGeom>
        </p:spPr>
      </p:pic>
      <p:sp>
        <p:nvSpPr>
          <p:cNvPr id="5" name="Slide Number Placeholder 4">
            <a:extLst>
              <a:ext uri="{FF2B5EF4-FFF2-40B4-BE49-F238E27FC236}">
                <a16:creationId xmlns:a16="http://schemas.microsoft.com/office/drawing/2014/main" id="{6FB3E4F0-3F49-144D-915B-095D99EF5146}"/>
              </a:ext>
            </a:extLst>
          </p:cNvPr>
          <p:cNvSpPr>
            <a:spLocks noGrp="1"/>
          </p:cNvSpPr>
          <p:nvPr>
            <p:ph type="sldNum" sz="quarter" idx="12"/>
          </p:nvPr>
        </p:nvSpPr>
        <p:spPr/>
        <p:txBody>
          <a:bodyPr/>
          <a:lstStyle/>
          <a:p>
            <a:pPr>
              <a:defRPr/>
            </a:pPr>
            <a:fld id="{EC35E9FC-F6D5-0349-BBED-EA7D7A9BC49B}" type="slidenum">
              <a:rPr lang="en-US" smtClean="0"/>
              <a:pPr>
                <a:defRPr/>
              </a:pPr>
              <a:t>36</a:t>
            </a:fld>
            <a:endParaRPr lang="en-US"/>
          </a:p>
        </p:txBody>
      </p:sp>
    </p:spTree>
    <p:extLst>
      <p:ext uri="{BB962C8B-B14F-4D97-AF65-F5344CB8AC3E}">
        <p14:creationId xmlns:p14="http://schemas.microsoft.com/office/powerpoint/2010/main" val="1748215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B505A-0E5D-F8E8-1BE4-F33131727900}"/>
              </a:ext>
            </a:extLst>
          </p:cNvPr>
          <p:cNvSpPr>
            <a:spLocks noGrp="1"/>
          </p:cNvSpPr>
          <p:nvPr>
            <p:ph type="title"/>
          </p:nvPr>
        </p:nvSpPr>
        <p:spPr/>
        <p:txBody>
          <a:bodyPr/>
          <a:lstStyle/>
          <a:p>
            <a:r>
              <a:rPr lang="en-US" dirty="0"/>
              <a:t>Pore Migration</a:t>
            </a:r>
          </a:p>
        </p:txBody>
      </p:sp>
      <p:sp>
        <p:nvSpPr>
          <p:cNvPr id="3" name="Content Placeholder 2">
            <a:extLst>
              <a:ext uri="{FF2B5EF4-FFF2-40B4-BE49-F238E27FC236}">
                <a16:creationId xmlns:a16="http://schemas.microsoft.com/office/drawing/2014/main" id="{2EF3730A-3CBF-ADCF-12C3-C8F70164D142}"/>
              </a:ext>
            </a:extLst>
          </p:cNvPr>
          <p:cNvSpPr>
            <a:spLocks noGrp="1"/>
          </p:cNvSpPr>
          <p:nvPr>
            <p:ph sz="half" idx="1"/>
          </p:nvPr>
        </p:nvSpPr>
        <p:spPr/>
        <p:txBody>
          <a:bodyPr/>
          <a:lstStyle/>
          <a:p>
            <a:r>
              <a:rPr lang="en-US" sz="2200" dirty="0"/>
              <a:t>Hot to cold side of the pores has a steeper temperature gradient than in the fuel</a:t>
            </a:r>
          </a:p>
          <a:p>
            <a:r>
              <a:rPr lang="en-US" sz="2200" dirty="0"/>
              <a:t>The pressure of the fuel vapor is higher on the hot side of the lenticular pore, which induces an evaporation–condensation mechanism</a:t>
            </a:r>
          </a:p>
          <a:p>
            <a:r>
              <a:rPr lang="en-US" sz="2200" dirty="0"/>
              <a:t>Matter evaporates from the hot face and condenses on the cold face</a:t>
            </a:r>
          </a:p>
          <a:p>
            <a:r>
              <a:rPr lang="en-US" sz="2200" dirty="0"/>
              <a:t>Induces an inverse displacement of the lenticular pores that climb the thermal gradient toward the center of the pellet</a:t>
            </a:r>
          </a:p>
          <a:p>
            <a:endParaRPr lang="en-US" sz="2200" dirty="0"/>
          </a:p>
        </p:txBody>
      </p:sp>
      <p:sp>
        <p:nvSpPr>
          <p:cNvPr id="4" name="Content Placeholder 3">
            <a:extLst>
              <a:ext uri="{FF2B5EF4-FFF2-40B4-BE49-F238E27FC236}">
                <a16:creationId xmlns:a16="http://schemas.microsoft.com/office/drawing/2014/main" id="{EAA838F6-CD51-4F93-00D0-890A8AF5DD39}"/>
              </a:ext>
            </a:extLst>
          </p:cNvPr>
          <p:cNvSpPr>
            <a:spLocks noGrp="1"/>
          </p:cNvSpPr>
          <p:nvPr>
            <p:ph sz="half" idx="2"/>
          </p:nvPr>
        </p:nvSpPr>
        <p:spPr/>
        <p:txBody>
          <a:bodyPr/>
          <a:lstStyle/>
          <a:p>
            <a:r>
              <a:rPr lang="en-US" sz="2200" dirty="0"/>
              <a:t>The oxide vapor condenses on the cold side in a nearly single crystal way</a:t>
            </a:r>
          </a:p>
          <a:p>
            <a:r>
              <a:rPr lang="en-US" sz="2200" dirty="0"/>
              <a:t>The lenticular pores destroy the initial fuel microstructure and leave behind very elongated ‘columnar grains’ that appear clearly in micrographs</a:t>
            </a:r>
          </a:p>
        </p:txBody>
      </p:sp>
      <p:sp>
        <p:nvSpPr>
          <p:cNvPr id="5" name="Slide Number Placeholder 4">
            <a:extLst>
              <a:ext uri="{FF2B5EF4-FFF2-40B4-BE49-F238E27FC236}">
                <a16:creationId xmlns:a16="http://schemas.microsoft.com/office/drawing/2014/main" id="{4C990796-6FE8-058A-FB29-9FC072F934A9}"/>
              </a:ext>
            </a:extLst>
          </p:cNvPr>
          <p:cNvSpPr>
            <a:spLocks noGrp="1"/>
          </p:cNvSpPr>
          <p:nvPr>
            <p:ph type="sldNum" sz="quarter" idx="12"/>
          </p:nvPr>
        </p:nvSpPr>
        <p:spPr/>
        <p:txBody>
          <a:bodyPr/>
          <a:lstStyle/>
          <a:p>
            <a:pPr>
              <a:defRPr/>
            </a:pPr>
            <a:fld id="{EC35E9FC-F6D5-0349-BBED-EA7D7A9BC49B}" type="slidenum">
              <a:rPr lang="en-US" smtClean="0"/>
              <a:pPr>
                <a:defRPr/>
              </a:pPr>
              <a:t>37</a:t>
            </a:fld>
            <a:endParaRPr lang="en-US"/>
          </a:p>
        </p:txBody>
      </p:sp>
      <p:pic>
        <p:nvPicPr>
          <p:cNvPr id="6" name="Picture 5">
            <a:extLst>
              <a:ext uri="{FF2B5EF4-FFF2-40B4-BE49-F238E27FC236}">
                <a16:creationId xmlns:a16="http://schemas.microsoft.com/office/drawing/2014/main" id="{F408484C-D097-D7D8-8816-B5CD7AC10C68}"/>
              </a:ext>
            </a:extLst>
          </p:cNvPr>
          <p:cNvPicPr>
            <a:picLocks noChangeAspect="1"/>
          </p:cNvPicPr>
          <p:nvPr/>
        </p:nvPicPr>
        <p:blipFill rotWithShape="1">
          <a:blip r:embed="rId2"/>
          <a:srcRect l="50498"/>
          <a:stretch/>
        </p:blipFill>
        <p:spPr>
          <a:xfrm rot="5400000">
            <a:off x="8305121" y="2836430"/>
            <a:ext cx="1852640" cy="4390275"/>
          </a:xfrm>
          <a:prstGeom prst="rect">
            <a:avLst/>
          </a:prstGeom>
        </p:spPr>
      </p:pic>
    </p:spTree>
    <p:extLst>
      <p:ext uri="{BB962C8B-B14F-4D97-AF65-F5344CB8AC3E}">
        <p14:creationId xmlns:p14="http://schemas.microsoft.com/office/powerpoint/2010/main" val="2947599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E5028-2694-5DDF-2FCD-05B35FBD1480}"/>
              </a:ext>
            </a:extLst>
          </p:cNvPr>
          <p:cNvSpPr>
            <a:spLocks noGrp="1"/>
          </p:cNvSpPr>
          <p:nvPr>
            <p:ph type="title"/>
          </p:nvPr>
        </p:nvSpPr>
        <p:spPr/>
        <p:txBody>
          <a:bodyPr/>
          <a:lstStyle/>
          <a:p>
            <a:r>
              <a:rPr lang="en-US" dirty="0"/>
              <a:t>MOX Restructuring</a:t>
            </a:r>
          </a:p>
        </p:txBody>
      </p:sp>
      <p:sp>
        <p:nvSpPr>
          <p:cNvPr id="3" name="Content Placeholder 2">
            <a:extLst>
              <a:ext uri="{FF2B5EF4-FFF2-40B4-BE49-F238E27FC236}">
                <a16:creationId xmlns:a16="http://schemas.microsoft.com/office/drawing/2014/main" id="{A8A5B344-ED1E-13B6-EF35-BDAA93771EAB}"/>
              </a:ext>
            </a:extLst>
          </p:cNvPr>
          <p:cNvSpPr>
            <a:spLocks noGrp="1"/>
          </p:cNvSpPr>
          <p:nvPr>
            <p:ph sz="half" idx="1"/>
          </p:nvPr>
        </p:nvSpPr>
        <p:spPr>
          <a:xfrm>
            <a:off x="609600" y="1968503"/>
            <a:ext cx="5864772" cy="4157663"/>
          </a:xfrm>
        </p:spPr>
        <p:txBody>
          <a:bodyPr/>
          <a:lstStyle/>
          <a:p>
            <a:r>
              <a:rPr lang="en-US" sz="2200" dirty="0"/>
              <a:t>The velocity of the pores varies rapidly with temperature, and the columnar grains only form at temperatures above ~1800C</a:t>
            </a:r>
          </a:p>
          <a:p>
            <a:r>
              <a:rPr lang="en-US" sz="2200" dirty="0"/>
              <a:t>Below 1800C, an equiaxed region consists of grains that have undergone significant growth when compared to the un-irradiated samples</a:t>
            </a:r>
          </a:p>
          <a:p>
            <a:r>
              <a:rPr lang="en-US" sz="2200" dirty="0"/>
              <a:t>At the periphery of the fuel pellet, temperatures are sufficiently low to limit grain growth, and thus the microstructure doesn’t undergo rapid changes</a:t>
            </a:r>
          </a:p>
          <a:p>
            <a:endParaRPr lang="en-US" sz="2200" dirty="0"/>
          </a:p>
        </p:txBody>
      </p:sp>
      <p:sp>
        <p:nvSpPr>
          <p:cNvPr id="5" name="Slide Number Placeholder 4">
            <a:extLst>
              <a:ext uri="{FF2B5EF4-FFF2-40B4-BE49-F238E27FC236}">
                <a16:creationId xmlns:a16="http://schemas.microsoft.com/office/drawing/2014/main" id="{74465E95-4173-FAFD-B1A1-B6FCE5F4312B}"/>
              </a:ext>
            </a:extLst>
          </p:cNvPr>
          <p:cNvSpPr>
            <a:spLocks noGrp="1"/>
          </p:cNvSpPr>
          <p:nvPr>
            <p:ph type="sldNum" sz="quarter" idx="12"/>
          </p:nvPr>
        </p:nvSpPr>
        <p:spPr/>
        <p:txBody>
          <a:bodyPr/>
          <a:lstStyle/>
          <a:p>
            <a:pPr>
              <a:defRPr/>
            </a:pPr>
            <a:fld id="{EC35E9FC-F6D5-0349-BBED-EA7D7A9BC49B}" type="slidenum">
              <a:rPr lang="en-US" smtClean="0"/>
              <a:pPr>
                <a:defRPr/>
              </a:pPr>
              <a:t>38</a:t>
            </a:fld>
            <a:endParaRPr lang="en-US"/>
          </a:p>
        </p:txBody>
      </p:sp>
      <p:pic>
        <p:nvPicPr>
          <p:cNvPr id="6" name="Content Placeholder 5">
            <a:extLst>
              <a:ext uri="{FF2B5EF4-FFF2-40B4-BE49-F238E27FC236}">
                <a16:creationId xmlns:a16="http://schemas.microsoft.com/office/drawing/2014/main" id="{AAB80D68-B816-7AF1-156C-B00CBB8F6642}"/>
              </a:ext>
            </a:extLst>
          </p:cNvPr>
          <p:cNvPicPr>
            <a:picLocks noChangeAspect="1"/>
          </p:cNvPicPr>
          <p:nvPr/>
        </p:nvPicPr>
        <p:blipFill>
          <a:blip r:embed="rId2"/>
          <a:stretch>
            <a:fillRect/>
          </a:stretch>
        </p:blipFill>
        <p:spPr bwMode="auto">
          <a:xfrm>
            <a:off x="6290024" y="1968503"/>
            <a:ext cx="5292376" cy="4157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4046464546"/>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Lec10_SFRs</Template>
  <TotalTime>41692</TotalTime>
  <Words>2376</Words>
  <Application>Microsoft Macintosh PowerPoint</Application>
  <PresentationFormat>Widescreen</PresentationFormat>
  <Paragraphs>236</Paragraphs>
  <Slides>38</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1_NCStateU-horizontal-left-logo</vt:lpstr>
      <vt:lpstr>NE 763: Advanced Reactor Materials</vt:lpstr>
      <vt:lpstr>Paper Presentation Assignment</vt:lpstr>
      <vt:lpstr>Last Time</vt:lpstr>
      <vt:lpstr>Metallic fuel performance modeling</vt:lpstr>
      <vt:lpstr>Metallic Fuel Phenomena</vt:lpstr>
      <vt:lpstr>Constituent Redistribution Models</vt:lpstr>
      <vt:lpstr>Constituent Redistribution Models</vt:lpstr>
      <vt:lpstr>Constituent Redistribution Models</vt:lpstr>
      <vt:lpstr>Temperature Predictions</vt:lpstr>
      <vt:lpstr>Porosity Predictions</vt:lpstr>
      <vt:lpstr>Porosity Predictions</vt:lpstr>
      <vt:lpstr>Mechanical Properties</vt:lpstr>
      <vt:lpstr>BISON Testing</vt:lpstr>
      <vt:lpstr>Other Codes</vt:lpstr>
      <vt:lpstr>Other Codes</vt:lpstr>
      <vt:lpstr>Summary</vt:lpstr>
      <vt:lpstr>Metal fuel fabrication</vt:lpstr>
      <vt:lpstr>Metal Fuel Fabrication</vt:lpstr>
      <vt:lpstr>Metal Fuel Fabrication</vt:lpstr>
      <vt:lpstr>Metal Fuel Fabrication</vt:lpstr>
      <vt:lpstr>Issues</vt:lpstr>
      <vt:lpstr>Closing the Fuel Cycle</vt:lpstr>
      <vt:lpstr>Reprocessing</vt:lpstr>
      <vt:lpstr>IFR Pyroprocess</vt:lpstr>
      <vt:lpstr>IFR Pyroprocess</vt:lpstr>
      <vt:lpstr>IFR Pyroprocess</vt:lpstr>
      <vt:lpstr>Refabrication</vt:lpstr>
      <vt:lpstr>Mixed oxide fuel</vt:lpstr>
      <vt:lpstr>MOX Introduction</vt:lpstr>
      <vt:lpstr>MOX Fuel Design</vt:lpstr>
      <vt:lpstr>MOX Fuels in SFRs</vt:lpstr>
      <vt:lpstr>Thermal Properties</vt:lpstr>
      <vt:lpstr>MOX Restructuring</vt:lpstr>
      <vt:lpstr>MOX Restructuring</vt:lpstr>
      <vt:lpstr>MOX Pore Formation</vt:lpstr>
      <vt:lpstr>MOX Pore Formation</vt:lpstr>
      <vt:lpstr>Pore Migration</vt:lpstr>
      <vt:lpstr>MOX Restructuring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133</cp:revision>
  <dcterms:created xsi:type="dcterms:W3CDTF">2019-12-09T16:44:02Z</dcterms:created>
  <dcterms:modified xsi:type="dcterms:W3CDTF">2026-10-13T15:40:16Z</dcterms:modified>
</cp:coreProperties>
</file>
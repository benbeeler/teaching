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1"/>
  </p:notesMasterIdLst>
  <p:sldIdLst>
    <p:sldId id="256" r:id="rId2"/>
    <p:sldId id="507" r:id="rId3"/>
    <p:sldId id="508" r:id="rId4"/>
    <p:sldId id="431" r:id="rId5"/>
    <p:sldId id="523" r:id="rId6"/>
    <p:sldId id="521" r:id="rId7"/>
    <p:sldId id="432" r:id="rId8"/>
    <p:sldId id="445" r:id="rId9"/>
    <p:sldId id="522" r:id="rId10"/>
    <p:sldId id="520" r:id="rId11"/>
    <p:sldId id="538" r:id="rId12"/>
    <p:sldId id="537" r:id="rId13"/>
    <p:sldId id="539" r:id="rId14"/>
    <p:sldId id="545" r:id="rId15"/>
    <p:sldId id="546" r:id="rId16"/>
    <p:sldId id="547" r:id="rId17"/>
    <p:sldId id="541" r:id="rId18"/>
    <p:sldId id="542" r:id="rId19"/>
    <p:sldId id="543" r:id="rId20"/>
    <p:sldId id="549" r:id="rId21"/>
    <p:sldId id="548" r:id="rId22"/>
    <p:sldId id="464" r:id="rId23"/>
    <p:sldId id="472" r:id="rId24"/>
    <p:sldId id="473" r:id="rId25"/>
    <p:sldId id="471" r:id="rId26"/>
    <p:sldId id="418" r:id="rId27"/>
    <p:sldId id="474" r:id="rId28"/>
    <p:sldId id="476" r:id="rId29"/>
    <p:sldId id="54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13"/>
    <p:restoredTop sz="94726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B0241-1142-C84C-9EE2-42E44ABD8DAA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37FF6-46D6-B849-A6CD-85860317B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8CCA7-042D-4344-9F38-A30A24316FF0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92928"/>
            <a:ext cx="10972800" cy="443323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1600"/>
            </a:lvl3pPr>
            <a:lvl4pPr>
              <a:defRPr sz="18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CAF1B-B7C8-8347-AE4A-EC343217B68C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F136D-307A-4941-889F-E9EB8268902E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9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92929"/>
            <a:ext cx="5384800" cy="443323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692929"/>
            <a:ext cx="5384800" cy="4433238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F76C3-E96E-A54F-A122-6303A871D871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40392-1101-8A42-BEB5-9592F30E3A91}" type="datetime1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72F20-AC2E-6D46-8A6B-0183BC6D49D1}" type="datetime1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EA4AC-8DBD-3E4B-B61C-36A721F07D61}" type="datetime1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BFB7E-23D3-E748-98B9-B9A8C558BBAC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E0F4-A999-A54E-B545-67F2F70C10FB}" type="datetime1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13E56-4916-404E-AAB2-B4BA03F90FC2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13883-51E5-FD4C-BFE2-284CCAA85938}" type="datetime1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624541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707870"/>
            <a:ext cx="10972800" cy="4418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0A6D047-5534-0641-AA46-5C16F49FBEAF}" type="datetime1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015E-2E6F-6B40-94AC-A2FDB6C7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DC84-0091-574A-9F80-9BA14DB5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9696-DAB3-3B49-B4C8-AEDA11EF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68500"/>
            <a:ext cx="10972801" cy="4157664"/>
          </a:xfrm>
        </p:spPr>
        <p:txBody>
          <a:bodyPr/>
          <a:lstStyle/>
          <a:p>
            <a:r>
              <a:rPr lang="en-US" sz="1900" dirty="0"/>
              <a:t>Graphite has lots of texture and porosity</a:t>
            </a:r>
          </a:p>
          <a:p>
            <a:r>
              <a:rPr lang="en-US" sz="1900" dirty="0"/>
              <a:t>Thermal stress cracks form…</a:t>
            </a:r>
          </a:p>
          <a:p>
            <a:pPr lvl="1"/>
            <a:r>
              <a:rPr lang="en-US" sz="1900" dirty="0"/>
              <a:t>anisotropic CTE, Mrozowski cracks</a:t>
            </a:r>
          </a:p>
          <a:p>
            <a:r>
              <a:rPr lang="en-US" sz="1900" dirty="0"/>
              <a:t>Radiation induced shrinkage and turnaround… </a:t>
            </a:r>
          </a:p>
          <a:p>
            <a:pPr lvl="1"/>
            <a:r>
              <a:rPr lang="en-US" sz="1900" dirty="0"/>
              <a:t>interstitials cause </a:t>
            </a:r>
            <a:r>
              <a:rPr lang="en-US" sz="1900" i="1" dirty="0"/>
              <a:t>c</a:t>
            </a:r>
            <a:r>
              <a:rPr lang="en-US" sz="1900" dirty="0"/>
              <a:t> expansion and </a:t>
            </a:r>
            <a:r>
              <a:rPr lang="en-US" sz="1900" i="1" dirty="0"/>
              <a:t>a</a:t>
            </a:r>
            <a:r>
              <a:rPr lang="en-US" sz="1900" dirty="0"/>
              <a:t> contraction, vacancies cause </a:t>
            </a:r>
            <a:r>
              <a:rPr lang="en-US" sz="1900" i="1" dirty="0"/>
              <a:t>a</a:t>
            </a:r>
            <a:r>
              <a:rPr lang="en-US" sz="1900" dirty="0"/>
              <a:t> contraction</a:t>
            </a:r>
          </a:p>
          <a:p>
            <a:pPr lvl="1"/>
            <a:r>
              <a:rPr lang="en-US" sz="1900" dirty="0"/>
              <a:t>aligned porosity closes due to lattice expansion, results in net contraction</a:t>
            </a:r>
          </a:p>
          <a:p>
            <a:pPr lvl="1"/>
            <a:r>
              <a:rPr lang="en-US" sz="1900" dirty="0"/>
              <a:t>once porosity is closed, leads to net expansion (faster expansion in </a:t>
            </a:r>
            <a:r>
              <a:rPr lang="en-US" sz="1900" i="1" dirty="0"/>
              <a:t>c </a:t>
            </a:r>
            <a:r>
              <a:rPr lang="en-US" sz="1900" dirty="0"/>
              <a:t>than contraction in </a:t>
            </a:r>
            <a:r>
              <a:rPr lang="en-US" sz="1900" i="1" dirty="0"/>
              <a:t>a</a:t>
            </a:r>
            <a:r>
              <a:rPr lang="en-US" sz="1900" dirty="0"/>
              <a:t>)</a:t>
            </a:r>
          </a:p>
          <a:p>
            <a:r>
              <a:rPr lang="en-US" sz="1900" dirty="0"/>
              <a:t>Graphite thermal conductivity approximately saturates with dose, becomes temperature-independent</a:t>
            </a:r>
          </a:p>
          <a:p>
            <a:r>
              <a:rPr lang="en-US" sz="1900" dirty="0"/>
              <a:t>Irradiation creep is fundamentally important, allows stress relaxation of graphite</a:t>
            </a:r>
          </a:p>
          <a:p>
            <a:r>
              <a:rPr lang="en-US" sz="1900" dirty="0"/>
              <a:t>TRISO failure modes: </a:t>
            </a:r>
          </a:p>
          <a:p>
            <a:pPr lvl="1"/>
            <a:r>
              <a:rPr lang="en-US" sz="1900" dirty="0"/>
              <a:t>Overpressure, </a:t>
            </a:r>
            <a:r>
              <a:rPr lang="en-US" sz="1900" dirty="0" err="1"/>
              <a:t>IPyC</a:t>
            </a:r>
            <a:r>
              <a:rPr lang="en-US" sz="1900" dirty="0"/>
              <a:t> cracking, </a:t>
            </a:r>
            <a:r>
              <a:rPr lang="en-US" sz="1900" dirty="0" err="1"/>
              <a:t>IPyC</a:t>
            </a:r>
            <a:r>
              <a:rPr lang="en-US" sz="1900" dirty="0"/>
              <a:t> and </a:t>
            </a:r>
            <a:r>
              <a:rPr lang="en-US" sz="1900" dirty="0" err="1"/>
              <a:t>SiC</a:t>
            </a:r>
            <a:r>
              <a:rPr lang="en-US" sz="1900" dirty="0"/>
              <a:t> debonding, Kernel migration, etc. </a:t>
            </a:r>
          </a:p>
          <a:p>
            <a:endParaRPr lang="en-US" sz="1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0608-22D0-4848-AAC2-5EDF7821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0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TRISO Fuel Performance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4ECEC-16B6-6141-B1AF-F3EA008D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2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780B-4F37-014A-B881-332E6FE5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TRISO Fuel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E90B5-3B3E-6D4E-9A88-F35D4AD801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Fuel performance models need to be able to account for numerous inter-related phenomena that affect temperatures, stresses, and failure of the material systems</a:t>
            </a:r>
          </a:p>
          <a:p>
            <a:r>
              <a:rPr lang="en-US" sz="2400" dirty="0"/>
              <a:t>Must be multiphysics, incorporating thermodynamics, chemistry, kinetics, microstructure, mechanics, neutronics, etc., whether directly or indirectly accounted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32237-2A23-254D-AC64-88F6B1FEDB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Solid fission product swelling</a:t>
            </a:r>
          </a:p>
          <a:p>
            <a:r>
              <a:rPr lang="en-US" sz="2000" dirty="0"/>
              <a:t>Gaseous fission product swelling</a:t>
            </a:r>
          </a:p>
          <a:p>
            <a:r>
              <a:rPr lang="en-US" sz="2000" dirty="0"/>
              <a:t>Densification</a:t>
            </a:r>
          </a:p>
          <a:p>
            <a:r>
              <a:rPr lang="en-US" sz="2000" dirty="0"/>
              <a:t>Thermal conductivity</a:t>
            </a:r>
          </a:p>
          <a:p>
            <a:r>
              <a:rPr lang="en-US" sz="2000" dirty="0"/>
              <a:t>Fission gas release</a:t>
            </a:r>
          </a:p>
          <a:p>
            <a:r>
              <a:rPr lang="en-US" sz="2000" dirty="0"/>
              <a:t>CO production</a:t>
            </a:r>
          </a:p>
          <a:p>
            <a:r>
              <a:rPr lang="en-US" sz="2000" dirty="0"/>
              <a:t>Oxygen transport</a:t>
            </a:r>
          </a:p>
          <a:p>
            <a:r>
              <a:rPr lang="en-US" sz="2000" dirty="0" err="1"/>
              <a:t>PyC</a:t>
            </a:r>
            <a:r>
              <a:rPr lang="en-US" sz="2000" dirty="0"/>
              <a:t> layer dimensional change</a:t>
            </a:r>
          </a:p>
          <a:p>
            <a:r>
              <a:rPr lang="en-US" sz="2000" dirty="0"/>
              <a:t>Kernel migration</a:t>
            </a:r>
          </a:p>
          <a:p>
            <a:r>
              <a:rPr lang="en-US" sz="2000" dirty="0" err="1"/>
              <a:t>SiC</a:t>
            </a:r>
            <a:r>
              <a:rPr lang="en-US" sz="2000" dirty="0"/>
              <a:t> failure</a:t>
            </a:r>
          </a:p>
          <a:p>
            <a:r>
              <a:rPr lang="en-US" sz="2000" dirty="0"/>
              <a:t>Fission product attack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D5651-C604-B749-AE17-A8D94D40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3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B719-A91C-8A4B-A08A-DC5E0772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Performance Codes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D75D6F6-6132-0B44-9370-097CE1EBF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452617"/>
            <a:ext cx="7018116" cy="514404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5951D-83E5-154F-8498-7422E658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 descr="Tangential stress versus neutron fluence for different fuel performance codes">
            <a:extLst>
              <a:ext uri="{FF2B5EF4-FFF2-40B4-BE49-F238E27FC236}">
                <a16:creationId xmlns:a16="http://schemas.microsoft.com/office/drawing/2014/main" id="{DC25BB7B-DBDA-6D4F-87A3-B02F2A17B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04" y="1273596"/>
            <a:ext cx="2952107" cy="2546546"/>
          </a:xfrm>
          <a:prstGeom prst="rect">
            <a:avLst/>
          </a:prstGeom>
        </p:spPr>
      </p:pic>
      <p:pic>
        <p:nvPicPr>
          <p:cNvPr id="8" name="Picture 7" descr="Predicted gas pressure versus burnup for different fuel performance codes">
            <a:extLst>
              <a:ext uri="{FF2B5EF4-FFF2-40B4-BE49-F238E27FC236}">
                <a16:creationId xmlns:a16="http://schemas.microsoft.com/office/drawing/2014/main" id="{41F65EDD-991E-6347-BACF-FC8B93A2D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312" y="3820141"/>
            <a:ext cx="2844800" cy="25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3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1702-9239-3547-8D04-A2E911AC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811CC-2C44-EB44-8E77-AF78A5AB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555129" cy="4157663"/>
          </a:xfrm>
        </p:spPr>
        <p:txBody>
          <a:bodyPr/>
          <a:lstStyle/>
          <a:p>
            <a:r>
              <a:rPr lang="en-US" dirty="0"/>
              <a:t>The dominant 1D failure mechanism for TRISO fuel particles involves pressure vessel failure, where the </a:t>
            </a:r>
            <a:r>
              <a:rPr lang="en-US" dirty="0" err="1"/>
              <a:t>SiC</a:t>
            </a:r>
            <a:r>
              <a:rPr lang="en-US" dirty="0"/>
              <a:t> layer develops a through-thickness crack resulting from a tensile stress that exceeds the fracture strength of the material</a:t>
            </a:r>
          </a:p>
          <a:p>
            <a:r>
              <a:rPr lang="en-US" dirty="0"/>
              <a:t>Modern approaches to pressure vessel (</a:t>
            </a:r>
            <a:r>
              <a:rPr lang="en-US" dirty="0" err="1"/>
              <a:t>SiC</a:t>
            </a:r>
            <a:r>
              <a:rPr lang="en-US" dirty="0"/>
              <a:t>) failure explicitly calculate separate stresses and through-layer crack probabilities for the </a:t>
            </a:r>
            <a:r>
              <a:rPr lang="en-US" dirty="0" err="1"/>
              <a:t>SiC</a:t>
            </a:r>
            <a:r>
              <a:rPr lang="en-US" dirty="0"/>
              <a:t> layer and each </a:t>
            </a:r>
            <a:r>
              <a:rPr lang="en-US" dirty="0" err="1"/>
              <a:t>PyC</a:t>
            </a:r>
            <a:r>
              <a:rPr lang="en-US" dirty="0"/>
              <a:t> layer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 descr="Schematic of the 1D concept of SiC failure">
            <a:extLst>
              <a:ext uri="{FF2B5EF4-FFF2-40B4-BE49-F238E27FC236}">
                <a16:creationId xmlns:a16="http://schemas.microsoft.com/office/drawing/2014/main" id="{6250C5F5-30E2-C542-BE86-D0E81B6880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73314" y="3017882"/>
            <a:ext cx="4000500" cy="1892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060A3-A068-EC47-97C2-649D4BE2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36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A897-E5C3-3B47-A99D-C6129747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TRISO Stresses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BCACA-CE4D-A846-9BF1-2E0659021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598485" cy="4157663"/>
          </a:xfrm>
        </p:spPr>
        <p:txBody>
          <a:bodyPr/>
          <a:lstStyle/>
          <a:p>
            <a:r>
              <a:rPr lang="en-US" sz="2000" dirty="0"/>
              <a:t>The irradiation causes the kernel to swell and the buffer layer to shrink, thereby modifying the internal void volume available to the fission and reaction gases</a:t>
            </a:r>
          </a:p>
          <a:p>
            <a:r>
              <a:rPr lang="en-US" sz="2000" dirty="0"/>
              <a:t>The porosity of the buffer leads to the gas pressure being the only force on the load-bearing layers</a:t>
            </a:r>
          </a:p>
          <a:p>
            <a:r>
              <a:rPr lang="en-US" sz="2000" dirty="0"/>
              <a:t>If the </a:t>
            </a:r>
            <a:r>
              <a:rPr lang="en-US" sz="2000" dirty="0" err="1"/>
              <a:t>IPyC</a:t>
            </a:r>
            <a:r>
              <a:rPr lang="en-US" sz="2000" dirty="0"/>
              <a:t> and </a:t>
            </a:r>
            <a:r>
              <a:rPr lang="en-US" sz="2000" dirty="0" err="1"/>
              <a:t>OPyC</a:t>
            </a:r>
            <a:r>
              <a:rPr lang="en-US" sz="2000" dirty="0"/>
              <a:t> were absent, the gases produced in the fission process would simply stress the </a:t>
            </a:r>
            <a:r>
              <a:rPr lang="en-US" sz="2000" dirty="0" err="1"/>
              <a:t>SiC</a:t>
            </a:r>
            <a:r>
              <a:rPr lang="en-US" sz="2000" dirty="0"/>
              <a:t> layer and, if the pressure were high enough, cause it to fail</a:t>
            </a:r>
          </a:p>
          <a:p>
            <a:r>
              <a:rPr lang="en-US" sz="2000" dirty="0"/>
              <a:t>However, these tangential stresses are reduced by the presence of the two </a:t>
            </a:r>
            <a:r>
              <a:rPr lang="en-US" sz="2000" dirty="0" err="1"/>
              <a:t>PyC</a:t>
            </a:r>
            <a:r>
              <a:rPr lang="en-US" sz="2000" dirty="0"/>
              <a:t> layers because; under unrestrained conditions they would shrink during irradiation</a:t>
            </a:r>
          </a:p>
          <a:p>
            <a:endParaRPr lang="en-US" sz="2000" dirty="0"/>
          </a:p>
        </p:txBody>
      </p:sp>
      <p:pic>
        <p:nvPicPr>
          <p:cNvPr id="5" name="Content Placeholder 4" descr="2D symmetrical TRISO particle showing different stress states. ">
            <a:extLst>
              <a:ext uri="{FF2B5EF4-FFF2-40B4-BE49-F238E27FC236}">
                <a16:creationId xmlns:a16="http://schemas.microsoft.com/office/drawing/2014/main" id="{913DDFB2-9F22-C143-9533-98CC137911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84700" y="1340409"/>
            <a:ext cx="2350600" cy="46467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203A0-02D3-2544-AC73-C1B898EC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3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EDF0-99C9-A74B-9FB0-4F65ED39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TRISO Stresses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3294-2E35-604D-B71F-DBB1DC21A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404386" cy="4157663"/>
          </a:xfrm>
        </p:spPr>
        <p:txBody>
          <a:bodyPr/>
          <a:lstStyle/>
          <a:p>
            <a:r>
              <a:rPr lang="en-US" sz="2000" dirty="0" err="1"/>
              <a:t>PyC</a:t>
            </a:r>
            <a:r>
              <a:rPr lang="en-US" sz="2000" dirty="0"/>
              <a:t> shrinkage will be largely restrained by the </a:t>
            </a:r>
            <a:r>
              <a:rPr lang="en-US" sz="2000" dirty="0" err="1"/>
              <a:t>SiC</a:t>
            </a:r>
            <a:r>
              <a:rPr lang="en-US" sz="2000" dirty="0"/>
              <a:t> layer, and tangential stresses will be generated in both </a:t>
            </a:r>
            <a:r>
              <a:rPr lang="en-US" sz="2000" dirty="0" err="1"/>
              <a:t>PyC</a:t>
            </a:r>
            <a:r>
              <a:rPr lang="en-US" sz="2000" dirty="0"/>
              <a:t> layers, with radial (inward) acting forces imposed on the two surfaces of the </a:t>
            </a:r>
            <a:r>
              <a:rPr lang="en-US" sz="2000" dirty="0" err="1"/>
              <a:t>SiC</a:t>
            </a:r>
            <a:r>
              <a:rPr lang="en-US" sz="2000" dirty="0"/>
              <a:t> layer</a:t>
            </a:r>
          </a:p>
          <a:p>
            <a:r>
              <a:rPr lang="en-US" sz="2000" dirty="0"/>
              <a:t>In practice, these tangential stresses in the two </a:t>
            </a:r>
            <a:r>
              <a:rPr lang="en-US" sz="2000" dirty="0" err="1"/>
              <a:t>PyC</a:t>
            </a:r>
            <a:r>
              <a:rPr lang="en-US" sz="2000" dirty="0"/>
              <a:t> layers will attain a quasi-equilibrium stress state because their shrinkage is counter-balanced by irradiation creep</a:t>
            </a:r>
          </a:p>
          <a:p>
            <a:r>
              <a:rPr lang="en-US" sz="2000" dirty="0"/>
              <a:t>The </a:t>
            </a:r>
            <a:r>
              <a:rPr lang="en-US" sz="2000" dirty="0" err="1"/>
              <a:t>SiC</a:t>
            </a:r>
            <a:r>
              <a:rPr lang="en-US" sz="2000" dirty="0"/>
              <a:t> elastic modulus is at least an order of magnitude greater than that of </a:t>
            </a:r>
            <a:r>
              <a:rPr lang="en-US" sz="2000" dirty="0" err="1"/>
              <a:t>PyC</a:t>
            </a:r>
            <a:r>
              <a:rPr lang="en-US" sz="2000" dirty="0"/>
              <a:t> and thus, the dimensional changes and creep strains of </a:t>
            </a:r>
            <a:r>
              <a:rPr lang="en-US" sz="2000" dirty="0" err="1"/>
              <a:t>SiC</a:t>
            </a:r>
            <a:r>
              <a:rPr lang="en-US" sz="2000" dirty="0"/>
              <a:t> are comparatively much smaller than for </a:t>
            </a:r>
            <a:r>
              <a:rPr lang="en-US" sz="2000" dirty="0" err="1"/>
              <a:t>PyC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Tangential stresses in IPyC, SiC, and OPyC vs time">
            <a:extLst>
              <a:ext uri="{FF2B5EF4-FFF2-40B4-BE49-F238E27FC236}">
                <a16:creationId xmlns:a16="http://schemas.microsoft.com/office/drawing/2014/main" id="{69C61976-536B-4D48-BE6C-7DA7497985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3210" y="3700631"/>
            <a:ext cx="2950328" cy="31573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82D7B-9D19-4241-AA4F-39DB8959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9" name="Picture 8" descr="Predicted gas pressure versus burnup for different fuel performance codes">
            <a:extLst>
              <a:ext uri="{FF2B5EF4-FFF2-40B4-BE49-F238E27FC236}">
                <a16:creationId xmlns:a16="http://schemas.microsoft.com/office/drawing/2014/main" id="{594D1843-2CEB-A58A-FEEA-67795F64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837" y="835502"/>
            <a:ext cx="3060604" cy="27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ngential stresses in a TRISO particle as predicted by BISON for a non-symmetrical particle.">
            <a:extLst>
              <a:ext uri="{FF2B5EF4-FFF2-40B4-BE49-F238E27FC236}">
                <a16:creationId xmlns:a16="http://schemas.microsoft.com/office/drawing/2014/main" id="{5C63EB93-8FA0-A9FE-A3C9-0FAC390E5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191" y="2167905"/>
            <a:ext cx="2259000" cy="4371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610916-646C-414F-90D0-19B6FDCA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9FE5-6844-D649-992C-C937AE14B4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Ideally, would be able to model and describe 3D modes of failure</a:t>
            </a:r>
          </a:p>
          <a:p>
            <a:pPr lvl="1"/>
            <a:r>
              <a:rPr lang="en-US" sz="2400" dirty="0"/>
              <a:t>Shrinkage cracks within the </a:t>
            </a:r>
            <a:r>
              <a:rPr lang="en-US" sz="2400" dirty="0" err="1"/>
              <a:t>IPyC</a:t>
            </a:r>
            <a:r>
              <a:rPr lang="en-US" sz="2400" dirty="0"/>
              <a:t> layer</a:t>
            </a:r>
          </a:p>
          <a:p>
            <a:pPr lvl="1"/>
            <a:r>
              <a:rPr lang="en-US" sz="2400" dirty="0" err="1"/>
              <a:t>IPyC</a:t>
            </a:r>
            <a:r>
              <a:rPr lang="en-US" sz="2400" dirty="0"/>
              <a:t>/</a:t>
            </a:r>
            <a:r>
              <a:rPr lang="en-US" sz="2400" dirty="0" err="1"/>
              <a:t>SiC</a:t>
            </a:r>
            <a:r>
              <a:rPr lang="en-US" sz="2400" dirty="0"/>
              <a:t> debonding</a:t>
            </a:r>
          </a:p>
          <a:p>
            <a:pPr lvl="1"/>
            <a:r>
              <a:rPr lang="en-US" sz="2400" dirty="0"/>
              <a:t>Particle </a:t>
            </a:r>
            <a:r>
              <a:rPr lang="en-US" sz="2400" dirty="0" err="1"/>
              <a:t>asphericity</a:t>
            </a:r>
            <a:endParaRPr lang="en-US" sz="2400" dirty="0"/>
          </a:p>
          <a:p>
            <a:pPr lvl="1"/>
            <a:r>
              <a:rPr lang="en-US" sz="2400" dirty="0"/>
              <a:t>Kernel migration</a:t>
            </a:r>
          </a:p>
          <a:p>
            <a:pPr lvl="1"/>
            <a:r>
              <a:rPr lang="en-US" sz="2400" dirty="0" err="1"/>
              <a:t>SiC</a:t>
            </a:r>
            <a:r>
              <a:rPr lang="en-US" sz="2400" dirty="0"/>
              <a:t> coating thinning</a:t>
            </a:r>
          </a:p>
          <a:p>
            <a:pPr lvl="1"/>
            <a:r>
              <a:rPr lang="en-US" sz="2400" dirty="0"/>
              <a:t>Fission product attack</a:t>
            </a:r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D4B38D-DCF4-8145-A600-A954E567C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256031" y="2007454"/>
            <a:ext cx="1875221" cy="2493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B2CE3-A0AA-6D41-9060-FA02DDE2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6BD47-B631-9242-BDEC-A019BEEE5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552" y="4291136"/>
            <a:ext cx="2673187" cy="4588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C7416B-FC44-1D42-94BA-AFF2A062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777" y="4837142"/>
            <a:ext cx="4237685" cy="288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B6E9C0-D8DE-5E49-8893-FF1703632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597" y="2405821"/>
            <a:ext cx="3836805" cy="18118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2098D0-AD4D-FF4E-8946-D4AB2239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421" y="5224313"/>
            <a:ext cx="3851448" cy="4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9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DCB0-59AC-C146-837C-E3CF7623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69A94-E052-3847-9CA7-EA64A1E323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1945" y="1968503"/>
            <a:ext cx="6074977" cy="4157663"/>
          </a:xfrm>
        </p:spPr>
        <p:txBody>
          <a:bodyPr/>
          <a:lstStyle/>
          <a:p>
            <a:r>
              <a:rPr lang="en-US" sz="2000" dirty="0"/>
              <a:t>There are a number of areas where we lack requisite data, either behavioral or fundamental properties, in order to accurately describe TRISO particle evolution</a:t>
            </a:r>
          </a:p>
          <a:p>
            <a:r>
              <a:rPr lang="en-US" sz="2000" dirty="0"/>
              <a:t>High-quality high burnup data on TRISO particles is generally lacking, which would enable benchmarking of fuel performance models</a:t>
            </a:r>
          </a:p>
          <a:p>
            <a:r>
              <a:rPr lang="en-US" sz="2000" dirty="0"/>
              <a:t>Uncertainties and unknowns in fundamental material properties are also abundant, especially with regard to how properties vary as functions of temperature, fast fluence, and burnup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D5413-5D6E-8940-9D59-28F0761BD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6922" y="1968503"/>
            <a:ext cx="5412829" cy="4157663"/>
          </a:xfrm>
        </p:spPr>
        <p:txBody>
          <a:bodyPr/>
          <a:lstStyle/>
          <a:p>
            <a:r>
              <a:rPr lang="en-US" sz="2000" dirty="0"/>
              <a:t>There is significant uncertainty in the irradiation creep constant, the value of Poisson’s ratio in irradiation creep models, and the thermal conductivity of </a:t>
            </a:r>
            <a:r>
              <a:rPr lang="en-US" sz="2000" dirty="0" err="1"/>
              <a:t>PyC</a:t>
            </a:r>
            <a:endParaRPr lang="en-US" sz="2000" dirty="0"/>
          </a:p>
          <a:p>
            <a:r>
              <a:rPr lang="en-US" sz="2000" dirty="0"/>
              <a:t>Predictions for the chemical attack of </a:t>
            </a:r>
            <a:r>
              <a:rPr lang="en-US" sz="2000" dirty="0" err="1"/>
              <a:t>SiC</a:t>
            </a:r>
            <a:r>
              <a:rPr lang="en-US" sz="2000" dirty="0"/>
              <a:t> require effective diffusion coefficients of key fission products in various fuel materials, which are unknown</a:t>
            </a:r>
          </a:p>
          <a:p>
            <a:r>
              <a:rPr lang="en-US" sz="2000" dirty="0"/>
              <a:t>Fuel properties are the least well understood, especially as the fuel evolves during operation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5F44C-7C57-2442-A95A-C8936B36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1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Material Performance in He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4ECEC-16B6-6141-B1AF-F3EA008D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19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0768-B3BB-3497-0C5E-0AE390B4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Temperatures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DF61A-9542-039A-13FA-BE026D4543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Current designs target 750 C coolant outlet temperatures</a:t>
            </a:r>
          </a:p>
          <a:p>
            <a:r>
              <a:rPr lang="en-US" sz="2200" dirty="0"/>
              <a:t>Process heat requirements may require outlet temperatures up to 950C</a:t>
            </a:r>
          </a:p>
          <a:p>
            <a:r>
              <a:rPr lang="en-US" sz="2200" dirty="0"/>
              <a:t>The most critical metallic component in the VHTR system is the intermediate heat exchanger (IHX)</a:t>
            </a:r>
          </a:p>
          <a:p>
            <a:r>
              <a:rPr lang="en-US" sz="2200" dirty="0"/>
              <a:t>The high temperatures and long duration of operation restrict IHX material selection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76A75-4A4F-9404-66BC-F56F7E02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D168A4-EE58-E1C1-F260-B0B426E8F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517" y="2353550"/>
            <a:ext cx="5999905" cy="31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31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1BEE-3769-C666-CA99-3063DF86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and Impurities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C277E-C142-9E98-336F-1F5CA0430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583772" cy="4190437"/>
          </a:xfrm>
        </p:spPr>
        <p:txBody>
          <a:bodyPr/>
          <a:lstStyle/>
          <a:p>
            <a:r>
              <a:rPr lang="en-US" sz="2200" dirty="0"/>
              <a:t>In the reactors under consideration, the gas pressure is typically between 5 and 7 MPa</a:t>
            </a:r>
          </a:p>
          <a:p>
            <a:r>
              <a:rPr lang="en-US" sz="2200" dirty="0"/>
              <a:t>The coolant is circulated at high velocity, sometimes over 100 m/s</a:t>
            </a:r>
          </a:p>
          <a:p>
            <a:r>
              <a:rPr lang="en-US" sz="2200" dirty="0"/>
              <a:t>Operating experience has shown that the primary He coolant tends to contain H2O, H2, N2, CO, CO2, and CH4 at concentrations of a few parts per million</a:t>
            </a:r>
          </a:p>
          <a:p>
            <a:r>
              <a:rPr lang="en-US" sz="2200" dirty="0"/>
              <a:t>These are the primary drivers of corrosion in He-cooled 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4DCA6-5DD1-D4E5-3713-F325C340E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/>
          <a:p>
            <a:r>
              <a:rPr lang="en-US" sz="2200" dirty="0"/>
              <a:t>Reactor systems need to have extensive gas cleanup systems associated with the helium coolant flow to keep the total impurity levels in the helium below typically 10 ppm</a:t>
            </a:r>
          </a:p>
          <a:p>
            <a:r>
              <a:rPr lang="en-US" sz="2200" dirty="0"/>
              <a:t>Active control should be maintained on the H2O and CO concentrations to reduce oxidation of the graphite</a:t>
            </a:r>
          </a:p>
          <a:p>
            <a:r>
              <a:rPr lang="en-US" sz="2200" dirty="0"/>
              <a:t>Molecular sieves are effective in capturing most of the gaseous impurities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A1E51-1FAC-FE5C-9A56-333C5CE0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3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17B0-579B-C48B-FE1E-506F6AB5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Reactor Pressure Vessels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66CD3-7883-07BB-6D47-BD9E914309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The materials tentatively selected for reactor pressure vessel are low-alloy ferritic/martensitic steels, alloyed primarily with chromium and molybdenum, e.g., 2.25Cr-1Mo and 9Cr-1Mo</a:t>
            </a:r>
          </a:p>
          <a:p>
            <a:r>
              <a:rPr lang="en-US" sz="2000" dirty="0"/>
              <a:t>Both have been extensively used in fossil fuel industries </a:t>
            </a:r>
          </a:p>
          <a:p>
            <a:r>
              <a:rPr lang="en-US" sz="2000" dirty="0"/>
              <a:t>Temperatures expected to be up to 600 C for RPV, extending over 60 yr life</a:t>
            </a:r>
          </a:p>
          <a:p>
            <a:r>
              <a:rPr lang="en-US" sz="2000" dirty="0"/>
              <a:t>High temperatures and extended lifetime require additional qualification</a:t>
            </a:r>
          </a:p>
          <a:p>
            <a:r>
              <a:rPr lang="en-US" sz="2000" dirty="0"/>
              <a:t>Other main core internals are graphite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EF5B2-50DA-F9B2-4E62-F8B510A7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3F597-F441-A273-F9EF-21847FEED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860" y="1857692"/>
            <a:ext cx="3771154" cy="449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33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FC86-DF84-B84B-53E5-8938EBC0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DCD33-49F4-DD25-4349-F2578A511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6312195" cy="4190437"/>
          </a:xfrm>
        </p:spPr>
        <p:txBody>
          <a:bodyPr/>
          <a:lstStyle/>
          <a:p>
            <a:r>
              <a:rPr lang="en-US" sz="2000" dirty="0"/>
              <a:t>Graphite and He play nice together, so we generally don’t worry about He corrosion</a:t>
            </a:r>
          </a:p>
          <a:p>
            <a:r>
              <a:rPr lang="en-US" sz="2000" dirty="0"/>
              <a:t>Oxygen control is key for considering potential graphite corrosion; occurs normally with impurities in the He and extensive corrosion can occur under a breach scenario</a:t>
            </a:r>
          </a:p>
          <a:p>
            <a:r>
              <a:rPr lang="en-US" sz="2000" dirty="0"/>
              <a:t>Primary gaseous oxidation product is CO, with gaseous CO2, H2, and CH4 produced in smaller quantities</a:t>
            </a:r>
          </a:p>
          <a:p>
            <a:r>
              <a:rPr lang="en-US" sz="2000" dirty="0"/>
              <a:t>Reaction of graphite with air becomes appreciable above 400 C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1850E-4B15-42A7-8CED-9256830A0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DD127-51E6-099E-78CF-AAF500C72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896" y="2719998"/>
            <a:ext cx="4342504" cy="181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71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5B46-CF49-CAD5-99F9-76421391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 Oxidation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E687-B84D-C357-E407-09A808438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690992" cy="4190437"/>
          </a:xfrm>
        </p:spPr>
        <p:txBody>
          <a:bodyPr/>
          <a:lstStyle/>
          <a:p>
            <a:r>
              <a:rPr lang="en-US" sz="2000" dirty="0"/>
              <a:t>A-Chemical regime: low T regime, reaction rate controlled by chemical reaction. Reaction occurs at all open surfaces throughout the bulk</a:t>
            </a:r>
          </a:p>
          <a:p>
            <a:r>
              <a:rPr lang="en-US" sz="2000" dirty="0"/>
              <a:t>B-In-pore diffusion regime: intermediate temperatures. Reaction rate occurs more quickly, and oxygen cannot be transported deeper in the bulk</a:t>
            </a:r>
          </a:p>
          <a:p>
            <a:r>
              <a:rPr lang="en-US" sz="2000" dirty="0"/>
              <a:t>C-Surface boundary layer regime: above 900C, mass transfer regime. Reactivity is so high that the oxygen is consumed at the surface without penetration to internal porosity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E7672-2405-4F2B-34E3-59CA4E61E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05B875-5057-A7EA-F83B-11D4D43A4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091" y="1823808"/>
            <a:ext cx="4874894" cy="44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84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97DB-225E-4F72-1CF7-4D77D0E3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IHX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F17F7-5928-51A7-F778-288E51E32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992326"/>
            <a:ext cx="10972800" cy="2690800"/>
          </a:xfrm>
        </p:spPr>
        <p:txBody>
          <a:bodyPr/>
          <a:lstStyle/>
          <a:p>
            <a:r>
              <a:rPr lang="en-US" sz="2200" dirty="0"/>
              <a:t>Biggest area of concern for materials degradation</a:t>
            </a:r>
          </a:p>
          <a:p>
            <a:r>
              <a:rPr lang="en-US" sz="2200" dirty="0"/>
              <a:t>The desire for higher temperature operation led to selection of nickel-based alloys</a:t>
            </a:r>
          </a:p>
          <a:p>
            <a:r>
              <a:rPr lang="en-US" sz="2200" dirty="0"/>
              <a:t>These alloys rely on the formation of a chromia layer for long-term protection from environmental degradation</a:t>
            </a:r>
          </a:p>
          <a:p>
            <a:r>
              <a:rPr lang="en-US" sz="2200" dirty="0"/>
              <a:t>The alloys are primarily solid-solution strengthened with carbides on the grain boundaries to improve creep resistance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A34B6-F3BB-BF1E-B80B-F38C433F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8ECA8D-E27D-33C5-384E-24AE6D744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76" y="4477871"/>
            <a:ext cx="9976447" cy="17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16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D9BE0-5E04-B36A-9649-114C4707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IHX Corrosion in VHTR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42B3-90A3-1D1A-1C61-DE27C5031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/>
          <a:p>
            <a:r>
              <a:rPr lang="en-US" sz="2200" dirty="0"/>
              <a:t>Extensive gas cleanup systems to keep impurities low, capture tritium, and prevent oxidation</a:t>
            </a:r>
          </a:p>
          <a:p>
            <a:r>
              <a:rPr lang="en-US" sz="2200" dirty="0"/>
              <a:t>Interplay between the alloy surface, temperature, and gas composition determines whether corrosive oxidation, carburization, or decarburization occur</a:t>
            </a:r>
          </a:p>
          <a:p>
            <a:r>
              <a:rPr lang="en-US" sz="2200" dirty="0"/>
              <a:t>Carburization is associated with low-temperature embrittlement, and decarburization is linked to reduced creep rupture strength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F0F03-97C4-CC7A-98CA-51F2D8AE3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/>
          <a:p>
            <a:r>
              <a:rPr lang="en-US" sz="2200" dirty="0"/>
              <a:t>Ideally, a continuous self-healing, impermeable passivating oxide layer is needed to establish the most corrosion resistant alloy</a:t>
            </a:r>
          </a:p>
          <a:p>
            <a:r>
              <a:rPr lang="en-US" sz="2200" dirty="0"/>
              <a:t>There is a critical temperature above which the oxide layer is unstable, and CO production will occur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72DC3-15EC-C3D7-91A8-B85B2F5B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EBC78-E707-1BD1-22DA-2116127DF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350" y="4868669"/>
            <a:ext cx="37465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31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6944-4171-0AE3-0F95-EB623E95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Alloy 617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2B45C-6011-0BA6-8B12-20929BCD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966711"/>
            <a:ext cx="5386917" cy="3951288"/>
          </a:xfrm>
        </p:spPr>
        <p:txBody>
          <a:bodyPr/>
          <a:lstStyle/>
          <a:p>
            <a:r>
              <a:rPr lang="en-US" sz="2200" dirty="0"/>
              <a:t>Alloy 617 is the leading candidate for use in the VHTR heat exchangers because it has the highest creep strength of the solid-solution alloys under consideration for temperatures above 850C</a:t>
            </a:r>
          </a:p>
          <a:p>
            <a:r>
              <a:rPr lang="en-US" sz="2200" dirty="0"/>
              <a:t>Five conditions: I – strong reduction; II – decarburization; III – stable external oxide; IV – mixed surface oxide and carbide; and V – strong internal and external carburization</a:t>
            </a:r>
          </a:p>
          <a:p>
            <a:r>
              <a:rPr lang="en-US" sz="2200" dirty="0"/>
              <a:t>Zone 3 is optimal for stability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DDA221-C466-4ECD-76C3-06285E3F956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92838" y="2209409"/>
            <a:ext cx="5389562" cy="38822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C4B35-D535-71C7-AE36-5A4A549F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82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80622-A6DF-E075-9A92-E5907F0CE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Surface Oxide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26F90-CBA3-57A0-ED62-119BA7DD8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6192033" cy="3951288"/>
          </a:xfrm>
        </p:spPr>
        <p:txBody>
          <a:bodyPr/>
          <a:lstStyle/>
          <a:p>
            <a:r>
              <a:rPr lang="en-US" dirty="0"/>
              <a:t>Above a critical temperature, the surface oxide can be reduced, but that temperature is dependent upon the gas chemistry</a:t>
            </a:r>
          </a:p>
          <a:p>
            <a:r>
              <a:rPr lang="en-US" dirty="0"/>
              <a:t>Top right, surface oxide instability as evidenced from CO evolution</a:t>
            </a:r>
          </a:p>
          <a:p>
            <a:r>
              <a:rPr lang="en-US" dirty="0"/>
              <a:t>Bottom right, critical temp for oxide stability as a function of partial pressure of CO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7B359-EE4A-2A68-9CB3-BE5CC5F8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AD81C6-77D7-2AFE-B657-CCB3ED58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880" y="759720"/>
            <a:ext cx="3717744" cy="2971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57E72E-D8AC-0EFA-2CC6-69FB7B20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911" y="4078395"/>
            <a:ext cx="3985683" cy="246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7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ADDA-9338-2EE5-289D-EF0813A8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 ‘Corrosion’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E2604-0331-2D71-1828-59A92D8B0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10972800" cy="3951288"/>
          </a:xfrm>
        </p:spPr>
        <p:txBody>
          <a:bodyPr/>
          <a:lstStyle/>
          <a:p>
            <a:r>
              <a:rPr lang="en-US" dirty="0"/>
              <a:t>No IHX materials can withstand lifetime at 1000 C, but Alloy 617 is qualified up to 750 C, maybe be qualified up to 950 C</a:t>
            </a:r>
          </a:p>
          <a:p>
            <a:r>
              <a:rPr lang="en-US" dirty="0"/>
              <a:t>IHX want a stable oxide layer with stable internal carbides for strength and corrosion resistance; this is dependent upon the gas chemistry</a:t>
            </a:r>
          </a:p>
          <a:p>
            <a:r>
              <a:rPr lang="en-US" dirty="0"/>
              <a:t>Graphite will be oxidized if oxygen is present under operation, the rate and mode of oxidation are dependent upon the temperature</a:t>
            </a:r>
          </a:p>
          <a:p>
            <a:r>
              <a:rPr lang="en-US" dirty="0"/>
              <a:t>Helium isn’t the problem, but the impurities in He are, and thus cleanup/control systems are key</a:t>
            </a:r>
          </a:p>
          <a:p>
            <a:r>
              <a:rPr lang="en-US" dirty="0"/>
              <a:t>High temperatures and long lifetimes make </a:t>
            </a:r>
            <a:r>
              <a:rPr lang="en-US" dirty="0" err="1"/>
              <a:t>corrosion+creep</a:t>
            </a:r>
            <a:r>
              <a:rPr lang="en-US" dirty="0"/>
              <a:t> strength challenging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70797-2C92-5882-1E3D-9AC084E0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5B94E0-5E06-6D42-A41D-50D581B4090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97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2DAA01-5B2D-5545-A184-0A99F36A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6BD0F-ABBC-C14D-BC96-77BE126A748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855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C18E-21BC-424E-A832-578210A8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Kernel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048BD-3114-A840-9F80-2E776DC158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sol–gel technique for kernel microsphere preparation is based on the following two chemical reactions starting from U3O8 powder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37FFF-9AF3-C348-961F-60C68AC49F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The (NH4)2U2O7 (ammonium di-</a:t>
            </a:r>
            <a:r>
              <a:rPr lang="en-US" sz="2400" dirty="0" err="1"/>
              <a:t>uranate</a:t>
            </a:r>
            <a:r>
              <a:rPr lang="en-US" sz="2400" dirty="0"/>
              <a:t> – ADU) is converted to UO2 by sintering in hydrogen gas</a:t>
            </a:r>
          </a:p>
          <a:p>
            <a:r>
              <a:rPr lang="en-US" sz="2400" dirty="0"/>
              <a:t>For the production of UCO kernels, carbon black is added to the broth and the sintering is performed in CO gas to ensure adequate C/O stoichiometry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9D937-1F47-1840-B3B3-87CEC0F967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494" y="4047334"/>
            <a:ext cx="4481012" cy="16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70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5BB59-82B3-CD4F-8B17-4D6E6CBC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Kernel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F2271-FB6C-1A41-8552-BBD956A8F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275755" cy="4157663"/>
          </a:xfrm>
        </p:spPr>
        <p:txBody>
          <a:bodyPr/>
          <a:lstStyle/>
          <a:p>
            <a:r>
              <a:rPr lang="en-US" sz="2400" dirty="0"/>
              <a:t>The mechanical strength of the coated layers depends on their thickness and sphericity, and thus strongly depend on the diameter and sphericity of the kernels</a:t>
            </a:r>
          </a:p>
          <a:p>
            <a:r>
              <a:rPr lang="en-US" sz="2400" dirty="0"/>
              <a:t>Vibrating nozzles from which droplets are emitted with high speed were developed for uniform and spherical  kernel fabrication</a:t>
            </a:r>
          </a:p>
          <a:p>
            <a:r>
              <a:rPr lang="en-US" sz="2400" dirty="0"/>
              <a:t>A process is applied to prevent the deformation of droplets while they are landing on the ammonia water, where droplets are solidified while falling in ammonia gas blown against them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A2651-D3FB-4649-BBDB-04B5C455AB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2098" y="1968503"/>
            <a:ext cx="3360302" cy="415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64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DCE1C-A406-4245-BF8B-390439F7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(and </a:t>
            </a:r>
            <a:r>
              <a:rPr lang="en-US" dirty="0" err="1"/>
              <a:t>PyC</a:t>
            </a:r>
            <a:r>
              <a:rPr lang="en-US" dirty="0"/>
              <a:t>)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A5BE6-EFC3-FA4A-98A4-32E350186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7329544" cy="4157663"/>
          </a:xfrm>
        </p:spPr>
        <p:txBody>
          <a:bodyPr/>
          <a:lstStyle/>
          <a:p>
            <a:r>
              <a:rPr lang="en-US" sz="2400" dirty="0"/>
              <a:t>The coating technology of both the </a:t>
            </a:r>
            <a:r>
              <a:rPr lang="en-US" sz="2400" dirty="0" err="1"/>
              <a:t>SiC</a:t>
            </a:r>
            <a:r>
              <a:rPr lang="en-US" sz="2400" dirty="0"/>
              <a:t> and </a:t>
            </a:r>
            <a:r>
              <a:rPr lang="en-US" sz="2400" dirty="0" err="1"/>
              <a:t>PyC</a:t>
            </a:r>
            <a:r>
              <a:rPr lang="en-US" sz="2400" dirty="0"/>
              <a:t> layers involves a fluidization of the kernel microsphere bed and chemical vapor deposition (CVD) coating</a:t>
            </a:r>
          </a:p>
          <a:p>
            <a:r>
              <a:rPr lang="en-US" sz="2400" dirty="0"/>
              <a:t>TRISO coating process is divided into four coating processes for the buffer, </a:t>
            </a:r>
            <a:r>
              <a:rPr lang="en-US" sz="2400" dirty="0" err="1"/>
              <a:t>IPyC</a:t>
            </a:r>
            <a:r>
              <a:rPr lang="en-US" sz="2400" dirty="0"/>
              <a:t>, </a:t>
            </a:r>
            <a:r>
              <a:rPr lang="en-US" sz="2400" dirty="0" err="1"/>
              <a:t>SiC</a:t>
            </a:r>
            <a:r>
              <a:rPr lang="en-US" sz="2400" dirty="0"/>
              <a:t>, and final </a:t>
            </a:r>
            <a:r>
              <a:rPr lang="en-US" sz="2400" dirty="0" err="1"/>
              <a:t>OPyC</a:t>
            </a:r>
            <a:r>
              <a:rPr lang="en-US" sz="2400" dirty="0"/>
              <a:t> layers</a:t>
            </a:r>
          </a:p>
          <a:p>
            <a:r>
              <a:rPr lang="en-US" sz="2400" dirty="0"/>
              <a:t>A specific mixture of gases is used for the deposition of each layer</a:t>
            </a:r>
          </a:p>
          <a:p>
            <a:pPr lvl="1"/>
            <a:r>
              <a:rPr lang="en-US" sz="2000" dirty="0"/>
              <a:t>buffer: C2H2+Ar; </a:t>
            </a:r>
            <a:r>
              <a:rPr lang="en-US" sz="2000" dirty="0" err="1"/>
              <a:t>IPyC</a:t>
            </a:r>
            <a:r>
              <a:rPr lang="en-US" sz="2000" dirty="0"/>
              <a:t>/</a:t>
            </a:r>
            <a:r>
              <a:rPr lang="en-US" sz="2000" dirty="0" err="1"/>
              <a:t>OPyC</a:t>
            </a:r>
            <a:r>
              <a:rPr lang="en-US" sz="2000" dirty="0"/>
              <a:t>: C3H6+Ar; </a:t>
            </a:r>
            <a:r>
              <a:rPr lang="en-US" sz="2000" dirty="0" err="1"/>
              <a:t>SiC</a:t>
            </a:r>
            <a:r>
              <a:rPr lang="en-US" sz="2000" dirty="0"/>
              <a:t>: CH3SiCl3+H2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A1D77F-CB51-D340-9468-D00A134974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4189" y="2054561"/>
            <a:ext cx="3558211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59559-0D12-6544-B186-154731A9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961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6149-D560-9341-9E9D-1597DEE9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TRISO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3FF7C-E468-A24E-B8F4-B316761092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Rigorous control is applied at every step of the fabrication process to produce high-quality, very low-defect fuel</a:t>
            </a:r>
          </a:p>
          <a:p>
            <a:r>
              <a:rPr lang="en-US" dirty="0"/>
              <a:t>Defect levels are typically on the order of one defect per 100,000 particles</a:t>
            </a:r>
          </a:p>
          <a:p>
            <a:r>
              <a:rPr lang="en-US" dirty="0"/>
              <a:t>Specifications are placed on the diameters, thicknesses, and densities of the kernel and layers; the sphericity of the particle; the stoichiometry of the kernel; the isotropy of the carbon; and the acceptable defect levels for each layer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C67E40-61A7-8F43-908B-B9A88B33AD7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9741" y="1935726"/>
            <a:ext cx="4105534" cy="4712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093C0-4309-8140-AF1D-BE379E13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B94E0-5E06-6D42-A41D-50D581B40900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0894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FFBD-4B43-B646-8BBE-43187C0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Pebble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2A14-F34A-D44F-9A74-2171B578C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156961" cy="4157663"/>
          </a:xfrm>
        </p:spPr>
        <p:txBody>
          <a:bodyPr/>
          <a:lstStyle/>
          <a:p>
            <a:r>
              <a:rPr lang="en-US" sz="2200" dirty="0"/>
              <a:t>The fuel element of the pebble bed type HTGR is a spherical fuel element</a:t>
            </a:r>
          </a:p>
          <a:p>
            <a:r>
              <a:rPr lang="en-US" sz="2200" dirty="0"/>
              <a:t>The coated particles are overcoated with a layer of matrix graphite powder (MGP) and pressed to the core of a fuel sphere</a:t>
            </a:r>
          </a:p>
          <a:p>
            <a:r>
              <a:rPr lang="en-US" sz="2200" dirty="0"/>
              <a:t>Then, an additional 5-mm layer of matrix graphite material is added to form a ‘nonfuel’ zone</a:t>
            </a:r>
          </a:p>
          <a:p>
            <a:r>
              <a:rPr lang="en-US" sz="2200" dirty="0"/>
              <a:t>The resulting fuel sphere gets its final diameter by a machining process and is then carbonized and annealed at 2000C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8F8BF5-6560-6F49-B4BA-58E7B5BE3A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6254" y="1968500"/>
            <a:ext cx="5002956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60499-D93C-FD48-BC71-08387272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937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FFBD-4B43-B646-8BBE-43187C0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Compact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2A14-F34A-D44F-9A74-2171B578C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372575" cy="4157663"/>
          </a:xfrm>
        </p:spPr>
        <p:txBody>
          <a:bodyPr/>
          <a:lstStyle/>
          <a:p>
            <a:r>
              <a:rPr lang="en-US" sz="2200" dirty="0"/>
              <a:t>HTGR fuel elements are graphite compacts stacked into a graphite core</a:t>
            </a:r>
          </a:p>
          <a:p>
            <a:r>
              <a:rPr lang="en-US" sz="2200" dirty="0"/>
              <a:t>To form compacts, coated fuel particles are overcoated with the MGP and warm-pressed to make the annular cylinder of green compacts</a:t>
            </a:r>
          </a:p>
          <a:p>
            <a:r>
              <a:rPr lang="en-US" sz="2200" dirty="0"/>
              <a:t>Green compacts are heat treated for carbonization at 800C and then sintered at 1800C to make fuel compacts</a:t>
            </a:r>
          </a:p>
          <a:p>
            <a:r>
              <a:rPr lang="en-US" sz="2200" dirty="0"/>
              <a:t>In order to decrease the failure fraction of coating layers, it is necessary to disperse coated fuel particles in a green compact as uniformly as possible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ABB868-CDDE-2445-A0A3-4C4E80D0DF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9312" y="2054564"/>
            <a:ext cx="3283088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CB7AC-2C96-A04F-A537-F84535378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601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3302-3FDA-3D43-3AC5-7F4DC5D7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A140-9D49-7C3D-F8B7-B00ED361C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400" dirty="0"/>
              <a:t>Sol-gel fabrication of fuel kernels</a:t>
            </a:r>
          </a:p>
          <a:p>
            <a:r>
              <a:rPr lang="en-US" sz="2400" dirty="0"/>
              <a:t>CVD for buffer, </a:t>
            </a:r>
            <a:r>
              <a:rPr lang="en-US" sz="2400" dirty="0" err="1"/>
              <a:t>IPyC</a:t>
            </a:r>
            <a:r>
              <a:rPr lang="en-US" sz="2400" dirty="0"/>
              <a:t>, </a:t>
            </a:r>
            <a:r>
              <a:rPr lang="en-US" sz="2400" dirty="0" err="1"/>
              <a:t>SiC</a:t>
            </a:r>
            <a:r>
              <a:rPr lang="en-US" sz="2400" dirty="0"/>
              <a:t>, and </a:t>
            </a:r>
            <a:r>
              <a:rPr lang="en-US" sz="2400" dirty="0" err="1"/>
              <a:t>OPyC</a:t>
            </a:r>
            <a:endParaRPr lang="en-US" sz="2400" dirty="0"/>
          </a:p>
          <a:p>
            <a:r>
              <a:rPr lang="en-US" sz="2400" dirty="0"/>
              <a:t>Combine particles into compacts/pebbles with carbon matrix powder</a:t>
            </a:r>
          </a:p>
          <a:p>
            <a:r>
              <a:rPr lang="en-US" sz="2400" dirty="0"/>
              <a:t>Compacts/pebbles are then sintered to reach final state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08985-E12E-3C91-3402-81BCD592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793392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89218</TotalTime>
  <Words>1963</Words>
  <Application>Microsoft Macintosh PowerPoint</Application>
  <PresentationFormat>Widescreen</PresentationFormat>
  <Paragraphs>181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1_NCStateU-horizontal-left-logo</vt:lpstr>
      <vt:lpstr>NE 763: Advanced Reactor Materials</vt:lpstr>
      <vt:lpstr>Last Time</vt:lpstr>
      <vt:lpstr>TRISO Fuel Performance</vt:lpstr>
      <vt:lpstr>TRISO Fuel Performance</vt:lpstr>
      <vt:lpstr>Fuel Performance Codes</vt:lpstr>
      <vt:lpstr>SiC Failure</vt:lpstr>
      <vt:lpstr>TRISO Stresses</vt:lpstr>
      <vt:lpstr>TRISO Stresses</vt:lpstr>
      <vt:lpstr>Material Evolution</vt:lpstr>
      <vt:lpstr>Data needs</vt:lpstr>
      <vt:lpstr>Material Performance in He</vt:lpstr>
      <vt:lpstr>High Temperatures</vt:lpstr>
      <vt:lpstr>Flow and Impurities</vt:lpstr>
      <vt:lpstr>Reactor Pressure Vessels</vt:lpstr>
      <vt:lpstr>Graphite</vt:lpstr>
      <vt:lpstr>Graphite Oxidation Modes</vt:lpstr>
      <vt:lpstr>IHX Materials</vt:lpstr>
      <vt:lpstr>IHX Corrosion in VHTR</vt:lpstr>
      <vt:lpstr>Alloy 617 Stability</vt:lpstr>
      <vt:lpstr>Surface Oxide Stability</vt:lpstr>
      <vt:lpstr>He ‘Corrosion’ Summary</vt:lpstr>
      <vt:lpstr>Fabrication</vt:lpstr>
      <vt:lpstr>Fuel Kernel Fabrication</vt:lpstr>
      <vt:lpstr>Fuel Kernel Fabrication</vt:lpstr>
      <vt:lpstr>SiC (and PyC) Fabrication</vt:lpstr>
      <vt:lpstr>TRISO Fabrication</vt:lpstr>
      <vt:lpstr>Pebble Fabrication</vt:lpstr>
      <vt:lpstr>Compact Fabrication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205</cp:revision>
  <dcterms:created xsi:type="dcterms:W3CDTF">2019-12-09T16:44:02Z</dcterms:created>
  <dcterms:modified xsi:type="dcterms:W3CDTF">2026-09-01T19:25:53Z</dcterms:modified>
</cp:coreProperties>
</file>
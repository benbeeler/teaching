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9"/>
  </p:notesMasterIdLst>
  <p:sldIdLst>
    <p:sldId id="256" r:id="rId2"/>
    <p:sldId id="507" r:id="rId3"/>
    <p:sldId id="508" r:id="rId4"/>
    <p:sldId id="431" r:id="rId5"/>
    <p:sldId id="523" r:id="rId6"/>
    <p:sldId id="521" r:id="rId7"/>
    <p:sldId id="432" r:id="rId8"/>
    <p:sldId id="445" r:id="rId9"/>
    <p:sldId id="522" r:id="rId10"/>
    <p:sldId id="520" r:id="rId11"/>
    <p:sldId id="538" r:id="rId12"/>
    <p:sldId id="537" r:id="rId13"/>
    <p:sldId id="539" r:id="rId14"/>
    <p:sldId id="541" r:id="rId15"/>
    <p:sldId id="542" r:id="rId16"/>
    <p:sldId id="543" r:id="rId17"/>
    <p:sldId id="464" r:id="rId18"/>
    <p:sldId id="472" r:id="rId19"/>
    <p:sldId id="473" r:id="rId20"/>
    <p:sldId id="471" r:id="rId21"/>
    <p:sldId id="418" r:id="rId22"/>
    <p:sldId id="474" r:id="rId23"/>
    <p:sldId id="476" r:id="rId24"/>
    <p:sldId id="544" r:id="rId25"/>
    <p:sldId id="510" r:id="rId26"/>
    <p:sldId id="509" r:id="rId27"/>
    <p:sldId id="513" r:id="rId28"/>
    <p:sldId id="444" r:id="rId29"/>
    <p:sldId id="514" r:id="rId30"/>
    <p:sldId id="515" r:id="rId31"/>
    <p:sldId id="511" r:id="rId32"/>
    <p:sldId id="516" r:id="rId33"/>
    <p:sldId id="512" r:id="rId34"/>
    <p:sldId id="517" r:id="rId35"/>
    <p:sldId id="518" r:id="rId36"/>
    <p:sldId id="526" r:id="rId37"/>
    <p:sldId id="525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02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1600"/>
            </a:lvl3pPr>
            <a:lvl4pPr>
              <a:defRPr sz="18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tif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iff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280746"/>
            <a:ext cx="11183007" cy="3845418"/>
          </a:xfrm>
        </p:spPr>
        <p:txBody>
          <a:bodyPr/>
          <a:lstStyle/>
          <a:p>
            <a:r>
              <a:rPr lang="en-US" sz="2000" dirty="0"/>
              <a:t>Graphite has lots of texture and porosity</a:t>
            </a:r>
          </a:p>
          <a:p>
            <a:r>
              <a:rPr lang="en-US" sz="2000" dirty="0"/>
              <a:t>Thermal stress cracks form…</a:t>
            </a:r>
          </a:p>
          <a:p>
            <a:pPr lvl="1"/>
            <a:r>
              <a:rPr lang="en-US" sz="2000" dirty="0"/>
              <a:t>anisotropic CTE, Mrozowski cracks</a:t>
            </a:r>
          </a:p>
          <a:p>
            <a:r>
              <a:rPr lang="en-US" sz="2000" dirty="0"/>
              <a:t>Radiation induced shrinkage and turnaround… </a:t>
            </a:r>
          </a:p>
          <a:p>
            <a:pPr lvl="1"/>
            <a:r>
              <a:rPr lang="en-US" sz="2000" dirty="0"/>
              <a:t>interstitials cause </a:t>
            </a:r>
            <a:r>
              <a:rPr lang="en-US" sz="2000" i="1" dirty="0"/>
              <a:t>c</a:t>
            </a:r>
            <a:r>
              <a:rPr lang="en-US" sz="2000" dirty="0"/>
              <a:t> expansion and </a:t>
            </a:r>
            <a:r>
              <a:rPr lang="en-US" sz="2000" i="1" dirty="0"/>
              <a:t>a</a:t>
            </a:r>
            <a:r>
              <a:rPr lang="en-US" sz="2000" dirty="0"/>
              <a:t> contraction, vacancies cause </a:t>
            </a:r>
            <a:r>
              <a:rPr lang="en-US" sz="2000" i="1" dirty="0"/>
              <a:t>a</a:t>
            </a:r>
            <a:r>
              <a:rPr lang="en-US" sz="2000" dirty="0"/>
              <a:t> contraction</a:t>
            </a:r>
          </a:p>
          <a:p>
            <a:pPr lvl="1"/>
            <a:r>
              <a:rPr lang="en-US" sz="2000" dirty="0"/>
              <a:t>aligned porosity closes due to lattice expansion, results in net contraction</a:t>
            </a:r>
          </a:p>
          <a:p>
            <a:pPr lvl="1"/>
            <a:r>
              <a:rPr lang="en-US" sz="2000" dirty="0"/>
              <a:t>once porosity is closed, leads to net expansion (faster expansion in </a:t>
            </a:r>
            <a:r>
              <a:rPr lang="en-US" sz="2000" i="1" dirty="0"/>
              <a:t>c </a:t>
            </a:r>
            <a:r>
              <a:rPr lang="en-US" sz="2000" dirty="0"/>
              <a:t>than contraction in </a:t>
            </a:r>
            <a:r>
              <a:rPr lang="en-US" sz="2000" i="1" dirty="0"/>
              <a:t>a</a:t>
            </a:r>
            <a:r>
              <a:rPr lang="en-US" sz="2000" dirty="0"/>
              <a:t>)</a:t>
            </a:r>
          </a:p>
          <a:p>
            <a:r>
              <a:rPr lang="en-US" sz="2000" dirty="0"/>
              <a:t>Graphite thermal conductivity…</a:t>
            </a:r>
          </a:p>
          <a:p>
            <a:r>
              <a:rPr lang="en-US" sz="2000" dirty="0"/>
              <a:t>Irradiation creep is fundamentally important, allows stress relaxation of graphite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28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780B-4F37-014A-B881-332E6FE53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E90B5-3B3E-6D4E-9A88-F35D4AD801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Fuel performance models need to be able to account for numerous inter-related phenomena that affect temperatures, stresses, and failure of the material systems</a:t>
            </a:r>
          </a:p>
          <a:p>
            <a:r>
              <a:rPr lang="en-US" sz="2400" dirty="0"/>
              <a:t>Must be multiphysics, incorporating thermodynamics, chemistry, kinetics, microstructure, mechanics, etc.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932237-2A23-254D-AC64-88F6B1FEDB9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Solid fission product swelling</a:t>
            </a:r>
          </a:p>
          <a:p>
            <a:r>
              <a:rPr lang="en-US" sz="2000" dirty="0"/>
              <a:t>Gaseous fission product swelling</a:t>
            </a:r>
          </a:p>
          <a:p>
            <a:r>
              <a:rPr lang="en-US" sz="2000" dirty="0"/>
              <a:t>Densification</a:t>
            </a:r>
          </a:p>
          <a:p>
            <a:r>
              <a:rPr lang="en-US" sz="2000" dirty="0"/>
              <a:t>Thermal conductivity</a:t>
            </a:r>
          </a:p>
          <a:p>
            <a:r>
              <a:rPr lang="en-US" sz="2000" dirty="0"/>
              <a:t>Fission gas release</a:t>
            </a:r>
          </a:p>
          <a:p>
            <a:r>
              <a:rPr lang="en-US" sz="2000" dirty="0"/>
              <a:t>CO production</a:t>
            </a:r>
          </a:p>
          <a:p>
            <a:r>
              <a:rPr lang="en-US" sz="2000" dirty="0"/>
              <a:t>Oxygen transport</a:t>
            </a:r>
          </a:p>
          <a:p>
            <a:r>
              <a:rPr lang="en-US" sz="2000" dirty="0" err="1"/>
              <a:t>PyC</a:t>
            </a:r>
            <a:r>
              <a:rPr lang="en-US" sz="2000" dirty="0"/>
              <a:t> layer dimensional change</a:t>
            </a:r>
          </a:p>
          <a:p>
            <a:r>
              <a:rPr lang="en-US" sz="2000" dirty="0"/>
              <a:t>Kernel migration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failure</a:t>
            </a:r>
          </a:p>
          <a:p>
            <a:r>
              <a:rPr lang="en-US" sz="2000" dirty="0"/>
              <a:t>Fission product attack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D5651-C604-B749-AE17-A8D94D40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37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0B719-A91C-8A4B-A08A-DC5E07720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Performance Codes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75D6F6-6132-0B44-9370-097CE1EBF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9600" y="1716847"/>
            <a:ext cx="7018116" cy="514404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5951D-83E5-154F-8498-7422E658D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7" name="Picture 6" descr="Tangential stress versus neutron fluence for different fuel performance codes">
            <a:extLst>
              <a:ext uri="{FF2B5EF4-FFF2-40B4-BE49-F238E27FC236}">
                <a16:creationId xmlns:a16="http://schemas.microsoft.com/office/drawing/2014/main" id="{DC25BB7B-DBDA-6D4F-87A3-B02F2A17B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992" y="1775244"/>
            <a:ext cx="2952107" cy="2546546"/>
          </a:xfrm>
          <a:prstGeom prst="rect">
            <a:avLst/>
          </a:prstGeom>
        </p:spPr>
      </p:pic>
      <p:pic>
        <p:nvPicPr>
          <p:cNvPr id="8" name="Picture 7" descr="Predicted gas pressure versus burnup for different fuel performance codes">
            <a:extLst>
              <a:ext uri="{FF2B5EF4-FFF2-40B4-BE49-F238E27FC236}">
                <a16:creationId xmlns:a16="http://schemas.microsoft.com/office/drawing/2014/main" id="{41F65EDD-991E-6347-BACF-FC8B93A2D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300" y="4321789"/>
            <a:ext cx="2844800" cy="253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230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11702-9239-3547-8D04-A2E911AC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Failure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811CC-2C44-EB44-8E77-AF78A5AB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55129" cy="4157663"/>
          </a:xfrm>
        </p:spPr>
        <p:txBody>
          <a:bodyPr/>
          <a:lstStyle/>
          <a:p>
            <a:r>
              <a:rPr lang="en-US" sz="2400" dirty="0"/>
              <a:t>The dominant 1D failure mechanism for TRISO fuel particles involves pressure vessel failure, where the </a:t>
            </a:r>
            <a:r>
              <a:rPr lang="en-US" sz="2400" dirty="0" err="1"/>
              <a:t>SiC</a:t>
            </a:r>
            <a:r>
              <a:rPr lang="en-US" sz="2400" dirty="0"/>
              <a:t> layer develops a through-thickness crack resulting from a tensile stress that exceeds the fracture strength of the material</a:t>
            </a:r>
          </a:p>
          <a:p>
            <a:r>
              <a:rPr lang="en-US" sz="2400" dirty="0"/>
              <a:t>Modern approaches to pressure vessel failure explicitly calculate separate stresses and through-layer crack probabilities for the </a:t>
            </a:r>
            <a:r>
              <a:rPr lang="en-US" sz="2400" dirty="0" err="1"/>
              <a:t>SiC</a:t>
            </a:r>
            <a:r>
              <a:rPr lang="en-US" sz="2400" dirty="0"/>
              <a:t> layer and each </a:t>
            </a:r>
            <a:r>
              <a:rPr lang="en-US" sz="2400" dirty="0" err="1"/>
              <a:t>PyC</a:t>
            </a:r>
            <a:r>
              <a:rPr lang="en-US" sz="2400" dirty="0"/>
              <a:t> layer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 descr="Schematic of the 1D concept of SiC failure">
            <a:extLst>
              <a:ext uri="{FF2B5EF4-FFF2-40B4-BE49-F238E27FC236}">
                <a16:creationId xmlns:a16="http://schemas.microsoft.com/office/drawing/2014/main" id="{6250C5F5-30E2-C542-BE86-D0E81B6880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73314" y="3017882"/>
            <a:ext cx="4000500" cy="18923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B060A3-A068-EC47-97C2-649D4BE21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236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A897-E5C3-3B47-A99D-C6129747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BCACA-CE4D-A846-9BF1-2E0659021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598485" cy="4157663"/>
          </a:xfrm>
        </p:spPr>
        <p:txBody>
          <a:bodyPr/>
          <a:lstStyle/>
          <a:p>
            <a:r>
              <a:rPr lang="en-US" sz="2000" dirty="0"/>
              <a:t>The irradiation causes the kernel to swell and the buffer layer to shrink, thereby modifying the internal void volume available to the fission and reaction gases</a:t>
            </a:r>
          </a:p>
          <a:p>
            <a:r>
              <a:rPr lang="en-US" sz="2000" dirty="0"/>
              <a:t>The porosity of the buffer leads to the gas pressure being the only force on the load-bearing layers</a:t>
            </a:r>
          </a:p>
          <a:p>
            <a:r>
              <a:rPr lang="en-US" sz="2000" dirty="0"/>
              <a:t>If the </a:t>
            </a:r>
            <a:r>
              <a:rPr lang="en-US" sz="2000" dirty="0" err="1"/>
              <a:t>IPyC</a:t>
            </a:r>
            <a:r>
              <a:rPr lang="en-US" sz="2000" dirty="0"/>
              <a:t> and </a:t>
            </a:r>
            <a:r>
              <a:rPr lang="en-US" sz="2000" dirty="0" err="1"/>
              <a:t>OPyC</a:t>
            </a:r>
            <a:r>
              <a:rPr lang="en-US" sz="2000" dirty="0"/>
              <a:t> were absent, the gases produced in the fission process would simply stress the </a:t>
            </a:r>
            <a:r>
              <a:rPr lang="en-US" sz="2000" dirty="0" err="1"/>
              <a:t>SiC</a:t>
            </a:r>
            <a:r>
              <a:rPr lang="en-US" sz="2000" dirty="0"/>
              <a:t> layer and, if the pressure were high enough, cause it to fail</a:t>
            </a:r>
          </a:p>
          <a:p>
            <a:r>
              <a:rPr lang="en-US" sz="2000" dirty="0"/>
              <a:t>However, these tangential stresses are reduced by the presence of the two </a:t>
            </a:r>
            <a:r>
              <a:rPr lang="en-US" sz="2000" dirty="0" err="1"/>
              <a:t>PyC</a:t>
            </a:r>
            <a:r>
              <a:rPr lang="en-US" sz="2000" dirty="0"/>
              <a:t> layers because; under unrestrained conditions they would shrink during irradiation</a:t>
            </a:r>
          </a:p>
          <a:p>
            <a:endParaRPr lang="en-US" sz="2000" dirty="0"/>
          </a:p>
        </p:txBody>
      </p:sp>
      <p:pic>
        <p:nvPicPr>
          <p:cNvPr id="5" name="Content Placeholder 4" descr="2D symmetrical TRISO particle showing different stress states. ">
            <a:extLst>
              <a:ext uri="{FF2B5EF4-FFF2-40B4-BE49-F238E27FC236}">
                <a16:creationId xmlns:a16="http://schemas.microsoft.com/office/drawing/2014/main" id="{913DDFB2-9F22-C143-9533-98CC137911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91142" y="1791346"/>
            <a:ext cx="2350600" cy="46467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203A0-02D3-2544-AC73-C1B898EC4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3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4386" cy="4157663"/>
          </a:xfrm>
        </p:spPr>
        <p:txBody>
          <a:bodyPr/>
          <a:lstStyle/>
          <a:p>
            <a:r>
              <a:rPr lang="en-US" sz="2000" dirty="0" err="1"/>
              <a:t>PyC</a:t>
            </a:r>
            <a:r>
              <a:rPr lang="en-US" sz="2000" dirty="0"/>
              <a:t> shrinkage will be largely restrained by the </a:t>
            </a:r>
            <a:r>
              <a:rPr lang="en-US" sz="2000" dirty="0" err="1"/>
              <a:t>SiC</a:t>
            </a:r>
            <a:r>
              <a:rPr lang="en-US" sz="2000" dirty="0"/>
              <a:t> layer, and tangential stresses will be generated in both </a:t>
            </a:r>
            <a:r>
              <a:rPr lang="en-US" sz="2000" dirty="0" err="1"/>
              <a:t>PyC</a:t>
            </a:r>
            <a:r>
              <a:rPr lang="en-US" sz="2000" dirty="0"/>
              <a:t> layers, with radial (inward) acting forces imposed on the two surfaces of the </a:t>
            </a:r>
            <a:r>
              <a:rPr lang="en-US" sz="2000" dirty="0" err="1"/>
              <a:t>SiC</a:t>
            </a:r>
            <a:r>
              <a:rPr lang="en-US" sz="2000" dirty="0"/>
              <a:t> layer</a:t>
            </a:r>
          </a:p>
          <a:p>
            <a:r>
              <a:rPr lang="en-US" sz="2000" dirty="0"/>
              <a:t>In practice, these tangential stresses in the two </a:t>
            </a:r>
            <a:r>
              <a:rPr lang="en-US" sz="2000" dirty="0" err="1"/>
              <a:t>PyC</a:t>
            </a:r>
            <a:r>
              <a:rPr lang="en-US" sz="2000" dirty="0"/>
              <a:t> layers will attain a quasi-equilibrium stress state because their shrinkage is counter-balanced by irradiation creep</a:t>
            </a:r>
          </a:p>
          <a:p>
            <a:r>
              <a:rPr lang="en-US" sz="2000" dirty="0"/>
              <a:t>The </a:t>
            </a:r>
            <a:r>
              <a:rPr lang="en-US" sz="2000" dirty="0" err="1"/>
              <a:t>SiC</a:t>
            </a:r>
            <a:r>
              <a:rPr lang="en-US" sz="2000" dirty="0"/>
              <a:t> elastic modulus is at least an order of magnitude greater than that of </a:t>
            </a:r>
            <a:r>
              <a:rPr lang="en-US" sz="2000" dirty="0" err="1"/>
              <a:t>PyC</a:t>
            </a:r>
            <a:r>
              <a:rPr lang="en-US" sz="2000" dirty="0"/>
              <a:t> and thus, the dimensional changes and creep strains of </a:t>
            </a:r>
            <a:r>
              <a:rPr lang="en-US" sz="2000" dirty="0" err="1"/>
              <a:t>SiC</a:t>
            </a:r>
            <a:r>
              <a:rPr lang="en-US" sz="2000" dirty="0"/>
              <a:t> are comparatively much smaller than for </a:t>
            </a:r>
            <a:r>
              <a:rPr lang="en-US" sz="2000" dirty="0" err="1"/>
              <a:t>PyC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Tangential stresses in IPyC, SiC, and OPyC vs time">
            <a:extLst>
              <a:ext uri="{FF2B5EF4-FFF2-40B4-BE49-F238E27FC236}">
                <a16:creationId xmlns:a16="http://schemas.microsoft.com/office/drawing/2014/main" id="{69C61976-536B-4D48-BE6C-7DA7497985B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3210" y="3700631"/>
            <a:ext cx="2950328" cy="31573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2D7B-9D19-4241-AA4F-39DB89599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9" name="Picture 8" descr="Predicted gas pressure versus burnup for different fuel performance codes">
            <a:extLst>
              <a:ext uri="{FF2B5EF4-FFF2-40B4-BE49-F238E27FC236}">
                <a16:creationId xmlns:a16="http://schemas.microsoft.com/office/drawing/2014/main" id="{594D1843-2CEB-A58A-FEEA-67795F648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837" y="835502"/>
            <a:ext cx="3060604" cy="272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7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angential stresses in a TRISO particle as predicted by BISON for a non-symmetrical particle.">
            <a:extLst>
              <a:ext uri="{FF2B5EF4-FFF2-40B4-BE49-F238E27FC236}">
                <a16:creationId xmlns:a16="http://schemas.microsoft.com/office/drawing/2014/main" id="{5C63EB93-8FA0-A9FE-A3C9-0FAC390E5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191" y="2167905"/>
            <a:ext cx="2259000" cy="4371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610916-646C-414F-90D0-19B6FDCA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9FE5-6844-D649-992C-C937AE14B4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Ideally, would be able to model and describe 3D modes of failure</a:t>
            </a:r>
          </a:p>
          <a:p>
            <a:pPr lvl="1"/>
            <a:r>
              <a:rPr lang="en-US" sz="2400" dirty="0"/>
              <a:t>Shrinkage cracks within the </a:t>
            </a:r>
            <a:r>
              <a:rPr lang="en-US" sz="2400" dirty="0" err="1"/>
              <a:t>IPyC</a:t>
            </a:r>
            <a:r>
              <a:rPr lang="en-US" sz="2400" dirty="0"/>
              <a:t> layer</a:t>
            </a:r>
          </a:p>
          <a:p>
            <a:pPr lvl="1"/>
            <a:r>
              <a:rPr lang="en-US" sz="2400" dirty="0" err="1"/>
              <a:t>IPyC</a:t>
            </a:r>
            <a:r>
              <a:rPr lang="en-US" sz="2400" dirty="0"/>
              <a:t>/</a:t>
            </a:r>
            <a:r>
              <a:rPr lang="en-US" sz="2400" dirty="0" err="1"/>
              <a:t>SiC</a:t>
            </a:r>
            <a:r>
              <a:rPr lang="en-US" sz="2400" dirty="0"/>
              <a:t> debonding</a:t>
            </a:r>
          </a:p>
          <a:p>
            <a:pPr lvl="1"/>
            <a:r>
              <a:rPr lang="en-US" sz="2400" dirty="0"/>
              <a:t>Particle </a:t>
            </a:r>
            <a:r>
              <a:rPr lang="en-US" sz="2400" dirty="0" err="1"/>
              <a:t>asphericity</a:t>
            </a:r>
            <a:endParaRPr lang="en-US" sz="2400" dirty="0"/>
          </a:p>
          <a:p>
            <a:pPr lvl="1"/>
            <a:r>
              <a:rPr lang="en-US" sz="2400" dirty="0"/>
              <a:t>Kernel migration</a:t>
            </a:r>
          </a:p>
          <a:p>
            <a:pPr lvl="1"/>
            <a:r>
              <a:rPr lang="en-US" sz="2400" dirty="0" err="1"/>
              <a:t>SiC</a:t>
            </a:r>
            <a:r>
              <a:rPr lang="en-US" sz="2400" dirty="0"/>
              <a:t> coating thinning</a:t>
            </a:r>
          </a:p>
          <a:p>
            <a:pPr lvl="1"/>
            <a:r>
              <a:rPr lang="en-US" sz="2400" dirty="0"/>
              <a:t>Fission product attack</a:t>
            </a:r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DD4B38D-DCF4-8145-A600-A954E567C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256031" y="2007454"/>
            <a:ext cx="1875221" cy="24936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CB2CE3-A0AA-6D41-9060-FA02DDE21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6BD47-B631-9242-BDEC-A019BEEE5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0552" y="4291136"/>
            <a:ext cx="2673187" cy="4588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C7416B-FC44-1D42-94BA-AFF2A062D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777" y="4837142"/>
            <a:ext cx="4237685" cy="2889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B6E9C0-D8DE-5E49-8893-FF1703632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1597" y="2405821"/>
            <a:ext cx="3836805" cy="18118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2098D0-AD4D-FF4E-8946-D4AB22395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421" y="5224313"/>
            <a:ext cx="3851448" cy="4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5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DCB0-59AC-C146-837C-E3CF7623F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9A94-E052-3847-9CA7-EA64A1E32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945" y="1968503"/>
            <a:ext cx="6074977" cy="4157663"/>
          </a:xfrm>
        </p:spPr>
        <p:txBody>
          <a:bodyPr/>
          <a:lstStyle/>
          <a:p>
            <a:r>
              <a:rPr lang="en-US" sz="2000" dirty="0"/>
              <a:t>There are a number of areas where we lack requisite data, either behavioral or fundamental properties, in order to accurately describe TRISO particle evolution</a:t>
            </a:r>
          </a:p>
          <a:p>
            <a:r>
              <a:rPr lang="en-US" sz="2000" dirty="0"/>
              <a:t>High-quality high burnup data on TRISO particles is generally lacking, which would enable benchmarking of fuel performance models</a:t>
            </a:r>
          </a:p>
          <a:p>
            <a:r>
              <a:rPr lang="en-US" sz="2000" dirty="0"/>
              <a:t>Uncertainties and unknowns in fundamental material properties are also abundant, especially with regard to how properties vary as functions of temperature, fast fluence, and burnup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2D5413-5D6E-8940-9D59-28F0761BD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6922" y="1968503"/>
            <a:ext cx="5412829" cy="4157663"/>
          </a:xfrm>
        </p:spPr>
        <p:txBody>
          <a:bodyPr/>
          <a:lstStyle/>
          <a:p>
            <a:r>
              <a:rPr lang="en-US" sz="2000" dirty="0"/>
              <a:t>There is significant uncertainty in the irradiation creep constant, the value of Poisson’s ratio in irradiation creep models, and the thermal conductivity of </a:t>
            </a:r>
            <a:r>
              <a:rPr lang="en-US" sz="2000" dirty="0" err="1"/>
              <a:t>PyC</a:t>
            </a:r>
            <a:endParaRPr lang="en-US" sz="2000" dirty="0"/>
          </a:p>
          <a:p>
            <a:r>
              <a:rPr lang="en-US" sz="2000" dirty="0"/>
              <a:t>Predictions for the chemical attack of </a:t>
            </a:r>
            <a:r>
              <a:rPr lang="en-US" sz="2000" dirty="0" err="1"/>
              <a:t>SiC</a:t>
            </a:r>
            <a:r>
              <a:rPr lang="en-US" sz="2000" dirty="0"/>
              <a:t> require effective diffusion coefficients of key fission products in various fuel materials, which are unknown</a:t>
            </a:r>
          </a:p>
          <a:p>
            <a:r>
              <a:rPr lang="en-US" sz="2000" dirty="0"/>
              <a:t>Fuel properties are the least well understood, especially as the fuel evolves during operation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5F44C-7C57-2442-A95A-C8936B36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18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Material Performance in He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619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0768-B3BB-3497-0C5E-0AE390B4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Temperatures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DF61A-9542-039A-13FA-BE026D4543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Current designs target 750 C coolant outlet temperatures</a:t>
            </a:r>
          </a:p>
          <a:p>
            <a:r>
              <a:rPr lang="en-US" sz="2200" dirty="0"/>
              <a:t>Process heat requirements may require outlet temperatures up to 950C</a:t>
            </a:r>
          </a:p>
          <a:p>
            <a:r>
              <a:rPr lang="en-US" sz="2200" dirty="0"/>
              <a:t>The most critical metallic component in the VHTR system is the intermediate heat exchanger (IHX)</a:t>
            </a:r>
          </a:p>
          <a:p>
            <a:r>
              <a:rPr lang="en-US" sz="2200" dirty="0"/>
              <a:t>The high temperatures and long duration of operation restrict IHX material selection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A76A75-4A4F-9404-66BC-F56F7E02E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D168A4-EE58-E1C1-F260-B0B426E8F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517" y="2353550"/>
            <a:ext cx="5999905" cy="31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31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51BEE-3769-C666-CA99-3063DF86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and Impurities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C277E-C142-9E98-336F-1F5CA04305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583772" cy="4190437"/>
          </a:xfrm>
        </p:spPr>
        <p:txBody>
          <a:bodyPr/>
          <a:lstStyle/>
          <a:p>
            <a:r>
              <a:rPr lang="en-US" sz="2200" dirty="0"/>
              <a:t>In the reactors under consideration, the gas pressure is typically between 5 and 7 MPa</a:t>
            </a:r>
          </a:p>
          <a:p>
            <a:r>
              <a:rPr lang="en-US" sz="2200" dirty="0"/>
              <a:t>The coolant is circulated at high velocity, sometimes over 100 m/s</a:t>
            </a:r>
          </a:p>
          <a:p>
            <a:r>
              <a:rPr lang="en-US" sz="2200" dirty="0"/>
              <a:t>Operating experience has shown that the primary He coolant tends to contain H2O, H2, N2, CO, CO2, and CH4 at concentrations of a few parts per million</a:t>
            </a:r>
          </a:p>
          <a:p>
            <a:r>
              <a:rPr lang="en-US" sz="2200" dirty="0"/>
              <a:t>These are the primary drivers of corrosion in He-cooled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4DCA6-5DD1-D4E5-3713-F325C340E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/>
          <a:p>
            <a:r>
              <a:rPr lang="en-US" sz="2200" dirty="0"/>
              <a:t>Reactor systems need to have extensive gas cleanup systems associated with the helium coolant flow to keep the total impurity levels in the helium below typically 10 ppm</a:t>
            </a:r>
          </a:p>
          <a:p>
            <a:r>
              <a:rPr lang="en-US" sz="2200" dirty="0"/>
              <a:t>Active control should be maintained on the H2O and CO concentrations to reduce oxidation of the graphite</a:t>
            </a:r>
          </a:p>
          <a:p>
            <a:r>
              <a:rPr lang="en-US" sz="2200" dirty="0"/>
              <a:t>Molecular sieves are effective in capturing most of the gaseous impurities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0A1E51-1FAC-FE5C-9A56-333C5CE0D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83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97DB-225E-4F72-1CF7-4D77D0E3A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F17F7-5928-51A7-F778-288E51E32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92326"/>
            <a:ext cx="10972800" cy="2690800"/>
          </a:xfrm>
        </p:spPr>
        <p:txBody>
          <a:bodyPr/>
          <a:lstStyle/>
          <a:p>
            <a:r>
              <a:rPr lang="en-US" sz="2200" dirty="0"/>
              <a:t>The desire for higher temperature operation led to selection of nickel-based alloys</a:t>
            </a:r>
          </a:p>
          <a:p>
            <a:r>
              <a:rPr lang="en-US" sz="2200" dirty="0"/>
              <a:t>These alloys rely on the formation of a chromia layer for long-term protection from environmental degradation</a:t>
            </a:r>
          </a:p>
          <a:p>
            <a:r>
              <a:rPr lang="en-US" sz="2200" dirty="0"/>
              <a:t>The alloys are primarily solid-solution strengthened with carbides on the grain boundaries to improve creep resistance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A34B6-F3BB-BF1E-B80B-F38C433F7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8ECA8D-E27D-33C5-384E-24AE6D744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776" y="4477871"/>
            <a:ext cx="9976447" cy="17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816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9BE0-5E04-B36A-9649-114C470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Corrosion in VHTR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C42B3-90A3-1D1A-1C61-DE27C50310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Interplay between the alloy surface, temperature, and gas composition determines whether corrosive oxidation, carburization, or decarburization occur</a:t>
            </a:r>
          </a:p>
          <a:p>
            <a:r>
              <a:rPr lang="en-US" sz="2400" dirty="0"/>
              <a:t>Carburization is associated with low-temperature embrittlement, and decarburization is linked to reduced creep rupture strength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F0F03-97C4-CC7A-98CA-51F2D8AE371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400" dirty="0"/>
              <a:t>Ideally, a continuous self-healing, impermeable passivating oxide layer is needed to establish the most corrosion resistant alloy</a:t>
            </a:r>
          </a:p>
          <a:p>
            <a:r>
              <a:rPr lang="en-US" sz="2400" dirty="0"/>
              <a:t>There is a critical temperature above which the oxide layer is unstable, and CO production will occur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72DC3-15EC-C3D7-91A8-B85B2F5B2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EBC78-E707-1BD1-22DA-2116127DF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350" y="5332132"/>
            <a:ext cx="37465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53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26944-4171-0AE3-0F95-EB623E95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Alloy 617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2B45C-6011-0BA6-8B12-20929BCDC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66711"/>
            <a:ext cx="5386917" cy="3951288"/>
          </a:xfrm>
        </p:spPr>
        <p:txBody>
          <a:bodyPr/>
          <a:lstStyle/>
          <a:p>
            <a:r>
              <a:rPr lang="en-US" sz="2200" dirty="0"/>
              <a:t>Alloy 617 is the leading candidate for use in the VHTR heat exchangers because it has the highest creep strength of the solid-solution alloys under consideration for temperatures above 850C</a:t>
            </a:r>
          </a:p>
          <a:p>
            <a:r>
              <a:rPr lang="en-US" sz="2200" dirty="0"/>
              <a:t>Five conditions: I – strong reduction; II – decarburization; III – stable external oxide; IV – mixed surface oxide and carbide; and V – strong internal and external carburization</a:t>
            </a:r>
          </a:p>
          <a:p>
            <a:r>
              <a:rPr lang="en-US" sz="2200" dirty="0"/>
              <a:t>Zone 3 is optimal for stability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2DDA221-C466-4ECD-76C3-06285E3F956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192838" y="2209409"/>
            <a:ext cx="5389562" cy="388221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C4B35-D535-71C7-AE36-5A4A549F7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82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Fabrication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2DAA01-5B2D-5545-A184-0A99F36A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6BD0F-ABBC-C14D-BC96-77BE126A748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5855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DC18E-21BC-424E-A832-578210A8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Kernel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048BD-3114-A840-9F80-2E776DC158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sol–gel technique for kernel microsphere preparation is based on the following two chemical reactions starting from U3O8 powder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237FFF-9AF3-C348-961F-60C68AC49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(NH4)2U2O7 (ammonium di-</a:t>
            </a:r>
            <a:r>
              <a:rPr lang="en-US" sz="2400" dirty="0" err="1"/>
              <a:t>uranate</a:t>
            </a:r>
            <a:r>
              <a:rPr lang="en-US" sz="2400" dirty="0"/>
              <a:t> – ADU) is converted to UO2 by sintering in hydrogen gas</a:t>
            </a:r>
          </a:p>
          <a:p>
            <a:r>
              <a:rPr lang="en-US" sz="2400" dirty="0"/>
              <a:t>For the production of UCO kernels, carbon black is added to the broth and the sintering is performed in CO gas to ensure adequate C/O stoichiometry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9D937-1F47-1840-B3B3-87CEC0F9671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1494" y="4047334"/>
            <a:ext cx="4481012" cy="164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77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5BB59-82B3-CD4F-8B17-4D6E6CBC7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Kernel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2271-FB6C-1A41-8552-BBD956A8F4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275755" cy="4157663"/>
          </a:xfrm>
        </p:spPr>
        <p:txBody>
          <a:bodyPr/>
          <a:lstStyle/>
          <a:p>
            <a:r>
              <a:rPr lang="en-US" sz="2400" dirty="0"/>
              <a:t>The mechanical strength of the coated layers depends on their thickness and sphericity, and thus strongly depend on the diameter and sphericity of the kernels</a:t>
            </a:r>
          </a:p>
          <a:p>
            <a:r>
              <a:rPr lang="en-US" sz="2400" dirty="0"/>
              <a:t>Vibrating nozzles from which droplets are emitted with high speed were developed for uniform and spherical  kernel fabrication</a:t>
            </a:r>
          </a:p>
          <a:p>
            <a:r>
              <a:rPr lang="en-US" sz="2400" dirty="0"/>
              <a:t>A process is applied to prevent the deformation of droplets while they are landing on the ammonia water, where droplets are solidified while falling in ammonia gas blown against them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9A2651-D3FB-4649-BBDB-04B5C455AB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22098" y="1968503"/>
            <a:ext cx="3360302" cy="415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764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CE1C-A406-4245-BF8B-390439F7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(and </a:t>
            </a:r>
            <a:r>
              <a:rPr lang="en-US" dirty="0" err="1"/>
              <a:t>PyC</a:t>
            </a:r>
            <a:r>
              <a:rPr lang="en-US" dirty="0"/>
              <a:t>)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A5BE6-EFC3-FA4A-98A4-32E350186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329544" cy="4157663"/>
          </a:xfrm>
        </p:spPr>
        <p:txBody>
          <a:bodyPr/>
          <a:lstStyle/>
          <a:p>
            <a:r>
              <a:rPr lang="en-US" sz="2400" dirty="0"/>
              <a:t>The coating technology of both the </a:t>
            </a:r>
            <a:r>
              <a:rPr lang="en-US" sz="2400" dirty="0" err="1"/>
              <a:t>SiC</a:t>
            </a:r>
            <a:r>
              <a:rPr lang="en-US" sz="2400" dirty="0"/>
              <a:t> and </a:t>
            </a:r>
            <a:r>
              <a:rPr lang="en-US" sz="2400" dirty="0" err="1"/>
              <a:t>PyC</a:t>
            </a:r>
            <a:r>
              <a:rPr lang="en-US" sz="2400" dirty="0"/>
              <a:t> layers involves a fluidization of the kernel microsphere bed and chemical vapor deposition (CVD) coating</a:t>
            </a:r>
          </a:p>
          <a:p>
            <a:r>
              <a:rPr lang="en-US" sz="2400" dirty="0"/>
              <a:t>TRISO coating process is divided into four coating processes for the buffer, </a:t>
            </a:r>
            <a:r>
              <a:rPr lang="en-US" sz="2400" dirty="0" err="1"/>
              <a:t>IPyC</a:t>
            </a:r>
            <a:r>
              <a:rPr lang="en-US" sz="2400" dirty="0"/>
              <a:t>, </a:t>
            </a:r>
            <a:r>
              <a:rPr lang="en-US" sz="2400" dirty="0" err="1"/>
              <a:t>SiC</a:t>
            </a:r>
            <a:r>
              <a:rPr lang="en-US" sz="2400" dirty="0"/>
              <a:t>, and final </a:t>
            </a:r>
            <a:r>
              <a:rPr lang="en-US" sz="2400" dirty="0" err="1"/>
              <a:t>OPyC</a:t>
            </a:r>
            <a:r>
              <a:rPr lang="en-US" sz="2400" dirty="0"/>
              <a:t> layers</a:t>
            </a:r>
          </a:p>
          <a:p>
            <a:r>
              <a:rPr lang="en-US" sz="2400" dirty="0"/>
              <a:t>A specific mixture of gases is used for the deposition of each layer</a:t>
            </a:r>
          </a:p>
          <a:p>
            <a:pPr lvl="1"/>
            <a:r>
              <a:rPr lang="en-US" sz="2000" dirty="0"/>
              <a:t>buffer: C2H2+Ar; </a:t>
            </a:r>
            <a:r>
              <a:rPr lang="en-US" sz="2000" dirty="0" err="1"/>
              <a:t>IPyC</a:t>
            </a:r>
            <a:r>
              <a:rPr lang="en-US" sz="2000" dirty="0"/>
              <a:t>/</a:t>
            </a:r>
            <a:r>
              <a:rPr lang="en-US" sz="2000" dirty="0" err="1"/>
              <a:t>OPyC</a:t>
            </a:r>
            <a:r>
              <a:rPr lang="en-US" sz="2000" dirty="0"/>
              <a:t>: C3H6+Ar; </a:t>
            </a:r>
            <a:r>
              <a:rPr lang="en-US" sz="2000" dirty="0" err="1"/>
              <a:t>SiC</a:t>
            </a:r>
            <a:r>
              <a:rPr lang="en-US" sz="2000" dirty="0"/>
              <a:t>: CH3SiCl3+H2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A1D77F-CB51-D340-9468-D00A134974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4189" y="2054561"/>
            <a:ext cx="3558211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59559-0D12-6544-B186-154731A95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4961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6149-D560-9341-9E9D-1597DEE93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3FF7C-E468-A24E-B8F4-B316761092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Rigorous control is applied at every step of the fabrication process to produce high-quality, very low-defect fuel</a:t>
            </a:r>
          </a:p>
          <a:p>
            <a:r>
              <a:rPr lang="en-US" dirty="0"/>
              <a:t>Defect levels are typically on the order of one defect per 100,000 particles</a:t>
            </a:r>
          </a:p>
          <a:p>
            <a:r>
              <a:rPr lang="en-US" dirty="0"/>
              <a:t>Specifications are placed on the diameters, thicknesses, and densities of the kernel and layers; the sphericity of the particle; the stoichiometry of the kernel; the isotropy of the carbon; and the acceptable defect levels for each layer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67E40-61A7-8F43-908B-B9A88B33AD7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741" y="1935726"/>
            <a:ext cx="4105534" cy="47125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093C0-4309-8140-AF1D-BE379E13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B94E0-5E06-6D42-A41D-50D581B40900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08944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FFBD-4B43-B646-8BBE-43187C0F0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Pebble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2A14-F34A-D44F-9A74-2171B578C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156961" cy="4157663"/>
          </a:xfrm>
        </p:spPr>
        <p:txBody>
          <a:bodyPr/>
          <a:lstStyle/>
          <a:p>
            <a:r>
              <a:rPr lang="en-US" sz="2200" dirty="0"/>
              <a:t>The fuel element of the pebble bed type HTGR is a spherical fuel element</a:t>
            </a:r>
          </a:p>
          <a:p>
            <a:r>
              <a:rPr lang="en-US" sz="2200" dirty="0"/>
              <a:t>The coated particles are overcoated with a layer of matrix graphite powder (MGP) and pressed to the core of a fuel sphere</a:t>
            </a:r>
          </a:p>
          <a:p>
            <a:r>
              <a:rPr lang="en-US" sz="2200" dirty="0"/>
              <a:t>Then, an additional 5-mm layer of matrix graphite material is added to form a ‘nonfuel’ zone</a:t>
            </a:r>
          </a:p>
          <a:p>
            <a:r>
              <a:rPr lang="en-US" sz="2200" dirty="0"/>
              <a:t>The resulting fuel sphere gets its final diameter by a machining process and is then carbonized and annealed at 2000C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8F8BF5-6560-6F49-B4BA-58E7B5BE3A6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6254" y="1968500"/>
            <a:ext cx="5002956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60499-D93C-FD48-BC71-083872726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7937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FFBD-4B43-B646-8BBE-43187C0F0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Compact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2A14-F34A-D44F-9A74-2171B578C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372575" cy="4157663"/>
          </a:xfrm>
        </p:spPr>
        <p:txBody>
          <a:bodyPr/>
          <a:lstStyle/>
          <a:p>
            <a:r>
              <a:rPr lang="en-US" sz="2200" dirty="0"/>
              <a:t>HTGR fuel elements are graphite compacts stacked into a graphite core</a:t>
            </a:r>
          </a:p>
          <a:p>
            <a:r>
              <a:rPr lang="en-US" sz="2200" dirty="0"/>
              <a:t>To form compacts, coated fuel particles are overcoated with the MGP and warm-pressed to make the annular cylinder of green compacts</a:t>
            </a:r>
          </a:p>
          <a:p>
            <a:r>
              <a:rPr lang="en-US" sz="2200" dirty="0"/>
              <a:t>Green compacts are heat treated for carbonization at 800C and then sintered at 1800C to make fuel compacts</a:t>
            </a:r>
          </a:p>
          <a:p>
            <a:r>
              <a:rPr lang="en-US" sz="2200" dirty="0"/>
              <a:t>In order to decrease the failure fraction of coating layers, it is necessary to disperse coated fuel particles in a green compact as uniformly as possible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CABB868-CDDE-2445-A0A3-4C4E80D0DF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99312" y="2054564"/>
            <a:ext cx="328308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CB7AC-2C96-A04F-A537-F84535378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86017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3302-3FDA-3D43-3AC5-7F4DC5D7C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AA140-9D49-7C3D-F8B7-B00ED361C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Sol-gel fabrication of fuel kernels</a:t>
            </a:r>
          </a:p>
          <a:p>
            <a:r>
              <a:rPr lang="en-US" sz="2400" dirty="0"/>
              <a:t>CVD for buffer, </a:t>
            </a:r>
            <a:r>
              <a:rPr lang="en-US" sz="2400" dirty="0" err="1"/>
              <a:t>IPyC</a:t>
            </a:r>
            <a:r>
              <a:rPr lang="en-US" sz="2400" dirty="0"/>
              <a:t>, </a:t>
            </a:r>
            <a:r>
              <a:rPr lang="en-US" sz="2400" dirty="0" err="1"/>
              <a:t>SiC</a:t>
            </a:r>
            <a:r>
              <a:rPr lang="en-US" sz="2400" dirty="0"/>
              <a:t>, and </a:t>
            </a:r>
            <a:r>
              <a:rPr lang="en-US" sz="2400" dirty="0" err="1"/>
              <a:t>OPyC</a:t>
            </a:r>
            <a:endParaRPr lang="en-US" sz="2400" dirty="0"/>
          </a:p>
          <a:p>
            <a:r>
              <a:rPr lang="en-US" sz="2400" dirty="0"/>
              <a:t>Combine particles into compacts/pebbles with carbon matrix powder</a:t>
            </a:r>
          </a:p>
          <a:p>
            <a:r>
              <a:rPr lang="en-US" sz="2400" dirty="0"/>
              <a:t>Compacts/pebbles are then sintered to reach final state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F08985-E12E-3C91-3402-81BCD592F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2793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concepts in TRISO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992943-4CCC-3543-8C54-A7CCD52C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68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148553" cy="4157663"/>
          </a:xfrm>
        </p:spPr>
        <p:txBody>
          <a:bodyPr/>
          <a:lstStyle/>
          <a:p>
            <a:r>
              <a:rPr lang="en-US" sz="2000" dirty="0"/>
              <a:t>Zirconium carbide (ZrC) is a refractory and chemically stable compound, which melts </a:t>
            </a:r>
            <a:r>
              <a:rPr lang="en-US" sz="2000" dirty="0" err="1"/>
              <a:t>eutectically</a:t>
            </a:r>
            <a:r>
              <a:rPr lang="en-US" sz="2000" dirty="0"/>
              <a:t> with carbon at 3123 K</a:t>
            </a:r>
          </a:p>
          <a:p>
            <a:r>
              <a:rPr lang="en-US" sz="2000" dirty="0"/>
              <a:t>ZrC can potentially improve the high-temperature stability, the resistance to chemical attack by fission products, and the retention of fission products</a:t>
            </a:r>
          </a:p>
          <a:p>
            <a:r>
              <a:rPr lang="en-US" sz="2000" dirty="0"/>
              <a:t>However, ZrC is significantly less oxidation resistant than </a:t>
            </a:r>
            <a:r>
              <a:rPr lang="en-US" sz="2000" dirty="0" err="1"/>
              <a:t>SiC</a:t>
            </a: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D6AE4B-F138-E54E-8D47-B01535B59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49632"/>
          <a:stretch/>
        </p:blipFill>
        <p:spPr>
          <a:xfrm>
            <a:off x="6706165" y="2303820"/>
            <a:ext cx="4062869" cy="28232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CC533-9CFF-4E47-9B18-FD558776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965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000" dirty="0"/>
              <a:t>Four types of ZrC inclusions have been studied (1) ZrC-TRISO coated particles, (2) ZrC-TRISO type coated particles without </a:t>
            </a:r>
            <a:r>
              <a:rPr lang="en-US" sz="2000" dirty="0" err="1"/>
              <a:t>OPyC</a:t>
            </a:r>
            <a:r>
              <a:rPr lang="en-US" sz="2000" dirty="0"/>
              <a:t> layer, (3) ZrC-coated particles with ZrC-doped </a:t>
            </a:r>
            <a:r>
              <a:rPr lang="en-US" sz="2000" dirty="0" err="1"/>
              <a:t>OPyC</a:t>
            </a:r>
            <a:r>
              <a:rPr lang="en-US" sz="2000" dirty="0"/>
              <a:t> layer, and (4) ZrC coated particles with graded C–ZrC layer(s)</a:t>
            </a:r>
          </a:p>
          <a:p>
            <a:r>
              <a:rPr lang="en-US" sz="2000" dirty="0"/>
              <a:t>All four types have been fabricated and irradiated</a:t>
            </a:r>
          </a:p>
          <a:p>
            <a:r>
              <a:rPr lang="en-US" sz="2000" dirty="0"/>
              <a:t>Primary focus has been on option 1, however usage of ZrC started from option 2 in the 1970s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690218-C1C6-7C46-9566-467DF3B2E1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ZrC-TRISO-coated UO2 particle after irradiation at 1673–1923K to 4.5% FIMA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E35011-00A8-1047-A40A-C6D2BBBC0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070" y="3732065"/>
            <a:ext cx="2806849" cy="28068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19574-F9A9-EE4D-8926-162E283E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321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vs ZrC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18325" cy="4157663"/>
          </a:xfrm>
        </p:spPr>
        <p:txBody>
          <a:bodyPr/>
          <a:lstStyle/>
          <a:p>
            <a:r>
              <a:rPr lang="en-US" sz="2000" dirty="0"/>
              <a:t>An approach to counteract </a:t>
            </a:r>
            <a:r>
              <a:rPr lang="en-US" sz="2000" dirty="0" err="1"/>
              <a:t>SiC</a:t>
            </a:r>
            <a:r>
              <a:rPr lang="en-US" sz="2000" dirty="0"/>
              <a:t> fission product corrosion is to replace the </a:t>
            </a:r>
            <a:r>
              <a:rPr lang="en-US" sz="2000" dirty="0" err="1"/>
              <a:t>SiC</a:t>
            </a:r>
            <a:r>
              <a:rPr lang="en-US" sz="2000" dirty="0"/>
              <a:t> coating by a ZrC layer</a:t>
            </a:r>
          </a:p>
          <a:p>
            <a:r>
              <a:rPr lang="en-US" sz="2000" dirty="0"/>
              <a:t>Experimental observations showed neither </a:t>
            </a:r>
            <a:r>
              <a:rPr lang="en-US" sz="2000" dirty="0" err="1"/>
              <a:t>Pd</a:t>
            </a:r>
            <a:r>
              <a:rPr lang="en-US" sz="2000" dirty="0"/>
              <a:t> attack nor thermal degradation of ZrC up to 1600C</a:t>
            </a:r>
          </a:p>
          <a:p>
            <a:r>
              <a:rPr lang="en-US" sz="2000" dirty="0"/>
              <a:t>ZrC was also shown to have a high capacity to retain Cs, but poor retention of Ru</a:t>
            </a:r>
          </a:p>
          <a:p>
            <a:r>
              <a:rPr lang="en-US" sz="2000" dirty="0"/>
              <a:t>At higher T, the deterioration of the ZrC particle is caused by failure of the </a:t>
            </a:r>
            <a:r>
              <a:rPr lang="en-US" sz="2000" dirty="0" err="1"/>
              <a:t>IPyC</a:t>
            </a:r>
            <a:endParaRPr lang="en-US" sz="2000" dirty="0"/>
          </a:p>
          <a:p>
            <a:r>
              <a:rPr lang="en-US" sz="2000" dirty="0"/>
              <a:t>The development of TRISO with ZrC-coating is at an early stage compared to the </a:t>
            </a:r>
            <a:r>
              <a:rPr lang="en-US" sz="2000" dirty="0" err="1"/>
              <a:t>SiC</a:t>
            </a:r>
            <a:r>
              <a:rPr lang="en-US" sz="2000" dirty="0"/>
              <a:t>-coated design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BF9C7E-1100-B942-AC45-7E8B19338D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4976" y="1968500"/>
            <a:ext cx="3750048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97030-9E94-3345-8763-EAA4A31C7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4643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61545" cy="4157663"/>
          </a:xfrm>
        </p:spPr>
        <p:txBody>
          <a:bodyPr/>
          <a:lstStyle/>
          <a:p>
            <a:r>
              <a:rPr lang="en-US" sz="2200" dirty="0"/>
              <a:t>The improved performance of the ZrC coating layer against chemical attack by </a:t>
            </a:r>
            <a:r>
              <a:rPr lang="en-US" sz="2200" dirty="0" err="1"/>
              <a:t>Pd</a:t>
            </a:r>
            <a:r>
              <a:rPr lang="en-US" sz="2200" dirty="0"/>
              <a:t> has been demonstrated in both out-of-reactor experiments and irradiation tests</a:t>
            </a:r>
          </a:p>
          <a:p>
            <a:r>
              <a:rPr lang="en-US" sz="2200" dirty="0"/>
              <a:t>ZrPd3 can form in lab conditions, but insufficient </a:t>
            </a:r>
            <a:r>
              <a:rPr lang="en-US" sz="2200" dirty="0" err="1"/>
              <a:t>Pd</a:t>
            </a:r>
            <a:r>
              <a:rPr lang="en-US" sz="2200" dirty="0"/>
              <a:t> exists in fuel particles to cause formation and thus degradation</a:t>
            </a:r>
          </a:p>
          <a:p>
            <a:r>
              <a:rPr lang="en-US" sz="2200" dirty="0"/>
              <a:t>ZrC does not seem to solve the silver problem</a:t>
            </a:r>
          </a:p>
          <a:p>
            <a:r>
              <a:rPr lang="en-US" sz="2200" dirty="0"/>
              <a:t>Ruthenium release might be an issue, which it is not for 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723978-41F1-0D4B-8B49-F88263D227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99079" y="1968500"/>
            <a:ext cx="3155386" cy="47376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C7C75-4464-F345-999A-58CC3E74F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57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35BB5-BB39-4D45-885E-277E4016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D9773-1ABE-5244-8DF6-687740B63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89987" cy="4157663"/>
          </a:xfrm>
        </p:spPr>
        <p:txBody>
          <a:bodyPr/>
          <a:lstStyle/>
          <a:p>
            <a:r>
              <a:rPr lang="en-US" sz="2100" dirty="0"/>
              <a:t>High-temperature behavior of ZrC is superior to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Right is a heating experiment on irradiated TRISO particles</a:t>
            </a:r>
          </a:p>
          <a:p>
            <a:r>
              <a:rPr lang="en-US" sz="2100" dirty="0"/>
              <a:t>No ZrC failures up to 2400C, where an extended hold produced a failure</a:t>
            </a:r>
          </a:p>
          <a:p>
            <a:r>
              <a:rPr lang="en-US" sz="2100" dirty="0"/>
              <a:t>At temperatures above 2000C, </a:t>
            </a:r>
            <a:r>
              <a:rPr lang="en-US" sz="2100" dirty="0" err="1"/>
              <a:t>SiC</a:t>
            </a:r>
            <a:r>
              <a:rPr lang="en-US" sz="2100" dirty="0"/>
              <a:t> will decompose into its constituents</a:t>
            </a:r>
          </a:p>
          <a:p>
            <a:r>
              <a:rPr lang="en-US" sz="2100" dirty="0"/>
              <a:t>Thus, better stability during fabrication, ability to operate at higher temperatures, better stability in off-normal temperature spikes, better fission gas retention at high temperature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E1ECF7-4E20-9D4C-AB1D-3ECD1F94A6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433973" y="1968503"/>
            <a:ext cx="444656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FC78A-1799-B546-B9B5-3055232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941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65076" cy="4157663"/>
          </a:xfrm>
        </p:spPr>
        <p:txBody>
          <a:bodyPr/>
          <a:lstStyle/>
          <a:p>
            <a:r>
              <a:rPr lang="en-US" sz="2200" dirty="0"/>
              <a:t>To inhibit the buildup of CO gas in UO2 fuel kernels, UC2 is often added to getter oxygen and reduce the oxygen potential</a:t>
            </a:r>
          </a:p>
          <a:p>
            <a:r>
              <a:rPr lang="en-US" sz="2200" dirty="0"/>
              <a:t>Similar results can be achieved by the addition of </a:t>
            </a:r>
            <a:r>
              <a:rPr lang="en-US" sz="2200" dirty="0" err="1"/>
              <a:t>nonfissionable</a:t>
            </a:r>
            <a:r>
              <a:rPr lang="en-US" sz="2200" dirty="0"/>
              <a:t> carbides, such as </a:t>
            </a:r>
            <a:r>
              <a:rPr lang="en-US" sz="2200" dirty="0" err="1"/>
              <a:t>SiC</a:t>
            </a:r>
            <a:r>
              <a:rPr lang="en-US" sz="2200" dirty="0"/>
              <a:t> or ZrC around fuel kernel</a:t>
            </a:r>
          </a:p>
          <a:p>
            <a:r>
              <a:rPr lang="en-US" sz="2200" dirty="0"/>
              <a:t>Added as a layer around UO2 fuel kernels and/or dispersed within the buffer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A9F9AC-9BFD-8F40-8144-D245ECA6BC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91300" y="2224881"/>
            <a:ext cx="4597400" cy="36449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36A81-4AFB-B24A-A31B-BE4B3971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E600C-34C1-1B05-7049-A90FE3510171}"/>
              </a:ext>
            </a:extLst>
          </p:cNvPr>
          <p:cNvSpPr txBox="1"/>
          <p:nvPr/>
        </p:nvSpPr>
        <p:spPr>
          <a:xfrm>
            <a:off x="6947338" y="1897084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As-fabricated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E13CC-0638-9EA9-A7DB-92FB185C4114}"/>
              </a:ext>
            </a:extLst>
          </p:cNvPr>
          <p:cNvSpPr txBox="1"/>
          <p:nvPr/>
        </p:nvSpPr>
        <p:spPr>
          <a:xfrm>
            <a:off x="9264869" y="1900762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Irradiated</a:t>
            </a:r>
          </a:p>
        </p:txBody>
      </p:sp>
    </p:spTree>
    <p:extLst>
      <p:ext uri="{BB962C8B-B14F-4D97-AF65-F5344CB8AC3E}">
        <p14:creationId xmlns:p14="http://schemas.microsoft.com/office/powerpoint/2010/main" val="3853309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C066-BDD1-7249-A990-408260FD9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C9421-E1A3-3C4A-8162-3C73D4A4F1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Introduction of ZrC around fuel kernel getters released oxygen</a:t>
            </a:r>
          </a:p>
          <a:p>
            <a:r>
              <a:rPr lang="en-US" sz="2200" dirty="0"/>
              <a:t>This seems to inhibit fuel kernel migration</a:t>
            </a:r>
          </a:p>
          <a:p>
            <a:r>
              <a:rPr lang="en-US" sz="2200" dirty="0"/>
              <a:t>If the layered ZrC is intact, can inhibit fuel swelling as well, potentially reduced stresses on outer layers</a:t>
            </a:r>
          </a:p>
          <a:p>
            <a:r>
              <a:rPr lang="en-US" sz="2200" dirty="0"/>
              <a:t>Have performed limited irradiation experiments with no failures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866AF-09CE-8240-AE16-B18819E19E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If the layered ZrC is intact, no release occurs for Ag and Eu</a:t>
            </a:r>
          </a:p>
          <a:p>
            <a:r>
              <a:rPr lang="en-US" sz="2200" dirty="0"/>
              <a:t>Release occurs for both species under same conditions for nominal TRISO and for ZrC dispersed in buffer</a:t>
            </a:r>
          </a:p>
          <a:p>
            <a:r>
              <a:rPr lang="en-US" sz="2200" dirty="0"/>
              <a:t>An intact ZrC layer seems to be necessary for explaining the outstanding retention of these particles, in addition to the benefits of O gettering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88D2A-8E5C-FE40-83E8-B5C1CD06F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952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200" dirty="0"/>
              <a:t>Two methods are available to prevent the corrosion of the </a:t>
            </a:r>
            <a:r>
              <a:rPr lang="en-US" sz="2200" dirty="0" err="1"/>
              <a:t>SiC</a:t>
            </a:r>
            <a:r>
              <a:rPr lang="en-US" sz="2200" dirty="0"/>
              <a:t> layer: (1) to keep the fission products within the fuel kernel and (2) to make a barrier to the diffusion of the fission products to the </a:t>
            </a:r>
            <a:r>
              <a:rPr lang="en-US" sz="2200" dirty="0" err="1"/>
              <a:t>SiC</a:t>
            </a:r>
            <a:r>
              <a:rPr lang="en-US" sz="2200" dirty="0"/>
              <a:t> layer</a:t>
            </a:r>
          </a:p>
          <a:p>
            <a:r>
              <a:rPr lang="en-US" sz="2200" dirty="0"/>
              <a:t>Can potentially add a layer that traps palladium by chemical reaction inside the </a:t>
            </a:r>
            <a:r>
              <a:rPr lang="en-US" sz="2200" dirty="0" err="1"/>
              <a:t>SiC</a:t>
            </a:r>
            <a:r>
              <a:rPr lang="en-US" sz="2200" dirty="0"/>
              <a:t> layer of the TRISO coating</a:t>
            </a:r>
          </a:p>
          <a:p>
            <a:r>
              <a:rPr lang="en-US" sz="2200" dirty="0"/>
              <a:t>Can add either an additional </a:t>
            </a:r>
            <a:r>
              <a:rPr lang="en-US" sz="2200" dirty="0" err="1"/>
              <a:t>SiC</a:t>
            </a:r>
            <a:r>
              <a:rPr lang="en-US" sz="2200" dirty="0"/>
              <a:t> layer, or a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r>
              <a:rPr lang="en-US" sz="2200" dirty="0"/>
              <a:t> composite layer</a:t>
            </a:r>
          </a:p>
          <a:p>
            <a:endParaRPr lang="en-US" sz="22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6DC2B-4EB5-334B-9A39-272B716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630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100" dirty="0"/>
              <a:t>The type-A coating has an additional layer of </a:t>
            </a:r>
            <a:r>
              <a:rPr lang="en-US" sz="2100" dirty="0" err="1"/>
              <a:t>SiC+PyC</a:t>
            </a:r>
            <a:r>
              <a:rPr lang="en-US" sz="2100" dirty="0"/>
              <a:t> adjacent to the inside of the </a:t>
            </a:r>
            <a:r>
              <a:rPr lang="en-US" sz="2100" dirty="0" err="1"/>
              <a:t>SiC</a:t>
            </a:r>
            <a:r>
              <a:rPr lang="en-US" sz="2100" dirty="0"/>
              <a:t> layer; the thickness of the </a:t>
            </a:r>
            <a:r>
              <a:rPr lang="en-US" sz="2100" dirty="0" err="1"/>
              <a:t>IPyC</a:t>
            </a:r>
            <a:r>
              <a:rPr lang="en-US" sz="2100" dirty="0"/>
              <a:t> layer can be reduced</a:t>
            </a:r>
          </a:p>
          <a:p>
            <a:r>
              <a:rPr lang="en-US" sz="2100" dirty="0"/>
              <a:t>The type-B coating has the dense </a:t>
            </a:r>
            <a:r>
              <a:rPr lang="en-US" sz="2100" dirty="0" err="1"/>
              <a:t>PyC</a:t>
            </a:r>
            <a:r>
              <a:rPr lang="en-US" sz="2100" dirty="0"/>
              <a:t> layer between the </a:t>
            </a:r>
            <a:r>
              <a:rPr lang="en-US" sz="2100" dirty="0" err="1"/>
              <a:t>SiC+PyC</a:t>
            </a:r>
            <a:r>
              <a:rPr lang="en-US" sz="2100" dirty="0"/>
              <a:t> and </a:t>
            </a:r>
            <a:r>
              <a:rPr lang="en-US" sz="2100" dirty="0" err="1"/>
              <a:t>SiC</a:t>
            </a:r>
            <a:r>
              <a:rPr lang="en-US" sz="2100" dirty="0"/>
              <a:t> layers; the intermediate dense </a:t>
            </a:r>
            <a:r>
              <a:rPr lang="en-US" sz="2100" dirty="0" err="1"/>
              <a:t>PyC</a:t>
            </a:r>
            <a:r>
              <a:rPr lang="en-US" sz="2100" dirty="0"/>
              <a:t> layer will interrupt extension of the corrosion zone from the </a:t>
            </a:r>
            <a:r>
              <a:rPr lang="en-US" sz="2100" dirty="0" err="1"/>
              <a:t>SiC+PyC</a:t>
            </a:r>
            <a:r>
              <a:rPr lang="en-US" sz="2100" dirty="0"/>
              <a:t> layer to the </a:t>
            </a:r>
            <a:r>
              <a:rPr lang="en-US" sz="2100" dirty="0" err="1"/>
              <a:t>SiC</a:t>
            </a:r>
            <a:r>
              <a:rPr lang="en-US" sz="2100" dirty="0"/>
              <a:t> layer</a:t>
            </a:r>
          </a:p>
          <a:p>
            <a:r>
              <a:rPr lang="en-US" sz="2100" dirty="0"/>
              <a:t>In the type-C coating, </a:t>
            </a:r>
            <a:r>
              <a:rPr lang="en-US" sz="2100" dirty="0" err="1"/>
              <a:t>SiC</a:t>
            </a:r>
            <a:r>
              <a:rPr lang="en-US" sz="2100" dirty="0"/>
              <a:t> is used for an additional layer; </a:t>
            </a:r>
            <a:r>
              <a:rPr lang="en-US" sz="2100" dirty="0" err="1"/>
              <a:t>SiC</a:t>
            </a:r>
            <a:r>
              <a:rPr lang="en-US" sz="2100" dirty="0"/>
              <a:t> layer will react with fission products and PyC will interrupt corrosion of outer </a:t>
            </a:r>
            <a:r>
              <a:rPr lang="en-US" sz="2100" dirty="0" err="1"/>
              <a:t>SiC</a:t>
            </a:r>
            <a:endParaRPr lang="en-US" sz="21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75321-1D35-EA44-8A28-98D18EB42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2670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788166" cy="4157663"/>
          </a:xfrm>
        </p:spPr>
        <p:txBody>
          <a:bodyPr/>
          <a:lstStyle/>
          <a:p>
            <a:r>
              <a:rPr lang="en-US" sz="2100" dirty="0"/>
              <a:t>Irradiation of these advanced coatings was performed in the JRR-2 reactor</a:t>
            </a:r>
          </a:p>
          <a:p>
            <a:r>
              <a:rPr lang="en-US" sz="2100" dirty="0" err="1"/>
              <a:t>Ceramography</a:t>
            </a:r>
            <a:r>
              <a:rPr lang="en-US" sz="2100" dirty="0"/>
              <a:t> revealed no crack in the advanced coating layers or in the TRISO coating layers</a:t>
            </a:r>
          </a:p>
          <a:p>
            <a:r>
              <a:rPr lang="en-US" sz="2100" dirty="0"/>
              <a:t>All three types trapped Pd at the inner </a:t>
            </a:r>
            <a:r>
              <a:rPr lang="en-US" sz="2100" dirty="0" err="1"/>
              <a:t>SiC</a:t>
            </a:r>
            <a:r>
              <a:rPr lang="en-US" sz="2100" dirty="0"/>
              <a:t>-based barrier, preventing corrosion of the outer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At high heating, a </a:t>
            </a:r>
            <a:r>
              <a:rPr lang="en-US" sz="2100" dirty="0" err="1"/>
              <a:t>PyC</a:t>
            </a:r>
            <a:r>
              <a:rPr lang="en-US" sz="2100" dirty="0"/>
              <a:t> layer between the outer </a:t>
            </a:r>
            <a:r>
              <a:rPr lang="en-US" sz="2100" dirty="0" err="1"/>
              <a:t>SiC</a:t>
            </a:r>
            <a:r>
              <a:rPr lang="en-US" sz="2100" dirty="0"/>
              <a:t> and the inner </a:t>
            </a:r>
            <a:r>
              <a:rPr lang="en-US" sz="2100" dirty="0" err="1"/>
              <a:t>SiC</a:t>
            </a:r>
            <a:r>
              <a:rPr lang="en-US" sz="2100" dirty="0"/>
              <a:t>-based layer proved more effective at fission product retention</a:t>
            </a:r>
          </a:p>
          <a:p>
            <a:r>
              <a:rPr lang="en-US" sz="2100" dirty="0"/>
              <a:t>Also, the </a:t>
            </a:r>
            <a:r>
              <a:rPr lang="en-US" sz="2100" dirty="0" err="1"/>
              <a:t>SiC</a:t>
            </a:r>
            <a:r>
              <a:rPr lang="en-US" sz="2100" dirty="0"/>
              <a:t>/</a:t>
            </a:r>
            <a:r>
              <a:rPr lang="en-US" sz="2100" dirty="0" err="1"/>
              <a:t>PyC</a:t>
            </a:r>
            <a:r>
              <a:rPr lang="en-US" sz="2100" dirty="0"/>
              <a:t> layer proved more effective than pure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No new technology needed to fabricate these particles</a:t>
            </a:r>
          </a:p>
          <a:p>
            <a:endParaRPr lang="en-US" sz="2100" dirty="0"/>
          </a:p>
          <a:p>
            <a:endParaRPr lang="en-US" sz="21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8686E8-5240-5942-B580-B3496C626E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891060" y="1434306"/>
            <a:ext cx="2584485" cy="506627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403760-6632-CC44-B283-9C7B5DD8A215}"/>
              </a:ext>
            </a:extLst>
          </p:cNvPr>
          <p:cNvSpPr txBox="1"/>
          <p:nvPr/>
        </p:nvSpPr>
        <p:spPr>
          <a:xfrm>
            <a:off x="9396248" y="6430861"/>
            <a:ext cx="1776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Type B Coating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B576288-7100-D745-B4C9-DFCD299DC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000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686E-04BD-5440-87A8-E66158E7D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B9BF7-9CEF-9C43-836D-CE9BF1290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800" cy="4157663"/>
          </a:xfrm>
        </p:spPr>
        <p:txBody>
          <a:bodyPr/>
          <a:lstStyle/>
          <a:p>
            <a:r>
              <a:rPr lang="en-US" sz="2200" dirty="0"/>
              <a:t>Advanced concepts in TRISO particles</a:t>
            </a:r>
          </a:p>
          <a:p>
            <a:pPr lvl="1"/>
            <a:r>
              <a:rPr lang="en-US" sz="2200" dirty="0"/>
              <a:t>ZrC instead of </a:t>
            </a:r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ZrC/</a:t>
            </a:r>
            <a:r>
              <a:rPr lang="en-US" sz="2200" dirty="0" err="1"/>
              <a:t>SiC</a:t>
            </a:r>
            <a:r>
              <a:rPr lang="en-US" sz="2200" dirty="0"/>
              <a:t> as a layer around kernel</a:t>
            </a:r>
          </a:p>
          <a:p>
            <a:pPr lvl="1"/>
            <a:r>
              <a:rPr lang="en-US" sz="2200" dirty="0"/>
              <a:t>alternate layering of </a:t>
            </a:r>
            <a:r>
              <a:rPr lang="en-US" sz="2200" dirty="0" err="1"/>
              <a:t>SiC</a:t>
            </a:r>
            <a:r>
              <a:rPr lang="en-US" sz="2200" dirty="0"/>
              <a:t>/PyC</a:t>
            </a:r>
          </a:p>
          <a:p>
            <a:r>
              <a:rPr lang="en-US" sz="2200" dirty="0"/>
              <a:t>All aim to improve behavior in some fashion:</a:t>
            </a:r>
          </a:p>
          <a:p>
            <a:pPr lvl="1"/>
            <a:r>
              <a:rPr lang="en-US" sz="2200" dirty="0"/>
              <a:t>improved stability at high T</a:t>
            </a:r>
          </a:p>
          <a:p>
            <a:pPr lvl="1"/>
            <a:r>
              <a:rPr lang="en-US" sz="2200" dirty="0"/>
              <a:t>improved FP retention and mitigation of kernel migration</a:t>
            </a:r>
          </a:p>
          <a:p>
            <a:pPr lvl="1"/>
            <a:r>
              <a:rPr lang="en-US" sz="2200" dirty="0"/>
              <a:t>improved FP retention and mitigation of FP attack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2688A-5D6C-0F43-A75A-3B4ED0E2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2919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9831C-2508-9D4A-A7D5-7B962726E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Upcoming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53258-661B-B74F-816D-CEC5B6E52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cover TRISO particle-based HTGRs</a:t>
            </a:r>
          </a:p>
          <a:p>
            <a:r>
              <a:rPr lang="en-US" dirty="0"/>
              <a:t>Exam will be on Sept 8</a:t>
            </a:r>
          </a:p>
          <a:p>
            <a:r>
              <a:rPr lang="en-US" dirty="0"/>
              <a:t>Open ended questions covering the concepts presented in class</a:t>
            </a:r>
          </a:p>
          <a:p>
            <a:r>
              <a:rPr lang="en-US" dirty="0"/>
              <a:t>Closed book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4FF8B-7B28-5141-AB2A-3DF17278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0802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89057</TotalTime>
  <Words>2434</Words>
  <Application>Microsoft Macintosh PowerPoint</Application>
  <PresentationFormat>Widescreen</PresentationFormat>
  <Paragraphs>233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1_NCStateU-horizontal-left-logo</vt:lpstr>
      <vt:lpstr>NE 763: Advanced Reactor Materials</vt:lpstr>
      <vt:lpstr>Last Time</vt:lpstr>
      <vt:lpstr>TRISO Fuel Performance</vt:lpstr>
      <vt:lpstr>TRISO Fuel Performance</vt:lpstr>
      <vt:lpstr>Fuel Performance Codes</vt:lpstr>
      <vt:lpstr>SiC Failure</vt:lpstr>
      <vt:lpstr>TRISO Stresses</vt:lpstr>
      <vt:lpstr>TRISO Stresses</vt:lpstr>
      <vt:lpstr>Material Evolution</vt:lpstr>
      <vt:lpstr>Data needs</vt:lpstr>
      <vt:lpstr>Material Performance in He</vt:lpstr>
      <vt:lpstr>High Temperatures</vt:lpstr>
      <vt:lpstr>Flow and Impurities</vt:lpstr>
      <vt:lpstr>IHX Materials</vt:lpstr>
      <vt:lpstr>IHX Corrosion in VHTR</vt:lpstr>
      <vt:lpstr>Alloy 617 Stability</vt:lpstr>
      <vt:lpstr>Fabrication</vt:lpstr>
      <vt:lpstr>Fuel Kernel Fabrication</vt:lpstr>
      <vt:lpstr>Fuel Kernel Fabrication</vt:lpstr>
      <vt:lpstr>SiC (and PyC) Fabrication</vt:lpstr>
      <vt:lpstr>TRISO Fabrication</vt:lpstr>
      <vt:lpstr>Pebble Fabrication</vt:lpstr>
      <vt:lpstr>Compact Fabrication</vt:lpstr>
      <vt:lpstr>Summary</vt:lpstr>
      <vt:lpstr>Advanced concepts in TRISO</vt:lpstr>
      <vt:lpstr>ZrC replacing SiC </vt:lpstr>
      <vt:lpstr>ZrC replacing SiC </vt:lpstr>
      <vt:lpstr>SiC vs ZrC Corrosion</vt:lpstr>
      <vt:lpstr>ZrC replacing SiC </vt:lpstr>
      <vt:lpstr>ZrC replacing SiC </vt:lpstr>
      <vt:lpstr>Non-fissile Carbides in Fuel</vt:lpstr>
      <vt:lpstr>Non-fissile Carbides in Fuel</vt:lpstr>
      <vt:lpstr>Alternate Layering</vt:lpstr>
      <vt:lpstr>Alternate Layering</vt:lpstr>
      <vt:lpstr>Alternate Layering</vt:lpstr>
      <vt:lpstr>Summary</vt:lpstr>
      <vt:lpstr>Exam Upcoming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196</cp:revision>
  <dcterms:created xsi:type="dcterms:W3CDTF">2019-12-09T16:44:02Z</dcterms:created>
  <dcterms:modified xsi:type="dcterms:W3CDTF">2026-08-27T18:58:02Z</dcterms:modified>
</cp:coreProperties>
</file>
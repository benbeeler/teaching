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8"/>
  </p:notesMasterIdLst>
  <p:sldIdLst>
    <p:sldId id="257" r:id="rId2"/>
    <p:sldId id="559" r:id="rId3"/>
    <p:sldId id="510" r:id="rId4"/>
    <p:sldId id="490" r:id="rId5"/>
    <p:sldId id="493" r:id="rId6"/>
    <p:sldId id="516" r:id="rId7"/>
    <p:sldId id="534" r:id="rId8"/>
    <p:sldId id="533" r:id="rId9"/>
    <p:sldId id="536" r:id="rId10"/>
    <p:sldId id="560" r:id="rId11"/>
    <p:sldId id="561" r:id="rId12"/>
    <p:sldId id="537" r:id="rId13"/>
    <p:sldId id="538" r:id="rId14"/>
    <p:sldId id="540" r:id="rId15"/>
    <p:sldId id="539" r:id="rId16"/>
    <p:sldId id="512" r:id="rId17"/>
    <p:sldId id="513" r:id="rId18"/>
    <p:sldId id="517" r:id="rId19"/>
    <p:sldId id="542" r:id="rId20"/>
    <p:sldId id="518" r:id="rId21"/>
    <p:sldId id="519" r:id="rId22"/>
    <p:sldId id="520" r:id="rId23"/>
    <p:sldId id="521" r:id="rId24"/>
    <p:sldId id="522" r:id="rId25"/>
    <p:sldId id="526" r:id="rId26"/>
    <p:sldId id="523" r:id="rId27"/>
    <p:sldId id="525" r:id="rId28"/>
    <p:sldId id="527" r:id="rId29"/>
    <p:sldId id="524" r:id="rId30"/>
    <p:sldId id="529" r:id="rId31"/>
    <p:sldId id="528" r:id="rId32"/>
    <p:sldId id="531" r:id="rId33"/>
    <p:sldId id="532" r:id="rId34"/>
    <p:sldId id="554" r:id="rId35"/>
    <p:sldId id="553" r:id="rId36"/>
    <p:sldId id="557"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950"/>
    <p:restoredTop sz="96654"/>
  </p:normalViewPr>
  <p:slideViewPr>
    <p:cSldViewPr snapToGrid="0" snapToObjects="1">
      <p:cViewPr varScale="1">
        <p:scale>
          <a:sx n="127" d="100"/>
          <a:sy n="127" d="100"/>
        </p:scale>
        <p:origin x="6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EA7AB5-A096-4041-939A-1D17EC86292D}" type="datetimeFigureOut">
              <a:rPr lang="en-US" smtClean="0"/>
              <a:t>8/17/26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F51EB-4615-374C-8EA3-C922CD2CA243}" type="slidenum">
              <a:rPr lang="en-US" smtClean="0"/>
              <a:t>‹#›</a:t>
            </a:fld>
            <a:endParaRPr lang="en-US"/>
          </a:p>
        </p:txBody>
      </p:sp>
    </p:spTree>
    <p:extLst>
      <p:ext uri="{BB962C8B-B14F-4D97-AF65-F5344CB8AC3E}">
        <p14:creationId xmlns:p14="http://schemas.microsoft.com/office/powerpoint/2010/main" val="893569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8/17/26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702443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8/17/26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4351513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8/17/26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3921425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8/17/26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24686324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8/17/26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42351921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8/17/26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258312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8/17/26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18624092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8/17/26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27232499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8/17/26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3701923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8/17/26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2294329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8/17/26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40660912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8/17/26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0458479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D7FBC4C2-9061-9449-A33A-8008D6913207}" type="datetime1">
              <a:rPr lang="en-US" smtClean="0"/>
              <a:t>8/17/26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36239900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a:lvl1pPr>
          </a:lstStyle>
          <a:p>
            <a:r>
              <a:rPr lang="en-US" dirty="0"/>
              <a:t>Click to edit Master title style</a:t>
            </a:r>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E6800824-EE1D-0B40-85E7-A819C1407096}" type="datetime1">
              <a:rPr lang="en-US" smtClean="0"/>
              <a:t>8/17/26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8/17/26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136050063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65" r:id="rId14"/>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84C1E7D1-FF3E-DF49-9F50-FE374A54C260}"/>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A05E7-293C-3175-6F2E-5C15069F62CE}"/>
              </a:ext>
            </a:extLst>
          </p:cNvPr>
          <p:cNvSpPr>
            <a:spLocks noGrp="1"/>
          </p:cNvSpPr>
          <p:nvPr>
            <p:ph type="title"/>
          </p:nvPr>
        </p:nvSpPr>
        <p:spPr/>
        <p:txBody>
          <a:bodyPr/>
          <a:lstStyle/>
          <a:p>
            <a:r>
              <a:rPr lang="en-US" dirty="0"/>
              <a:t>Exam 3 Grades</a:t>
            </a:r>
          </a:p>
        </p:txBody>
      </p:sp>
      <p:sp>
        <p:nvSpPr>
          <p:cNvPr id="3" name="Content Placeholder 2">
            <a:extLst>
              <a:ext uri="{FF2B5EF4-FFF2-40B4-BE49-F238E27FC236}">
                <a16:creationId xmlns:a16="http://schemas.microsoft.com/office/drawing/2014/main" id="{AE1B8BBE-D052-FA76-D80B-707C2FF1A8D8}"/>
              </a:ext>
            </a:extLst>
          </p:cNvPr>
          <p:cNvSpPr>
            <a:spLocks noGrp="1"/>
          </p:cNvSpPr>
          <p:nvPr>
            <p:ph idx="1"/>
          </p:nvPr>
        </p:nvSpPr>
        <p:spPr/>
        <p:txBody>
          <a:bodyPr/>
          <a:lstStyle/>
          <a:p>
            <a:r>
              <a:rPr lang="en-US" dirty="0"/>
              <a:t>Avg: 86.7</a:t>
            </a:r>
          </a:p>
          <a:p>
            <a:r>
              <a:rPr lang="en-US" dirty="0" err="1"/>
              <a:t>Stdev</a:t>
            </a:r>
            <a:r>
              <a:rPr lang="en-US" dirty="0"/>
              <a:t>: 5.8</a:t>
            </a:r>
          </a:p>
          <a:p>
            <a:r>
              <a:rPr lang="en-US" dirty="0"/>
              <a:t>Curve: 5 points</a:t>
            </a:r>
          </a:p>
          <a:p>
            <a:r>
              <a:rPr lang="en-US" dirty="0"/>
              <a:t>Solutions on </a:t>
            </a:r>
            <a:r>
              <a:rPr lang="en-US" dirty="0" err="1"/>
              <a:t>moodle</a:t>
            </a:r>
            <a:endParaRPr lang="en-US" dirty="0"/>
          </a:p>
          <a:p>
            <a:r>
              <a:rPr lang="en-US" dirty="0"/>
              <a:t>Come talk to me about any questions or concerns</a:t>
            </a:r>
          </a:p>
          <a:p>
            <a:endParaRPr lang="en-US" dirty="0"/>
          </a:p>
          <a:p>
            <a:r>
              <a:rPr lang="en-US" dirty="0"/>
              <a:t>Only Exam 4 is left</a:t>
            </a:r>
          </a:p>
          <a:p>
            <a:r>
              <a:rPr lang="en-US" dirty="0"/>
              <a:t>Planned for last day of classes: Dec. 2 </a:t>
            </a:r>
          </a:p>
          <a:p>
            <a:pPr lvl="1"/>
            <a:r>
              <a:rPr lang="en-US" dirty="0"/>
              <a:t>if this doesn’t work or conflicts with other class schedules, let me know</a:t>
            </a:r>
          </a:p>
        </p:txBody>
      </p:sp>
      <p:sp>
        <p:nvSpPr>
          <p:cNvPr id="4" name="Slide Number Placeholder 3">
            <a:extLst>
              <a:ext uri="{FF2B5EF4-FFF2-40B4-BE49-F238E27FC236}">
                <a16:creationId xmlns:a16="http://schemas.microsoft.com/office/drawing/2014/main" id="{CC9AB87D-D9B2-0CB2-A3DC-2211ED1398D5}"/>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600931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111B0-4D23-2B4F-B43C-D3DCA860EFEC}"/>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8DA78C5C-C8E6-9340-A5EE-A2B64B84FFAD}"/>
              </a:ext>
            </a:extLst>
          </p:cNvPr>
          <p:cNvSpPr>
            <a:spLocks noGrp="1"/>
          </p:cNvSpPr>
          <p:nvPr>
            <p:ph idx="1"/>
          </p:nvPr>
        </p:nvSpPr>
        <p:spPr>
          <a:xfrm>
            <a:off x="609600" y="1968500"/>
            <a:ext cx="10972800" cy="3845418"/>
          </a:xfrm>
        </p:spPr>
        <p:txBody>
          <a:bodyPr/>
          <a:lstStyle/>
          <a:p>
            <a:r>
              <a:rPr lang="en-US" sz="2400" dirty="0"/>
              <a:t>Why do we need advanced materials for cladding?</a:t>
            </a:r>
          </a:p>
          <a:p>
            <a:pPr lvl="1"/>
            <a:r>
              <a:rPr lang="en-US" sz="2200" dirty="0"/>
              <a:t>Austenitic steels undergo excessive void swelling in fast reactor conditions</a:t>
            </a:r>
          </a:p>
          <a:p>
            <a:r>
              <a:rPr lang="en-US" sz="2400" dirty="0"/>
              <a:t>Why F/M steels?</a:t>
            </a:r>
          </a:p>
          <a:p>
            <a:pPr lvl="1"/>
            <a:r>
              <a:rPr lang="en-US" sz="2200" dirty="0"/>
              <a:t>have good mechanical properties, are cheap, and their microstructure can be tailored through composition and fabrication</a:t>
            </a:r>
          </a:p>
          <a:p>
            <a:r>
              <a:rPr lang="en-US" sz="2400" dirty="0"/>
              <a:t>Microstructure of F/M steels?</a:t>
            </a:r>
          </a:p>
          <a:p>
            <a:pPr lvl="1"/>
            <a:r>
              <a:rPr lang="en-US" sz="2200" dirty="0"/>
              <a:t>ferrite grains with martensite laths; M23C6 and monocarbide precipitates are prevalent both along grain boundaries and within the grains; M2X metallic precipitates form and can be converted to Laves phases</a:t>
            </a:r>
          </a:p>
          <a:p>
            <a:r>
              <a:rPr lang="en-US" sz="2400" dirty="0"/>
              <a:t>Tailoring of alloying elements has allowed for improved creep strength</a:t>
            </a:r>
          </a:p>
          <a:p>
            <a:pPr lvl="1"/>
            <a:r>
              <a:rPr lang="en-US" sz="2200" dirty="0"/>
              <a:t>impacts precipitation and solid solution strengthening</a:t>
            </a:r>
          </a:p>
          <a:p>
            <a:endParaRPr lang="en-US" sz="2400" dirty="0"/>
          </a:p>
        </p:txBody>
      </p:sp>
      <p:sp>
        <p:nvSpPr>
          <p:cNvPr id="4" name="Slide Number Placeholder 3">
            <a:extLst>
              <a:ext uri="{FF2B5EF4-FFF2-40B4-BE49-F238E27FC236}">
                <a16:creationId xmlns:a16="http://schemas.microsoft.com/office/drawing/2014/main" id="{ED11B753-34BB-F24F-B8F2-0715B045CB8B}"/>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988529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A1C98-A690-C040-9609-B199DA735162}"/>
              </a:ext>
            </a:extLst>
          </p:cNvPr>
          <p:cNvSpPr>
            <a:spLocks noGrp="1"/>
          </p:cNvSpPr>
          <p:nvPr>
            <p:ph type="title"/>
          </p:nvPr>
        </p:nvSpPr>
        <p:spPr/>
        <p:txBody>
          <a:bodyPr/>
          <a:lstStyle/>
          <a:p>
            <a:r>
              <a:rPr lang="en-US" dirty="0"/>
              <a:t>Void Swelling</a:t>
            </a:r>
          </a:p>
        </p:txBody>
      </p:sp>
      <p:sp>
        <p:nvSpPr>
          <p:cNvPr id="3" name="Content Placeholder 2">
            <a:extLst>
              <a:ext uri="{FF2B5EF4-FFF2-40B4-BE49-F238E27FC236}">
                <a16:creationId xmlns:a16="http://schemas.microsoft.com/office/drawing/2014/main" id="{EAA4C0E0-79E2-CC45-A827-F3F7B6356347}"/>
              </a:ext>
            </a:extLst>
          </p:cNvPr>
          <p:cNvSpPr>
            <a:spLocks noGrp="1"/>
          </p:cNvSpPr>
          <p:nvPr>
            <p:ph sz="half" idx="1"/>
          </p:nvPr>
        </p:nvSpPr>
        <p:spPr/>
        <p:txBody>
          <a:bodyPr/>
          <a:lstStyle/>
          <a:p>
            <a:r>
              <a:rPr lang="en-US" sz="2000" dirty="0"/>
              <a:t>Void swelling depends crucially on the structure of the matrix lattice, in which irradiation produces the excess defects</a:t>
            </a:r>
          </a:p>
          <a:p>
            <a:r>
              <a:rPr lang="en-US" sz="2000" dirty="0"/>
              <a:t>There are several reasons why the swelling resistance in ferritic steels is better than austenitic steels</a:t>
            </a:r>
          </a:p>
          <a:p>
            <a:r>
              <a:rPr lang="en-US" sz="2000" dirty="0"/>
              <a:t>First, the relaxation volume for interstitials is large in ferrite than in austenite</a:t>
            </a:r>
          </a:p>
          <a:p>
            <a:r>
              <a:rPr lang="en-US" sz="2000" dirty="0"/>
              <a:t>Thus, for a given interstitial, the strain field is larger in ferrite, which has the impact of more strongly repelling other interstitials, and more strongly attracting vacancies</a:t>
            </a:r>
          </a:p>
          <a:p>
            <a:endParaRPr lang="en-US" sz="2000" dirty="0"/>
          </a:p>
        </p:txBody>
      </p:sp>
      <p:sp>
        <p:nvSpPr>
          <p:cNvPr id="4" name="Content Placeholder 3">
            <a:extLst>
              <a:ext uri="{FF2B5EF4-FFF2-40B4-BE49-F238E27FC236}">
                <a16:creationId xmlns:a16="http://schemas.microsoft.com/office/drawing/2014/main" id="{568BE3E7-3073-8241-97A5-B8B60DAEE192}"/>
              </a:ext>
            </a:extLst>
          </p:cNvPr>
          <p:cNvSpPr>
            <a:spLocks noGrp="1"/>
          </p:cNvSpPr>
          <p:nvPr>
            <p:ph sz="half" idx="2"/>
          </p:nvPr>
        </p:nvSpPr>
        <p:spPr/>
        <p:txBody>
          <a:bodyPr/>
          <a:lstStyle/>
          <a:p>
            <a:r>
              <a:rPr lang="en-US" sz="2000" dirty="0"/>
              <a:t>Second, the migration barrier of vacancies in ferrite is much lower than in austenite (0.55 eV to 1.4 eV)</a:t>
            </a:r>
          </a:p>
          <a:p>
            <a:r>
              <a:rPr lang="en-US" sz="2000" dirty="0"/>
              <a:t>Since vacancies are more mobile in ferrite, recombination is more likely with the dispersed isolated interstitials</a:t>
            </a:r>
          </a:p>
          <a:p>
            <a:r>
              <a:rPr lang="en-US" sz="2000" dirty="0"/>
              <a:t>Third, excess vacancies can be trapped at carbide particles, of which there is a high number density, as the C-vacancy binding energy in ferrite is twice that in austenite</a:t>
            </a:r>
          </a:p>
          <a:p>
            <a:endParaRPr lang="en-US" sz="2000" dirty="0"/>
          </a:p>
          <a:p>
            <a:endParaRPr lang="en-US" sz="2000" dirty="0"/>
          </a:p>
          <a:p>
            <a:endParaRPr lang="en-US" sz="2000" dirty="0"/>
          </a:p>
        </p:txBody>
      </p:sp>
      <p:sp>
        <p:nvSpPr>
          <p:cNvPr id="5" name="Slide Number Placeholder 4">
            <a:extLst>
              <a:ext uri="{FF2B5EF4-FFF2-40B4-BE49-F238E27FC236}">
                <a16:creationId xmlns:a16="http://schemas.microsoft.com/office/drawing/2014/main" id="{C5BD9C95-E81A-FA49-A9F1-7D9A3C29249B}"/>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30314351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F5B43-335B-874E-97A8-8C8FD2782C6C}"/>
              </a:ext>
            </a:extLst>
          </p:cNvPr>
          <p:cNvSpPr>
            <a:spLocks noGrp="1"/>
          </p:cNvSpPr>
          <p:nvPr>
            <p:ph type="title"/>
          </p:nvPr>
        </p:nvSpPr>
        <p:spPr/>
        <p:txBody>
          <a:bodyPr/>
          <a:lstStyle/>
          <a:p>
            <a:r>
              <a:rPr lang="en-US" dirty="0"/>
              <a:t>Void Swelling</a:t>
            </a:r>
          </a:p>
        </p:txBody>
      </p:sp>
      <p:sp>
        <p:nvSpPr>
          <p:cNvPr id="3" name="Content Placeholder 2">
            <a:extLst>
              <a:ext uri="{FF2B5EF4-FFF2-40B4-BE49-F238E27FC236}">
                <a16:creationId xmlns:a16="http://schemas.microsoft.com/office/drawing/2014/main" id="{1AAEF490-6EF8-A642-BE11-045B616DA354}"/>
              </a:ext>
            </a:extLst>
          </p:cNvPr>
          <p:cNvSpPr>
            <a:spLocks noGrp="1"/>
          </p:cNvSpPr>
          <p:nvPr>
            <p:ph sz="half" idx="1"/>
          </p:nvPr>
        </p:nvSpPr>
        <p:spPr>
          <a:xfrm>
            <a:off x="609599" y="1968503"/>
            <a:ext cx="6439383" cy="4157663"/>
          </a:xfrm>
        </p:spPr>
        <p:txBody>
          <a:bodyPr/>
          <a:lstStyle/>
          <a:p>
            <a:r>
              <a:rPr lang="en-US" sz="2200" dirty="0"/>
              <a:t>Fourth, the way dislocations and solutes interact in ferrite makes them strong sinks, generating strain fields that attract vacancies and provide a high sink density</a:t>
            </a:r>
          </a:p>
          <a:p>
            <a:r>
              <a:rPr lang="en-US" sz="2200" dirty="0"/>
              <a:t>Finally, the complex microstructure of martensite laths and a ferrite matrix inherently produces a very high density of sinks, with some arguing the fundamental microstructure of F-M steels governs the improved swelling behavior</a:t>
            </a:r>
          </a:p>
          <a:p>
            <a:r>
              <a:rPr lang="en-US" sz="2200" dirty="0"/>
              <a:t>Some combination of all of these factors likely contribute</a:t>
            </a:r>
          </a:p>
          <a:p>
            <a:endParaRPr lang="en-US" sz="2200" dirty="0"/>
          </a:p>
        </p:txBody>
      </p:sp>
      <p:sp>
        <p:nvSpPr>
          <p:cNvPr id="5" name="Slide Number Placeholder 4">
            <a:extLst>
              <a:ext uri="{FF2B5EF4-FFF2-40B4-BE49-F238E27FC236}">
                <a16:creationId xmlns:a16="http://schemas.microsoft.com/office/drawing/2014/main" id="{24A1A010-D0E0-964D-A43D-68F88BB26061}"/>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pic>
        <p:nvPicPr>
          <p:cNvPr id="2050" name="Picture 2">
            <a:extLst>
              <a:ext uri="{FF2B5EF4-FFF2-40B4-BE49-F238E27FC236}">
                <a16:creationId xmlns:a16="http://schemas.microsoft.com/office/drawing/2014/main" id="{DB1BCF3C-E69D-0D97-809A-57DADC53D9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8982" y="2519224"/>
            <a:ext cx="4617915" cy="30562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99122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782AE-F905-1F42-9B38-0484D4D42D02}"/>
              </a:ext>
            </a:extLst>
          </p:cNvPr>
          <p:cNvSpPr>
            <a:spLocks noGrp="1"/>
          </p:cNvSpPr>
          <p:nvPr>
            <p:ph type="title"/>
          </p:nvPr>
        </p:nvSpPr>
        <p:spPr/>
        <p:txBody>
          <a:bodyPr/>
          <a:lstStyle/>
          <a:p>
            <a:r>
              <a:rPr lang="en-US" dirty="0"/>
              <a:t>Ferritic/Martensitic Steels Summary</a:t>
            </a:r>
          </a:p>
        </p:txBody>
      </p:sp>
      <p:sp>
        <p:nvSpPr>
          <p:cNvPr id="3" name="Content Placeholder 2">
            <a:extLst>
              <a:ext uri="{FF2B5EF4-FFF2-40B4-BE49-F238E27FC236}">
                <a16:creationId xmlns:a16="http://schemas.microsoft.com/office/drawing/2014/main" id="{81C1D3F2-DAFA-E244-BA1F-1125BFB58573}"/>
              </a:ext>
            </a:extLst>
          </p:cNvPr>
          <p:cNvSpPr>
            <a:spLocks noGrp="1"/>
          </p:cNvSpPr>
          <p:nvPr>
            <p:ph sz="half" idx="1"/>
          </p:nvPr>
        </p:nvSpPr>
        <p:spPr>
          <a:xfrm>
            <a:off x="609600" y="1968503"/>
            <a:ext cx="10972800" cy="4157663"/>
          </a:xfrm>
        </p:spPr>
        <p:txBody>
          <a:bodyPr/>
          <a:lstStyle/>
          <a:p>
            <a:r>
              <a:rPr lang="en-US" sz="2200" dirty="0"/>
              <a:t>Austenitic steels undergo excessive void swelling in fast reactor conditions</a:t>
            </a:r>
          </a:p>
          <a:p>
            <a:r>
              <a:rPr lang="en-US" sz="2200" dirty="0"/>
              <a:t>F/M steels have good mechanical properties, are cheap, and their microstructure can be tailored through composition and fabrication</a:t>
            </a:r>
          </a:p>
          <a:p>
            <a:r>
              <a:rPr lang="en-US" sz="2200" dirty="0"/>
              <a:t>M23C6 and monocarbide precipitate are prevalent both along grain boundaries and within the grains</a:t>
            </a:r>
          </a:p>
          <a:p>
            <a:r>
              <a:rPr lang="en-US" sz="2200" dirty="0"/>
              <a:t>Tailoring of alloying elements has allowed for improved creep strength</a:t>
            </a:r>
          </a:p>
          <a:p>
            <a:r>
              <a:rPr lang="en-US" sz="2200" dirty="0"/>
              <a:t>Embrittlement is caused by segregation of elements to lath boundaries and evolution of precipitates</a:t>
            </a:r>
          </a:p>
          <a:p>
            <a:r>
              <a:rPr lang="en-US" sz="2200" dirty="0"/>
              <a:t>DBTT shift is minimized for 9Cr steels</a:t>
            </a:r>
          </a:p>
          <a:p>
            <a:r>
              <a:rPr lang="en-US" sz="2200" dirty="0"/>
              <a:t>F/M steels swell very little, one of the key features making them suitable for application</a:t>
            </a:r>
          </a:p>
          <a:p>
            <a:endParaRPr lang="en-US" sz="2200" dirty="0"/>
          </a:p>
          <a:p>
            <a:endParaRPr lang="en-US" sz="2200" dirty="0"/>
          </a:p>
        </p:txBody>
      </p:sp>
      <p:sp>
        <p:nvSpPr>
          <p:cNvPr id="5" name="Slide Number Placeholder 4">
            <a:extLst>
              <a:ext uri="{FF2B5EF4-FFF2-40B4-BE49-F238E27FC236}">
                <a16:creationId xmlns:a16="http://schemas.microsoft.com/office/drawing/2014/main" id="{F198D1E3-E8A5-4544-9EA4-0F74B41B0747}"/>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Tree>
    <p:extLst>
      <p:ext uri="{BB962C8B-B14F-4D97-AF65-F5344CB8AC3E}">
        <p14:creationId xmlns:p14="http://schemas.microsoft.com/office/powerpoint/2010/main" val="3588340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Fe-Cr-al steels</a:t>
            </a:r>
          </a:p>
        </p:txBody>
      </p:sp>
      <p:sp>
        <p:nvSpPr>
          <p:cNvPr id="3" name="Slide Number Placeholder 2">
            <a:extLst>
              <a:ext uri="{FF2B5EF4-FFF2-40B4-BE49-F238E27FC236}">
                <a16:creationId xmlns:a16="http://schemas.microsoft.com/office/drawing/2014/main" id="{3D2E1359-2B7E-6A45-B180-EACF31264D2A}"/>
              </a:ext>
            </a:extLst>
          </p:cNvPr>
          <p:cNvSpPr>
            <a:spLocks noGrp="1"/>
          </p:cNvSpPr>
          <p:nvPr>
            <p:ph type="sldNum" sz="quarter" idx="12"/>
          </p:nvPr>
        </p:nvSpPr>
        <p:spPr/>
        <p:txBody>
          <a:bodyPr/>
          <a:lstStyle/>
          <a:p>
            <a:pPr>
              <a:defRPr/>
            </a:pPr>
            <a:fld id="{0DA6BD0F-ABBC-C14D-BC96-77BE126A748B}" type="slidenum">
              <a:rPr lang="en-US" smtClean="0"/>
              <a:pPr>
                <a:defRPr/>
              </a:pPr>
              <a:t>7</a:t>
            </a:fld>
            <a:endParaRPr lang="en-US"/>
          </a:p>
        </p:txBody>
      </p:sp>
    </p:spTree>
    <p:extLst>
      <p:ext uri="{BB962C8B-B14F-4D97-AF65-F5344CB8AC3E}">
        <p14:creationId xmlns:p14="http://schemas.microsoft.com/office/powerpoint/2010/main" val="1830762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F196B-8714-6AEC-E22F-89A530AA4958}"/>
              </a:ext>
            </a:extLst>
          </p:cNvPr>
          <p:cNvSpPr>
            <a:spLocks noGrp="1"/>
          </p:cNvSpPr>
          <p:nvPr>
            <p:ph type="title"/>
          </p:nvPr>
        </p:nvSpPr>
        <p:spPr/>
        <p:txBody>
          <a:bodyPr/>
          <a:lstStyle/>
          <a:p>
            <a:r>
              <a:rPr lang="en-US" dirty="0" err="1"/>
              <a:t>FeCrAl</a:t>
            </a:r>
            <a:endParaRPr lang="en-US" dirty="0"/>
          </a:p>
        </p:txBody>
      </p:sp>
      <p:sp>
        <p:nvSpPr>
          <p:cNvPr id="3" name="Content Placeholder 2">
            <a:extLst>
              <a:ext uri="{FF2B5EF4-FFF2-40B4-BE49-F238E27FC236}">
                <a16:creationId xmlns:a16="http://schemas.microsoft.com/office/drawing/2014/main" id="{ED77D503-F0EF-C5E7-795C-25ABC11E6F56}"/>
              </a:ext>
            </a:extLst>
          </p:cNvPr>
          <p:cNvSpPr>
            <a:spLocks noGrp="1"/>
          </p:cNvSpPr>
          <p:nvPr>
            <p:ph idx="1"/>
          </p:nvPr>
        </p:nvSpPr>
        <p:spPr>
          <a:xfrm>
            <a:off x="609600" y="1968500"/>
            <a:ext cx="10972800" cy="4157664"/>
          </a:xfrm>
        </p:spPr>
        <p:txBody>
          <a:bodyPr/>
          <a:lstStyle/>
          <a:p>
            <a:r>
              <a:rPr lang="en-US" sz="2200" dirty="0" err="1"/>
              <a:t>FeCrAl</a:t>
            </a:r>
            <a:r>
              <a:rPr lang="en-US" sz="2200" dirty="0"/>
              <a:t> alloys are expected to have excellent high temperature corrosion behavior and very low void swelling, making them viable candidates for both LWR and advanced reactors</a:t>
            </a:r>
          </a:p>
          <a:p>
            <a:r>
              <a:rPr lang="en-US" sz="2200" dirty="0"/>
              <a:t>Strong push over the last 10 years to develop </a:t>
            </a:r>
            <a:r>
              <a:rPr lang="en-US" sz="2200" dirty="0" err="1"/>
              <a:t>FeCrAl</a:t>
            </a:r>
            <a:r>
              <a:rPr lang="en-US" sz="2200" dirty="0"/>
              <a:t> after Fukushima, including it as an accident tolerant fuel concept</a:t>
            </a:r>
          </a:p>
          <a:p>
            <a:r>
              <a:rPr lang="en-US" sz="2200" dirty="0"/>
              <a:t>Alloying additions are weighed to target properties and microstructure</a:t>
            </a:r>
          </a:p>
          <a:p>
            <a:r>
              <a:rPr lang="en-US" sz="2200" dirty="0"/>
              <a:t>Al allows for formation of Al2O3, limiting high T steam corrosion</a:t>
            </a:r>
          </a:p>
          <a:p>
            <a:r>
              <a:rPr lang="en-US" sz="2200" dirty="0"/>
              <a:t>Too much Cr leads to sigma phase and alpha’ which cause embrittlement, while too much Al leads to the formation of Al intermetallics</a:t>
            </a:r>
          </a:p>
          <a:p>
            <a:r>
              <a:rPr lang="en-US" sz="2200" dirty="0"/>
              <a:t>Cr and Al act as bcc stabilizers such that </a:t>
            </a:r>
            <a:r>
              <a:rPr lang="en-US" sz="2200" dirty="0" err="1"/>
              <a:t>FeCrAl</a:t>
            </a:r>
            <a:r>
              <a:rPr lang="en-US" sz="2200" dirty="0"/>
              <a:t> is fully ferritic</a:t>
            </a:r>
          </a:p>
          <a:p>
            <a:r>
              <a:rPr lang="en-US" sz="2200" dirty="0"/>
              <a:t>Other alloying species are added to increase strength, modify precipitation, etc.</a:t>
            </a:r>
          </a:p>
          <a:p>
            <a:endParaRPr lang="en-US" sz="2200" dirty="0"/>
          </a:p>
        </p:txBody>
      </p:sp>
      <p:sp>
        <p:nvSpPr>
          <p:cNvPr id="4" name="Slide Number Placeholder 3">
            <a:extLst>
              <a:ext uri="{FF2B5EF4-FFF2-40B4-BE49-F238E27FC236}">
                <a16:creationId xmlns:a16="http://schemas.microsoft.com/office/drawing/2014/main" id="{9551BE38-FE41-6389-20E5-9EA037DF3C73}"/>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spTree>
    <p:extLst>
      <p:ext uri="{BB962C8B-B14F-4D97-AF65-F5344CB8AC3E}">
        <p14:creationId xmlns:p14="http://schemas.microsoft.com/office/powerpoint/2010/main" val="2903560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F196B-8714-6AEC-E22F-89A530AA4958}"/>
              </a:ext>
            </a:extLst>
          </p:cNvPr>
          <p:cNvSpPr>
            <a:spLocks noGrp="1"/>
          </p:cNvSpPr>
          <p:nvPr>
            <p:ph type="title"/>
          </p:nvPr>
        </p:nvSpPr>
        <p:spPr/>
        <p:txBody>
          <a:bodyPr/>
          <a:lstStyle/>
          <a:p>
            <a:r>
              <a:rPr lang="en-US" dirty="0"/>
              <a:t>Compositional Limits</a:t>
            </a:r>
          </a:p>
        </p:txBody>
      </p:sp>
      <p:sp>
        <p:nvSpPr>
          <p:cNvPr id="3" name="Content Placeholder 2">
            <a:extLst>
              <a:ext uri="{FF2B5EF4-FFF2-40B4-BE49-F238E27FC236}">
                <a16:creationId xmlns:a16="http://schemas.microsoft.com/office/drawing/2014/main" id="{ED77D503-F0EF-C5E7-795C-25ABC11E6F56}"/>
              </a:ext>
            </a:extLst>
          </p:cNvPr>
          <p:cNvSpPr>
            <a:spLocks noGrp="1"/>
          </p:cNvSpPr>
          <p:nvPr>
            <p:ph idx="1"/>
          </p:nvPr>
        </p:nvSpPr>
        <p:spPr>
          <a:xfrm>
            <a:off x="609601" y="1968500"/>
            <a:ext cx="6410632" cy="4157664"/>
          </a:xfrm>
        </p:spPr>
        <p:txBody>
          <a:bodyPr/>
          <a:lstStyle/>
          <a:p>
            <a:r>
              <a:rPr lang="en-US" sz="2200" dirty="0"/>
              <a:t>A range of alloys have been studied for radiation tolerance utilizing different fabrication techniques</a:t>
            </a:r>
          </a:p>
          <a:p>
            <a:r>
              <a:rPr lang="en-US" sz="2200" dirty="0"/>
              <a:t>Typically operate from 5-25 </a:t>
            </a:r>
            <a:r>
              <a:rPr lang="en-US" sz="2200" dirty="0" err="1"/>
              <a:t>wt</a:t>
            </a:r>
            <a:r>
              <a:rPr lang="en-US" sz="2200" dirty="0"/>
              <a:t>.%Cr and 2-8wt%Al</a:t>
            </a:r>
          </a:p>
          <a:p>
            <a:r>
              <a:rPr lang="en-US" sz="2200" dirty="0"/>
              <a:t>If too little Cr/Al is present, get poor high temperature corrosion resistance</a:t>
            </a:r>
          </a:p>
          <a:p>
            <a:r>
              <a:rPr lang="en-US" sz="2200" dirty="0"/>
              <a:t>To much Cr/Al, embrittlement and fabrication issues</a:t>
            </a:r>
          </a:p>
          <a:p>
            <a:r>
              <a:rPr lang="en-US" sz="2200" dirty="0"/>
              <a:t>To much of either Cr or Al, unfavorable precipitation behavior</a:t>
            </a:r>
          </a:p>
        </p:txBody>
      </p:sp>
      <p:sp>
        <p:nvSpPr>
          <p:cNvPr id="4" name="Slide Number Placeholder 3">
            <a:extLst>
              <a:ext uri="{FF2B5EF4-FFF2-40B4-BE49-F238E27FC236}">
                <a16:creationId xmlns:a16="http://schemas.microsoft.com/office/drawing/2014/main" id="{9551BE38-FE41-6389-20E5-9EA037DF3C73}"/>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pic>
        <p:nvPicPr>
          <p:cNvPr id="5" name="Picture 4">
            <a:extLst>
              <a:ext uri="{FF2B5EF4-FFF2-40B4-BE49-F238E27FC236}">
                <a16:creationId xmlns:a16="http://schemas.microsoft.com/office/drawing/2014/main" id="{3406574B-8CBC-D341-9597-5D32004E4789}"/>
              </a:ext>
            </a:extLst>
          </p:cNvPr>
          <p:cNvPicPr>
            <a:picLocks noChangeAspect="1"/>
          </p:cNvPicPr>
          <p:nvPr/>
        </p:nvPicPr>
        <p:blipFill>
          <a:blip r:embed="rId2"/>
          <a:stretch>
            <a:fillRect/>
          </a:stretch>
        </p:blipFill>
        <p:spPr>
          <a:xfrm>
            <a:off x="7020233" y="1799709"/>
            <a:ext cx="4946220" cy="4158178"/>
          </a:xfrm>
          <a:prstGeom prst="rect">
            <a:avLst/>
          </a:prstGeom>
        </p:spPr>
      </p:pic>
      <p:sp>
        <p:nvSpPr>
          <p:cNvPr id="7" name="TextBox 6">
            <a:extLst>
              <a:ext uri="{FF2B5EF4-FFF2-40B4-BE49-F238E27FC236}">
                <a16:creationId xmlns:a16="http://schemas.microsoft.com/office/drawing/2014/main" id="{4E62ED79-8F24-8A97-FE81-3BDB23D20C83}"/>
              </a:ext>
            </a:extLst>
          </p:cNvPr>
          <p:cNvSpPr txBox="1"/>
          <p:nvPr/>
        </p:nvSpPr>
        <p:spPr>
          <a:xfrm>
            <a:off x="7573617" y="5947548"/>
            <a:ext cx="4464878" cy="415498"/>
          </a:xfrm>
          <a:prstGeom prst="rect">
            <a:avLst/>
          </a:prstGeom>
          <a:noFill/>
        </p:spPr>
        <p:txBody>
          <a:bodyPr wrap="square">
            <a:spAutoFit/>
          </a:bodyPr>
          <a:lstStyle/>
          <a:p>
            <a:pPr algn="ctr">
              <a:buNone/>
            </a:pPr>
            <a:r>
              <a:rPr lang="en-US" sz="1050" dirty="0">
                <a:effectLst/>
                <a:latin typeface="Helvetica" pitchFamily="2" charset="0"/>
              </a:rPr>
              <a:t>Unirradiated and irradiated compositions studied for </a:t>
            </a:r>
            <a:r>
              <a:rPr lang="en-US" sz="1050" dirty="0" err="1">
                <a:effectLst/>
                <a:latin typeface="Helvetica" pitchFamily="2" charset="0"/>
              </a:rPr>
              <a:t>FeCrAl</a:t>
            </a:r>
            <a:r>
              <a:rPr lang="en-US" sz="1050" dirty="0">
                <a:effectLst/>
                <a:latin typeface="Helvetica" pitchFamily="2" charset="0"/>
              </a:rPr>
              <a:t> alloys for both ingot metallurgy derived and powder metallurgy samples</a:t>
            </a:r>
          </a:p>
        </p:txBody>
      </p:sp>
    </p:spTree>
    <p:extLst>
      <p:ext uri="{BB962C8B-B14F-4D97-AF65-F5344CB8AC3E}">
        <p14:creationId xmlns:p14="http://schemas.microsoft.com/office/powerpoint/2010/main" val="1330353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61322-6713-2ADA-7528-8C088CACF3EB}"/>
              </a:ext>
            </a:extLst>
          </p:cNvPr>
          <p:cNvSpPr>
            <a:spLocks noGrp="1"/>
          </p:cNvSpPr>
          <p:nvPr>
            <p:ph type="title"/>
          </p:nvPr>
        </p:nvSpPr>
        <p:spPr/>
        <p:txBody>
          <a:bodyPr/>
          <a:lstStyle/>
          <a:p>
            <a:r>
              <a:rPr lang="en-US" dirty="0"/>
              <a:t>Oxidation Resistance</a:t>
            </a:r>
          </a:p>
        </p:txBody>
      </p:sp>
      <p:sp>
        <p:nvSpPr>
          <p:cNvPr id="3" name="Content Placeholder 2">
            <a:extLst>
              <a:ext uri="{FF2B5EF4-FFF2-40B4-BE49-F238E27FC236}">
                <a16:creationId xmlns:a16="http://schemas.microsoft.com/office/drawing/2014/main" id="{A4AD00BD-9E17-3574-741A-2D9016AAED75}"/>
              </a:ext>
            </a:extLst>
          </p:cNvPr>
          <p:cNvSpPr>
            <a:spLocks noGrp="1"/>
          </p:cNvSpPr>
          <p:nvPr>
            <p:ph idx="1"/>
          </p:nvPr>
        </p:nvSpPr>
        <p:spPr>
          <a:xfrm>
            <a:off x="609600" y="1968500"/>
            <a:ext cx="6931231" cy="4157664"/>
          </a:xfrm>
        </p:spPr>
        <p:txBody>
          <a:bodyPr/>
          <a:lstStyle/>
          <a:p>
            <a:r>
              <a:rPr lang="en-US" dirty="0"/>
              <a:t>For applications in LWRs or other water-cooled systems, current cladding (zircaloy) exhibits excessive oxidation at T &gt; 1200 C</a:t>
            </a:r>
          </a:p>
          <a:p>
            <a:r>
              <a:rPr lang="en-US" dirty="0" err="1"/>
              <a:t>FeCrAl</a:t>
            </a:r>
            <a:r>
              <a:rPr lang="en-US" dirty="0"/>
              <a:t> can form a stable Al2O3 layer on the surface that is relatively resistant to high temperature steam corrosion</a:t>
            </a:r>
          </a:p>
          <a:p>
            <a:r>
              <a:rPr lang="en-US" dirty="0"/>
              <a:t>Comparing rate constants of zircaloy, SS, and </a:t>
            </a:r>
            <a:r>
              <a:rPr lang="en-US" dirty="0" err="1"/>
              <a:t>FeCrAl</a:t>
            </a:r>
            <a:r>
              <a:rPr lang="en-US" dirty="0"/>
              <a:t> (APMT), significant oxidation resistance is gained for </a:t>
            </a:r>
            <a:r>
              <a:rPr lang="en-US" dirty="0" err="1"/>
              <a:t>FeCrAl</a:t>
            </a:r>
            <a:endParaRPr lang="en-US" dirty="0"/>
          </a:p>
          <a:p>
            <a:r>
              <a:rPr lang="en-US" dirty="0"/>
              <a:t>Al2O3 is significantly more stable at very high T than either Cr2O3 or ZrO2</a:t>
            </a:r>
          </a:p>
          <a:p>
            <a:endParaRPr lang="en-US" dirty="0"/>
          </a:p>
          <a:p>
            <a:endParaRPr lang="en-US" dirty="0"/>
          </a:p>
        </p:txBody>
      </p:sp>
      <p:sp>
        <p:nvSpPr>
          <p:cNvPr id="4" name="Slide Number Placeholder 3">
            <a:extLst>
              <a:ext uri="{FF2B5EF4-FFF2-40B4-BE49-F238E27FC236}">
                <a16:creationId xmlns:a16="http://schemas.microsoft.com/office/drawing/2014/main" id="{11CBC188-80ED-55BC-E160-02E7B15508E4}"/>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pic>
        <p:nvPicPr>
          <p:cNvPr id="5" name="Picture 4">
            <a:extLst>
              <a:ext uri="{FF2B5EF4-FFF2-40B4-BE49-F238E27FC236}">
                <a16:creationId xmlns:a16="http://schemas.microsoft.com/office/drawing/2014/main" id="{52D006A8-F322-6974-73DB-BB7486764AE6}"/>
              </a:ext>
            </a:extLst>
          </p:cNvPr>
          <p:cNvPicPr>
            <a:picLocks noChangeAspect="1"/>
          </p:cNvPicPr>
          <p:nvPr/>
        </p:nvPicPr>
        <p:blipFill>
          <a:blip r:embed="rId2"/>
          <a:stretch>
            <a:fillRect/>
          </a:stretch>
        </p:blipFill>
        <p:spPr>
          <a:xfrm>
            <a:off x="7659583" y="2755459"/>
            <a:ext cx="4357791" cy="3681051"/>
          </a:xfrm>
          <a:prstGeom prst="rect">
            <a:avLst/>
          </a:prstGeom>
        </p:spPr>
      </p:pic>
      <p:pic>
        <p:nvPicPr>
          <p:cNvPr id="6" name="Picture 5">
            <a:extLst>
              <a:ext uri="{FF2B5EF4-FFF2-40B4-BE49-F238E27FC236}">
                <a16:creationId xmlns:a16="http://schemas.microsoft.com/office/drawing/2014/main" id="{DE6D4069-8EC4-54E4-49C1-A26082896980}"/>
              </a:ext>
            </a:extLst>
          </p:cNvPr>
          <p:cNvPicPr>
            <a:picLocks noChangeAspect="1"/>
          </p:cNvPicPr>
          <p:nvPr/>
        </p:nvPicPr>
        <p:blipFill>
          <a:blip r:embed="rId3"/>
          <a:stretch>
            <a:fillRect/>
          </a:stretch>
        </p:blipFill>
        <p:spPr>
          <a:xfrm>
            <a:off x="8596580" y="587829"/>
            <a:ext cx="2717800" cy="2286000"/>
          </a:xfrm>
          <a:prstGeom prst="rect">
            <a:avLst/>
          </a:prstGeom>
        </p:spPr>
      </p:pic>
    </p:spTree>
    <p:extLst>
      <p:ext uri="{BB962C8B-B14F-4D97-AF65-F5344CB8AC3E}">
        <p14:creationId xmlns:p14="http://schemas.microsoft.com/office/powerpoint/2010/main" val="4318805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DD8AC-9FF8-FABD-535A-28797BE744C5}"/>
              </a:ext>
            </a:extLst>
          </p:cNvPr>
          <p:cNvSpPr>
            <a:spLocks noGrp="1"/>
          </p:cNvSpPr>
          <p:nvPr>
            <p:ph type="title"/>
          </p:nvPr>
        </p:nvSpPr>
        <p:spPr/>
        <p:txBody>
          <a:bodyPr/>
          <a:lstStyle/>
          <a:p>
            <a:r>
              <a:rPr lang="en-US" dirty="0"/>
              <a:t>Oxidation Resistance</a:t>
            </a:r>
          </a:p>
        </p:txBody>
      </p:sp>
      <p:sp>
        <p:nvSpPr>
          <p:cNvPr id="3" name="Content Placeholder 2">
            <a:extLst>
              <a:ext uri="{FF2B5EF4-FFF2-40B4-BE49-F238E27FC236}">
                <a16:creationId xmlns:a16="http://schemas.microsoft.com/office/drawing/2014/main" id="{9173ADE5-8FB3-9BD0-F846-7D8ABB85FC93}"/>
              </a:ext>
            </a:extLst>
          </p:cNvPr>
          <p:cNvSpPr>
            <a:spLocks noGrp="1"/>
          </p:cNvSpPr>
          <p:nvPr>
            <p:ph idx="1"/>
          </p:nvPr>
        </p:nvSpPr>
        <p:spPr>
          <a:xfrm>
            <a:off x="609600" y="1968500"/>
            <a:ext cx="6183086" cy="4157664"/>
          </a:xfrm>
        </p:spPr>
        <p:txBody>
          <a:bodyPr/>
          <a:lstStyle/>
          <a:p>
            <a:r>
              <a:rPr lang="en-US" dirty="0"/>
              <a:t>The composition of the </a:t>
            </a:r>
            <a:r>
              <a:rPr lang="en-US" dirty="0" err="1"/>
              <a:t>FeCrAl</a:t>
            </a:r>
            <a:r>
              <a:rPr lang="en-US" dirty="0"/>
              <a:t> alloy determines its ability to form passivating layers at high T</a:t>
            </a:r>
          </a:p>
          <a:p>
            <a:r>
              <a:rPr lang="en-US" dirty="0"/>
              <a:t>At a chromium content of 10 wt%, alloys investigated with Al content &lt; 4.5 wt% did not form protective oxide scales</a:t>
            </a:r>
          </a:p>
          <a:p>
            <a:r>
              <a:rPr lang="en-US" dirty="0"/>
              <a:t>With increasing Cr and Al content, e.g., 12wt% Cr and 4.5 wt% Al, protective scales formed</a:t>
            </a:r>
          </a:p>
          <a:p>
            <a:r>
              <a:rPr lang="en-US" dirty="0"/>
              <a:t>At ~18 wt% Cr and as low as 3 wt% Al content, a protective oxide can still be formed</a:t>
            </a:r>
          </a:p>
          <a:p>
            <a:r>
              <a:rPr lang="en-US" dirty="0"/>
              <a:t>This oxidation behavior, in conjunction with irradiation behavior (coming next), determines viable composition ranges of </a:t>
            </a:r>
            <a:r>
              <a:rPr lang="en-US" dirty="0" err="1"/>
              <a:t>FeCrAl</a:t>
            </a:r>
            <a:endParaRPr lang="en-US" dirty="0"/>
          </a:p>
        </p:txBody>
      </p:sp>
      <p:sp>
        <p:nvSpPr>
          <p:cNvPr id="4" name="Slide Number Placeholder 3">
            <a:extLst>
              <a:ext uri="{FF2B5EF4-FFF2-40B4-BE49-F238E27FC236}">
                <a16:creationId xmlns:a16="http://schemas.microsoft.com/office/drawing/2014/main" id="{7528506B-FE70-80F8-BB18-567DC60BEC2D}"/>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pic>
        <p:nvPicPr>
          <p:cNvPr id="5" name="Picture 4">
            <a:extLst>
              <a:ext uri="{FF2B5EF4-FFF2-40B4-BE49-F238E27FC236}">
                <a16:creationId xmlns:a16="http://schemas.microsoft.com/office/drawing/2014/main" id="{52BC3915-733B-B9C1-1829-F901F1BD6B1A}"/>
              </a:ext>
            </a:extLst>
          </p:cNvPr>
          <p:cNvPicPr>
            <a:picLocks noChangeAspect="1"/>
          </p:cNvPicPr>
          <p:nvPr/>
        </p:nvPicPr>
        <p:blipFill>
          <a:blip r:embed="rId2"/>
          <a:stretch>
            <a:fillRect/>
          </a:stretch>
        </p:blipFill>
        <p:spPr>
          <a:xfrm>
            <a:off x="7578189" y="652401"/>
            <a:ext cx="3679619" cy="3131366"/>
          </a:xfrm>
          <a:prstGeom prst="rect">
            <a:avLst/>
          </a:prstGeom>
        </p:spPr>
      </p:pic>
      <p:pic>
        <p:nvPicPr>
          <p:cNvPr id="6" name="Picture 5">
            <a:extLst>
              <a:ext uri="{FF2B5EF4-FFF2-40B4-BE49-F238E27FC236}">
                <a16:creationId xmlns:a16="http://schemas.microsoft.com/office/drawing/2014/main" id="{C8C3FB8D-42CB-A87C-0656-C82051465D1E}"/>
              </a:ext>
            </a:extLst>
          </p:cNvPr>
          <p:cNvPicPr>
            <a:picLocks noChangeAspect="1"/>
          </p:cNvPicPr>
          <p:nvPr/>
        </p:nvPicPr>
        <p:blipFill>
          <a:blip r:embed="rId3"/>
          <a:stretch>
            <a:fillRect/>
          </a:stretch>
        </p:blipFill>
        <p:spPr>
          <a:xfrm>
            <a:off x="7882453" y="3751200"/>
            <a:ext cx="3071090" cy="3106800"/>
          </a:xfrm>
          <a:prstGeom prst="rect">
            <a:avLst/>
          </a:prstGeom>
        </p:spPr>
      </p:pic>
    </p:spTree>
    <p:extLst>
      <p:ext uri="{BB962C8B-B14F-4D97-AF65-F5344CB8AC3E}">
        <p14:creationId xmlns:p14="http://schemas.microsoft.com/office/powerpoint/2010/main" val="28173678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F196B-8714-6AEC-E22F-89A530AA4958}"/>
              </a:ext>
            </a:extLst>
          </p:cNvPr>
          <p:cNvSpPr>
            <a:spLocks noGrp="1"/>
          </p:cNvSpPr>
          <p:nvPr>
            <p:ph type="title"/>
          </p:nvPr>
        </p:nvSpPr>
        <p:spPr/>
        <p:txBody>
          <a:bodyPr/>
          <a:lstStyle/>
          <a:p>
            <a:r>
              <a:rPr lang="en-US" dirty="0"/>
              <a:t>Irradiation Behavior</a:t>
            </a:r>
          </a:p>
        </p:txBody>
      </p:sp>
      <p:sp>
        <p:nvSpPr>
          <p:cNvPr id="3" name="Content Placeholder 2">
            <a:extLst>
              <a:ext uri="{FF2B5EF4-FFF2-40B4-BE49-F238E27FC236}">
                <a16:creationId xmlns:a16="http://schemas.microsoft.com/office/drawing/2014/main" id="{ED77D503-F0EF-C5E7-795C-25ABC11E6F56}"/>
              </a:ext>
            </a:extLst>
          </p:cNvPr>
          <p:cNvSpPr>
            <a:spLocks noGrp="1"/>
          </p:cNvSpPr>
          <p:nvPr>
            <p:ph idx="1"/>
          </p:nvPr>
        </p:nvSpPr>
        <p:spPr>
          <a:xfrm>
            <a:off x="609600" y="1968500"/>
            <a:ext cx="6587613" cy="4157664"/>
          </a:xfrm>
        </p:spPr>
        <p:txBody>
          <a:bodyPr/>
          <a:lstStyle/>
          <a:p>
            <a:r>
              <a:rPr lang="en-US" sz="2200" dirty="0"/>
              <a:t>Effectively no void swelling has been observed up to 23 dpa and 600C</a:t>
            </a:r>
          </a:p>
          <a:p>
            <a:r>
              <a:rPr lang="en-US" sz="2200" dirty="0"/>
              <a:t>These alloys are expected to display excellent void swelling resistance characteristic of ferritic alloys</a:t>
            </a:r>
          </a:p>
          <a:p>
            <a:r>
              <a:rPr lang="en-US" sz="2200" dirty="0"/>
              <a:t>Both vacancy and interstitial loops of specific orientations are known to form, regardless of minor compositional variances</a:t>
            </a:r>
          </a:p>
          <a:p>
            <a:r>
              <a:rPr lang="en-US" sz="2200" dirty="0"/>
              <a:t>Loop size and density are impacted by composition and as-fabricated microstructure</a:t>
            </a:r>
          </a:p>
        </p:txBody>
      </p:sp>
      <p:sp>
        <p:nvSpPr>
          <p:cNvPr id="4" name="Slide Number Placeholder 3">
            <a:extLst>
              <a:ext uri="{FF2B5EF4-FFF2-40B4-BE49-F238E27FC236}">
                <a16:creationId xmlns:a16="http://schemas.microsoft.com/office/drawing/2014/main" id="{9551BE38-FE41-6389-20E5-9EA037DF3C73}"/>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pic>
        <p:nvPicPr>
          <p:cNvPr id="5" name="Picture 4">
            <a:extLst>
              <a:ext uri="{FF2B5EF4-FFF2-40B4-BE49-F238E27FC236}">
                <a16:creationId xmlns:a16="http://schemas.microsoft.com/office/drawing/2014/main" id="{7758224A-9DBB-F81A-474C-B3D0215864AC}"/>
              </a:ext>
            </a:extLst>
          </p:cNvPr>
          <p:cNvPicPr>
            <a:picLocks noChangeAspect="1"/>
          </p:cNvPicPr>
          <p:nvPr/>
        </p:nvPicPr>
        <p:blipFill>
          <a:blip r:embed="rId2"/>
          <a:stretch>
            <a:fillRect/>
          </a:stretch>
        </p:blipFill>
        <p:spPr>
          <a:xfrm>
            <a:off x="7338757" y="2237453"/>
            <a:ext cx="4711700" cy="3238500"/>
          </a:xfrm>
          <a:prstGeom prst="rect">
            <a:avLst/>
          </a:prstGeom>
        </p:spPr>
      </p:pic>
    </p:spTree>
    <p:extLst>
      <p:ext uri="{BB962C8B-B14F-4D97-AF65-F5344CB8AC3E}">
        <p14:creationId xmlns:p14="http://schemas.microsoft.com/office/powerpoint/2010/main" val="4005634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F196B-8714-6AEC-E22F-89A530AA4958}"/>
              </a:ext>
            </a:extLst>
          </p:cNvPr>
          <p:cNvSpPr>
            <a:spLocks noGrp="1"/>
          </p:cNvSpPr>
          <p:nvPr>
            <p:ph type="title"/>
          </p:nvPr>
        </p:nvSpPr>
        <p:spPr/>
        <p:txBody>
          <a:bodyPr/>
          <a:lstStyle/>
          <a:p>
            <a:r>
              <a:rPr lang="en-US" dirty="0"/>
              <a:t>alpha’ Precipitation</a:t>
            </a:r>
          </a:p>
        </p:txBody>
      </p:sp>
      <p:sp>
        <p:nvSpPr>
          <p:cNvPr id="3" name="Content Placeholder 2">
            <a:extLst>
              <a:ext uri="{FF2B5EF4-FFF2-40B4-BE49-F238E27FC236}">
                <a16:creationId xmlns:a16="http://schemas.microsoft.com/office/drawing/2014/main" id="{ED77D503-F0EF-C5E7-795C-25ABC11E6F56}"/>
              </a:ext>
            </a:extLst>
          </p:cNvPr>
          <p:cNvSpPr>
            <a:spLocks noGrp="1"/>
          </p:cNvSpPr>
          <p:nvPr>
            <p:ph idx="1"/>
          </p:nvPr>
        </p:nvSpPr>
        <p:spPr>
          <a:xfrm>
            <a:off x="569537" y="1958596"/>
            <a:ext cx="7675547" cy="3845418"/>
          </a:xfrm>
        </p:spPr>
        <p:txBody>
          <a:bodyPr/>
          <a:lstStyle/>
          <a:p>
            <a:r>
              <a:rPr lang="en-US" sz="2200" dirty="0"/>
              <a:t>Like other high-Cr ferritic alloys, </a:t>
            </a:r>
            <a:r>
              <a:rPr lang="en-US" sz="2200" dirty="0" err="1"/>
              <a:t>FeCrAl</a:t>
            </a:r>
            <a:r>
              <a:rPr lang="en-US" sz="2200" dirty="0"/>
              <a:t> alloys have been shown to be susceptible to irradiation-enhanced precipitation of the Cr-rich alpha’ phase</a:t>
            </a:r>
          </a:p>
          <a:p>
            <a:r>
              <a:rPr lang="en-US" sz="2200" dirty="0"/>
              <a:t>Embrittlement due to alpha’ formation has a high likelihood of being the primary factor dictating the useful lifetime of </a:t>
            </a:r>
            <a:r>
              <a:rPr lang="en-US" sz="2200" dirty="0" err="1"/>
              <a:t>FeCrAl</a:t>
            </a:r>
            <a:r>
              <a:rPr lang="en-US" sz="2200" dirty="0"/>
              <a:t> components</a:t>
            </a:r>
          </a:p>
          <a:p>
            <a:r>
              <a:rPr lang="en-US" sz="2200" dirty="0"/>
              <a:t>Aluminum is believed to inhibit, but not prevent, alpha’ precipitation</a:t>
            </a:r>
          </a:p>
          <a:p>
            <a:r>
              <a:rPr lang="en-US" sz="2200" dirty="0"/>
              <a:t>Irradiation enhanced diffusion accelerates the Cr precipitation, reducing the temperature and Cr-content at which alpha’ is expected to form</a:t>
            </a:r>
          </a:p>
          <a:p>
            <a:endParaRPr lang="en-US" sz="2200" dirty="0"/>
          </a:p>
        </p:txBody>
      </p:sp>
      <p:sp>
        <p:nvSpPr>
          <p:cNvPr id="4" name="Slide Number Placeholder 3">
            <a:extLst>
              <a:ext uri="{FF2B5EF4-FFF2-40B4-BE49-F238E27FC236}">
                <a16:creationId xmlns:a16="http://schemas.microsoft.com/office/drawing/2014/main" id="{9551BE38-FE41-6389-20E5-9EA037DF3C73}"/>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pic>
        <p:nvPicPr>
          <p:cNvPr id="5" name="Picture 4">
            <a:extLst>
              <a:ext uri="{FF2B5EF4-FFF2-40B4-BE49-F238E27FC236}">
                <a16:creationId xmlns:a16="http://schemas.microsoft.com/office/drawing/2014/main" id="{DA18F8BF-5F3E-BE2F-2843-5B218CF71AE0}"/>
              </a:ext>
            </a:extLst>
          </p:cNvPr>
          <p:cNvPicPr>
            <a:picLocks noChangeAspect="1"/>
          </p:cNvPicPr>
          <p:nvPr/>
        </p:nvPicPr>
        <p:blipFill>
          <a:blip r:embed="rId2"/>
          <a:stretch>
            <a:fillRect/>
          </a:stretch>
        </p:blipFill>
        <p:spPr>
          <a:xfrm>
            <a:off x="8737600" y="1020759"/>
            <a:ext cx="2392347" cy="4675239"/>
          </a:xfrm>
          <a:prstGeom prst="rect">
            <a:avLst/>
          </a:prstGeom>
        </p:spPr>
      </p:pic>
      <p:sp>
        <p:nvSpPr>
          <p:cNvPr id="7" name="TextBox 6">
            <a:extLst>
              <a:ext uri="{FF2B5EF4-FFF2-40B4-BE49-F238E27FC236}">
                <a16:creationId xmlns:a16="http://schemas.microsoft.com/office/drawing/2014/main" id="{74A9CA1F-279A-F089-1F34-F74024DEDA14}"/>
              </a:ext>
            </a:extLst>
          </p:cNvPr>
          <p:cNvSpPr txBox="1"/>
          <p:nvPr/>
        </p:nvSpPr>
        <p:spPr>
          <a:xfrm>
            <a:off x="8245083" y="5794110"/>
            <a:ext cx="3377380" cy="584775"/>
          </a:xfrm>
          <a:prstGeom prst="rect">
            <a:avLst/>
          </a:prstGeom>
          <a:noFill/>
        </p:spPr>
        <p:txBody>
          <a:bodyPr wrap="square">
            <a:spAutoFit/>
          </a:bodyPr>
          <a:lstStyle/>
          <a:p>
            <a:pPr algn="ctr"/>
            <a:r>
              <a:rPr lang="en-US" sz="1600" dirty="0">
                <a:effectLst/>
                <a:latin typeface="Helvetica" pitchFamily="2" charset="0"/>
              </a:rPr>
              <a:t>Atom probe tomography Cr atom maps during neutron irradiation</a:t>
            </a:r>
          </a:p>
        </p:txBody>
      </p:sp>
    </p:spTree>
    <p:extLst>
      <p:ext uri="{BB962C8B-B14F-4D97-AF65-F5344CB8AC3E}">
        <p14:creationId xmlns:p14="http://schemas.microsoft.com/office/powerpoint/2010/main" val="4990093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63C9E-72C5-B14A-E0DA-39D3F494E9C8}"/>
              </a:ext>
            </a:extLst>
          </p:cNvPr>
          <p:cNvSpPr>
            <a:spLocks noGrp="1"/>
          </p:cNvSpPr>
          <p:nvPr>
            <p:ph type="title"/>
          </p:nvPr>
        </p:nvSpPr>
        <p:spPr/>
        <p:txBody>
          <a:bodyPr/>
          <a:lstStyle/>
          <a:p>
            <a:r>
              <a:rPr lang="en-US" dirty="0"/>
              <a:t>Irradiation Hardening</a:t>
            </a:r>
          </a:p>
        </p:txBody>
      </p:sp>
      <p:sp>
        <p:nvSpPr>
          <p:cNvPr id="3" name="Content Placeholder 2">
            <a:extLst>
              <a:ext uri="{FF2B5EF4-FFF2-40B4-BE49-F238E27FC236}">
                <a16:creationId xmlns:a16="http://schemas.microsoft.com/office/drawing/2014/main" id="{2231026D-5E6F-2139-0B68-74C8754FF328}"/>
              </a:ext>
            </a:extLst>
          </p:cNvPr>
          <p:cNvSpPr>
            <a:spLocks noGrp="1"/>
          </p:cNvSpPr>
          <p:nvPr>
            <p:ph idx="1"/>
          </p:nvPr>
        </p:nvSpPr>
        <p:spPr>
          <a:xfrm>
            <a:off x="609600" y="1968500"/>
            <a:ext cx="10972800" cy="1600610"/>
          </a:xfrm>
        </p:spPr>
        <p:txBody>
          <a:bodyPr/>
          <a:lstStyle/>
          <a:p>
            <a:r>
              <a:rPr lang="en-US" sz="2200" dirty="0" err="1"/>
              <a:t>FeCrAl</a:t>
            </a:r>
            <a:r>
              <a:rPr lang="en-US" sz="2200" dirty="0"/>
              <a:t> shows pronounced increases in yield strength and corresponding decreases in total elongation due to dislocations and alpha’ precipitates</a:t>
            </a:r>
          </a:p>
          <a:p>
            <a:r>
              <a:rPr lang="en-US" sz="2200" dirty="0"/>
              <a:t>The general trend is an initial regime where the yield strength steeply increases with increasing dose and then reaches a saturation</a:t>
            </a:r>
          </a:p>
        </p:txBody>
      </p:sp>
      <p:sp>
        <p:nvSpPr>
          <p:cNvPr id="4" name="Slide Number Placeholder 3">
            <a:extLst>
              <a:ext uri="{FF2B5EF4-FFF2-40B4-BE49-F238E27FC236}">
                <a16:creationId xmlns:a16="http://schemas.microsoft.com/office/drawing/2014/main" id="{8D3FAD89-CCD0-0372-F679-0F2CFD1C63AA}"/>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pic>
        <p:nvPicPr>
          <p:cNvPr id="5" name="Picture 4">
            <a:extLst>
              <a:ext uri="{FF2B5EF4-FFF2-40B4-BE49-F238E27FC236}">
                <a16:creationId xmlns:a16="http://schemas.microsoft.com/office/drawing/2014/main" id="{1BA6B257-C910-5CC4-3E4E-F0D1D4EAF9F8}"/>
              </a:ext>
            </a:extLst>
          </p:cNvPr>
          <p:cNvPicPr>
            <a:picLocks noChangeAspect="1"/>
          </p:cNvPicPr>
          <p:nvPr/>
        </p:nvPicPr>
        <p:blipFill>
          <a:blip r:embed="rId2"/>
          <a:stretch>
            <a:fillRect/>
          </a:stretch>
        </p:blipFill>
        <p:spPr>
          <a:xfrm>
            <a:off x="4133235" y="3464028"/>
            <a:ext cx="7111181" cy="3393972"/>
          </a:xfrm>
          <a:prstGeom prst="rect">
            <a:avLst/>
          </a:prstGeom>
        </p:spPr>
      </p:pic>
      <p:sp>
        <p:nvSpPr>
          <p:cNvPr id="7" name="Content Placeholder 2">
            <a:extLst>
              <a:ext uri="{FF2B5EF4-FFF2-40B4-BE49-F238E27FC236}">
                <a16:creationId xmlns:a16="http://schemas.microsoft.com/office/drawing/2014/main" id="{584D96F2-1E02-20A5-7C22-AC97CE20A5C6}"/>
              </a:ext>
            </a:extLst>
          </p:cNvPr>
          <p:cNvSpPr txBox="1">
            <a:spLocks/>
          </p:cNvSpPr>
          <p:nvPr/>
        </p:nvSpPr>
        <p:spPr bwMode="auto">
          <a:xfrm>
            <a:off x="609600" y="3483693"/>
            <a:ext cx="3523635" cy="16006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r>
              <a:rPr lang="en-US" sz="2200" dirty="0"/>
              <a:t>Saturation is typically around 10% elongation</a:t>
            </a:r>
          </a:p>
          <a:p>
            <a:r>
              <a:rPr lang="en-US" sz="2200" dirty="0"/>
              <a:t>Some high-Cr alloys have shown a third stage of complete embrittlement</a:t>
            </a:r>
          </a:p>
        </p:txBody>
      </p:sp>
    </p:spTree>
    <p:extLst>
      <p:ext uri="{BB962C8B-B14F-4D97-AF65-F5344CB8AC3E}">
        <p14:creationId xmlns:p14="http://schemas.microsoft.com/office/powerpoint/2010/main" val="2824080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23F00-57BF-A2B0-BE6D-98BE9E436CAA}"/>
              </a:ext>
            </a:extLst>
          </p:cNvPr>
          <p:cNvSpPr>
            <a:spLocks noGrp="1"/>
          </p:cNvSpPr>
          <p:nvPr>
            <p:ph type="title"/>
          </p:nvPr>
        </p:nvSpPr>
        <p:spPr/>
        <p:txBody>
          <a:bodyPr/>
          <a:lstStyle/>
          <a:p>
            <a:r>
              <a:rPr lang="en-US" dirty="0"/>
              <a:t>Integral Experiments</a:t>
            </a:r>
          </a:p>
        </p:txBody>
      </p:sp>
      <p:sp>
        <p:nvSpPr>
          <p:cNvPr id="3" name="Content Placeholder 2">
            <a:extLst>
              <a:ext uri="{FF2B5EF4-FFF2-40B4-BE49-F238E27FC236}">
                <a16:creationId xmlns:a16="http://schemas.microsoft.com/office/drawing/2014/main" id="{91558386-A857-555C-1947-590B0E754D96}"/>
              </a:ext>
            </a:extLst>
          </p:cNvPr>
          <p:cNvSpPr>
            <a:spLocks noGrp="1"/>
          </p:cNvSpPr>
          <p:nvPr>
            <p:ph idx="1"/>
          </p:nvPr>
        </p:nvSpPr>
        <p:spPr>
          <a:xfrm>
            <a:off x="609600" y="1968500"/>
            <a:ext cx="6862011" cy="4157664"/>
          </a:xfrm>
        </p:spPr>
        <p:txBody>
          <a:bodyPr/>
          <a:lstStyle/>
          <a:p>
            <a:r>
              <a:rPr lang="en-US" sz="2400" dirty="0" err="1"/>
              <a:t>FeCrAl</a:t>
            </a:r>
            <a:r>
              <a:rPr lang="en-US" sz="2400" dirty="0"/>
              <a:t> is still relatively poorly explored in integral </a:t>
            </a:r>
            <a:r>
              <a:rPr lang="en-US" sz="2400" dirty="0" err="1"/>
              <a:t>expts</a:t>
            </a:r>
            <a:endParaRPr lang="en-US" sz="2400" dirty="0"/>
          </a:p>
          <a:p>
            <a:r>
              <a:rPr lang="en-US" sz="2400" dirty="0"/>
              <a:t>Only a handful of </a:t>
            </a:r>
            <a:r>
              <a:rPr lang="en-US" sz="2400" dirty="0" err="1"/>
              <a:t>irradiation+corrosion</a:t>
            </a:r>
            <a:r>
              <a:rPr lang="en-US" sz="2400" dirty="0"/>
              <a:t> tests; only a handful of fueled cladding tube tests</a:t>
            </a:r>
          </a:p>
          <a:p>
            <a:r>
              <a:rPr lang="en-US" sz="2400" dirty="0"/>
              <a:t>No major issues identified, but nothing extended to high burnup or transients</a:t>
            </a:r>
          </a:p>
          <a:p>
            <a:r>
              <a:rPr lang="en-US" sz="2400" dirty="0"/>
              <a:t>So, it is a promising material, but still a long way to go to verify its suitability</a:t>
            </a:r>
          </a:p>
        </p:txBody>
      </p:sp>
      <p:sp>
        <p:nvSpPr>
          <p:cNvPr id="4" name="Slide Number Placeholder 3">
            <a:extLst>
              <a:ext uri="{FF2B5EF4-FFF2-40B4-BE49-F238E27FC236}">
                <a16:creationId xmlns:a16="http://schemas.microsoft.com/office/drawing/2014/main" id="{AFA45FFE-356D-F1EA-07DB-840AA82FB9B8}"/>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pic>
        <p:nvPicPr>
          <p:cNvPr id="6" name="Picture 5">
            <a:extLst>
              <a:ext uri="{FF2B5EF4-FFF2-40B4-BE49-F238E27FC236}">
                <a16:creationId xmlns:a16="http://schemas.microsoft.com/office/drawing/2014/main" id="{5C09CCC0-B3C0-3FEE-3E8E-121D2BB83768}"/>
              </a:ext>
            </a:extLst>
          </p:cNvPr>
          <p:cNvPicPr>
            <a:picLocks noChangeAspect="1"/>
          </p:cNvPicPr>
          <p:nvPr/>
        </p:nvPicPr>
        <p:blipFill>
          <a:blip r:embed="rId2"/>
          <a:stretch>
            <a:fillRect/>
          </a:stretch>
        </p:blipFill>
        <p:spPr>
          <a:xfrm>
            <a:off x="7988968" y="731836"/>
            <a:ext cx="3822700" cy="5575300"/>
          </a:xfrm>
          <a:prstGeom prst="rect">
            <a:avLst/>
          </a:prstGeom>
        </p:spPr>
      </p:pic>
    </p:spTree>
    <p:extLst>
      <p:ext uri="{BB962C8B-B14F-4D97-AF65-F5344CB8AC3E}">
        <p14:creationId xmlns:p14="http://schemas.microsoft.com/office/powerpoint/2010/main" val="493729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ODS Steels</a:t>
            </a:r>
          </a:p>
        </p:txBody>
      </p:sp>
      <p:sp>
        <p:nvSpPr>
          <p:cNvPr id="3" name="Slide Number Placeholder 2">
            <a:extLst>
              <a:ext uri="{FF2B5EF4-FFF2-40B4-BE49-F238E27FC236}">
                <a16:creationId xmlns:a16="http://schemas.microsoft.com/office/drawing/2014/main" id="{3D2E1359-2B7E-6A45-B180-EACF31264D2A}"/>
              </a:ext>
            </a:extLst>
          </p:cNvPr>
          <p:cNvSpPr>
            <a:spLocks noGrp="1"/>
          </p:cNvSpPr>
          <p:nvPr>
            <p:ph type="sldNum" sz="quarter" idx="12"/>
          </p:nvPr>
        </p:nvSpPr>
        <p:spPr/>
        <p:txBody>
          <a:bodyPr/>
          <a:lstStyle/>
          <a:p>
            <a:pPr>
              <a:defRPr/>
            </a:pPr>
            <a:fld id="{0DA6BD0F-ABBC-C14D-BC96-77BE126A748B}" type="slidenum">
              <a:rPr lang="en-US" smtClean="0"/>
              <a:pPr>
                <a:defRPr/>
              </a:pPr>
              <a:t>16</a:t>
            </a:fld>
            <a:endParaRPr lang="en-US"/>
          </a:p>
        </p:txBody>
      </p:sp>
    </p:spTree>
    <p:extLst>
      <p:ext uri="{BB962C8B-B14F-4D97-AF65-F5344CB8AC3E}">
        <p14:creationId xmlns:p14="http://schemas.microsoft.com/office/powerpoint/2010/main" val="492761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2EFF1-D86A-9043-9DBF-CC557BE28211}"/>
              </a:ext>
            </a:extLst>
          </p:cNvPr>
          <p:cNvSpPr>
            <a:spLocks noGrp="1"/>
          </p:cNvSpPr>
          <p:nvPr>
            <p:ph type="title"/>
          </p:nvPr>
        </p:nvSpPr>
        <p:spPr/>
        <p:txBody>
          <a:bodyPr/>
          <a:lstStyle/>
          <a:p>
            <a:r>
              <a:rPr lang="en-US" dirty="0"/>
              <a:t>Oxide Dispersion Strengthened Steels</a:t>
            </a:r>
          </a:p>
        </p:txBody>
      </p:sp>
      <p:sp>
        <p:nvSpPr>
          <p:cNvPr id="3" name="Content Placeholder 2">
            <a:extLst>
              <a:ext uri="{FF2B5EF4-FFF2-40B4-BE49-F238E27FC236}">
                <a16:creationId xmlns:a16="http://schemas.microsoft.com/office/drawing/2014/main" id="{BEDF9206-A5F1-E340-BC97-968E031DD65B}"/>
              </a:ext>
            </a:extLst>
          </p:cNvPr>
          <p:cNvSpPr>
            <a:spLocks noGrp="1"/>
          </p:cNvSpPr>
          <p:nvPr>
            <p:ph sz="half" idx="1"/>
          </p:nvPr>
        </p:nvSpPr>
        <p:spPr>
          <a:xfrm>
            <a:off x="609600" y="1968503"/>
            <a:ext cx="6055896" cy="4157663"/>
          </a:xfrm>
        </p:spPr>
        <p:txBody>
          <a:bodyPr/>
          <a:lstStyle/>
          <a:p>
            <a:r>
              <a:rPr lang="en-US" sz="2200" dirty="0"/>
              <a:t>Thermally stable oxide particles dispersed in the ferritic matrix improve the radiation resistance and creep resistance at high temperature</a:t>
            </a:r>
          </a:p>
          <a:p>
            <a:r>
              <a:rPr lang="en-US" sz="2200" dirty="0"/>
              <a:t>ODS steels have a strong potential for high burnup and high temperature applications typical for SFR fuels </a:t>
            </a:r>
          </a:p>
          <a:p>
            <a:r>
              <a:rPr lang="en-US" sz="2200" dirty="0"/>
              <a:t>Allow the system to retain essentially a fixed microstructure with irradiation</a:t>
            </a:r>
          </a:p>
          <a:p>
            <a:r>
              <a:rPr lang="en-US" sz="2200" dirty="0"/>
              <a:t>Typically, Y2O3 particles or Y2Ti2O7 particles</a:t>
            </a:r>
          </a:p>
          <a:p>
            <a:endParaRPr lang="en-US" sz="2200" dirty="0"/>
          </a:p>
        </p:txBody>
      </p:sp>
      <p:pic>
        <p:nvPicPr>
          <p:cNvPr id="5" name="Content Placeholder 4">
            <a:extLst>
              <a:ext uri="{FF2B5EF4-FFF2-40B4-BE49-F238E27FC236}">
                <a16:creationId xmlns:a16="http://schemas.microsoft.com/office/drawing/2014/main" id="{7B849E46-8EA4-A344-818B-2212F7BFF9D9}"/>
              </a:ext>
            </a:extLst>
          </p:cNvPr>
          <p:cNvPicPr>
            <a:picLocks noGrp="1" noChangeAspect="1"/>
          </p:cNvPicPr>
          <p:nvPr>
            <p:ph sz="half" idx="2"/>
          </p:nvPr>
        </p:nvPicPr>
        <p:blipFill>
          <a:blip r:embed="rId2"/>
          <a:stretch>
            <a:fillRect/>
          </a:stretch>
        </p:blipFill>
        <p:spPr>
          <a:xfrm>
            <a:off x="6788150" y="2986881"/>
            <a:ext cx="4203700" cy="2120900"/>
          </a:xfrm>
          <a:prstGeom prst="rect">
            <a:avLst/>
          </a:prstGeom>
        </p:spPr>
      </p:pic>
      <p:sp>
        <p:nvSpPr>
          <p:cNvPr id="6" name="Slide Number Placeholder 5">
            <a:extLst>
              <a:ext uri="{FF2B5EF4-FFF2-40B4-BE49-F238E27FC236}">
                <a16:creationId xmlns:a16="http://schemas.microsoft.com/office/drawing/2014/main" id="{538BC54A-98A1-F14E-AFCE-680361CB68E8}"/>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
        <p:nvSpPr>
          <p:cNvPr id="4" name="Rectangle 3">
            <a:extLst>
              <a:ext uri="{FF2B5EF4-FFF2-40B4-BE49-F238E27FC236}">
                <a16:creationId xmlns:a16="http://schemas.microsoft.com/office/drawing/2014/main" id="{475EB184-87EF-E849-800C-0D490B6FCD7C}"/>
              </a:ext>
            </a:extLst>
          </p:cNvPr>
          <p:cNvSpPr/>
          <p:nvPr/>
        </p:nvSpPr>
        <p:spPr>
          <a:xfrm>
            <a:off x="6788150" y="5311556"/>
            <a:ext cx="4337050" cy="646331"/>
          </a:xfrm>
          <a:prstGeom prst="rect">
            <a:avLst/>
          </a:prstGeom>
        </p:spPr>
        <p:txBody>
          <a:bodyPr wrap="square">
            <a:spAutoFit/>
          </a:bodyPr>
          <a:lstStyle/>
          <a:p>
            <a:pPr algn="ctr"/>
            <a:r>
              <a:rPr lang="en-US" dirty="0">
                <a:latin typeface="Helvetica" pitchFamily="2" charset="0"/>
              </a:rPr>
              <a:t>HRTEM of Y2O3 particle with surrounding matrix</a:t>
            </a:r>
            <a:endParaRPr lang="en-US" dirty="0">
              <a:effectLst/>
              <a:latin typeface="Helvetica" pitchFamily="2" charset="0"/>
            </a:endParaRPr>
          </a:p>
        </p:txBody>
      </p:sp>
    </p:spTree>
    <p:extLst>
      <p:ext uri="{BB962C8B-B14F-4D97-AF65-F5344CB8AC3E}">
        <p14:creationId xmlns:p14="http://schemas.microsoft.com/office/powerpoint/2010/main" val="6842160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1FADC-7EE9-664D-98EB-ADD9A9B62C59}"/>
              </a:ext>
            </a:extLst>
          </p:cNvPr>
          <p:cNvSpPr>
            <a:spLocks noGrp="1"/>
          </p:cNvSpPr>
          <p:nvPr>
            <p:ph type="title"/>
          </p:nvPr>
        </p:nvSpPr>
        <p:spPr/>
        <p:txBody>
          <a:bodyPr/>
          <a:lstStyle/>
          <a:p>
            <a:r>
              <a:rPr lang="en-US" dirty="0"/>
              <a:t>Y2O3 Decomposition</a:t>
            </a:r>
          </a:p>
        </p:txBody>
      </p:sp>
      <p:sp>
        <p:nvSpPr>
          <p:cNvPr id="3" name="Content Placeholder 2">
            <a:extLst>
              <a:ext uri="{FF2B5EF4-FFF2-40B4-BE49-F238E27FC236}">
                <a16:creationId xmlns:a16="http://schemas.microsoft.com/office/drawing/2014/main" id="{E461B397-85C3-7742-9C01-3FD533E7782C}"/>
              </a:ext>
            </a:extLst>
          </p:cNvPr>
          <p:cNvSpPr>
            <a:spLocks noGrp="1"/>
          </p:cNvSpPr>
          <p:nvPr>
            <p:ph sz="half" idx="1"/>
          </p:nvPr>
        </p:nvSpPr>
        <p:spPr>
          <a:xfrm>
            <a:off x="609599" y="1968503"/>
            <a:ext cx="6026839" cy="4157663"/>
          </a:xfrm>
        </p:spPr>
        <p:txBody>
          <a:bodyPr/>
          <a:lstStyle/>
          <a:p>
            <a:r>
              <a:rPr lang="en-US" sz="2200" dirty="0"/>
              <a:t>The fine distribution of Y2O3 particles is attained by the dissociation of stable Y2O3 particles which are forced to decompose into the ferritic steel matrix during the mechanical alloying (MA) process </a:t>
            </a:r>
          </a:p>
          <a:p>
            <a:r>
              <a:rPr lang="en-US" sz="2200" dirty="0"/>
              <a:t>The lattice structure change of Y2O3 in the ODS steel during MA consists of three stages: (1) destruction of the lattice structure, (2) formation of a blurry lattice structure, (3) appearance of amorphous areas</a:t>
            </a:r>
          </a:p>
          <a:p>
            <a:r>
              <a:rPr lang="en-US" sz="2200" dirty="0"/>
              <a:t>Particles precipitate under heat treatment</a:t>
            </a:r>
          </a:p>
        </p:txBody>
      </p:sp>
      <p:pic>
        <p:nvPicPr>
          <p:cNvPr id="5" name="Content Placeholder 4">
            <a:extLst>
              <a:ext uri="{FF2B5EF4-FFF2-40B4-BE49-F238E27FC236}">
                <a16:creationId xmlns:a16="http://schemas.microsoft.com/office/drawing/2014/main" id="{A800061A-7774-FE48-A81C-66C0260FD25B}"/>
              </a:ext>
            </a:extLst>
          </p:cNvPr>
          <p:cNvPicPr>
            <a:picLocks noGrp="1" noChangeAspect="1"/>
          </p:cNvPicPr>
          <p:nvPr>
            <p:ph sz="half" idx="2"/>
          </p:nvPr>
        </p:nvPicPr>
        <p:blipFill>
          <a:blip r:embed="rId2"/>
          <a:stretch>
            <a:fillRect/>
          </a:stretch>
        </p:blipFill>
        <p:spPr>
          <a:xfrm>
            <a:off x="6636439" y="1968500"/>
            <a:ext cx="4507121" cy="4157663"/>
          </a:xfrm>
          <a:prstGeom prst="rect">
            <a:avLst/>
          </a:prstGeom>
        </p:spPr>
      </p:pic>
      <p:sp>
        <p:nvSpPr>
          <p:cNvPr id="6" name="Slide Number Placeholder 5">
            <a:extLst>
              <a:ext uri="{FF2B5EF4-FFF2-40B4-BE49-F238E27FC236}">
                <a16:creationId xmlns:a16="http://schemas.microsoft.com/office/drawing/2014/main" id="{C2B7A988-E9CB-D742-874D-CCADFE45CF03}"/>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16631129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91670-76A9-994D-CA08-B2AAA78CAE01}"/>
              </a:ext>
            </a:extLst>
          </p:cNvPr>
          <p:cNvSpPr>
            <a:spLocks noGrp="1"/>
          </p:cNvSpPr>
          <p:nvPr>
            <p:ph type="title"/>
          </p:nvPr>
        </p:nvSpPr>
        <p:spPr/>
        <p:txBody>
          <a:bodyPr/>
          <a:lstStyle/>
          <a:p>
            <a:r>
              <a:rPr lang="en-US" dirty="0"/>
              <a:t>Oxide Particle Structure</a:t>
            </a:r>
          </a:p>
        </p:txBody>
      </p:sp>
      <p:sp>
        <p:nvSpPr>
          <p:cNvPr id="3" name="Content Placeholder 2">
            <a:extLst>
              <a:ext uri="{FF2B5EF4-FFF2-40B4-BE49-F238E27FC236}">
                <a16:creationId xmlns:a16="http://schemas.microsoft.com/office/drawing/2014/main" id="{4BDEF554-51A5-9EEB-7031-1A7013476E50}"/>
              </a:ext>
            </a:extLst>
          </p:cNvPr>
          <p:cNvSpPr>
            <a:spLocks noGrp="1"/>
          </p:cNvSpPr>
          <p:nvPr>
            <p:ph sz="half" idx="1"/>
          </p:nvPr>
        </p:nvSpPr>
        <p:spPr/>
        <p:txBody>
          <a:bodyPr/>
          <a:lstStyle/>
          <a:p>
            <a:r>
              <a:rPr lang="en-US" sz="2200" dirty="0"/>
              <a:t>The structure of the nanoparticles depend on sintering temperature and time, excess oxygen concentration, etc. </a:t>
            </a:r>
          </a:p>
          <a:p>
            <a:r>
              <a:rPr lang="en-US" sz="2200" dirty="0"/>
              <a:t>Particles usually evolve from spheroids to cuboids with time/size</a:t>
            </a:r>
          </a:p>
          <a:p>
            <a:r>
              <a:rPr lang="en-US" sz="2200" dirty="0"/>
              <a:t>Interfacial energy increases with particle size</a:t>
            </a:r>
          </a:p>
          <a:p>
            <a:r>
              <a:rPr lang="en-US" sz="2200" dirty="0"/>
              <a:t>Misfit strain typically increases with particle size</a:t>
            </a:r>
          </a:p>
          <a:p>
            <a:endParaRPr lang="en-US" sz="2200" dirty="0"/>
          </a:p>
        </p:txBody>
      </p:sp>
      <p:sp>
        <p:nvSpPr>
          <p:cNvPr id="5" name="Slide Number Placeholder 4">
            <a:extLst>
              <a:ext uri="{FF2B5EF4-FFF2-40B4-BE49-F238E27FC236}">
                <a16:creationId xmlns:a16="http://schemas.microsoft.com/office/drawing/2014/main" id="{BF811694-E7A0-DF18-F4DD-0800B94E6C38}"/>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6" name="Picture 5">
            <a:extLst>
              <a:ext uri="{FF2B5EF4-FFF2-40B4-BE49-F238E27FC236}">
                <a16:creationId xmlns:a16="http://schemas.microsoft.com/office/drawing/2014/main" id="{5D27B608-E8AA-3066-9755-5970DD4AAC21}"/>
              </a:ext>
            </a:extLst>
          </p:cNvPr>
          <p:cNvPicPr>
            <a:picLocks noChangeAspect="1"/>
          </p:cNvPicPr>
          <p:nvPr/>
        </p:nvPicPr>
        <p:blipFill>
          <a:blip r:embed="rId2"/>
          <a:stretch>
            <a:fillRect/>
          </a:stretch>
        </p:blipFill>
        <p:spPr>
          <a:xfrm>
            <a:off x="6197602" y="2129634"/>
            <a:ext cx="5499100" cy="3835400"/>
          </a:xfrm>
          <a:prstGeom prst="rect">
            <a:avLst/>
          </a:prstGeom>
        </p:spPr>
      </p:pic>
    </p:spTree>
    <p:extLst>
      <p:ext uri="{BB962C8B-B14F-4D97-AF65-F5344CB8AC3E}">
        <p14:creationId xmlns:p14="http://schemas.microsoft.com/office/powerpoint/2010/main" val="27337314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22250-8A26-004F-BF6B-85CD9B9EF076}"/>
              </a:ext>
            </a:extLst>
          </p:cNvPr>
          <p:cNvSpPr>
            <a:spLocks noGrp="1"/>
          </p:cNvSpPr>
          <p:nvPr>
            <p:ph type="title"/>
          </p:nvPr>
        </p:nvSpPr>
        <p:spPr/>
        <p:txBody>
          <a:bodyPr/>
          <a:lstStyle/>
          <a:p>
            <a:r>
              <a:rPr lang="en-US" dirty="0"/>
              <a:t>9Cr-ODS</a:t>
            </a:r>
          </a:p>
        </p:txBody>
      </p:sp>
      <p:sp>
        <p:nvSpPr>
          <p:cNvPr id="3" name="Content Placeholder 2">
            <a:extLst>
              <a:ext uri="{FF2B5EF4-FFF2-40B4-BE49-F238E27FC236}">
                <a16:creationId xmlns:a16="http://schemas.microsoft.com/office/drawing/2014/main" id="{8E2D5E9B-48DE-6140-9EFD-72516E8FEBE3}"/>
              </a:ext>
            </a:extLst>
          </p:cNvPr>
          <p:cNvSpPr>
            <a:spLocks noGrp="1"/>
          </p:cNvSpPr>
          <p:nvPr>
            <p:ph sz="half" idx="1"/>
          </p:nvPr>
        </p:nvSpPr>
        <p:spPr>
          <a:xfrm>
            <a:off x="609599" y="1968503"/>
            <a:ext cx="5588001" cy="4157663"/>
          </a:xfrm>
        </p:spPr>
        <p:txBody>
          <a:bodyPr/>
          <a:lstStyle/>
          <a:p>
            <a:r>
              <a:rPr lang="en-US" sz="2400" dirty="0"/>
              <a:t>For nuclear applications, the choice of 9 </a:t>
            </a:r>
            <a:r>
              <a:rPr lang="en-US" sz="2400" dirty="0" err="1"/>
              <a:t>wt</a:t>
            </a:r>
            <a:r>
              <a:rPr lang="en-US" sz="2400" dirty="0"/>
              <a:t>% Cr with a tempered martensitic matrix is preferable to suppress the ductility loss by irradiation hardening and improve the microstructure stability and creep strength at high temperature</a:t>
            </a:r>
          </a:p>
          <a:p>
            <a:r>
              <a:rPr lang="en-US" sz="2400" dirty="0"/>
              <a:t>The high-temperature strength of 9Cr is drastically improved by nano-scale oxide particles dispersed in the matrix</a:t>
            </a:r>
          </a:p>
        </p:txBody>
      </p:sp>
      <p:sp>
        <p:nvSpPr>
          <p:cNvPr id="7" name="Content Placeholder 6">
            <a:extLst>
              <a:ext uri="{FF2B5EF4-FFF2-40B4-BE49-F238E27FC236}">
                <a16:creationId xmlns:a16="http://schemas.microsoft.com/office/drawing/2014/main" id="{98938438-25F8-5642-A0A2-7CE72E34D422}"/>
              </a:ext>
            </a:extLst>
          </p:cNvPr>
          <p:cNvSpPr>
            <a:spLocks noGrp="1"/>
          </p:cNvSpPr>
          <p:nvPr>
            <p:ph sz="half" idx="2"/>
          </p:nvPr>
        </p:nvSpPr>
        <p:spPr/>
        <p:txBody>
          <a:bodyPr/>
          <a:lstStyle/>
          <a:p>
            <a:r>
              <a:rPr lang="en-US" sz="2400" dirty="0"/>
              <a:t>The standard chemical composition of 9Cr-ODS being developed by the JAEA for SFR application is 9Cr–0.13C–0.2Ti–2W– 0.35Y2O3 (</a:t>
            </a:r>
            <a:r>
              <a:rPr lang="en-US" sz="2400" dirty="0" err="1"/>
              <a:t>wt</a:t>
            </a:r>
            <a:r>
              <a:rPr lang="en-US" sz="2400" dirty="0"/>
              <a:t>%)</a:t>
            </a:r>
          </a:p>
          <a:p>
            <a:r>
              <a:rPr lang="en-US" sz="2400" dirty="0"/>
              <a:t>The addition of titanium produces the nanoscale dispersion of oxide particles</a:t>
            </a:r>
          </a:p>
          <a:p>
            <a:r>
              <a:rPr lang="en-US" sz="2400" dirty="0"/>
              <a:t>Tungsten of 2 wt% is also added to improve high-temperature strength via solid solution hardening</a:t>
            </a:r>
          </a:p>
          <a:p>
            <a:endParaRPr lang="en-US" sz="2400" dirty="0"/>
          </a:p>
          <a:p>
            <a:endParaRPr lang="en-US" sz="2400" dirty="0"/>
          </a:p>
        </p:txBody>
      </p:sp>
      <p:sp>
        <p:nvSpPr>
          <p:cNvPr id="8" name="Slide Number Placeholder 7">
            <a:extLst>
              <a:ext uri="{FF2B5EF4-FFF2-40B4-BE49-F238E27FC236}">
                <a16:creationId xmlns:a16="http://schemas.microsoft.com/office/drawing/2014/main" id="{01151CE1-28E7-0440-931D-7D3128F1596F}"/>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3098717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161DF-75E8-9F4D-BBB5-104866D5AD4D}"/>
              </a:ext>
            </a:extLst>
          </p:cNvPr>
          <p:cNvSpPr>
            <a:spLocks noGrp="1"/>
          </p:cNvSpPr>
          <p:nvPr>
            <p:ph type="title"/>
          </p:nvPr>
        </p:nvSpPr>
        <p:spPr/>
        <p:txBody>
          <a:bodyPr/>
          <a:lstStyle/>
          <a:p>
            <a:r>
              <a:rPr lang="en-US" dirty="0"/>
              <a:t>9Cr-ODS microstructure</a:t>
            </a:r>
          </a:p>
        </p:txBody>
      </p:sp>
      <p:sp>
        <p:nvSpPr>
          <p:cNvPr id="3" name="Content Placeholder 2">
            <a:extLst>
              <a:ext uri="{FF2B5EF4-FFF2-40B4-BE49-F238E27FC236}">
                <a16:creationId xmlns:a16="http://schemas.microsoft.com/office/drawing/2014/main" id="{1BFA75AD-51FE-A643-8619-8752A536CC44}"/>
              </a:ext>
            </a:extLst>
          </p:cNvPr>
          <p:cNvSpPr>
            <a:spLocks noGrp="1"/>
          </p:cNvSpPr>
          <p:nvPr>
            <p:ph sz="half" idx="1"/>
          </p:nvPr>
        </p:nvSpPr>
        <p:spPr>
          <a:xfrm>
            <a:off x="609600" y="1968503"/>
            <a:ext cx="6407150" cy="4157663"/>
          </a:xfrm>
        </p:spPr>
        <p:txBody>
          <a:bodyPr/>
          <a:lstStyle/>
          <a:p>
            <a:r>
              <a:rPr lang="en-US" sz="2400" dirty="0"/>
              <a:t>The microstructure of 9Cr-ODS steel cladding is basically tempered martensite, but includes some residual ferrite phases</a:t>
            </a:r>
          </a:p>
          <a:p>
            <a:r>
              <a:rPr lang="en-US" sz="2400" dirty="0"/>
              <a:t>Only the full martensite phase can be expected in 9Cr-ferritic steel without yttria under the same conditions</a:t>
            </a:r>
          </a:p>
          <a:p>
            <a:r>
              <a:rPr lang="en-US" sz="2400" dirty="0"/>
              <a:t>The high temperature strength is greatly improved with the ferrite, and thus control of ferrite is key in ODS fabrication</a:t>
            </a:r>
          </a:p>
        </p:txBody>
      </p:sp>
      <p:pic>
        <p:nvPicPr>
          <p:cNvPr id="5" name="Content Placeholder 4">
            <a:extLst>
              <a:ext uri="{FF2B5EF4-FFF2-40B4-BE49-F238E27FC236}">
                <a16:creationId xmlns:a16="http://schemas.microsoft.com/office/drawing/2014/main" id="{70BF21CA-97DA-744F-A244-483B5D200613}"/>
              </a:ext>
            </a:extLst>
          </p:cNvPr>
          <p:cNvPicPr>
            <a:picLocks noGrp="1" noChangeAspect="1"/>
          </p:cNvPicPr>
          <p:nvPr>
            <p:ph sz="half" idx="2"/>
          </p:nvPr>
        </p:nvPicPr>
        <p:blipFill>
          <a:blip r:embed="rId2"/>
          <a:stretch>
            <a:fillRect/>
          </a:stretch>
        </p:blipFill>
        <p:spPr>
          <a:xfrm>
            <a:off x="7016750" y="2174081"/>
            <a:ext cx="3746500" cy="3746500"/>
          </a:xfrm>
          <a:prstGeom prst="rect">
            <a:avLst/>
          </a:prstGeom>
        </p:spPr>
      </p:pic>
      <p:sp>
        <p:nvSpPr>
          <p:cNvPr id="6" name="Slide Number Placeholder 5">
            <a:extLst>
              <a:ext uri="{FF2B5EF4-FFF2-40B4-BE49-F238E27FC236}">
                <a16:creationId xmlns:a16="http://schemas.microsoft.com/office/drawing/2014/main" id="{C644C249-6A8F-8F42-B0A8-41127DC95471}"/>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39806526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FA4C9-302C-584D-9C86-2C7DBC51311E}"/>
              </a:ext>
            </a:extLst>
          </p:cNvPr>
          <p:cNvSpPr>
            <a:spLocks noGrp="1"/>
          </p:cNvSpPr>
          <p:nvPr>
            <p:ph type="title"/>
          </p:nvPr>
        </p:nvSpPr>
        <p:spPr/>
        <p:txBody>
          <a:bodyPr/>
          <a:lstStyle/>
          <a:p>
            <a:r>
              <a:rPr lang="en-US" dirty="0"/>
              <a:t>Residual Ferrite</a:t>
            </a:r>
          </a:p>
        </p:txBody>
      </p:sp>
      <p:sp>
        <p:nvSpPr>
          <p:cNvPr id="3" name="Content Placeholder 2">
            <a:extLst>
              <a:ext uri="{FF2B5EF4-FFF2-40B4-BE49-F238E27FC236}">
                <a16:creationId xmlns:a16="http://schemas.microsoft.com/office/drawing/2014/main" id="{0F9C87BD-DDA5-6141-8249-67125CE82DF7}"/>
              </a:ext>
            </a:extLst>
          </p:cNvPr>
          <p:cNvSpPr>
            <a:spLocks noGrp="1"/>
          </p:cNvSpPr>
          <p:nvPr>
            <p:ph sz="half" idx="1"/>
          </p:nvPr>
        </p:nvSpPr>
        <p:spPr>
          <a:xfrm>
            <a:off x="609599" y="1968503"/>
            <a:ext cx="6572393" cy="4157663"/>
          </a:xfrm>
        </p:spPr>
        <p:txBody>
          <a:bodyPr/>
          <a:lstStyle/>
          <a:p>
            <a:r>
              <a:rPr lang="en-US" sz="2200" dirty="0"/>
              <a:t>Annealing results in the formation and precipitation of Y–</a:t>
            </a:r>
            <a:r>
              <a:rPr lang="en-US" sz="2200" dirty="0" err="1"/>
              <a:t>Ti</a:t>
            </a:r>
            <a:r>
              <a:rPr lang="en-US" sz="2200" dirty="0"/>
              <a:t> complex oxide particles</a:t>
            </a:r>
          </a:p>
          <a:p>
            <a:r>
              <a:rPr lang="en-US" sz="2200" dirty="0"/>
              <a:t>This heat treatment should convert ferrite into austenite, but when Y2O3 is present, we retain ferrite at high temperature and through quenching</a:t>
            </a:r>
          </a:p>
          <a:p>
            <a:r>
              <a:rPr lang="en-US" sz="2200" dirty="0"/>
              <a:t>These oxide particles block the motion of the alpha-gamma interface, there by partly suppressing the reverse transformation from alpha to gamma-phase </a:t>
            </a:r>
          </a:p>
        </p:txBody>
      </p:sp>
      <p:sp>
        <p:nvSpPr>
          <p:cNvPr id="6" name="Slide Number Placeholder 5">
            <a:extLst>
              <a:ext uri="{FF2B5EF4-FFF2-40B4-BE49-F238E27FC236}">
                <a16:creationId xmlns:a16="http://schemas.microsoft.com/office/drawing/2014/main" id="{65D3CCFD-8543-6D45-95DD-DC73139F3BEE}"/>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pic>
        <p:nvPicPr>
          <p:cNvPr id="5" name="Picture 4">
            <a:extLst>
              <a:ext uri="{FF2B5EF4-FFF2-40B4-BE49-F238E27FC236}">
                <a16:creationId xmlns:a16="http://schemas.microsoft.com/office/drawing/2014/main" id="{8A55B944-563A-004C-B53F-C804DA10931C}"/>
              </a:ext>
            </a:extLst>
          </p:cNvPr>
          <p:cNvPicPr>
            <a:picLocks noChangeAspect="1"/>
          </p:cNvPicPr>
          <p:nvPr/>
        </p:nvPicPr>
        <p:blipFill>
          <a:blip r:embed="rId2"/>
          <a:stretch>
            <a:fillRect/>
          </a:stretch>
        </p:blipFill>
        <p:spPr>
          <a:xfrm>
            <a:off x="7803139" y="900113"/>
            <a:ext cx="3158114" cy="2663987"/>
          </a:xfrm>
          <a:prstGeom prst="rect">
            <a:avLst/>
          </a:prstGeom>
        </p:spPr>
      </p:pic>
      <p:pic>
        <p:nvPicPr>
          <p:cNvPr id="12" name="Picture 11">
            <a:extLst>
              <a:ext uri="{FF2B5EF4-FFF2-40B4-BE49-F238E27FC236}">
                <a16:creationId xmlns:a16="http://schemas.microsoft.com/office/drawing/2014/main" id="{4F899303-4965-EEA6-2DAE-43BCF6EA50B9}"/>
              </a:ext>
            </a:extLst>
          </p:cNvPr>
          <p:cNvPicPr>
            <a:picLocks noChangeAspect="1"/>
          </p:cNvPicPr>
          <p:nvPr/>
        </p:nvPicPr>
        <p:blipFill>
          <a:blip r:embed="rId3"/>
          <a:stretch>
            <a:fillRect/>
          </a:stretch>
        </p:blipFill>
        <p:spPr>
          <a:xfrm>
            <a:off x="7043708" y="3798558"/>
            <a:ext cx="4907659" cy="2412082"/>
          </a:xfrm>
          <a:prstGeom prst="rect">
            <a:avLst/>
          </a:prstGeom>
        </p:spPr>
      </p:pic>
    </p:spTree>
    <p:extLst>
      <p:ext uri="{BB962C8B-B14F-4D97-AF65-F5344CB8AC3E}">
        <p14:creationId xmlns:p14="http://schemas.microsoft.com/office/powerpoint/2010/main" val="1781545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51033-CB55-8942-AE01-C8B5837C814E}"/>
              </a:ext>
            </a:extLst>
          </p:cNvPr>
          <p:cNvSpPr>
            <a:spLocks noGrp="1"/>
          </p:cNvSpPr>
          <p:nvPr>
            <p:ph type="title"/>
          </p:nvPr>
        </p:nvSpPr>
        <p:spPr/>
        <p:txBody>
          <a:bodyPr/>
          <a:lstStyle/>
          <a:p>
            <a:r>
              <a:rPr lang="en-US" dirty="0"/>
              <a:t>Mechanical Properties</a:t>
            </a:r>
          </a:p>
        </p:txBody>
      </p:sp>
      <p:sp>
        <p:nvSpPr>
          <p:cNvPr id="3" name="Content Placeholder 2">
            <a:extLst>
              <a:ext uri="{FF2B5EF4-FFF2-40B4-BE49-F238E27FC236}">
                <a16:creationId xmlns:a16="http://schemas.microsoft.com/office/drawing/2014/main" id="{432C79A1-3B09-DF46-9A93-98683CA2103E}"/>
              </a:ext>
            </a:extLst>
          </p:cNvPr>
          <p:cNvSpPr>
            <a:spLocks noGrp="1"/>
          </p:cNvSpPr>
          <p:nvPr>
            <p:ph sz="half" idx="1"/>
          </p:nvPr>
        </p:nvSpPr>
        <p:spPr>
          <a:xfrm>
            <a:off x="609599" y="1968503"/>
            <a:ext cx="5761384" cy="4157663"/>
          </a:xfrm>
        </p:spPr>
        <p:txBody>
          <a:bodyPr/>
          <a:lstStyle/>
          <a:p>
            <a:r>
              <a:rPr lang="en-US" sz="2200" dirty="0"/>
              <a:t>The lifetime of a SFR cladding is mostly determined by the internal creep rupture strength with the internal pressure of the fission gas at a temperature of ~700C</a:t>
            </a:r>
          </a:p>
          <a:p>
            <a:r>
              <a:rPr lang="en-US" sz="2200" dirty="0"/>
              <a:t>PNC316 is an austenitic steel used developed by JAEA for fast reactors</a:t>
            </a:r>
          </a:p>
          <a:p>
            <a:r>
              <a:rPr lang="en-US" sz="2200" dirty="0"/>
              <a:t>PNC-FMS is a F/M steel</a:t>
            </a:r>
          </a:p>
          <a:p>
            <a:r>
              <a:rPr lang="en-US" sz="2200" dirty="0"/>
              <a:t>9Cr-ODS steels have superior creep resistance and higher tensile strength</a:t>
            </a:r>
          </a:p>
          <a:p>
            <a:endParaRPr lang="en-US" sz="2200" dirty="0"/>
          </a:p>
        </p:txBody>
      </p:sp>
      <p:pic>
        <p:nvPicPr>
          <p:cNvPr id="6" name="Content Placeholder 5">
            <a:extLst>
              <a:ext uri="{FF2B5EF4-FFF2-40B4-BE49-F238E27FC236}">
                <a16:creationId xmlns:a16="http://schemas.microsoft.com/office/drawing/2014/main" id="{9DB42C74-CE2C-F142-A9D3-644EF0C675BB}"/>
              </a:ext>
            </a:extLst>
          </p:cNvPr>
          <p:cNvPicPr>
            <a:picLocks noGrp="1" noChangeAspect="1"/>
          </p:cNvPicPr>
          <p:nvPr>
            <p:ph sz="half" idx="2"/>
          </p:nvPr>
        </p:nvPicPr>
        <p:blipFill>
          <a:blip r:embed="rId2"/>
          <a:stretch>
            <a:fillRect/>
          </a:stretch>
        </p:blipFill>
        <p:spPr>
          <a:xfrm>
            <a:off x="7324834" y="900113"/>
            <a:ext cx="4000951" cy="2993411"/>
          </a:xfrm>
          <a:prstGeom prst="rect">
            <a:avLst/>
          </a:prstGeom>
        </p:spPr>
      </p:pic>
      <p:sp>
        <p:nvSpPr>
          <p:cNvPr id="5" name="Slide Number Placeholder 4">
            <a:extLst>
              <a:ext uri="{FF2B5EF4-FFF2-40B4-BE49-F238E27FC236}">
                <a16:creationId xmlns:a16="http://schemas.microsoft.com/office/drawing/2014/main" id="{4A49CEDE-A0BD-EE47-B6CB-CBAED3EAC354}"/>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pic>
        <p:nvPicPr>
          <p:cNvPr id="8" name="Picture 7">
            <a:extLst>
              <a:ext uri="{FF2B5EF4-FFF2-40B4-BE49-F238E27FC236}">
                <a16:creationId xmlns:a16="http://schemas.microsoft.com/office/drawing/2014/main" id="{B6003EF4-7525-4877-D2C7-94C67484DB65}"/>
              </a:ext>
            </a:extLst>
          </p:cNvPr>
          <p:cNvPicPr>
            <a:picLocks noChangeAspect="1"/>
          </p:cNvPicPr>
          <p:nvPr/>
        </p:nvPicPr>
        <p:blipFill>
          <a:blip r:embed="rId3"/>
          <a:stretch>
            <a:fillRect/>
          </a:stretch>
        </p:blipFill>
        <p:spPr>
          <a:xfrm>
            <a:off x="6957093" y="3990262"/>
            <a:ext cx="4736432" cy="2371158"/>
          </a:xfrm>
          <a:prstGeom prst="rect">
            <a:avLst/>
          </a:prstGeom>
        </p:spPr>
      </p:pic>
    </p:spTree>
    <p:extLst>
      <p:ext uri="{BB962C8B-B14F-4D97-AF65-F5344CB8AC3E}">
        <p14:creationId xmlns:p14="http://schemas.microsoft.com/office/powerpoint/2010/main" val="34474557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4675C-6D70-8849-BEA6-D50291B2244E}"/>
              </a:ext>
            </a:extLst>
          </p:cNvPr>
          <p:cNvSpPr>
            <a:spLocks noGrp="1"/>
          </p:cNvSpPr>
          <p:nvPr>
            <p:ph type="title"/>
          </p:nvPr>
        </p:nvSpPr>
        <p:spPr/>
        <p:txBody>
          <a:bodyPr/>
          <a:lstStyle/>
          <a:p>
            <a:r>
              <a:rPr lang="en-US" dirty="0"/>
              <a:t>Ferritic 12Cr-ODS Steel</a:t>
            </a:r>
          </a:p>
        </p:txBody>
      </p:sp>
      <p:sp>
        <p:nvSpPr>
          <p:cNvPr id="3" name="Content Placeholder 2">
            <a:extLst>
              <a:ext uri="{FF2B5EF4-FFF2-40B4-BE49-F238E27FC236}">
                <a16:creationId xmlns:a16="http://schemas.microsoft.com/office/drawing/2014/main" id="{939A2E5E-EBC1-074D-9EEB-DB62CC136FC0}"/>
              </a:ext>
            </a:extLst>
          </p:cNvPr>
          <p:cNvSpPr>
            <a:spLocks noGrp="1"/>
          </p:cNvSpPr>
          <p:nvPr>
            <p:ph sz="half" idx="1"/>
          </p:nvPr>
        </p:nvSpPr>
        <p:spPr>
          <a:xfrm>
            <a:off x="609599" y="1968503"/>
            <a:ext cx="6277338" cy="4157663"/>
          </a:xfrm>
        </p:spPr>
        <p:txBody>
          <a:bodyPr/>
          <a:lstStyle/>
          <a:p>
            <a:r>
              <a:rPr lang="en-US" sz="2200" dirty="0"/>
              <a:t>Development of ODS steels began with purely ferritic types, similar to MA957</a:t>
            </a:r>
          </a:p>
          <a:p>
            <a:r>
              <a:rPr lang="en-US" sz="2200" dirty="0"/>
              <a:t>While these types of steel exhibit excellent creep rupture resistance, there is anisotropy of the rupture strength</a:t>
            </a:r>
          </a:p>
          <a:p>
            <a:r>
              <a:rPr lang="en-US" sz="2200" dirty="0"/>
              <a:t>Can form elongated grains due to fabrication, weakening cladding in hoop direction</a:t>
            </a:r>
          </a:p>
          <a:p>
            <a:r>
              <a:rPr lang="en-US" sz="2200" dirty="0"/>
              <a:t>If the Y2O3 content is kept sufficiently low, an equiaxed grain structure can be maintained, providing more isotropic mechanical properties</a:t>
            </a:r>
          </a:p>
        </p:txBody>
      </p:sp>
      <p:pic>
        <p:nvPicPr>
          <p:cNvPr id="6" name="Content Placeholder 5">
            <a:extLst>
              <a:ext uri="{FF2B5EF4-FFF2-40B4-BE49-F238E27FC236}">
                <a16:creationId xmlns:a16="http://schemas.microsoft.com/office/drawing/2014/main" id="{7893E652-25D8-5448-963A-7C5D0A43EC42}"/>
              </a:ext>
            </a:extLst>
          </p:cNvPr>
          <p:cNvPicPr>
            <a:picLocks noGrp="1" noChangeAspect="1"/>
          </p:cNvPicPr>
          <p:nvPr>
            <p:ph sz="half" idx="2"/>
          </p:nvPr>
        </p:nvPicPr>
        <p:blipFill>
          <a:blip r:embed="rId2"/>
          <a:stretch>
            <a:fillRect/>
          </a:stretch>
        </p:blipFill>
        <p:spPr>
          <a:xfrm>
            <a:off x="7016610" y="1845712"/>
            <a:ext cx="4898663" cy="3428193"/>
          </a:xfrm>
          <a:prstGeom prst="rect">
            <a:avLst/>
          </a:prstGeom>
        </p:spPr>
      </p:pic>
      <p:sp>
        <p:nvSpPr>
          <p:cNvPr id="5" name="Slide Number Placeholder 4">
            <a:extLst>
              <a:ext uri="{FF2B5EF4-FFF2-40B4-BE49-F238E27FC236}">
                <a16:creationId xmlns:a16="http://schemas.microsoft.com/office/drawing/2014/main" id="{71A52196-9C58-5A40-81C5-07E9A23EBCB9}"/>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
        <p:nvSpPr>
          <p:cNvPr id="7" name="TextBox 6">
            <a:extLst>
              <a:ext uri="{FF2B5EF4-FFF2-40B4-BE49-F238E27FC236}">
                <a16:creationId xmlns:a16="http://schemas.microsoft.com/office/drawing/2014/main" id="{A00B69CA-B731-14C6-ABD0-F2EE086703BB}"/>
              </a:ext>
            </a:extLst>
          </p:cNvPr>
          <p:cNvSpPr txBox="1"/>
          <p:nvPr/>
        </p:nvSpPr>
        <p:spPr>
          <a:xfrm>
            <a:off x="7345375" y="5353463"/>
            <a:ext cx="4241132" cy="923330"/>
          </a:xfrm>
          <a:prstGeom prst="rect">
            <a:avLst/>
          </a:prstGeom>
          <a:noFill/>
        </p:spPr>
        <p:txBody>
          <a:bodyPr wrap="square">
            <a:spAutoFit/>
          </a:bodyPr>
          <a:lstStyle/>
          <a:p>
            <a:pPr algn="ctr"/>
            <a:r>
              <a:rPr lang="en-US" dirty="0">
                <a:latin typeface="Times"/>
              </a:rPr>
              <a:t>C</a:t>
            </a:r>
            <a:r>
              <a:rPr lang="en-US" dirty="0">
                <a:effectLst/>
                <a:latin typeface="Times"/>
              </a:rPr>
              <a:t>reep rupture strength of recrystallized (A3) and </a:t>
            </a:r>
            <a:r>
              <a:rPr lang="en-US" dirty="0" err="1">
                <a:effectLst/>
                <a:latin typeface="Times"/>
              </a:rPr>
              <a:t>unrecrystallized</a:t>
            </a:r>
            <a:r>
              <a:rPr lang="en-US" dirty="0">
                <a:effectLst/>
                <a:latin typeface="Times"/>
              </a:rPr>
              <a:t> (A15) 12Cr-ODS steels at 650C </a:t>
            </a:r>
          </a:p>
        </p:txBody>
      </p:sp>
    </p:spTree>
    <p:extLst>
      <p:ext uri="{BB962C8B-B14F-4D97-AF65-F5344CB8AC3E}">
        <p14:creationId xmlns:p14="http://schemas.microsoft.com/office/powerpoint/2010/main" val="3272347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92755-BC90-CE46-9CED-3B4D9993A172}"/>
              </a:ext>
            </a:extLst>
          </p:cNvPr>
          <p:cNvSpPr>
            <a:spLocks noGrp="1"/>
          </p:cNvSpPr>
          <p:nvPr>
            <p:ph type="title"/>
          </p:nvPr>
        </p:nvSpPr>
        <p:spPr/>
        <p:txBody>
          <a:bodyPr/>
          <a:lstStyle/>
          <a:p>
            <a:r>
              <a:rPr lang="en-US" dirty="0"/>
              <a:t>NFAs</a:t>
            </a:r>
          </a:p>
        </p:txBody>
      </p:sp>
      <p:sp>
        <p:nvSpPr>
          <p:cNvPr id="3" name="Content Placeholder 2">
            <a:extLst>
              <a:ext uri="{FF2B5EF4-FFF2-40B4-BE49-F238E27FC236}">
                <a16:creationId xmlns:a16="http://schemas.microsoft.com/office/drawing/2014/main" id="{EA135BDA-C087-6C40-BB35-55E0FC1E570C}"/>
              </a:ext>
            </a:extLst>
          </p:cNvPr>
          <p:cNvSpPr>
            <a:spLocks noGrp="1"/>
          </p:cNvSpPr>
          <p:nvPr>
            <p:ph sz="half" idx="1"/>
          </p:nvPr>
        </p:nvSpPr>
        <p:spPr>
          <a:xfrm>
            <a:off x="609600" y="1968503"/>
            <a:ext cx="6296526" cy="4157663"/>
          </a:xfrm>
        </p:spPr>
        <p:txBody>
          <a:bodyPr/>
          <a:lstStyle/>
          <a:p>
            <a:r>
              <a:rPr lang="en-US" sz="2200" dirty="0"/>
              <a:t>Nanostructured ferritic alloys (NFAs) are 12%–20% Cr ferritic stainless steels that are dispersion strengthened by a very high density of ultrafine Y-</a:t>
            </a:r>
            <a:r>
              <a:rPr lang="en-US" sz="2200" dirty="0" err="1"/>
              <a:t>Ti</a:t>
            </a:r>
            <a:r>
              <a:rPr lang="en-US" sz="2200" dirty="0"/>
              <a:t>-O nanofeatures</a:t>
            </a:r>
          </a:p>
          <a:p>
            <a:r>
              <a:rPr lang="en-US" sz="2200" dirty="0"/>
              <a:t>This high density creates fine grain and dislocation structures</a:t>
            </a:r>
          </a:p>
          <a:p>
            <a:r>
              <a:rPr lang="en-US" sz="2200" dirty="0"/>
              <a:t>This can yield excellent strength and radiation resistance, but makes fabrication processes very difficult</a:t>
            </a:r>
          </a:p>
          <a:p>
            <a:r>
              <a:rPr lang="en-US" sz="2200" dirty="0"/>
              <a:t>MA957 is a NFA, Eurofer97 is a tempered martensitic steel</a:t>
            </a:r>
          </a:p>
          <a:p>
            <a:endParaRPr lang="en-US" sz="2200" dirty="0"/>
          </a:p>
        </p:txBody>
      </p:sp>
      <p:pic>
        <p:nvPicPr>
          <p:cNvPr id="6" name="Content Placeholder 5">
            <a:extLst>
              <a:ext uri="{FF2B5EF4-FFF2-40B4-BE49-F238E27FC236}">
                <a16:creationId xmlns:a16="http://schemas.microsoft.com/office/drawing/2014/main" id="{9BFD564C-32E5-F04C-8248-C5FC200221A1}"/>
              </a:ext>
            </a:extLst>
          </p:cNvPr>
          <p:cNvPicPr>
            <a:picLocks noGrp="1" noChangeAspect="1"/>
          </p:cNvPicPr>
          <p:nvPr>
            <p:ph sz="half" idx="2"/>
          </p:nvPr>
        </p:nvPicPr>
        <p:blipFill>
          <a:blip r:embed="rId2"/>
          <a:stretch>
            <a:fillRect/>
          </a:stretch>
        </p:blipFill>
        <p:spPr>
          <a:xfrm>
            <a:off x="7325417" y="982766"/>
            <a:ext cx="3554019" cy="2799873"/>
          </a:xfrm>
          <a:prstGeom prst="rect">
            <a:avLst/>
          </a:prstGeom>
        </p:spPr>
      </p:pic>
      <p:sp>
        <p:nvSpPr>
          <p:cNvPr id="5" name="Slide Number Placeholder 4">
            <a:extLst>
              <a:ext uri="{FF2B5EF4-FFF2-40B4-BE49-F238E27FC236}">
                <a16:creationId xmlns:a16="http://schemas.microsoft.com/office/drawing/2014/main" id="{E353E72A-B5C2-C743-A4B2-A5BF049CEABB}"/>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pic>
        <p:nvPicPr>
          <p:cNvPr id="7" name="Picture 6">
            <a:extLst>
              <a:ext uri="{FF2B5EF4-FFF2-40B4-BE49-F238E27FC236}">
                <a16:creationId xmlns:a16="http://schemas.microsoft.com/office/drawing/2014/main" id="{3D116743-712F-C144-87E7-A1A36B0FC95D}"/>
              </a:ext>
            </a:extLst>
          </p:cNvPr>
          <p:cNvPicPr>
            <a:picLocks noChangeAspect="1"/>
          </p:cNvPicPr>
          <p:nvPr/>
        </p:nvPicPr>
        <p:blipFill>
          <a:blip r:embed="rId3"/>
          <a:stretch>
            <a:fillRect/>
          </a:stretch>
        </p:blipFill>
        <p:spPr>
          <a:xfrm>
            <a:off x="7457370" y="3782639"/>
            <a:ext cx="3422066" cy="2799873"/>
          </a:xfrm>
          <a:prstGeom prst="rect">
            <a:avLst/>
          </a:prstGeom>
        </p:spPr>
      </p:pic>
    </p:spTree>
    <p:extLst>
      <p:ext uri="{BB962C8B-B14F-4D97-AF65-F5344CB8AC3E}">
        <p14:creationId xmlns:p14="http://schemas.microsoft.com/office/powerpoint/2010/main" val="23336468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844D7-3313-614F-BF08-E29C8988D7D3}"/>
              </a:ext>
            </a:extLst>
          </p:cNvPr>
          <p:cNvSpPr>
            <a:spLocks noGrp="1"/>
          </p:cNvSpPr>
          <p:nvPr>
            <p:ph type="title"/>
          </p:nvPr>
        </p:nvSpPr>
        <p:spPr/>
        <p:txBody>
          <a:bodyPr/>
          <a:lstStyle/>
          <a:p>
            <a:r>
              <a:rPr lang="en-US" dirty="0" err="1"/>
              <a:t>FeCrAl</a:t>
            </a:r>
            <a:r>
              <a:rPr lang="en-US" dirty="0"/>
              <a:t>-ODS Steel</a:t>
            </a:r>
          </a:p>
        </p:txBody>
      </p:sp>
      <p:sp>
        <p:nvSpPr>
          <p:cNvPr id="3" name="Content Placeholder 2">
            <a:extLst>
              <a:ext uri="{FF2B5EF4-FFF2-40B4-BE49-F238E27FC236}">
                <a16:creationId xmlns:a16="http://schemas.microsoft.com/office/drawing/2014/main" id="{25A3494F-CF83-544C-A2AC-27867D4E7D27}"/>
              </a:ext>
            </a:extLst>
          </p:cNvPr>
          <p:cNvSpPr>
            <a:spLocks noGrp="1"/>
          </p:cNvSpPr>
          <p:nvPr>
            <p:ph sz="half" idx="1"/>
          </p:nvPr>
        </p:nvSpPr>
        <p:spPr>
          <a:xfrm>
            <a:off x="609600" y="1968500"/>
            <a:ext cx="6551222" cy="4368618"/>
          </a:xfrm>
        </p:spPr>
        <p:txBody>
          <a:bodyPr/>
          <a:lstStyle/>
          <a:p>
            <a:r>
              <a:rPr lang="en-US" sz="2200" dirty="0" err="1"/>
              <a:t>FeCrAl</a:t>
            </a:r>
            <a:r>
              <a:rPr lang="en-US" sz="2200" dirty="0"/>
              <a:t> steels, with and without ODS are of interest </a:t>
            </a:r>
          </a:p>
          <a:p>
            <a:r>
              <a:rPr lang="en-US" sz="2200" dirty="0"/>
              <a:t>A nominal composition of Fe-10Cr-6.1Al-0.3Zr (wt%) with 0.3wt% Y2O3 has been studied by ORNL, a number of different alloys explored by JAEA program</a:t>
            </a:r>
          </a:p>
          <a:p>
            <a:r>
              <a:rPr lang="en-US" sz="2200" dirty="0"/>
              <a:t>Zr is added to prevent ‘large’ Y-Al oxide particle formation </a:t>
            </a:r>
          </a:p>
          <a:p>
            <a:r>
              <a:rPr lang="en-US" sz="2200" dirty="0"/>
              <a:t>The creep rupture strength of Zr-added </a:t>
            </a:r>
            <a:r>
              <a:rPr lang="en-US" sz="2200" dirty="0" err="1"/>
              <a:t>FeCrAl</a:t>
            </a:r>
            <a:r>
              <a:rPr lang="en-US" sz="2200" dirty="0"/>
              <a:t>-ODS cladding is beyond the existing 9CrODS and 12CrODS steel claddings for fast reactors</a:t>
            </a:r>
          </a:p>
          <a:p>
            <a:endParaRPr lang="en-US" sz="2200" dirty="0"/>
          </a:p>
        </p:txBody>
      </p:sp>
      <p:sp>
        <p:nvSpPr>
          <p:cNvPr id="5" name="Slide Number Placeholder 4">
            <a:extLst>
              <a:ext uri="{FF2B5EF4-FFF2-40B4-BE49-F238E27FC236}">
                <a16:creationId xmlns:a16="http://schemas.microsoft.com/office/drawing/2014/main" id="{ACCC1B08-0311-0F4F-AEAB-6A7CE001F624}"/>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pic>
        <p:nvPicPr>
          <p:cNvPr id="7" name="Picture 6">
            <a:extLst>
              <a:ext uri="{FF2B5EF4-FFF2-40B4-BE49-F238E27FC236}">
                <a16:creationId xmlns:a16="http://schemas.microsoft.com/office/drawing/2014/main" id="{74EDC1D2-73D7-324A-BA25-5CD94F38B722}"/>
              </a:ext>
            </a:extLst>
          </p:cNvPr>
          <p:cNvPicPr>
            <a:picLocks noChangeAspect="1"/>
          </p:cNvPicPr>
          <p:nvPr/>
        </p:nvPicPr>
        <p:blipFill>
          <a:blip r:embed="rId2"/>
          <a:stretch>
            <a:fillRect/>
          </a:stretch>
        </p:blipFill>
        <p:spPr>
          <a:xfrm>
            <a:off x="7572772" y="955010"/>
            <a:ext cx="3785039" cy="2682061"/>
          </a:xfrm>
          <a:prstGeom prst="rect">
            <a:avLst/>
          </a:prstGeom>
        </p:spPr>
      </p:pic>
      <p:pic>
        <p:nvPicPr>
          <p:cNvPr id="10" name="Picture 9">
            <a:extLst>
              <a:ext uri="{FF2B5EF4-FFF2-40B4-BE49-F238E27FC236}">
                <a16:creationId xmlns:a16="http://schemas.microsoft.com/office/drawing/2014/main" id="{0044F326-6254-A603-1092-1707260077AE}"/>
              </a:ext>
            </a:extLst>
          </p:cNvPr>
          <p:cNvPicPr>
            <a:picLocks noChangeAspect="1"/>
          </p:cNvPicPr>
          <p:nvPr/>
        </p:nvPicPr>
        <p:blipFill>
          <a:blip r:embed="rId3"/>
          <a:stretch>
            <a:fillRect/>
          </a:stretch>
        </p:blipFill>
        <p:spPr>
          <a:xfrm>
            <a:off x="7572772" y="3771161"/>
            <a:ext cx="4291809" cy="2451100"/>
          </a:xfrm>
          <a:prstGeom prst="rect">
            <a:avLst/>
          </a:prstGeom>
        </p:spPr>
      </p:pic>
      <p:sp>
        <p:nvSpPr>
          <p:cNvPr id="6" name="TextBox 5">
            <a:extLst>
              <a:ext uri="{FF2B5EF4-FFF2-40B4-BE49-F238E27FC236}">
                <a16:creationId xmlns:a16="http://schemas.microsoft.com/office/drawing/2014/main" id="{81386AA8-1249-CF8F-7144-8AE2393060B3}"/>
              </a:ext>
            </a:extLst>
          </p:cNvPr>
          <p:cNvSpPr txBox="1"/>
          <p:nvPr/>
        </p:nvSpPr>
        <p:spPr>
          <a:xfrm>
            <a:off x="7928486" y="6225546"/>
            <a:ext cx="3653914" cy="261610"/>
          </a:xfrm>
          <a:prstGeom prst="rect">
            <a:avLst/>
          </a:prstGeom>
          <a:noFill/>
        </p:spPr>
        <p:txBody>
          <a:bodyPr wrap="square">
            <a:spAutoFit/>
          </a:bodyPr>
          <a:lstStyle/>
          <a:p>
            <a:pPr algn="ctr">
              <a:buNone/>
            </a:pPr>
            <a:r>
              <a:rPr lang="en-US" sz="1100" dirty="0">
                <a:effectLst/>
                <a:latin typeface="Times"/>
              </a:rPr>
              <a:t>T-type (transverse direction) and R-type (rolling direction)</a:t>
            </a:r>
          </a:p>
        </p:txBody>
      </p:sp>
    </p:spTree>
    <p:extLst>
      <p:ext uri="{BB962C8B-B14F-4D97-AF65-F5344CB8AC3E}">
        <p14:creationId xmlns:p14="http://schemas.microsoft.com/office/powerpoint/2010/main" val="29037101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17F9F-ADCE-DB4E-9295-20A0F2B2FC84}"/>
              </a:ext>
            </a:extLst>
          </p:cNvPr>
          <p:cNvSpPr>
            <a:spLocks noGrp="1"/>
          </p:cNvSpPr>
          <p:nvPr>
            <p:ph type="title"/>
          </p:nvPr>
        </p:nvSpPr>
        <p:spPr/>
        <p:txBody>
          <a:bodyPr/>
          <a:lstStyle/>
          <a:p>
            <a:r>
              <a:rPr lang="en-US" dirty="0"/>
              <a:t>Corrosion</a:t>
            </a:r>
          </a:p>
        </p:txBody>
      </p:sp>
      <p:sp>
        <p:nvSpPr>
          <p:cNvPr id="3" name="Content Placeholder 2">
            <a:extLst>
              <a:ext uri="{FF2B5EF4-FFF2-40B4-BE49-F238E27FC236}">
                <a16:creationId xmlns:a16="http://schemas.microsoft.com/office/drawing/2014/main" id="{9B8FA10A-125C-914F-A7C7-41331C652534}"/>
              </a:ext>
            </a:extLst>
          </p:cNvPr>
          <p:cNvSpPr>
            <a:spLocks noGrp="1"/>
          </p:cNvSpPr>
          <p:nvPr>
            <p:ph sz="half" idx="1"/>
          </p:nvPr>
        </p:nvSpPr>
        <p:spPr>
          <a:xfrm>
            <a:off x="609600" y="1968503"/>
            <a:ext cx="6335210" cy="4157663"/>
          </a:xfrm>
        </p:spPr>
        <p:txBody>
          <a:bodyPr/>
          <a:lstStyle/>
          <a:p>
            <a:r>
              <a:rPr lang="en-US" sz="2400" dirty="0"/>
              <a:t>Hot steam oxidation tests are fairly limited in ODS steels</a:t>
            </a:r>
          </a:p>
          <a:p>
            <a:r>
              <a:rPr lang="en-US" sz="2400" dirty="0"/>
              <a:t>Additional Cr improves corrosion resistance, and Al content greater than 2 wt% provides a protective barrier</a:t>
            </a:r>
          </a:p>
          <a:p>
            <a:r>
              <a:rPr lang="en-US" sz="2400" dirty="0"/>
              <a:t>Excess oxygen content in the alloys can serve to suppress corrosion</a:t>
            </a:r>
          </a:p>
          <a:p>
            <a:r>
              <a:rPr lang="en-US" sz="2400" dirty="0"/>
              <a:t>In systems with high amounts of excess oxygen, Zr content can further aid in corrosion resistance</a:t>
            </a:r>
          </a:p>
        </p:txBody>
      </p:sp>
      <p:pic>
        <p:nvPicPr>
          <p:cNvPr id="6" name="Content Placeholder 5">
            <a:extLst>
              <a:ext uri="{FF2B5EF4-FFF2-40B4-BE49-F238E27FC236}">
                <a16:creationId xmlns:a16="http://schemas.microsoft.com/office/drawing/2014/main" id="{FEE754D3-555F-AE47-9A17-7D2E28BA9D21}"/>
              </a:ext>
            </a:extLst>
          </p:cNvPr>
          <p:cNvPicPr>
            <a:picLocks noGrp="1" noChangeAspect="1"/>
          </p:cNvPicPr>
          <p:nvPr>
            <p:ph sz="half" idx="2"/>
          </p:nvPr>
        </p:nvPicPr>
        <p:blipFill>
          <a:blip r:embed="rId2"/>
          <a:stretch>
            <a:fillRect/>
          </a:stretch>
        </p:blipFill>
        <p:spPr>
          <a:xfrm>
            <a:off x="7733259" y="695506"/>
            <a:ext cx="2914766" cy="3273139"/>
          </a:xfrm>
          <a:prstGeom prst="rect">
            <a:avLst/>
          </a:prstGeom>
        </p:spPr>
      </p:pic>
      <p:sp>
        <p:nvSpPr>
          <p:cNvPr id="5" name="Slide Number Placeholder 4">
            <a:extLst>
              <a:ext uri="{FF2B5EF4-FFF2-40B4-BE49-F238E27FC236}">
                <a16:creationId xmlns:a16="http://schemas.microsoft.com/office/drawing/2014/main" id="{95E6238E-4F69-AE46-87EE-D21D39E4B844}"/>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pic>
        <p:nvPicPr>
          <p:cNvPr id="7" name="Picture 6">
            <a:extLst>
              <a:ext uri="{FF2B5EF4-FFF2-40B4-BE49-F238E27FC236}">
                <a16:creationId xmlns:a16="http://schemas.microsoft.com/office/drawing/2014/main" id="{D5EE9C76-35B0-3147-9B73-05DC10DC8AF9}"/>
              </a:ext>
            </a:extLst>
          </p:cNvPr>
          <p:cNvPicPr>
            <a:picLocks noChangeAspect="1"/>
          </p:cNvPicPr>
          <p:nvPr/>
        </p:nvPicPr>
        <p:blipFill>
          <a:blip r:embed="rId3"/>
          <a:stretch>
            <a:fillRect/>
          </a:stretch>
        </p:blipFill>
        <p:spPr>
          <a:xfrm>
            <a:off x="7610697" y="3910286"/>
            <a:ext cx="3159889" cy="2947714"/>
          </a:xfrm>
          <a:prstGeom prst="rect">
            <a:avLst/>
          </a:prstGeom>
        </p:spPr>
      </p:pic>
    </p:spTree>
    <p:extLst>
      <p:ext uri="{BB962C8B-B14F-4D97-AF65-F5344CB8AC3E}">
        <p14:creationId xmlns:p14="http://schemas.microsoft.com/office/powerpoint/2010/main" val="7278180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0BE9B-C400-5442-92D0-724AFAD5C7DC}"/>
              </a:ext>
            </a:extLst>
          </p:cNvPr>
          <p:cNvSpPr>
            <a:spLocks noGrp="1"/>
          </p:cNvSpPr>
          <p:nvPr>
            <p:ph type="title"/>
          </p:nvPr>
        </p:nvSpPr>
        <p:spPr/>
        <p:txBody>
          <a:bodyPr/>
          <a:lstStyle/>
          <a:p>
            <a:r>
              <a:rPr lang="en-US" dirty="0"/>
              <a:t>Liquid Na Compatibility</a:t>
            </a:r>
          </a:p>
        </p:txBody>
      </p:sp>
      <p:sp>
        <p:nvSpPr>
          <p:cNvPr id="3" name="Content Placeholder 2">
            <a:extLst>
              <a:ext uri="{FF2B5EF4-FFF2-40B4-BE49-F238E27FC236}">
                <a16:creationId xmlns:a16="http://schemas.microsoft.com/office/drawing/2014/main" id="{CD9CBA1E-8B4D-BE47-92EC-C63956D71C9A}"/>
              </a:ext>
            </a:extLst>
          </p:cNvPr>
          <p:cNvSpPr>
            <a:spLocks noGrp="1"/>
          </p:cNvSpPr>
          <p:nvPr>
            <p:ph sz="half" idx="1"/>
          </p:nvPr>
        </p:nvSpPr>
        <p:spPr/>
        <p:txBody>
          <a:bodyPr/>
          <a:lstStyle/>
          <a:p>
            <a:r>
              <a:rPr lang="en-US" sz="2400" dirty="0"/>
              <a:t>OSD-steels display excellent compatibility with liquid sodium</a:t>
            </a:r>
          </a:p>
          <a:p>
            <a:r>
              <a:rPr lang="en-US" sz="2400" dirty="0"/>
              <a:t>Both 9Cr and 12Cr ODS steels show no degradation in UTS after prolonged exposure to Na</a:t>
            </a:r>
          </a:p>
          <a:p>
            <a:r>
              <a:rPr lang="en-US" sz="2400" dirty="0"/>
              <a:t>Creep rupture behavior of ODS steels in air is identical to that in liquid Na</a:t>
            </a:r>
          </a:p>
          <a:p>
            <a:r>
              <a:rPr lang="en-US" sz="2400" dirty="0"/>
              <a:t>Under irradiation, this corrosion behavior may change, but has not been thoroughly studied</a:t>
            </a:r>
          </a:p>
        </p:txBody>
      </p:sp>
      <p:pic>
        <p:nvPicPr>
          <p:cNvPr id="6" name="Content Placeholder 5">
            <a:extLst>
              <a:ext uri="{FF2B5EF4-FFF2-40B4-BE49-F238E27FC236}">
                <a16:creationId xmlns:a16="http://schemas.microsoft.com/office/drawing/2014/main" id="{9CD07F39-A517-6F42-9D90-E201892D000A}"/>
              </a:ext>
            </a:extLst>
          </p:cNvPr>
          <p:cNvPicPr>
            <a:picLocks noGrp="1" noChangeAspect="1"/>
          </p:cNvPicPr>
          <p:nvPr>
            <p:ph sz="half" idx="2"/>
          </p:nvPr>
        </p:nvPicPr>
        <p:blipFill>
          <a:blip r:embed="rId2"/>
          <a:stretch>
            <a:fillRect/>
          </a:stretch>
        </p:blipFill>
        <p:spPr>
          <a:xfrm>
            <a:off x="6344533" y="4131950"/>
            <a:ext cx="4887732" cy="2476955"/>
          </a:xfrm>
          <a:prstGeom prst="rect">
            <a:avLst/>
          </a:prstGeom>
        </p:spPr>
      </p:pic>
      <p:sp>
        <p:nvSpPr>
          <p:cNvPr id="5" name="Slide Number Placeholder 4">
            <a:extLst>
              <a:ext uri="{FF2B5EF4-FFF2-40B4-BE49-F238E27FC236}">
                <a16:creationId xmlns:a16="http://schemas.microsoft.com/office/drawing/2014/main" id="{0669EDED-53C9-7E49-8863-4C02BE277FE4}"/>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pic>
        <p:nvPicPr>
          <p:cNvPr id="7" name="Picture 6">
            <a:extLst>
              <a:ext uri="{FF2B5EF4-FFF2-40B4-BE49-F238E27FC236}">
                <a16:creationId xmlns:a16="http://schemas.microsoft.com/office/drawing/2014/main" id="{C9519D58-2A93-DD46-9868-858436340415}"/>
              </a:ext>
            </a:extLst>
          </p:cNvPr>
          <p:cNvPicPr>
            <a:picLocks noChangeAspect="1"/>
          </p:cNvPicPr>
          <p:nvPr/>
        </p:nvPicPr>
        <p:blipFill>
          <a:blip r:embed="rId3"/>
          <a:stretch>
            <a:fillRect/>
          </a:stretch>
        </p:blipFill>
        <p:spPr>
          <a:xfrm>
            <a:off x="6497014" y="1886673"/>
            <a:ext cx="4588255" cy="2262824"/>
          </a:xfrm>
          <a:prstGeom prst="rect">
            <a:avLst/>
          </a:prstGeom>
        </p:spPr>
      </p:pic>
    </p:spTree>
    <p:extLst>
      <p:ext uri="{BB962C8B-B14F-4D97-AF65-F5344CB8AC3E}">
        <p14:creationId xmlns:p14="http://schemas.microsoft.com/office/powerpoint/2010/main" val="33179658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D609C-DA21-7540-89E8-50283E5B7CA1}"/>
              </a:ext>
            </a:extLst>
          </p:cNvPr>
          <p:cNvSpPr>
            <a:spLocks noGrp="1"/>
          </p:cNvSpPr>
          <p:nvPr>
            <p:ph type="title"/>
          </p:nvPr>
        </p:nvSpPr>
        <p:spPr/>
        <p:txBody>
          <a:bodyPr/>
          <a:lstStyle/>
          <a:p>
            <a:r>
              <a:rPr lang="en-US" dirty="0"/>
              <a:t>Irradiation Effects</a:t>
            </a:r>
          </a:p>
        </p:txBody>
      </p:sp>
      <p:sp>
        <p:nvSpPr>
          <p:cNvPr id="3" name="Content Placeholder 2">
            <a:extLst>
              <a:ext uri="{FF2B5EF4-FFF2-40B4-BE49-F238E27FC236}">
                <a16:creationId xmlns:a16="http://schemas.microsoft.com/office/drawing/2014/main" id="{DBD7F8BC-3EBA-9541-B4DE-DA6D04689A99}"/>
              </a:ext>
            </a:extLst>
          </p:cNvPr>
          <p:cNvSpPr>
            <a:spLocks noGrp="1"/>
          </p:cNvSpPr>
          <p:nvPr>
            <p:ph sz="half" idx="1"/>
          </p:nvPr>
        </p:nvSpPr>
        <p:spPr/>
        <p:txBody>
          <a:bodyPr/>
          <a:lstStyle/>
          <a:p>
            <a:r>
              <a:rPr lang="en-US" sz="2200" dirty="0"/>
              <a:t>The stability of the oxide particles under irradiation is the key factor in these alloys maintaining their advantageous mechanical properties under operation</a:t>
            </a:r>
          </a:p>
          <a:p>
            <a:r>
              <a:rPr lang="en-US" sz="2200" dirty="0"/>
              <a:t>Ballistic dissolution-the ejection of atoms from oxide particles due to high energy PKAs and the disordering of the particles-changes the nature of particles under irradiation</a:t>
            </a:r>
          </a:p>
          <a:p>
            <a:r>
              <a:rPr lang="en-US" sz="2200" dirty="0"/>
              <a:t>Complete dissolution of particles has been observed via APT</a:t>
            </a:r>
          </a:p>
          <a:p>
            <a:endParaRPr lang="en-US" sz="2200" dirty="0"/>
          </a:p>
        </p:txBody>
      </p:sp>
      <p:sp>
        <p:nvSpPr>
          <p:cNvPr id="5" name="Slide Number Placeholder 4">
            <a:extLst>
              <a:ext uri="{FF2B5EF4-FFF2-40B4-BE49-F238E27FC236}">
                <a16:creationId xmlns:a16="http://schemas.microsoft.com/office/drawing/2014/main" id="{1AF845AE-D57F-2849-A8A2-A396C1B914AF}"/>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pic>
        <p:nvPicPr>
          <p:cNvPr id="8" name="Picture 7">
            <a:extLst>
              <a:ext uri="{FF2B5EF4-FFF2-40B4-BE49-F238E27FC236}">
                <a16:creationId xmlns:a16="http://schemas.microsoft.com/office/drawing/2014/main" id="{6AF119CB-6631-3E43-B226-176ADE858E74}"/>
              </a:ext>
            </a:extLst>
          </p:cNvPr>
          <p:cNvPicPr>
            <a:picLocks noChangeAspect="1"/>
          </p:cNvPicPr>
          <p:nvPr/>
        </p:nvPicPr>
        <p:blipFill>
          <a:blip r:embed="rId2"/>
          <a:stretch>
            <a:fillRect/>
          </a:stretch>
        </p:blipFill>
        <p:spPr>
          <a:xfrm>
            <a:off x="6432309" y="1788560"/>
            <a:ext cx="4712182" cy="4517548"/>
          </a:xfrm>
          <a:prstGeom prst="rect">
            <a:avLst/>
          </a:prstGeom>
        </p:spPr>
      </p:pic>
    </p:spTree>
    <p:extLst>
      <p:ext uri="{BB962C8B-B14F-4D97-AF65-F5344CB8AC3E}">
        <p14:creationId xmlns:p14="http://schemas.microsoft.com/office/powerpoint/2010/main" val="11880539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9EFC6-BB54-E442-AC8E-E1DDB5F94959}"/>
              </a:ext>
            </a:extLst>
          </p:cNvPr>
          <p:cNvSpPr>
            <a:spLocks noGrp="1"/>
          </p:cNvSpPr>
          <p:nvPr>
            <p:ph type="title"/>
          </p:nvPr>
        </p:nvSpPr>
        <p:spPr/>
        <p:txBody>
          <a:bodyPr/>
          <a:lstStyle/>
          <a:p>
            <a:r>
              <a:rPr lang="en-US" dirty="0"/>
              <a:t>Irradiation Effects</a:t>
            </a:r>
          </a:p>
        </p:txBody>
      </p:sp>
      <p:sp>
        <p:nvSpPr>
          <p:cNvPr id="3" name="Content Placeholder 2">
            <a:extLst>
              <a:ext uri="{FF2B5EF4-FFF2-40B4-BE49-F238E27FC236}">
                <a16:creationId xmlns:a16="http://schemas.microsoft.com/office/drawing/2014/main" id="{BB06CD68-0408-564F-A4D9-3F97EE64B3AF}"/>
              </a:ext>
            </a:extLst>
          </p:cNvPr>
          <p:cNvSpPr>
            <a:spLocks noGrp="1"/>
          </p:cNvSpPr>
          <p:nvPr>
            <p:ph sz="half" idx="1"/>
          </p:nvPr>
        </p:nvSpPr>
        <p:spPr/>
        <p:txBody>
          <a:bodyPr/>
          <a:lstStyle/>
          <a:p>
            <a:r>
              <a:rPr lang="en-US" sz="2200" dirty="0"/>
              <a:t>At higher temperatures where vacancy diffusion is possible, ballistic dissolution works in conjunction with irradiation-assisted diffusion and changes the oxide particles</a:t>
            </a:r>
          </a:p>
          <a:p>
            <a:r>
              <a:rPr lang="en-US" sz="2200" dirty="0"/>
              <a:t>The atoms ejected from oxide particles can diffuse back to the original oxide particles, stay in the matrix, or reach other oxide particles</a:t>
            </a:r>
          </a:p>
          <a:p>
            <a:endParaRPr lang="en-US" sz="2200" dirty="0"/>
          </a:p>
          <a:p>
            <a:endParaRPr lang="en-US" sz="2200" dirty="0"/>
          </a:p>
        </p:txBody>
      </p:sp>
      <p:sp>
        <p:nvSpPr>
          <p:cNvPr id="4" name="Content Placeholder 3">
            <a:extLst>
              <a:ext uri="{FF2B5EF4-FFF2-40B4-BE49-F238E27FC236}">
                <a16:creationId xmlns:a16="http://schemas.microsoft.com/office/drawing/2014/main" id="{5BF14143-4F76-3F4C-A8D2-899BAEC87D9F}"/>
              </a:ext>
            </a:extLst>
          </p:cNvPr>
          <p:cNvSpPr>
            <a:spLocks noGrp="1"/>
          </p:cNvSpPr>
          <p:nvPr>
            <p:ph sz="half" idx="2"/>
          </p:nvPr>
        </p:nvSpPr>
        <p:spPr/>
        <p:txBody>
          <a:bodyPr/>
          <a:lstStyle/>
          <a:p>
            <a:r>
              <a:rPr lang="en-US" sz="2200" dirty="0"/>
              <a:t>Most studies have reported that the size and number density of the oxide particles hardly change compared to how they were before irradiation</a:t>
            </a:r>
          </a:p>
          <a:p>
            <a:r>
              <a:rPr lang="en-US" sz="2200" dirty="0"/>
              <a:t>The predominant mechanism of of recovery is the back diffusion to the original oxide particles or re-joining to other existing oxide particles</a:t>
            </a:r>
          </a:p>
          <a:p>
            <a:endParaRPr lang="en-US" sz="2200" dirty="0"/>
          </a:p>
          <a:p>
            <a:endParaRPr lang="en-US" sz="2200" dirty="0"/>
          </a:p>
        </p:txBody>
      </p:sp>
      <p:sp>
        <p:nvSpPr>
          <p:cNvPr id="5" name="Slide Number Placeholder 4">
            <a:extLst>
              <a:ext uri="{FF2B5EF4-FFF2-40B4-BE49-F238E27FC236}">
                <a16:creationId xmlns:a16="http://schemas.microsoft.com/office/drawing/2014/main" id="{3D0208A5-E915-8046-B1FA-1740D01055C7}"/>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Tree>
    <p:extLst>
      <p:ext uri="{BB962C8B-B14F-4D97-AF65-F5344CB8AC3E}">
        <p14:creationId xmlns:p14="http://schemas.microsoft.com/office/powerpoint/2010/main" val="22431780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CDE86-875F-844A-9CC2-A1E7E5D054C1}"/>
              </a:ext>
            </a:extLst>
          </p:cNvPr>
          <p:cNvSpPr>
            <a:spLocks noGrp="1"/>
          </p:cNvSpPr>
          <p:nvPr>
            <p:ph type="title"/>
          </p:nvPr>
        </p:nvSpPr>
        <p:spPr/>
        <p:txBody>
          <a:bodyPr/>
          <a:lstStyle/>
          <a:p>
            <a:r>
              <a:rPr lang="en-US" dirty="0"/>
              <a:t>Irradiation Effects</a:t>
            </a:r>
          </a:p>
        </p:txBody>
      </p:sp>
      <p:sp>
        <p:nvSpPr>
          <p:cNvPr id="3" name="Content Placeholder 2">
            <a:extLst>
              <a:ext uri="{FF2B5EF4-FFF2-40B4-BE49-F238E27FC236}">
                <a16:creationId xmlns:a16="http://schemas.microsoft.com/office/drawing/2014/main" id="{4DBFF190-F817-6F46-85A9-C5A29076407F}"/>
              </a:ext>
            </a:extLst>
          </p:cNvPr>
          <p:cNvSpPr>
            <a:spLocks noGrp="1"/>
          </p:cNvSpPr>
          <p:nvPr>
            <p:ph sz="half" idx="1"/>
          </p:nvPr>
        </p:nvSpPr>
        <p:spPr>
          <a:xfrm>
            <a:off x="609601" y="1968503"/>
            <a:ext cx="5057274" cy="4157663"/>
          </a:xfrm>
        </p:spPr>
        <p:txBody>
          <a:bodyPr/>
          <a:lstStyle/>
          <a:p>
            <a:r>
              <a:rPr lang="en-US" sz="2400" dirty="0"/>
              <a:t>A large number of irradiation experiments have been performed and analyzed to study the evolution of oxide particles</a:t>
            </a:r>
          </a:p>
          <a:p>
            <a:r>
              <a:rPr lang="en-US" sz="2400" dirty="0"/>
              <a:t>It appears that there is no correlation between irradiation dose, irradiation temperature, and the trend of change in size or number density of oxide particles</a:t>
            </a:r>
          </a:p>
          <a:p>
            <a:endParaRPr lang="en-US" sz="2400" dirty="0"/>
          </a:p>
        </p:txBody>
      </p:sp>
      <p:sp>
        <p:nvSpPr>
          <p:cNvPr id="5" name="Slide Number Placeholder 4">
            <a:extLst>
              <a:ext uri="{FF2B5EF4-FFF2-40B4-BE49-F238E27FC236}">
                <a16:creationId xmlns:a16="http://schemas.microsoft.com/office/drawing/2014/main" id="{3B3429A1-17C6-5243-8095-FB45BF162F80}"/>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pic>
        <p:nvPicPr>
          <p:cNvPr id="6" name="Picture 5">
            <a:extLst>
              <a:ext uri="{FF2B5EF4-FFF2-40B4-BE49-F238E27FC236}">
                <a16:creationId xmlns:a16="http://schemas.microsoft.com/office/drawing/2014/main" id="{61AF29E0-4F68-D340-B65A-6AAA874A33B4}"/>
              </a:ext>
            </a:extLst>
          </p:cNvPr>
          <p:cNvPicPr>
            <a:picLocks noChangeAspect="1"/>
          </p:cNvPicPr>
          <p:nvPr/>
        </p:nvPicPr>
        <p:blipFill>
          <a:blip r:embed="rId2"/>
          <a:stretch>
            <a:fillRect/>
          </a:stretch>
        </p:blipFill>
        <p:spPr>
          <a:xfrm>
            <a:off x="5994399" y="1922043"/>
            <a:ext cx="5809675" cy="4157662"/>
          </a:xfrm>
          <a:prstGeom prst="rect">
            <a:avLst/>
          </a:prstGeom>
        </p:spPr>
      </p:pic>
      <p:pic>
        <p:nvPicPr>
          <p:cNvPr id="7" name="Picture 6">
            <a:extLst>
              <a:ext uri="{FF2B5EF4-FFF2-40B4-BE49-F238E27FC236}">
                <a16:creationId xmlns:a16="http://schemas.microsoft.com/office/drawing/2014/main" id="{1E1EBB99-1AF9-C047-AF53-8E2FD947C41E}"/>
              </a:ext>
            </a:extLst>
          </p:cNvPr>
          <p:cNvPicPr>
            <a:picLocks noChangeAspect="1"/>
          </p:cNvPicPr>
          <p:nvPr/>
        </p:nvPicPr>
        <p:blipFill>
          <a:blip r:embed="rId3"/>
          <a:stretch>
            <a:fillRect/>
          </a:stretch>
        </p:blipFill>
        <p:spPr>
          <a:xfrm>
            <a:off x="6247022" y="2189775"/>
            <a:ext cx="4415031" cy="3015700"/>
          </a:xfrm>
          <a:prstGeom prst="rect">
            <a:avLst/>
          </a:prstGeom>
          <a:ln>
            <a:solidFill>
              <a:schemeClr val="tx1"/>
            </a:solidFill>
          </a:ln>
        </p:spPr>
      </p:pic>
      <p:pic>
        <p:nvPicPr>
          <p:cNvPr id="8" name="Picture 7">
            <a:extLst>
              <a:ext uri="{FF2B5EF4-FFF2-40B4-BE49-F238E27FC236}">
                <a16:creationId xmlns:a16="http://schemas.microsoft.com/office/drawing/2014/main" id="{B3231F99-A896-B24D-BA57-237EE3E0D332}"/>
              </a:ext>
            </a:extLst>
          </p:cNvPr>
          <p:cNvPicPr>
            <a:picLocks noChangeAspect="1"/>
          </p:cNvPicPr>
          <p:nvPr/>
        </p:nvPicPr>
        <p:blipFill>
          <a:blip r:embed="rId4"/>
          <a:stretch>
            <a:fillRect/>
          </a:stretch>
        </p:blipFill>
        <p:spPr>
          <a:xfrm>
            <a:off x="6667972" y="2795144"/>
            <a:ext cx="5126964" cy="3185034"/>
          </a:xfrm>
          <a:prstGeom prst="rect">
            <a:avLst/>
          </a:prstGeom>
          <a:ln>
            <a:solidFill>
              <a:schemeClr val="tx1"/>
            </a:solidFill>
          </a:ln>
        </p:spPr>
      </p:pic>
      <p:pic>
        <p:nvPicPr>
          <p:cNvPr id="9" name="Picture 8">
            <a:extLst>
              <a:ext uri="{FF2B5EF4-FFF2-40B4-BE49-F238E27FC236}">
                <a16:creationId xmlns:a16="http://schemas.microsoft.com/office/drawing/2014/main" id="{3C74D296-26B2-2D4C-B141-1AC33F0BD084}"/>
              </a:ext>
            </a:extLst>
          </p:cNvPr>
          <p:cNvPicPr>
            <a:picLocks noChangeAspect="1"/>
          </p:cNvPicPr>
          <p:nvPr/>
        </p:nvPicPr>
        <p:blipFill>
          <a:blip r:embed="rId5"/>
          <a:stretch>
            <a:fillRect/>
          </a:stretch>
        </p:blipFill>
        <p:spPr>
          <a:xfrm>
            <a:off x="7167369" y="4054812"/>
            <a:ext cx="4415031" cy="1641339"/>
          </a:xfrm>
          <a:prstGeom prst="rect">
            <a:avLst/>
          </a:prstGeom>
          <a:ln>
            <a:solidFill>
              <a:schemeClr val="tx1"/>
            </a:solidFill>
          </a:ln>
        </p:spPr>
      </p:pic>
    </p:spTree>
    <p:extLst>
      <p:ext uri="{BB962C8B-B14F-4D97-AF65-F5344CB8AC3E}">
        <p14:creationId xmlns:p14="http://schemas.microsoft.com/office/powerpoint/2010/main" val="2399727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3780-7CFC-824F-8D88-AC9CB2F2E53F}"/>
              </a:ext>
            </a:extLst>
          </p:cNvPr>
          <p:cNvSpPr>
            <a:spLocks noGrp="1"/>
          </p:cNvSpPr>
          <p:nvPr>
            <p:ph type="title"/>
          </p:nvPr>
        </p:nvSpPr>
        <p:spPr/>
        <p:txBody>
          <a:bodyPr/>
          <a:lstStyle/>
          <a:p>
            <a:r>
              <a:rPr lang="en-US" dirty="0"/>
              <a:t>Irradiation Effects</a:t>
            </a:r>
          </a:p>
        </p:txBody>
      </p:sp>
      <p:sp>
        <p:nvSpPr>
          <p:cNvPr id="3" name="Content Placeholder 2">
            <a:extLst>
              <a:ext uri="{FF2B5EF4-FFF2-40B4-BE49-F238E27FC236}">
                <a16:creationId xmlns:a16="http://schemas.microsoft.com/office/drawing/2014/main" id="{6FEB013C-C1DC-B440-A0CC-BF81D9E92B8B}"/>
              </a:ext>
            </a:extLst>
          </p:cNvPr>
          <p:cNvSpPr>
            <a:spLocks noGrp="1"/>
          </p:cNvSpPr>
          <p:nvPr>
            <p:ph sz="half" idx="1"/>
          </p:nvPr>
        </p:nvSpPr>
        <p:spPr/>
        <p:txBody>
          <a:bodyPr/>
          <a:lstStyle/>
          <a:p>
            <a:r>
              <a:rPr lang="en-US" sz="2400" dirty="0"/>
              <a:t>Swelling:</a:t>
            </a:r>
          </a:p>
          <a:p>
            <a:pPr lvl="1"/>
            <a:r>
              <a:rPr lang="en-US" sz="2400" dirty="0"/>
              <a:t>ODS steels are very swelling resistant, as the oxide particles trap vacancies and gas atoms, resulting in very small and homogeneously dispersed voids/bubbles</a:t>
            </a:r>
          </a:p>
        </p:txBody>
      </p:sp>
      <p:sp>
        <p:nvSpPr>
          <p:cNvPr id="4" name="Content Placeholder 3">
            <a:extLst>
              <a:ext uri="{FF2B5EF4-FFF2-40B4-BE49-F238E27FC236}">
                <a16:creationId xmlns:a16="http://schemas.microsoft.com/office/drawing/2014/main" id="{3B3D62D9-9F91-4F46-B200-52BCCE57FD66}"/>
              </a:ext>
            </a:extLst>
          </p:cNvPr>
          <p:cNvSpPr>
            <a:spLocks noGrp="1"/>
          </p:cNvSpPr>
          <p:nvPr>
            <p:ph sz="half" idx="2"/>
          </p:nvPr>
        </p:nvSpPr>
        <p:spPr/>
        <p:txBody>
          <a:bodyPr/>
          <a:lstStyle/>
          <a:p>
            <a:r>
              <a:rPr lang="en-US" sz="2400" dirty="0"/>
              <a:t>Hardening:</a:t>
            </a:r>
          </a:p>
          <a:p>
            <a:pPr lvl="1"/>
            <a:r>
              <a:rPr lang="en-US" sz="2400" dirty="0"/>
              <a:t>hardness increases due to irradiation in ODS steels are smaller than in non-ODS steels</a:t>
            </a:r>
          </a:p>
          <a:p>
            <a:pPr lvl="1"/>
            <a:r>
              <a:rPr lang="en-US" sz="2400" dirty="0"/>
              <a:t>Oxide particles dominate hardness, and act as sinks for generated point defects</a:t>
            </a:r>
          </a:p>
        </p:txBody>
      </p:sp>
      <p:sp>
        <p:nvSpPr>
          <p:cNvPr id="5" name="Slide Number Placeholder 4">
            <a:extLst>
              <a:ext uri="{FF2B5EF4-FFF2-40B4-BE49-F238E27FC236}">
                <a16:creationId xmlns:a16="http://schemas.microsoft.com/office/drawing/2014/main" id="{580D8A2C-7321-FA4A-ACB5-1379490A8702}"/>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spTree>
    <p:extLst>
      <p:ext uri="{BB962C8B-B14F-4D97-AF65-F5344CB8AC3E}">
        <p14:creationId xmlns:p14="http://schemas.microsoft.com/office/powerpoint/2010/main" val="8652379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654E6-6245-FE49-8D26-52B929A2DF6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414CE8F3-7E67-F346-9AA7-C81CD4E42501}"/>
              </a:ext>
            </a:extLst>
          </p:cNvPr>
          <p:cNvSpPr>
            <a:spLocks noGrp="1"/>
          </p:cNvSpPr>
          <p:nvPr>
            <p:ph sz="half" idx="1"/>
          </p:nvPr>
        </p:nvSpPr>
        <p:spPr>
          <a:xfrm>
            <a:off x="609600" y="1968503"/>
            <a:ext cx="10972800" cy="4157663"/>
          </a:xfrm>
        </p:spPr>
        <p:txBody>
          <a:bodyPr/>
          <a:lstStyle/>
          <a:p>
            <a:r>
              <a:rPr lang="en-US" sz="2200" dirty="0"/>
              <a:t>ODS is fabricated through mechanical alloying and subsequent annealing</a:t>
            </a:r>
          </a:p>
          <a:p>
            <a:r>
              <a:rPr lang="en-US" sz="2200" dirty="0"/>
              <a:t>9Cr-ODS steel has a unique structure consisting of tempered martensite and residual ferrite that induces superior strength through finely dispersed oxide particles </a:t>
            </a:r>
          </a:p>
          <a:p>
            <a:r>
              <a:rPr lang="en-US" sz="2200" dirty="0"/>
              <a:t>NFAs have a very high density of oxide particles, producing very high strength and creep resistance, at the cost of workability</a:t>
            </a:r>
          </a:p>
          <a:p>
            <a:r>
              <a:rPr lang="en-US" sz="2200" dirty="0" err="1"/>
              <a:t>FeCrAl</a:t>
            </a:r>
            <a:r>
              <a:rPr lang="en-US" sz="2200" dirty="0"/>
              <a:t>-ODS can provide superior corrosion resistance while retaining the ODS influenced mechanical properties</a:t>
            </a:r>
          </a:p>
          <a:p>
            <a:r>
              <a:rPr lang="en-US" sz="2200" dirty="0"/>
              <a:t>Further in-reactor studies on ODS steels need to be performed</a:t>
            </a:r>
          </a:p>
          <a:p>
            <a:r>
              <a:rPr lang="en-US" sz="2200" dirty="0"/>
              <a:t>While performance of ODS steels is widely studied, current production is limited to laboratory scale, with prohibitive costs for large scale production</a:t>
            </a:r>
          </a:p>
          <a:p>
            <a:endParaRPr lang="en-US" sz="2200" dirty="0"/>
          </a:p>
        </p:txBody>
      </p:sp>
      <p:sp>
        <p:nvSpPr>
          <p:cNvPr id="5" name="Slide Number Placeholder 4">
            <a:extLst>
              <a:ext uri="{FF2B5EF4-FFF2-40B4-BE49-F238E27FC236}">
                <a16:creationId xmlns:a16="http://schemas.microsoft.com/office/drawing/2014/main" id="{FC284EE4-FB28-E546-AFFD-14D29EC04BD0}"/>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17551465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7824E-DB1A-EBB8-0F12-4E936C513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DA8A87-4149-6373-9C99-C489D2C108DF}"/>
              </a:ext>
            </a:extLst>
          </p:cNvPr>
          <p:cNvSpPr>
            <a:spLocks noGrp="1"/>
          </p:cNvSpPr>
          <p:nvPr>
            <p:ph type="title"/>
          </p:nvPr>
        </p:nvSpPr>
        <p:spPr/>
        <p:txBody>
          <a:bodyPr/>
          <a:lstStyle/>
          <a:p>
            <a:r>
              <a:rPr lang="en-US" dirty="0"/>
              <a:t>High entropy alloys</a:t>
            </a:r>
          </a:p>
        </p:txBody>
      </p:sp>
      <p:sp>
        <p:nvSpPr>
          <p:cNvPr id="3" name="Slide Number Placeholder 2">
            <a:extLst>
              <a:ext uri="{FF2B5EF4-FFF2-40B4-BE49-F238E27FC236}">
                <a16:creationId xmlns:a16="http://schemas.microsoft.com/office/drawing/2014/main" id="{789FBFD3-EA7C-6FEE-3D26-1DACACBF91FA}"/>
              </a:ext>
            </a:extLst>
          </p:cNvPr>
          <p:cNvSpPr>
            <a:spLocks noGrp="1"/>
          </p:cNvSpPr>
          <p:nvPr>
            <p:ph type="sldNum" sz="quarter" idx="12"/>
          </p:nvPr>
        </p:nvSpPr>
        <p:spPr/>
        <p:txBody>
          <a:bodyPr/>
          <a:lstStyle/>
          <a:p>
            <a:pPr>
              <a:defRPr/>
            </a:pPr>
            <a:fld id="{0DA6BD0F-ABBC-C14D-BC96-77BE126A748B}" type="slidenum">
              <a:rPr lang="en-US" smtClean="0"/>
              <a:pPr>
                <a:defRPr/>
              </a:pPr>
              <a:t>34</a:t>
            </a:fld>
            <a:endParaRPr lang="en-US"/>
          </a:p>
        </p:txBody>
      </p:sp>
    </p:spTree>
    <p:extLst>
      <p:ext uri="{BB962C8B-B14F-4D97-AF65-F5344CB8AC3E}">
        <p14:creationId xmlns:p14="http://schemas.microsoft.com/office/powerpoint/2010/main" val="24169328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796ED-5C43-B696-F9DB-78AC49F52428}"/>
              </a:ext>
            </a:extLst>
          </p:cNvPr>
          <p:cNvSpPr>
            <a:spLocks noGrp="1"/>
          </p:cNvSpPr>
          <p:nvPr>
            <p:ph type="title"/>
          </p:nvPr>
        </p:nvSpPr>
        <p:spPr/>
        <p:txBody>
          <a:bodyPr/>
          <a:lstStyle/>
          <a:p>
            <a:r>
              <a:rPr lang="en-US" dirty="0"/>
              <a:t>HEAs</a:t>
            </a:r>
          </a:p>
        </p:txBody>
      </p:sp>
      <p:sp>
        <p:nvSpPr>
          <p:cNvPr id="3" name="Content Placeholder 2">
            <a:extLst>
              <a:ext uri="{FF2B5EF4-FFF2-40B4-BE49-F238E27FC236}">
                <a16:creationId xmlns:a16="http://schemas.microsoft.com/office/drawing/2014/main" id="{FF606979-6B46-BFBB-A2AA-1869ADE2CE12}"/>
              </a:ext>
            </a:extLst>
          </p:cNvPr>
          <p:cNvSpPr>
            <a:spLocks noGrp="1"/>
          </p:cNvSpPr>
          <p:nvPr>
            <p:ph sz="half" idx="1"/>
          </p:nvPr>
        </p:nvSpPr>
        <p:spPr/>
        <p:txBody>
          <a:bodyPr/>
          <a:lstStyle/>
          <a:p>
            <a:r>
              <a:rPr lang="en-US" dirty="0"/>
              <a:t>The ‘normal’ alloying strategy adds relatively small amounts of secondary elements to a primary element</a:t>
            </a:r>
          </a:p>
          <a:p>
            <a:r>
              <a:rPr lang="en-US" dirty="0"/>
              <a:t>The combination of multiple principal elements in high concentrations to create new materials yields HEAs</a:t>
            </a:r>
          </a:p>
          <a:p>
            <a:r>
              <a:rPr lang="en-US" dirty="0"/>
              <a:t>It was theorized that the presence of multiple elements in near-</a:t>
            </a:r>
            <a:r>
              <a:rPr lang="en-US" dirty="0" err="1"/>
              <a:t>equiatomic</a:t>
            </a:r>
            <a:r>
              <a:rPr lang="en-US" dirty="0"/>
              <a:t> proportions would increase the configurational entropy of mixing by an amount sufficient to deter the formation of potentially harmful </a:t>
            </a:r>
            <a:r>
              <a:rPr lang="en-US" dirty="0" err="1"/>
              <a:t>intermetallics</a:t>
            </a:r>
            <a:endParaRPr lang="en-US" dirty="0"/>
          </a:p>
        </p:txBody>
      </p:sp>
      <p:sp>
        <p:nvSpPr>
          <p:cNvPr id="4" name="Content Placeholder 3">
            <a:extLst>
              <a:ext uri="{FF2B5EF4-FFF2-40B4-BE49-F238E27FC236}">
                <a16:creationId xmlns:a16="http://schemas.microsoft.com/office/drawing/2014/main" id="{A481CEB0-53D2-232F-30C5-B67662824F61}"/>
              </a:ext>
            </a:extLst>
          </p:cNvPr>
          <p:cNvSpPr>
            <a:spLocks noGrp="1"/>
          </p:cNvSpPr>
          <p:nvPr>
            <p:ph sz="half" idx="2"/>
          </p:nvPr>
        </p:nvSpPr>
        <p:spPr/>
        <p:txBody>
          <a:bodyPr/>
          <a:lstStyle/>
          <a:p>
            <a:r>
              <a:rPr lang="en-US" dirty="0"/>
              <a:t>These can also be called multi-component alloys, compositionally complex alloys and multi-principal-element alloys (some delineations between the groups)</a:t>
            </a:r>
          </a:p>
          <a:p>
            <a:endParaRPr lang="en-US" dirty="0"/>
          </a:p>
        </p:txBody>
      </p:sp>
      <p:sp>
        <p:nvSpPr>
          <p:cNvPr id="5" name="Slide Number Placeholder 4">
            <a:extLst>
              <a:ext uri="{FF2B5EF4-FFF2-40B4-BE49-F238E27FC236}">
                <a16:creationId xmlns:a16="http://schemas.microsoft.com/office/drawing/2014/main" id="{BAE959BE-C92E-0577-BC60-77E6D24B33C3}"/>
              </a:ext>
            </a:extLst>
          </p:cNvPr>
          <p:cNvSpPr>
            <a:spLocks noGrp="1"/>
          </p:cNvSpPr>
          <p:nvPr>
            <p:ph type="sldNum" sz="quarter" idx="12"/>
          </p:nvPr>
        </p:nvSpPr>
        <p:spPr/>
        <p:txBody>
          <a:bodyPr/>
          <a:lstStyle/>
          <a:p>
            <a:pPr>
              <a:defRPr/>
            </a:pPr>
            <a:fld id="{EC35E9FC-F6D5-0349-BBED-EA7D7A9BC49B}" type="slidenum">
              <a:rPr lang="en-US" smtClean="0"/>
              <a:pPr>
                <a:defRPr/>
              </a:pPr>
              <a:t>35</a:t>
            </a:fld>
            <a:endParaRPr lang="en-US"/>
          </a:p>
        </p:txBody>
      </p:sp>
      <p:pic>
        <p:nvPicPr>
          <p:cNvPr id="6" name="Picture 5">
            <a:extLst>
              <a:ext uri="{FF2B5EF4-FFF2-40B4-BE49-F238E27FC236}">
                <a16:creationId xmlns:a16="http://schemas.microsoft.com/office/drawing/2014/main" id="{D53AA7CC-72F8-273C-F4E4-F8FFC3342387}"/>
              </a:ext>
            </a:extLst>
          </p:cNvPr>
          <p:cNvPicPr>
            <a:picLocks noChangeAspect="1"/>
          </p:cNvPicPr>
          <p:nvPr/>
        </p:nvPicPr>
        <p:blipFill>
          <a:blip r:embed="rId2"/>
          <a:stretch>
            <a:fillRect/>
          </a:stretch>
        </p:blipFill>
        <p:spPr>
          <a:xfrm>
            <a:off x="6375400" y="3925404"/>
            <a:ext cx="5029200" cy="2108200"/>
          </a:xfrm>
          <a:prstGeom prst="rect">
            <a:avLst/>
          </a:prstGeom>
        </p:spPr>
      </p:pic>
    </p:spTree>
    <p:extLst>
      <p:ext uri="{BB962C8B-B14F-4D97-AF65-F5344CB8AC3E}">
        <p14:creationId xmlns:p14="http://schemas.microsoft.com/office/powerpoint/2010/main" val="33893943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FAD96-CF8E-37F5-3696-8250CD8717B6}"/>
              </a:ext>
            </a:extLst>
          </p:cNvPr>
          <p:cNvSpPr>
            <a:spLocks noGrp="1"/>
          </p:cNvSpPr>
          <p:nvPr>
            <p:ph type="title"/>
          </p:nvPr>
        </p:nvSpPr>
        <p:spPr/>
        <p:txBody>
          <a:bodyPr/>
          <a:lstStyle/>
          <a:p>
            <a:r>
              <a:rPr lang="en-US" dirty="0"/>
              <a:t>High strength and high ductility</a:t>
            </a:r>
          </a:p>
        </p:txBody>
      </p:sp>
      <p:sp>
        <p:nvSpPr>
          <p:cNvPr id="3" name="Content Placeholder 2">
            <a:extLst>
              <a:ext uri="{FF2B5EF4-FFF2-40B4-BE49-F238E27FC236}">
                <a16:creationId xmlns:a16="http://schemas.microsoft.com/office/drawing/2014/main" id="{F903E052-5DE0-5CD4-6CCD-5C20B3C70179}"/>
              </a:ext>
            </a:extLst>
          </p:cNvPr>
          <p:cNvSpPr>
            <a:spLocks noGrp="1"/>
          </p:cNvSpPr>
          <p:nvPr>
            <p:ph sz="half" idx="1"/>
          </p:nvPr>
        </p:nvSpPr>
        <p:spPr/>
        <p:txBody>
          <a:bodyPr/>
          <a:lstStyle/>
          <a:p>
            <a:r>
              <a:rPr lang="en-US" dirty="0"/>
              <a:t>HEAs have numerous appealing properties, such as great strength, great hardness, resistance to corrosion, fracture and fatigue resistance, and high-temperature stability</a:t>
            </a:r>
          </a:p>
          <a:p>
            <a:r>
              <a:rPr lang="en-US" dirty="0"/>
              <a:t>The concept of solid-solution strengthening is that solute atoms impede the motion of dislocations, increasing the yield strength</a:t>
            </a:r>
          </a:p>
          <a:p>
            <a:r>
              <a:rPr lang="en-US" dirty="0"/>
              <a:t>In HEAs, there is no single solute, and thus the local disorder/distortion acts as a strong barrier to dislocation motion</a:t>
            </a:r>
          </a:p>
        </p:txBody>
      </p:sp>
      <p:sp>
        <p:nvSpPr>
          <p:cNvPr id="5" name="Slide Number Placeholder 4">
            <a:extLst>
              <a:ext uri="{FF2B5EF4-FFF2-40B4-BE49-F238E27FC236}">
                <a16:creationId xmlns:a16="http://schemas.microsoft.com/office/drawing/2014/main" id="{A8299935-6984-A2DB-5BF3-0631DFC16F16}"/>
              </a:ext>
            </a:extLst>
          </p:cNvPr>
          <p:cNvSpPr>
            <a:spLocks noGrp="1"/>
          </p:cNvSpPr>
          <p:nvPr>
            <p:ph type="sldNum" sz="quarter" idx="12"/>
          </p:nvPr>
        </p:nvSpPr>
        <p:spPr/>
        <p:txBody>
          <a:bodyPr/>
          <a:lstStyle/>
          <a:p>
            <a:pPr>
              <a:defRPr/>
            </a:pPr>
            <a:fld id="{EC35E9FC-F6D5-0349-BBED-EA7D7A9BC49B}" type="slidenum">
              <a:rPr lang="en-US" smtClean="0"/>
              <a:pPr>
                <a:defRPr/>
              </a:pPr>
              <a:t>36</a:t>
            </a:fld>
            <a:endParaRPr lang="en-US"/>
          </a:p>
        </p:txBody>
      </p:sp>
      <p:pic>
        <p:nvPicPr>
          <p:cNvPr id="6" name="Picture 5">
            <a:extLst>
              <a:ext uri="{FF2B5EF4-FFF2-40B4-BE49-F238E27FC236}">
                <a16:creationId xmlns:a16="http://schemas.microsoft.com/office/drawing/2014/main" id="{D6028AF0-F271-B7D9-6DDD-DA6069EBD8AB}"/>
              </a:ext>
            </a:extLst>
          </p:cNvPr>
          <p:cNvPicPr>
            <a:picLocks noChangeAspect="1"/>
          </p:cNvPicPr>
          <p:nvPr/>
        </p:nvPicPr>
        <p:blipFill>
          <a:blip r:embed="rId2"/>
          <a:stretch>
            <a:fillRect/>
          </a:stretch>
        </p:blipFill>
        <p:spPr>
          <a:xfrm>
            <a:off x="6437043" y="1925868"/>
            <a:ext cx="5625749" cy="4242931"/>
          </a:xfrm>
          <a:prstGeom prst="rect">
            <a:avLst/>
          </a:prstGeom>
        </p:spPr>
      </p:pic>
    </p:spTree>
    <p:extLst>
      <p:ext uri="{BB962C8B-B14F-4D97-AF65-F5344CB8AC3E}">
        <p14:creationId xmlns:p14="http://schemas.microsoft.com/office/powerpoint/2010/main" val="3155811982"/>
      </p:ext>
    </p:extLst>
  </p:cSld>
  <p:clrMapOvr>
    <a:masterClrMapping/>
  </p:clrMapOvr>
</p:sld>
</file>

<file path=ppt/theme/theme1.xml><?xml version="1.0" encoding="utf-8"?>
<a:theme xmlns:a="http://schemas.openxmlformats.org/drawingml/2006/main" name="2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6072</TotalTime>
  <Words>2535</Words>
  <Application>Microsoft Macintosh PowerPoint</Application>
  <PresentationFormat>Widescreen</PresentationFormat>
  <Paragraphs>224</Paragraphs>
  <Slides>36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Arial</vt:lpstr>
      <vt:lpstr>Calibri</vt:lpstr>
      <vt:lpstr>Helvetica</vt:lpstr>
      <vt:lpstr>Times</vt:lpstr>
      <vt:lpstr>2_NCStateU-horizontal-left-logo</vt:lpstr>
      <vt:lpstr>NE 763: Advanced Reactor Materials</vt:lpstr>
      <vt:lpstr>Exam 3 Grades</vt:lpstr>
      <vt:lpstr>Last Time</vt:lpstr>
      <vt:lpstr>Void Swelling</vt:lpstr>
      <vt:lpstr>Void Swelling</vt:lpstr>
      <vt:lpstr>Ferritic/Martensitic Steels Summary</vt:lpstr>
      <vt:lpstr>Fe-Cr-al steels</vt:lpstr>
      <vt:lpstr>FeCrAl</vt:lpstr>
      <vt:lpstr>Compositional Limits</vt:lpstr>
      <vt:lpstr>Oxidation Resistance</vt:lpstr>
      <vt:lpstr>Oxidation Resistance</vt:lpstr>
      <vt:lpstr>Irradiation Behavior</vt:lpstr>
      <vt:lpstr>alpha’ Precipitation</vt:lpstr>
      <vt:lpstr>Irradiation Hardening</vt:lpstr>
      <vt:lpstr>Integral Experiments</vt:lpstr>
      <vt:lpstr>ODS Steels</vt:lpstr>
      <vt:lpstr>Oxide Dispersion Strengthened Steels</vt:lpstr>
      <vt:lpstr>Y2O3 Decomposition</vt:lpstr>
      <vt:lpstr>Oxide Particle Structure</vt:lpstr>
      <vt:lpstr>9Cr-ODS</vt:lpstr>
      <vt:lpstr>9Cr-ODS microstructure</vt:lpstr>
      <vt:lpstr>Residual Ferrite</vt:lpstr>
      <vt:lpstr>Mechanical Properties</vt:lpstr>
      <vt:lpstr>Ferritic 12Cr-ODS Steel</vt:lpstr>
      <vt:lpstr>NFAs</vt:lpstr>
      <vt:lpstr>FeCrAl-ODS Steel</vt:lpstr>
      <vt:lpstr>Corrosion</vt:lpstr>
      <vt:lpstr>Liquid Na Compatibility</vt:lpstr>
      <vt:lpstr>Irradiation Effects</vt:lpstr>
      <vt:lpstr>Irradiation Effects</vt:lpstr>
      <vt:lpstr>Irradiation Effects</vt:lpstr>
      <vt:lpstr>Irradiation Effects</vt:lpstr>
      <vt:lpstr>Summary</vt:lpstr>
      <vt:lpstr>High entropy alloys</vt:lpstr>
      <vt:lpstr>HEAs</vt:lpstr>
      <vt:lpstr>High strength and high ductility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W. Beeler</cp:lastModifiedBy>
  <cp:revision>44</cp:revision>
  <dcterms:created xsi:type="dcterms:W3CDTF">2021-06-30T18:29:00Z</dcterms:created>
  <dcterms:modified xsi:type="dcterms:W3CDTF">2026-08-17T18:32:53Z</dcterms:modified>
</cp:coreProperties>
</file>
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407" r:id="rId3"/>
    <p:sldId id="432" r:id="rId4"/>
    <p:sldId id="408" r:id="rId5"/>
    <p:sldId id="442" r:id="rId6"/>
    <p:sldId id="428" r:id="rId7"/>
    <p:sldId id="443" r:id="rId8"/>
    <p:sldId id="429" r:id="rId9"/>
    <p:sldId id="410" r:id="rId10"/>
    <p:sldId id="409" r:id="rId11"/>
    <p:sldId id="411" r:id="rId12"/>
    <p:sldId id="433" r:id="rId13"/>
    <p:sldId id="43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85609-E5CC-DE44-B37C-B4F30876FF32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01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0746"/>
            <a:ext cx="10972800" cy="38454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F8954-4A2E-3243-B2DC-9CD5CB712752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94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4575D-199B-0745-9376-4BA74FA8EFA7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4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EC5E2-8D01-2849-BCEF-95F1335AF02C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83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B4091-1279-5E46-833E-3B119270952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2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5C5CE-9A98-3649-A752-35F044CBF5B8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24C5E-CE4C-B646-8BD9-2D7670818E7E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8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3BC9F-3142-5445-97AB-BA4A48743DCA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3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7FE6E-4AF1-BB43-A3BB-BA9931BC385B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8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F1F23-51F5-E24D-A2F3-F9FF410B2C6B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2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9506E-CC5A-D948-B9E0-FC81D1F3EEB8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6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75521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43909"/>
            <a:ext cx="5384800" cy="4382258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B2EB5-5DD5-D045-817C-F27A871F0002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F3AB534-2132-774F-82DE-4210B1BD5FED}" type="datetime1">
              <a:rPr lang="en-US" smtClean="0"/>
              <a:t>9/24/26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9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67053-FE0B-2E4F-88E8-0DE41FF9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E82176-A547-F94B-AC51-D6E9C882CB88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molten salts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6A656C-3693-0445-844B-BB51A7AA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6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35CB-65A4-D54D-A1CF-20060A7F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molten salts?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B008-7DFA-9942-9596-CE3AE7E62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80746"/>
            <a:ext cx="7758896" cy="3845418"/>
          </a:xfrm>
        </p:spPr>
        <p:txBody>
          <a:bodyPr/>
          <a:lstStyle/>
          <a:p>
            <a:r>
              <a:rPr lang="en-US" sz="2000" dirty="0"/>
              <a:t>Salts are ionic compounds formed from a combination of electronegative and electropositive elements</a:t>
            </a:r>
          </a:p>
          <a:p>
            <a:r>
              <a:rPr lang="en-US" sz="2000" dirty="0"/>
              <a:t>At elevated temperatures salts liquefy and are termed “molten salts”</a:t>
            </a:r>
          </a:p>
          <a:p>
            <a:r>
              <a:rPr lang="en-US" sz="2000" dirty="0"/>
              <a:t>Halide salts are ionic compounds formed from the combination of a halogen (electronegative) and another electropositive element – commonly, but not exclusively, alkali metals or alkaline earths</a:t>
            </a:r>
          </a:p>
          <a:p>
            <a:r>
              <a:rPr lang="en-US" sz="2000" dirty="0"/>
              <a:t>Examples: </a:t>
            </a:r>
            <a:r>
              <a:rPr lang="en-US" sz="2000" dirty="0" err="1"/>
              <a:t>LiF</a:t>
            </a:r>
            <a:r>
              <a:rPr lang="en-US" sz="2000" dirty="0"/>
              <a:t>, BeF2, MgCl2, </a:t>
            </a:r>
            <a:r>
              <a:rPr lang="en-US" sz="2000" dirty="0" err="1"/>
              <a:t>NaCl</a:t>
            </a:r>
            <a:r>
              <a:rPr lang="en-US" sz="2000" dirty="0"/>
              <a:t> (aka table salt), ZrF4, </a:t>
            </a:r>
            <a:r>
              <a:rPr lang="en-US" sz="2000" dirty="0" err="1"/>
              <a:t>RbF</a:t>
            </a:r>
            <a:r>
              <a:rPr lang="en-US" sz="2000" dirty="0"/>
              <a:t>, UF4, UCl3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1492D-9563-9646-88DC-6AA3B56021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429"/>
          <a:stretch/>
        </p:blipFill>
        <p:spPr>
          <a:xfrm>
            <a:off x="10985669" y="2490629"/>
            <a:ext cx="685800" cy="4098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0A2087-9A5B-0047-B5F4-CD1EA313E94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6897" y="2553275"/>
            <a:ext cx="685800" cy="40085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F850DB-08EE-FF4A-8B76-7F2496035A8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226" y="2553275"/>
            <a:ext cx="672630" cy="399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C6BDEF-43A3-1D4E-A99D-8B1BE483FEBF}"/>
              </a:ext>
            </a:extLst>
          </p:cNvPr>
          <p:cNvSpPr txBox="1"/>
          <p:nvPr/>
        </p:nvSpPr>
        <p:spPr>
          <a:xfrm>
            <a:off x="10813496" y="2123283"/>
            <a:ext cx="1030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Halogens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EA159-5194-A144-A72E-045D06EFEF19}"/>
              </a:ext>
            </a:extLst>
          </p:cNvPr>
          <p:cNvSpPr txBox="1"/>
          <p:nvPr/>
        </p:nvSpPr>
        <p:spPr>
          <a:xfrm>
            <a:off x="9696931" y="1968500"/>
            <a:ext cx="925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Alkaline Earths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9AA29-C9F1-2C4D-B092-47312ECE5FE2}"/>
              </a:ext>
            </a:extLst>
          </p:cNvPr>
          <p:cNvSpPr txBox="1"/>
          <p:nvPr/>
        </p:nvSpPr>
        <p:spPr>
          <a:xfrm>
            <a:off x="8536810" y="1968500"/>
            <a:ext cx="925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Alkali Metals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1E540C-31EC-5941-87D6-A9B85BE6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1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Molten Salt Reactors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959" y="1968500"/>
            <a:ext cx="3539656" cy="41576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Salt Cooled Reactor</a:t>
            </a:r>
          </a:p>
          <a:p>
            <a:pPr marL="0" indent="0">
              <a:buNone/>
            </a:pPr>
            <a:r>
              <a:rPr lang="en-US" sz="2400" dirty="0"/>
              <a:t>Driven by some traditional fuel type in cladding, where the coolant is replaced with molten salt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AAF9-8215-DD42-A148-CD10AF4AF6A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266072" y="1978991"/>
            <a:ext cx="3419061" cy="41576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Static Salt Fueled Reactor</a:t>
            </a:r>
          </a:p>
          <a:p>
            <a:pPr marL="0" indent="0">
              <a:buNone/>
            </a:pPr>
            <a:r>
              <a:rPr lang="en-US" sz="2400" dirty="0"/>
              <a:t>The fuel itself is a liquid actinide-salt mixture contained in a cladding, often coupled with a salt coolant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381BEED-AA8C-C749-BC95-C25F4742A464}"/>
              </a:ext>
            </a:extLst>
          </p:cNvPr>
          <p:cNvSpPr txBox="1">
            <a:spLocks/>
          </p:cNvSpPr>
          <p:nvPr/>
        </p:nvSpPr>
        <p:spPr bwMode="auto">
          <a:xfrm>
            <a:off x="7965615" y="1973118"/>
            <a:ext cx="3539657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33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990575" indent="-38099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523962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667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2133547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743131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Flowing Salt Fueled Reactor</a:t>
            </a:r>
          </a:p>
          <a:p>
            <a:pPr marL="0" indent="0">
              <a:buNone/>
            </a:pPr>
            <a:r>
              <a:rPr lang="en-US" sz="2400" dirty="0"/>
              <a:t>The fuel itself is a liquid actinide-salt mixture which flows in a loops through the core and doubles as the coolant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1232C-2864-284A-942C-83D1DBD5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02E4D4-046A-2D2E-545B-DBED1B92E1DC}"/>
              </a:ext>
            </a:extLst>
          </p:cNvPr>
          <p:cNvGrpSpPr/>
          <p:nvPr/>
        </p:nvGrpSpPr>
        <p:grpSpPr>
          <a:xfrm>
            <a:off x="7685133" y="1743908"/>
            <a:ext cx="3849382" cy="3370184"/>
            <a:chOff x="7685133" y="1743908"/>
            <a:chExt cx="3849382" cy="337018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AEB66EE-65A8-91E2-ABAF-2D8FFCF8403B}"/>
                </a:ext>
              </a:extLst>
            </p:cNvPr>
            <p:cNvCxnSpPr/>
            <p:nvPr/>
          </p:nvCxnSpPr>
          <p:spPr>
            <a:xfrm flipH="1">
              <a:off x="7685133" y="1743908"/>
              <a:ext cx="38201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47B75E8-2571-C935-2646-FA104BA492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05272" y="1743908"/>
              <a:ext cx="29243" cy="33641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2C7827-ACC5-8F19-97A0-89602E91ABEF}"/>
                </a:ext>
              </a:extLst>
            </p:cNvPr>
            <p:cNvCxnSpPr/>
            <p:nvPr/>
          </p:nvCxnSpPr>
          <p:spPr>
            <a:xfrm flipH="1">
              <a:off x="7714376" y="5108089"/>
              <a:ext cx="38201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F5F8A4-C51F-0D52-D2DE-3B1411F6AB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4376" y="1743908"/>
              <a:ext cx="0" cy="33701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96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54F9-1B06-F451-E075-CA09BF8F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and Fast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C5A5-9C5F-4486-466F-2F1A5E2C85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Often salt reactors are further subdivided into fast and thermal spectrum reactors</a:t>
            </a:r>
          </a:p>
          <a:p>
            <a:r>
              <a:rPr lang="en-US" sz="2200" dirty="0"/>
              <a:t>List of examples of reactor systems with solid fuel, thermal liquid fuel, and fast liquid fuel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8D7B7-FC1B-6CB2-8225-0B5BF65D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BB82C-F851-F7FA-E819-9509B3727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83684" y="1537827"/>
            <a:ext cx="4812632" cy="4794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14CC78-5375-4069-2D3E-FD64EFFF08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684" y="4292774"/>
            <a:ext cx="4812632" cy="206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1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2BE4-B8E5-5F4B-8DFD-20F98F23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MSRs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A847-62EE-0A49-B7A6-167BDFCDE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659835"/>
            <a:ext cx="5936673" cy="4466331"/>
          </a:xfrm>
        </p:spPr>
        <p:txBody>
          <a:bodyPr/>
          <a:lstStyle/>
          <a:p>
            <a:r>
              <a:rPr lang="en-US" sz="2000" dirty="0"/>
              <a:t>MSRs operate at or close to atmospheric pressure, rather than the 75-150 times atmospheric pressure of typical light-water reactors (LWR)</a:t>
            </a:r>
          </a:p>
          <a:p>
            <a:r>
              <a:rPr lang="en-US" sz="2000" dirty="0"/>
              <a:t>This reduces the large, expensive containment structures used for LWRs</a:t>
            </a:r>
          </a:p>
          <a:p>
            <a:r>
              <a:rPr lang="en-US" sz="2000" dirty="0"/>
              <a:t>Radioactive fission gases can be naturally absorbed into the molten salt</a:t>
            </a:r>
          </a:p>
          <a:p>
            <a:r>
              <a:rPr lang="en-US" sz="2000" dirty="0"/>
              <a:t>MSRs can have higher operating temperatures than a traditional LWR, providing higher electricity-generation efficiency, the possibility of grid-storage facilities, economical hydrogen production and, in some cases, process-heat opportunities.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38F2A-325A-7F40-83C3-825729B4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E22C0B-9B3A-5997-3D12-0C33902F69B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546272" y="1743909"/>
            <a:ext cx="5036128" cy="4382258"/>
          </a:xfrm>
        </p:spPr>
        <p:txBody>
          <a:bodyPr/>
          <a:lstStyle/>
          <a:p>
            <a:r>
              <a:rPr lang="en-US" sz="2000" dirty="0"/>
              <a:t>MSRs have a strong negative reactivity feedback coefficient induced by the thermal expansion of the fluid</a:t>
            </a:r>
          </a:p>
          <a:p>
            <a:r>
              <a:rPr lang="en-US" sz="2000" dirty="0"/>
              <a:t>Backup safety measure of dump tanks for rapid removal of fuel</a:t>
            </a:r>
          </a:p>
          <a:p>
            <a:r>
              <a:rPr lang="en-US" sz="2000" dirty="0"/>
              <a:t>Possibility of online refueling and waste removal, plus benefits of reprocessing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1B1CA5-D973-6954-9554-E260F753E4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9973" y="4589384"/>
            <a:ext cx="4108725" cy="16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02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A365-D33C-B447-C341-52A99766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Design/Nomenclature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9A4C3-0496-433C-E1B6-755EA006E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477000" cy="4157663"/>
          </a:xfrm>
        </p:spPr>
        <p:txBody>
          <a:bodyPr/>
          <a:lstStyle/>
          <a:p>
            <a:r>
              <a:rPr lang="en-US" sz="2200" dirty="0"/>
              <a:t>When people refer to an MSR, they usually mean a thermal, fluoride-fueled, flowing loop reactor</a:t>
            </a:r>
          </a:p>
          <a:p>
            <a:r>
              <a:rPr lang="en-US" sz="2200" dirty="0"/>
              <a:t>This is due to historical reasons, as we will discuss</a:t>
            </a:r>
          </a:p>
          <a:p>
            <a:r>
              <a:rPr lang="en-US" sz="2200" dirty="0"/>
              <a:t>Thus, we have, unless otherwise specified: a liquid fuel with fission species dissolved in the salt; the fuel being pumped through and out of the reactor to a primary HX; secondary loop is typically also a molten salt and goes to a heat exchanger; tertiary loop is your steam turbine loop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0198B-07C0-58DE-19ED-5B6FA835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265E73D-646E-B56F-1C13-27E16B29520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086600" y="2247068"/>
            <a:ext cx="4909815" cy="360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64846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621A-9576-D042-A60D-D265E2CF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MSRs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B5217-6046-DF42-B686-1794F5478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18861"/>
            <a:ext cx="5942152" cy="4307305"/>
          </a:xfrm>
        </p:spPr>
        <p:txBody>
          <a:bodyPr/>
          <a:lstStyle/>
          <a:p>
            <a:r>
              <a:rPr lang="en-US" sz="2200" dirty="0"/>
              <a:t>The corrosivity of hot salts can break down cladding components and leech alloying elements</a:t>
            </a:r>
          </a:p>
          <a:p>
            <a:r>
              <a:rPr lang="en-US" sz="2200" dirty="0"/>
              <a:t>The changing chemical composition of the salt as it is transmuted by reactor radiation leads to changing properties</a:t>
            </a:r>
          </a:p>
          <a:p>
            <a:r>
              <a:rPr lang="en-US" sz="2200" dirty="0"/>
              <a:t>The processing of liquid transuranic molten salt fuel from the current spent fuel and the on-line reprocessing of MSR fuel need to be solved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D4259E-06C7-464D-B5FE-DB23A93A6909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0839" y="2097309"/>
            <a:ext cx="5124165" cy="329512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D30CF-FB6E-6840-A045-3B96F535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27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Beginning of MSRs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622235" cy="4157663"/>
          </a:xfrm>
        </p:spPr>
        <p:txBody>
          <a:bodyPr/>
          <a:lstStyle/>
          <a:p>
            <a:r>
              <a:rPr lang="en-US" sz="2200" dirty="0"/>
              <a:t>Aircraft Reactor Experiment (1954) was a 2.5 </a:t>
            </a:r>
            <a:r>
              <a:rPr lang="en-US" sz="2200" dirty="0" err="1"/>
              <a:t>MWth</a:t>
            </a:r>
            <a:r>
              <a:rPr lang="en-US" sz="2200" dirty="0"/>
              <a:t> thermal-spectrum nuclear reactor experiment designed to attain a high power density and high output temperature for use as an engine in a nuclear-powered bomber aircraft</a:t>
            </a:r>
          </a:p>
          <a:p>
            <a:r>
              <a:rPr lang="en-US" sz="2200" dirty="0"/>
              <a:t>It used the molten fluoride salt NaF-ZrF4-UF4 (53-41-6 mol%) as fuel, was moderated by a hexagonal-configuration beryllium oxide (</a:t>
            </a:r>
            <a:r>
              <a:rPr lang="en-US" sz="2200" dirty="0" err="1"/>
              <a:t>BeO</a:t>
            </a:r>
            <a:r>
              <a:rPr lang="en-US" sz="2200" dirty="0"/>
              <a:t>), and had a peak temperature of 860C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AE0630-166D-674F-A272-6F7153D65BB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0675" y="2185756"/>
            <a:ext cx="4911725" cy="37231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B92B-D837-7F44-BA39-A6180E4D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89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4"/>
            <a:ext cx="10698867" cy="1631224"/>
          </a:xfrm>
        </p:spPr>
        <p:txBody>
          <a:bodyPr/>
          <a:lstStyle/>
          <a:p>
            <a:r>
              <a:rPr lang="en-US" sz="2400" dirty="0"/>
              <a:t>The Molten-Salt Reactor Experiment (MSRE) was an experimental molten salt reactor at the Oak Ridge National Laboratory (ORNL); it went critical in 1965 and was operated until 1969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2A279C-E500-E640-B350-5793FBEB793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6184" y="3429000"/>
            <a:ext cx="3699425" cy="28738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160F68-A143-3148-ACD9-6EFB81C5B1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8081" y="3047845"/>
            <a:ext cx="3574060" cy="34284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868BE-96BC-D741-B9A3-15A9129E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98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486400" cy="4157663"/>
          </a:xfrm>
        </p:spPr>
        <p:txBody>
          <a:bodyPr/>
          <a:lstStyle/>
          <a:p>
            <a:r>
              <a:rPr lang="en-US" sz="2400" dirty="0"/>
              <a:t>MSRE was a circulating fuel type, utilizing LiF-BeF</a:t>
            </a:r>
            <a:r>
              <a:rPr lang="en-US" sz="2400" baseline="-25000" dirty="0"/>
              <a:t>2</a:t>
            </a:r>
            <a:r>
              <a:rPr lang="en-US" sz="2400" dirty="0"/>
              <a:t>-ZrF</a:t>
            </a:r>
            <a:r>
              <a:rPr lang="en-US" sz="2400" baseline="-25000" dirty="0"/>
              <a:t>4</a:t>
            </a:r>
            <a:r>
              <a:rPr lang="en-US" sz="2400" dirty="0"/>
              <a:t>-UF</a:t>
            </a:r>
            <a:r>
              <a:rPr lang="en-US" sz="2400" baseline="-25000" dirty="0"/>
              <a:t>4</a:t>
            </a:r>
          </a:p>
          <a:p>
            <a:r>
              <a:rPr lang="en-US" sz="2400" dirty="0"/>
              <a:t>The secondary coolant salt was LiF-BeF</a:t>
            </a:r>
            <a:r>
              <a:rPr lang="en-US" sz="2400" baseline="-25000" dirty="0"/>
              <a:t>2 </a:t>
            </a:r>
            <a:r>
              <a:rPr lang="en-US" sz="2400" dirty="0"/>
              <a:t>(</a:t>
            </a:r>
            <a:r>
              <a:rPr lang="en-US" sz="2400" dirty="0" err="1"/>
              <a:t>FLiBe</a:t>
            </a:r>
            <a:r>
              <a:rPr lang="en-US" sz="2400" dirty="0"/>
              <a:t>), and the moderator was graphite</a:t>
            </a:r>
          </a:p>
          <a:p>
            <a:r>
              <a:rPr lang="en-US" sz="2400" dirty="0"/>
              <a:t>Salt-facing components were made of Hastelloy-N, which is a low chromium, nickel–molybdenum alloy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6BCD02-D8C0-F849-A65B-547A081B5B3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6324600" y="2034381"/>
            <a:ext cx="5130800" cy="4025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07181-D5CE-184E-BDD0-BA4F848A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49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4FA1-9CC8-2445-BC11-11D23AC7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and Coolant Salts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3C4F3-2E98-CD4A-93B9-1992630F2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768052" cy="4157663"/>
          </a:xfrm>
        </p:spPr>
        <p:txBody>
          <a:bodyPr/>
          <a:lstStyle/>
          <a:p>
            <a:r>
              <a:rPr lang="en-US" sz="2400" dirty="0"/>
              <a:t>A fuel salt is a molten salt that contains fissile material</a:t>
            </a:r>
          </a:p>
          <a:p>
            <a:r>
              <a:rPr lang="en-US" sz="2400" dirty="0"/>
              <a:t>Fuel salts consist of a mixture of some of all of the following:</a:t>
            </a:r>
          </a:p>
          <a:p>
            <a:pPr lvl="1"/>
            <a:r>
              <a:rPr lang="en-US" sz="2000" dirty="0"/>
              <a:t>Fissile material</a:t>
            </a:r>
          </a:p>
          <a:p>
            <a:pPr lvl="1"/>
            <a:r>
              <a:rPr lang="en-US" sz="2000" dirty="0"/>
              <a:t>Fertile material </a:t>
            </a:r>
          </a:p>
          <a:p>
            <a:pPr lvl="1"/>
            <a:r>
              <a:rPr lang="en-US" sz="2000" dirty="0"/>
              <a:t>Solvent (Lowers melting point, Decreases power density, Decreases viscosity)</a:t>
            </a:r>
          </a:p>
          <a:p>
            <a:pPr lvl="1"/>
            <a:r>
              <a:rPr lang="en-US" sz="2000" dirty="0"/>
              <a:t>Oxidation prevention material</a:t>
            </a:r>
          </a:p>
          <a:p>
            <a:pPr lvl="1"/>
            <a:r>
              <a:rPr lang="en-US" sz="2000" dirty="0"/>
              <a:t>Fission products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2458D-839E-8941-8658-4BB2AAC6BB9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377652" y="1968503"/>
            <a:ext cx="5204748" cy="4157663"/>
          </a:xfrm>
        </p:spPr>
        <p:txBody>
          <a:bodyPr/>
          <a:lstStyle/>
          <a:p>
            <a:r>
              <a:rPr lang="en-US" sz="2400" dirty="0"/>
              <a:t>Coolant salts are molten salts with advantageous heat transfer properties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B892F-C188-494E-A50B-56A8C7B742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2895" y="3325366"/>
            <a:ext cx="3917227" cy="322499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BED1-3368-EA42-987F-DCF1DCE8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21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A9CE-D994-0443-9B05-8B37E1C3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Salt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F593E-372A-064A-9229-C11C1FF07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7646670" cy="4157663"/>
          </a:xfrm>
        </p:spPr>
        <p:txBody>
          <a:bodyPr/>
          <a:lstStyle/>
          <a:p>
            <a:r>
              <a:rPr lang="en-US" sz="2200" dirty="0"/>
              <a:t>Low neutron absorption of non-fissile species</a:t>
            </a:r>
          </a:p>
          <a:p>
            <a:r>
              <a:rPr lang="en-US" sz="2200" dirty="0"/>
              <a:t>Radiolytic/thermal stability under in-core conditions</a:t>
            </a:r>
          </a:p>
          <a:p>
            <a:r>
              <a:rPr lang="en-US" sz="2200" dirty="0"/>
              <a:t>Dissolve fissile materials</a:t>
            </a:r>
          </a:p>
          <a:p>
            <a:r>
              <a:rPr lang="en-US" sz="2200" dirty="0"/>
              <a:t>High heat capacity, high boiling point, high thermal conductivity fluids</a:t>
            </a:r>
          </a:p>
          <a:p>
            <a:r>
              <a:rPr lang="en-US" sz="2200" dirty="0"/>
              <a:t>Melting point below ~525C</a:t>
            </a:r>
          </a:p>
          <a:p>
            <a:r>
              <a:rPr lang="en-US" sz="2200" dirty="0"/>
              <a:t>Low vapor pressure</a:t>
            </a:r>
          </a:p>
          <a:p>
            <a:r>
              <a:rPr lang="en-US" sz="2200" dirty="0"/>
              <a:t>Relatively insensitive to fission products</a:t>
            </a:r>
          </a:p>
          <a:p>
            <a:r>
              <a:rPr lang="en-US" sz="2200" dirty="0"/>
              <a:t>Both fluoride and chloride salts, under mildly reducing conditions, are reasonably compatible with high temperature structural alloys and graphite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D851E9-63AE-E641-BD15-9B84FE7F8A25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6501" y="3559823"/>
            <a:ext cx="2466542" cy="30831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13CB-BBEA-B842-859E-14319EC4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657559-FC92-52BE-48DD-E0E6A40431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3010" y="1818186"/>
            <a:ext cx="2580033" cy="161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63572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Macintosh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1_NCStateU-horizontal-left-logo</vt:lpstr>
      <vt:lpstr>NE 763: Advanced Reactor Materials</vt:lpstr>
      <vt:lpstr>molten salts</vt:lpstr>
      <vt:lpstr>What are molten salts?</vt:lpstr>
      <vt:lpstr>Molten Salt Reactors</vt:lpstr>
      <vt:lpstr>Thermal and Fast</vt:lpstr>
      <vt:lpstr>Benefits of MSRs</vt:lpstr>
      <vt:lpstr>Design/Nomenclature</vt:lpstr>
      <vt:lpstr>Challenges of MSRs</vt:lpstr>
      <vt:lpstr>Beginning of MSRs</vt:lpstr>
      <vt:lpstr>MSRE</vt:lpstr>
      <vt:lpstr>MSRE</vt:lpstr>
      <vt:lpstr>Fuel and Coolant Salts</vt:lpstr>
      <vt:lpstr>Fuel Salt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Beeler</dc:creator>
  <cp:lastModifiedBy>Benjamin Beeler</cp:lastModifiedBy>
  <cp:revision>1</cp:revision>
  <dcterms:created xsi:type="dcterms:W3CDTF">2026-09-24T18:58:03Z</dcterms:created>
  <dcterms:modified xsi:type="dcterms:W3CDTF">2026-09-24T18:58:46Z</dcterms:modified>
</cp:coreProperties>
</file>
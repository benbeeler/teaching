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2"/>
  </p:notesMasterIdLst>
  <p:sldIdLst>
    <p:sldId id="256" r:id="rId2"/>
    <p:sldId id="507" r:id="rId3"/>
    <p:sldId id="526" r:id="rId4"/>
    <p:sldId id="448" r:id="rId5"/>
    <p:sldId id="498" r:id="rId6"/>
    <p:sldId id="499" r:id="rId7"/>
    <p:sldId id="506" r:id="rId8"/>
    <p:sldId id="524" r:id="rId9"/>
    <p:sldId id="500" r:id="rId10"/>
    <p:sldId id="530" r:id="rId11"/>
    <p:sldId id="502" r:id="rId12"/>
    <p:sldId id="503" r:id="rId13"/>
    <p:sldId id="504" r:id="rId14"/>
    <p:sldId id="505" r:id="rId15"/>
    <p:sldId id="528" r:id="rId16"/>
    <p:sldId id="531" r:id="rId17"/>
    <p:sldId id="529" r:id="rId18"/>
    <p:sldId id="501" r:id="rId19"/>
    <p:sldId id="536" r:id="rId20"/>
    <p:sldId id="465" r:id="rId21"/>
    <p:sldId id="419" r:id="rId22"/>
    <p:sldId id="420" r:id="rId23"/>
    <p:sldId id="421" r:id="rId24"/>
    <p:sldId id="422" r:id="rId25"/>
    <p:sldId id="423" r:id="rId26"/>
    <p:sldId id="424" r:id="rId27"/>
    <p:sldId id="426" r:id="rId28"/>
    <p:sldId id="427" r:id="rId29"/>
    <p:sldId id="428" r:id="rId30"/>
    <p:sldId id="46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02"/>
    <p:restoredTop sz="94726"/>
  </p:normalViewPr>
  <p:slideViewPr>
    <p:cSldViewPr snapToGrid="0" snapToObjects="1">
      <p:cViewPr varScale="1">
        <p:scale>
          <a:sx n="120" d="100"/>
          <a:sy n="120"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B0241-1142-C84C-9EE2-42E44ABD8DAA}" type="datetimeFigureOut">
              <a:rPr lang="en-US" smtClean="0"/>
              <a:t>8/27/26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137FF6-46D6-B849-A6CD-85860317B6E6}" type="slidenum">
              <a:rPr lang="en-US" smtClean="0"/>
              <a:t>‹#›</a:t>
            </a:fld>
            <a:endParaRPr lang="en-US"/>
          </a:p>
        </p:txBody>
      </p:sp>
    </p:spTree>
    <p:extLst>
      <p:ext uri="{BB962C8B-B14F-4D97-AF65-F5344CB8AC3E}">
        <p14:creationId xmlns:p14="http://schemas.microsoft.com/office/powerpoint/2010/main" val="343213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137FF6-46D6-B849-A6CD-85860317B6E6}" type="slidenum">
              <a:rPr lang="en-US" smtClean="0"/>
              <a:t>23</a:t>
            </a:fld>
            <a:endParaRPr lang="en-US"/>
          </a:p>
        </p:txBody>
      </p:sp>
    </p:spTree>
    <p:extLst>
      <p:ext uri="{BB962C8B-B14F-4D97-AF65-F5344CB8AC3E}">
        <p14:creationId xmlns:p14="http://schemas.microsoft.com/office/powerpoint/2010/main" val="1726749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7EF8CCA7-042D-4344-9F38-A30A24316FF0}" type="datetime1">
              <a:rPr lang="en-US" smtClean="0"/>
              <a:t>8/27/26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2280746"/>
            <a:ext cx="10972800" cy="3845418"/>
          </a:xfrm>
        </p:spPr>
        <p:txBody>
          <a:bodyPr/>
          <a:lstStyle>
            <a:lvl1pPr>
              <a:defRPr sz="2800"/>
            </a:lvl1pPr>
            <a:lvl2pPr>
              <a:defRPr sz="2800"/>
            </a:lvl2pPr>
            <a:lvl3pPr>
              <a:defRPr sz="1600"/>
            </a:lvl3pPr>
            <a:lvl4pPr>
              <a:defRPr sz="18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85CAF1B-B7C8-8347-AE4A-EC343217B68C}" type="datetime1">
              <a:rPr lang="en-US" smtClean="0"/>
              <a:t>8/27/26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44FF136D-307A-4941-889F-E9EB8268902E}" type="datetime1">
              <a:rPr lang="en-US" smtClean="0"/>
              <a:t>8/27/26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200"/>
            </a:lvl1pPr>
            <a:lvl2pPr>
              <a:defRPr sz="2400"/>
            </a:lvl2pPr>
            <a:lvl3pPr>
              <a:defRPr sz="2000"/>
            </a:lvl3pPr>
            <a:lvl4pPr>
              <a:defRPr sz="1800"/>
            </a:lvl4pPr>
            <a:lvl5pPr>
              <a:defRPr sz="18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51F76C3-E96E-A54F-A122-6303A871D871}" type="datetime1">
              <a:rPr lang="en-US" smtClean="0"/>
              <a:t>8/27/26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a:lvl1pPr>
          </a:lstStyle>
          <a:p>
            <a:r>
              <a:rPr lang="en-US" dirty="0"/>
              <a:t>Click to edit Master title style</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800"/>
            </a:lvl4pPr>
            <a:lvl5pPr>
              <a:defRPr sz="18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34040392-1101-8A42-BEB5-9592F30E3A91}" type="datetime1">
              <a:rPr lang="en-US" smtClean="0"/>
              <a:t>8/27/26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65C72F20-AC2E-6D46-8A6B-0183BC6D49D1}" type="datetime1">
              <a:rPr lang="en-US" smtClean="0"/>
              <a:t>8/27/26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6FEA4AC-8DBD-3E4B-B61C-36A721F07D61}" type="datetime1">
              <a:rPr lang="en-US" smtClean="0"/>
              <a:t>8/27/26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71BFB7E-23D3-E748-98B9-B9A8C558BBAC}" type="datetime1">
              <a:rPr lang="en-US" smtClean="0"/>
              <a:t>8/27/26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C690E0F4-A999-A54E-B545-67F2F70C10FB}" type="datetime1">
              <a:rPr lang="en-US" smtClean="0"/>
              <a:t>8/27/26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1013E56-4916-404E-AAB2-B4BA03F90FC2}" type="datetime1">
              <a:rPr lang="en-US" smtClean="0"/>
              <a:t>8/27/26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1713883-51E5-FD4C-BFE2-284CCAA85938}" type="datetime1">
              <a:rPr lang="en-US" smtClean="0"/>
              <a:t>8/27/26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50A6D047-5534-0641-AA46-5C16F49FBEAF}" type="datetime1">
              <a:rPr lang="en-US" smtClean="0"/>
              <a:t>8/27/26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tiff"/><Relationship Id="rId1" Type="http://schemas.openxmlformats.org/officeDocument/2006/relationships/slideLayout" Target="../slideLayouts/slideLayout4.xml"/><Relationship Id="rId4" Type="http://schemas.openxmlformats.org/officeDocument/2006/relationships/image" Target="../media/image9.tiff"/></Relationships>
</file>

<file path=ppt/slides/_rels/slide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20.tiff"/><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3.tiff"/><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BF1E015E-2E6F-6B40-94AC-A2FDB6C7B9A0}"/>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C84-0091-574A-9F80-9BA14DB58A53}"/>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C5249696-DAB3-3B49-B4C8-AEDA11EFD906}"/>
              </a:ext>
            </a:extLst>
          </p:cNvPr>
          <p:cNvSpPr>
            <a:spLocks noGrp="1"/>
          </p:cNvSpPr>
          <p:nvPr>
            <p:ph idx="1"/>
          </p:nvPr>
        </p:nvSpPr>
        <p:spPr>
          <a:xfrm>
            <a:off x="609600" y="1968500"/>
            <a:ext cx="10972800" cy="4157664"/>
          </a:xfrm>
        </p:spPr>
        <p:txBody>
          <a:bodyPr/>
          <a:lstStyle/>
          <a:p>
            <a:r>
              <a:rPr lang="en-US" sz="2200" dirty="0"/>
              <a:t>Radiation effects in </a:t>
            </a:r>
            <a:r>
              <a:rPr lang="en-US" sz="2200" dirty="0" err="1"/>
              <a:t>SiC</a:t>
            </a:r>
            <a:endParaRPr lang="en-US" sz="2200" dirty="0"/>
          </a:p>
          <a:p>
            <a:pPr lvl="1"/>
            <a:r>
              <a:rPr lang="en-US" sz="2200" dirty="0"/>
              <a:t>Different defect regimes, leading to different swelling regimes</a:t>
            </a:r>
          </a:p>
          <a:p>
            <a:pPr lvl="1"/>
            <a:r>
              <a:rPr lang="en-US" sz="2200" dirty="0"/>
              <a:t>Point defect swelling saturates; void swelling does not</a:t>
            </a:r>
          </a:p>
          <a:p>
            <a:pPr lvl="1"/>
            <a:r>
              <a:rPr lang="en-US" sz="2200" dirty="0"/>
              <a:t>Point defect accumulation can directly be related to both swelling and thermal resistivity -&gt; allows for indirect thermal conductivity determination</a:t>
            </a:r>
          </a:p>
          <a:p>
            <a:pPr lvl="1"/>
            <a:r>
              <a:rPr lang="en-US" sz="2200" dirty="0"/>
              <a:t>Voids don’t degrade the thermal conductivity as much as point defects</a:t>
            </a:r>
          </a:p>
          <a:p>
            <a:r>
              <a:rPr lang="en-US" sz="2200" dirty="0"/>
              <a:t>Pd </a:t>
            </a:r>
            <a:r>
              <a:rPr lang="en-US" sz="2200" dirty="0" err="1"/>
              <a:t>SiC</a:t>
            </a:r>
            <a:r>
              <a:rPr lang="en-US" sz="2200" dirty="0"/>
              <a:t> corrosion, forming various </a:t>
            </a:r>
            <a:r>
              <a:rPr lang="en-US" sz="2200" dirty="0" err="1"/>
              <a:t>intermetallics</a:t>
            </a:r>
            <a:endParaRPr lang="en-US" sz="2200" dirty="0"/>
          </a:p>
          <a:p>
            <a:r>
              <a:rPr lang="en-US" sz="2200" dirty="0"/>
              <a:t>Started on graphite</a:t>
            </a:r>
          </a:p>
          <a:p>
            <a:pPr lvl="1"/>
            <a:r>
              <a:rPr lang="en-US" sz="2200" dirty="0"/>
              <a:t>anisotropy of crystal structure and properties</a:t>
            </a:r>
          </a:p>
          <a:p>
            <a:pPr lvl="1"/>
            <a:r>
              <a:rPr lang="en-US" sz="2200" dirty="0"/>
              <a:t>Mrozowski cracks</a:t>
            </a:r>
          </a:p>
          <a:p>
            <a:pPr lvl="1"/>
            <a:r>
              <a:rPr lang="en-US" sz="2200" dirty="0"/>
              <a:t>lots of texture and lots of porosity in bulk graphite</a:t>
            </a:r>
          </a:p>
        </p:txBody>
      </p:sp>
      <p:sp>
        <p:nvSpPr>
          <p:cNvPr id="4" name="Slide Number Placeholder 3">
            <a:extLst>
              <a:ext uri="{FF2B5EF4-FFF2-40B4-BE49-F238E27FC236}">
                <a16:creationId xmlns:a16="http://schemas.microsoft.com/office/drawing/2014/main" id="{E63D0608-22D0-4848-AAC2-5EDF7821481A}"/>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08810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CB127-6272-514A-97CE-21AC2C24E9BD}"/>
              </a:ext>
            </a:extLst>
          </p:cNvPr>
          <p:cNvSpPr>
            <a:spLocks noGrp="1"/>
          </p:cNvSpPr>
          <p:nvPr>
            <p:ph type="title"/>
          </p:nvPr>
        </p:nvSpPr>
        <p:spPr/>
        <p:txBody>
          <a:bodyPr/>
          <a:lstStyle/>
          <a:p>
            <a:r>
              <a:rPr lang="en-US" dirty="0"/>
              <a:t>RADIATION EFFECTS IN GRAPHITE</a:t>
            </a:r>
          </a:p>
        </p:txBody>
      </p:sp>
      <p:sp>
        <p:nvSpPr>
          <p:cNvPr id="3" name="Slide Number Placeholder 2">
            <a:extLst>
              <a:ext uri="{FF2B5EF4-FFF2-40B4-BE49-F238E27FC236}">
                <a16:creationId xmlns:a16="http://schemas.microsoft.com/office/drawing/2014/main" id="{92294122-7BB9-1644-86BE-EE21060E4A90}"/>
              </a:ext>
            </a:extLst>
          </p:cNvPr>
          <p:cNvSpPr>
            <a:spLocks noGrp="1"/>
          </p:cNvSpPr>
          <p:nvPr>
            <p:ph type="sldNum" sz="quarter" idx="12"/>
          </p:nvPr>
        </p:nvSpPr>
        <p:spPr/>
        <p:txBody>
          <a:bodyPr/>
          <a:lstStyle/>
          <a:p>
            <a:pPr>
              <a:defRPr/>
            </a:pPr>
            <a:fld id="{C2AB7D4D-4E81-5B40-91F6-CF14C25F8623}" type="slidenum">
              <a:rPr lang="en-US" smtClean="0"/>
              <a:pPr>
                <a:defRPr/>
              </a:pPr>
              <a:t>3</a:t>
            </a:fld>
            <a:endParaRPr lang="en-US"/>
          </a:p>
        </p:txBody>
      </p:sp>
    </p:spTree>
    <p:extLst>
      <p:ext uri="{BB962C8B-B14F-4D97-AF65-F5344CB8AC3E}">
        <p14:creationId xmlns:p14="http://schemas.microsoft.com/office/powerpoint/2010/main" val="296841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Graphite Shrinkage</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a:xfrm>
            <a:off x="609600" y="1968503"/>
            <a:ext cx="6350598" cy="4157663"/>
          </a:xfrm>
        </p:spPr>
        <p:txBody>
          <a:bodyPr/>
          <a:lstStyle/>
          <a:p>
            <a:r>
              <a:rPr lang="en-US" sz="2000" dirty="0"/>
              <a:t>When graphite components are irradiated in a reactor, significant changes to their dimensions and properties occur</a:t>
            </a:r>
          </a:p>
          <a:p>
            <a:r>
              <a:rPr lang="en-US" sz="2000" dirty="0"/>
              <a:t>The unit of irradiation exposure EDND used in the figures is particular to nuclear graphite technology</a:t>
            </a:r>
          </a:p>
          <a:p>
            <a:r>
              <a:rPr lang="en-US" sz="2000" dirty="0"/>
              <a:t>EDND = Equivalent DIDO Nickel Dose </a:t>
            </a:r>
          </a:p>
          <a:p>
            <a:r>
              <a:rPr lang="en-US" sz="2000" dirty="0"/>
              <a:t>EDNF = Equivalent DIDO Nickel Flux</a:t>
            </a:r>
          </a:p>
          <a:p>
            <a:r>
              <a:rPr lang="en-US" sz="2000" dirty="0"/>
              <a:t>They are based upon the equivalent nickel activation in the DIDO reactor</a:t>
            </a:r>
          </a:p>
          <a:p>
            <a:endParaRPr lang="en-US" sz="2000" dirty="0"/>
          </a:p>
          <a:p>
            <a:pPr marL="0" indent="0">
              <a:buNone/>
            </a:pPr>
            <a:endParaRPr lang="en-US" sz="2000" dirty="0"/>
          </a:p>
          <a:p>
            <a:endParaRPr lang="en-US" sz="2000" dirty="0"/>
          </a:p>
        </p:txBody>
      </p:sp>
      <p:pic>
        <p:nvPicPr>
          <p:cNvPr id="12" name="Picture 11" descr="Creep, relative young’s modulus, and relative bulk modulus vs Fluence for Graphite">
            <a:extLst>
              <a:ext uri="{FF2B5EF4-FFF2-40B4-BE49-F238E27FC236}">
                <a16:creationId xmlns:a16="http://schemas.microsoft.com/office/drawing/2014/main" id="{FDAACC0A-1382-D844-88C2-AAB48FB3A73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63821" y="4150296"/>
            <a:ext cx="3414956" cy="2322348"/>
          </a:xfrm>
          <a:prstGeom prst="rect">
            <a:avLst/>
          </a:prstGeom>
        </p:spPr>
      </p:pic>
      <p:pic>
        <p:nvPicPr>
          <p:cNvPr id="13" name="Content Placeholder 12" descr="CTE, dimensional change, and dimensional change rate vs fluence for graphite">
            <a:extLst>
              <a:ext uri="{FF2B5EF4-FFF2-40B4-BE49-F238E27FC236}">
                <a16:creationId xmlns:a16="http://schemas.microsoft.com/office/drawing/2014/main" id="{71B2C9C6-EB1B-7341-A268-24F92404C3C5}"/>
              </a:ext>
            </a:extLst>
          </p:cNvPr>
          <p:cNvPicPr>
            <a:picLocks noGrp="1" noChangeAspect="1"/>
          </p:cNvPicPr>
          <p:nvPr>
            <p:ph sz="half" idx="2"/>
          </p:nvPr>
        </p:nvPicPr>
        <p:blipFill rotWithShape="1">
          <a:blip r:embed="rId3" cstate="email">
            <a:extLst>
              <a:ext uri="{28A0092B-C50C-407E-A947-70E740481C1C}">
                <a14:useLocalDpi xmlns:a14="http://schemas.microsoft.com/office/drawing/2010/main"/>
              </a:ext>
            </a:extLst>
          </a:blip>
          <a:srcRect/>
          <a:stretch/>
        </p:blipFill>
        <p:spPr>
          <a:xfrm>
            <a:off x="7453983" y="1574924"/>
            <a:ext cx="3634632" cy="2390714"/>
          </a:xfrm>
          <a:prstGeom prst="rect">
            <a:avLst/>
          </a:prstGeom>
        </p:spPr>
      </p:pic>
      <p:pic>
        <p:nvPicPr>
          <p:cNvPr id="4" name="Picture 3" descr="DIDO flux equation">
            <a:extLst>
              <a:ext uri="{FF2B5EF4-FFF2-40B4-BE49-F238E27FC236}">
                <a16:creationId xmlns:a16="http://schemas.microsoft.com/office/drawing/2014/main" id="{7B84BFBE-DA8C-1946-B82B-941A06BDB18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37394" y="5171770"/>
            <a:ext cx="2260600" cy="685800"/>
          </a:xfrm>
          <a:prstGeom prst="rect">
            <a:avLst/>
          </a:prstGeom>
        </p:spPr>
      </p:pic>
      <p:sp>
        <p:nvSpPr>
          <p:cNvPr id="5" name="Slide Number Placeholder 4">
            <a:extLst>
              <a:ext uri="{FF2B5EF4-FFF2-40B4-BE49-F238E27FC236}">
                <a16:creationId xmlns:a16="http://schemas.microsoft.com/office/drawing/2014/main" id="{71CDF259-68A0-0D48-912C-85F83C5B638D}"/>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pic>
        <p:nvPicPr>
          <p:cNvPr id="6" name="Picture 5" descr="Ni to Co reaction">
            <a:extLst>
              <a:ext uri="{FF2B5EF4-FFF2-40B4-BE49-F238E27FC236}">
                <a16:creationId xmlns:a16="http://schemas.microsoft.com/office/drawing/2014/main" id="{E5260261-BE16-EC48-8381-F1D843C3CE79}"/>
              </a:ext>
            </a:extLst>
          </p:cNvPr>
          <p:cNvPicPr>
            <a:picLocks noChangeAspect="1"/>
          </p:cNvPicPr>
          <p:nvPr/>
        </p:nvPicPr>
        <p:blipFill>
          <a:blip r:embed="rId5"/>
          <a:stretch>
            <a:fillRect/>
          </a:stretch>
        </p:blipFill>
        <p:spPr>
          <a:xfrm>
            <a:off x="1930343" y="5311470"/>
            <a:ext cx="1447800" cy="406400"/>
          </a:xfrm>
          <a:prstGeom prst="rect">
            <a:avLst/>
          </a:prstGeom>
        </p:spPr>
      </p:pic>
    </p:spTree>
    <p:extLst>
      <p:ext uri="{BB962C8B-B14F-4D97-AF65-F5344CB8AC3E}">
        <p14:creationId xmlns:p14="http://schemas.microsoft.com/office/powerpoint/2010/main" val="758624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Graphite Shrinkage</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a:xfrm>
            <a:off x="609600" y="1968503"/>
            <a:ext cx="6350598" cy="4157663"/>
          </a:xfrm>
        </p:spPr>
        <p:txBody>
          <a:bodyPr/>
          <a:lstStyle/>
          <a:p>
            <a:r>
              <a:rPr lang="en-US" sz="2000" dirty="0"/>
              <a:t>Graphite typically shrinks with dose until a point is reached where the shrinkage stops, and the graphite starts to swell</a:t>
            </a:r>
          </a:p>
          <a:p>
            <a:r>
              <a:rPr lang="en-US" sz="2000" dirty="0"/>
              <a:t>This change from shrinkage to swelling is known as "turnaround”</a:t>
            </a:r>
          </a:p>
          <a:p>
            <a:r>
              <a:rPr lang="en-US" sz="2000" dirty="0"/>
              <a:t>Due to the manufacturing process of nuclear graphite, the graphite component has a much lower density than may be expected (1.7-1.9 g/cm3) compared with 2.2.6 g/cm3 for pure graphite crystals</a:t>
            </a:r>
          </a:p>
          <a:p>
            <a:r>
              <a:rPr lang="en-US" sz="2000" dirty="0"/>
              <a:t>The original state of the graphite, and the particular radiation defects in graphite, govern this fluence-dependent behavior</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05D93974-879A-8D48-83D2-7B57A7F8E6DF}"/>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5" name="Picture 4" descr="Creep, relative young’s modulus, and relative bulk modulus vs Fluence for Graphite">
            <a:extLst>
              <a:ext uri="{FF2B5EF4-FFF2-40B4-BE49-F238E27FC236}">
                <a16:creationId xmlns:a16="http://schemas.microsoft.com/office/drawing/2014/main" id="{BB60D96F-0283-0582-99B1-17E1EF7492D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63821" y="4150296"/>
            <a:ext cx="3414956" cy="2322348"/>
          </a:xfrm>
          <a:prstGeom prst="rect">
            <a:avLst/>
          </a:prstGeom>
        </p:spPr>
      </p:pic>
      <p:pic>
        <p:nvPicPr>
          <p:cNvPr id="8" name="Content Placeholder 12" descr="CTE, dimensional change, and dimensional change rate vs fluence for graphite">
            <a:extLst>
              <a:ext uri="{FF2B5EF4-FFF2-40B4-BE49-F238E27FC236}">
                <a16:creationId xmlns:a16="http://schemas.microsoft.com/office/drawing/2014/main" id="{BD8D266E-446E-F76B-8AEF-007B678B6DB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bwMode="auto">
          <a:xfrm>
            <a:off x="7453983" y="1574924"/>
            <a:ext cx="3634632" cy="23907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3365914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11E5C-FC6A-604F-BF88-363B16E2BB27}"/>
              </a:ext>
            </a:extLst>
          </p:cNvPr>
          <p:cNvSpPr>
            <a:spLocks noGrp="1"/>
          </p:cNvSpPr>
          <p:nvPr>
            <p:ph type="title"/>
          </p:nvPr>
        </p:nvSpPr>
        <p:spPr/>
        <p:txBody>
          <a:bodyPr/>
          <a:lstStyle/>
          <a:p>
            <a:r>
              <a:rPr lang="en-US" dirty="0"/>
              <a:t>Graphite Dimensional Change</a:t>
            </a:r>
          </a:p>
        </p:txBody>
      </p:sp>
      <p:sp>
        <p:nvSpPr>
          <p:cNvPr id="3" name="Content Placeholder 2">
            <a:extLst>
              <a:ext uri="{FF2B5EF4-FFF2-40B4-BE49-F238E27FC236}">
                <a16:creationId xmlns:a16="http://schemas.microsoft.com/office/drawing/2014/main" id="{1823F0CA-D662-FB4B-82D6-ED2E7356431D}"/>
              </a:ext>
            </a:extLst>
          </p:cNvPr>
          <p:cNvSpPr>
            <a:spLocks noGrp="1"/>
          </p:cNvSpPr>
          <p:nvPr>
            <p:ph sz="half" idx="1"/>
          </p:nvPr>
        </p:nvSpPr>
        <p:spPr>
          <a:xfrm>
            <a:off x="609599" y="1968503"/>
            <a:ext cx="5812715" cy="4157663"/>
          </a:xfrm>
        </p:spPr>
        <p:txBody>
          <a:bodyPr/>
          <a:lstStyle/>
          <a:p>
            <a:r>
              <a:rPr lang="en-US" sz="2000" dirty="0"/>
              <a:t>Dimensional change data obtained on AGR graphite samples are shown at the right</a:t>
            </a:r>
          </a:p>
          <a:p>
            <a:r>
              <a:rPr lang="en-US" sz="2000" dirty="0"/>
              <a:t>The higher the temperature the sooner ‘turnaround’ from shrinkage to swelling occurs</a:t>
            </a:r>
          </a:p>
          <a:p>
            <a:r>
              <a:rPr lang="en-US" sz="2000" dirty="0"/>
              <a:t>This behavior is typical for most semi-isotropic, medium and fine-grained graphite grades, although the magnitude of the changes varies from grade to grade</a:t>
            </a:r>
          </a:p>
          <a:p>
            <a:r>
              <a:rPr lang="en-US" sz="2000" dirty="0"/>
              <a:t>Nuclear graphite, such as </a:t>
            </a:r>
            <a:r>
              <a:rPr lang="en-US" sz="2000" dirty="0" err="1"/>
              <a:t>Gilsocarbon</a:t>
            </a:r>
            <a:r>
              <a:rPr lang="en-US" sz="2000" dirty="0"/>
              <a:t>, is semi-isotropic</a:t>
            </a:r>
          </a:p>
          <a:p>
            <a:r>
              <a:rPr lang="en-US" sz="2000" dirty="0"/>
              <a:t>Anisotropic graphite can display significantly different irradiation behavior</a:t>
            </a:r>
          </a:p>
          <a:p>
            <a:endParaRPr lang="en-US" sz="2000" dirty="0"/>
          </a:p>
        </p:txBody>
      </p:sp>
      <p:pic>
        <p:nvPicPr>
          <p:cNvPr id="5" name="Content Placeholder 4" descr="Dimensional change of graphite vs fluence at different temperatures">
            <a:extLst>
              <a:ext uri="{FF2B5EF4-FFF2-40B4-BE49-F238E27FC236}">
                <a16:creationId xmlns:a16="http://schemas.microsoft.com/office/drawing/2014/main" id="{DEC56998-9EB4-2849-9DA6-B6E540EC2DD7}"/>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6842955" y="2420444"/>
            <a:ext cx="4888857" cy="2939831"/>
          </a:xfrm>
          <a:prstGeom prst="rect">
            <a:avLst/>
          </a:prstGeom>
        </p:spPr>
      </p:pic>
      <p:sp>
        <p:nvSpPr>
          <p:cNvPr id="4" name="Slide Number Placeholder 3">
            <a:extLst>
              <a:ext uri="{FF2B5EF4-FFF2-40B4-BE49-F238E27FC236}">
                <a16:creationId xmlns:a16="http://schemas.microsoft.com/office/drawing/2014/main" id="{D83EC8E6-CEA5-9C4C-BA2B-865331BB5D05}"/>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spTree>
    <p:extLst>
      <p:ext uri="{BB962C8B-B14F-4D97-AF65-F5344CB8AC3E}">
        <p14:creationId xmlns:p14="http://schemas.microsoft.com/office/powerpoint/2010/main" val="290699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4432D-2BE7-1146-8D26-7940FE36C43D}"/>
              </a:ext>
            </a:extLst>
          </p:cNvPr>
          <p:cNvSpPr>
            <a:spLocks noGrp="1"/>
          </p:cNvSpPr>
          <p:nvPr>
            <p:ph type="title"/>
          </p:nvPr>
        </p:nvSpPr>
        <p:spPr/>
        <p:txBody>
          <a:bodyPr/>
          <a:lstStyle/>
          <a:p>
            <a:r>
              <a:rPr lang="en-US" dirty="0"/>
              <a:t>Interstitials in Graphite</a:t>
            </a:r>
          </a:p>
        </p:txBody>
      </p:sp>
      <p:sp>
        <p:nvSpPr>
          <p:cNvPr id="3" name="Content Placeholder 2">
            <a:extLst>
              <a:ext uri="{FF2B5EF4-FFF2-40B4-BE49-F238E27FC236}">
                <a16:creationId xmlns:a16="http://schemas.microsoft.com/office/drawing/2014/main" id="{C6FFB0D5-E317-DB4C-B577-18052EBA0AF6}"/>
              </a:ext>
            </a:extLst>
          </p:cNvPr>
          <p:cNvSpPr>
            <a:spLocks noGrp="1"/>
          </p:cNvSpPr>
          <p:nvPr>
            <p:ph sz="half" idx="1"/>
          </p:nvPr>
        </p:nvSpPr>
        <p:spPr>
          <a:xfrm>
            <a:off x="609600" y="1968503"/>
            <a:ext cx="5673155" cy="4157663"/>
          </a:xfrm>
        </p:spPr>
        <p:txBody>
          <a:bodyPr/>
          <a:lstStyle/>
          <a:p>
            <a:r>
              <a:rPr lang="en-US" sz="2200" dirty="0"/>
              <a:t>The interstitial atom prefers to form a bridge-like structure on the graphene surface</a:t>
            </a:r>
          </a:p>
          <a:p>
            <a:r>
              <a:rPr lang="en-US" sz="2200" dirty="0"/>
              <a:t>Repelling the two graphene sheets increases </a:t>
            </a:r>
            <a:r>
              <a:rPr lang="en-US" sz="2200" i="1" dirty="0"/>
              <a:t>c</a:t>
            </a:r>
            <a:r>
              <a:rPr lang="en-US" sz="2200" dirty="0"/>
              <a:t>, yielding a corresponding contraction in </a:t>
            </a:r>
            <a:r>
              <a:rPr lang="en-US" sz="2200" i="1" dirty="0"/>
              <a:t>a</a:t>
            </a:r>
          </a:p>
          <a:p>
            <a:r>
              <a:rPr lang="en-US" sz="2200" dirty="0"/>
              <a:t>Vacancies shrink the basal plane, further reducing </a:t>
            </a:r>
            <a:r>
              <a:rPr lang="en-US" sz="2200" i="1" dirty="0"/>
              <a:t>a</a:t>
            </a:r>
          </a:p>
          <a:p>
            <a:r>
              <a:rPr lang="en-US" sz="2200" dirty="0"/>
              <a:t>Turnaround occurs when the matrix can no longer accommodate the defect-induced dimensional change</a:t>
            </a:r>
          </a:p>
          <a:p>
            <a:endParaRPr lang="en-US" sz="2200" dirty="0"/>
          </a:p>
          <a:p>
            <a:endParaRPr lang="en-US" sz="2200" dirty="0"/>
          </a:p>
        </p:txBody>
      </p:sp>
      <p:pic>
        <p:nvPicPr>
          <p:cNvPr id="7" name="Picture 6" descr="Graphite interstitial location">
            <a:extLst>
              <a:ext uri="{FF2B5EF4-FFF2-40B4-BE49-F238E27FC236}">
                <a16:creationId xmlns:a16="http://schemas.microsoft.com/office/drawing/2014/main" id="{F648E3BF-F589-EA41-A0FF-6B7DEAF24D2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288383" y="2238783"/>
            <a:ext cx="2703610" cy="1322917"/>
          </a:xfrm>
          <a:prstGeom prst="rect">
            <a:avLst/>
          </a:prstGeom>
        </p:spPr>
      </p:pic>
      <p:sp>
        <p:nvSpPr>
          <p:cNvPr id="4" name="Slide Number Placeholder 3">
            <a:extLst>
              <a:ext uri="{FF2B5EF4-FFF2-40B4-BE49-F238E27FC236}">
                <a16:creationId xmlns:a16="http://schemas.microsoft.com/office/drawing/2014/main" id="{84BA2553-D263-6E49-87D2-AE7148064574}"/>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pic>
        <p:nvPicPr>
          <p:cNvPr id="10" name="Content Placeholder 9" descr="Schematic of graphite irradiation growth">
            <a:extLst>
              <a:ext uri="{FF2B5EF4-FFF2-40B4-BE49-F238E27FC236}">
                <a16:creationId xmlns:a16="http://schemas.microsoft.com/office/drawing/2014/main" id="{B0FFA22C-BC95-5840-9ABE-FA443EDFF793}"/>
              </a:ext>
            </a:extLst>
          </p:cNvPr>
          <p:cNvPicPr>
            <a:picLocks noGrp="1" noChangeAspect="1"/>
          </p:cNvPicPr>
          <p:nvPr>
            <p:ph sz="half" idx="2"/>
          </p:nvPr>
        </p:nvPicPr>
        <p:blipFill>
          <a:blip r:embed="rId3"/>
          <a:stretch>
            <a:fillRect/>
          </a:stretch>
        </p:blipFill>
        <p:spPr>
          <a:xfrm>
            <a:off x="6197602" y="3738413"/>
            <a:ext cx="5384800" cy="2441226"/>
          </a:xfrm>
          <a:prstGeom prst="rect">
            <a:avLst/>
          </a:prstGeom>
        </p:spPr>
      </p:pic>
      <p:pic>
        <p:nvPicPr>
          <p:cNvPr id="11" name="Content Placeholder 5" descr="Directional dimensional change vs fluence">
            <a:extLst>
              <a:ext uri="{FF2B5EF4-FFF2-40B4-BE49-F238E27FC236}">
                <a16:creationId xmlns:a16="http://schemas.microsoft.com/office/drawing/2014/main" id="{4BDB920F-19EE-CA4A-AA3B-FF89C8399AB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bwMode="auto">
          <a:xfrm>
            <a:off x="8997621" y="1787153"/>
            <a:ext cx="2878762" cy="2032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1569354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93B70-18CE-9442-825C-EFD77FB9CB97}"/>
              </a:ext>
            </a:extLst>
          </p:cNvPr>
          <p:cNvSpPr>
            <a:spLocks noGrp="1"/>
          </p:cNvSpPr>
          <p:nvPr>
            <p:ph type="title"/>
          </p:nvPr>
        </p:nvSpPr>
        <p:spPr/>
        <p:txBody>
          <a:bodyPr/>
          <a:lstStyle/>
          <a:p>
            <a:r>
              <a:rPr lang="en-US" dirty="0"/>
              <a:t>Graphite Shrinkage</a:t>
            </a:r>
          </a:p>
        </p:txBody>
      </p:sp>
      <p:sp>
        <p:nvSpPr>
          <p:cNvPr id="3" name="Content Placeholder 2">
            <a:extLst>
              <a:ext uri="{FF2B5EF4-FFF2-40B4-BE49-F238E27FC236}">
                <a16:creationId xmlns:a16="http://schemas.microsoft.com/office/drawing/2014/main" id="{0B723F4E-44DD-4A4B-8B40-3D8F8549E12A}"/>
              </a:ext>
            </a:extLst>
          </p:cNvPr>
          <p:cNvSpPr>
            <a:spLocks noGrp="1"/>
          </p:cNvSpPr>
          <p:nvPr>
            <p:ph sz="half" idx="1"/>
          </p:nvPr>
        </p:nvSpPr>
        <p:spPr>
          <a:xfrm>
            <a:off x="609599" y="1968503"/>
            <a:ext cx="7522023" cy="4157663"/>
          </a:xfrm>
        </p:spPr>
        <p:txBody>
          <a:bodyPr/>
          <a:lstStyle/>
          <a:p>
            <a:r>
              <a:rPr lang="en-US" sz="2000" dirty="0"/>
              <a:t>Nuclear graphite possess a polycrystalline structure, usually with significant texture resulting from the method of forming during manufacture </a:t>
            </a:r>
          </a:p>
          <a:p>
            <a:r>
              <a:rPr lang="en-US" sz="2000" dirty="0"/>
              <a:t>Thermal shrinkage cracks that occur during manufacture and that are preferentially aligned in the crystallographic a-planes will initially accommodate the c-direction expansion</a:t>
            </a:r>
          </a:p>
          <a:p>
            <a:r>
              <a:rPr lang="en-US" sz="2000" dirty="0"/>
              <a:t>So, contraction in the a-direction will be observed, and graphite thus undergoes net volume shrinkage</a:t>
            </a:r>
          </a:p>
          <a:p>
            <a:r>
              <a:rPr lang="en-US" sz="2000" dirty="0"/>
              <a:t>With increasing dose, the crystallite dimensional changes fill in the porosity, and the volume shrinkage rate falls, eventually reaching zero</a:t>
            </a:r>
          </a:p>
          <a:p>
            <a:r>
              <a:rPr lang="en-US" sz="2000" dirty="0"/>
              <a:t>The graphite now begins to swell at an increasing rate with increasing neutron dose</a:t>
            </a:r>
          </a:p>
        </p:txBody>
      </p:sp>
      <p:sp>
        <p:nvSpPr>
          <p:cNvPr id="5" name="Slide Number Placeholder 4">
            <a:extLst>
              <a:ext uri="{FF2B5EF4-FFF2-40B4-BE49-F238E27FC236}">
                <a16:creationId xmlns:a16="http://schemas.microsoft.com/office/drawing/2014/main" id="{DDE32DB8-359C-B84B-B5A6-8087070A4DF2}"/>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pic>
        <p:nvPicPr>
          <p:cNvPr id="6" name="Picture 5" descr="Shrinkage vs dose and temperature of graphite">
            <a:extLst>
              <a:ext uri="{FF2B5EF4-FFF2-40B4-BE49-F238E27FC236}">
                <a16:creationId xmlns:a16="http://schemas.microsoft.com/office/drawing/2014/main" id="{4FEC4A1F-E90F-E540-8B64-D4F047C92CF6}"/>
              </a:ext>
            </a:extLst>
          </p:cNvPr>
          <p:cNvPicPr>
            <a:picLocks noChangeAspect="1"/>
          </p:cNvPicPr>
          <p:nvPr/>
        </p:nvPicPr>
        <p:blipFill>
          <a:blip r:embed="rId2"/>
          <a:stretch>
            <a:fillRect/>
          </a:stretch>
        </p:blipFill>
        <p:spPr>
          <a:xfrm>
            <a:off x="8548845" y="3772859"/>
            <a:ext cx="2807292" cy="2820111"/>
          </a:xfrm>
          <a:prstGeom prst="rect">
            <a:avLst/>
          </a:prstGeom>
        </p:spPr>
      </p:pic>
      <p:pic>
        <p:nvPicPr>
          <p:cNvPr id="4" name="Content Placeholder 5" descr="Directional dimensional change vs fluence">
            <a:extLst>
              <a:ext uri="{FF2B5EF4-FFF2-40B4-BE49-F238E27FC236}">
                <a16:creationId xmlns:a16="http://schemas.microsoft.com/office/drawing/2014/main" id="{B9B52A56-256A-5E4C-BCDB-1606D3A7460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auto">
          <a:xfrm>
            <a:off x="8719871" y="1434306"/>
            <a:ext cx="3312509" cy="2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877276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6018-AC38-B74D-A2D1-398BA4A29855}"/>
              </a:ext>
            </a:extLst>
          </p:cNvPr>
          <p:cNvSpPr>
            <a:spLocks noGrp="1"/>
          </p:cNvSpPr>
          <p:nvPr>
            <p:ph type="title"/>
          </p:nvPr>
        </p:nvSpPr>
        <p:spPr/>
        <p:txBody>
          <a:bodyPr/>
          <a:lstStyle/>
          <a:p>
            <a:r>
              <a:rPr lang="en-US" dirty="0"/>
              <a:t>Graphite Irradiation Under Loading</a:t>
            </a:r>
          </a:p>
        </p:txBody>
      </p:sp>
      <p:sp>
        <p:nvSpPr>
          <p:cNvPr id="3" name="Content Placeholder 2">
            <a:extLst>
              <a:ext uri="{FF2B5EF4-FFF2-40B4-BE49-F238E27FC236}">
                <a16:creationId xmlns:a16="http://schemas.microsoft.com/office/drawing/2014/main" id="{9DCCD833-CCD9-AA41-BFFB-6DE3C332F967}"/>
              </a:ext>
            </a:extLst>
          </p:cNvPr>
          <p:cNvSpPr>
            <a:spLocks noGrp="1"/>
          </p:cNvSpPr>
          <p:nvPr>
            <p:ph sz="half" idx="1"/>
          </p:nvPr>
        </p:nvSpPr>
        <p:spPr>
          <a:xfrm>
            <a:off x="609600" y="1968503"/>
            <a:ext cx="5446955" cy="4157663"/>
          </a:xfrm>
        </p:spPr>
        <p:txBody>
          <a:bodyPr/>
          <a:lstStyle/>
          <a:p>
            <a:r>
              <a:rPr lang="en-US" sz="2000" dirty="0"/>
              <a:t>If graphite is irradiated under load the dimensional change data are modified</a:t>
            </a:r>
          </a:p>
          <a:p>
            <a:r>
              <a:rPr lang="en-US" sz="2000" dirty="0"/>
              <a:t>The difference between loaded and unloaded dimensional change is referred to as creep</a:t>
            </a:r>
          </a:p>
          <a:p>
            <a:r>
              <a:rPr lang="en-US" sz="2000" dirty="0"/>
              <a:t>The shrinkage is increased under compression and reduced under tension</a:t>
            </a:r>
          </a:p>
          <a:p>
            <a:r>
              <a:rPr lang="en-US" sz="2000" dirty="0"/>
              <a:t>With increasing fluence the creep strain increases fairly linearly at first, and then the rate reduces before finally increasing (looks similar to creep vs time plot, but not the same)</a:t>
            </a:r>
          </a:p>
          <a:p>
            <a:endParaRPr lang="en-US" sz="2000" dirty="0"/>
          </a:p>
          <a:p>
            <a:endParaRPr lang="en-US" sz="2000" dirty="0"/>
          </a:p>
          <a:p>
            <a:endParaRPr lang="en-US" sz="2000" dirty="0"/>
          </a:p>
          <a:p>
            <a:endParaRPr lang="en-US" sz="2000" dirty="0"/>
          </a:p>
        </p:txBody>
      </p:sp>
      <p:pic>
        <p:nvPicPr>
          <p:cNvPr id="5" name="Content Placeholder 4" descr="Dimensional change and creep strain under tension and compression">
            <a:extLst>
              <a:ext uri="{FF2B5EF4-FFF2-40B4-BE49-F238E27FC236}">
                <a16:creationId xmlns:a16="http://schemas.microsoft.com/office/drawing/2014/main" id="{5CF30C49-A168-AE42-A27C-DD9F810731EF}"/>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6197599" y="2253321"/>
            <a:ext cx="5559711" cy="3704565"/>
          </a:xfrm>
          <a:prstGeom prst="rect">
            <a:avLst/>
          </a:prstGeom>
        </p:spPr>
      </p:pic>
      <p:sp>
        <p:nvSpPr>
          <p:cNvPr id="4" name="Slide Number Placeholder 3">
            <a:extLst>
              <a:ext uri="{FF2B5EF4-FFF2-40B4-BE49-F238E27FC236}">
                <a16:creationId xmlns:a16="http://schemas.microsoft.com/office/drawing/2014/main" id="{9D7E2D6F-3574-B848-B5D7-CD170E09C464}"/>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2118101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A6EF-4E20-3A43-97CC-DFA54E70C92C}"/>
              </a:ext>
            </a:extLst>
          </p:cNvPr>
          <p:cNvSpPr>
            <a:spLocks noGrp="1"/>
          </p:cNvSpPr>
          <p:nvPr>
            <p:ph type="title"/>
          </p:nvPr>
        </p:nvSpPr>
        <p:spPr/>
        <p:txBody>
          <a:bodyPr/>
          <a:lstStyle/>
          <a:p>
            <a:r>
              <a:rPr lang="en-US" dirty="0"/>
              <a:t>Thermal Conductivity</a:t>
            </a:r>
          </a:p>
        </p:txBody>
      </p:sp>
      <p:sp>
        <p:nvSpPr>
          <p:cNvPr id="3" name="Content Placeholder 2">
            <a:extLst>
              <a:ext uri="{FF2B5EF4-FFF2-40B4-BE49-F238E27FC236}">
                <a16:creationId xmlns:a16="http://schemas.microsoft.com/office/drawing/2014/main" id="{CBE31A8B-78D6-6E40-B484-9CC626E899D6}"/>
              </a:ext>
            </a:extLst>
          </p:cNvPr>
          <p:cNvSpPr>
            <a:spLocks noGrp="1"/>
          </p:cNvSpPr>
          <p:nvPr>
            <p:ph sz="half" idx="1"/>
          </p:nvPr>
        </p:nvSpPr>
        <p:spPr>
          <a:xfrm>
            <a:off x="609599" y="1968503"/>
            <a:ext cx="5833241" cy="4157663"/>
          </a:xfrm>
        </p:spPr>
        <p:txBody>
          <a:bodyPr/>
          <a:lstStyle/>
          <a:p>
            <a:r>
              <a:rPr lang="en-US" sz="2200" dirty="0"/>
              <a:t>Graphite is a phonon conductor of heat</a:t>
            </a:r>
          </a:p>
          <a:p>
            <a:r>
              <a:rPr lang="en-US" sz="2200" dirty="0"/>
              <a:t>Similar to </a:t>
            </a:r>
            <a:r>
              <a:rPr lang="en-US" sz="2200" dirty="0" err="1"/>
              <a:t>SiC</a:t>
            </a:r>
            <a:r>
              <a:rPr lang="en-US" sz="2200" dirty="0"/>
              <a:t>, larger grain size, theoretical densities, low defect content, improve k</a:t>
            </a:r>
          </a:p>
          <a:p>
            <a:r>
              <a:rPr lang="en-US" sz="2200" dirty="0"/>
              <a:t>The increase of thermal resistivity due to irradiation damage has been ascribed to the formation of (1) small interstitial clusters, (2) vacancies, (3) vacancy loops</a:t>
            </a:r>
          </a:p>
          <a:p>
            <a:r>
              <a:rPr lang="en-US" sz="2200" dirty="0"/>
              <a:t>At any irradiation temperature, the decreasing thermal conductivity will reach a ‘saturation limit’</a:t>
            </a:r>
          </a:p>
          <a:p>
            <a:endParaRPr lang="en-US" sz="2200" dirty="0"/>
          </a:p>
          <a:p>
            <a:endParaRPr lang="en-US" sz="2200" dirty="0"/>
          </a:p>
          <a:p>
            <a:endParaRPr lang="en-US" sz="2200" dirty="0"/>
          </a:p>
        </p:txBody>
      </p:sp>
      <p:pic>
        <p:nvPicPr>
          <p:cNvPr id="6" name="Content Placeholder 5" descr="Thermal conductivity versus temperature at different damage levels">
            <a:extLst>
              <a:ext uri="{FF2B5EF4-FFF2-40B4-BE49-F238E27FC236}">
                <a16:creationId xmlns:a16="http://schemas.microsoft.com/office/drawing/2014/main" id="{714A3765-6F29-7A48-8073-209C4BF5ECA3}"/>
              </a:ext>
            </a:extLst>
          </p:cNvPr>
          <p:cNvPicPr>
            <a:picLocks noGrp="1" noChangeAspect="1"/>
          </p:cNvPicPr>
          <p:nvPr>
            <p:ph sz="half" idx="2"/>
          </p:nvPr>
        </p:nvPicPr>
        <p:blipFill>
          <a:blip r:embed="rId2"/>
          <a:stretch>
            <a:fillRect/>
          </a:stretch>
        </p:blipFill>
        <p:spPr>
          <a:xfrm>
            <a:off x="6480550" y="2486245"/>
            <a:ext cx="5101850" cy="2958114"/>
          </a:xfrm>
          <a:prstGeom prst="rect">
            <a:avLst/>
          </a:prstGeom>
        </p:spPr>
      </p:pic>
      <p:sp>
        <p:nvSpPr>
          <p:cNvPr id="5" name="Slide Number Placeholder 4">
            <a:extLst>
              <a:ext uri="{FF2B5EF4-FFF2-40B4-BE49-F238E27FC236}">
                <a16:creationId xmlns:a16="http://schemas.microsoft.com/office/drawing/2014/main" id="{861D54AA-9438-F342-B1E2-88C2CC04DB42}"/>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3945875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F5C64-5055-6F40-ADCB-745896050A85}"/>
              </a:ext>
            </a:extLst>
          </p:cNvPr>
          <p:cNvSpPr>
            <a:spLocks noGrp="1"/>
          </p:cNvSpPr>
          <p:nvPr>
            <p:ph type="title"/>
          </p:nvPr>
        </p:nvSpPr>
        <p:spPr/>
        <p:txBody>
          <a:bodyPr/>
          <a:lstStyle/>
          <a:p>
            <a:r>
              <a:rPr lang="en-US" dirty="0"/>
              <a:t>Impacts of Changes Under Irradiation</a:t>
            </a:r>
          </a:p>
        </p:txBody>
      </p:sp>
      <p:sp>
        <p:nvSpPr>
          <p:cNvPr id="3" name="Content Placeholder 2">
            <a:extLst>
              <a:ext uri="{FF2B5EF4-FFF2-40B4-BE49-F238E27FC236}">
                <a16:creationId xmlns:a16="http://schemas.microsoft.com/office/drawing/2014/main" id="{C0B72261-9E6E-3C42-BDC7-0E546BA81C03}"/>
              </a:ext>
            </a:extLst>
          </p:cNvPr>
          <p:cNvSpPr>
            <a:spLocks noGrp="1"/>
          </p:cNvSpPr>
          <p:nvPr>
            <p:ph sz="half" idx="1"/>
          </p:nvPr>
        </p:nvSpPr>
        <p:spPr/>
        <p:txBody>
          <a:bodyPr/>
          <a:lstStyle/>
          <a:p>
            <a:r>
              <a:rPr lang="en-US" sz="2000" dirty="0"/>
              <a:t>In graphite moderated reactors, the graphite structure provides channels for fuel, fuel-cooling, and control rod entry, the structural integrity of the graphite components is important from safety and lifetime considerations</a:t>
            </a:r>
          </a:p>
          <a:p>
            <a:r>
              <a:rPr lang="en-US" sz="2000" dirty="0"/>
              <a:t>Components develop stresses which need to be accounted for</a:t>
            </a:r>
          </a:p>
          <a:p>
            <a:r>
              <a:rPr lang="en-US" sz="2000" dirty="0"/>
              <a:t>Temperature distribution across a graphite channel is shown at the right</a:t>
            </a:r>
          </a:p>
          <a:p>
            <a:r>
              <a:rPr lang="en-US" sz="2000" dirty="0"/>
              <a:t>Fluence also changes radially</a:t>
            </a:r>
          </a:p>
          <a:p>
            <a:r>
              <a:rPr lang="en-US" sz="2000" dirty="0"/>
              <a:t>Fuel is in the center (bore)</a:t>
            </a:r>
          </a:p>
          <a:p>
            <a:endParaRPr lang="en-US" sz="2000" dirty="0"/>
          </a:p>
          <a:p>
            <a:endParaRPr lang="en-US" sz="2000" dirty="0"/>
          </a:p>
        </p:txBody>
      </p:sp>
      <p:pic>
        <p:nvPicPr>
          <p:cNvPr id="5" name="Content Placeholder 4" descr="Graphite moderator geometry showing temperature variation">
            <a:extLst>
              <a:ext uri="{FF2B5EF4-FFF2-40B4-BE49-F238E27FC236}">
                <a16:creationId xmlns:a16="http://schemas.microsoft.com/office/drawing/2014/main" id="{56E40B4B-EB1E-6844-91BC-80E04567E6D6}"/>
              </a:ext>
            </a:extLst>
          </p:cNvPr>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a:stretch/>
        </p:blipFill>
        <p:spPr>
          <a:xfrm>
            <a:off x="6927925" y="2175337"/>
            <a:ext cx="4396291" cy="3703893"/>
          </a:xfrm>
          <a:prstGeom prst="rect">
            <a:avLst/>
          </a:prstGeom>
        </p:spPr>
      </p:pic>
      <p:sp>
        <p:nvSpPr>
          <p:cNvPr id="4" name="Slide Number Placeholder 3">
            <a:extLst>
              <a:ext uri="{FF2B5EF4-FFF2-40B4-BE49-F238E27FC236}">
                <a16:creationId xmlns:a16="http://schemas.microsoft.com/office/drawing/2014/main" id="{45A91731-DF2D-2040-B9EF-053D4FDA93CD}"/>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2491487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F5C64-5055-6F40-ADCB-745896050A85}"/>
              </a:ext>
            </a:extLst>
          </p:cNvPr>
          <p:cNvSpPr>
            <a:spLocks noGrp="1"/>
          </p:cNvSpPr>
          <p:nvPr>
            <p:ph type="title"/>
          </p:nvPr>
        </p:nvSpPr>
        <p:spPr/>
        <p:txBody>
          <a:bodyPr/>
          <a:lstStyle/>
          <a:p>
            <a:r>
              <a:rPr lang="en-US" dirty="0"/>
              <a:t>Impacts of Changes Under Irradiation</a:t>
            </a:r>
          </a:p>
        </p:txBody>
      </p:sp>
      <p:sp>
        <p:nvSpPr>
          <p:cNvPr id="3" name="Content Placeholder 2">
            <a:extLst>
              <a:ext uri="{FF2B5EF4-FFF2-40B4-BE49-F238E27FC236}">
                <a16:creationId xmlns:a16="http://schemas.microsoft.com/office/drawing/2014/main" id="{C0B72261-9E6E-3C42-BDC7-0E546BA81C03}"/>
              </a:ext>
            </a:extLst>
          </p:cNvPr>
          <p:cNvSpPr>
            <a:spLocks noGrp="1"/>
          </p:cNvSpPr>
          <p:nvPr>
            <p:ph sz="half" idx="1"/>
          </p:nvPr>
        </p:nvSpPr>
        <p:spPr/>
        <p:txBody>
          <a:bodyPr/>
          <a:lstStyle/>
          <a:p>
            <a:r>
              <a:rPr lang="en-US" sz="2000" dirty="0"/>
              <a:t>Properties and dimensions change as a function of both temperature and fluence</a:t>
            </a:r>
          </a:p>
          <a:p>
            <a:r>
              <a:rPr lang="en-US" sz="2000" dirty="0"/>
              <a:t>First, the graphite brick will shrink faster at the bore than at the outside, and properties will vary radially</a:t>
            </a:r>
          </a:p>
          <a:p>
            <a:r>
              <a:rPr lang="en-US" sz="2000" dirty="0"/>
              <a:t>Graphite brick internal shrinkage and thermal stresses are generated; first tensile at the bore and compressive at the outside, and then reversing in sign towards the end of reactor life</a:t>
            </a:r>
          </a:p>
          <a:p>
            <a:r>
              <a:rPr lang="en-US" sz="2000" dirty="0"/>
              <a:t>Fortunately, much of this stress is reduced by irradiation creep</a:t>
            </a:r>
          </a:p>
          <a:p>
            <a:endParaRPr lang="en-US" sz="2000" dirty="0"/>
          </a:p>
          <a:p>
            <a:endParaRPr lang="en-US" sz="2000" dirty="0"/>
          </a:p>
          <a:p>
            <a:endParaRPr lang="en-US" sz="2000" dirty="0"/>
          </a:p>
          <a:p>
            <a:endParaRPr lang="en-US" sz="2000" dirty="0"/>
          </a:p>
          <a:p>
            <a:endParaRPr lang="en-US" sz="2000" dirty="0"/>
          </a:p>
          <a:p>
            <a:endParaRPr lang="en-US" sz="2000" dirty="0"/>
          </a:p>
        </p:txBody>
      </p:sp>
      <p:pic>
        <p:nvPicPr>
          <p:cNvPr id="8" name="Content Placeholder 7" descr="Hoop stress in graphite macrostructure as a function of time">
            <a:extLst>
              <a:ext uri="{FF2B5EF4-FFF2-40B4-BE49-F238E27FC236}">
                <a16:creationId xmlns:a16="http://schemas.microsoft.com/office/drawing/2014/main" id="{6B406453-2CE3-8942-AB2A-FF3C145BB948}"/>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6401995" y="2425740"/>
            <a:ext cx="5384800" cy="3243188"/>
          </a:xfrm>
          <a:prstGeom prst="rect">
            <a:avLst/>
          </a:prstGeom>
        </p:spPr>
      </p:pic>
      <p:sp>
        <p:nvSpPr>
          <p:cNvPr id="4" name="Slide Number Placeholder 3">
            <a:extLst>
              <a:ext uri="{FF2B5EF4-FFF2-40B4-BE49-F238E27FC236}">
                <a16:creationId xmlns:a16="http://schemas.microsoft.com/office/drawing/2014/main" id="{4A68A361-D477-DA40-9F72-5699827D2F5B}"/>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Tree>
    <p:extLst>
      <p:ext uri="{BB962C8B-B14F-4D97-AF65-F5344CB8AC3E}">
        <p14:creationId xmlns:p14="http://schemas.microsoft.com/office/powerpoint/2010/main" val="3682345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F5C64-5055-6F40-ADCB-745896050A85}"/>
              </a:ext>
            </a:extLst>
          </p:cNvPr>
          <p:cNvSpPr>
            <a:spLocks noGrp="1"/>
          </p:cNvSpPr>
          <p:nvPr>
            <p:ph type="title"/>
          </p:nvPr>
        </p:nvSpPr>
        <p:spPr/>
        <p:txBody>
          <a:bodyPr/>
          <a:lstStyle/>
          <a:p>
            <a:r>
              <a:rPr lang="en-US" dirty="0"/>
              <a:t>Impacts of Changes Under Irradiation</a:t>
            </a:r>
          </a:p>
        </p:txBody>
      </p:sp>
      <p:sp>
        <p:nvSpPr>
          <p:cNvPr id="3" name="Content Placeholder 2">
            <a:extLst>
              <a:ext uri="{FF2B5EF4-FFF2-40B4-BE49-F238E27FC236}">
                <a16:creationId xmlns:a16="http://schemas.microsoft.com/office/drawing/2014/main" id="{C0B72261-9E6E-3C42-BDC7-0E546BA81C03}"/>
              </a:ext>
            </a:extLst>
          </p:cNvPr>
          <p:cNvSpPr>
            <a:spLocks noGrp="1"/>
          </p:cNvSpPr>
          <p:nvPr>
            <p:ph sz="half" idx="1"/>
          </p:nvPr>
        </p:nvSpPr>
        <p:spPr>
          <a:xfrm>
            <a:off x="609599" y="1968503"/>
            <a:ext cx="6035750" cy="4157663"/>
          </a:xfrm>
        </p:spPr>
        <p:txBody>
          <a:bodyPr/>
          <a:lstStyle/>
          <a:p>
            <a:r>
              <a:rPr lang="en-US" sz="2000" dirty="0"/>
              <a:t>Discontinuities in the figure are due to shutdowns every 2 years</a:t>
            </a:r>
          </a:p>
          <a:p>
            <a:r>
              <a:rPr lang="en-US" sz="2000" dirty="0"/>
              <a:t>The difference in CTE between the inside and the outside of the brick, along with irradiation creep, causes the stresses to significantly change when the reactor is shutdown and the graphite cools</a:t>
            </a:r>
          </a:p>
          <a:p>
            <a:r>
              <a:rPr lang="en-US" sz="2000" dirty="0"/>
              <a:t>The change in stress at shutdown is mainly due to the temperature difference across the brick, which creeps out during reactor operation</a:t>
            </a:r>
          </a:p>
          <a:p>
            <a:r>
              <a:rPr lang="en-US" sz="2000" dirty="0"/>
              <a:t>Towards the EOL, we see significantly different stress states for the inside/outside of the graphite brick than at BOL</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BD23DB52-2239-2A44-AF40-981AA5A5513D}"/>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7" name="Content Placeholder 7" descr="Hoop stress in graphite macrostructure as a function of time">
            <a:extLst>
              <a:ext uri="{FF2B5EF4-FFF2-40B4-BE49-F238E27FC236}">
                <a16:creationId xmlns:a16="http://schemas.microsoft.com/office/drawing/2014/main" id="{3E26BE07-27DF-AC59-CD4A-F78D0C9E5D3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auto">
          <a:xfrm>
            <a:off x="6722707" y="2425740"/>
            <a:ext cx="5064087" cy="30500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493167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4C020-5E7D-BD4C-98B7-C317A404F781}"/>
              </a:ext>
            </a:extLst>
          </p:cNvPr>
          <p:cNvSpPr>
            <a:spLocks noGrp="1"/>
          </p:cNvSpPr>
          <p:nvPr>
            <p:ph type="title"/>
          </p:nvPr>
        </p:nvSpPr>
        <p:spPr/>
        <p:txBody>
          <a:bodyPr/>
          <a:lstStyle/>
          <a:p>
            <a:r>
              <a:rPr lang="en-US" dirty="0"/>
              <a:t>Irradiation Creep</a:t>
            </a:r>
          </a:p>
        </p:txBody>
      </p:sp>
      <p:sp>
        <p:nvSpPr>
          <p:cNvPr id="3" name="Content Placeholder 2">
            <a:extLst>
              <a:ext uri="{FF2B5EF4-FFF2-40B4-BE49-F238E27FC236}">
                <a16:creationId xmlns:a16="http://schemas.microsoft.com/office/drawing/2014/main" id="{0985D648-6AE3-5A43-A034-2BBCB2BC52CB}"/>
              </a:ext>
            </a:extLst>
          </p:cNvPr>
          <p:cNvSpPr>
            <a:spLocks noGrp="1"/>
          </p:cNvSpPr>
          <p:nvPr>
            <p:ph sz="half" idx="1"/>
          </p:nvPr>
        </p:nvSpPr>
        <p:spPr>
          <a:xfrm>
            <a:off x="609600" y="1968503"/>
            <a:ext cx="6148552" cy="4157663"/>
          </a:xfrm>
        </p:spPr>
        <p:txBody>
          <a:bodyPr/>
          <a:lstStyle/>
          <a:p>
            <a:r>
              <a:rPr lang="en-US" sz="2200" dirty="0"/>
              <a:t>Graphite will undergo creep during neutron irradiation and under stress at temperatures where thermal creep is generally negligible</a:t>
            </a:r>
          </a:p>
          <a:p>
            <a:r>
              <a:rPr lang="en-US" sz="2200" dirty="0"/>
              <a:t>Creep is so fundamentally important to graphite that if irradiation-induced stresses in graphite moderators could not relax via radiation creep, rapid core disintegration would result</a:t>
            </a:r>
          </a:p>
          <a:p>
            <a:r>
              <a:rPr lang="en-US" sz="2200" dirty="0"/>
              <a:t>One study showed that a 50% decrease in the assumed creep strain resulted in a 50% increase in the predicted hoop stress in a hollow cylindrical core brick</a:t>
            </a:r>
          </a:p>
          <a:p>
            <a:endParaRPr lang="en-US" sz="2200" dirty="0"/>
          </a:p>
          <a:p>
            <a:endParaRPr lang="en-US" sz="2200" dirty="0"/>
          </a:p>
        </p:txBody>
      </p:sp>
      <p:sp>
        <p:nvSpPr>
          <p:cNvPr id="4" name="Content Placeholder 3">
            <a:extLst>
              <a:ext uri="{FF2B5EF4-FFF2-40B4-BE49-F238E27FC236}">
                <a16:creationId xmlns:a16="http://schemas.microsoft.com/office/drawing/2014/main" id="{C23B8536-FA08-144C-A944-05BAAF816CCA}"/>
              </a:ext>
            </a:extLst>
          </p:cNvPr>
          <p:cNvSpPr>
            <a:spLocks noGrp="1"/>
          </p:cNvSpPr>
          <p:nvPr>
            <p:ph sz="half" idx="2"/>
          </p:nvPr>
        </p:nvSpPr>
        <p:spPr>
          <a:xfrm>
            <a:off x="6863254" y="1968503"/>
            <a:ext cx="4719145" cy="4157663"/>
          </a:xfrm>
        </p:spPr>
        <p:txBody>
          <a:bodyPr/>
          <a:lstStyle/>
          <a:p>
            <a:r>
              <a:rPr lang="en-US" sz="2200" dirty="0"/>
              <a:t>The total strain, in a graphite component under irradiation in a reactor core is given by:</a:t>
            </a:r>
          </a:p>
          <a:p>
            <a:endParaRPr lang="en-US" sz="2200" dirty="0"/>
          </a:p>
          <a:p>
            <a:r>
              <a:rPr lang="en-US" sz="2200" dirty="0"/>
              <a:t>where </a:t>
            </a:r>
            <a:r>
              <a:rPr lang="en-US" sz="2200" dirty="0" err="1">
                <a:latin typeface="Symbol" pitchFamily="2" charset="2"/>
              </a:rPr>
              <a:t>e</a:t>
            </a:r>
            <a:r>
              <a:rPr lang="en-US" sz="2200" baseline="-25000" dirty="0" err="1"/>
              <a:t>e</a:t>
            </a:r>
            <a:r>
              <a:rPr lang="en-US" sz="2200" dirty="0"/>
              <a:t> is the elastic strain; </a:t>
            </a:r>
            <a:r>
              <a:rPr lang="en-US" sz="2200" dirty="0">
                <a:latin typeface="Symbol" pitchFamily="2" charset="2"/>
              </a:rPr>
              <a:t>e</a:t>
            </a:r>
            <a:r>
              <a:rPr lang="en-US" sz="2200" baseline="-25000" dirty="0"/>
              <a:t>t</a:t>
            </a:r>
            <a:r>
              <a:rPr lang="en-US" sz="2200" dirty="0"/>
              <a:t>, the thermal strain; </a:t>
            </a:r>
            <a:r>
              <a:rPr lang="en-US" sz="2200" dirty="0">
                <a:latin typeface="Symbol" pitchFamily="2" charset="2"/>
              </a:rPr>
              <a:t>e</a:t>
            </a:r>
            <a:r>
              <a:rPr lang="en-US" sz="2200" baseline="-25000" dirty="0"/>
              <a:t>d</a:t>
            </a:r>
            <a:r>
              <a:rPr lang="en-US" sz="2200" dirty="0"/>
              <a:t>, the dimensional change strain; and </a:t>
            </a:r>
            <a:r>
              <a:rPr lang="en-US" sz="2200" dirty="0" err="1">
                <a:latin typeface="Symbol" pitchFamily="2" charset="2"/>
              </a:rPr>
              <a:t>e</a:t>
            </a:r>
            <a:r>
              <a:rPr lang="en-US" sz="2200" baseline="-25000" dirty="0" err="1"/>
              <a:t>c</a:t>
            </a:r>
            <a:r>
              <a:rPr lang="en-US" sz="2200" dirty="0"/>
              <a:t> is the creep strain</a:t>
            </a:r>
          </a:p>
          <a:p>
            <a:endParaRPr lang="en-US" sz="2200" dirty="0"/>
          </a:p>
          <a:p>
            <a:endParaRPr lang="en-US" sz="2200" dirty="0"/>
          </a:p>
        </p:txBody>
      </p:sp>
      <p:sp>
        <p:nvSpPr>
          <p:cNvPr id="5" name="Slide Number Placeholder 4">
            <a:extLst>
              <a:ext uri="{FF2B5EF4-FFF2-40B4-BE49-F238E27FC236}">
                <a16:creationId xmlns:a16="http://schemas.microsoft.com/office/drawing/2014/main" id="{CFE85F0E-E4F1-C445-9430-CCB912E48FAC}"/>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dirty="0"/>
          </a:p>
        </p:txBody>
      </p:sp>
      <p:pic>
        <p:nvPicPr>
          <p:cNvPr id="6" name="Picture 5">
            <a:extLst>
              <a:ext uri="{FF2B5EF4-FFF2-40B4-BE49-F238E27FC236}">
                <a16:creationId xmlns:a16="http://schemas.microsoft.com/office/drawing/2014/main" id="{15475D07-5548-A545-860E-C23B16EA72A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33104" y="3073400"/>
            <a:ext cx="2552700" cy="355600"/>
          </a:xfrm>
          <a:prstGeom prst="rect">
            <a:avLst/>
          </a:prstGeom>
        </p:spPr>
      </p:pic>
    </p:spTree>
    <p:extLst>
      <p:ext uri="{BB962C8B-B14F-4D97-AF65-F5344CB8AC3E}">
        <p14:creationId xmlns:p14="http://schemas.microsoft.com/office/powerpoint/2010/main" val="366480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906A2-CF6F-F048-AD9A-1332A30044C6}"/>
              </a:ext>
            </a:extLst>
          </p:cNvPr>
          <p:cNvSpPr>
            <a:spLocks noGrp="1"/>
          </p:cNvSpPr>
          <p:nvPr>
            <p:ph type="title"/>
          </p:nvPr>
        </p:nvSpPr>
        <p:spPr/>
        <p:txBody>
          <a:bodyPr/>
          <a:lstStyle/>
          <a:p>
            <a:r>
              <a:rPr lang="en-US" dirty="0"/>
              <a:t>Irradiation Creep</a:t>
            </a:r>
          </a:p>
        </p:txBody>
      </p:sp>
      <p:sp>
        <p:nvSpPr>
          <p:cNvPr id="3" name="Content Placeholder 2">
            <a:extLst>
              <a:ext uri="{FF2B5EF4-FFF2-40B4-BE49-F238E27FC236}">
                <a16:creationId xmlns:a16="http://schemas.microsoft.com/office/drawing/2014/main" id="{D3357522-D994-614D-850F-F333BB61053B}"/>
              </a:ext>
            </a:extLst>
          </p:cNvPr>
          <p:cNvSpPr>
            <a:spLocks noGrp="1"/>
          </p:cNvSpPr>
          <p:nvPr>
            <p:ph sz="half" idx="1"/>
          </p:nvPr>
        </p:nvSpPr>
        <p:spPr/>
        <p:txBody>
          <a:bodyPr/>
          <a:lstStyle/>
          <a:p>
            <a:r>
              <a:rPr lang="en-US" sz="2200" dirty="0"/>
              <a:t>Because of the significance of irradiation-induced creep to the stress levels in graphite core components, accurate models of creep have long been sought, but current models tend to break down at high temperature and fluence</a:t>
            </a:r>
          </a:p>
          <a:p>
            <a:r>
              <a:rPr lang="en-US" sz="2200" dirty="0"/>
              <a:t>Stress state (compressive/tensile) has an impact on the creep rate</a:t>
            </a:r>
          </a:p>
          <a:p>
            <a:r>
              <a:rPr lang="en-US" sz="2200" dirty="0"/>
              <a:t>The creep rate increases more rapidly in the tensile loading case compared to the compressive case at high dose</a:t>
            </a:r>
          </a:p>
          <a:p>
            <a:endParaRPr lang="en-US" sz="2200" dirty="0"/>
          </a:p>
          <a:p>
            <a:endParaRPr lang="en-US" sz="2200" dirty="0"/>
          </a:p>
        </p:txBody>
      </p:sp>
      <p:pic>
        <p:nvPicPr>
          <p:cNvPr id="6" name="Content Placeholder 5" descr="Creep strain versus neutron dose">
            <a:extLst>
              <a:ext uri="{FF2B5EF4-FFF2-40B4-BE49-F238E27FC236}">
                <a16:creationId xmlns:a16="http://schemas.microsoft.com/office/drawing/2014/main" id="{3CCE3AC9-FF96-7A4A-BB09-BFA480842E73}"/>
              </a:ext>
            </a:extLst>
          </p:cNvPr>
          <p:cNvPicPr>
            <a:picLocks noGrp="1" noChangeAspect="1"/>
          </p:cNvPicPr>
          <p:nvPr>
            <p:ph sz="half" idx="2"/>
          </p:nvPr>
        </p:nvPicPr>
        <p:blipFill>
          <a:blip r:embed="rId2"/>
          <a:stretch>
            <a:fillRect/>
          </a:stretch>
        </p:blipFill>
        <p:spPr>
          <a:xfrm>
            <a:off x="6292193" y="2417379"/>
            <a:ext cx="5775374" cy="3053415"/>
          </a:xfrm>
          <a:prstGeom prst="rect">
            <a:avLst/>
          </a:prstGeom>
        </p:spPr>
      </p:pic>
      <p:sp>
        <p:nvSpPr>
          <p:cNvPr id="5" name="Slide Number Placeholder 4">
            <a:extLst>
              <a:ext uri="{FF2B5EF4-FFF2-40B4-BE49-F238E27FC236}">
                <a16:creationId xmlns:a16="http://schemas.microsoft.com/office/drawing/2014/main" id="{48514159-C89D-AA4D-B279-D7B7452CAEE4}"/>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1707217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17CF-7C30-5440-A1BD-09B528945D57}"/>
              </a:ext>
            </a:extLst>
          </p:cNvPr>
          <p:cNvSpPr>
            <a:spLocks noGrp="1"/>
          </p:cNvSpPr>
          <p:nvPr>
            <p:ph type="title"/>
          </p:nvPr>
        </p:nvSpPr>
        <p:spPr/>
        <p:txBody>
          <a:bodyPr/>
          <a:lstStyle/>
          <a:p>
            <a:r>
              <a:rPr lang="en-US" dirty="0"/>
              <a:t>Irradiation Creep Models</a:t>
            </a:r>
          </a:p>
        </p:txBody>
      </p:sp>
      <p:sp>
        <p:nvSpPr>
          <p:cNvPr id="3" name="Content Placeholder 2">
            <a:extLst>
              <a:ext uri="{FF2B5EF4-FFF2-40B4-BE49-F238E27FC236}">
                <a16:creationId xmlns:a16="http://schemas.microsoft.com/office/drawing/2014/main" id="{A75A18E7-F6CD-1144-9377-E5F1C48BBDFC}"/>
              </a:ext>
            </a:extLst>
          </p:cNvPr>
          <p:cNvSpPr>
            <a:spLocks noGrp="1"/>
          </p:cNvSpPr>
          <p:nvPr>
            <p:ph sz="half" idx="1"/>
          </p:nvPr>
        </p:nvSpPr>
        <p:spPr/>
        <p:txBody>
          <a:bodyPr/>
          <a:lstStyle/>
          <a:p>
            <a:r>
              <a:rPr lang="en-US" sz="2200" dirty="0"/>
              <a:t>Since creep is so important to graphite, a number of creep prediction models have been developed:</a:t>
            </a:r>
          </a:p>
          <a:p>
            <a:pPr lvl="1"/>
            <a:r>
              <a:rPr lang="en-US" sz="2200" dirty="0"/>
              <a:t>Linear viscoelastic creep, UK creep, Kennedy, Kelly and Burchell, etc.</a:t>
            </a:r>
          </a:p>
          <a:p>
            <a:r>
              <a:rPr lang="en-US" sz="2200" dirty="0"/>
              <a:t>These models can take into account evolving pore structure, thermal expansion, recoverable strain, etc. </a:t>
            </a:r>
          </a:p>
          <a:p>
            <a:r>
              <a:rPr lang="en-US" sz="2200" dirty="0"/>
              <a:t>The M</a:t>
            </a:r>
            <a:r>
              <a:rPr lang="en-US" sz="2200" baseline="30000" dirty="0"/>
              <a:t>2</a:t>
            </a:r>
            <a:r>
              <a:rPr lang="en-US" sz="2200" dirty="0"/>
              <a:t> model potentially performs the most accurately as a function of dose at relatively low temperatures</a:t>
            </a:r>
          </a:p>
          <a:p>
            <a:endParaRPr lang="en-US" sz="2200" dirty="0"/>
          </a:p>
          <a:p>
            <a:endParaRPr lang="en-US" sz="2200" dirty="0"/>
          </a:p>
          <a:p>
            <a:pPr lvl="1"/>
            <a:endParaRPr lang="en-US" sz="2200" dirty="0"/>
          </a:p>
        </p:txBody>
      </p:sp>
      <p:sp>
        <p:nvSpPr>
          <p:cNvPr id="4" name="Content Placeholder 3">
            <a:extLst>
              <a:ext uri="{FF2B5EF4-FFF2-40B4-BE49-F238E27FC236}">
                <a16:creationId xmlns:a16="http://schemas.microsoft.com/office/drawing/2014/main" id="{559BE980-9F54-BC4C-BFDC-171F2C0475DA}"/>
              </a:ext>
            </a:extLst>
          </p:cNvPr>
          <p:cNvSpPr>
            <a:spLocks noGrp="1"/>
          </p:cNvSpPr>
          <p:nvPr>
            <p:ph sz="half" idx="2"/>
          </p:nvPr>
        </p:nvSpPr>
        <p:spPr/>
        <p:txBody>
          <a:bodyPr/>
          <a:lstStyle/>
          <a:p>
            <a:r>
              <a:rPr lang="en-US" sz="2200" dirty="0"/>
              <a:t>However, no model is sufficiently accurate at both high dose and high temperature</a:t>
            </a:r>
          </a:p>
          <a:p>
            <a:endParaRPr lang="en-US" sz="2200" dirty="0"/>
          </a:p>
        </p:txBody>
      </p:sp>
      <p:sp>
        <p:nvSpPr>
          <p:cNvPr id="5" name="Slide Number Placeholder 4">
            <a:extLst>
              <a:ext uri="{FF2B5EF4-FFF2-40B4-BE49-F238E27FC236}">
                <a16:creationId xmlns:a16="http://schemas.microsoft.com/office/drawing/2014/main" id="{F12FDB8C-BFC1-D84E-BD7A-D98656FEA9B7}"/>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6" name="Picture 5" descr="Creep strain versus neutron dose">
            <a:extLst>
              <a:ext uri="{FF2B5EF4-FFF2-40B4-BE49-F238E27FC236}">
                <a16:creationId xmlns:a16="http://schemas.microsoft.com/office/drawing/2014/main" id="{AEC981B7-4640-C94C-9917-9DA935502720}"/>
              </a:ext>
            </a:extLst>
          </p:cNvPr>
          <p:cNvPicPr>
            <a:picLocks noChangeAspect="1"/>
          </p:cNvPicPr>
          <p:nvPr/>
        </p:nvPicPr>
        <p:blipFill>
          <a:blip r:embed="rId2"/>
          <a:stretch>
            <a:fillRect/>
          </a:stretch>
        </p:blipFill>
        <p:spPr>
          <a:xfrm>
            <a:off x="6639034" y="3071648"/>
            <a:ext cx="4638973" cy="2886239"/>
          </a:xfrm>
          <a:prstGeom prst="rect">
            <a:avLst/>
          </a:prstGeom>
        </p:spPr>
      </p:pic>
    </p:spTree>
    <p:extLst>
      <p:ext uri="{BB962C8B-B14F-4D97-AF65-F5344CB8AC3E}">
        <p14:creationId xmlns:p14="http://schemas.microsoft.com/office/powerpoint/2010/main" val="2467819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906A2-CF6F-F048-AD9A-1332A30044C6}"/>
              </a:ext>
            </a:extLst>
          </p:cNvPr>
          <p:cNvSpPr>
            <a:spLocks noGrp="1"/>
          </p:cNvSpPr>
          <p:nvPr>
            <p:ph type="title"/>
          </p:nvPr>
        </p:nvSpPr>
        <p:spPr/>
        <p:txBody>
          <a:bodyPr/>
          <a:lstStyle/>
          <a:p>
            <a:r>
              <a:rPr lang="en-US" dirty="0"/>
              <a:t>Irradiation Creep</a:t>
            </a:r>
          </a:p>
        </p:txBody>
      </p:sp>
      <p:sp>
        <p:nvSpPr>
          <p:cNvPr id="3" name="Content Placeholder 2">
            <a:extLst>
              <a:ext uri="{FF2B5EF4-FFF2-40B4-BE49-F238E27FC236}">
                <a16:creationId xmlns:a16="http://schemas.microsoft.com/office/drawing/2014/main" id="{D3357522-D994-614D-850F-F333BB61053B}"/>
              </a:ext>
            </a:extLst>
          </p:cNvPr>
          <p:cNvSpPr>
            <a:spLocks noGrp="1"/>
          </p:cNvSpPr>
          <p:nvPr>
            <p:ph sz="half" idx="1"/>
          </p:nvPr>
        </p:nvSpPr>
        <p:spPr>
          <a:xfrm>
            <a:off x="609599" y="1968503"/>
            <a:ext cx="5864773" cy="4157663"/>
          </a:xfrm>
        </p:spPr>
        <p:txBody>
          <a:bodyPr/>
          <a:lstStyle/>
          <a:p>
            <a:r>
              <a:rPr lang="en-US" sz="2200" dirty="0"/>
              <a:t>Irradiation-induced basal plane dislocation pinning/unpinning in the graphite crystal is the expected mechanism for the irradiation-induced creep</a:t>
            </a:r>
          </a:p>
          <a:p>
            <a:r>
              <a:rPr lang="en-US" sz="2200" dirty="0"/>
              <a:t>The pinning points are speculated to be interstitial atom clusters</a:t>
            </a:r>
          </a:p>
          <a:p>
            <a:r>
              <a:rPr lang="en-US" sz="2200" dirty="0"/>
              <a:t>The interstitial clusters are temporary barriers as they are destroyed by further irradiation</a:t>
            </a:r>
          </a:p>
          <a:p>
            <a:r>
              <a:rPr lang="en-US" sz="2200" dirty="0"/>
              <a:t>The concentration of pinning sites increases under irradiation from the initial value to a steady-state concentration</a:t>
            </a:r>
          </a:p>
          <a:p>
            <a:endParaRPr lang="en-US" sz="2200" dirty="0"/>
          </a:p>
        </p:txBody>
      </p:sp>
      <p:sp>
        <p:nvSpPr>
          <p:cNvPr id="5" name="Slide Number Placeholder 4">
            <a:extLst>
              <a:ext uri="{FF2B5EF4-FFF2-40B4-BE49-F238E27FC236}">
                <a16:creationId xmlns:a16="http://schemas.microsoft.com/office/drawing/2014/main" id="{48514159-C89D-AA4D-B279-D7B7452CAEE4}"/>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
        <p:nvSpPr>
          <p:cNvPr id="7" name="Content Placeholder 6">
            <a:extLst>
              <a:ext uri="{FF2B5EF4-FFF2-40B4-BE49-F238E27FC236}">
                <a16:creationId xmlns:a16="http://schemas.microsoft.com/office/drawing/2014/main" id="{11E875DA-0D5B-0E4E-9CC5-2FE8C457FBEA}"/>
              </a:ext>
            </a:extLst>
          </p:cNvPr>
          <p:cNvSpPr>
            <a:spLocks noGrp="1"/>
          </p:cNvSpPr>
          <p:nvPr>
            <p:ph sz="half" idx="2"/>
          </p:nvPr>
        </p:nvSpPr>
        <p:spPr>
          <a:xfrm>
            <a:off x="6474372" y="1968503"/>
            <a:ext cx="5108028" cy="4157663"/>
          </a:xfrm>
        </p:spPr>
        <p:txBody>
          <a:bodyPr/>
          <a:lstStyle/>
          <a:p>
            <a:r>
              <a:rPr lang="en-US" sz="2200" dirty="0"/>
              <a:t>The initial creep rate is high and decreases to a near steady-state value as the pinning concentration saturates at a level controlled by the neutron flux and temperature</a:t>
            </a:r>
          </a:p>
          <a:p>
            <a:r>
              <a:rPr lang="en-US" sz="2200" dirty="0"/>
              <a:t>At high dose, the creep rate can again increase because of (1) high internal stress enhancing the creep rate, and (2) the destruction of interstitial pins by thermal diffusion of vacancies</a:t>
            </a:r>
          </a:p>
          <a:p>
            <a:pPr marL="0" indent="0">
              <a:buNone/>
            </a:pPr>
            <a:endParaRPr lang="en-US" sz="2200" dirty="0"/>
          </a:p>
        </p:txBody>
      </p:sp>
    </p:spTree>
    <p:extLst>
      <p:ext uri="{BB962C8B-B14F-4D97-AF65-F5344CB8AC3E}">
        <p14:creationId xmlns:p14="http://schemas.microsoft.com/office/powerpoint/2010/main" val="3742189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EDF0-6B60-4744-B285-91CB7521E0E6}"/>
              </a:ext>
            </a:extLst>
          </p:cNvPr>
          <p:cNvSpPr>
            <a:spLocks noGrp="1"/>
          </p:cNvSpPr>
          <p:nvPr>
            <p:ph type="title"/>
          </p:nvPr>
        </p:nvSpPr>
        <p:spPr/>
        <p:txBody>
          <a:bodyPr/>
          <a:lstStyle/>
          <a:p>
            <a:r>
              <a:rPr lang="en-US" dirty="0"/>
              <a:t>CTE and Young’s Modulus</a:t>
            </a:r>
          </a:p>
        </p:txBody>
      </p:sp>
      <p:sp>
        <p:nvSpPr>
          <p:cNvPr id="3" name="Content Placeholder 2">
            <a:extLst>
              <a:ext uri="{FF2B5EF4-FFF2-40B4-BE49-F238E27FC236}">
                <a16:creationId xmlns:a16="http://schemas.microsoft.com/office/drawing/2014/main" id="{14531046-C265-174C-9006-67D45ACCC23B}"/>
              </a:ext>
            </a:extLst>
          </p:cNvPr>
          <p:cNvSpPr>
            <a:spLocks noGrp="1"/>
          </p:cNvSpPr>
          <p:nvPr>
            <p:ph sz="half" idx="1"/>
          </p:nvPr>
        </p:nvSpPr>
        <p:spPr>
          <a:xfrm>
            <a:off x="609600" y="1968503"/>
            <a:ext cx="4648606" cy="4157663"/>
          </a:xfrm>
        </p:spPr>
        <p:txBody>
          <a:bodyPr/>
          <a:lstStyle/>
          <a:p>
            <a:r>
              <a:rPr lang="en-US" sz="2000" dirty="0"/>
              <a:t>The behavior of the CTE and E is complex and differs between anisotropic and semi-isotropic grades</a:t>
            </a:r>
          </a:p>
          <a:p>
            <a:r>
              <a:rPr lang="en-US" sz="2000" dirty="0"/>
              <a:t>The CTE of </a:t>
            </a:r>
            <a:r>
              <a:rPr lang="en-US" sz="2000" dirty="0" err="1"/>
              <a:t>Gilsocarbon</a:t>
            </a:r>
            <a:r>
              <a:rPr lang="en-US" sz="2000" dirty="0"/>
              <a:t> first increases then reduces</a:t>
            </a:r>
          </a:p>
          <a:p>
            <a:r>
              <a:rPr lang="en-US" sz="2000" dirty="0"/>
              <a:t>For E there an increase with increasing fluence for </a:t>
            </a:r>
            <a:r>
              <a:rPr lang="en-US" sz="2000" dirty="0" err="1"/>
              <a:t>Gilsocarbon</a:t>
            </a:r>
            <a:endParaRPr lang="en-US" sz="2000" dirty="0"/>
          </a:p>
          <a:p>
            <a:r>
              <a:rPr lang="en-US" sz="2000" dirty="0"/>
              <a:t>If irradiated past turnaround, significant degradation occurs, and the modulus starts to reduce</a:t>
            </a:r>
          </a:p>
          <a:p>
            <a:r>
              <a:rPr lang="en-US" sz="2000" dirty="0"/>
              <a:t>PGA = Pile Grade A, course, anisotropic graphite</a:t>
            </a:r>
          </a:p>
          <a:p>
            <a:endParaRPr lang="en-US" sz="2000" dirty="0"/>
          </a:p>
          <a:p>
            <a:endParaRPr lang="en-US" sz="2000" dirty="0"/>
          </a:p>
        </p:txBody>
      </p:sp>
      <p:pic>
        <p:nvPicPr>
          <p:cNvPr id="5" name="Content Placeholder 4" descr="CTE and. Youngs modulus of two graphite grades as a function of fluence">
            <a:extLst>
              <a:ext uri="{FF2B5EF4-FFF2-40B4-BE49-F238E27FC236}">
                <a16:creationId xmlns:a16="http://schemas.microsoft.com/office/drawing/2014/main" id="{B5C9524A-A626-914D-BD02-4DD5A18C3809}"/>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5258206" y="2184826"/>
            <a:ext cx="6405100" cy="4171526"/>
          </a:xfrm>
          <a:prstGeom prst="rect">
            <a:avLst/>
          </a:prstGeom>
        </p:spPr>
      </p:pic>
      <p:sp>
        <p:nvSpPr>
          <p:cNvPr id="4" name="Slide Number Placeholder 3">
            <a:extLst>
              <a:ext uri="{FF2B5EF4-FFF2-40B4-BE49-F238E27FC236}">
                <a16:creationId xmlns:a16="http://schemas.microsoft.com/office/drawing/2014/main" id="{D0AFEDFD-E290-9E49-B2DC-D4393C24A05E}"/>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
        <p:nvSpPr>
          <p:cNvPr id="6" name="TextBox 5">
            <a:extLst>
              <a:ext uri="{FF2B5EF4-FFF2-40B4-BE49-F238E27FC236}">
                <a16:creationId xmlns:a16="http://schemas.microsoft.com/office/drawing/2014/main" id="{CAF0BC5B-28BD-9347-A744-D1FC1F509A43}"/>
              </a:ext>
            </a:extLst>
          </p:cNvPr>
          <p:cNvSpPr txBox="1"/>
          <p:nvPr/>
        </p:nvSpPr>
        <p:spPr>
          <a:xfrm>
            <a:off x="6358758" y="1891997"/>
            <a:ext cx="1019504" cy="369332"/>
          </a:xfrm>
          <a:prstGeom prst="rect">
            <a:avLst/>
          </a:prstGeom>
          <a:noFill/>
        </p:spPr>
        <p:txBody>
          <a:bodyPr wrap="square" rtlCol="0">
            <a:spAutoFit/>
          </a:bodyPr>
          <a:lstStyle/>
          <a:p>
            <a:pPr algn="ctr"/>
            <a:r>
              <a:rPr lang="en-US" dirty="0"/>
              <a:t>PGA</a:t>
            </a:r>
          </a:p>
        </p:txBody>
      </p:sp>
      <p:sp>
        <p:nvSpPr>
          <p:cNvPr id="7" name="TextBox 6">
            <a:extLst>
              <a:ext uri="{FF2B5EF4-FFF2-40B4-BE49-F238E27FC236}">
                <a16:creationId xmlns:a16="http://schemas.microsoft.com/office/drawing/2014/main" id="{B63307D3-B499-4242-AD01-A496BB37D53E}"/>
              </a:ext>
            </a:extLst>
          </p:cNvPr>
          <p:cNvSpPr txBox="1"/>
          <p:nvPr/>
        </p:nvSpPr>
        <p:spPr>
          <a:xfrm>
            <a:off x="9462428" y="1891997"/>
            <a:ext cx="1480207" cy="369332"/>
          </a:xfrm>
          <a:prstGeom prst="rect">
            <a:avLst/>
          </a:prstGeom>
          <a:noFill/>
        </p:spPr>
        <p:txBody>
          <a:bodyPr wrap="square" rtlCol="0">
            <a:spAutoFit/>
          </a:bodyPr>
          <a:lstStyle/>
          <a:p>
            <a:pPr algn="ctr"/>
            <a:r>
              <a:rPr lang="en-US" dirty="0" err="1"/>
              <a:t>Gilsocarbon</a:t>
            </a:r>
            <a:endParaRPr lang="en-US" dirty="0"/>
          </a:p>
        </p:txBody>
      </p:sp>
    </p:spTree>
    <p:extLst>
      <p:ext uri="{BB962C8B-B14F-4D97-AF65-F5344CB8AC3E}">
        <p14:creationId xmlns:p14="http://schemas.microsoft.com/office/powerpoint/2010/main" val="709824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E1F9-FDA9-BE44-B394-425404F7A94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9B6A0A9-2876-1446-8E64-A40C1B12E72B}"/>
              </a:ext>
            </a:extLst>
          </p:cNvPr>
          <p:cNvSpPr>
            <a:spLocks noGrp="1"/>
          </p:cNvSpPr>
          <p:nvPr>
            <p:ph sz="half" idx="1"/>
          </p:nvPr>
        </p:nvSpPr>
        <p:spPr>
          <a:xfrm>
            <a:off x="609600" y="1968503"/>
            <a:ext cx="10972800" cy="4157663"/>
          </a:xfrm>
        </p:spPr>
        <p:txBody>
          <a:bodyPr/>
          <a:lstStyle/>
          <a:p>
            <a:r>
              <a:rPr lang="en-US" sz="2400" dirty="0"/>
              <a:t>Graphite has a lot of texture and porosity, dependent upon fabrication</a:t>
            </a:r>
          </a:p>
          <a:p>
            <a:r>
              <a:rPr lang="en-US" sz="2400" dirty="0"/>
              <a:t>Graphite has anisotropic properties, but nuclear-grade graphite is manufactured in a way to target semi-isotropic properties</a:t>
            </a:r>
          </a:p>
          <a:p>
            <a:r>
              <a:rPr lang="en-US" sz="2400" dirty="0"/>
              <a:t>Graphite shrinks, then undergoes turnaround</a:t>
            </a:r>
          </a:p>
          <a:p>
            <a:r>
              <a:rPr lang="en-US" sz="2400" dirty="0"/>
              <a:t>This behavior is governed by point defects, which induced swelling, and close Mrozowski cracks</a:t>
            </a:r>
          </a:p>
          <a:p>
            <a:r>
              <a:rPr lang="en-US" sz="2400" dirty="0"/>
              <a:t>Turnaround happens quicker at higher temperatures, and is dependent upon applied stress</a:t>
            </a:r>
          </a:p>
          <a:p>
            <a:r>
              <a:rPr lang="en-US" sz="2400" dirty="0"/>
              <a:t>Irradiation creep is critically important in graphite</a:t>
            </a:r>
          </a:p>
        </p:txBody>
      </p:sp>
      <p:sp>
        <p:nvSpPr>
          <p:cNvPr id="5" name="Slide Number Placeholder 4">
            <a:extLst>
              <a:ext uri="{FF2B5EF4-FFF2-40B4-BE49-F238E27FC236}">
                <a16:creationId xmlns:a16="http://schemas.microsoft.com/office/drawing/2014/main" id="{3C7E02AC-765A-2946-A8E5-11DDDB268EE4}"/>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1924645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TRISO Fuel Failures</a:t>
            </a:r>
          </a:p>
        </p:txBody>
      </p:sp>
      <p:sp>
        <p:nvSpPr>
          <p:cNvPr id="3" name="Slide Number Placeholder 2">
            <a:extLst>
              <a:ext uri="{FF2B5EF4-FFF2-40B4-BE49-F238E27FC236}">
                <a16:creationId xmlns:a16="http://schemas.microsoft.com/office/drawing/2014/main" id="{AF4598DB-1407-8640-B13B-690B5237DB73}"/>
              </a:ext>
            </a:extLst>
          </p:cNvPr>
          <p:cNvSpPr>
            <a:spLocks noGrp="1"/>
          </p:cNvSpPr>
          <p:nvPr>
            <p:ph type="sldNum" sz="quarter" idx="12"/>
          </p:nvPr>
        </p:nvSpPr>
        <p:spPr/>
        <p:txBody>
          <a:bodyPr/>
          <a:lstStyle/>
          <a:p>
            <a:pPr>
              <a:defRPr/>
            </a:pPr>
            <a:fld id="{0DA6BD0F-ABBC-C14D-BC96-77BE126A748B}" type="slidenum">
              <a:rPr lang="en-US" smtClean="0"/>
              <a:pPr>
                <a:defRPr/>
              </a:pPr>
              <a:t>20</a:t>
            </a:fld>
            <a:endParaRPr lang="en-US"/>
          </a:p>
        </p:txBody>
      </p:sp>
    </p:spTree>
    <p:extLst>
      <p:ext uri="{BB962C8B-B14F-4D97-AF65-F5344CB8AC3E}">
        <p14:creationId xmlns:p14="http://schemas.microsoft.com/office/powerpoint/2010/main" val="1910983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EA379-D690-2E4A-9155-20E7796106FD}"/>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8B779A79-1903-484D-A7AD-65C349CDD8A3}"/>
              </a:ext>
            </a:extLst>
          </p:cNvPr>
          <p:cNvSpPr>
            <a:spLocks noGrp="1"/>
          </p:cNvSpPr>
          <p:nvPr>
            <p:ph sz="half" idx="2"/>
          </p:nvPr>
        </p:nvSpPr>
        <p:spPr>
          <a:xfrm>
            <a:off x="609596" y="1935726"/>
            <a:ext cx="6390290" cy="3951288"/>
          </a:xfrm>
        </p:spPr>
        <p:txBody>
          <a:bodyPr>
            <a:noAutofit/>
          </a:bodyPr>
          <a:lstStyle/>
          <a:p>
            <a:r>
              <a:rPr lang="en-US" sz="1800" b="1" dirty="0"/>
              <a:t>Overpressure</a:t>
            </a:r>
          </a:p>
          <a:p>
            <a:endParaRPr lang="en-US" sz="1800" dirty="0"/>
          </a:p>
          <a:p>
            <a:r>
              <a:rPr lang="en-US" sz="1800" dirty="0"/>
              <a:t>During irradiation, fission gases are released from the kernel into the porous buffer layer. The pressure that is generated exerts tensile forces on the </a:t>
            </a:r>
            <a:r>
              <a:rPr lang="en-US" sz="1800" dirty="0" err="1"/>
              <a:t>SiC</a:t>
            </a:r>
            <a:r>
              <a:rPr lang="en-US" sz="1800" dirty="0"/>
              <a:t> layer of the particle</a:t>
            </a:r>
          </a:p>
          <a:p>
            <a:r>
              <a:rPr lang="en-US" sz="1800" dirty="0"/>
              <a:t>For UO2 kernels, there is also excess oxygen released during fission which will react with carbon from the buffer to form CO and CO2 gas</a:t>
            </a:r>
          </a:p>
          <a:p>
            <a:r>
              <a:rPr lang="en-US" sz="1800" dirty="0"/>
              <a:t>Particles are generally sized with a large enough buffer void volume to ensure that they do not fail by overpressure during irradiation</a:t>
            </a:r>
          </a:p>
          <a:p>
            <a:r>
              <a:rPr lang="en-US" sz="1800" dirty="0"/>
              <a:t>Particle failure is postulated to occur as a result of an insufficient or missing buffer layer that occurs during the coating process</a:t>
            </a:r>
          </a:p>
        </p:txBody>
      </p:sp>
      <p:pic>
        <p:nvPicPr>
          <p:cNvPr id="6" name="Content Placeholder 5" descr="Overpressurized failure of a SiC particle">
            <a:extLst>
              <a:ext uri="{FF2B5EF4-FFF2-40B4-BE49-F238E27FC236}">
                <a16:creationId xmlns:a16="http://schemas.microsoft.com/office/drawing/2014/main" id="{5047C185-7858-2A44-8587-F6AE0F314EEB}"/>
              </a:ext>
            </a:extLst>
          </p:cNvPr>
          <p:cNvPicPr>
            <a:picLocks noGrp="1" noChangeAspect="1"/>
          </p:cNvPicPr>
          <p:nvPr>
            <p:ph sz="quarter" idx="4"/>
          </p:nvPr>
        </p:nvPicPr>
        <p:blipFill>
          <a:blip r:embed="rId2"/>
          <a:stretch>
            <a:fillRect/>
          </a:stretch>
        </p:blipFill>
        <p:spPr>
          <a:xfrm>
            <a:off x="7325957" y="2097741"/>
            <a:ext cx="3066470" cy="3504538"/>
          </a:xfrm>
          <a:prstGeom prst="rect">
            <a:avLst/>
          </a:prstGeom>
        </p:spPr>
      </p:pic>
      <p:sp>
        <p:nvSpPr>
          <p:cNvPr id="4" name="Slide Number Placeholder 3">
            <a:extLst>
              <a:ext uri="{FF2B5EF4-FFF2-40B4-BE49-F238E27FC236}">
                <a16:creationId xmlns:a16="http://schemas.microsoft.com/office/drawing/2014/main" id="{3964328A-2E9C-F045-8697-CE0204F1335C}"/>
              </a:ext>
            </a:extLst>
          </p:cNvPr>
          <p:cNvSpPr>
            <a:spLocks noGrp="1"/>
          </p:cNvSpPr>
          <p:nvPr>
            <p:ph type="sldNum" sz="quarter" idx="12"/>
          </p:nvPr>
        </p:nvSpPr>
        <p:spPr/>
        <p:txBody>
          <a:bodyPr/>
          <a:lstStyle/>
          <a:p>
            <a:pPr>
              <a:defRPr/>
            </a:pPr>
            <a:fld id="{BB5B94E0-5E06-6D42-A41D-50D581B40900}" type="slidenum">
              <a:rPr lang="en-US" smtClean="0"/>
              <a:pPr>
                <a:defRPr/>
              </a:pPr>
              <a:t>21</a:t>
            </a:fld>
            <a:endParaRPr lang="en-US"/>
          </a:p>
        </p:txBody>
      </p:sp>
    </p:spTree>
    <p:extLst>
      <p:ext uri="{BB962C8B-B14F-4D97-AF65-F5344CB8AC3E}">
        <p14:creationId xmlns:p14="http://schemas.microsoft.com/office/powerpoint/2010/main" val="4201792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A802F-574F-BD47-B6BC-E37CA402EE2D}"/>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A74BC48-27D6-1341-9229-7CD696CC4FA5}"/>
              </a:ext>
            </a:extLst>
          </p:cNvPr>
          <p:cNvSpPr>
            <a:spLocks noGrp="1"/>
          </p:cNvSpPr>
          <p:nvPr>
            <p:ph sz="half" idx="2"/>
          </p:nvPr>
        </p:nvSpPr>
        <p:spPr>
          <a:xfrm>
            <a:off x="609600" y="2174875"/>
            <a:ext cx="6243145" cy="3951288"/>
          </a:xfrm>
        </p:spPr>
        <p:txBody>
          <a:bodyPr>
            <a:noAutofit/>
          </a:bodyPr>
          <a:lstStyle/>
          <a:p>
            <a:r>
              <a:rPr lang="en-US" sz="1800" b="1" dirty="0"/>
              <a:t>Irradiation-induced </a:t>
            </a:r>
            <a:r>
              <a:rPr lang="en-US" sz="1800" b="1" dirty="0" err="1"/>
              <a:t>IPyC</a:t>
            </a:r>
            <a:r>
              <a:rPr lang="en-US" sz="1800" b="1" dirty="0"/>
              <a:t> cracking</a:t>
            </a:r>
          </a:p>
          <a:p>
            <a:pPr lvl="1"/>
            <a:endParaRPr lang="en-US" sz="1800" dirty="0"/>
          </a:p>
          <a:p>
            <a:r>
              <a:rPr lang="en-US" sz="1800" dirty="0"/>
              <a:t>Under irradiation, </a:t>
            </a:r>
            <a:r>
              <a:rPr lang="en-US" sz="1800" dirty="0" err="1"/>
              <a:t>pyrocarbon</a:t>
            </a:r>
            <a:r>
              <a:rPr lang="en-US" sz="1800" dirty="0"/>
              <a:t> (</a:t>
            </a:r>
            <a:r>
              <a:rPr lang="en-US" sz="1800" dirty="0" err="1"/>
              <a:t>PyC</a:t>
            </a:r>
            <a:r>
              <a:rPr lang="en-US" sz="1800" dirty="0"/>
              <a:t>) shrinks in both the radial and tangential directions</a:t>
            </a:r>
          </a:p>
          <a:p>
            <a:r>
              <a:rPr lang="en-US" sz="1800" dirty="0"/>
              <a:t>This behavior puts the PyC layers into tension in the tangential direction</a:t>
            </a:r>
          </a:p>
          <a:p>
            <a:r>
              <a:rPr lang="en-US" sz="1800" dirty="0"/>
              <a:t>However, irradiation-induced creep works to relieve the tensile stress in the </a:t>
            </a:r>
            <a:r>
              <a:rPr lang="en-US" sz="1800" dirty="0" err="1"/>
              <a:t>PyC</a:t>
            </a:r>
            <a:r>
              <a:rPr lang="en-US" sz="1800" dirty="0"/>
              <a:t> layer</a:t>
            </a:r>
          </a:p>
          <a:p>
            <a:r>
              <a:rPr lang="en-US" sz="1800" dirty="0"/>
              <a:t>If the PyC is strongly attached to the </a:t>
            </a:r>
            <a:r>
              <a:rPr lang="en-US" sz="1800" dirty="0" err="1"/>
              <a:t>SiC</a:t>
            </a:r>
            <a:r>
              <a:rPr lang="en-US" sz="1800" dirty="0"/>
              <a:t> layer, the PyC shrinkage provides a strong compressive stress that offsets the tensile stresses generated by gas production in the kernel</a:t>
            </a:r>
          </a:p>
          <a:p>
            <a:r>
              <a:rPr lang="en-US" sz="1800" dirty="0"/>
              <a:t>High tensile loads, or insufficient creep, can lead to cracking of the </a:t>
            </a:r>
            <a:r>
              <a:rPr lang="en-US" sz="1800" dirty="0" err="1"/>
              <a:t>IPyC</a:t>
            </a:r>
            <a:endParaRPr lang="en-US" sz="1800" dirty="0"/>
          </a:p>
          <a:p>
            <a:pPr lvl="1"/>
            <a:endParaRPr lang="en-US" sz="1800" dirty="0"/>
          </a:p>
          <a:p>
            <a:endParaRPr lang="en-US" sz="1800" dirty="0"/>
          </a:p>
        </p:txBody>
      </p:sp>
      <p:pic>
        <p:nvPicPr>
          <p:cNvPr id="5" name="Content Placeholder 4" descr="Crack in IPyC layer">
            <a:extLst>
              <a:ext uri="{FF2B5EF4-FFF2-40B4-BE49-F238E27FC236}">
                <a16:creationId xmlns:a16="http://schemas.microsoft.com/office/drawing/2014/main" id="{CC2A1FB1-7994-D34B-98B0-299D22A86B87}"/>
              </a:ext>
            </a:extLst>
          </p:cNvPr>
          <p:cNvPicPr>
            <a:picLocks noGrp="1" noChangeAspect="1"/>
          </p:cNvPicPr>
          <p:nvPr>
            <p:ph sz="quarter" idx="4"/>
          </p:nvPr>
        </p:nvPicPr>
        <p:blipFill>
          <a:blip r:embed="rId2"/>
          <a:stretch>
            <a:fillRect/>
          </a:stretch>
        </p:blipFill>
        <p:spPr>
          <a:xfrm>
            <a:off x="7842324" y="4210846"/>
            <a:ext cx="2097743" cy="2333739"/>
          </a:xfrm>
          <a:prstGeom prst="rect">
            <a:avLst/>
          </a:prstGeom>
        </p:spPr>
      </p:pic>
      <p:pic>
        <p:nvPicPr>
          <p:cNvPr id="6" name="Picture 5" descr="Crack in IPyC propagating to crack in SiC">
            <a:extLst>
              <a:ext uri="{FF2B5EF4-FFF2-40B4-BE49-F238E27FC236}">
                <a16:creationId xmlns:a16="http://schemas.microsoft.com/office/drawing/2014/main" id="{DB38ED9C-D72C-A546-8F2F-26B2F1A243A0}"/>
              </a:ext>
            </a:extLst>
          </p:cNvPr>
          <p:cNvPicPr>
            <a:picLocks noChangeAspect="1"/>
          </p:cNvPicPr>
          <p:nvPr/>
        </p:nvPicPr>
        <p:blipFill>
          <a:blip r:embed="rId3"/>
          <a:stretch>
            <a:fillRect/>
          </a:stretch>
        </p:blipFill>
        <p:spPr>
          <a:xfrm>
            <a:off x="7842324" y="1935726"/>
            <a:ext cx="2102277" cy="2126167"/>
          </a:xfrm>
          <a:prstGeom prst="rect">
            <a:avLst/>
          </a:prstGeom>
        </p:spPr>
      </p:pic>
      <p:sp>
        <p:nvSpPr>
          <p:cNvPr id="4" name="Slide Number Placeholder 3">
            <a:extLst>
              <a:ext uri="{FF2B5EF4-FFF2-40B4-BE49-F238E27FC236}">
                <a16:creationId xmlns:a16="http://schemas.microsoft.com/office/drawing/2014/main" id="{0A7D6A03-CA85-BA49-BAA7-99EB5D13307D}"/>
              </a:ext>
            </a:extLst>
          </p:cNvPr>
          <p:cNvSpPr>
            <a:spLocks noGrp="1"/>
          </p:cNvSpPr>
          <p:nvPr>
            <p:ph type="sldNum" sz="quarter" idx="12"/>
          </p:nvPr>
        </p:nvSpPr>
        <p:spPr/>
        <p:txBody>
          <a:bodyPr/>
          <a:lstStyle/>
          <a:p>
            <a:pPr>
              <a:defRPr/>
            </a:pPr>
            <a:fld id="{BB5B94E0-5E06-6D42-A41D-50D581B40900}" type="slidenum">
              <a:rPr lang="en-US" smtClean="0"/>
              <a:pPr>
                <a:defRPr/>
              </a:pPr>
              <a:t>22</a:t>
            </a:fld>
            <a:endParaRPr lang="en-US"/>
          </a:p>
        </p:txBody>
      </p:sp>
    </p:spTree>
    <p:extLst>
      <p:ext uri="{BB962C8B-B14F-4D97-AF65-F5344CB8AC3E}">
        <p14:creationId xmlns:p14="http://schemas.microsoft.com/office/powerpoint/2010/main" val="3479042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0B25EB7-0A4E-CD4F-B6F7-AC217630F3D4}"/>
              </a:ext>
            </a:extLst>
          </p:cNvPr>
          <p:cNvSpPr>
            <a:spLocks noGrp="1"/>
          </p:cNvSpPr>
          <p:nvPr>
            <p:ph sz="half" idx="2"/>
          </p:nvPr>
        </p:nvSpPr>
        <p:spPr/>
        <p:txBody>
          <a:bodyPr/>
          <a:lstStyle/>
          <a:p>
            <a:r>
              <a:rPr lang="en-US" sz="1800" b="1" dirty="0"/>
              <a:t>Debonding between </a:t>
            </a:r>
            <a:r>
              <a:rPr lang="en-US" sz="1800" b="1" dirty="0" err="1"/>
              <a:t>IPyC</a:t>
            </a:r>
            <a:r>
              <a:rPr lang="en-US" sz="1800" b="1" dirty="0"/>
              <a:t> and </a:t>
            </a:r>
            <a:r>
              <a:rPr lang="en-US" sz="1800" b="1" dirty="0" err="1"/>
              <a:t>SiC</a:t>
            </a:r>
            <a:endParaRPr lang="en-US" sz="1800" b="1" dirty="0"/>
          </a:p>
          <a:p>
            <a:endParaRPr lang="en-US" sz="1800" dirty="0"/>
          </a:p>
          <a:p>
            <a:r>
              <a:rPr lang="en-US" sz="1800" dirty="0"/>
              <a:t>The debonding is related to the strength of the </a:t>
            </a:r>
            <a:r>
              <a:rPr lang="en-US" sz="1800" dirty="0" err="1"/>
              <a:t>IPyC</a:t>
            </a:r>
            <a:r>
              <a:rPr lang="en-US" sz="1800" dirty="0"/>
              <a:t>/</a:t>
            </a:r>
            <a:r>
              <a:rPr lang="en-US" sz="1800" dirty="0" err="1"/>
              <a:t>SiC</a:t>
            </a:r>
            <a:r>
              <a:rPr lang="en-US" sz="1800" dirty="0"/>
              <a:t> interface</a:t>
            </a:r>
          </a:p>
          <a:p>
            <a:r>
              <a:rPr lang="en-US" sz="1800" dirty="0"/>
              <a:t>Weakly bonded coating layers can partially detach because of the tensile stresses generated by the </a:t>
            </a:r>
            <a:r>
              <a:rPr lang="en-US" sz="1800" dirty="0" err="1"/>
              <a:t>IPyC</a:t>
            </a:r>
            <a:r>
              <a:rPr lang="en-US" sz="1800" dirty="0"/>
              <a:t> shrinkage under irradiation</a:t>
            </a:r>
          </a:p>
          <a:p>
            <a:r>
              <a:rPr lang="en-US" sz="1800" dirty="0"/>
              <a:t>A particle for which partial debonding of the </a:t>
            </a:r>
            <a:r>
              <a:rPr lang="en-US" sz="1800" dirty="0" err="1"/>
              <a:t>IPyC</a:t>
            </a:r>
            <a:r>
              <a:rPr lang="en-US" sz="1800" dirty="0"/>
              <a:t> from the </a:t>
            </a:r>
            <a:r>
              <a:rPr lang="en-US" sz="1800" dirty="0" err="1"/>
              <a:t>SiC</a:t>
            </a:r>
            <a:r>
              <a:rPr lang="en-US" sz="1800" dirty="0"/>
              <a:t> has occurred can develop relatively large tensile stresses in the </a:t>
            </a:r>
            <a:r>
              <a:rPr lang="en-US" sz="1800" dirty="0" err="1"/>
              <a:t>SiC</a:t>
            </a:r>
            <a:endParaRPr lang="en-US" sz="1800" dirty="0"/>
          </a:p>
          <a:p>
            <a:r>
              <a:rPr lang="en-US" sz="1800" dirty="0"/>
              <a:t>Irradiation induced creep relieves the stress at longer times</a:t>
            </a:r>
          </a:p>
          <a:p>
            <a:endParaRPr lang="en-US" sz="1800" dirty="0"/>
          </a:p>
          <a:p>
            <a:endParaRPr lang="en-US" sz="1800" dirty="0"/>
          </a:p>
          <a:p>
            <a:endParaRPr lang="en-US" sz="1800" dirty="0"/>
          </a:p>
        </p:txBody>
      </p:sp>
      <p:pic>
        <p:nvPicPr>
          <p:cNvPr id="5" name="Content Placeholder 4" descr="Debonded IPyC/SiC interface">
            <a:extLst>
              <a:ext uri="{FF2B5EF4-FFF2-40B4-BE49-F238E27FC236}">
                <a16:creationId xmlns:a16="http://schemas.microsoft.com/office/drawing/2014/main" id="{B5883F4F-B0F5-8745-A771-99513B518678}"/>
              </a:ext>
            </a:extLst>
          </p:cNvPr>
          <p:cNvPicPr>
            <a:picLocks noGrp="1" noChangeAspect="1"/>
          </p:cNvPicPr>
          <p:nvPr>
            <p:ph sz="quarter" idx="4"/>
          </p:nvPr>
        </p:nvPicPr>
        <p:blipFill>
          <a:blip r:embed="rId3" cstate="email">
            <a:extLst>
              <a:ext uri="{28A0092B-C50C-407E-A947-70E740481C1C}">
                <a14:useLocalDpi xmlns:a14="http://schemas.microsoft.com/office/drawing/2010/main"/>
              </a:ext>
            </a:extLst>
          </a:blip>
          <a:stretch>
            <a:fillRect/>
          </a:stretch>
        </p:blipFill>
        <p:spPr>
          <a:xfrm>
            <a:off x="7184259" y="2174875"/>
            <a:ext cx="3406719" cy="3951288"/>
          </a:xfrm>
          <a:prstGeom prst="rect">
            <a:avLst/>
          </a:prstGeom>
        </p:spPr>
      </p:pic>
      <p:sp>
        <p:nvSpPr>
          <p:cNvPr id="4" name="Slide Number Placeholder 3">
            <a:extLst>
              <a:ext uri="{FF2B5EF4-FFF2-40B4-BE49-F238E27FC236}">
                <a16:creationId xmlns:a16="http://schemas.microsoft.com/office/drawing/2014/main" id="{D2EB628F-36CD-534E-8483-8D8150E2C138}"/>
              </a:ext>
            </a:extLst>
          </p:cNvPr>
          <p:cNvSpPr>
            <a:spLocks noGrp="1"/>
          </p:cNvSpPr>
          <p:nvPr>
            <p:ph type="sldNum" sz="quarter" idx="12"/>
          </p:nvPr>
        </p:nvSpPr>
        <p:spPr/>
        <p:txBody>
          <a:bodyPr/>
          <a:lstStyle/>
          <a:p>
            <a:pPr>
              <a:defRPr/>
            </a:pPr>
            <a:fld id="{BB5B94E0-5E06-6D42-A41D-50D581B40900}" type="slidenum">
              <a:rPr lang="en-US" smtClean="0"/>
              <a:pPr>
                <a:defRPr/>
              </a:pPr>
              <a:t>23</a:t>
            </a:fld>
            <a:endParaRPr lang="en-US"/>
          </a:p>
        </p:txBody>
      </p:sp>
    </p:spTree>
    <p:extLst>
      <p:ext uri="{BB962C8B-B14F-4D97-AF65-F5344CB8AC3E}">
        <p14:creationId xmlns:p14="http://schemas.microsoft.com/office/powerpoint/2010/main" val="2364180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0B25EB7-0A4E-CD4F-B6F7-AC217630F3D4}"/>
              </a:ext>
            </a:extLst>
          </p:cNvPr>
          <p:cNvSpPr>
            <a:spLocks noGrp="1"/>
          </p:cNvSpPr>
          <p:nvPr>
            <p:ph sz="half" idx="2"/>
          </p:nvPr>
        </p:nvSpPr>
        <p:spPr>
          <a:xfrm>
            <a:off x="609600" y="2174875"/>
            <a:ext cx="6232264" cy="3951288"/>
          </a:xfrm>
        </p:spPr>
        <p:txBody>
          <a:bodyPr/>
          <a:lstStyle/>
          <a:p>
            <a:r>
              <a:rPr lang="en-US" sz="1800" b="1" dirty="0"/>
              <a:t>Kernel migration (amoeba effect)</a:t>
            </a:r>
          </a:p>
          <a:p>
            <a:endParaRPr lang="en-US" sz="1800" dirty="0"/>
          </a:p>
          <a:p>
            <a:r>
              <a:rPr lang="en-US" sz="1800" dirty="0"/>
              <a:t>Kernel migration is defined simply as movement of the kernel toward the TRISO-coating, which can lead to the kernel penetrating the TRISO-coating</a:t>
            </a:r>
          </a:p>
          <a:p>
            <a:r>
              <a:rPr lang="en-US" sz="1800" dirty="0"/>
              <a:t>Kernel migration is associated with carbon transport in the particle in the presence of a temperature gradient</a:t>
            </a:r>
          </a:p>
          <a:p>
            <a:r>
              <a:rPr lang="en-US" sz="1800" dirty="0"/>
              <a:t>A thermal gradient generates different equilibrium conditions for C, UO2, CO and CO2 at either side of the particle</a:t>
            </a:r>
          </a:p>
          <a:p>
            <a:r>
              <a:rPr lang="en-US" sz="1800" dirty="0"/>
              <a:t>Carbon diffuses up the temperature gradient, the kernel diffuses down</a:t>
            </a:r>
          </a:p>
          <a:p>
            <a:endParaRPr lang="en-US" sz="1800" dirty="0"/>
          </a:p>
          <a:p>
            <a:endParaRPr lang="en-US" sz="1800" dirty="0"/>
          </a:p>
        </p:txBody>
      </p:sp>
      <p:pic>
        <p:nvPicPr>
          <p:cNvPr id="5" name="Content Placeholder 4" descr="Migrated fuel kernel. ">
            <a:extLst>
              <a:ext uri="{FF2B5EF4-FFF2-40B4-BE49-F238E27FC236}">
                <a16:creationId xmlns:a16="http://schemas.microsoft.com/office/drawing/2014/main" id="{F8E672AF-DC63-D44E-A834-EB1FEAAC3A8D}"/>
              </a:ext>
            </a:extLst>
          </p:cNvPr>
          <p:cNvPicPr>
            <a:picLocks noGrp="1" noChangeAspect="1"/>
          </p:cNvPicPr>
          <p:nvPr>
            <p:ph sz="quarter" idx="4"/>
          </p:nvPr>
        </p:nvPicPr>
        <p:blipFill>
          <a:blip r:embed="rId2"/>
          <a:stretch>
            <a:fillRect/>
          </a:stretch>
        </p:blipFill>
        <p:spPr>
          <a:xfrm>
            <a:off x="7210696" y="2454296"/>
            <a:ext cx="3030584" cy="2872467"/>
          </a:xfrm>
          <a:prstGeom prst="rect">
            <a:avLst/>
          </a:prstGeom>
        </p:spPr>
      </p:pic>
      <p:sp>
        <p:nvSpPr>
          <p:cNvPr id="4" name="Slide Number Placeholder 3">
            <a:extLst>
              <a:ext uri="{FF2B5EF4-FFF2-40B4-BE49-F238E27FC236}">
                <a16:creationId xmlns:a16="http://schemas.microsoft.com/office/drawing/2014/main" id="{1BB0FCF3-4B4C-D542-83B1-C5E74F43A3AE}"/>
              </a:ext>
            </a:extLst>
          </p:cNvPr>
          <p:cNvSpPr>
            <a:spLocks noGrp="1"/>
          </p:cNvSpPr>
          <p:nvPr>
            <p:ph type="sldNum" sz="quarter" idx="12"/>
          </p:nvPr>
        </p:nvSpPr>
        <p:spPr/>
        <p:txBody>
          <a:bodyPr/>
          <a:lstStyle/>
          <a:p>
            <a:pPr>
              <a:defRPr/>
            </a:pPr>
            <a:fld id="{BB5B94E0-5E06-6D42-A41D-50D581B40900}" type="slidenum">
              <a:rPr lang="en-US" smtClean="0"/>
              <a:pPr>
                <a:defRPr/>
              </a:pPr>
              <a:t>24</a:t>
            </a:fld>
            <a:endParaRPr lang="en-US"/>
          </a:p>
        </p:txBody>
      </p:sp>
    </p:spTree>
    <p:extLst>
      <p:ext uri="{BB962C8B-B14F-4D97-AF65-F5344CB8AC3E}">
        <p14:creationId xmlns:p14="http://schemas.microsoft.com/office/powerpoint/2010/main" val="3549101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0B25EB7-0A4E-CD4F-B6F7-AC217630F3D4}"/>
              </a:ext>
            </a:extLst>
          </p:cNvPr>
          <p:cNvSpPr>
            <a:spLocks noGrp="1"/>
          </p:cNvSpPr>
          <p:nvPr>
            <p:ph sz="half" idx="2"/>
          </p:nvPr>
        </p:nvSpPr>
        <p:spPr>
          <a:xfrm>
            <a:off x="609600" y="2174875"/>
            <a:ext cx="5770179" cy="3951288"/>
          </a:xfrm>
        </p:spPr>
        <p:txBody>
          <a:bodyPr/>
          <a:lstStyle/>
          <a:p>
            <a:r>
              <a:rPr lang="en-US" sz="1800" b="1" dirty="0"/>
              <a:t>Fission product attack</a:t>
            </a:r>
          </a:p>
          <a:p>
            <a:endParaRPr lang="en-US" sz="1800" dirty="0"/>
          </a:p>
          <a:p>
            <a:r>
              <a:rPr lang="en-US" sz="1800" dirty="0"/>
              <a:t>Fission products can be transported from the kernel to the inner surface of the </a:t>
            </a:r>
            <a:r>
              <a:rPr lang="en-US" sz="1800" dirty="0" err="1"/>
              <a:t>SiC</a:t>
            </a:r>
            <a:r>
              <a:rPr lang="en-US" sz="1800" dirty="0"/>
              <a:t> where they interact and can damage and potentially fail the </a:t>
            </a:r>
            <a:r>
              <a:rPr lang="en-US" sz="1800" dirty="0" err="1"/>
              <a:t>SiC</a:t>
            </a:r>
            <a:r>
              <a:rPr lang="en-US" sz="1800" dirty="0"/>
              <a:t> layer</a:t>
            </a:r>
          </a:p>
          <a:p>
            <a:r>
              <a:rPr lang="en-US" sz="1800" dirty="0"/>
              <a:t>Bigger issue in UC kernels</a:t>
            </a:r>
          </a:p>
          <a:p>
            <a:r>
              <a:rPr lang="en-US" sz="1800" dirty="0"/>
              <a:t>In UCO kernels, the </a:t>
            </a:r>
            <a:r>
              <a:rPr lang="en-US" sz="1800" dirty="0" err="1"/>
              <a:t>oxycarbide</a:t>
            </a:r>
            <a:r>
              <a:rPr lang="en-US" sz="1800" dirty="0"/>
              <a:t> form of the kernel generally ties up all but the noble fission products (e.g., </a:t>
            </a:r>
            <a:r>
              <a:rPr lang="en-US" sz="1800" dirty="0" err="1"/>
              <a:t>Pd</a:t>
            </a:r>
            <a:r>
              <a:rPr lang="en-US" sz="1800" dirty="0"/>
              <a:t>) as either carbides or oxides, which tend to limit their mobility in the UCO system</a:t>
            </a:r>
          </a:p>
          <a:p>
            <a:r>
              <a:rPr lang="en-US" sz="1800" dirty="0"/>
              <a:t>However, </a:t>
            </a:r>
            <a:r>
              <a:rPr lang="en-US" sz="1800" dirty="0" err="1"/>
              <a:t>Pd</a:t>
            </a:r>
            <a:r>
              <a:rPr lang="en-US" sz="1800" dirty="0"/>
              <a:t> and Ag transport have still been observed in UCO coated particle fuel</a:t>
            </a:r>
          </a:p>
          <a:p>
            <a:endParaRPr lang="en-US" sz="1800" dirty="0"/>
          </a:p>
        </p:txBody>
      </p:sp>
      <p:pic>
        <p:nvPicPr>
          <p:cNvPr id="5" name="Content Placeholder 4" descr="Corrosion of the SiC layer due to fission products. ">
            <a:extLst>
              <a:ext uri="{FF2B5EF4-FFF2-40B4-BE49-F238E27FC236}">
                <a16:creationId xmlns:a16="http://schemas.microsoft.com/office/drawing/2014/main" id="{B8260C2C-8161-EA44-A946-BF441B273DBD}"/>
              </a:ext>
            </a:extLst>
          </p:cNvPr>
          <p:cNvPicPr>
            <a:picLocks noGrp="1" noChangeAspect="1"/>
          </p:cNvPicPr>
          <p:nvPr>
            <p:ph sz="quarter" idx="4"/>
          </p:nvPr>
        </p:nvPicPr>
        <p:blipFill>
          <a:blip r:embed="rId2"/>
          <a:stretch>
            <a:fillRect/>
          </a:stretch>
        </p:blipFill>
        <p:spPr>
          <a:xfrm>
            <a:off x="7281964" y="2527974"/>
            <a:ext cx="2690373" cy="3245089"/>
          </a:xfrm>
          <a:prstGeom prst="rect">
            <a:avLst/>
          </a:prstGeom>
        </p:spPr>
      </p:pic>
      <p:sp>
        <p:nvSpPr>
          <p:cNvPr id="4" name="Slide Number Placeholder 3">
            <a:extLst>
              <a:ext uri="{FF2B5EF4-FFF2-40B4-BE49-F238E27FC236}">
                <a16:creationId xmlns:a16="http://schemas.microsoft.com/office/drawing/2014/main" id="{DF451ABA-EFF5-9E42-B712-2213D210CB35}"/>
              </a:ext>
            </a:extLst>
          </p:cNvPr>
          <p:cNvSpPr>
            <a:spLocks noGrp="1"/>
          </p:cNvSpPr>
          <p:nvPr>
            <p:ph type="sldNum" sz="quarter" idx="12"/>
          </p:nvPr>
        </p:nvSpPr>
        <p:spPr/>
        <p:txBody>
          <a:bodyPr/>
          <a:lstStyle/>
          <a:p>
            <a:pPr>
              <a:defRPr/>
            </a:pPr>
            <a:fld id="{BB5B94E0-5E06-6D42-A41D-50D581B40900}" type="slidenum">
              <a:rPr lang="en-US" smtClean="0"/>
              <a:pPr>
                <a:defRPr/>
              </a:pPr>
              <a:t>25</a:t>
            </a:fld>
            <a:endParaRPr lang="en-US"/>
          </a:p>
        </p:txBody>
      </p:sp>
    </p:spTree>
    <p:extLst>
      <p:ext uri="{BB962C8B-B14F-4D97-AF65-F5344CB8AC3E}">
        <p14:creationId xmlns:p14="http://schemas.microsoft.com/office/powerpoint/2010/main" val="157138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0B25EB7-0A4E-CD4F-B6F7-AC217630F3D4}"/>
              </a:ext>
            </a:extLst>
          </p:cNvPr>
          <p:cNvSpPr>
            <a:spLocks noGrp="1"/>
          </p:cNvSpPr>
          <p:nvPr>
            <p:ph sz="half" idx="2"/>
          </p:nvPr>
        </p:nvSpPr>
        <p:spPr/>
        <p:txBody>
          <a:bodyPr/>
          <a:lstStyle/>
          <a:p>
            <a:r>
              <a:rPr lang="en-US" sz="1800" b="1" dirty="0"/>
              <a:t>Matrix-</a:t>
            </a:r>
            <a:r>
              <a:rPr lang="en-US" sz="1800" b="1" dirty="0" err="1"/>
              <a:t>OPyC</a:t>
            </a:r>
            <a:r>
              <a:rPr lang="en-US" sz="1800" b="1" dirty="0"/>
              <a:t> interactions and </a:t>
            </a:r>
            <a:r>
              <a:rPr lang="en-US" sz="1800" b="1" dirty="0" err="1"/>
              <a:t>OPyC</a:t>
            </a:r>
            <a:r>
              <a:rPr lang="en-US" sz="1800" b="1" dirty="0"/>
              <a:t> irradiation-induced cracking</a:t>
            </a:r>
          </a:p>
          <a:p>
            <a:endParaRPr lang="en-US" sz="1800" dirty="0"/>
          </a:p>
          <a:p>
            <a:r>
              <a:rPr lang="en-US" sz="1800" dirty="0"/>
              <a:t>During manufacture, infiltration of the liquid graphitic matrix into the porosity of </a:t>
            </a:r>
            <a:r>
              <a:rPr lang="en-US" sz="1800" dirty="0" err="1"/>
              <a:t>OPyC</a:t>
            </a:r>
            <a:r>
              <a:rPr lang="en-US" sz="1800" dirty="0"/>
              <a:t> caused mechanical weakening </a:t>
            </a:r>
          </a:p>
          <a:p>
            <a:r>
              <a:rPr lang="en-US" sz="1800" dirty="0"/>
              <a:t>During subsequent dimensional change under irradiation this caused </a:t>
            </a:r>
            <a:r>
              <a:rPr lang="en-US" sz="1800" dirty="0" err="1"/>
              <a:t>OPyC</a:t>
            </a:r>
            <a:r>
              <a:rPr lang="en-US" sz="1800" dirty="0"/>
              <a:t> layer to fail by cracking and debonding from the </a:t>
            </a:r>
            <a:r>
              <a:rPr lang="en-US" sz="1800" dirty="0" err="1"/>
              <a:t>SiC</a:t>
            </a:r>
            <a:r>
              <a:rPr lang="en-US" sz="1800" dirty="0"/>
              <a:t> layer</a:t>
            </a:r>
          </a:p>
          <a:p>
            <a:r>
              <a:rPr lang="en-US" sz="1800" dirty="0"/>
              <a:t>This has largely been addressed through specifications on the matrix material and on the microstructure of the </a:t>
            </a:r>
            <a:r>
              <a:rPr lang="en-US" sz="1800" dirty="0" err="1"/>
              <a:t>OPyC</a:t>
            </a:r>
            <a:endParaRPr lang="en-US" sz="1800" dirty="0"/>
          </a:p>
          <a:p>
            <a:endParaRPr lang="en-US" sz="1800" dirty="0"/>
          </a:p>
        </p:txBody>
      </p:sp>
      <p:sp>
        <p:nvSpPr>
          <p:cNvPr id="4" name="Content Placeholder 3">
            <a:extLst>
              <a:ext uri="{FF2B5EF4-FFF2-40B4-BE49-F238E27FC236}">
                <a16:creationId xmlns:a16="http://schemas.microsoft.com/office/drawing/2014/main" id="{F621EDB2-9AF0-7940-A227-F302492C2605}"/>
              </a:ext>
            </a:extLst>
          </p:cNvPr>
          <p:cNvSpPr>
            <a:spLocks noGrp="1"/>
          </p:cNvSpPr>
          <p:nvPr>
            <p:ph sz="quarter" idx="4"/>
          </p:nvPr>
        </p:nvSpPr>
        <p:spPr/>
        <p:txBody>
          <a:bodyPr/>
          <a:lstStyle/>
          <a:p>
            <a:r>
              <a:rPr lang="en-US" sz="1800" b="1" dirty="0"/>
              <a:t>Non-retentive </a:t>
            </a:r>
            <a:r>
              <a:rPr lang="en-US" sz="1800" b="1" dirty="0" err="1"/>
              <a:t>SiC</a:t>
            </a:r>
            <a:endParaRPr lang="en-US" sz="1800" b="1" dirty="0"/>
          </a:p>
          <a:p>
            <a:endParaRPr lang="en-US" sz="1800" dirty="0"/>
          </a:p>
          <a:p>
            <a:r>
              <a:rPr lang="en-US" sz="1800" dirty="0"/>
              <a:t>There are situations where the </a:t>
            </a:r>
            <a:r>
              <a:rPr lang="en-US" sz="1800" dirty="0" err="1"/>
              <a:t>SiC</a:t>
            </a:r>
            <a:r>
              <a:rPr lang="en-US" sz="1800" dirty="0"/>
              <a:t> layer becomes functionally failed or degraded in some way and is no longer retentive of fission products</a:t>
            </a:r>
          </a:p>
          <a:p>
            <a:r>
              <a:rPr lang="en-US" sz="1800" dirty="0"/>
              <a:t>Diffusive release through intact layers</a:t>
            </a:r>
          </a:p>
          <a:p>
            <a:pPr lvl="1"/>
            <a:r>
              <a:rPr lang="en-US" sz="1300" dirty="0"/>
              <a:t>If fuel temperatures during normal operation approach 1300C, then some of the fission products that are usually retained by the TRISO coating (e.g., cesium) will be able to diffuse out of the particle during normal operation</a:t>
            </a:r>
          </a:p>
          <a:p>
            <a:r>
              <a:rPr lang="en-US" sz="1800" dirty="0" err="1"/>
              <a:t>SiC</a:t>
            </a:r>
            <a:r>
              <a:rPr lang="en-US" sz="1800" dirty="0"/>
              <a:t> degradation resulting in permeability</a:t>
            </a:r>
          </a:p>
          <a:p>
            <a:pPr lvl="1"/>
            <a:r>
              <a:rPr lang="en-US" sz="1300" dirty="0"/>
              <a:t>Cesium attack of the </a:t>
            </a:r>
            <a:r>
              <a:rPr lang="en-US" sz="1300" dirty="0" err="1"/>
              <a:t>SiC</a:t>
            </a:r>
            <a:r>
              <a:rPr lang="en-US" sz="1300" dirty="0"/>
              <a:t> and/or CO corrosion of the </a:t>
            </a:r>
            <a:r>
              <a:rPr lang="en-US" sz="1300" dirty="0" err="1"/>
              <a:t>SiC</a:t>
            </a:r>
            <a:r>
              <a:rPr lang="en-US" sz="1300" dirty="0"/>
              <a:t> can allow fission products to be released at high burnup</a:t>
            </a:r>
          </a:p>
          <a:p>
            <a:pPr lvl="1"/>
            <a:endParaRPr lang="en-US" sz="1267" dirty="0"/>
          </a:p>
          <a:p>
            <a:endParaRPr lang="en-US" sz="1800" dirty="0"/>
          </a:p>
        </p:txBody>
      </p:sp>
      <p:sp>
        <p:nvSpPr>
          <p:cNvPr id="5" name="Slide Number Placeholder 4">
            <a:extLst>
              <a:ext uri="{FF2B5EF4-FFF2-40B4-BE49-F238E27FC236}">
                <a16:creationId xmlns:a16="http://schemas.microsoft.com/office/drawing/2014/main" id="{E696E9B5-B51E-1041-8557-2FAEE88F01DE}"/>
              </a:ext>
            </a:extLst>
          </p:cNvPr>
          <p:cNvSpPr>
            <a:spLocks noGrp="1"/>
          </p:cNvSpPr>
          <p:nvPr>
            <p:ph type="sldNum" sz="quarter" idx="12"/>
          </p:nvPr>
        </p:nvSpPr>
        <p:spPr/>
        <p:txBody>
          <a:bodyPr/>
          <a:lstStyle/>
          <a:p>
            <a:pPr>
              <a:defRPr/>
            </a:pPr>
            <a:fld id="{BB5B94E0-5E06-6D42-A41D-50D581B40900}" type="slidenum">
              <a:rPr lang="en-US" smtClean="0"/>
              <a:pPr>
                <a:defRPr/>
              </a:pPr>
              <a:t>26</a:t>
            </a:fld>
            <a:endParaRPr lang="en-US"/>
          </a:p>
        </p:txBody>
      </p:sp>
    </p:spTree>
    <p:extLst>
      <p:ext uri="{BB962C8B-B14F-4D97-AF65-F5344CB8AC3E}">
        <p14:creationId xmlns:p14="http://schemas.microsoft.com/office/powerpoint/2010/main" val="1753777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0B25EB7-0A4E-CD4F-B6F7-AC217630F3D4}"/>
              </a:ext>
            </a:extLst>
          </p:cNvPr>
          <p:cNvSpPr>
            <a:spLocks noGrp="1"/>
          </p:cNvSpPr>
          <p:nvPr>
            <p:ph sz="half" idx="2"/>
          </p:nvPr>
        </p:nvSpPr>
        <p:spPr/>
        <p:txBody>
          <a:bodyPr/>
          <a:lstStyle/>
          <a:p>
            <a:r>
              <a:rPr lang="en-US" sz="1800" b="1" dirty="0"/>
              <a:t>Creep failure of </a:t>
            </a:r>
            <a:r>
              <a:rPr lang="en-US" sz="1800" b="1" dirty="0" err="1"/>
              <a:t>PyC</a:t>
            </a:r>
            <a:endParaRPr lang="en-US" sz="1800" b="1" dirty="0"/>
          </a:p>
          <a:p>
            <a:endParaRPr lang="en-US" sz="1800" dirty="0"/>
          </a:p>
          <a:p>
            <a:r>
              <a:rPr lang="en-US" sz="1800" dirty="0"/>
              <a:t>Under stress, thermal creep of the </a:t>
            </a:r>
            <a:r>
              <a:rPr lang="en-US" sz="1800" dirty="0" err="1"/>
              <a:t>PyC</a:t>
            </a:r>
            <a:r>
              <a:rPr lang="en-US" sz="1800" dirty="0"/>
              <a:t> will occur</a:t>
            </a:r>
          </a:p>
          <a:p>
            <a:r>
              <a:rPr lang="en-US" sz="1800" dirty="0"/>
              <a:t>In some post-irradiation heating tests, photomicrographs reveal a thinning and failure of the </a:t>
            </a:r>
            <a:r>
              <a:rPr lang="en-US" sz="1800" dirty="0" err="1"/>
              <a:t>PyC</a:t>
            </a:r>
            <a:endParaRPr lang="en-US" sz="1800" dirty="0"/>
          </a:p>
          <a:p>
            <a:r>
              <a:rPr lang="en-US" sz="1800" dirty="0"/>
              <a:t>Such failure has not led to failure of the </a:t>
            </a:r>
            <a:r>
              <a:rPr lang="en-US" sz="1800" dirty="0" err="1"/>
              <a:t>SiC</a:t>
            </a:r>
            <a:r>
              <a:rPr lang="en-US" sz="1800" dirty="0"/>
              <a:t> layer</a:t>
            </a:r>
          </a:p>
          <a:p>
            <a:endParaRPr lang="en-US" sz="1800" dirty="0"/>
          </a:p>
          <a:p>
            <a:endParaRPr lang="en-US" sz="1800" dirty="0"/>
          </a:p>
        </p:txBody>
      </p:sp>
      <p:sp>
        <p:nvSpPr>
          <p:cNvPr id="4" name="Content Placeholder 3">
            <a:extLst>
              <a:ext uri="{FF2B5EF4-FFF2-40B4-BE49-F238E27FC236}">
                <a16:creationId xmlns:a16="http://schemas.microsoft.com/office/drawing/2014/main" id="{F621EDB2-9AF0-7940-A227-F302492C2605}"/>
              </a:ext>
            </a:extLst>
          </p:cNvPr>
          <p:cNvSpPr>
            <a:spLocks noGrp="1"/>
          </p:cNvSpPr>
          <p:nvPr>
            <p:ph sz="quarter" idx="4"/>
          </p:nvPr>
        </p:nvSpPr>
        <p:spPr/>
        <p:txBody>
          <a:bodyPr/>
          <a:lstStyle/>
          <a:p>
            <a:r>
              <a:rPr lang="en-US" sz="1800" b="1" dirty="0" err="1"/>
              <a:t>SiC</a:t>
            </a:r>
            <a:r>
              <a:rPr lang="en-US" sz="1800" b="1" dirty="0"/>
              <a:t> thermal decomposition</a:t>
            </a:r>
          </a:p>
          <a:p>
            <a:endParaRPr lang="en-US" sz="1800" dirty="0"/>
          </a:p>
          <a:p>
            <a:r>
              <a:rPr lang="en-US" sz="1800" dirty="0"/>
              <a:t>At very high temperatures (&gt; 2000C) the </a:t>
            </a:r>
            <a:r>
              <a:rPr lang="en-US" sz="1800" dirty="0" err="1"/>
              <a:t>SiC</a:t>
            </a:r>
            <a:r>
              <a:rPr lang="en-US" sz="1800" dirty="0"/>
              <a:t> layer undergoes thermal decomposition</a:t>
            </a:r>
          </a:p>
          <a:p>
            <a:r>
              <a:rPr lang="en-US" sz="1800" dirty="0"/>
              <a:t>The phenomenon is primarily a function of temperature and time and has not played a major role in fuel failure at lower accident temperatures</a:t>
            </a:r>
          </a:p>
          <a:p>
            <a:endParaRPr lang="en-US" sz="1800" dirty="0"/>
          </a:p>
          <a:p>
            <a:endParaRPr lang="en-US" sz="1800" dirty="0"/>
          </a:p>
        </p:txBody>
      </p:sp>
      <p:sp>
        <p:nvSpPr>
          <p:cNvPr id="5" name="Slide Number Placeholder 4">
            <a:extLst>
              <a:ext uri="{FF2B5EF4-FFF2-40B4-BE49-F238E27FC236}">
                <a16:creationId xmlns:a16="http://schemas.microsoft.com/office/drawing/2014/main" id="{4BEF67DF-7159-4E47-BFBB-A4948B4228A5}"/>
              </a:ext>
            </a:extLst>
          </p:cNvPr>
          <p:cNvSpPr>
            <a:spLocks noGrp="1"/>
          </p:cNvSpPr>
          <p:nvPr>
            <p:ph type="sldNum" sz="quarter" idx="12"/>
          </p:nvPr>
        </p:nvSpPr>
        <p:spPr/>
        <p:txBody>
          <a:bodyPr/>
          <a:lstStyle/>
          <a:p>
            <a:pPr>
              <a:defRPr/>
            </a:pPr>
            <a:fld id="{BB5B94E0-5E06-6D42-A41D-50D581B40900}" type="slidenum">
              <a:rPr lang="en-US" smtClean="0"/>
              <a:pPr>
                <a:defRPr/>
              </a:pPr>
              <a:t>27</a:t>
            </a:fld>
            <a:endParaRPr lang="en-US"/>
          </a:p>
        </p:txBody>
      </p:sp>
    </p:spTree>
    <p:extLst>
      <p:ext uri="{BB962C8B-B14F-4D97-AF65-F5344CB8AC3E}">
        <p14:creationId xmlns:p14="http://schemas.microsoft.com/office/powerpoint/2010/main" val="281330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0B25EB7-0A4E-CD4F-B6F7-AC217630F3D4}"/>
              </a:ext>
            </a:extLst>
          </p:cNvPr>
          <p:cNvSpPr>
            <a:spLocks noGrp="1"/>
          </p:cNvSpPr>
          <p:nvPr>
            <p:ph sz="half" idx="2"/>
          </p:nvPr>
        </p:nvSpPr>
        <p:spPr>
          <a:xfrm>
            <a:off x="609600" y="2174875"/>
            <a:ext cx="5906814" cy="3951288"/>
          </a:xfrm>
        </p:spPr>
        <p:txBody>
          <a:bodyPr/>
          <a:lstStyle/>
          <a:p>
            <a:r>
              <a:rPr lang="en-US" sz="1800" b="1" dirty="0"/>
              <a:t>Kernel-coating mechanical interaction (KCMI)</a:t>
            </a:r>
          </a:p>
          <a:p>
            <a:endParaRPr lang="en-US" sz="1800" dirty="0"/>
          </a:p>
          <a:p>
            <a:r>
              <a:rPr lang="en-US" sz="1800" dirty="0"/>
              <a:t>At sufficiently high burn-up values, it is inevitable that all gas gaps between the kernel and coatings will close, thereby resulting in a mechanical interaction between the two</a:t>
            </a:r>
          </a:p>
          <a:p>
            <a:r>
              <a:rPr lang="en-US" sz="1800" dirty="0"/>
              <a:t>Modelling studies predict that the </a:t>
            </a:r>
            <a:r>
              <a:rPr lang="en-US" sz="1800" dirty="0" err="1"/>
              <a:t>SiC</a:t>
            </a:r>
            <a:r>
              <a:rPr lang="en-US" sz="1800" dirty="0"/>
              <a:t> layer will fail shortly after the onset of KCMI</a:t>
            </a:r>
          </a:p>
          <a:p>
            <a:r>
              <a:rPr lang="en-US" sz="1800" dirty="0"/>
              <a:t>This failure mechanism could be of increasing importance as attempts are made to achieve higher burn-up values</a:t>
            </a:r>
          </a:p>
          <a:p>
            <a:endParaRPr lang="en-US" sz="1800" dirty="0"/>
          </a:p>
          <a:p>
            <a:endParaRPr lang="en-US" sz="1800" dirty="0"/>
          </a:p>
          <a:p>
            <a:endParaRPr lang="en-US" sz="1800" dirty="0"/>
          </a:p>
          <a:p>
            <a:endParaRPr lang="en-US" sz="1800" dirty="0"/>
          </a:p>
        </p:txBody>
      </p:sp>
      <p:sp>
        <p:nvSpPr>
          <p:cNvPr id="5" name="Slide Number Placeholder 4">
            <a:extLst>
              <a:ext uri="{FF2B5EF4-FFF2-40B4-BE49-F238E27FC236}">
                <a16:creationId xmlns:a16="http://schemas.microsoft.com/office/drawing/2014/main" id="{1BB65A53-065E-644F-91A0-FC11F0AABD73}"/>
              </a:ext>
            </a:extLst>
          </p:cNvPr>
          <p:cNvSpPr>
            <a:spLocks noGrp="1"/>
          </p:cNvSpPr>
          <p:nvPr>
            <p:ph type="sldNum" sz="quarter" idx="12"/>
          </p:nvPr>
        </p:nvSpPr>
        <p:spPr/>
        <p:txBody>
          <a:bodyPr/>
          <a:lstStyle/>
          <a:p>
            <a:pPr>
              <a:defRPr/>
            </a:pPr>
            <a:fld id="{BB5B94E0-5E06-6D42-A41D-50D581B40900}" type="slidenum">
              <a:rPr lang="en-US" smtClean="0"/>
              <a:pPr>
                <a:defRPr/>
              </a:pPr>
              <a:t>28</a:t>
            </a:fld>
            <a:endParaRPr lang="en-US"/>
          </a:p>
        </p:txBody>
      </p:sp>
    </p:spTree>
    <p:extLst>
      <p:ext uri="{BB962C8B-B14F-4D97-AF65-F5344CB8AC3E}">
        <p14:creationId xmlns:p14="http://schemas.microsoft.com/office/powerpoint/2010/main" val="1772908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Mechanisms</a:t>
            </a:r>
          </a:p>
        </p:txBody>
      </p:sp>
      <p:sp>
        <p:nvSpPr>
          <p:cNvPr id="3" name="Content Placeholder 2">
            <a:extLst>
              <a:ext uri="{FF2B5EF4-FFF2-40B4-BE49-F238E27FC236}">
                <a16:creationId xmlns:a16="http://schemas.microsoft.com/office/drawing/2014/main" id="{B0B25EB7-0A4E-CD4F-B6F7-AC217630F3D4}"/>
              </a:ext>
              <a:ext uri="{C183D7F6-B498-43B3-948B-1728B52AA6E4}">
                <adec:decorative xmlns:adec="http://schemas.microsoft.com/office/drawing/2017/decorative" val="1"/>
              </a:ext>
            </a:extLst>
          </p:cNvPr>
          <p:cNvSpPr>
            <a:spLocks noGrp="1"/>
          </p:cNvSpPr>
          <p:nvPr>
            <p:ph sz="half" idx="2"/>
          </p:nvPr>
        </p:nvSpPr>
        <p:spPr/>
        <p:txBody>
          <a:bodyPr/>
          <a:lstStyle/>
          <a:p>
            <a:endParaRPr lang="en-US" dirty="0"/>
          </a:p>
          <a:p>
            <a:endParaRPr lang="en-US" dirty="0"/>
          </a:p>
        </p:txBody>
      </p:sp>
      <p:pic>
        <p:nvPicPr>
          <p:cNvPr id="5" name="Picture 4">
            <a:extLst>
              <a:ext uri="{FF2B5EF4-FFF2-40B4-BE49-F238E27FC236}">
                <a16:creationId xmlns:a16="http://schemas.microsoft.com/office/drawing/2014/main" id="{57706E55-AE55-D84C-961F-7CBFE6D61E09}"/>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41637" y="1796527"/>
            <a:ext cx="4754880" cy="4967348"/>
          </a:xfrm>
          <a:prstGeom prst="rect">
            <a:avLst/>
          </a:prstGeom>
        </p:spPr>
      </p:pic>
      <p:pic>
        <p:nvPicPr>
          <p:cNvPr id="6" name="Picture 5">
            <a:extLst>
              <a:ext uri="{FF2B5EF4-FFF2-40B4-BE49-F238E27FC236}">
                <a16:creationId xmlns:a16="http://schemas.microsoft.com/office/drawing/2014/main" id="{920591A5-F9DF-FF42-B634-D88D95C2F7DF}"/>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12020" y="2174875"/>
            <a:ext cx="4754880" cy="2990626"/>
          </a:xfrm>
          <a:prstGeom prst="rect">
            <a:avLst/>
          </a:prstGeom>
        </p:spPr>
      </p:pic>
      <p:sp>
        <p:nvSpPr>
          <p:cNvPr id="4" name="Slide Number Placeholder 3">
            <a:extLst>
              <a:ext uri="{FF2B5EF4-FFF2-40B4-BE49-F238E27FC236}">
                <a16:creationId xmlns:a16="http://schemas.microsoft.com/office/drawing/2014/main" id="{1A3003A0-2E30-CF44-9A30-3AF5FD187DD5}"/>
              </a:ext>
            </a:extLst>
          </p:cNvPr>
          <p:cNvSpPr>
            <a:spLocks noGrp="1"/>
          </p:cNvSpPr>
          <p:nvPr>
            <p:ph type="sldNum" sz="quarter" idx="12"/>
          </p:nvPr>
        </p:nvSpPr>
        <p:spPr/>
        <p:txBody>
          <a:bodyPr/>
          <a:lstStyle/>
          <a:p>
            <a:pPr>
              <a:defRPr/>
            </a:pPr>
            <a:fld id="{BB5B94E0-5E06-6D42-A41D-50D581B40900}" type="slidenum">
              <a:rPr lang="en-US" smtClean="0"/>
              <a:pPr>
                <a:defRPr/>
              </a:pPr>
              <a:t>29</a:t>
            </a:fld>
            <a:endParaRPr lang="en-US"/>
          </a:p>
        </p:txBody>
      </p:sp>
    </p:spTree>
    <p:extLst>
      <p:ext uri="{BB962C8B-B14F-4D97-AF65-F5344CB8AC3E}">
        <p14:creationId xmlns:p14="http://schemas.microsoft.com/office/powerpoint/2010/main" val="3608418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8CAE-34A1-6544-83BF-48DA2D46D245}"/>
              </a:ext>
            </a:extLst>
          </p:cNvPr>
          <p:cNvSpPr>
            <a:spLocks noGrp="1"/>
          </p:cNvSpPr>
          <p:nvPr>
            <p:ph type="title"/>
          </p:nvPr>
        </p:nvSpPr>
        <p:spPr/>
        <p:txBody>
          <a:bodyPr/>
          <a:lstStyle/>
          <a:p>
            <a:r>
              <a:rPr lang="en-US" dirty="0"/>
              <a:t>Fuel Failure Summary</a:t>
            </a:r>
          </a:p>
        </p:txBody>
      </p:sp>
      <p:sp>
        <p:nvSpPr>
          <p:cNvPr id="7" name="Content Placeholder 2">
            <a:extLst>
              <a:ext uri="{FF2B5EF4-FFF2-40B4-BE49-F238E27FC236}">
                <a16:creationId xmlns:a16="http://schemas.microsoft.com/office/drawing/2014/main" id="{FBD07ADF-ED5D-0940-BB31-36EB711D49BF}"/>
              </a:ext>
            </a:extLst>
          </p:cNvPr>
          <p:cNvSpPr txBox="1">
            <a:spLocks/>
          </p:cNvSpPr>
          <p:nvPr/>
        </p:nvSpPr>
        <p:spPr bwMode="auto">
          <a:xfrm>
            <a:off x="762000" y="2327275"/>
            <a:ext cx="5386917" cy="3951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133"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1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133"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133"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133"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133" kern="1200">
                <a:solidFill>
                  <a:schemeClr val="tx1"/>
                </a:solidFill>
                <a:latin typeface="+mn-lt"/>
                <a:ea typeface="+mn-ea"/>
                <a:cs typeface="+mn-cs"/>
              </a:defRPr>
            </a:lvl9pPr>
          </a:lstStyle>
          <a:p>
            <a:r>
              <a:rPr lang="en-US" sz="2400" dirty="0"/>
              <a:t>Overpressure</a:t>
            </a:r>
          </a:p>
          <a:p>
            <a:r>
              <a:rPr lang="en-US" sz="2400" dirty="0" err="1"/>
              <a:t>IPyC</a:t>
            </a:r>
            <a:r>
              <a:rPr lang="en-US" sz="2400" dirty="0"/>
              <a:t> cracking</a:t>
            </a:r>
          </a:p>
          <a:p>
            <a:r>
              <a:rPr lang="en-US" sz="2400" dirty="0" err="1"/>
              <a:t>IPyC</a:t>
            </a:r>
            <a:r>
              <a:rPr lang="en-US" sz="2400" dirty="0"/>
              <a:t> and </a:t>
            </a:r>
            <a:r>
              <a:rPr lang="en-US" sz="2400" dirty="0" err="1"/>
              <a:t>SiC</a:t>
            </a:r>
            <a:r>
              <a:rPr lang="en-US" sz="2400" dirty="0"/>
              <a:t> debonding</a:t>
            </a:r>
          </a:p>
          <a:p>
            <a:r>
              <a:rPr lang="en-US" sz="2400" dirty="0"/>
              <a:t>Kernel migration</a:t>
            </a:r>
          </a:p>
          <a:p>
            <a:r>
              <a:rPr lang="en-US" sz="2400" dirty="0"/>
              <a:t>Fission product attack</a:t>
            </a:r>
          </a:p>
          <a:p>
            <a:r>
              <a:rPr lang="en-US" sz="2400" dirty="0"/>
              <a:t>Creep failure of </a:t>
            </a:r>
            <a:r>
              <a:rPr lang="en-US" sz="2400" dirty="0" err="1"/>
              <a:t>PyC</a:t>
            </a:r>
            <a:endParaRPr lang="en-US" sz="2400" dirty="0"/>
          </a:p>
          <a:p>
            <a:r>
              <a:rPr lang="en-US" sz="2400" dirty="0" err="1"/>
              <a:t>SiC</a:t>
            </a:r>
            <a:r>
              <a:rPr lang="en-US" sz="2400" dirty="0"/>
              <a:t> decomposition</a:t>
            </a:r>
          </a:p>
          <a:p>
            <a:r>
              <a:rPr lang="en-US" sz="2400" dirty="0"/>
              <a:t>KCMI</a:t>
            </a:r>
          </a:p>
          <a:p>
            <a:endParaRPr lang="en-US" sz="2400" dirty="0"/>
          </a:p>
          <a:p>
            <a:endParaRPr lang="en-US" sz="2400" dirty="0"/>
          </a:p>
        </p:txBody>
      </p:sp>
      <p:sp>
        <p:nvSpPr>
          <p:cNvPr id="4" name="Slide Number Placeholder 3">
            <a:extLst>
              <a:ext uri="{FF2B5EF4-FFF2-40B4-BE49-F238E27FC236}">
                <a16:creationId xmlns:a16="http://schemas.microsoft.com/office/drawing/2014/main" id="{BB353308-2869-2742-B4D5-E119763B794B}"/>
              </a:ext>
            </a:extLst>
          </p:cNvPr>
          <p:cNvSpPr>
            <a:spLocks noGrp="1"/>
          </p:cNvSpPr>
          <p:nvPr>
            <p:ph type="sldNum" sz="quarter" idx="12"/>
          </p:nvPr>
        </p:nvSpPr>
        <p:spPr/>
        <p:txBody>
          <a:bodyPr/>
          <a:lstStyle/>
          <a:p>
            <a:pPr>
              <a:defRPr/>
            </a:pPr>
            <a:fld id="{BB5B94E0-5E06-6D42-A41D-50D581B40900}" type="slidenum">
              <a:rPr lang="en-US" smtClean="0"/>
              <a:pPr>
                <a:defRPr/>
              </a:pPr>
              <a:t>30</a:t>
            </a:fld>
            <a:endParaRPr lang="en-US" dirty="0"/>
          </a:p>
        </p:txBody>
      </p:sp>
      <p:sp>
        <p:nvSpPr>
          <p:cNvPr id="6" name="Content Placeholder 2">
            <a:extLst>
              <a:ext uri="{FF2B5EF4-FFF2-40B4-BE49-F238E27FC236}">
                <a16:creationId xmlns:a16="http://schemas.microsoft.com/office/drawing/2014/main" id="{1CEBC24E-B62D-4B42-AF31-FA4801FD4B54}"/>
              </a:ext>
            </a:extLst>
          </p:cNvPr>
          <p:cNvSpPr txBox="1">
            <a:spLocks/>
          </p:cNvSpPr>
          <p:nvPr/>
        </p:nvSpPr>
        <p:spPr bwMode="auto">
          <a:xfrm>
            <a:off x="4803494" y="2327275"/>
            <a:ext cx="6991109" cy="3951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133"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1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133"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133"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133"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133" kern="1200">
                <a:solidFill>
                  <a:schemeClr val="tx1"/>
                </a:solidFill>
                <a:latin typeface="+mn-lt"/>
                <a:ea typeface="+mn-ea"/>
                <a:cs typeface="+mn-cs"/>
              </a:defRPr>
            </a:lvl9pPr>
          </a:lstStyle>
          <a:p>
            <a:r>
              <a:rPr lang="en-US" sz="2400" dirty="0"/>
              <a:t>These failure mechanisms have been observed to some extent in TRISO-coated fuel testing activities conducted around the world</a:t>
            </a:r>
          </a:p>
          <a:p>
            <a:r>
              <a:rPr lang="en-US" sz="2400" dirty="0"/>
              <a:t>They are in general functions of temperature, burnup, fluence, and temperature (gradient) in the particle and details of the particle design</a:t>
            </a:r>
          </a:p>
          <a:p>
            <a:r>
              <a:rPr lang="en-US" sz="2400" dirty="0"/>
              <a:t>TRISO-coated fuel is usually designed such that none of the fuel failure mechanisms are expected to be significant</a:t>
            </a:r>
          </a:p>
          <a:p>
            <a:endParaRPr lang="en-US" sz="2400" dirty="0"/>
          </a:p>
        </p:txBody>
      </p:sp>
    </p:spTree>
    <p:extLst>
      <p:ext uri="{BB962C8B-B14F-4D97-AF65-F5344CB8AC3E}">
        <p14:creationId xmlns:p14="http://schemas.microsoft.com/office/powerpoint/2010/main" val="3439651803"/>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91464</TotalTime>
  <Words>2289</Words>
  <Application>Microsoft Macintosh PowerPoint</Application>
  <PresentationFormat>Widescreen</PresentationFormat>
  <Paragraphs>239</Paragraphs>
  <Slides>30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Symbol</vt:lpstr>
      <vt:lpstr>1_NCStateU-horizontal-left-logo</vt:lpstr>
      <vt:lpstr>NE 763: Advanced Reactor Materials</vt:lpstr>
      <vt:lpstr>Last Time</vt:lpstr>
      <vt:lpstr>RADIATION EFFECTS IN GRAPHITE</vt:lpstr>
      <vt:lpstr>Graphite Shrinkage</vt:lpstr>
      <vt:lpstr>Graphite Shrinkage</vt:lpstr>
      <vt:lpstr>Graphite Dimensional Change</vt:lpstr>
      <vt:lpstr>Interstitials in Graphite</vt:lpstr>
      <vt:lpstr>Graphite Shrinkage</vt:lpstr>
      <vt:lpstr>Graphite Irradiation Under Loading</vt:lpstr>
      <vt:lpstr>Thermal Conductivity</vt:lpstr>
      <vt:lpstr>Impacts of Changes Under Irradiation</vt:lpstr>
      <vt:lpstr>Impacts of Changes Under Irradiation</vt:lpstr>
      <vt:lpstr>Impacts of Changes Under Irradiation</vt:lpstr>
      <vt:lpstr>Irradiation Creep</vt:lpstr>
      <vt:lpstr>Irradiation Creep</vt:lpstr>
      <vt:lpstr>Irradiation Creep Models</vt:lpstr>
      <vt:lpstr>Irradiation Creep</vt:lpstr>
      <vt:lpstr>CTE and Young’s Modulus</vt:lpstr>
      <vt:lpstr>Summary</vt:lpstr>
      <vt:lpstr>TRISO Fuel Failures</vt:lpstr>
      <vt:lpstr>Fuel Failure Mechanisms</vt:lpstr>
      <vt:lpstr>Fuel Failure Mechanisms</vt:lpstr>
      <vt:lpstr>Fuel Failure Mechanisms</vt:lpstr>
      <vt:lpstr>Fuel Failure Mechanisms</vt:lpstr>
      <vt:lpstr>Fuel Failure Mechanisms</vt:lpstr>
      <vt:lpstr>Fuel Failure Mechanisms</vt:lpstr>
      <vt:lpstr>Fuel Failure Mechanisms</vt:lpstr>
      <vt:lpstr>Fuel Failure Mechanisms</vt:lpstr>
      <vt:lpstr>Fuel Failure Mechanisms</vt:lpstr>
      <vt:lpstr>Fuel Failure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209</cp:revision>
  <dcterms:created xsi:type="dcterms:W3CDTF">2019-12-09T16:44:02Z</dcterms:created>
  <dcterms:modified xsi:type="dcterms:W3CDTF">2026-08-27T18:55:45Z</dcterms:modified>
</cp:coreProperties>
</file>
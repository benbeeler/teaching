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0"/>
  </p:notesMasterIdLst>
  <p:sldIdLst>
    <p:sldId id="256" r:id="rId2"/>
    <p:sldId id="573" r:id="rId3"/>
    <p:sldId id="552" r:id="rId4"/>
    <p:sldId id="570" r:id="rId5"/>
    <p:sldId id="553" r:id="rId6"/>
    <p:sldId id="554" r:id="rId7"/>
    <p:sldId id="555" r:id="rId8"/>
    <p:sldId id="556" r:id="rId9"/>
    <p:sldId id="566" r:id="rId10"/>
    <p:sldId id="557" r:id="rId11"/>
    <p:sldId id="558" r:id="rId12"/>
    <p:sldId id="559" r:id="rId13"/>
    <p:sldId id="560" r:id="rId14"/>
    <p:sldId id="567" r:id="rId15"/>
    <p:sldId id="561" r:id="rId16"/>
    <p:sldId id="562" r:id="rId17"/>
    <p:sldId id="569" r:id="rId18"/>
    <p:sldId id="5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15"/>
    <p:restoredTop sz="94744"/>
  </p:normalViewPr>
  <p:slideViewPr>
    <p:cSldViewPr snapToGrid="0" snapToObjects="1">
      <p:cViewPr varScale="1">
        <p:scale>
          <a:sx n="119" d="100"/>
          <a:sy n="119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16A0F-2645-F945-ADC5-B2CC11F8F91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D32B1-08AD-0943-8C60-7CB4F1A83E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97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85609-E5CC-DE44-B37C-B4F30876FF32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80746"/>
            <a:ext cx="10972800" cy="384541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F8954-4A2E-3243-B2DC-9CD5CB712752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9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4575D-199B-0745-9376-4BA74FA8EFA7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9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EC5E2-8D01-2849-BCEF-95F1335AF02C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5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B4091-1279-5E46-833E-3B1192709521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5C5CE-9A98-3649-A752-35F044CBF5B8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2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24C5E-CE4C-B646-8BD9-2D7670818E7E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3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3BC9F-3142-5445-97AB-BA4A48743DCA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80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7FE6E-4AF1-BB43-A3BB-BA9931BC385B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6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F1F23-51F5-E24D-A2F3-F9FF410B2C6B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2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9506E-CC5A-D948-B9E0-FC81D1F3EEB8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8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F3AB534-2132-774F-82DE-4210B1BD5FED}" type="datetime1">
              <a:rPr lang="en-US" smtClean="0"/>
              <a:t>9/24/26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3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67053-FE0B-2E4F-88E8-0DE41FF95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B4E0-97C0-3C9F-C365-D19CA98C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9CB18-05BE-9285-A620-337D4D9BB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/>
          <a:p>
            <a:r>
              <a:rPr lang="en-US" sz="2000" dirty="0"/>
              <a:t>Pu enriched regions</a:t>
            </a:r>
          </a:p>
          <a:p>
            <a:pPr lvl="1"/>
            <a:r>
              <a:rPr lang="en-US" sz="2000" dirty="0"/>
              <a:t>Pu redistributes through the pore migration process, enriching near the central pore</a:t>
            </a:r>
          </a:p>
          <a:p>
            <a:pPr lvl="1"/>
            <a:r>
              <a:rPr lang="en-US" sz="2000" dirty="0"/>
              <a:t>Pu agglomerates can also occur due to poor mixing</a:t>
            </a:r>
          </a:p>
          <a:p>
            <a:r>
              <a:rPr lang="en-US" sz="2000" dirty="0"/>
              <a:t>Oxygen redistributes radially, enriching near fuel/cladding interface</a:t>
            </a:r>
          </a:p>
          <a:p>
            <a:r>
              <a:rPr lang="en-US" sz="2000" dirty="0"/>
              <a:t>Fission product phases differ in MOX, located and morphology vary based on restructuring and spatial oxygen distribution</a:t>
            </a:r>
          </a:p>
          <a:p>
            <a:r>
              <a:rPr lang="en-US" sz="2000" dirty="0"/>
              <a:t>JOG: CsMoO4 type of FP phase forming at fuel/cladding interface</a:t>
            </a:r>
          </a:p>
          <a:p>
            <a:pPr lvl="1"/>
            <a:r>
              <a:rPr lang="en-US" sz="2000" dirty="0"/>
              <a:t>increases kth, mechanical buffer, leads to FCCI</a:t>
            </a:r>
          </a:p>
          <a:p>
            <a:r>
              <a:rPr lang="en-US" sz="2000" dirty="0"/>
              <a:t>Sodium coolant</a:t>
            </a:r>
          </a:p>
          <a:p>
            <a:pPr lvl="1"/>
            <a:r>
              <a:rPr lang="en-US" sz="2000" dirty="0"/>
              <a:t>high kth, large margin to boil, high Cp, etc.</a:t>
            </a:r>
          </a:p>
          <a:p>
            <a:pPr lvl="1"/>
            <a:r>
              <a:rPr lang="en-US" sz="2000" dirty="0"/>
              <a:t>solubility of cladding constituents varies on temperature and impurities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7CC04-8729-4334-3A05-C9D8ED2B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1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35ED-0734-1840-B41F-ECA065D7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Sodium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ECCCB-22FB-3541-966C-6321257DB3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solubility of each of the primary components of stainless steel in sodium at 550 C is less than a few parts per million</a:t>
            </a:r>
          </a:p>
          <a:p>
            <a:r>
              <a:rPr lang="en-US" sz="2200" dirty="0"/>
              <a:t>This means that the nominal compatibility of the steels with sodium is excellent</a:t>
            </a:r>
          </a:p>
          <a:p>
            <a:r>
              <a:rPr lang="en-US" sz="2200" dirty="0"/>
              <a:t>In the isothermal sodium condition, the corrosion of the steels stops when the dissolved elements reach saturation concentration at the temperature of sodium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136F3-0B47-F744-819E-958D5AAB0D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Under non-isothermal conditions, the corrosion behavior is called thermal gradient mass transfer</a:t>
            </a:r>
          </a:p>
          <a:p>
            <a:r>
              <a:rPr lang="en-US" sz="2200" dirty="0"/>
              <a:t>In the cooling system, the elements in the materials in the high-temperature section dissolve as a result of the temperature dependency of the solubility of the elements in sodium, and the dissolved elements are deposited on the steel surface in the low-temperature section by the same mechanism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1FE5B-9644-FD49-91E1-D131D796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7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78C65-9684-083E-F58C-A3672032D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Thermal gradient mass transfer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FDD56-9739-C00B-FC94-4EF89518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AB7D4D-4E81-5B40-91F6-CF14C25F862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3CE363-836F-5583-7BA4-DCCCBE6163E2}"/>
              </a:ext>
            </a:extLst>
          </p:cNvPr>
          <p:cNvGrpSpPr/>
          <p:nvPr/>
        </p:nvGrpSpPr>
        <p:grpSpPr>
          <a:xfrm>
            <a:off x="4039365" y="2021273"/>
            <a:ext cx="4113270" cy="4335079"/>
            <a:chOff x="2592330" y="1968500"/>
            <a:chExt cx="5245320" cy="5214882"/>
          </a:xfrm>
        </p:grpSpPr>
        <p:sp>
          <p:nvSpPr>
            <p:cNvPr id="7" name="Bent Arrow 6">
              <a:extLst>
                <a:ext uri="{FF2B5EF4-FFF2-40B4-BE49-F238E27FC236}">
                  <a16:creationId xmlns:a16="http://schemas.microsoft.com/office/drawing/2014/main" id="{00226477-FE62-ECEB-EA3B-DFCA963C1DA6}"/>
                </a:ext>
              </a:extLst>
            </p:cNvPr>
            <p:cNvSpPr/>
            <p:nvPr/>
          </p:nvSpPr>
          <p:spPr>
            <a:xfrm>
              <a:off x="2911366" y="1968500"/>
              <a:ext cx="2343806" cy="2582479"/>
            </a:xfrm>
            <a:prstGeom prst="bentArrow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Bent Arrow 7">
              <a:extLst>
                <a:ext uri="{FF2B5EF4-FFF2-40B4-BE49-F238E27FC236}">
                  <a16:creationId xmlns:a16="http://schemas.microsoft.com/office/drawing/2014/main" id="{E7EB8A7C-5BAB-9751-318E-6133D59A16E4}"/>
                </a:ext>
              </a:extLst>
            </p:cNvPr>
            <p:cNvSpPr/>
            <p:nvPr/>
          </p:nvSpPr>
          <p:spPr>
            <a:xfrm rot="5400000">
              <a:off x="5374508" y="2137761"/>
              <a:ext cx="2343806" cy="2582479"/>
            </a:xfrm>
            <a:prstGeom prst="bentArrow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Bent Arrow 8">
              <a:extLst>
                <a:ext uri="{FF2B5EF4-FFF2-40B4-BE49-F238E27FC236}">
                  <a16:creationId xmlns:a16="http://schemas.microsoft.com/office/drawing/2014/main" id="{FEDFADD4-916A-F8D6-5A54-1DE83F8780F5}"/>
                </a:ext>
              </a:extLst>
            </p:cNvPr>
            <p:cNvSpPr/>
            <p:nvPr/>
          </p:nvSpPr>
          <p:spPr>
            <a:xfrm rot="10800000">
              <a:off x="5174810" y="4600903"/>
              <a:ext cx="2343806" cy="2582479"/>
            </a:xfrm>
            <a:prstGeom prst="ben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Bent Arrow 9">
              <a:extLst>
                <a:ext uri="{FF2B5EF4-FFF2-40B4-BE49-F238E27FC236}">
                  <a16:creationId xmlns:a16="http://schemas.microsoft.com/office/drawing/2014/main" id="{F39CEA6B-100B-1A00-2651-3A958BEDA5A0}"/>
                </a:ext>
              </a:extLst>
            </p:cNvPr>
            <p:cNvSpPr/>
            <p:nvPr/>
          </p:nvSpPr>
          <p:spPr>
            <a:xfrm rot="16200000">
              <a:off x="2711667" y="4431642"/>
              <a:ext cx="2343806" cy="2582479"/>
            </a:xfrm>
            <a:prstGeom prst="ben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12FB249-B967-751D-5815-DF8D6B99EC1F}"/>
              </a:ext>
            </a:extLst>
          </p:cNvPr>
          <p:cNvSpPr txBox="1"/>
          <p:nvPr/>
        </p:nvSpPr>
        <p:spPr>
          <a:xfrm>
            <a:off x="1287267" y="2496708"/>
            <a:ext cx="30022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Coolant heated in the core; high solubility for elements in the coolant; elements leave structural materials, go into coolant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7A2208-1964-6D80-4194-5B635C0399F2}"/>
              </a:ext>
            </a:extLst>
          </p:cNvPr>
          <p:cNvSpPr txBox="1"/>
          <p:nvPr/>
        </p:nvSpPr>
        <p:spPr>
          <a:xfrm>
            <a:off x="8152635" y="4405795"/>
            <a:ext cx="3002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Heat removed from coolant via IHX; lower T means lower solubility; elements plate out on piping surfaces; coolant now has lower concentration of corrosion species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4A0BD-40DA-D67C-367B-B848D24BE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1991678"/>
            <a:ext cx="2634506" cy="198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2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FF4A-F700-724B-B9DD-F6AC20A0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Sodium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3BE2-545A-8446-8730-763023DA92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results of thermal gradient mass transfer using a sodium loop made of 316SS</a:t>
            </a:r>
          </a:p>
          <a:p>
            <a:r>
              <a:rPr lang="en-US" sz="2200" dirty="0"/>
              <a:t>The weight loss caused by the dissolution of the elements in the steel is in the high-temperature section, and the weight gain caused by the deposit of the dissolved elements in sodium is observed in the low-temperature section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92A330-9738-9346-B2D2-317406C0E0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74977" y="2277259"/>
            <a:ext cx="4907423" cy="325993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4FCDC-66F6-4942-B92C-3F7248E25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87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F1D8-592A-AD4B-9E64-9767AA09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Sodium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BA5BE-75C5-5D4E-8676-678618A70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1665345"/>
          </a:xfrm>
        </p:spPr>
        <p:txBody>
          <a:bodyPr/>
          <a:lstStyle/>
          <a:p>
            <a:r>
              <a:rPr lang="en-US" sz="2200" dirty="0"/>
              <a:t>Dissolution of the elements in the material is observed in the high-temperature section, and precipitation is observed in the low-temperature section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6EA24F-AAC9-3547-9852-C5B5F84A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D71BA5-368F-584D-A94A-5C2DBD2CF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73" y="2867572"/>
            <a:ext cx="9523653" cy="30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9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9EBFD-F693-B34D-B0E2-B62AAAB6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Impurity Sodium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062C9-556F-F646-B710-7385A3FD2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468094" cy="4157663"/>
          </a:xfrm>
        </p:spPr>
        <p:txBody>
          <a:bodyPr/>
          <a:lstStyle/>
          <a:p>
            <a:r>
              <a:rPr lang="en-US" sz="2000" dirty="0"/>
              <a:t>Type II-Corrosion Produced Through Chemical Reaction with the Impurities in Sodium</a:t>
            </a:r>
          </a:p>
          <a:p>
            <a:r>
              <a:rPr lang="en-US" sz="2000" dirty="0"/>
              <a:t>The control of impurities in sodium can be achieved by using techniques to deposit/collect the dissolved impurities in sodium</a:t>
            </a:r>
          </a:p>
          <a:p>
            <a:r>
              <a:rPr lang="en-US" sz="2000" dirty="0"/>
              <a:t>Impurities such as oxygen, carbon and nitrogen in sodium can have a strong effect on the corrosion rate of a material</a:t>
            </a:r>
          </a:p>
          <a:p>
            <a:r>
              <a:rPr lang="en-US" sz="2000" dirty="0"/>
              <a:t>Sodium is the reducing agent, and its affinity to oxygen is very strong</a:t>
            </a:r>
          </a:p>
          <a:p>
            <a:r>
              <a:rPr lang="en-US" sz="2000" dirty="0"/>
              <a:t>The solubility of oxygen in sodium is significantly higher than in water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CE3FF3-6FF7-FA46-A01F-9F933C0891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81017" y="2024744"/>
            <a:ext cx="4769518" cy="409058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0BBB2-BF27-7443-AD0A-AD0D03E2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46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8398-890C-F642-8244-077F8F7E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Oxygen Acceleration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685D1-E991-A243-9D12-F2260D37A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150070" cy="4157663"/>
          </a:xfrm>
        </p:spPr>
        <p:txBody>
          <a:bodyPr/>
          <a:lstStyle/>
          <a:p>
            <a:r>
              <a:rPr lang="en-US" sz="2200" dirty="0"/>
              <a:t>The introduction of oxygen into sodium may occur during refueling, supplementing of the reactor cover gas, opening of the coolant boundary for maintenance operations, etc. </a:t>
            </a:r>
          </a:p>
          <a:p>
            <a:r>
              <a:rPr lang="en-US" sz="2200" dirty="0"/>
              <a:t>The thermodynamically stable oxide in sodium is sodium oxide, Na2O</a:t>
            </a:r>
          </a:p>
          <a:p>
            <a:r>
              <a:rPr lang="en-US" sz="2200" dirty="0"/>
              <a:t>Fe spontaneously reacts with Na2O above 380C, forming Na4FeO3</a:t>
            </a:r>
          </a:p>
          <a:p>
            <a:r>
              <a:rPr lang="en-US" sz="2200" dirty="0"/>
              <a:t>These reactions increase the effective solubility of Cr/Fe in Na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874AE-52D2-3941-9942-0DA4E97E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07F25C-A095-5642-A449-20D61CC460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96574" y="2156867"/>
            <a:ext cx="2900183" cy="2961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34F4B4-5901-904D-AD54-11DE040DB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607" y="5871394"/>
            <a:ext cx="3162300" cy="35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68F379-E6F3-301E-D9EB-0BDA918E7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429" y="5478338"/>
            <a:ext cx="3006656" cy="3099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14B565-28E5-159A-44AB-6BE4D3D42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6226" y="1207271"/>
            <a:ext cx="2711544" cy="42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2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428A-1882-D8EE-2070-8616FFDD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Carbon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846CC-FC59-20F7-1479-ECEC6706D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162215" cy="4157663"/>
          </a:xfrm>
        </p:spPr>
        <p:txBody>
          <a:bodyPr/>
          <a:lstStyle/>
          <a:p>
            <a:r>
              <a:rPr lang="en-US" sz="2000" dirty="0"/>
              <a:t>Carbon is an important element in maintaining the superior mechanical strength of steel</a:t>
            </a:r>
          </a:p>
          <a:p>
            <a:r>
              <a:rPr lang="en-US" sz="2000" dirty="0"/>
              <a:t>Carbon transfer can occur due to the chemical activity difference resulting from the temperature gradient</a:t>
            </a:r>
          </a:p>
          <a:p>
            <a:r>
              <a:rPr lang="en-US" sz="2000" dirty="0"/>
              <a:t>The materials located in the high temperature regions tend to decarburize</a:t>
            </a:r>
          </a:p>
          <a:p>
            <a:r>
              <a:rPr lang="en-US" sz="2000" dirty="0"/>
              <a:t>If a system has both austenitic and ferritic steels, carbon transfer can occur due to different chemical activities in these materials; austenitic steels carburize</a:t>
            </a:r>
          </a:p>
          <a:p>
            <a:r>
              <a:rPr lang="en-US" sz="2000" dirty="0"/>
              <a:t>High Cr content reduces susceptibility for decarburization, largely through forming Cr-C precipitates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2CC21-F7E2-E0B7-56DA-7BF3B6B6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CB8DD-ADBB-B3A5-1F38-7908E0F1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239" y="2806282"/>
            <a:ext cx="2693251" cy="34042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9FDB00-33B8-E86C-F245-431D51DF4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054" y="2073690"/>
            <a:ext cx="3754677" cy="4901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987AB6-27B7-7CD3-C7CB-D8DAABF73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814" y="2637510"/>
            <a:ext cx="2499659" cy="35730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402345-F41C-D412-B6F8-99A5FBBE7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893" y="4424031"/>
            <a:ext cx="876373" cy="3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3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F9A5-B008-A04C-93AD-5D0ED9FF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 Corrosion of Austenitic Steel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152F-079F-084C-A070-71735687A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254338" cy="4157663"/>
          </a:xfrm>
        </p:spPr>
        <p:txBody>
          <a:bodyPr/>
          <a:lstStyle/>
          <a:p>
            <a:r>
              <a:rPr lang="en-US" sz="2200" dirty="0"/>
              <a:t>The important factors which influence the corrosion of the steels in sodium are: (1) immersion time, (2) temperature, (3) dissolved oxygen, (4) sodium velocity, (5) alloy elements, and (6) carburization and decarburization</a:t>
            </a:r>
          </a:p>
          <a:p>
            <a:r>
              <a:rPr lang="en-US" sz="2200" dirty="0"/>
              <a:t>Ni and Mn have high Na solubilities and dissolve first in selective (start-up) corrosion, whereas Fe corrodes in general (steady-state) corrosion</a:t>
            </a:r>
          </a:p>
          <a:p>
            <a:r>
              <a:rPr lang="en-US" dirty="0"/>
              <a:t>Transition from startup to steady state is ~2000 h, but system specific</a:t>
            </a:r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C2702A-D768-9D41-A649-2376E4F87F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41110" y="1968500"/>
            <a:ext cx="3804621" cy="338750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4BF2F-993E-FA4B-A8C8-F9A672CBA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86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E721-D352-624A-8C7F-593FC3BB9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 Corrosion of Austenitic Steel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4F040-91FB-CC4D-B3B7-81371603B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898777" cy="4157663"/>
          </a:xfrm>
        </p:spPr>
        <p:txBody>
          <a:bodyPr/>
          <a:lstStyle/>
          <a:p>
            <a:r>
              <a:rPr lang="en-US" sz="2000" dirty="0"/>
              <a:t>Corrosion rate follows an Arrhenius function</a:t>
            </a:r>
          </a:p>
          <a:p>
            <a:r>
              <a:rPr lang="en-US" sz="2000" dirty="0"/>
              <a:t>The effective activation energy is a function of temperature, and agrees with the activation energy of solubility in Na</a:t>
            </a:r>
          </a:p>
          <a:p>
            <a:r>
              <a:rPr lang="en-US" sz="2000" dirty="0"/>
              <a:t>This matches the understanding of corrosion through dissolution processes</a:t>
            </a:r>
          </a:p>
          <a:p>
            <a:r>
              <a:rPr lang="en-US" sz="2000" dirty="0"/>
              <a:t>The corrosion rate is proportional to the oxygen concentration to a power n~1</a:t>
            </a:r>
          </a:p>
          <a:p>
            <a:r>
              <a:rPr lang="en-US" sz="2000" dirty="0"/>
              <a:t>Thus, limiting O2 in the Na can limit corrosion</a:t>
            </a:r>
          </a:p>
          <a:p>
            <a:r>
              <a:rPr lang="en-US" sz="2000" dirty="0"/>
              <a:t>Corrosion rates increase with velocity up to a certain point, then become velocity-independent; this is related to the boundary layer thickness at the surface in contact with flowing sodium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6F64B-F199-8445-B555-DCBB18A4A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5EDD3F-1619-8D45-AC8D-CF56DF5D34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9778" y="1769755"/>
            <a:ext cx="3389884" cy="4555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C5D08D-E4FC-C14B-A181-1A796BC75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392" y="2452378"/>
            <a:ext cx="2541320" cy="17100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A4DFC7-0B8F-904D-AF61-1ACB8C394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451" y="4247840"/>
            <a:ext cx="2562328" cy="157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28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B105-ED48-0746-88CF-F9411E3F0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 Corrosion in Austenitic Steel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58F6E-C689-9D4D-9A47-77AA1D6591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071400" cy="4157663"/>
          </a:xfrm>
        </p:spPr>
        <p:txBody>
          <a:bodyPr/>
          <a:lstStyle/>
          <a:p>
            <a:r>
              <a:rPr lang="en-US" sz="2200" dirty="0"/>
              <a:t>Because this is a dissolution driven process, the alloying elements are key to corrosion rates</a:t>
            </a:r>
          </a:p>
          <a:p>
            <a:r>
              <a:rPr lang="en-US" sz="2200" dirty="0"/>
              <a:t>Ni is especially soluble in Na, and as Ni content increases, corrosion rates increase</a:t>
            </a:r>
          </a:p>
          <a:p>
            <a:r>
              <a:rPr lang="en-US" sz="2200" dirty="0"/>
              <a:t>Cr has a much low solubility in Na and is thus preferred as an alloying element for Na-facing components</a:t>
            </a:r>
          </a:p>
          <a:p>
            <a:r>
              <a:rPr lang="en-US" sz="2200" dirty="0"/>
              <a:t>Decarburization of steels can also occur due to the temperature-dependent solubility of C in Na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7ADFCC-2D65-924E-B533-A60A1736CD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10356" y="2095562"/>
            <a:ext cx="3132837" cy="361937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89178-C003-EC46-AB3F-2C358691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EDAC1D-BF76-534F-8BCE-6567C81BD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193" y="2222624"/>
            <a:ext cx="3248807" cy="336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133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8D39-9721-DD4B-959D-E2EC6C76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 Corrosion in Austenitic Steel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33A5B-18E7-9D43-A9F2-82C5F4ECF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799" cy="1460497"/>
          </a:xfrm>
        </p:spPr>
        <p:txBody>
          <a:bodyPr/>
          <a:lstStyle/>
          <a:p>
            <a:r>
              <a:rPr lang="en-US" sz="2200" dirty="0"/>
              <a:t>Corrosion behavior of austenitic  stainless steels is well understood over the temperature range of 455–755 C</a:t>
            </a:r>
          </a:p>
          <a:p>
            <a:r>
              <a:rPr lang="en-US" sz="2200" dirty="0"/>
              <a:t>It is known that after the initial period of exposure, steady-state corrosion is reached, which governs the long-term corrosion behavior</a:t>
            </a:r>
          </a:p>
          <a:p>
            <a:r>
              <a:rPr lang="en-US" sz="2200" dirty="0"/>
              <a:t>Have relationships for corrosion which include flow velocity, oxygen content, and temperature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31898-70FD-CB4C-9A2C-51C5DD53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9EC326-91D9-1DA4-A990-065F8401C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220" y="4489167"/>
            <a:ext cx="7772400" cy="127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05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4CC8-C941-6DEF-1C03-05F50E44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 Corrosion in Ferritic Steels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E8B4C-1E56-A4B8-AF62-4FB393AB00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017111" cy="4157663"/>
          </a:xfrm>
        </p:spPr>
        <p:txBody>
          <a:bodyPr/>
          <a:lstStyle/>
          <a:p>
            <a:r>
              <a:rPr lang="en-US" sz="2000" dirty="0"/>
              <a:t>Also sensitive to temperature, oxygen content, and Na flow velocity</a:t>
            </a:r>
          </a:p>
          <a:p>
            <a:r>
              <a:rPr lang="en-US" sz="2000" dirty="0"/>
              <a:t>Low-Cr steels show weight loss and decarburization, while high-Cr steels show weight gain and carburization</a:t>
            </a:r>
          </a:p>
          <a:p>
            <a:r>
              <a:rPr lang="en-US" sz="2000" dirty="0"/>
              <a:t>Oxygen content tends to increase corrosion rates</a:t>
            </a:r>
          </a:p>
          <a:p>
            <a:r>
              <a:rPr lang="en-US" sz="2000" dirty="0"/>
              <a:t>Flow velocity effects taper above 7 m/s, higher than in austenitic steels</a:t>
            </a:r>
          </a:p>
          <a:p>
            <a:r>
              <a:rPr lang="en-US" sz="2000" dirty="0"/>
              <a:t>In general, effects of corrosion in F/M steels are similar to austenitic steels, but with different chemical components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8418A-F565-F063-947B-0DEDCFB4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24E875-0FE9-0E4C-CB7D-283EC0275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939" y="2078202"/>
            <a:ext cx="4016922" cy="324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14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3A5DE-9466-7147-B389-5BA54D33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on Mechanical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47F8F-0CDC-5947-95CB-BBC45C248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938981" cy="4157663"/>
          </a:xfrm>
        </p:spPr>
        <p:txBody>
          <a:bodyPr/>
          <a:lstStyle/>
          <a:p>
            <a:r>
              <a:rPr lang="en-US" sz="2000" dirty="0"/>
              <a:t>The effect of sodium on the mechanical strength of steel is determined by three factors: (a) corrosion and mass transfer, (b) decarburization and carburization, and (c) oxidation/reduction</a:t>
            </a:r>
          </a:p>
          <a:p>
            <a:r>
              <a:rPr lang="en-US" sz="2000" dirty="0"/>
              <a:t>Since the cladding tubes are thin components and are exposed to high temperatures, the sodium corrosion effect on cladding is larger than that of the other structural materials</a:t>
            </a:r>
          </a:p>
          <a:p>
            <a:r>
              <a:rPr lang="en-US" sz="2000" dirty="0"/>
              <a:t>Minor impacts on tensile strength, elongation, and creep strength for Na vs air</a:t>
            </a:r>
          </a:p>
          <a:p>
            <a:r>
              <a:rPr lang="en-US" sz="2000" dirty="0"/>
              <a:t>Slight improvement in creep fatigue in sodium compared to air</a:t>
            </a:r>
          </a:p>
          <a:p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6C2F26-5355-794E-8995-DFB1E02190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37316" y="4877451"/>
            <a:ext cx="3196506" cy="17002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E447F-2EE8-374D-9865-E5D5CADBB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E18CF-AB4C-594A-AA68-4FD83D2877B2}"/>
              </a:ext>
            </a:extLst>
          </p:cNvPr>
          <p:cNvSpPr txBox="1"/>
          <p:nvPr/>
        </p:nvSpPr>
        <p:spPr>
          <a:xfrm>
            <a:off x="8982073" y="5894436"/>
            <a:ext cx="14435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Creep Strength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1FA49-64D7-2A9B-85E0-E94ABC32F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671" y="1968500"/>
            <a:ext cx="5033819" cy="290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67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CB85-838B-B649-80DC-13F4B182E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Na-Water/Air Reactions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89024-5CFC-184D-A9E7-D9EEC988E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7228115" cy="4157663"/>
          </a:xfrm>
        </p:spPr>
        <p:txBody>
          <a:bodyPr/>
          <a:lstStyle/>
          <a:p>
            <a:r>
              <a:rPr lang="en-US" sz="2200" dirty="0"/>
              <a:t>One of the weak points of the present SFRs is the steam generator</a:t>
            </a:r>
          </a:p>
          <a:p>
            <a:r>
              <a:rPr lang="en-US" sz="2200" dirty="0"/>
              <a:t>If the steam generator tube is damaged, high-temperature pressurized steam is blown into the sodium</a:t>
            </a:r>
          </a:p>
          <a:p>
            <a:r>
              <a:rPr lang="en-US" sz="2200" dirty="0"/>
              <a:t>The environment around the failed tube is heated to high temperature (potentially up to 1200C) due to exothermic reactions</a:t>
            </a:r>
          </a:p>
          <a:p>
            <a:r>
              <a:rPr lang="en-US" sz="2200" dirty="0"/>
              <a:t>When high-temperature sodium is leaked into the atmosphere, it reacts with oxygen, and sodium oxides are formed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9DB698-1892-1B4E-B98A-E7834925E8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88300" y="3177352"/>
            <a:ext cx="3594100" cy="8763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EA4FC-25C8-D944-8E7B-C1D5BC36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4E0E25-0C9B-8D4B-9E1F-5C20B3D51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2303031"/>
            <a:ext cx="3657600" cy="800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073C22-63C5-534D-8A87-DBCDA4CF4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4096121"/>
            <a:ext cx="35560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16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772F-FF94-C6FE-1B40-F8ECE7A2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DE778-97D7-1242-3924-71DDDA26E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0"/>
            <a:ext cx="10972800" cy="4157663"/>
          </a:xfrm>
        </p:spPr>
        <p:txBody>
          <a:bodyPr/>
          <a:lstStyle/>
          <a:p>
            <a:r>
              <a:rPr lang="en-US" sz="2200" dirty="0"/>
              <a:t>Na is used as a coolant due to high thermal conductivity, high heat capacity, high margin to boiling</a:t>
            </a:r>
          </a:p>
          <a:p>
            <a:r>
              <a:rPr lang="en-US" sz="2200" dirty="0"/>
              <a:t>There are two known mechanisms of sodium corrosion: Type I: corrosion produced by the dissolution of alloy elements to sodium; Type II: corrosion produced through chemical reaction with the impurities in sodium</a:t>
            </a:r>
          </a:p>
          <a:p>
            <a:r>
              <a:rPr lang="en-US" sz="2200" dirty="0"/>
              <a:t>Temperature gradient mass transfer is of high concern, based upon solubilities of steel elements, and highly impacts Ni</a:t>
            </a:r>
          </a:p>
          <a:p>
            <a:r>
              <a:rPr lang="en-US" sz="2200" dirty="0"/>
              <a:t>(De)carburization can occur, but can be limited with high Cr content</a:t>
            </a:r>
          </a:p>
          <a:p>
            <a:r>
              <a:rPr lang="en-US" sz="2200" dirty="0"/>
              <a:t>Oxygen accelerates corrosion by increasing effective solubilities</a:t>
            </a:r>
          </a:p>
          <a:p>
            <a:r>
              <a:rPr lang="en-US" sz="2200" dirty="0"/>
              <a:t>Sodium modified the microstructure of steels through precipitation, coarsening, etc.</a:t>
            </a:r>
          </a:p>
          <a:p>
            <a:r>
              <a:rPr lang="en-US" sz="2200" dirty="0"/>
              <a:t>Mechanical properties are minimally impacted by Na exposure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200EE-415D-7372-CEF5-D44BD076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16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F29F9-200D-3437-6860-23BAEC15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Module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32A55-9F18-E456-2C56-80D8AC45B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799" cy="4157663"/>
          </a:xfrm>
        </p:spPr>
        <p:txBody>
          <a:bodyPr/>
          <a:lstStyle/>
          <a:p>
            <a:r>
              <a:rPr lang="en-US" dirty="0"/>
              <a:t>Exam on next Thursday (10/1)</a:t>
            </a:r>
          </a:p>
          <a:p>
            <a:r>
              <a:rPr lang="en-US" dirty="0"/>
              <a:t>Covers SFRs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3FBB2-DCD7-7937-C56A-F88EE169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76304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41653</TotalTime>
  <Words>1316</Words>
  <Application>Microsoft Macintosh PowerPoint</Application>
  <PresentationFormat>Widescreen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1_NCStateU-horizontal-left-logo</vt:lpstr>
      <vt:lpstr>NE 763: Advanced Reactor Materials</vt:lpstr>
      <vt:lpstr>Last Time</vt:lpstr>
      <vt:lpstr>Sodium Corrosion</vt:lpstr>
      <vt:lpstr>Thermal gradient mass transfer</vt:lpstr>
      <vt:lpstr>Sodium Corrosion</vt:lpstr>
      <vt:lpstr>Sodium Corrosion</vt:lpstr>
      <vt:lpstr>Impurity Sodium Corrosion</vt:lpstr>
      <vt:lpstr>Oxygen Acceleration</vt:lpstr>
      <vt:lpstr>Carbon Effects</vt:lpstr>
      <vt:lpstr>Na Corrosion of Austenitic Steel</vt:lpstr>
      <vt:lpstr>Na Corrosion of Austenitic Steel</vt:lpstr>
      <vt:lpstr>Na Corrosion in Austenitic Steel</vt:lpstr>
      <vt:lpstr>Na Corrosion in Austenitic Steel</vt:lpstr>
      <vt:lpstr>Na Corrosion in Ferritic Steels</vt:lpstr>
      <vt:lpstr>Effects on Mechanical Properties</vt:lpstr>
      <vt:lpstr>Na-Water/Air Reactions</vt:lpstr>
      <vt:lpstr>Summary</vt:lpstr>
      <vt:lpstr>End of Module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135</cp:revision>
  <dcterms:created xsi:type="dcterms:W3CDTF">2019-12-09T16:44:02Z</dcterms:created>
  <dcterms:modified xsi:type="dcterms:W3CDTF">2026-09-24T18:58:50Z</dcterms:modified>
</cp:coreProperties>
</file>
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3"/>
  </p:notesMasterIdLst>
  <p:sldIdLst>
    <p:sldId id="257" r:id="rId2"/>
    <p:sldId id="431" r:id="rId3"/>
    <p:sldId id="425" r:id="rId4"/>
    <p:sldId id="476" r:id="rId5"/>
    <p:sldId id="429" r:id="rId6"/>
    <p:sldId id="477" r:id="rId7"/>
    <p:sldId id="488" r:id="rId8"/>
    <p:sldId id="436" r:id="rId9"/>
    <p:sldId id="479" r:id="rId10"/>
    <p:sldId id="481" r:id="rId11"/>
    <p:sldId id="482" r:id="rId12"/>
    <p:sldId id="483" r:id="rId13"/>
    <p:sldId id="484" r:id="rId14"/>
    <p:sldId id="485" r:id="rId15"/>
    <p:sldId id="456" r:id="rId16"/>
    <p:sldId id="457" r:id="rId17"/>
    <p:sldId id="458" r:id="rId18"/>
    <p:sldId id="421" r:id="rId19"/>
    <p:sldId id="423" r:id="rId20"/>
    <p:sldId id="459" r:id="rId21"/>
    <p:sldId id="460" r:id="rId22"/>
    <p:sldId id="461" r:id="rId23"/>
    <p:sldId id="475" r:id="rId24"/>
    <p:sldId id="480" r:id="rId25"/>
    <p:sldId id="432" r:id="rId26"/>
    <p:sldId id="414" r:id="rId27"/>
    <p:sldId id="434" r:id="rId28"/>
    <p:sldId id="433" r:id="rId29"/>
    <p:sldId id="487" r:id="rId30"/>
    <p:sldId id="437" r:id="rId31"/>
    <p:sldId id="43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6"/>
    <p:restoredTop sz="96654"/>
  </p:normalViewPr>
  <p:slideViewPr>
    <p:cSldViewPr snapToGrid="0" snapToObjects="1">
      <p:cViewPr varScale="1">
        <p:scale>
          <a:sx n="126" d="100"/>
          <a:sy n="126" d="100"/>
        </p:scale>
        <p:origin x="3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4169508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7012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79701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6412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21630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673977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776041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90207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35014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0426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279249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388486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10/14/26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15740282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65" r:id="rId13"/>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p:txBody>
          <a:bodyPr/>
          <a:lstStyle/>
          <a:p>
            <a:r>
              <a:rPr lang="en-US" sz="2200" dirty="0"/>
              <a:t>R-K models for molten salts and the MSTDB</a:t>
            </a:r>
          </a:p>
          <a:p>
            <a:r>
              <a:rPr lang="en-US" sz="2200" dirty="0"/>
              <a:t>Carbides fuel benefits:</a:t>
            </a:r>
          </a:p>
          <a:p>
            <a:pPr lvl="1"/>
            <a:r>
              <a:rPr lang="en-US" sz="2200" dirty="0"/>
              <a:t>have high fissile density and high thermal conductivity</a:t>
            </a:r>
          </a:p>
          <a:p>
            <a:r>
              <a:rPr lang="en-US" sz="2200" dirty="0"/>
              <a:t>Two designs:</a:t>
            </a:r>
          </a:p>
          <a:p>
            <a:pPr lvl="1"/>
            <a:r>
              <a:rPr lang="en-US" sz="2200" dirty="0"/>
              <a:t>He-bonded and Na-bonded designs for liquid metal or gas cooled reactors</a:t>
            </a:r>
          </a:p>
          <a:p>
            <a:r>
              <a:rPr lang="en-US" sz="2200" dirty="0"/>
              <a:t>Want </a:t>
            </a:r>
            <a:r>
              <a:rPr lang="en-US" sz="2200" dirty="0" err="1"/>
              <a:t>hyperstoichiometric</a:t>
            </a:r>
            <a:r>
              <a:rPr lang="en-US" sz="2200" dirty="0"/>
              <a:t> UC</a:t>
            </a:r>
          </a:p>
          <a:p>
            <a:pPr lvl="1"/>
            <a:r>
              <a:rPr lang="en-US" sz="2200" dirty="0"/>
              <a:t>prevents metallic precipitates form forming/melting</a:t>
            </a:r>
          </a:p>
          <a:p>
            <a:pPr lvl="1"/>
            <a:r>
              <a:rPr lang="en-US" sz="2200" dirty="0"/>
              <a:t>Two primary phases: UC and U2C3</a:t>
            </a:r>
          </a:p>
          <a:p>
            <a:r>
              <a:rPr lang="en-US" sz="2200" dirty="0"/>
              <a:t>Three stages in burnup that affect fuel temperature</a:t>
            </a:r>
          </a:p>
          <a:p>
            <a:pPr lvl="1"/>
            <a:r>
              <a:rPr lang="en-US" sz="2200" dirty="0"/>
              <a:t>cracking on startup; free swelling (with potential densification); closed gap steady-state behavior</a:t>
            </a:r>
          </a:p>
          <a:p>
            <a:pPr marL="0" indent="0">
              <a:buNone/>
            </a:pPr>
            <a:endParaRPr lang="en-US" sz="2200"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4640-DF1D-FB49-94B5-5506D71652F4}"/>
              </a:ext>
            </a:extLst>
          </p:cNvPr>
          <p:cNvSpPr>
            <a:spLocks noGrp="1"/>
          </p:cNvSpPr>
          <p:nvPr>
            <p:ph type="title"/>
          </p:nvPr>
        </p:nvSpPr>
        <p:spPr/>
        <p:txBody>
          <a:bodyPr/>
          <a:lstStyle/>
          <a:p>
            <a:r>
              <a:rPr lang="en-US" dirty="0"/>
              <a:t>Evolution with Burnup</a:t>
            </a:r>
          </a:p>
        </p:txBody>
      </p:sp>
      <p:sp>
        <p:nvSpPr>
          <p:cNvPr id="3" name="Content Placeholder 2">
            <a:extLst>
              <a:ext uri="{FF2B5EF4-FFF2-40B4-BE49-F238E27FC236}">
                <a16:creationId xmlns:a16="http://schemas.microsoft.com/office/drawing/2014/main" id="{B3A7F127-3731-D349-B319-1C8E850C9FAC}"/>
              </a:ext>
            </a:extLst>
          </p:cNvPr>
          <p:cNvSpPr>
            <a:spLocks noGrp="1"/>
          </p:cNvSpPr>
          <p:nvPr>
            <p:ph sz="half" idx="1"/>
          </p:nvPr>
        </p:nvSpPr>
        <p:spPr/>
        <p:txBody>
          <a:bodyPr/>
          <a:lstStyle/>
          <a:p>
            <a:r>
              <a:rPr lang="en-US" sz="2200" dirty="0"/>
              <a:t>Carbide fuel containing 70% and 55% </a:t>
            </a:r>
            <a:r>
              <a:rPr lang="en-US" sz="2200" dirty="0" err="1"/>
              <a:t>PuC</a:t>
            </a:r>
            <a:r>
              <a:rPr lang="en-US" sz="2200" dirty="0"/>
              <a:t> was used as the driver fuel for FBTR</a:t>
            </a:r>
          </a:p>
          <a:p>
            <a:r>
              <a:rPr lang="en-US" sz="2200" dirty="0"/>
              <a:t>PIE at burnups of a) 2.5, b) 5, c) 10, and d) 15.5 at.% shows the evolution of the pin</a:t>
            </a:r>
          </a:p>
          <a:p>
            <a:r>
              <a:rPr lang="en-US" sz="2200" dirty="0"/>
              <a:t>After 10 at.% burnup, the gaps had closed at the center of the fuel column</a:t>
            </a:r>
          </a:p>
          <a:p>
            <a:r>
              <a:rPr lang="en-US" sz="2200" dirty="0"/>
              <a:t>Circumferential cracks due to thermal stresses formed, and a discrete zone free from any porosity is observed near the outer region at high BU</a:t>
            </a:r>
          </a:p>
          <a:p>
            <a:endParaRPr lang="en-US" sz="2200" dirty="0"/>
          </a:p>
        </p:txBody>
      </p:sp>
      <p:pic>
        <p:nvPicPr>
          <p:cNvPr id="6" name="Content Placeholder 5">
            <a:extLst>
              <a:ext uri="{FF2B5EF4-FFF2-40B4-BE49-F238E27FC236}">
                <a16:creationId xmlns:a16="http://schemas.microsoft.com/office/drawing/2014/main" id="{E83B4E8B-2878-B645-8E1F-D820120AB115}"/>
              </a:ext>
            </a:extLst>
          </p:cNvPr>
          <p:cNvPicPr>
            <a:picLocks noGrp="1" noChangeAspect="1"/>
          </p:cNvPicPr>
          <p:nvPr>
            <p:ph sz="half" idx="2"/>
          </p:nvPr>
        </p:nvPicPr>
        <p:blipFill>
          <a:blip r:embed="rId2"/>
          <a:stretch>
            <a:fillRect/>
          </a:stretch>
        </p:blipFill>
        <p:spPr>
          <a:xfrm>
            <a:off x="6786361" y="1968500"/>
            <a:ext cx="4207277" cy="4157663"/>
          </a:xfrm>
          <a:prstGeom prst="rect">
            <a:avLst/>
          </a:prstGeom>
        </p:spPr>
      </p:pic>
      <p:sp>
        <p:nvSpPr>
          <p:cNvPr id="5" name="Slide Number Placeholder 4">
            <a:extLst>
              <a:ext uri="{FF2B5EF4-FFF2-40B4-BE49-F238E27FC236}">
                <a16:creationId xmlns:a16="http://schemas.microsoft.com/office/drawing/2014/main" id="{9AFA862D-D2D6-A443-8EDC-0AE07D98744F}"/>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2568546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D49A-EA4A-B8B4-960A-D400C39F2137}"/>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A999E45D-1DE4-B3B8-5C02-014A87490EAD}"/>
              </a:ext>
            </a:extLst>
          </p:cNvPr>
          <p:cNvSpPr>
            <a:spLocks noGrp="1"/>
          </p:cNvSpPr>
          <p:nvPr>
            <p:ph sz="half" idx="1"/>
          </p:nvPr>
        </p:nvSpPr>
        <p:spPr>
          <a:xfrm>
            <a:off x="609600" y="1968503"/>
            <a:ext cx="5588000" cy="4157663"/>
          </a:xfrm>
        </p:spPr>
        <p:txBody>
          <a:bodyPr/>
          <a:lstStyle/>
          <a:p>
            <a:r>
              <a:rPr lang="en-US" sz="2100" dirty="0"/>
              <a:t>FGR in carbide fuel pins is lower than oxide fuel pins, mainly due to lower temperatures</a:t>
            </a:r>
          </a:p>
          <a:p>
            <a:r>
              <a:rPr lang="en-US" sz="2100" dirty="0"/>
              <a:t>Release rates from carbide are &lt;1% at temperatures below 900 C but rise to about 5%–10% with temperature rising to 1200 C</a:t>
            </a:r>
          </a:p>
          <a:p>
            <a:r>
              <a:rPr lang="en-US" sz="2100" dirty="0"/>
              <a:t>Above 1200 C, gas release is associated with bubble growth and interlinkage at grain boundaries, as in oxide fuels</a:t>
            </a:r>
          </a:p>
          <a:p>
            <a:r>
              <a:rPr lang="en-US" sz="2100" dirty="0"/>
              <a:t>Low density fuel releases more FG than high density, due to additional porosity and higher T</a:t>
            </a:r>
          </a:p>
        </p:txBody>
      </p:sp>
      <p:sp>
        <p:nvSpPr>
          <p:cNvPr id="5" name="Slide Number Placeholder 4">
            <a:extLst>
              <a:ext uri="{FF2B5EF4-FFF2-40B4-BE49-F238E27FC236}">
                <a16:creationId xmlns:a16="http://schemas.microsoft.com/office/drawing/2014/main" id="{31DC8237-7948-7FD4-ACB4-C545CA30FD6C}"/>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pic>
        <p:nvPicPr>
          <p:cNvPr id="6" name="Picture 5">
            <a:extLst>
              <a:ext uri="{FF2B5EF4-FFF2-40B4-BE49-F238E27FC236}">
                <a16:creationId xmlns:a16="http://schemas.microsoft.com/office/drawing/2014/main" id="{32A9F9DB-F796-E962-8F37-A80971375A73}"/>
              </a:ext>
            </a:extLst>
          </p:cNvPr>
          <p:cNvPicPr>
            <a:picLocks noChangeAspect="1"/>
          </p:cNvPicPr>
          <p:nvPr/>
        </p:nvPicPr>
        <p:blipFill>
          <a:blip r:embed="rId2"/>
          <a:stretch>
            <a:fillRect/>
          </a:stretch>
        </p:blipFill>
        <p:spPr>
          <a:xfrm>
            <a:off x="6616361" y="3036890"/>
            <a:ext cx="4641839" cy="3442262"/>
          </a:xfrm>
          <a:prstGeom prst="rect">
            <a:avLst/>
          </a:prstGeom>
        </p:spPr>
      </p:pic>
      <p:sp>
        <p:nvSpPr>
          <p:cNvPr id="7" name="Content Placeholder 2">
            <a:extLst>
              <a:ext uri="{FF2B5EF4-FFF2-40B4-BE49-F238E27FC236}">
                <a16:creationId xmlns:a16="http://schemas.microsoft.com/office/drawing/2014/main" id="{448F6FB8-4D17-8EFF-3914-094323A3E41A}"/>
              </a:ext>
            </a:extLst>
          </p:cNvPr>
          <p:cNvSpPr txBox="1">
            <a:spLocks/>
          </p:cNvSpPr>
          <p:nvPr/>
        </p:nvSpPr>
        <p:spPr bwMode="auto">
          <a:xfrm>
            <a:off x="6244881" y="1968503"/>
            <a:ext cx="5384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100" dirty="0"/>
              <a:t>Off-stoichiometry also promotes porosity, and thus increases FGR</a:t>
            </a:r>
          </a:p>
        </p:txBody>
      </p:sp>
    </p:spTree>
    <p:extLst>
      <p:ext uri="{BB962C8B-B14F-4D97-AF65-F5344CB8AC3E}">
        <p14:creationId xmlns:p14="http://schemas.microsoft.com/office/powerpoint/2010/main" val="1614688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B3D9-356C-5149-B5F4-11759BA64F33}"/>
              </a:ext>
            </a:extLst>
          </p:cNvPr>
          <p:cNvSpPr>
            <a:spLocks noGrp="1"/>
          </p:cNvSpPr>
          <p:nvPr>
            <p:ph type="title"/>
          </p:nvPr>
        </p:nvSpPr>
        <p:spPr/>
        <p:txBody>
          <a:bodyPr/>
          <a:lstStyle/>
          <a:p>
            <a:pPr algn="l"/>
            <a:r>
              <a:rPr lang="en-US" dirty="0"/>
              <a:t>Fuel Restructuring</a:t>
            </a:r>
          </a:p>
        </p:txBody>
      </p:sp>
      <p:sp>
        <p:nvSpPr>
          <p:cNvPr id="3" name="Content Placeholder 2">
            <a:extLst>
              <a:ext uri="{FF2B5EF4-FFF2-40B4-BE49-F238E27FC236}">
                <a16:creationId xmlns:a16="http://schemas.microsoft.com/office/drawing/2014/main" id="{80CBEEA6-7587-E34D-8183-6BA915E867B7}"/>
              </a:ext>
            </a:extLst>
          </p:cNvPr>
          <p:cNvSpPr>
            <a:spLocks noGrp="1"/>
          </p:cNvSpPr>
          <p:nvPr>
            <p:ph sz="half" idx="1"/>
          </p:nvPr>
        </p:nvSpPr>
        <p:spPr>
          <a:xfrm>
            <a:off x="609599" y="1968503"/>
            <a:ext cx="6258339" cy="4157663"/>
          </a:xfrm>
        </p:spPr>
        <p:txBody>
          <a:bodyPr/>
          <a:lstStyle/>
          <a:p>
            <a:r>
              <a:rPr lang="en-US" sz="2200" dirty="0"/>
              <a:t>The cross section can be divided into four structural zones, becomes well defined when the fuel sees a burnup of 1.3 at.%.</a:t>
            </a:r>
          </a:p>
          <a:p>
            <a:r>
              <a:rPr lang="en-US" sz="2200" dirty="0"/>
              <a:t>Zone 1 is the porous fuel at the center having high temperature and leads to the release of fission gases</a:t>
            </a:r>
          </a:p>
          <a:p>
            <a:r>
              <a:rPr lang="en-US" sz="2200" dirty="0"/>
              <a:t>Zone 3 contributes to high microscopic swelling</a:t>
            </a:r>
          </a:p>
          <a:p>
            <a:r>
              <a:rPr lang="en-US" sz="2200" dirty="0"/>
              <a:t>Zone-IV is the coolest zone of the fuel cross section, which is next to the fuel cladding</a:t>
            </a:r>
          </a:p>
          <a:p>
            <a:r>
              <a:rPr lang="en-US" sz="2200" dirty="0"/>
              <a:t>Zone 2 is an intermediate zone that only exists at very high heating rate (&gt;100 kW/m)</a:t>
            </a:r>
          </a:p>
        </p:txBody>
      </p:sp>
      <p:pic>
        <p:nvPicPr>
          <p:cNvPr id="6" name="Content Placeholder 5">
            <a:extLst>
              <a:ext uri="{FF2B5EF4-FFF2-40B4-BE49-F238E27FC236}">
                <a16:creationId xmlns:a16="http://schemas.microsoft.com/office/drawing/2014/main" id="{E36BB84A-6C41-114A-9933-13CF96713ACF}"/>
              </a:ext>
            </a:extLst>
          </p:cNvPr>
          <p:cNvPicPr>
            <a:picLocks noGrp="1" noChangeAspect="1"/>
          </p:cNvPicPr>
          <p:nvPr>
            <p:ph sz="half" idx="2"/>
          </p:nvPr>
        </p:nvPicPr>
        <p:blipFill>
          <a:blip r:embed="rId2"/>
          <a:stretch>
            <a:fillRect/>
          </a:stretch>
        </p:blipFill>
        <p:spPr>
          <a:xfrm>
            <a:off x="6867938" y="731834"/>
            <a:ext cx="5121966" cy="2926837"/>
          </a:xfrm>
          <a:prstGeom prst="rect">
            <a:avLst/>
          </a:prstGeom>
        </p:spPr>
      </p:pic>
      <p:sp>
        <p:nvSpPr>
          <p:cNvPr id="5" name="Slide Number Placeholder 4">
            <a:extLst>
              <a:ext uri="{FF2B5EF4-FFF2-40B4-BE49-F238E27FC236}">
                <a16:creationId xmlns:a16="http://schemas.microsoft.com/office/drawing/2014/main" id="{A879EFB7-CD5F-294E-A5DE-953354EE3431}"/>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4" name="Picture 3">
            <a:extLst>
              <a:ext uri="{FF2B5EF4-FFF2-40B4-BE49-F238E27FC236}">
                <a16:creationId xmlns:a16="http://schemas.microsoft.com/office/drawing/2014/main" id="{9B93A01D-5932-86E7-3240-10017BA7E182}"/>
              </a:ext>
            </a:extLst>
          </p:cNvPr>
          <p:cNvPicPr>
            <a:picLocks noChangeAspect="1"/>
          </p:cNvPicPr>
          <p:nvPr/>
        </p:nvPicPr>
        <p:blipFill>
          <a:blip r:embed="rId3"/>
          <a:stretch>
            <a:fillRect/>
          </a:stretch>
        </p:blipFill>
        <p:spPr>
          <a:xfrm>
            <a:off x="7894015" y="3811083"/>
            <a:ext cx="2844800" cy="2910394"/>
          </a:xfrm>
          <a:prstGeom prst="rect">
            <a:avLst/>
          </a:prstGeom>
        </p:spPr>
      </p:pic>
    </p:spTree>
    <p:extLst>
      <p:ext uri="{BB962C8B-B14F-4D97-AF65-F5344CB8AC3E}">
        <p14:creationId xmlns:p14="http://schemas.microsoft.com/office/powerpoint/2010/main" val="2007270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65C3-02BB-261D-68B7-EB6517FA6561}"/>
              </a:ext>
            </a:extLst>
          </p:cNvPr>
          <p:cNvSpPr>
            <a:spLocks noGrp="1"/>
          </p:cNvSpPr>
          <p:nvPr>
            <p:ph type="title"/>
          </p:nvPr>
        </p:nvSpPr>
        <p:spPr/>
        <p:txBody>
          <a:bodyPr/>
          <a:lstStyle/>
          <a:p>
            <a:r>
              <a:rPr lang="en-US" dirty="0"/>
              <a:t>Fuel Restructuring</a:t>
            </a:r>
          </a:p>
        </p:txBody>
      </p:sp>
      <p:sp>
        <p:nvSpPr>
          <p:cNvPr id="3" name="Content Placeholder 2">
            <a:extLst>
              <a:ext uri="{FF2B5EF4-FFF2-40B4-BE49-F238E27FC236}">
                <a16:creationId xmlns:a16="http://schemas.microsoft.com/office/drawing/2014/main" id="{7215AA0E-4A26-B8EE-F45D-139F0CFD054F}"/>
              </a:ext>
            </a:extLst>
          </p:cNvPr>
          <p:cNvSpPr>
            <a:spLocks noGrp="1"/>
          </p:cNvSpPr>
          <p:nvPr>
            <p:ph sz="half" idx="1"/>
          </p:nvPr>
        </p:nvSpPr>
        <p:spPr/>
        <p:txBody>
          <a:bodyPr/>
          <a:lstStyle/>
          <a:p>
            <a:r>
              <a:rPr lang="en-US" sz="2000" dirty="0"/>
              <a:t>Zone 1 has large bubbles, interconnected porosity</a:t>
            </a:r>
          </a:p>
          <a:p>
            <a:r>
              <a:rPr lang="en-US" sz="2000" dirty="0"/>
              <a:t>Zone 2 exhibits grain growth parallel to the temperature gradient, somewhat similar to columnar grains in MOX fuel</a:t>
            </a:r>
          </a:p>
          <a:p>
            <a:r>
              <a:rPr lang="en-US" sz="2000" dirty="0"/>
              <a:t>Zone 3 has coaxial grain growth and developed porosity</a:t>
            </a:r>
          </a:p>
          <a:p>
            <a:r>
              <a:rPr lang="en-US" sz="2000" dirty="0"/>
              <a:t>Zone 4 typically has a stable grain size and near as-fabricated porosity</a:t>
            </a:r>
          </a:p>
          <a:p>
            <a:r>
              <a:rPr lang="en-US" sz="2000" dirty="0"/>
              <a:t>Zone 2 does not always form, expected to form at higher temperatures/power</a:t>
            </a:r>
          </a:p>
          <a:p>
            <a:r>
              <a:rPr lang="en-US" sz="2000" dirty="0"/>
              <a:t>At low LHR (&lt;50 kW/m) no restructuring is observed</a:t>
            </a:r>
          </a:p>
        </p:txBody>
      </p:sp>
      <p:sp>
        <p:nvSpPr>
          <p:cNvPr id="5" name="Slide Number Placeholder 4">
            <a:extLst>
              <a:ext uri="{FF2B5EF4-FFF2-40B4-BE49-F238E27FC236}">
                <a16:creationId xmlns:a16="http://schemas.microsoft.com/office/drawing/2014/main" id="{5C8D2553-0A69-41AB-1062-90339E436772}"/>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6" name="Picture 5">
            <a:extLst>
              <a:ext uri="{FF2B5EF4-FFF2-40B4-BE49-F238E27FC236}">
                <a16:creationId xmlns:a16="http://schemas.microsoft.com/office/drawing/2014/main" id="{91716736-2983-3F3D-8D05-5F3E7147EF82}"/>
              </a:ext>
            </a:extLst>
          </p:cNvPr>
          <p:cNvPicPr>
            <a:picLocks noChangeAspect="1"/>
          </p:cNvPicPr>
          <p:nvPr/>
        </p:nvPicPr>
        <p:blipFill>
          <a:blip r:embed="rId2"/>
          <a:stretch>
            <a:fillRect/>
          </a:stretch>
        </p:blipFill>
        <p:spPr>
          <a:xfrm>
            <a:off x="6379535" y="2198686"/>
            <a:ext cx="5525386" cy="3840143"/>
          </a:xfrm>
          <a:prstGeom prst="rect">
            <a:avLst/>
          </a:prstGeom>
        </p:spPr>
      </p:pic>
    </p:spTree>
    <p:extLst>
      <p:ext uri="{BB962C8B-B14F-4D97-AF65-F5344CB8AC3E}">
        <p14:creationId xmlns:p14="http://schemas.microsoft.com/office/powerpoint/2010/main" val="3715104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20B4-04F5-5946-919D-43D3DA89DCF8}"/>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2663EC6E-FA02-8448-9425-E7410F109E11}"/>
              </a:ext>
            </a:extLst>
          </p:cNvPr>
          <p:cNvSpPr>
            <a:spLocks noGrp="1"/>
          </p:cNvSpPr>
          <p:nvPr>
            <p:ph sz="half" idx="1"/>
          </p:nvPr>
        </p:nvSpPr>
        <p:spPr/>
        <p:txBody>
          <a:bodyPr/>
          <a:lstStyle/>
          <a:p>
            <a:r>
              <a:rPr lang="en-US" sz="2100" dirty="0"/>
              <a:t>After the fuel–clad gap closure, free swelling is restrained, and a back stress is generated by the cladding on the fuel</a:t>
            </a:r>
          </a:p>
          <a:p>
            <a:r>
              <a:rPr lang="en-US" sz="2100" dirty="0"/>
              <a:t>The source of stresses in the fuel under irradiation is the pressure generated by fission gases produced within the fuel</a:t>
            </a:r>
          </a:p>
          <a:p>
            <a:r>
              <a:rPr lang="en-US" sz="2100" dirty="0"/>
              <a:t>Unlike close-packed metals, deformation of carbide requires much higher stresses because of the strong covalent bonding existing between the metal atom and the carbon atom</a:t>
            </a:r>
          </a:p>
          <a:p>
            <a:endParaRPr lang="en-US" sz="2100" dirty="0"/>
          </a:p>
          <a:p>
            <a:endParaRPr lang="en-US" sz="2100" dirty="0"/>
          </a:p>
        </p:txBody>
      </p:sp>
      <p:sp>
        <p:nvSpPr>
          <p:cNvPr id="4" name="Content Placeholder 3">
            <a:extLst>
              <a:ext uri="{FF2B5EF4-FFF2-40B4-BE49-F238E27FC236}">
                <a16:creationId xmlns:a16="http://schemas.microsoft.com/office/drawing/2014/main" id="{58F2877A-5245-1F41-80D8-E54BB2F0D1A1}"/>
              </a:ext>
            </a:extLst>
          </p:cNvPr>
          <p:cNvSpPr>
            <a:spLocks noGrp="1"/>
          </p:cNvSpPr>
          <p:nvPr>
            <p:ph sz="half" idx="2"/>
          </p:nvPr>
        </p:nvSpPr>
        <p:spPr/>
        <p:txBody>
          <a:bodyPr/>
          <a:lstStyle/>
          <a:p>
            <a:r>
              <a:rPr lang="en-US" sz="2100" dirty="0"/>
              <a:t>Two types of creep deformation are operative in the fuel: temperature-dependent thermal creep and irradiation creep</a:t>
            </a:r>
          </a:p>
          <a:p>
            <a:r>
              <a:rPr lang="en-US" sz="2100" dirty="0"/>
              <a:t>Thermal creep has been shown to start at 1000C and dominate over radiation-induced creep</a:t>
            </a:r>
          </a:p>
          <a:p>
            <a:r>
              <a:rPr lang="en-US" sz="2100" dirty="0"/>
              <a:t>The steady-state creep curve has been determined and is a function of stress, temperature, composition, grain size, and impurity content in the fuel</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93308527-A6B9-8C4F-A7D4-40338BD8240E}"/>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pic>
        <p:nvPicPr>
          <p:cNvPr id="6" name="Picture 5">
            <a:extLst>
              <a:ext uri="{FF2B5EF4-FFF2-40B4-BE49-F238E27FC236}">
                <a16:creationId xmlns:a16="http://schemas.microsoft.com/office/drawing/2014/main" id="{2C6EFCC3-E64C-0143-B508-7037282D792F}"/>
              </a:ext>
            </a:extLst>
          </p:cNvPr>
          <p:cNvPicPr>
            <a:picLocks noChangeAspect="1"/>
          </p:cNvPicPr>
          <p:nvPr/>
        </p:nvPicPr>
        <p:blipFill>
          <a:blip r:embed="rId2"/>
          <a:stretch>
            <a:fillRect/>
          </a:stretch>
        </p:blipFill>
        <p:spPr>
          <a:xfrm>
            <a:off x="7470771" y="5745959"/>
            <a:ext cx="3073400" cy="495300"/>
          </a:xfrm>
          <a:prstGeom prst="rect">
            <a:avLst/>
          </a:prstGeom>
        </p:spPr>
      </p:pic>
    </p:spTree>
    <p:extLst>
      <p:ext uri="{BB962C8B-B14F-4D97-AF65-F5344CB8AC3E}">
        <p14:creationId xmlns:p14="http://schemas.microsoft.com/office/powerpoint/2010/main" val="2224256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D379-85E2-8C48-B463-C6C9DEF2CC0E}"/>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7E738109-D3A1-5947-8F14-59A941A4A071}"/>
              </a:ext>
            </a:extLst>
          </p:cNvPr>
          <p:cNvSpPr>
            <a:spLocks noGrp="1"/>
          </p:cNvSpPr>
          <p:nvPr>
            <p:ph sz="half" idx="1"/>
          </p:nvPr>
        </p:nvSpPr>
        <p:spPr>
          <a:xfrm>
            <a:off x="609600" y="1968503"/>
            <a:ext cx="5906074" cy="4157663"/>
          </a:xfrm>
        </p:spPr>
        <p:txBody>
          <a:bodyPr/>
          <a:lstStyle/>
          <a:p>
            <a:r>
              <a:rPr lang="en-US" sz="2200" dirty="0"/>
              <a:t>Steady-state creep data of UC</a:t>
            </a:r>
            <a:r>
              <a:rPr lang="en-US" sz="2200" baseline="-25000" dirty="0"/>
              <a:t>1-x</a:t>
            </a:r>
            <a:r>
              <a:rPr lang="en-US" sz="2200" dirty="0"/>
              <a:t> and MC</a:t>
            </a:r>
            <a:r>
              <a:rPr lang="en-US" sz="2200" baseline="-25000" dirty="0"/>
              <a:t>1+x </a:t>
            </a:r>
            <a:r>
              <a:rPr lang="en-US" sz="2200" dirty="0"/>
              <a:t>at a stress of 20 MPa</a:t>
            </a:r>
          </a:p>
          <a:p>
            <a:r>
              <a:rPr lang="en-US" sz="2200" dirty="0"/>
              <a:t>Substantial creep only exists for a limited part of the fuel, and thus most of the fuel acts as a brittle material</a:t>
            </a:r>
          </a:p>
          <a:p>
            <a:r>
              <a:rPr lang="en-US" sz="2200" dirty="0"/>
              <a:t>Irradiation-induced creep is independent of temperature, but increases with flux</a:t>
            </a:r>
          </a:p>
          <a:p>
            <a:r>
              <a:rPr lang="en-US" sz="2200" dirty="0"/>
              <a:t>Additional porosity or second phases will change this data</a:t>
            </a:r>
          </a:p>
          <a:p>
            <a:r>
              <a:rPr lang="en-US" sz="2200" dirty="0"/>
              <a:t>No data on creep of high-Pu mixed carbide or Pu-C fuel</a:t>
            </a:r>
          </a:p>
          <a:p>
            <a:endParaRPr lang="en-US" sz="2200" dirty="0"/>
          </a:p>
        </p:txBody>
      </p:sp>
      <p:pic>
        <p:nvPicPr>
          <p:cNvPr id="6" name="Content Placeholder 5">
            <a:extLst>
              <a:ext uri="{FF2B5EF4-FFF2-40B4-BE49-F238E27FC236}">
                <a16:creationId xmlns:a16="http://schemas.microsoft.com/office/drawing/2014/main" id="{CCBA3258-14E2-F747-8881-F9AB93BBF392}"/>
              </a:ext>
            </a:extLst>
          </p:cNvPr>
          <p:cNvPicPr>
            <a:picLocks noGrp="1" noChangeAspect="1"/>
          </p:cNvPicPr>
          <p:nvPr>
            <p:ph sz="half" idx="2"/>
          </p:nvPr>
        </p:nvPicPr>
        <p:blipFill>
          <a:blip r:embed="rId2"/>
          <a:stretch>
            <a:fillRect/>
          </a:stretch>
        </p:blipFill>
        <p:spPr>
          <a:xfrm>
            <a:off x="6515674" y="1968500"/>
            <a:ext cx="4748652" cy="4157663"/>
          </a:xfrm>
          <a:prstGeom prst="rect">
            <a:avLst/>
          </a:prstGeom>
        </p:spPr>
      </p:pic>
      <p:sp>
        <p:nvSpPr>
          <p:cNvPr id="5" name="Slide Number Placeholder 4">
            <a:extLst>
              <a:ext uri="{FF2B5EF4-FFF2-40B4-BE49-F238E27FC236}">
                <a16:creationId xmlns:a16="http://schemas.microsoft.com/office/drawing/2014/main" id="{0547AD18-E84D-744F-BC73-937207A9DA5E}"/>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Tree>
    <p:extLst>
      <p:ext uri="{BB962C8B-B14F-4D97-AF65-F5344CB8AC3E}">
        <p14:creationId xmlns:p14="http://schemas.microsoft.com/office/powerpoint/2010/main" val="336315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C897-965B-FBFB-76CF-216C30E92EC6}"/>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24470E15-C187-7F16-4A87-E0C4DBD1E2A6}"/>
              </a:ext>
            </a:extLst>
          </p:cNvPr>
          <p:cNvSpPr>
            <a:spLocks noGrp="1"/>
          </p:cNvSpPr>
          <p:nvPr>
            <p:ph idx="1"/>
          </p:nvPr>
        </p:nvSpPr>
        <p:spPr>
          <a:xfrm>
            <a:off x="609600" y="2280746"/>
            <a:ext cx="11049000" cy="3845418"/>
          </a:xfrm>
        </p:spPr>
        <p:txBody>
          <a:bodyPr/>
          <a:lstStyle/>
          <a:p>
            <a:r>
              <a:rPr lang="en-US" sz="2200" dirty="0"/>
              <a:t>FCCI in fuel pins containing carbide fuel consists of clad carburization, slight reaction with FPs, and formation of intermetallic compounds</a:t>
            </a:r>
          </a:p>
          <a:p>
            <a:r>
              <a:rPr lang="en-US" sz="2200" dirty="0"/>
              <a:t>Carbides generally present fewer compatibility problems than MOX fuels</a:t>
            </a:r>
          </a:p>
          <a:p>
            <a:endParaRPr lang="en-US" sz="2200" dirty="0"/>
          </a:p>
          <a:p>
            <a:r>
              <a:rPr lang="en-US" sz="2200" dirty="0"/>
              <a:t>Chemical Reactions with FPs</a:t>
            </a:r>
          </a:p>
          <a:p>
            <a:r>
              <a:rPr lang="en-US" sz="2200" dirty="0"/>
              <a:t>Very little available oxygen leads to FP-C interactions, and we have an expected decrease in C/M ratio with burnup</a:t>
            </a:r>
          </a:p>
          <a:p>
            <a:r>
              <a:rPr lang="en-US" sz="2200" dirty="0"/>
              <a:t>Significant FP-cladding interactions are generally not seen</a:t>
            </a:r>
          </a:p>
          <a:p>
            <a:r>
              <a:rPr lang="en-US" sz="2200" dirty="0"/>
              <a:t>Some </a:t>
            </a:r>
            <a:r>
              <a:rPr lang="en-US" sz="2200" dirty="0" err="1"/>
              <a:t>Te</a:t>
            </a:r>
            <a:r>
              <a:rPr lang="en-US" sz="2200" dirty="0"/>
              <a:t> intergranular attack, some reaction with iodine</a:t>
            </a:r>
          </a:p>
          <a:p>
            <a:r>
              <a:rPr lang="en-US" sz="2200" dirty="0"/>
              <a:t>Generally not a concern</a:t>
            </a:r>
          </a:p>
        </p:txBody>
      </p:sp>
      <p:sp>
        <p:nvSpPr>
          <p:cNvPr id="4" name="Slide Number Placeholder 3">
            <a:extLst>
              <a:ext uri="{FF2B5EF4-FFF2-40B4-BE49-F238E27FC236}">
                <a16:creationId xmlns:a16="http://schemas.microsoft.com/office/drawing/2014/main" id="{FCFA43EA-FB96-454B-E4E8-C684D8816D28}"/>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Tree>
    <p:extLst>
      <p:ext uri="{BB962C8B-B14F-4D97-AF65-F5344CB8AC3E}">
        <p14:creationId xmlns:p14="http://schemas.microsoft.com/office/powerpoint/2010/main" val="3168539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2375-AC17-3744-E7C8-C8D8D4E92E84}"/>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CB297D54-CB37-BDFA-462A-3020B03DF626}"/>
              </a:ext>
            </a:extLst>
          </p:cNvPr>
          <p:cNvSpPr>
            <a:spLocks noGrp="1"/>
          </p:cNvSpPr>
          <p:nvPr>
            <p:ph idx="1"/>
          </p:nvPr>
        </p:nvSpPr>
        <p:spPr>
          <a:xfrm>
            <a:off x="609600" y="1979771"/>
            <a:ext cx="6063752" cy="3845418"/>
          </a:xfrm>
        </p:spPr>
        <p:txBody>
          <a:bodyPr/>
          <a:lstStyle/>
          <a:p>
            <a:r>
              <a:rPr lang="en-US" sz="2000" dirty="0"/>
              <a:t>Low melting phases</a:t>
            </a:r>
          </a:p>
          <a:p>
            <a:r>
              <a:rPr lang="en-US" sz="2000" dirty="0" err="1"/>
              <a:t>Hypostoichiometric</a:t>
            </a:r>
            <a:r>
              <a:rPr lang="en-US" sz="2000" dirty="0"/>
              <a:t> carbide fuels can contain U/Pu metal as a second phase which can form intermetallic compounds with the cladding </a:t>
            </a:r>
          </a:p>
          <a:p>
            <a:r>
              <a:rPr lang="en-US" sz="2000" dirty="0"/>
              <a:t>Experimental compatibility tests of (</a:t>
            </a:r>
            <a:r>
              <a:rPr lang="en-US" sz="2000" dirty="0" err="1"/>
              <a:t>U,Pu</a:t>
            </a:r>
            <a:r>
              <a:rPr lang="en-US" sz="2000" dirty="0"/>
              <a:t>)C with cladding have shown intermetallic compounds such as (</a:t>
            </a:r>
            <a:r>
              <a:rPr lang="en-US" sz="2000" dirty="0" err="1"/>
              <a:t>U,Pu</a:t>
            </a:r>
            <a:r>
              <a:rPr lang="en-US" sz="2000" dirty="0"/>
              <a:t>)Fe2 or (</a:t>
            </a:r>
            <a:r>
              <a:rPr lang="en-US" sz="2000" dirty="0" err="1"/>
              <a:t>U,Pu</a:t>
            </a:r>
            <a:r>
              <a:rPr lang="en-US" sz="2000" dirty="0"/>
              <a:t>)Ni5 </a:t>
            </a:r>
            <a:r>
              <a:rPr lang="en-US" dirty="0"/>
              <a:t>at</a:t>
            </a:r>
            <a:r>
              <a:rPr lang="en-US" sz="2000" dirty="0"/>
              <a:t> the fuel/cladding interface</a:t>
            </a:r>
          </a:p>
          <a:p>
            <a:r>
              <a:rPr lang="en-US" sz="2000" dirty="0"/>
              <a:t>At typical fuel surface temperatures (~1000K), reaction rates should be slow to create </a:t>
            </a:r>
            <a:r>
              <a:rPr lang="en-US" sz="2000" dirty="0" err="1"/>
              <a:t>intermetallics</a:t>
            </a:r>
            <a:endParaRPr lang="en-US" sz="2000" dirty="0"/>
          </a:p>
          <a:p>
            <a:r>
              <a:rPr lang="en-US" sz="2000" dirty="0"/>
              <a:t>However, if sufficient </a:t>
            </a:r>
            <a:r>
              <a:rPr lang="en-US" sz="2000" dirty="0" err="1"/>
              <a:t>hypostoichiometry</a:t>
            </a:r>
            <a:r>
              <a:rPr lang="en-US" sz="2000" dirty="0"/>
              <a:t> is present, can react to form </a:t>
            </a:r>
            <a:r>
              <a:rPr lang="en-US" sz="2000" dirty="0" err="1"/>
              <a:t>intermetallics</a:t>
            </a:r>
            <a:endParaRPr lang="en-US" sz="2000" dirty="0"/>
          </a:p>
        </p:txBody>
      </p:sp>
      <p:sp>
        <p:nvSpPr>
          <p:cNvPr id="4" name="Slide Number Placeholder 3">
            <a:extLst>
              <a:ext uri="{FF2B5EF4-FFF2-40B4-BE49-F238E27FC236}">
                <a16:creationId xmlns:a16="http://schemas.microsoft.com/office/drawing/2014/main" id="{6A942C26-3FA4-9E24-15B8-3F9260109E80}"/>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pic>
        <p:nvPicPr>
          <p:cNvPr id="5" name="Picture 4">
            <a:extLst>
              <a:ext uri="{FF2B5EF4-FFF2-40B4-BE49-F238E27FC236}">
                <a16:creationId xmlns:a16="http://schemas.microsoft.com/office/drawing/2014/main" id="{08886E78-5489-AA64-26D5-5A7E04720613}"/>
              </a:ext>
            </a:extLst>
          </p:cNvPr>
          <p:cNvPicPr>
            <a:picLocks noChangeAspect="1"/>
          </p:cNvPicPr>
          <p:nvPr/>
        </p:nvPicPr>
        <p:blipFill>
          <a:blip r:embed="rId2"/>
          <a:stretch>
            <a:fillRect/>
          </a:stretch>
        </p:blipFill>
        <p:spPr>
          <a:xfrm>
            <a:off x="6673352" y="2280746"/>
            <a:ext cx="5391036" cy="3435856"/>
          </a:xfrm>
          <a:prstGeom prst="rect">
            <a:avLst/>
          </a:prstGeom>
        </p:spPr>
      </p:pic>
    </p:spTree>
    <p:extLst>
      <p:ext uri="{BB962C8B-B14F-4D97-AF65-F5344CB8AC3E}">
        <p14:creationId xmlns:p14="http://schemas.microsoft.com/office/powerpoint/2010/main" val="48217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Carbide fuels are designed to be </a:t>
            </a:r>
            <a:r>
              <a:rPr lang="en-US" sz="2100" dirty="0" err="1"/>
              <a:t>hyperstoichiometric</a:t>
            </a:r>
            <a:r>
              <a:rPr lang="en-US" sz="2100" dirty="0"/>
              <a:t>, which results in a two-phase UC/U2C3 microstructure</a:t>
            </a:r>
          </a:p>
          <a:p>
            <a:r>
              <a:rPr lang="en-US" sz="2100" dirty="0"/>
              <a:t>The presence of excess carbon prevents the formation of intermetallic phases, but carburizes the cladding</a:t>
            </a:r>
          </a:p>
          <a:p>
            <a:r>
              <a:rPr lang="en-US" sz="2100" dirty="0"/>
              <a:t>The decarburization of fuel and the carburization of cladding are governed by the dissolution of carbon atoms from the fuel and then diffusion into cladding</a:t>
            </a:r>
          </a:p>
          <a:p>
            <a:r>
              <a:rPr lang="en-US" sz="2100" dirty="0"/>
              <a:t>Cr forms very stable carbides, and carburization often takes the form of Cr23C6 precipitation</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709222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Cr23C6 precipitation starts at the grain boundaries, and then can proceed along preferred crystallographic planes</a:t>
            </a:r>
          </a:p>
          <a:p>
            <a:r>
              <a:rPr lang="en-US" sz="2100" dirty="0"/>
              <a:t>The carburization proceeds deeper into the material </a:t>
            </a:r>
          </a:p>
          <a:p>
            <a:r>
              <a:rPr lang="en-US" sz="2100" dirty="0"/>
              <a:t>The grain boundary carbides can lead to intergranular failure of the steel after only a moderate burnup</a:t>
            </a:r>
          </a:p>
          <a:p>
            <a:r>
              <a:rPr lang="en-US" sz="2100" dirty="0"/>
              <a:t>Austenitic stainless steels are very susceptible to carburization and are deemed too brittle if carbon content reaches 0.6 wt.%</a:t>
            </a:r>
          </a:p>
          <a:p>
            <a:r>
              <a:rPr lang="en-US" sz="2100" dirty="0"/>
              <a:t>Regardless, Aust. SS are the main cladding material utilized in the FBTR</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2249529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231E-8AAC-964E-A06F-EF9D74A99DD0}"/>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91B37BB5-6F3C-F242-B4BD-2D5F8C74EDEC}"/>
              </a:ext>
            </a:extLst>
          </p:cNvPr>
          <p:cNvSpPr>
            <a:spLocks noGrp="1"/>
          </p:cNvSpPr>
          <p:nvPr>
            <p:ph sz="half" idx="1"/>
          </p:nvPr>
        </p:nvSpPr>
        <p:spPr/>
        <p:txBody>
          <a:bodyPr/>
          <a:lstStyle/>
          <a:p>
            <a:r>
              <a:rPr lang="en-US" sz="2100" dirty="0"/>
              <a:t>Carbon activity and partial pressure of CO are important parameters responsible for clad carburization</a:t>
            </a:r>
          </a:p>
          <a:p>
            <a:r>
              <a:rPr lang="en-US" sz="2100" dirty="0"/>
              <a:t>In sodium-bonded fuel, carbon transfer from the fuel to the cladding takes place by dissolution of carbon in liquid sodium </a:t>
            </a:r>
          </a:p>
          <a:p>
            <a:r>
              <a:rPr lang="en-US" sz="2100" dirty="0"/>
              <a:t>In He-bonded fuel pins, carbon transfer takes place through CO</a:t>
            </a:r>
          </a:p>
          <a:p>
            <a:r>
              <a:rPr lang="en-US" sz="2100" dirty="0"/>
              <a:t>Out-of-pile testing with Na-bonded fuel showed carburization above 1000 K, with hardening of the SS316 cladding up to 100 </a:t>
            </a:r>
            <a:r>
              <a:rPr lang="en-US" sz="2100" dirty="0">
                <a:latin typeface="Symbol" pitchFamily="2" charset="2"/>
              </a:rPr>
              <a:t>m</a:t>
            </a:r>
            <a:r>
              <a:rPr lang="en-US" sz="2100" dirty="0"/>
              <a:t>m</a:t>
            </a:r>
          </a:p>
          <a:p>
            <a:endParaRPr lang="en-US" sz="2100" dirty="0"/>
          </a:p>
          <a:p>
            <a:endParaRPr lang="en-US" sz="2100" dirty="0"/>
          </a:p>
          <a:p>
            <a:endParaRPr lang="en-US" sz="2100" dirty="0"/>
          </a:p>
        </p:txBody>
      </p:sp>
      <p:sp>
        <p:nvSpPr>
          <p:cNvPr id="4" name="Content Placeholder 3">
            <a:extLst>
              <a:ext uri="{FF2B5EF4-FFF2-40B4-BE49-F238E27FC236}">
                <a16:creationId xmlns:a16="http://schemas.microsoft.com/office/drawing/2014/main" id="{E1338D9A-AFBA-7646-ABFF-BEAB0AF8912C}"/>
              </a:ext>
            </a:extLst>
          </p:cNvPr>
          <p:cNvSpPr>
            <a:spLocks noGrp="1"/>
          </p:cNvSpPr>
          <p:nvPr>
            <p:ph sz="half" idx="2"/>
          </p:nvPr>
        </p:nvSpPr>
        <p:spPr/>
        <p:txBody>
          <a:bodyPr/>
          <a:lstStyle/>
          <a:p>
            <a:r>
              <a:rPr lang="en-US" sz="2100" dirty="0"/>
              <a:t>The depth of carburization in Na-bonded fuel was greater than in the He-bonded pins</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453BBA4C-DA88-8E43-B437-B017FE4E3130}"/>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6" name="Picture 5">
            <a:extLst>
              <a:ext uri="{FF2B5EF4-FFF2-40B4-BE49-F238E27FC236}">
                <a16:creationId xmlns:a16="http://schemas.microsoft.com/office/drawing/2014/main" id="{BE9AADD8-7DBE-4B49-92DB-6B3121016BE4}"/>
              </a:ext>
            </a:extLst>
          </p:cNvPr>
          <p:cNvPicPr>
            <a:picLocks noChangeAspect="1"/>
          </p:cNvPicPr>
          <p:nvPr/>
        </p:nvPicPr>
        <p:blipFill>
          <a:blip r:embed="rId2"/>
          <a:stretch>
            <a:fillRect/>
          </a:stretch>
        </p:blipFill>
        <p:spPr>
          <a:xfrm>
            <a:off x="7036802" y="3090028"/>
            <a:ext cx="4033954" cy="3151231"/>
          </a:xfrm>
          <a:prstGeom prst="rect">
            <a:avLst/>
          </a:prstGeom>
        </p:spPr>
      </p:pic>
    </p:spTree>
    <p:extLst>
      <p:ext uri="{BB962C8B-B14F-4D97-AF65-F5344CB8AC3E}">
        <p14:creationId xmlns:p14="http://schemas.microsoft.com/office/powerpoint/2010/main" val="884637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3D24-FC54-9AF6-EF4F-A5F620DC5488}"/>
              </a:ext>
            </a:extLst>
          </p:cNvPr>
          <p:cNvSpPr>
            <a:spLocks noGrp="1"/>
          </p:cNvSpPr>
          <p:nvPr>
            <p:ph type="title"/>
          </p:nvPr>
        </p:nvSpPr>
        <p:spPr/>
        <p:txBody>
          <a:bodyPr/>
          <a:lstStyle/>
          <a:p>
            <a:pPr algn="l"/>
            <a:r>
              <a:rPr lang="en-US" dirty="0"/>
              <a:t>Cladding Carburization</a:t>
            </a:r>
          </a:p>
        </p:txBody>
      </p:sp>
      <p:sp>
        <p:nvSpPr>
          <p:cNvPr id="3" name="Content Placeholder 2">
            <a:extLst>
              <a:ext uri="{FF2B5EF4-FFF2-40B4-BE49-F238E27FC236}">
                <a16:creationId xmlns:a16="http://schemas.microsoft.com/office/drawing/2014/main" id="{C772BD14-0D73-D3EC-67E3-AEEEA6E67621}"/>
              </a:ext>
            </a:extLst>
          </p:cNvPr>
          <p:cNvSpPr>
            <a:spLocks noGrp="1"/>
          </p:cNvSpPr>
          <p:nvPr>
            <p:ph sz="half" idx="1"/>
          </p:nvPr>
        </p:nvSpPr>
        <p:spPr>
          <a:xfrm>
            <a:off x="609600" y="1968503"/>
            <a:ext cx="6165774" cy="4157663"/>
          </a:xfrm>
        </p:spPr>
        <p:txBody>
          <a:bodyPr/>
          <a:lstStyle/>
          <a:p>
            <a:r>
              <a:rPr lang="en-US" sz="2200" dirty="0"/>
              <a:t>The temperature gradient in the fuel causes carbon to migrate to colder zones in the fuel, increasing the C/M ratio at the pellet surface</a:t>
            </a:r>
          </a:p>
          <a:p>
            <a:r>
              <a:rPr lang="en-US" sz="2200" dirty="0"/>
              <a:t>Cladding temperature plays a critical role in carburization</a:t>
            </a:r>
          </a:p>
          <a:p>
            <a:r>
              <a:rPr lang="en-US" sz="2200" dirty="0"/>
              <a:t>Carburization depth shows a strong dependence on cladding temperature</a:t>
            </a:r>
          </a:p>
          <a:p>
            <a:r>
              <a:rPr lang="en-US" sz="2200" dirty="0"/>
              <a:t>Carbon penetration seems to follow a diffusion process with a constant surface concentration</a:t>
            </a:r>
          </a:p>
        </p:txBody>
      </p:sp>
      <p:sp>
        <p:nvSpPr>
          <p:cNvPr id="5" name="Slide Number Placeholder 4">
            <a:extLst>
              <a:ext uri="{FF2B5EF4-FFF2-40B4-BE49-F238E27FC236}">
                <a16:creationId xmlns:a16="http://schemas.microsoft.com/office/drawing/2014/main" id="{0E40CBC2-6FB4-E7B8-7426-3CFF511F03DD}"/>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dirty="0"/>
          </a:p>
        </p:txBody>
      </p:sp>
      <p:pic>
        <p:nvPicPr>
          <p:cNvPr id="6" name="Picture 5">
            <a:extLst>
              <a:ext uri="{FF2B5EF4-FFF2-40B4-BE49-F238E27FC236}">
                <a16:creationId xmlns:a16="http://schemas.microsoft.com/office/drawing/2014/main" id="{2F4EF5C3-866B-CF04-D534-C03159D25FA3}"/>
              </a:ext>
            </a:extLst>
          </p:cNvPr>
          <p:cNvPicPr>
            <a:picLocks noChangeAspect="1"/>
          </p:cNvPicPr>
          <p:nvPr/>
        </p:nvPicPr>
        <p:blipFill>
          <a:blip r:embed="rId2"/>
          <a:stretch>
            <a:fillRect/>
          </a:stretch>
        </p:blipFill>
        <p:spPr>
          <a:xfrm>
            <a:off x="7866121" y="646744"/>
            <a:ext cx="2930409" cy="3520425"/>
          </a:xfrm>
          <a:prstGeom prst="rect">
            <a:avLst/>
          </a:prstGeom>
        </p:spPr>
      </p:pic>
      <p:pic>
        <p:nvPicPr>
          <p:cNvPr id="7" name="Picture 6">
            <a:extLst>
              <a:ext uri="{FF2B5EF4-FFF2-40B4-BE49-F238E27FC236}">
                <a16:creationId xmlns:a16="http://schemas.microsoft.com/office/drawing/2014/main" id="{B6FF89CA-2B05-C910-76CD-4807407E3BCF}"/>
              </a:ext>
            </a:extLst>
          </p:cNvPr>
          <p:cNvPicPr>
            <a:picLocks noChangeAspect="1"/>
          </p:cNvPicPr>
          <p:nvPr/>
        </p:nvPicPr>
        <p:blipFill>
          <a:blip r:embed="rId3"/>
          <a:stretch>
            <a:fillRect/>
          </a:stretch>
        </p:blipFill>
        <p:spPr>
          <a:xfrm>
            <a:off x="7041652" y="4088673"/>
            <a:ext cx="4579345" cy="2554308"/>
          </a:xfrm>
          <a:prstGeom prst="rect">
            <a:avLst/>
          </a:prstGeom>
        </p:spPr>
      </p:pic>
    </p:spTree>
    <p:extLst>
      <p:ext uri="{BB962C8B-B14F-4D97-AF65-F5344CB8AC3E}">
        <p14:creationId xmlns:p14="http://schemas.microsoft.com/office/powerpoint/2010/main" val="1431375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F3873-5386-F247-8DA2-47E1C623ADC5}"/>
              </a:ext>
            </a:extLst>
          </p:cNvPr>
          <p:cNvSpPr>
            <a:spLocks noGrp="1"/>
          </p:cNvSpPr>
          <p:nvPr>
            <p:ph type="title"/>
          </p:nvPr>
        </p:nvSpPr>
        <p:spPr/>
        <p:txBody>
          <a:bodyPr/>
          <a:lstStyle/>
          <a:p>
            <a:r>
              <a:rPr lang="en-US" dirty="0"/>
              <a:t>Na Bonded Pin Performance</a:t>
            </a:r>
          </a:p>
        </p:txBody>
      </p:sp>
      <p:sp>
        <p:nvSpPr>
          <p:cNvPr id="3" name="Content Placeholder 2">
            <a:extLst>
              <a:ext uri="{FF2B5EF4-FFF2-40B4-BE49-F238E27FC236}">
                <a16:creationId xmlns:a16="http://schemas.microsoft.com/office/drawing/2014/main" id="{56B6F63D-A771-DE45-8101-D4A9AEF2411B}"/>
              </a:ext>
            </a:extLst>
          </p:cNvPr>
          <p:cNvSpPr>
            <a:spLocks noGrp="1"/>
          </p:cNvSpPr>
          <p:nvPr>
            <p:ph sz="half" idx="1"/>
          </p:nvPr>
        </p:nvSpPr>
        <p:spPr/>
        <p:txBody>
          <a:bodyPr/>
          <a:lstStyle/>
          <a:p>
            <a:r>
              <a:rPr lang="en-US" sz="2200" dirty="0"/>
              <a:t>For the sodium-bonded fuel pin, the gap is larger than that of He-bonded fuel and the pellet density is higher</a:t>
            </a:r>
          </a:p>
          <a:p>
            <a:r>
              <a:rPr lang="en-US" sz="2200" dirty="0"/>
              <a:t>Thus, we have the manufacture of a denser fuel with less initial porosity</a:t>
            </a:r>
          </a:p>
          <a:p>
            <a:r>
              <a:rPr lang="en-US" sz="2200" dirty="0"/>
              <a:t>In the beginning (stage A), the fresh fuel fractures, reducing thermoelastic stresses and drastically changing temperature gradient of the fuel</a:t>
            </a:r>
          </a:p>
          <a:p>
            <a:r>
              <a:rPr lang="en-US" sz="2200" dirty="0"/>
              <a:t>There is a less abrupt change in fuel temperature in this concept</a:t>
            </a:r>
          </a:p>
        </p:txBody>
      </p:sp>
      <p:sp>
        <p:nvSpPr>
          <p:cNvPr id="4" name="Content Placeholder 3">
            <a:extLst>
              <a:ext uri="{FF2B5EF4-FFF2-40B4-BE49-F238E27FC236}">
                <a16:creationId xmlns:a16="http://schemas.microsoft.com/office/drawing/2014/main" id="{910DA670-32E7-B64C-A6D8-A3D19EE03385}"/>
              </a:ext>
            </a:extLst>
          </p:cNvPr>
          <p:cNvSpPr>
            <a:spLocks noGrp="1"/>
          </p:cNvSpPr>
          <p:nvPr>
            <p:ph sz="half" idx="2"/>
          </p:nvPr>
        </p:nvSpPr>
        <p:spPr/>
        <p:txBody>
          <a:bodyPr/>
          <a:lstStyle/>
          <a:p>
            <a:r>
              <a:rPr lang="en-US" sz="2200" dirty="0"/>
              <a:t>The lower temperature of the sodium-bonded pin keeps the swelling rate of the fuel lower</a:t>
            </a:r>
          </a:p>
          <a:p>
            <a:r>
              <a:rPr lang="en-US" sz="2200" dirty="0"/>
              <a:t>The decrease in thermal conductivity with burnup is compensated by a slow decrease in linear heating</a:t>
            </a:r>
          </a:p>
          <a:p>
            <a:r>
              <a:rPr lang="en-US" sz="2200" dirty="0"/>
              <a:t>FCMI can be avoided till end of life by proper selection of initial fuel–clad gap</a:t>
            </a:r>
          </a:p>
          <a:p>
            <a:r>
              <a:rPr lang="en-US" sz="2200" dirty="0"/>
              <a:t>Na bond acts like a medium for transfer of carbon from the fuel to clad, causing clad carburization</a:t>
            </a:r>
          </a:p>
          <a:p>
            <a:endParaRPr lang="en-US" sz="2200" dirty="0"/>
          </a:p>
        </p:txBody>
      </p:sp>
      <p:sp>
        <p:nvSpPr>
          <p:cNvPr id="5" name="Slide Number Placeholder 4">
            <a:extLst>
              <a:ext uri="{FF2B5EF4-FFF2-40B4-BE49-F238E27FC236}">
                <a16:creationId xmlns:a16="http://schemas.microsoft.com/office/drawing/2014/main" id="{E42F4415-1340-0E47-A56A-EE02F71051DD}"/>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954672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C0A8-3A99-6C4A-8CE8-4C9370AB708F}"/>
              </a:ext>
            </a:extLst>
          </p:cNvPr>
          <p:cNvSpPr>
            <a:spLocks noGrp="1"/>
          </p:cNvSpPr>
          <p:nvPr>
            <p:ph type="title"/>
          </p:nvPr>
        </p:nvSpPr>
        <p:spPr/>
        <p:txBody>
          <a:bodyPr/>
          <a:lstStyle/>
          <a:p>
            <a:r>
              <a:rPr lang="en-US" dirty="0"/>
              <a:t>He Bonded Pin Performance</a:t>
            </a:r>
          </a:p>
        </p:txBody>
      </p:sp>
      <p:sp>
        <p:nvSpPr>
          <p:cNvPr id="3" name="Content Placeholder 2">
            <a:extLst>
              <a:ext uri="{FF2B5EF4-FFF2-40B4-BE49-F238E27FC236}">
                <a16:creationId xmlns:a16="http://schemas.microsoft.com/office/drawing/2014/main" id="{091D704D-D0CF-2F4A-90CB-4A3A624A8E37}"/>
              </a:ext>
            </a:extLst>
          </p:cNvPr>
          <p:cNvSpPr>
            <a:spLocks noGrp="1"/>
          </p:cNvSpPr>
          <p:nvPr>
            <p:ph sz="half" idx="1"/>
          </p:nvPr>
        </p:nvSpPr>
        <p:spPr/>
        <p:txBody>
          <a:bodyPr/>
          <a:lstStyle/>
          <a:p>
            <a:r>
              <a:rPr lang="en-US" sz="2200" dirty="0"/>
              <a:t>He bonding is the most preferred bonding concept of carbide fuel, due to cost and the potential for Na bond deterioration at high burnup</a:t>
            </a:r>
          </a:p>
          <a:p>
            <a:r>
              <a:rPr lang="en-US" sz="2200" dirty="0"/>
              <a:t>The in-pile performance of the He-bonded pin depends to a large extent on the porosity of the as-fabricated fuel</a:t>
            </a:r>
          </a:p>
          <a:p>
            <a:r>
              <a:rPr lang="en-US" sz="2200" dirty="0"/>
              <a:t>The initial temperature rise is much higher at the beginning of life because of the lower thermal conductivity of the He bond compared to Na bond</a:t>
            </a:r>
          </a:p>
          <a:p>
            <a:endParaRPr lang="en-US" sz="2200" dirty="0"/>
          </a:p>
          <a:p>
            <a:endParaRPr lang="en-US" sz="2200" dirty="0"/>
          </a:p>
        </p:txBody>
      </p:sp>
      <p:sp>
        <p:nvSpPr>
          <p:cNvPr id="4" name="Content Placeholder 3">
            <a:extLst>
              <a:ext uri="{FF2B5EF4-FFF2-40B4-BE49-F238E27FC236}">
                <a16:creationId xmlns:a16="http://schemas.microsoft.com/office/drawing/2014/main" id="{C5DAA208-1F4E-5A4F-92D6-F8657A037D6C}"/>
              </a:ext>
            </a:extLst>
          </p:cNvPr>
          <p:cNvSpPr>
            <a:spLocks noGrp="1"/>
          </p:cNvSpPr>
          <p:nvPr>
            <p:ph sz="half" idx="2"/>
          </p:nvPr>
        </p:nvSpPr>
        <p:spPr/>
        <p:txBody>
          <a:bodyPr/>
          <a:lstStyle/>
          <a:p>
            <a:r>
              <a:rPr lang="en-US" sz="2200" dirty="0"/>
              <a:t>The lower thermal conductivity of the He bond requires the reduction of the fuel–clad gap compared to the Na-bonded fuel</a:t>
            </a:r>
          </a:p>
          <a:p>
            <a:r>
              <a:rPr lang="en-US" sz="2200" dirty="0"/>
              <a:t>The fuel density for He bonded fuel is lower and has a fabrication porosity of about 15%</a:t>
            </a:r>
          </a:p>
          <a:p>
            <a:r>
              <a:rPr lang="en-US" sz="2200" dirty="0"/>
              <a:t>The gap closure in the early burnup period results in lowering of the fuel temperature, and free swelling changes into restrained swelling under the contact pressure developed at the clad–fuel interface</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2ACF5CC6-B869-C148-A2AA-543036CC9E9A}"/>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3783063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30AE-423C-B045-8EFC-E024BFF6F1A5}"/>
              </a:ext>
            </a:extLst>
          </p:cNvPr>
          <p:cNvSpPr>
            <a:spLocks noGrp="1"/>
          </p:cNvSpPr>
          <p:nvPr>
            <p:ph type="title"/>
          </p:nvPr>
        </p:nvSpPr>
        <p:spPr/>
        <p:txBody>
          <a:bodyPr/>
          <a:lstStyle/>
          <a:p>
            <a:r>
              <a:rPr lang="en-US" dirty="0"/>
              <a:t>Pin Failure</a:t>
            </a:r>
          </a:p>
        </p:txBody>
      </p:sp>
      <p:sp>
        <p:nvSpPr>
          <p:cNvPr id="3" name="Content Placeholder 2">
            <a:extLst>
              <a:ext uri="{FF2B5EF4-FFF2-40B4-BE49-F238E27FC236}">
                <a16:creationId xmlns:a16="http://schemas.microsoft.com/office/drawing/2014/main" id="{5F9A25C5-080B-EE4D-95F9-3816449E4CBF}"/>
              </a:ext>
            </a:extLst>
          </p:cNvPr>
          <p:cNvSpPr>
            <a:spLocks noGrp="1"/>
          </p:cNvSpPr>
          <p:nvPr>
            <p:ph sz="half" idx="1"/>
          </p:nvPr>
        </p:nvSpPr>
        <p:spPr/>
        <p:txBody>
          <a:bodyPr/>
          <a:lstStyle/>
          <a:p>
            <a:r>
              <a:rPr lang="en-US" sz="2200" dirty="0"/>
              <a:t>The mechanical properties of the fuel and clad (creep, fracture toughness) largely predict the fuel behavior after gap closure</a:t>
            </a:r>
          </a:p>
          <a:p>
            <a:r>
              <a:rPr lang="en-US" sz="2200" dirty="0"/>
              <a:t>Cladding breaches due to FCMI or FCCI can be due to loss of ductility of the clad, carburization of the clad, or fuel swelling</a:t>
            </a:r>
          </a:p>
          <a:p>
            <a:r>
              <a:rPr lang="en-US" sz="2200" dirty="0"/>
              <a:t>Clad carburization makes the clad surface hard and brittle and cracks form and propagate easily</a:t>
            </a:r>
          </a:p>
          <a:p>
            <a:endParaRPr lang="en-US" sz="2200" dirty="0"/>
          </a:p>
          <a:p>
            <a:endParaRPr lang="en-US" sz="2200" dirty="0"/>
          </a:p>
        </p:txBody>
      </p:sp>
      <p:sp>
        <p:nvSpPr>
          <p:cNvPr id="4" name="Content Placeholder 3">
            <a:extLst>
              <a:ext uri="{FF2B5EF4-FFF2-40B4-BE49-F238E27FC236}">
                <a16:creationId xmlns:a16="http://schemas.microsoft.com/office/drawing/2014/main" id="{E5999640-EF72-094D-9A03-3EE5F89FEF4A}"/>
              </a:ext>
            </a:extLst>
          </p:cNvPr>
          <p:cNvSpPr>
            <a:spLocks noGrp="1"/>
          </p:cNvSpPr>
          <p:nvPr>
            <p:ph sz="half" idx="2"/>
          </p:nvPr>
        </p:nvSpPr>
        <p:spPr/>
        <p:txBody>
          <a:bodyPr/>
          <a:lstStyle/>
          <a:p>
            <a:r>
              <a:rPr lang="en-US" sz="2200" dirty="0"/>
              <a:t>It has been observed that the He-bonded pin can be operated safely up to 15 at.% burnup (peak burnup 20 at.%).</a:t>
            </a:r>
          </a:p>
          <a:p>
            <a:endParaRPr lang="en-US" sz="2200" dirty="0"/>
          </a:p>
        </p:txBody>
      </p:sp>
      <p:sp>
        <p:nvSpPr>
          <p:cNvPr id="5" name="Slide Number Placeholder 4">
            <a:extLst>
              <a:ext uri="{FF2B5EF4-FFF2-40B4-BE49-F238E27FC236}">
                <a16:creationId xmlns:a16="http://schemas.microsoft.com/office/drawing/2014/main" id="{A1733892-1E84-DE4E-A87C-5BF980BF3EFD}"/>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729813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745F-EF43-0E44-A4D2-3CF8E1ABF2C3}"/>
              </a:ext>
            </a:extLst>
          </p:cNvPr>
          <p:cNvSpPr>
            <a:spLocks noGrp="1"/>
          </p:cNvSpPr>
          <p:nvPr>
            <p:ph type="title"/>
          </p:nvPr>
        </p:nvSpPr>
        <p:spPr/>
        <p:txBody>
          <a:bodyPr/>
          <a:lstStyle/>
          <a:p>
            <a:r>
              <a:rPr lang="en-US" dirty="0"/>
              <a:t>Carbide Fabrication</a:t>
            </a:r>
          </a:p>
        </p:txBody>
      </p:sp>
      <p:sp>
        <p:nvSpPr>
          <p:cNvPr id="3" name="Content Placeholder 2">
            <a:extLst>
              <a:ext uri="{FF2B5EF4-FFF2-40B4-BE49-F238E27FC236}">
                <a16:creationId xmlns:a16="http://schemas.microsoft.com/office/drawing/2014/main" id="{C5C7135E-14E0-BD40-A919-F45B00529D12}"/>
              </a:ext>
            </a:extLst>
          </p:cNvPr>
          <p:cNvSpPr>
            <a:spLocks noGrp="1"/>
          </p:cNvSpPr>
          <p:nvPr>
            <p:ph sz="half" idx="1"/>
          </p:nvPr>
        </p:nvSpPr>
        <p:spPr/>
        <p:txBody>
          <a:bodyPr/>
          <a:lstStyle/>
          <a:p>
            <a:r>
              <a:rPr lang="en-US" sz="2200" dirty="0"/>
              <a:t>Fabrication of carbide fuel on commercial scale is a difficult task and needs additional care because of its pyrophoricity, high radio toxicity, and the concern for criticality restricts the batch size</a:t>
            </a:r>
          </a:p>
          <a:p>
            <a:r>
              <a:rPr lang="en-US" sz="2200" dirty="0"/>
              <a:t>Carbide powders formed during carbothermic reduction of oxides are prone to oxidation and hydrolysis</a:t>
            </a:r>
          </a:p>
          <a:p>
            <a:r>
              <a:rPr lang="en-US" sz="2200" dirty="0"/>
              <a:t>This requires high-purity inert-gas cover in the fabrication line consisting of glove boxes</a:t>
            </a:r>
          </a:p>
          <a:p>
            <a:endParaRPr lang="en-US" sz="2200" dirty="0"/>
          </a:p>
        </p:txBody>
      </p:sp>
      <p:pic>
        <p:nvPicPr>
          <p:cNvPr id="6" name="Content Placeholder 5">
            <a:extLst>
              <a:ext uri="{FF2B5EF4-FFF2-40B4-BE49-F238E27FC236}">
                <a16:creationId xmlns:a16="http://schemas.microsoft.com/office/drawing/2014/main" id="{33E47E58-C22B-7942-A9CE-33F4CDB53572}"/>
              </a:ext>
            </a:extLst>
          </p:cNvPr>
          <p:cNvPicPr>
            <a:picLocks noGrp="1" noChangeAspect="1"/>
          </p:cNvPicPr>
          <p:nvPr>
            <p:ph sz="half" idx="2"/>
          </p:nvPr>
        </p:nvPicPr>
        <p:blipFill>
          <a:blip r:embed="rId2"/>
          <a:stretch>
            <a:fillRect/>
          </a:stretch>
        </p:blipFill>
        <p:spPr>
          <a:xfrm>
            <a:off x="6838950" y="2255988"/>
            <a:ext cx="4743450" cy="3292704"/>
          </a:xfrm>
          <a:prstGeom prst="rect">
            <a:avLst/>
          </a:prstGeom>
        </p:spPr>
      </p:pic>
      <p:sp>
        <p:nvSpPr>
          <p:cNvPr id="5" name="Slide Number Placeholder 4">
            <a:extLst>
              <a:ext uri="{FF2B5EF4-FFF2-40B4-BE49-F238E27FC236}">
                <a16:creationId xmlns:a16="http://schemas.microsoft.com/office/drawing/2014/main" id="{8ECA8B4C-CA57-F944-9CDA-DE95B01EC3EB}"/>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2187566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0611-F030-3244-B5DE-C797FA1F5021}"/>
              </a:ext>
            </a:extLst>
          </p:cNvPr>
          <p:cNvSpPr>
            <a:spLocks noGrp="1"/>
          </p:cNvSpPr>
          <p:nvPr>
            <p:ph type="title"/>
          </p:nvPr>
        </p:nvSpPr>
        <p:spPr/>
        <p:txBody>
          <a:bodyPr/>
          <a:lstStyle/>
          <a:p>
            <a:r>
              <a:rPr lang="en-US" dirty="0"/>
              <a:t>Fabrication Techniques</a:t>
            </a:r>
          </a:p>
        </p:txBody>
      </p:sp>
      <p:sp>
        <p:nvSpPr>
          <p:cNvPr id="3" name="Content Placeholder 2">
            <a:extLst>
              <a:ext uri="{FF2B5EF4-FFF2-40B4-BE49-F238E27FC236}">
                <a16:creationId xmlns:a16="http://schemas.microsoft.com/office/drawing/2014/main" id="{466AF48F-3A21-7548-BC82-22B2A5322438}"/>
              </a:ext>
            </a:extLst>
          </p:cNvPr>
          <p:cNvSpPr>
            <a:spLocks noGrp="1"/>
          </p:cNvSpPr>
          <p:nvPr>
            <p:ph sz="half" idx="1"/>
          </p:nvPr>
        </p:nvSpPr>
        <p:spPr/>
        <p:txBody>
          <a:bodyPr/>
          <a:lstStyle/>
          <a:p>
            <a:r>
              <a:rPr lang="en-US" sz="2200" dirty="0"/>
              <a:t>Melting casting</a:t>
            </a:r>
          </a:p>
          <a:p>
            <a:r>
              <a:rPr lang="en-US" sz="2200" dirty="0"/>
              <a:t>In this method, UO2 or U metal chips with graphite are arc-melted and made into the form of a button</a:t>
            </a:r>
          </a:p>
          <a:p>
            <a:r>
              <a:rPr lang="en-US" sz="2200" dirty="0"/>
              <a:t>Melting casting route results in large-grained materials compared to that obtained by powder metallurgical methods</a:t>
            </a:r>
          </a:p>
          <a:p>
            <a:r>
              <a:rPr lang="en-US" sz="2200" dirty="0"/>
              <a:t>The melting casting method is, however, uneconomical due to the high cost of metal fabrication</a:t>
            </a:r>
          </a:p>
          <a:p>
            <a:endParaRPr lang="en-US" sz="2200" dirty="0"/>
          </a:p>
          <a:p>
            <a:endParaRPr lang="en-US" sz="2200" dirty="0"/>
          </a:p>
        </p:txBody>
      </p:sp>
      <p:sp>
        <p:nvSpPr>
          <p:cNvPr id="4" name="Content Placeholder 3">
            <a:extLst>
              <a:ext uri="{FF2B5EF4-FFF2-40B4-BE49-F238E27FC236}">
                <a16:creationId xmlns:a16="http://schemas.microsoft.com/office/drawing/2014/main" id="{48C2FBA0-3351-AA4C-AAF6-B2C9A8763663}"/>
              </a:ext>
            </a:extLst>
          </p:cNvPr>
          <p:cNvSpPr>
            <a:spLocks noGrp="1"/>
          </p:cNvSpPr>
          <p:nvPr>
            <p:ph sz="half" idx="2"/>
          </p:nvPr>
        </p:nvSpPr>
        <p:spPr/>
        <p:txBody>
          <a:bodyPr/>
          <a:lstStyle/>
          <a:p>
            <a:r>
              <a:rPr lang="en-US" sz="2200" dirty="0"/>
              <a:t>Metal </a:t>
            </a:r>
            <a:r>
              <a:rPr lang="en-US" sz="2200" dirty="0" err="1"/>
              <a:t>hydriding</a:t>
            </a:r>
            <a:r>
              <a:rPr lang="en-US" sz="2200" dirty="0"/>
              <a:t>– dehydriding</a:t>
            </a:r>
          </a:p>
          <a:p>
            <a:r>
              <a:rPr lang="en-US" sz="2200" dirty="0"/>
              <a:t>This method is followed for small-scale production of high-purity carbides, where the metal hydride reacts with graphite</a:t>
            </a:r>
          </a:p>
          <a:p>
            <a:r>
              <a:rPr lang="en-US" sz="2200" dirty="0"/>
              <a:t>Actinide carbides MC and M2C3 can be prepared from a mixture of hydride and graphite</a:t>
            </a:r>
          </a:p>
          <a:p>
            <a:r>
              <a:rPr lang="en-US" sz="2200" dirty="0"/>
              <a:t>For UC, the reaction between uranium metal and a hydrocarbon gas (methane) is carried out with careful control of the hydrocarbon flow</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B636703A-0EB2-7641-8625-077374D195F8}"/>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6" name="Picture 5">
            <a:extLst>
              <a:ext uri="{FF2B5EF4-FFF2-40B4-BE49-F238E27FC236}">
                <a16:creationId xmlns:a16="http://schemas.microsoft.com/office/drawing/2014/main" id="{C33CCAC8-AFE8-624F-8B57-968F68496B77}"/>
              </a:ext>
            </a:extLst>
          </p:cNvPr>
          <p:cNvPicPr>
            <a:picLocks noChangeAspect="1"/>
          </p:cNvPicPr>
          <p:nvPr/>
        </p:nvPicPr>
        <p:blipFill>
          <a:blip r:embed="rId2"/>
          <a:stretch>
            <a:fillRect/>
          </a:stretch>
        </p:blipFill>
        <p:spPr>
          <a:xfrm>
            <a:off x="8533296" y="4500493"/>
            <a:ext cx="2844800" cy="386215"/>
          </a:xfrm>
          <a:prstGeom prst="rect">
            <a:avLst/>
          </a:prstGeom>
        </p:spPr>
      </p:pic>
    </p:spTree>
    <p:extLst>
      <p:ext uri="{BB962C8B-B14F-4D97-AF65-F5344CB8AC3E}">
        <p14:creationId xmlns:p14="http://schemas.microsoft.com/office/powerpoint/2010/main" val="4153734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0AE2-A80B-0349-AD18-CDCFE3967D0E}"/>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0251F8D5-006E-EC46-A1A1-F5805B3DFB90}"/>
              </a:ext>
            </a:extLst>
          </p:cNvPr>
          <p:cNvSpPr>
            <a:spLocks noGrp="1"/>
          </p:cNvSpPr>
          <p:nvPr>
            <p:ph sz="half" idx="1"/>
          </p:nvPr>
        </p:nvSpPr>
        <p:spPr/>
        <p:txBody>
          <a:bodyPr/>
          <a:lstStyle/>
          <a:p>
            <a:r>
              <a:rPr lang="en-US" sz="2200" dirty="0"/>
              <a:t>Uranium monocarbide is mainly produced by carbothermic reduction of UO2 and carbon following the reaction</a:t>
            </a:r>
          </a:p>
          <a:p>
            <a:r>
              <a:rPr lang="en-US" sz="2200" dirty="0"/>
              <a:t>A mixture of UO2 and carbon is blended together and the mixture is compacted at 300–600 MPa along with an organic binder</a:t>
            </a:r>
          </a:p>
          <a:p>
            <a:r>
              <a:rPr lang="en-US" sz="2200" dirty="0"/>
              <a:t>The pellets are heated in a vacuum induction furnace and ground to a powder for compaction</a:t>
            </a:r>
          </a:p>
          <a:p>
            <a:endParaRPr lang="en-US" sz="2200" dirty="0"/>
          </a:p>
        </p:txBody>
      </p:sp>
      <p:pic>
        <p:nvPicPr>
          <p:cNvPr id="7" name="Content Placeholder 6">
            <a:extLst>
              <a:ext uri="{FF2B5EF4-FFF2-40B4-BE49-F238E27FC236}">
                <a16:creationId xmlns:a16="http://schemas.microsoft.com/office/drawing/2014/main" id="{7CF2B306-2CE8-F540-AAC1-901F768711B9}"/>
              </a:ext>
            </a:extLst>
          </p:cNvPr>
          <p:cNvPicPr>
            <a:picLocks noGrp="1" noChangeAspect="1"/>
          </p:cNvPicPr>
          <p:nvPr>
            <p:ph sz="half" idx="2"/>
          </p:nvPr>
        </p:nvPicPr>
        <p:blipFill>
          <a:blip r:embed="rId2"/>
          <a:stretch>
            <a:fillRect/>
          </a:stretch>
        </p:blipFill>
        <p:spPr>
          <a:xfrm>
            <a:off x="6197600" y="2124610"/>
            <a:ext cx="5384800" cy="3845443"/>
          </a:xfrm>
          <a:prstGeom prst="rect">
            <a:avLst/>
          </a:prstGeom>
        </p:spPr>
      </p:pic>
      <p:sp>
        <p:nvSpPr>
          <p:cNvPr id="5" name="Slide Number Placeholder 4">
            <a:extLst>
              <a:ext uri="{FF2B5EF4-FFF2-40B4-BE49-F238E27FC236}">
                <a16:creationId xmlns:a16="http://schemas.microsoft.com/office/drawing/2014/main" id="{BA7898A3-2857-634D-9C5F-471952DC8133}"/>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6" name="Picture 5">
            <a:extLst>
              <a:ext uri="{FF2B5EF4-FFF2-40B4-BE49-F238E27FC236}">
                <a16:creationId xmlns:a16="http://schemas.microsoft.com/office/drawing/2014/main" id="{206B273A-E3AE-0F4B-8D59-2C5EDB0B7FB1}"/>
              </a:ext>
            </a:extLst>
          </p:cNvPr>
          <p:cNvPicPr>
            <a:picLocks noChangeAspect="1"/>
          </p:cNvPicPr>
          <p:nvPr/>
        </p:nvPicPr>
        <p:blipFill>
          <a:blip r:embed="rId3"/>
          <a:stretch>
            <a:fillRect/>
          </a:stretch>
        </p:blipFill>
        <p:spPr>
          <a:xfrm>
            <a:off x="7752384" y="1787877"/>
            <a:ext cx="2072032" cy="813713"/>
          </a:xfrm>
          <a:prstGeom prst="rect">
            <a:avLst/>
          </a:prstGeom>
        </p:spPr>
      </p:pic>
    </p:spTree>
    <p:extLst>
      <p:ext uri="{BB962C8B-B14F-4D97-AF65-F5344CB8AC3E}">
        <p14:creationId xmlns:p14="http://schemas.microsoft.com/office/powerpoint/2010/main" val="1504358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70E6-2708-194C-9E4E-3F01E7C69784}"/>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14DF57BD-925A-6C4B-8585-63F017258AB6}"/>
              </a:ext>
            </a:extLst>
          </p:cNvPr>
          <p:cNvSpPr>
            <a:spLocks noGrp="1"/>
          </p:cNvSpPr>
          <p:nvPr>
            <p:ph sz="half" idx="1"/>
          </p:nvPr>
        </p:nvSpPr>
        <p:spPr>
          <a:xfrm>
            <a:off x="609600" y="1968503"/>
            <a:ext cx="10972800" cy="4157663"/>
          </a:xfrm>
        </p:spPr>
        <p:txBody>
          <a:bodyPr/>
          <a:lstStyle/>
          <a:p>
            <a:r>
              <a:rPr lang="en-US" sz="2200" dirty="0"/>
              <a:t>Uranium–plutonium-mixed carbide is also prepared by carbothermic reduction of UO2–PuO2</a:t>
            </a:r>
          </a:p>
          <a:p>
            <a:r>
              <a:rPr lang="en-US" sz="2200" dirty="0"/>
              <a:t>The physical state and homogeneity of the mixture influences the reaction rate and the quality of the final product</a:t>
            </a:r>
          </a:p>
          <a:p>
            <a:r>
              <a:rPr lang="en-US" sz="2200" dirty="0"/>
              <a:t>The reaction is complicated by the uneven distribution of plutonium in the two carbide phases and the formation of CO2 and CO, especially in </a:t>
            </a:r>
            <a:r>
              <a:rPr lang="en-US" sz="2200" dirty="0" err="1"/>
              <a:t>hyperstoichiometric</a:t>
            </a:r>
            <a:r>
              <a:rPr lang="en-US" sz="2200" dirty="0"/>
              <a:t> feedstock</a:t>
            </a:r>
          </a:p>
          <a:p>
            <a:r>
              <a:rPr lang="en-US" sz="2200" dirty="0"/>
              <a:t>Pu can volatilize and evaporate, which needs to be controlled via increased CO partial pressure</a:t>
            </a:r>
          </a:p>
          <a:p>
            <a:r>
              <a:rPr lang="en-US" sz="2200" dirty="0"/>
              <a:t>Carbothermic reduction temperature also depends on the Pu content of the material</a:t>
            </a:r>
          </a:p>
          <a:p>
            <a:endParaRPr lang="en-US" sz="2200" dirty="0"/>
          </a:p>
          <a:p>
            <a:endParaRPr lang="en-US" sz="2200" dirty="0"/>
          </a:p>
        </p:txBody>
      </p:sp>
      <p:sp>
        <p:nvSpPr>
          <p:cNvPr id="5" name="Slide Number Placeholder 4">
            <a:extLst>
              <a:ext uri="{FF2B5EF4-FFF2-40B4-BE49-F238E27FC236}">
                <a16:creationId xmlns:a16="http://schemas.microsoft.com/office/drawing/2014/main" id="{CCF10AB4-19C4-1242-8ADE-2A30AF4A07F8}"/>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8" name="Picture 7">
            <a:extLst>
              <a:ext uri="{FF2B5EF4-FFF2-40B4-BE49-F238E27FC236}">
                <a16:creationId xmlns:a16="http://schemas.microsoft.com/office/drawing/2014/main" id="{A62DFFA5-3A38-7F70-E1AA-A63ACF1FD3FB}"/>
              </a:ext>
            </a:extLst>
          </p:cNvPr>
          <p:cNvPicPr>
            <a:picLocks noChangeAspect="1"/>
          </p:cNvPicPr>
          <p:nvPr/>
        </p:nvPicPr>
        <p:blipFill>
          <a:blip r:embed="rId2"/>
          <a:stretch>
            <a:fillRect/>
          </a:stretch>
        </p:blipFill>
        <p:spPr>
          <a:xfrm>
            <a:off x="2572951" y="5841209"/>
            <a:ext cx="7772400" cy="400050"/>
          </a:xfrm>
          <a:prstGeom prst="rect">
            <a:avLst/>
          </a:prstGeom>
        </p:spPr>
      </p:pic>
    </p:spTree>
    <p:extLst>
      <p:ext uri="{BB962C8B-B14F-4D97-AF65-F5344CB8AC3E}">
        <p14:creationId xmlns:p14="http://schemas.microsoft.com/office/powerpoint/2010/main" val="3012302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612-EB41-5A4F-A5C3-9550A1D6F735}"/>
              </a:ext>
            </a:extLst>
          </p:cNvPr>
          <p:cNvSpPr>
            <a:spLocks noGrp="1"/>
          </p:cNvSpPr>
          <p:nvPr>
            <p:ph type="title"/>
          </p:nvPr>
        </p:nvSpPr>
        <p:spPr/>
        <p:txBody>
          <a:bodyPr/>
          <a:lstStyle/>
          <a:p>
            <a:r>
              <a:rPr lang="en-US" dirty="0"/>
              <a:t>Pressing</a:t>
            </a:r>
          </a:p>
        </p:txBody>
      </p:sp>
      <p:sp>
        <p:nvSpPr>
          <p:cNvPr id="3" name="Content Placeholder 2">
            <a:extLst>
              <a:ext uri="{FF2B5EF4-FFF2-40B4-BE49-F238E27FC236}">
                <a16:creationId xmlns:a16="http://schemas.microsoft.com/office/drawing/2014/main" id="{0F3441E6-9549-5E4F-B6BE-FEF6242619D6}"/>
              </a:ext>
            </a:extLst>
          </p:cNvPr>
          <p:cNvSpPr>
            <a:spLocks noGrp="1"/>
          </p:cNvSpPr>
          <p:nvPr>
            <p:ph sz="half" idx="1"/>
          </p:nvPr>
        </p:nvSpPr>
        <p:spPr>
          <a:xfrm>
            <a:off x="609600" y="1968503"/>
            <a:ext cx="6841524" cy="4157663"/>
          </a:xfrm>
        </p:spPr>
        <p:txBody>
          <a:bodyPr/>
          <a:lstStyle/>
          <a:p>
            <a:r>
              <a:rPr lang="en-US" sz="2200" dirty="0"/>
              <a:t>The conventional powder metallurgy route of carbide fuel fabrication has certain disadvantages, including pick up of O/N impurities from the cover gas and risks of pyrophoricity</a:t>
            </a:r>
          </a:p>
          <a:p>
            <a:r>
              <a:rPr lang="en-US" sz="2200" dirty="0"/>
              <a:t>Direct pressing takes the product of carbothermic reduction and presses them into a low density pellet, which can be sintered into the final product</a:t>
            </a:r>
          </a:p>
          <a:p>
            <a:r>
              <a:rPr lang="en-US" sz="2200" dirty="0"/>
              <a:t>This reduces O pickup, reduces dust and impurities, and reduces time/cost</a:t>
            </a:r>
          </a:p>
          <a:p>
            <a:r>
              <a:rPr lang="en-US" sz="2200" dirty="0"/>
              <a:t>There is an additional route that involves wet processing of nitrate-based fuels in a sol-gel technique</a:t>
            </a:r>
          </a:p>
          <a:p>
            <a:endParaRPr lang="en-US" sz="2200" dirty="0"/>
          </a:p>
        </p:txBody>
      </p:sp>
      <p:pic>
        <p:nvPicPr>
          <p:cNvPr id="6" name="Content Placeholder 5">
            <a:extLst>
              <a:ext uri="{FF2B5EF4-FFF2-40B4-BE49-F238E27FC236}">
                <a16:creationId xmlns:a16="http://schemas.microsoft.com/office/drawing/2014/main" id="{8ABAF443-2999-1D48-8831-39C3DEA96C4E}"/>
              </a:ext>
            </a:extLst>
          </p:cNvPr>
          <p:cNvPicPr>
            <a:picLocks noGrp="1" noChangeAspect="1"/>
          </p:cNvPicPr>
          <p:nvPr>
            <p:ph sz="half" idx="2"/>
          </p:nvPr>
        </p:nvPicPr>
        <p:blipFill rotWithShape="1">
          <a:blip r:embed="rId2"/>
          <a:srcRect r="32903"/>
          <a:stretch/>
        </p:blipFill>
        <p:spPr>
          <a:xfrm>
            <a:off x="7828638" y="1095244"/>
            <a:ext cx="3879658" cy="5556659"/>
          </a:xfrm>
          <a:prstGeom prst="rect">
            <a:avLst/>
          </a:prstGeom>
        </p:spPr>
      </p:pic>
      <p:sp>
        <p:nvSpPr>
          <p:cNvPr id="5" name="Slide Number Placeholder 4">
            <a:extLst>
              <a:ext uri="{FF2B5EF4-FFF2-40B4-BE49-F238E27FC236}">
                <a16:creationId xmlns:a16="http://schemas.microsoft.com/office/drawing/2014/main" id="{84001A78-D554-6A4C-8175-B5E84988625B}"/>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14275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FB5F-05B4-0CD1-39C5-E95C54559AC9}"/>
              </a:ext>
            </a:extLst>
          </p:cNvPr>
          <p:cNvSpPr>
            <a:spLocks noGrp="1"/>
          </p:cNvSpPr>
          <p:nvPr>
            <p:ph type="title"/>
          </p:nvPr>
        </p:nvSpPr>
        <p:spPr/>
        <p:txBody>
          <a:bodyPr/>
          <a:lstStyle/>
          <a:p>
            <a:r>
              <a:rPr lang="en-US" dirty="0"/>
              <a:t>As-fabricated microstructures</a:t>
            </a:r>
          </a:p>
        </p:txBody>
      </p:sp>
      <p:sp>
        <p:nvSpPr>
          <p:cNvPr id="3" name="Content Placeholder 2">
            <a:extLst>
              <a:ext uri="{FF2B5EF4-FFF2-40B4-BE49-F238E27FC236}">
                <a16:creationId xmlns:a16="http://schemas.microsoft.com/office/drawing/2014/main" id="{10F516B2-E1B0-70E8-B61B-90709D99E95D}"/>
              </a:ext>
            </a:extLst>
          </p:cNvPr>
          <p:cNvSpPr>
            <a:spLocks noGrp="1"/>
          </p:cNvSpPr>
          <p:nvPr>
            <p:ph sz="half" idx="1"/>
          </p:nvPr>
        </p:nvSpPr>
        <p:spPr>
          <a:xfrm>
            <a:off x="609600" y="1968503"/>
            <a:ext cx="4666735" cy="4157663"/>
          </a:xfrm>
        </p:spPr>
        <p:txBody>
          <a:bodyPr/>
          <a:lstStyle/>
          <a:p>
            <a:r>
              <a:rPr lang="en-US" sz="2200" dirty="0"/>
              <a:t>Carbide pellets are susceptible to surface defects, such as chips and cracks</a:t>
            </a:r>
          </a:p>
          <a:p>
            <a:r>
              <a:rPr lang="en-US" sz="2200" dirty="0"/>
              <a:t>As in all sintered materials, residual porosity will be present</a:t>
            </a:r>
          </a:p>
          <a:p>
            <a:r>
              <a:rPr lang="en-US" sz="2200" dirty="0"/>
              <a:t>Varying degrees of the M2C3 phase will be present and are observable via characterization</a:t>
            </a:r>
          </a:p>
          <a:p>
            <a:endParaRPr lang="en-US" sz="2200" dirty="0"/>
          </a:p>
        </p:txBody>
      </p:sp>
      <p:sp>
        <p:nvSpPr>
          <p:cNvPr id="5" name="Slide Number Placeholder 4">
            <a:extLst>
              <a:ext uri="{FF2B5EF4-FFF2-40B4-BE49-F238E27FC236}">
                <a16:creationId xmlns:a16="http://schemas.microsoft.com/office/drawing/2014/main" id="{2FCE7052-3419-D966-C398-26B39433E9D1}"/>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pic>
        <p:nvPicPr>
          <p:cNvPr id="7" name="Picture 6">
            <a:extLst>
              <a:ext uri="{FF2B5EF4-FFF2-40B4-BE49-F238E27FC236}">
                <a16:creationId xmlns:a16="http://schemas.microsoft.com/office/drawing/2014/main" id="{C82B90B2-0703-9B75-1F9B-5BE9FE20C8EC}"/>
              </a:ext>
            </a:extLst>
          </p:cNvPr>
          <p:cNvPicPr>
            <a:picLocks noChangeAspect="1"/>
          </p:cNvPicPr>
          <p:nvPr/>
        </p:nvPicPr>
        <p:blipFill>
          <a:blip r:embed="rId2"/>
          <a:stretch>
            <a:fillRect/>
          </a:stretch>
        </p:blipFill>
        <p:spPr>
          <a:xfrm>
            <a:off x="5616489" y="2488136"/>
            <a:ext cx="6547022" cy="2574359"/>
          </a:xfrm>
          <a:prstGeom prst="rect">
            <a:avLst/>
          </a:prstGeom>
        </p:spPr>
      </p:pic>
      <p:sp>
        <p:nvSpPr>
          <p:cNvPr id="9" name="TextBox 8">
            <a:extLst>
              <a:ext uri="{FF2B5EF4-FFF2-40B4-BE49-F238E27FC236}">
                <a16:creationId xmlns:a16="http://schemas.microsoft.com/office/drawing/2014/main" id="{6A722AC7-D5B9-ECF3-122B-5CEEF49B167C}"/>
              </a:ext>
            </a:extLst>
          </p:cNvPr>
          <p:cNvSpPr txBox="1"/>
          <p:nvPr/>
        </p:nvSpPr>
        <p:spPr>
          <a:xfrm>
            <a:off x="5837881" y="5062495"/>
            <a:ext cx="6104238" cy="646331"/>
          </a:xfrm>
          <a:prstGeom prst="rect">
            <a:avLst/>
          </a:prstGeom>
          <a:noFill/>
        </p:spPr>
        <p:txBody>
          <a:bodyPr wrap="square">
            <a:spAutoFit/>
          </a:bodyPr>
          <a:lstStyle/>
          <a:p>
            <a:pPr algn="ctr"/>
            <a:r>
              <a:rPr lang="en-US" dirty="0">
                <a:latin typeface="Helvetica" pitchFamily="2" charset="0"/>
              </a:rPr>
              <a:t>M</a:t>
            </a:r>
            <a:r>
              <a:rPr lang="en-US" dirty="0">
                <a:effectLst/>
                <a:latin typeface="Helvetica" pitchFamily="2" charset="0"/>
              </a:rPr>
              <a:t>ixed carbide fuel with (a) 70%PuC and (b) 20%PuC showing bright/white areas of </a:t>
            </a:r>
            <a:r>
              <a:rPr lang="en-US" dirty="0" err="1">
                <a:effectLst/>
                <a:latin typeface="Helvetica" pitchFamily="2" charset="0"/>
              </a:rPr>
              <a:t>sesquicarbide</a:t>
            </a:r>
            <a:r>
              <a:rPr lang="en-US" dirty="0">
                <a:effectLst/>
                <a:latin typeface="Helvetica" pitchFamily="2" charset="0"/>
              </a:rPr>
              <a:t> phase </a:t>
            </a:r>
          </a:p>
        </p:txBody>
      </p:sp>
    </p:spTree>
    <p:extLst>
      <p:ext uri="{BB962C8B-B14F-4D97-AF65-F5344CB8AC3E}">
        <p14:creationId xmlns:p14="http://schemas.microsoft.com/office/powerpoint/2010/main" val="2217412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81A5-6C8B-F9B5-C821-E10EBC9FB047}"/>
              </a:ext>
            </a:extLst>
          </p:cNvPr>
          <p:cNvSpPr>
            <a:spLocks noGrp="1"/>
          </p:cNvSpPr>
          <p:nvPr>
            <p:ph type="title"/>
          </p:nvPr>
        </p:nvSpPr>
        <p:spPr/>
        <p:txBody>
          <a:bodyPr/>
          <a:lstStyle/>
          <a:p>
            <a:r>
              <a:rPr lang="en-US" dirty="0"/>
              <a:t>nitride fuels</a:t>
            </a:r>
          </a:p>
        </p:txBody>
      </p:sp>
      <p:sp>
        <p:nvSpPr>
          <p:cNvPr id="4" name="Slide Number Placeholder 3">
            <a:extLst>
              <a:ext uri="{FF2B5EF4-FFF2-40B4-BE49-F238E27FC236}">
                <a16:creationId xmlns:a16="http://schemas.microsoft.com/office/drawing/2014/main" id="{0235A0A4-E6E2-FAF5-DB0B-94CD19049310}"/>
              </a:ext>
            </a:extLst>
          </p:cNvPr>
          <p:cNvSpPr>
            <a:spLocks noGrp="1"/>
          </p:cNvSpPr>
          <p:nvPr>
            <p:ph type="sldNum" sz="quarter" idx="12"/>
          </p:nvPr>
        </p:nvSpPr>
        <p:spPr/>
        <p:txBody>
          <a:bodyPr/>
          <a:lstStyle/>
          <a:p>
            <a:pPr>
              <a:defRPr/>
            </a:pPr>
            <a:fld id="{0DA6BD0F-ABBC-C14D-BC96-77BE126A748B}" type="slidenum">
              <a:rPr lang="en-US" smtClean="0"/>
              <a:pPr>
                <a:defRPr/>
              </a:pPr>
              <a:t>24</a:t>
            </a:fld>
            <a:endParaRPr lang="en-US"/>
          </a:p>
        </p:txBody>
      </p:sp>
    </p:spTree>
    <p:extLst>
      <p:ext uri="{BB962C8B-B14F-4D97-AF65-F5344CB8AC3E}">
        <p14:creationId xmlns:p14="http://schemas.microsoft.com/office/powerpoint/2010/main" val="2773177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D69B-E417-7F42-B658-1EC1C69651A0}"/>
              </a:ext>
            </a:extLst>
          </p:cNvPr>
          <p:cNvSpPr>
            <a:spLocks noGrp="1"/>
          </p:cNvSpPr>
          <p:nvPr>
            <p:ph type="title"/>
          </p:nvPr>
        </p:nvSpPr>
        <p:spPr/>
        <p:txBody>
          <a:bodyPr/>
          <a:lstStyle/>
          <a:p>
            <a:r>
              <a:rPr lang="en-US" dirty="0"/>
              <a:t>Nitride Fuels</a:t>
            </a:r>
          </a:p>
        </p:txBody>
      </p:sp>
      <p:sp>
        <p:nvSpPr>
          <p:cNvPr id="3" name="Content Placeholder 2">
            <a:extLst>
              <a:ext uri="{FF2B5EF4-FFF2-40B4-BE49-F238E27FC236}">
                <a16:creationId xmlns:a16="http://schemas.microsoft.com/office/drawing/2014/main" id="{8C6170CC-74F9-354F-B38C-514F4ADC1BA2}"/>
              </a:ext>
            </a:extLst>
          </p:cNvPr>
          <p:cNvSpPr>
            <a:spLocks noGrp="1"/>
          </p:cNvSpPr>
          <p:nvPr>
            <p:ph sz="half" idx="1"/>
          </p:nvPr>
        </p:nvSpPr>
        <p:spPr/>
        <p:txBody>
          <a:bodyPr/>
          <a:lstStyle/>
          <a:p>
            <a:r>
              <a:rPr lang="en-US" sz="2200" dirty="0"/>
              <a:t>Nitride fuel has been proposed as an advanced fuel for fast reactors and developed since the 1960s and tested in the BR-10, MTR, and EBR-II reactors</a:t>
            </a:r>
          </a:p>
          <a:p>
            <a:r>
              <a:rPr lang="en-US" sz="2200" dirty="0"/>
              <a:t>Nitride fuel is often a solid solution of uranium mononitride (UN) and plutonium mononitride (</a:t>
            </a:r>
            <a:r>
              <a:rPr lang="en-US" sz="2200" dirty="0" err="1"/>
              <a:t>PuN</a:t>
            </a:r>
            <a:r>
              <a:rPr lang="en-US" sz="2200" dirty="0"/>
              <a:t>), in which the Pu/(</a:t>
            </a:r>
            <a:r>
              <a:rPr lang="en-US" sz="2200" dirty="0" err="1"/>
              <a:t>U+Pu</a:t>
            </a:r>
            <a:r>
              <a:rPr lang="en-US" sz="2200" dirty="0"/>
              <a:t>) molar ratio ranges from 0.15 to 0.25</a:t>
            </a:r>
          </a:p>
          <a:p>
            <a:endParaRPr lang="en-US" sz="2200" dirty="0"/>
          </a:p>
        </p:txBody>
      </p:sp>
      <p:sp>
        <p:nvSpPr>
          <p:cNvPr id="4" name="Content Placeholder 3">
            <a:extLst>
              <a:ext uri="{FF2B5EF4-FFF2-40B4-BE49-F238E27FC236}">
                <a16:creationId xmlns:a16="http://schemas.microsoft.com/office/drawing/2014/main" id="{F3F03880-A363-EA4D-AEDC-55314C8A3C4A}"/>
              </a:ext>
            </a:extLst>
          </p:cNvPr>
          <p:cNvSpPr>
            <a:spLocks noGrp="1"/>
          </p:cNvSpPr>
          <p:nvPr>
            <p:ph sz="half" idx="2"/>
          </p:nvPr>
        </p:nvSpPr>
        <p:spPr/>
        <p:txBody>
          <a:bodyPr/>
          <a:lstStyle/>
          <a:p>
            <a:r>
              <a:rPr lang="en-US" sz="2200" dirty="0"/>
              <a:t>Nitride has potential applications as a fuel for space reactors, large breeder reactors, different Gen IV fast reactors, accelerator-driven systems, and small modular reactors</a:t>
            </a:r>
          </a:p>
          <a:p>
            <a:r>
              <a:rPr lang="en-US" sz="2200" dirty="0"/>
              <a:t>UN is now also being considered as an accident tolerant fuel for LWRs</a:t>
            </a:r>
          </a:p>
          <a:p>
            <a:endParaRPr lang="en-US" sz="2200" dirty="0"/>
          </a:p>
          <a:p>
            <a:endParaRPr lang="en-US" sz="2200" dirty="0"/>
          </a:p>
        </p:txBody>
      </p:sp>
      <p:sp>
        <p:nvSpPr>
          <p:cNvPr id="5" name="Slide Number Placeholder 4">
            <a:extLst>
              <a:ext uri="{FF2B5EF4-FFF2-40B4-BE49-F238E27FC236}">
                <a16:creationId xmlns:a16="http://schemas.microsoft.com/office/drawing/2014/main" id="{09F4615F-2688-5743-9E6C-F7BCB206CC37}"/>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2221663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Nitride Fuel Benefits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Higher fissile density: 40% more uranium in UN than in UO2, leading to higher conversion ratios, and potentially higher burn-ups</a:t>
            </a:r>
          </a:p>
          <a:p>
            <a:r>
              <a:rPr lang="en-US" sz="2200" dirty="0"/>
              <a:t>Higher thermal conductivity: reduction of the fuel centerline temperature, increase in the margin for fuel melting, delay the migration of fission products and actinides</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Reprocessing: readily dissolve in nitric acid (HNO3), making this fuel compatible with the PUREX process</a:t>
            </a:r>
          </a:p>
          <a:p>
            <a:r>
              <a:rPr lang="en-US" sz="2200" dirty="0"/>
              <a:t>Stability: chemically compatible with most potential cladding materials, good irradiation stability</a:t>
            </a:r>
          </a:p>
          <a:p>
            <a:r>
              <a:rPr lang="en-US" sz="2200" dirty="0"/>
              <a:t>Potential for longer fuel cycle: neutronic behavior of UN can extend cycles from 18 to 25 months, reducing costs and down time</a:t>
            </a:r>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965333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CF76-05EF-1B45-B521-1A0F3E9396E1}"/>
              </a:ext>
            </a:extLst>
          </p:cNvPr>
          <p:cNvSpPr>
            <a:spLocks noGrp="1"/>
          </p:cNvSpPr>
          <p:nvPr>
            <p:ph type="title"/>
          </p:nvPr>
        </p:nvSpPr>
        <p:spPr/>
        <p:txBody>
          <a:bodyPr/>
          <a:lstStyle/>
          <a:p>
            <a:r>
              <a:rPr lang="en-US" dirty="0"/>
              <a:t>Nitride Properties</a:t>
            </a:r>
          </a:p>
        </p:txBody>
      </p:sp>
      <p:sp>
        <p:nvSpPr>
          <p:cNvPr id="3" name="Content Placeholder 2">
            <a:extLst>
              <a:ext uri="{FF2B5EF4-FFF2-40B4-BE49-F238E27FC236}">
                <a16:creationId xmlns:a16="http://schemas.microsoft.com/office/drawing/2014/main" id="{FC76982B-6851-DE2A-F63A-850057AA965F}"/>
              </a:ext>
            </a:extLst>
          </p:cNvPr>
          <p:cNvSpPr>
            <a:spLocks noGrp="1"/>
          </p:cNvSpPr>
          <p:nvPr>
            <p:ph sz="half" idx="1"/>
          </p:nvPr>
        </p:nvSpPr>
        <p:spPr>
          <a:xfrm>
            <a:off x="609600" y="1968504"/>
            <a:ext cx="10972800" cy="1274700"/>
          </a:xfrm>
        </p:spPr>
        <p:txBody>
          <a:bodyPr/>
          <a:lstStyle/>
          <a:p>
            <a:r>
              <a:rPr lang="en-US" sz="2200" dirty="0"/>
              <a:t>Best of both worlds fuel; with high melting point, high fissile density, and high thermal conductivity</a:t>
            </a:r>
          </a:p>
        </p:txBody>
      </p:sp>
      <p:sp>
        <p:nvSpPr>
          <p:cNvPr id="5" name="Slide Number Placeholder 4">
            <a:extLst>
              <a:ext uri="{FF2B5EF4-FFF2-40B4-BE49-F238E27FC236}">
                <a16:creationId xmlns:a16="http://schemas.microsoft.com/office/drawing/2014/main" id="{C2F4E3B3-5496-7547-AB61-1634666ACC88}"/>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pic>
        <p:nvPicPr>
          <p:cNvPr id="6" name="Picture 5">
            <a:extLst>
              <a:ext uri="{FF2B5EF4-FFF2-40B4-BE49-F238E27FC236}">
                <a16:creationId xmlns:a16="http://schemas.microsoft.com/office/drawing/2014/main" id="{BEA77A56-4DCE-F644-A078-42759310F732}"/>
              </a:ext>
            </a:extLst>
          </p:cNvPr>
          <p:cNvPicPr>
            <a:picLocks noChangeAspect="1"/>
          </p:cNvPicPr>
          <p:nvPr/>
        </p:nvPicPr>
        <p:blipFill>
          <a:blip r:embed="rId2"/>
          <a:stretch>
            <a:fillRect/>
          </a:stretch>
        </p:blipFill>
        <p:spPr>
          <a:xfrm>
            <a:off x="1661053" y="3163106"/>
            <a:ext cx="8869894" cy="2009361"/>
          </a:xfrm>
          <a:prstGeom prst="rect">
            <a:avLst/>
          </a:prstGeom>
        </p:spPr>
      </p:pic>
    </p:spTree>
    <p:extLst>
      <p:ext uri="{BB962C8B-B14F-4D97-AF65-F5344CB8AC3E}">
        <p14:creationId xmlns:p14="http://schemas.microsoft.com/office/powerpoint/2010/main" val="175573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AD80-DD68-F241-88E0-4331D99CB93C}"/>
              </a:ext>
            </a:extLst>
          </p:cNvPr>
          <p:cNvSpPr>
            <a:spLocks noGrp="1"/>
          </p:cNvSpPr>
          <p:nvPr>
            <p:ph type="title"/>
          </p:nvPr>
        </p:nvSpPr>
        <p:spPr/>
        <p:txBody>
          <a:bodyPr/>
          <a:lstStyle/>
          <a:p>
            <a:r>
              <a:rPr lang="en-US" dirty="0"/>
              <a:t>Drawbacks of Nitrides</a:t>
            </a:r>
          </a:p>
        </p:txBody>
      </p:sp>
      <p:sp>
        <p:nvSpPr>
          <p:cNvPr id="3" name="Content Placeholder 2">
            <a:extLst>
              <a:ext uri="{FF2B5EF4-FFF2-40B4-BE49-F238E27FC236}">
                <a16:creationId xmlns:a16="http://schemas.microsoft.com/office/drawing/2014/main" id="{C5D59B8F-2E0F-4E4F-B234-091DAF2DCC59}"/>
              </a:ext>
            </a:extLst>
          </p:cNvPr>
          <p:cNvSpPr>
            <a:spLocks noGrp="1"/>
          </p:cNvSpPr>
          <p:nvPr>
            <p:ph sz="half" idx="1"/>
          </p:nvPr>
        </p:nvSpPr>
        <p:spPr/>
        <p:txBody>
          <a:bodyPr/>
          <a:lstStyle/>
          <a:p>
            <a:r>
              <a:rPr lang="en-US" sz="2200" dirty="0"/>
              <a:t>Fabrication: the production of MA or Pu-containing nitride fuel is not straight forward and requires some difficult production steps</a:t>
            </a:r>
          </a:p>
          <a:p>
            <a:r>
              <a:rPr lang="en-US" sz="2200" dirty="0"/>
              <a:t>Oxidation resistance: the nitride pellets readily oxidize in superheated steam</a:t>
            </a:r>
          </a:p>
          <a:p>
            <a:r>
              <a:rPr lang="en-US" sz="2200" dirty="0"/>
              <a:t>Nitride powder is pyrophoric, requiring strict atmospheric controls during fabrication and handling</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897A0368-9235-054B-BE1D-03E2EE46B44A}"/>
              </a:ext>
            </a:extLst>
          </p:cNvPr>
          <p:cNvSpPr>
            <a:spLocks noGrp="1"/>
          </p:cNvSpPr>
          <p:nvPr>
            <p:ph sz="half" idx="2"/>
          </p:nvPr>
        </p:nvSpPr>
        <p:spPr/>
        <p:txBody>
          <a:bodyPr/>
          <a:lstStyle/>
          <a:p>
            <a:r>
              <a:rPr lang="en-US" sz="2200" dirty="0"/>
              <a:t>Fuel enrichment: the nitrogen component has to be highly enriched in </a:t>
            </a:r>
            <a:r>
              <a:rPr lang="en-US" sz="2200" baseline="30000" dirty="0"/>
              <a:t>15</a:t>
            </a:r>
            <a:r>
              <a:rPr lang="en-US" sz="2200" dirty="0"/>
              <a:t>N to increase the neutron economy and avoid the (n, p) formation of </a:t>
            </a:r>
            <a:r>
              <a:rPr lang="en-US" sz="2200" baseline="30000" dirty="0"/>
              <a:t>14</a:t>
            </a:r>
            <a:r>
              <a:rPr lang="en-US" sz="2200" dirty="0"/>
              <a:t>C from </a:t>
            </a:r>
            <a:r>
              <a:rPr lang="en-US" sz="2200" baseline="30000" dirty="0"/>
              <a:t>14</a:t>
            </a:r>
            <a:r>
              <a:rPr lang="en-US" sz="2200" dirty="0"/>
              <a:t>N, which significantly increases costs</a:t>
            </a:r>
          </a:p>
          <a:p>
            <a:r>
              <a:rPr lang="en-US" sz="2200" dirty="0"/>
              <a:t>Fuel fabrication and N enrichment have led to slower development of MN fuels than MC fuels</a:t>
            </a:r>
          </a:p>
          <a:p>
            <a:endParaRPr lang="en-US" sz="2200" dirty="0"/>
          </a:p>
        </p:txBody>
      </p:sp>
      <p:sp>
        <p:nvSpPr>
          <p:cNvPr id="5" name="Slide Number Placeholder 4">
            <a:extLst>
              <a:ext uri="{FF2B5EF4-FFF2-40B4-BE49-F238E27FC236}">
                <a16:creationId xmlns:a16="http://schemas.microsoft.com/office/drawing/2014/main" id="{A4926ED1-0017-C345-B167-07ED063506A7}"/>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spTree>
    <p:extLst>
      <p:ext uri="{BB962C8B-B14F-4D97-AF65-F5344CB8AC3E}">
        <p14:creationId xmlns:p14="http://schemas.microsoft.com/office/powerpoint/2010/main" val="2990206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6D94-E413-7B13-5833-801DB58392A9}"/>
              </a:ext>
            </a:extLst>
          </p:cNvPr>
          <p:cNvSpPr>
            <a:spLocks noGrp="1"/>
          </p:cNvSpPr>
          <p:nvPr>
            <p:ph type="title"/>
          </p:nvPr>
        </p:nvSpPr>
        <p:spPr/>
        <p:txBody>
          <a:bodyPr/>
          <a:lstStyle/>
          <a:p>
            <a:r>
              <a:rPr lang="en-US" dirty="0"/>
              <a:t>Irradiation History of Nitrides</a:t>
            </a:r>
          </a:p>
        </p:txBody>
      </p:sp>
      <p:sp>
        <p:nvSpPr>
          <p:cNvPr id="3" name="Content Placeholder 2">
            <a:extLst>
              <a:ext uri="{FF2B5EF4-FFF2-40B4-BE49-F238E27FC236}">
                <a16:creationId xmlns:a16="http://schemas.microsoft.com/office/drawing/2014/main" id="{AF9ADB1F-46D0-02D2-5253-80EF59C3686B}"/>
              </a:ext>
            </a:extLst>
          </p:cNvPr>
          <p:cNvSpPr>
            <a:spLocks noGrp="1"/>
          </p:cNvSpPr>
          <p:nvPr>
            <p:ph sz="half" idx="1"/>
          </p:nvPr>
        </p:nvSpPr>
        <p:spPr/>
        <p:txBody>
          <a:bodyPr/>
          <a:lstStyle/>
          <a:p>
            <a:r>
              <a:rPr lang="en-US" sz="2200" dirty="0"/>
              <a:t>The experience from irradiation of nitride fuels consists of about 1400 UN rods, 300 (</a:t>
            </a:r>
            <a:r>
              <a:rPr lang="en-US" sz="2200" dirty="0" err="1"/>
              <a:t>U,Pu</a:t>
            </a:r>
            <a:r>
              <a:rPr lang="en-US" sz="2200" dirty="0"/>
              <a:t>)N rods, and a few inert matrix and MA-bearing rodlets</a:t>
            </a:r>
          </a:p>
          <a:p>
            <a:r>
              <a:rPr lang="en-US" sz="2200" dirty="0"/>
              <a:t>UN was used as a driver fuel for BR-10 for 18 years, and this is where the majority of the irradiation data comes from</a:t>
            </a:r>
          </a:p>
          <a:p>
            <a:r>
              <a:rPr lang="en-US" sz="2200" dirty="0"/>
              <a:t>Similar to carbides, both Na-bonded and He-bonded pins have been studied, the majority being He</a:t>
            </a:r>
          </a:p>
        </p:txBody>
      </p:sp>
      <p:sp>
        <p:nvSpPr>
          <p:cNvPr id="5" name="Slide Number Placeholder 4">
            <a:extLst>
              <a:ext uri="{FF2B5EF4-FFF2-40B4-BE49-F238E27FC236}">
                <a16:creationId xmlns:a16="http://schemas.microsoft.com/office/drawing/2014/main" id="{FF3082AE-BFB6-EFC6-5C2A-ECE594A74FB6}"/>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6" name="Picture 5">
            <a:extLst>
              <a:ext uri="{FF2B5EF4-FFF2-40B4-BE49-F238E27FC236}">
                <a16:creationId xmlns:a16="http://schemas.microsoft.com/office/drawing/2014/main" id="{1555F248-2A52-EAC4-1100-32AF1EB3D3EA}"/>
              </a:ext>
            </a:extLst>
          </p:cNvPr>
          <p:cNvPicPr>
            <a:picLocks noChangeAspect="1"/>
          </p:cNvPicPr>
          <p:nvPr/>
        </p:nvPicPr>
        <p:blipFill>
          <a:blip r:embed="rId2"/>
          <a:stretch>
            <a:fillRect/>
          </a:stretch>
        </p:blipFill>
        <p:spPr>
          <a:xfrm>
            <a:off x="6394071" y="2198686"/>
            <a:ext cx="5188329" cy="3873881"/>
          </a:xfrm>
          <a:prstGeom prst="rect">
            <a:avLst/>
          </a:prstGeom>
        </p:spPr>
      </p:pic>
    </p:spTree>
    <p:extLst>
      <p:ext uri="{BB962C8B-B14F-4D97-AF65-F5344CB8AC3E}">
        <p14:creationId xmlns:p14="http://schemas.microsoft.com/office/powerpoint/2010/main" val="2301173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FE8C-DA88-4C4B-80A6-3A9587747A7C}"/>
              </a:ext>
            </a:extLst>
          </p:cNvPr>
          <p:cNvSpPr>
            <a:spLocks noGrp="1"/>
          </p:cNvSpPr>
          <p:nvPr>
            <p:ph type="title"/>
          </p:nvPr>
        </p:nvSpPr>
        <p:spPr/>
        <p:txBody>
          <a:bodyPr/>
          <a:lstStyle/>
          <a:p>
            <a:pPr algn="l"/>
            <a:r>
              <a:rPr lang="en-US" dirty="0"/>
              <a:t>UN Phase Diagram</a:t>
            </a:r>
          </a:p>
        </p:txBody>
      </p:sp>
      <p:pic>
        <p:nvPicPr>
          <p:cNvPr id="6" name="Content Placeholder 5">
            <a:extLst>
              <a:ext uri="{FF2B5EF4-FFF2-40B4-BE49-F238E27FC236}">
                <a16:creationId xmlns:a16="http://schemas.microsoft.com/office/drawing/2014/main" id="{E419FDC8-41B5-4A4F-9C59-D14BA45453C5}"/>
              </a:ext>
            </a:extLst>
          </p:cNvPr>
          <p:cNvPicPr>
            <a:picLocks noGrp="1" noChangeAspect="1"/>
          </p:cNvPicPr>
          <p:nvPr>
            <p:ph sz="half" idx="1"/>
          </p:nvPr>
        </p:nvPicPr>
        <p:blipFill>
          <a:blip r:embed="rId2"/>
          <a:stretch>
            <a:fillRect/>
          </a:stretch>
        </p:blipFill>
        <p:spPr>
          <a:xfrm>
            <a:off x="8728988" y="1653937"/>
            <a:ext cx="3463012" cy="3678228"/>
          </a:xfrm>
          <a:prstGeom prst="rect">
            <a:avLst/>
          </a:prstGeom>
        </p:spPr>
      </p:pic>
      <p:sp>
        <p:nvSpPr>
          <p:cNvPr id="5" name="Slide Number Placeholder 4">
            <a:extLst>
              <a:ext uri="{FF2B5EF4-FFF2-40B4-BE49-F238E27FC236}">
                <a16:creationId xmlns:a16="http://schemas.microsoft.com/office/drawing/2014/main" id="{35E80D04-08CF-5040-AE4E-3CC18E2E7130}"/>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dirty="0"/>
          </a:p>
        </p:txBody>
      </p:sp>
      <p:pic>
        <p:nvPicPr>
          <p:cNvPr id="13" name="Picture 12">
            <a:extLst>
              <a:ext uri="{FF2B5EF4-FFF2-40B4-BE49-F238E27FC236}">
                <a16:creationId xmlns:a16="http://schemas.microsoft.com/office/drawing/2014/main" id="{619CB1EA-F836-FDA0-E08D-7DFA1BEDDB8E}"/>
              </a:ext>
            </a:extLst>
          </p:cNvPr>
          <p:cNvPicPr>
            <a:picLocks noChangeAspect="1"/>
          </p:cNvPicPr>
          <p:nvPr/>
        </p:nvPicPr>
        <p:blipFill>
          <a:blip r:embed="rId3"/>
          <a:stretch>
            <a:fillRect/>
          </a:stretch>
        </p:blipFill>
        <p:spPr>
          <a:xfrm>
            <a:off x="6096000" y="2067872"/>
            <a:ext cx="2777271" cy="2850357"/>
          </a:xfrm>
          <a:prstGeom prst="rect">
            <a:avLst/>
          </a:prstGeom>
        </p:spPr>
      </p:pic>
      <p:sp>
        <p:nvSpPr>
          <p:cNvPr id="16" name="Content Placeholder 2">
            <a:extLst>
              <a:ext uri="{FF2B5EF4-FFF2-40B4-BE49-F238E27FC236}">
                <a16:creationId xmlns:a16="http://schemas.microsoft.com/office/drawing/2014/main" id="{4CB8693C-CD0C-86A9-DD4F-AE6CDA47021D}"/>
              </a:ext>
            </a:extLst>
          </p:cNvPr>
          <p:cNvSpPr txBox="1">
            <a:spLocks/>
          </p:cNvSpPr>
          <p:nvPr/>
        </p:nvSpPr>
        <p:spPr bwMode="auto">
          <a:xfrm>
            <a:off x="609600" y="1968503"/>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There are two main uranium nitrides, UN and U2N3; the former has an NaCl-type cubic structure, and the latter has an M2O3-type cubic structure at low temperature (alpha-U2N3) and a hexagonal structure at higher temperature (beta-U2N3)</a:t>
            </a:r>
          </a:p>
          <a:p>
            <a:r>
              <a:rPr lang="en-US" sz="2200" dirty="0"/>
              <a:t>The phase diagram of U–N is complicated since the diagram depends on nitrogen pressure</a:t>
            </a:r>
          </a:p>
          <a:p>
            <a:r>
              <a:rPr lang="en-US" sz="2200" dirty="0"/>
              <a:t>There is still uncertainty regarding the phase diagram</a:t>
            </a:r>
          </a:p>
        </p:txBody>
      </p:sp>
    </p:spTree>
    <p:extLst>
      <p:ext uri="{BB962C8B-B14F-4D97-AF65-F5344CB8AC3E}">
        <p14:creationId xmlns:p14="http://schemas.microsoft.com/office/powerpoint/2010/main" val="1396020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D75A-C44C-CC42-9285-01035376125D}"/>
              </a:ext>
            </a:extLst>
          </p:cNvPr>
          <p:cNvSpPr>
            <a:spLocks noGrp="1"/>
          </p:cNvSpPr>
          <p:nvPr>
            <p:ph type="title"/>
          </p:nvPr>
        </p:nvSpPr>
        <p:spPr/>
        <p:txBody>
          <a:bodyPr/>
          <a:lstStyle/>
          <a:p>
            <a:r>
              <a:rPr lang="en-US" dirty="0"/>
              <a:t>UN Phase Diagram</a:t>
            </a:r>
          </a:p>
        </p:txBody>
      </p:sp>
      <p:sp>
        <p:nvSpPr>
          <p:cNvPr id="3" name="Content Placeholder 2">
            <a:extLst>
              <a:ext uri="{FF2B5EF4-FFF2-40B4-BE49-F238E27FC236}">
                <a16:creationId xmlns:a16="http://schemas.microsoft.com/office/drawing/2014/main" id="{F060E2C6-A2AB-574E-B60E-F922CA4EFD5F}"/>
              </a:ext>
            </a:extLst>
          </p:cNvPr>
          <p:cNvSpPr>
            <a:spLocks noGrp="1"/>
          </p:cNvSpPr>
          <p:nvPr>
            <p:ph sz="half" idx="1"/>
          </p:nvPr>
        </p:nvSpPr>
        <p:spPr>
          <a:xfrm>
            <a:off x="609599" y="1968503"/>
            <a:ext cx="5960165" cy="4157663"/>
          </a:xfrm>
        </p:spPr>
        <p:txBody>
          <a:bodyPr/>
          <a:lstStyle/>
          <a:p>
            <a:r>
              <a:rPr lang="en-US" sz="2200" dirty="0"/>
              <a:t>When nitrogen pressure is greater than 10</a:t>
            </a:r>
            <a:r>
              <a:rPr lang="en-US" sz="2200" baseline="30000" dirty="0"/>
              <a:t>5</a:t>
            </a:r>
            <a:r>
              <a:rPr lang="en-US" sz="2200" dirty="0"/>
              <a:t> Pa, UN melts at 3123K and that UN and U2N3 have a wide range of </a:t>
            </a:r>
            <a:r>
              <a:rPr lang="en-US" sz="2200" dirty="0" err="1"/>
              <a:t>nonstoichiometry</a:t>
            </a:r>
            <a:endParaRPr lang="en-US" sz="2200" dirty="0"/>
          </a:p>
          <a:p>
            <a:r>
              <a:rPr lang="en-US" sz="2200" dirty="0"/>
              <a:t>At lower nitrogen pressure (&lt;2E5 Pa) UN decomposes such that UN and U2N3 have little </a:t>
            </a:r>
            <a:r>
              <a:rPr lang="en-US" sz="2200" dirty="0" err="1"/>
              <a:t>nonstoichiometry</a:t>
            </a:r>
            <a:endParaRPr lang="en-US" sz="2200" dirty="0"/>
          </a:p>
          <a:p>
            <a:r>
              <a:rPr lang="en-US" sz="2200" dirty="0"/>
              <a:t>At low P</a:t>
            </a:r>
            <a:r>
              <a:rPr lang="en-US" sz="2200" baseline="-25000" dirty="0"/>
              <a:t>N</a:t>
            </a:r>
            <a:r>
              <a:rPr lang="en-US" sz="2200" dirty="0"/>
              <a:t>, the beta-U2N3 phase changes to UN2</a:t>
            </a:r>
          </a:p>
          <a:p>
            <a:r>
              <a:rPr lang="en-US" sz="2200" dirty="0"/>
              <a:t>U2N3 decomposes to UN, and UN decomposes to U and nitrogen at nitrogen pressure below 2.5 atm</a:t>
            </a:r>
          </a:p>
        </p:txBody>
      </p:sp>
      <p:pic>
        <p:nvPicPr>
          <p:cNvPr id="6" name="Content Placeholder 5">
            <a:extLst>
              <a:ext uri="{FF2B5EF4-FFF2-40B4-BE49-F238E27FC236}">
                <a16:creationId xmlns:a16="http://schemas.microsoft.com/office/drawing/2014/main" id="{33E65C2A-2A43-9345-9C77-616480CFF69A}"/>
              </a:ext>
            </a:extLst>
          </p:cNvPr>
          <p:cNvPicPr>
            <a:picLocks noGrp="1" noChangeAspect="1"/>
          </p:cNvPicPr>
          <p:nvPr>
            <p:ph sz="half" idx="2"/>
          </p:nvPr>
        </p:nvPicPr>
        <p:blipFill>
          <a:blip r:embed="rId2"/>
          <a:stretch>
            <a:fillRect/>
          </a:stretch>
        </p:blipFill>
        <p:spPr>
          <a:xfrm>
            <a:off x="6903748" y="1968500"/>
            <a:ext cx="3972503" cy="4157663"/>
          </a:xfrm>
          <a:prstGeom prst="rect">
            <a:avLst/>
          </a:prstGeom>
        </p:spPr>
      </p:pic>
      <p:sp>
        <p:nvSpPr>
          <p:cNvPr id="5" name="Slide Number Placeholder 4">
            <a:extLst>
              <a:ext uri="{FF2B5EF4-FFF2-40B4-BE49-F238E27FC236}">
                <a16:creationId xmlns:a16="http://schemas.microsoft.com/office/drawing/2014/main" id="{D6C915EF-4277-D04E-BB80-CB382462FE8E}"/>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spTree>
    <p:extLst>
      <p:ext uri="{BB962C8B-B14F-4D97-AF65-F5344CB8AC3E}">
        <p14:creationId xmlns:p14="http://schemas.microsoft.com/office/powerpoint/2010/main" val="1973291227"/>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9952</TotalTime>
  <Words>2550</Words>
  <Application>Microsoft Macintosh PowerPoint</Application>
  <PresentationFormat>Widescreen</PresentationFormat>
  <Paragraphs>213</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Helvetica</vt:lpstr>
      <vt:lpstr>Symbol</vt:lpstr>
      <vt:lpstr>2_NCStateU-horizontal-left-logo</vt:lpstr>
      <vt:lpstr>NE 763: Advanced Reactor Materials</vt:lpstr>
      <vt:lpstr>Last Time</vt:lpstr>
      <vt:lpstr>Evolution with Burnup</vt:lpstr>
      <vt:lpstr>Fission Gas Release</vt:lpstr>
      <vt:lpstr>Fuel Restructuring</vt:lpstr>
      <vt:lpstr>Fuel Restructuring</vt:lpstr>
      <vt:lpstr>Fuel Creep</vt:lpstr>
      <vt:lpstr>Fuel Creep</vt:lpstr>
      <vt:lpstr>Carbide FCCI</vt:lpstr>
      <vt:lpstr>Carbide FCCI</vt:lpstr>
      <vt:lpstr>Cladding Carburization</vt:lpstr>
      <vt:lpstr>Cladding Carburization</vt:lpstr>
      <vt:lpstr>Cladding Carburization</vt:lpstr>
      <vt:lpstr>Cladding Carburization</vt:lpstr>
      <vt:lpstr>Na Bonded Pin Performance</vt:lpstr>
      <vt:lpstr>He Bonded Pin Performance</vt:lpstr>
      <vt:lpstr>Pin Failure</vt:lpstr>
      <vt:lpstr>Carbide Fabrication</vt:lpstr>
      <vt:lpstr>Fabrication Techniques</vt:lpstr>
      <vt:lpstr>Carbothermic Reduction</vt:lpstr>
      <vt:lpstr>Carbothermic Reduction</vt:lpstr>
      <vt:lpstr>Pressing</vt:lpstr>
      <vt:lpstr>As-fabricated microstructures</vt:lpstr>
      <vt:lpstr>nitride fuels</vt:lpstr>
      <vt:lpstr>Nitride Fuels</vt:lpstr>
      <vt:lpstr>Nitride Fuel Benefits</vt:lpstr>
      <vt:lpstr>Nitride Properties</vt:lpstr>
      <vt:lpstr>Drawbacks of Nitrides</vt:lpstr>
      <vt:lpstr>Irradiation History of Nitrides</vt:lpstr>
      <vt:lpstr>UN Phase Diagram</vt:lpstr>
      <vt:lpstr>UN Phase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52</cp:revision>
  <dcterms:created xsi:type="dcterms:W3CDTF">2021-06-30T18:29:00Z</dcterms:created>
  <dcterms:modified xsi:type="dcterms:W3CDTF">2026-10-15T17:24:21Z</dcterms:modified>
</cp:coreProperties>
</file>
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48"/>
  </p:notesMasterIdLst>
  <p:sldIdLst>
    <p:sldId id="256" r:id="rId3"/>
    <p:sldId id="464" r:id="rId4"/>
    <p:sldId id="447" r:id="rId5"/>
    <p:sldId id="449" r:id="rId6"/>
    <p:sldId id="448" r:id="rId7"/>
    <p:sldId id="426" r:id="rId8"/>
    <p:sldId id="432" r:id="rId9"/>
    <p:sldId id="433" r:id="rId10"/>
    <p:sldId id="438" r:id="rId11"/>
    <p:sldId id="439" r:id="rId12"/>
    <p:sldId id="454" r:id="rId13"/>
    <p:sldId id="453" r:id="rId14"/>
    <p:sldId id="455" r:id="rId15"/>
    <p:sldId id="456" r:id="rId16"/>
    <p:sldId id="457" r:id="rId17"/>
    <p:sldId id="458" r:id="rId18"/>
    <p:sldId id="459" r:id="rId19"/>
    <p:sldId id="460" r:id="rId20"/>
    <p:sldId id="412" r:id="rId21"/>
    <p:sldId id="461" r:id="rId22"/>
    <p:sldId id="462" r:id="rId23"/>
    <p:sldId id="465" r:id="rId24"/>
    <p:sldId id="471" r:id="rId25"/>
    <p:sldId id="466" r:id="rId26"/>
    <p:sldId id="472" r:id="rId27"/>
    <p:sldId id="468" r:id="rId28"/>
    <p:sldId id="474" r:id="rId29"/>
    <p:sldId id="475" r:id="rId30"/>
    <p:sldId id="481" r:id="rId31"/>
    <p:sldId id="476" r:id="rId32"/>
    <p:sldId id="477" r:id="rId33"/>
    <p:sldId id="479" r:id="rId34"/>
    <p:sldId id="478" r:id="rId35"/>
    <p:sldId id="483" r:id="rId36"/>
    <p:sldId id="484" r:id="rId37"/>
    <p:sldId id="486" r:id="rId38"/>
    <p:sldId id="487" r:id="rId39"/>
    <p:sldId id="488" r:id="rId40"/>
    <p:sldId id="489" r:id="rId41"/>
    <p:sldId id="490" r:id="rId42"/>
    <p:sldId id="491" r:id="rId43"/>
    <p:sldId id="492" r:id="rId44"/>
    <p:sldId id="493" r:id="rId45"/>
    <p:sldId id="494" r:id="rId46"/>
    <p:sldId id="39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84"/>
    <p:restoredTop sz="94694"/>
  </p:normalViewPr>
  <p:slideViewPr>
    <p:cSldViewPr snapToGrid="0" snapToObjects="1">
      <p:cViewPr varScale="1">
        <p:scale>
          <a:sx n="121" d="100"/>
          <a:sy n="121" d="100"/>
        </p:scale>
        <p:origin x="4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9/4/25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802D-2D03-BE49-97AF-DE25499D6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3C79BB-C53F-454F-8922-2B2739189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74EF80-FE65-ED4F-9FE0-B09E92D1EA8A}"/>
              </a:ext>
            </a:extLst>
          </p:cNvPr>
          <p:cNvSpPr>
            <a:spLocks noGrp="1"/>
          </p:cNvSpPr>
          <p:nvPr>
            <p:ph type="dt" sz="half" idx="10"/>
          </p:nvPr>
        </p:nvSpPr>
        <p:spPr/>
        <p:txBody>
          <a:bodyPr/>
          <a:lstStyle/>
          <a:p>
            <a:fld id="{6008B229-1626-F140-A5AB-667E95C72CE6}" type="datetime1">
              <a:rPr lang="en-US" smtClean="0"/>
              <a:t>9/4/25</a:t>
            </a:fld>
            <a:endParaRPr lang="en-US"/>
          </a:p>
        </p:txBody>
      </p:sp>
      <p:sp>
        <p:nvSpPr>
          <p:cNvPr id="5" name="Footer Placeholder 4">
            <a:extLst>
              <a:ext uri="{FF2B5EF4-FFF2-40B4-BE49-F238E27FC236}">
                <a16:creationId xmlns:a16="http://schemas.microsoft.com/office/drawing/2014/main" id="{679F942A-634C-BB40-9910-CBFA44068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42F66-DE68-D245-97C8-9A6FA1D0AEF4}"/>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15865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C586-3F5F-8148-BB1F-499EF949B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6E2D30-D2E4-C24D-96F5-10BF4E0422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657D-8EE5-CB48-9FCB-F9F368C27214}"/>
              </a:ext>
            </a:extLst>
          </p:cNvPr>
          <p:cNvSpPr>
            <a:spLocks noGrp="1"/>
          </p:cNvSpPr>
          <p:nvPr>
            <p:ph type="dt" sz="half" idx="10"/>
          </p:nvPr>
        </p:nvSpPr>
        <p:spPr/>
        <p:txBody>
          <a:bodyPr/>
          <a:lstStyle/>
          <a:p>
            <a:fld id="{054DD6E4-1949-3040-894C-35794FB3182E}" type="datetime1">
              <a:rPr lang="en-US" smtClean="0"/>
              <a:t>9/4/25</a:t>
            </a:fld>
            <a:endParaRPr lang="en-US"/>
          </a:p>
        </p:txBody>
      </p:sp>
      <p:sp>
        <p:nvSpPr>
          <p:cNvPr id="5" name="Footer Placeholder 4">
            <a:extLst>
              <a:ext uri="{FF2B5EF4-FFF2-40B4-BE49-F238E27FC236}">
                <a16:creationId xmlns:a16="http://schemas.microsoft.com/office/drawing/2014/main" id="{818A4680-2FCD-2C45-88DD-58DC3F094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3DDA8-E64C-534E-9966-09CB65200A30}"/>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23364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776C-1D59-8049-88C7-A9CF31D468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8B2CAF-2FC3-CE40-AFEE-BB0B1776B2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E7856D-91AF-CD4F-BBB9-BB22C9E8644B}"/>
              </a:ext>
            </a:extLst>
          </p:cNvPr>
          <p:cNvSpPr>
            <a:spLocks noGrp="1"/>
          </p:cNvSpPr>
          <p:nvPr>
            <p:ph type="dt" sz="half" idx="10"/>
          </p:nvPr>
        </p:nvSpPr>
        <p:spPr/>
        <p:txBody>
          <a:bodyPr/>
          <a:lstStyle/>
          <a:p>
            <a:fld id="{C757C4BA-F6BD-9D46-BAF7-7A606C7B7108}" type="datetime1">
              <a:rPr lang="en-US" smtClean="0"/>
              <a:t>9/4/25</a:t>
            </a:fld>
            <a:endParaRPr lang="en-US"/>
          </a:p>
        </p:txBody>
      </p:sp>
      <p:sp>
        <p:nvSpPr>
          <p:cNvPr id="5" name="Footer Placeholder 4">
            <a:extLst>
              <a:ext uri="{FF2B5EF4-FFF2-40B4-BE49-F238E27FC236}">
                <a16:creationId xmlns:a16="http://schemas.microsoft.com/office/drawing/2014/main" id="{16CE3E7E-C490-8847-8BD6-E8FF92724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8B10A-A8F3-4D47-8A42-C63FD91ED029}"/>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84371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6C5A-058F-7443-BE51-F3484A7E13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6365D3-EC68-114D-9B11-DAB294D6F0D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F729DA-5D8F-0D4A-9476-2A4B4565334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E80497-C1FE-D547-B571-D69E574199AB}"/>
              </a:ext>
            </a:extLst>
          </p:cNvPr>
          <p:cNvSpPr>
            <a:spLocks noGrp="1"/>
          </p:cNvSpPr>
          <p:nvPr>
            <p:ph type="dt" sz="half" idx="10"/>
          </p:nvPr>
        </p:nvSpPr>
        <p:spPr/>
        <p:txBody>
          <a:bodyPr/>
          <a:lstStyle/>
          <a:p>
            <a:fld id="{95FEEB89-C0FA-7B44-91C8-3A1F81281704}" type="datetime1">
              <a:rPr lang="en-US" smtClean="0"/>
              <a:t>9/4/25</a:t>
            </a:fld>
            <a:endParaRPr lang="en-US"/>
          </a:p>
        </p:txBody>
      </p:sp>
      <p:sp>
        <p:nvSpPr>
          <p:cNvPr id="6" name="Footer Placeholder 5">
            <a:extLst>
              <a:ext uri="{FF2B5EF4-FFF2-40B4-BE49-F238E27FC236}">
                <a16:creationId xmlns:a16="http://schemas.microsoft.com/office/drawing/2014/main" id="{8AC48521-7F13-C445-8751-4E87C9A27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37EE6-7CA7-0E41-9D14-89950249757E}"/>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57213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FEF4-0D8E-DE46-AA71-05EE50ED02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DD346F-A12C-C142-8A93-08AF8CD4F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A45F87-A4D7-9343-A334-BB0CFE4C10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EE44D-0A72-974F-A950-E6793FBEA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3D733BD-E3C6-644A-BFEA-4784978800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82D901-6AD6-4A49-BB2B-6B6114E8DD7A}"/>
              </a:ext>
            </a:extLst>
          </p:cNvPr>
          <p:cNvSpPr>
            <a:spLocks noGrp="1"/>
          </p:cNvSpPr>
          <p:nvPr>
            <p:ph type="dt" sz="half" idx="10"/>
          </p:nvPr>
        </p:nvSpPr>
        <p:spPr/>
        <p:txBody>
          <a:bodyPr/>
          <a:lstStyle/>
          <a:p>
            <a:fld id="{CF66CC17-747B-F748-A0C3-012987D5CF06}" type="datetime1">
              <a:rPr lang="en-US" smtClean="0"/>
              <a:t>9/4/25</a:t>
            </a:fld>
            <a:endParaRPr lang="en-US"/>
          </a:p>
        </p:txBody>
      </p:sp>
      <p:sp>
        <p:nvSpPr>
          <p:cNvPr id="8" name="Footer Placeholder 7">
            <a:extLst>
              <a:ext uri="{FF2B5EF4-FFF2-40B4-BE49-F238E27FC236}">
                <a16:creationId xmlns:a16="http://schemas.microsoft.com/office/drawing/2014/main" id="{1AE8327C-C108-2948-9F3B-C5B7A290D5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E731F0-A30E-CD44-8DE4-E483375638B1}"/>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65218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4FD0-E6C0-4B4E-9F81-15DB20837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3ED28-8A5F-F64A-8A93-8A03DD77CDF2}"/>
              </a:ext>
            </a:extLst>
          </p:cNvPr>
          <p:cNvSpPr>
            <a:spLocks noGrp="1"/>
          </p:cNvSpPr>
          <p:nvPr>
            <p:ph type="dt" sz="half" idx="10"/>
          </p:nvPr>
        </p:nvSpPr>
        <p:spPr/>
        <p:txBody>
          <a:bodyPr/>
          <a:lstStyle/>
          <a:p>
            <a:fld id="{69BCEF32-73C1-834F-B688-79D9DDD34705}" type="datetime1">
              <a:rPr lang="en-US" smtClean="0"/>
              <a:t>9/4/25</a:t>
            </a:fld>
            <a:endParaRPr lang="en-US"/>
          </a:p>
        </p:txBody>
      </p:sp>
      <p:sp>
        <p:nvSpPr>
          <p:cNvPr id="4" name="Footer Placeholder 3">
            <a:extLst>
              <a:ext uri="{FF2B5EF4-FFF2-40B4-BE49-F238E27FC236}">
                <a16:creationId xmlns:a16="http://schemas.microsoft.com/office/drawing/2014/main" id="{5AB56722-EB54-8141-9FFB-B883395CC8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943BF-772C-0847-97EA-D301AA5778E5}"/>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97816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0981-B3E8-BA40-99FE-EA2C2AD9529B}"/>
              </a:ext>
            </a:extLst>
          </p:cNvPr>
          <p:cNvSpPr>
            <a:spLocks noGrp="1"/>
          </p:cNvSpPr>
          <p:nvPr>
            <p:ph type="dt" sz="half" idx="10"/>
          </p:nvPr>
        </p:nvSpPr>
        <p:spPr/>
        <p:txBody>
          <a:bodyPr/>
          <a:lstStyle/>
          <a:p>
            <a:fld id="{2E3B6507-7DFF-0847-9F5C-8F1A1EA2E5B9}" type="datetime1">
              <a:rPr lang="en-US" smtClean="0"/>
              <a:t>9/4/25</a:t>
            </a:fld>
            <a:endParaRPr lang="en-US"/>
          </a:p>
        </p:txBody>
      </p:sp>
      <p:sp>
        <p:nvSpPr>
          <p:cNvPr id="3" name="Footer Placeholder 2">
            <a:extLst>
              <a:ext uri="{FF2B5EF4-FFF2-40B4-BE49-F238E27FC236}">
                <a16:creationId xmlns:a16="http://schemas.microsoft.com/office/drawing/2014/main" id="{EE22584C-B9F3-5C46-B605-B2FB47395B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E55008-FE08-E24B-9B3C-0A16B2CEE7C2}"/>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39619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EC03-3651-D14B-AEAB-3A7133F5A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F6D8CA-8B8C-944F-8C90-AE9CC8AC0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54B7D9-B6E8-714F-A4A5-B28D20D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6B4357-3269-4248-AEAA-3609D1B55016}"/>
              </a:ext>
            </a:extLst>
          </p:cNvPr>
          <p:cNvSpPr>
            <a:spLocks noGrp="1"/>
          </p:cNvSpPr>
          <p:nvPr>
            <p:ph type="dt" sz="half" idx="10"/>
          </p:nvPr>
        </p:nvSpPr>
        <p:spPr/>
        <p:txBody>
          <a:bodyPr/>
          <a:lstStyle/>
          <a:p>
            <a:fld id="{2DB495FC-A020-2046-83B9-B5FB38D52B0B}" type="datetime1">
              <a:rPr lang="en-US" smtClean="0"/>
              <a:t>9/4/25</a:t>
            </a:fld>
            <a:endParaRPr lang="en-US"/>
          </a:p>
        </p:txBody>
      </p:sp>
      <p:sp>
        <p:nvSpPr>
          <p:cNvPr id="6" name="Footer Placeholder 5">
            <a:extLst>
              <a:ext uri="{FF2B5EF4-FFF2-40B4-BE49-F238E27FC236}">
                <a16:creationId xmlns:a16="http://schemas.microsoft.com/office/drawing/2014/main" id="{DC507DF4-EB73-9348-BA24-2E62ACB54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FC95E-AF76-2F40-8E6E-10EEB82B0CB8}"/>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95678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6BE1-1070-164D-B226-7BEB3337B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E752A-35DB-4244-957A-47F0C249B8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5A8CC6-3E86-9E4C-B828-E55B4933B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05BC1C-7B9D-C646-8E67-4C98CDDA9FEA}"/>
              </a:ext>
            </a:extLst>
          </p:cNvPr>
          <p:cNvSpPr>
            <a:spLocks noGrp="1"/>
          </p:cNvSpPr>
          <p:nvPr>
            <p:ph type="dt" sz="half" idx="10"/>
          </p:nvPr>
        </p:nvSpPr>
        <p:spPr/>
        <p:txBody>
          <a:bodyPr/>
          <a:lstStyle/>
          <a:p>
            <a:fld id="{BD7A8680-6AE5-D949-9D95-115987696769}" type="datetime1">
              <a:rPr lang="en-US" smtClean="0"/>
              <a:t>9/4/25</a:t>
            </a:fld>
            <a:endParaRPr lang="en-US"/>
          </a:p>
        </p:txBody>
      </p:sp>
      <p:sp>
        <p:nvSpPr>
          <p:cNvPr id="6" name="Footer Placeholder 5">
            <a:extLst>
              <a:ext uri="{FF2B5EF4-FFF2-40B4-BE49-F238E27FC236}">
                <a16:creationId xmlns:a16="http://schemas.microsoft.com/office/drawing/2014/main" id="{4C79295E-F278-8441-AA89-1F2F8EB282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FDEB5-4B8E-1143-AC2B-DDB5F294146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95644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86B8-FDC8-A24B-A420-9A35290385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A81A36-D120-B846-BA83-5C4BFEA362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5F6F14-E9DD-E146-A94A-4A7CA228F3D7}"/>
              </a:ext>
            </a:extLst>
          </p:cNvPr>
          <p:cNvSpPr>
            <a:spLocks noGrp="1"/>
          </p:cNvSpPr>
          <p:nvPr>
            <p:ph type="dt" sz="half" idx="10"/>
          </p:nvPr>
        </p:nvSpPr>
        <p:spPr/>
        <p:txBody>
          <a:bodyPr/>
          <a:lstStyle/>
          <a:p>
            <a:fld id="{777BA9D7-BCB1-2C4D-8831-3E14AB2674F7}" type="datetime1">
              <a:rPr lang="en-US" smtClean="0"/>
              <a:t>9/4/25</a:t>
            </a:fld>
            <a:endParaRPr lang="en-US"/>
          </a:p>
        </p:txBody>
      </p:sp>
      <p:sp>
        <p:nvSpPr>
          <p:cNvPr id="5" name="Footer Placeholder 4">
            <a:extLst>
              <a:ext uri="{FF2B5EF4-FFF2-40B4-BE49-F238E27FC236}">
                <a16:creationId xmlns:a16="http://schemas.microsoft.com/office/drawing/2014/main" id="{FF470E94-9F94-1649-8FE1-5341BF855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F5164-23F2-A840-AE31-9813D213714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020377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027D83-6F99-5343-9159-1F2E060A4D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F7CEDD-89DF-CC43-9E60-8FC65D4CFA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E88CF-EA17-6D4E-A676-D0DD2AEEE584}"/>
              </a:ext>
            </a:extLst>
          </p:cNvPr>
          <p:cNvSpPr>
            <a:spLocks noGrp="1"/>
          </p:cNvSpPr>
          <p:nvPr>
            <p:ph type="dt" sz="half" idx="10"/>
          </p:nvPr>
        </p:nvSpPr>
        <p:spPr/>
        <p:txBody>
          <a:bodyPr/>
          <a:lstStyle/>
          <a:p>
            <a:fld id="{C8CF900D-2ECF-E249-9251-2832B420FAEA}" type="datetime1">
              <a:rPr lang="en-US" smtClean="0"/>
              <a:t>9/4/25</a:t>
            </a:fld>
            <a:endParaRPr lang="en-US"/>
          </a:p>
        </p:txBody>
      </p:sp>
      <p:sp>
        <p:nvSpPr>
          <p:cNvPr id="5" name="Footer Placeholder 4">
            <a:extLst>
              <a:ext uri="{FF2B5EF4-FFF2-40B4-BE49-F238E27FC236}">
                <a16:creationId xmlns:a16="http://schemas.microsoft.com/office/drawing/2014/main" id="{BEC857EE-AA9E-7744-B121-837829395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5FA26-DD53-CA43-B54B-89E91BCDA11F}"/>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87461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9/4/25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9/4/25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9/4/25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9/4/25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9/4/25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9/4/25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9/4/25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9/4/25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9/4/25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9/4/25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9/4/25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12B010-5E9E-E240-BC91-7846D2B2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63D9EB-2FC9-1848-BCB3-4904198DC0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44448-0A7D-184E-908E-72ADAF04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7D75D3-5748-F148-9D5F-9B1083DE5149}" type="datetime1">
              <a:rPr lang="en-US" smtClean="0"/>
              <a:t>9/4/25</a:t>
            </a:fld>
            <a:endParaRPr lang="en-US"/>
          </a:p>
        </p:txBody>
      </p:sp>
      <p:sp>
        <p:nvSpPr>
          <p:cNvPr id="5" name="Footer Placeholder 4">
            <a:extLst>
              <a:ext uri="{FF2B5EF4-FFF2-40B4-BE49-F238E27FC236}">
                <a16:creationId xmlns:a16="http://schemas.microsoft.com/office/drawing/2014/main" id="{B9886183-444C-E749-AEE5-FEA7D7D6E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918D00-42C1-B442-BC2B-ECBBCB64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4F7F-1103-A749-AA35-91DD36B89A7B}" type="slidenum">
              <a:rPr lang="en-US" smtClean="0"/>
              <a:t>‹#›</a:t>
            </a:fld>
            <a:endParaRPr lang="en-US"/>
          </a:p>
        </p:txBody>
      </p:sp>
    </p:spTree>
    <p:extLst>
      <p:ext uri="{BB962C8B-B14F-4D97-AF65-F5344CB8AC3E}">
        <p14:creationId xmlns:p14="http://schemas.microsoft.com/office/powerpoint/2010/main" val="68145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9/4/25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5.xml"/><Relationship Id="rId4" Type="http://schemas.openxmlformats.org/officeDocument/2006/relationships/image" Target="../media/image8.tiff"/></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tiff"/><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41.tiff"/><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2023</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9E43D-92FE-5740-AAC1-6E298E81DFA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42FE922A-9073-844C-A521-5FC4AD5021CB}"/>
              </a:ext>
            </a:extLst>
          </p:cNvPr>
          <p:cNvSpPr>
            <a:spLocks noGrp="1"/>
          </p:cNvSpPr>
          <p:nvPr>
            <p:ph idx="1"/>
          </p:nvPr>
        </p:nvSpPr>
        <p:spPr>
          <a:xfrm>
            <a:off x="609600" y="2280746"/>
            <a:ext cx="5961675" cy="3845418"/>
          </a:xfrm>
        </p:spPr>
        <p:txBody>
          <a:bodyPr/>
          <a:lstStyle/>
          <a:p>
            <a:endParaRPr lang="en-US" sz="2000" dirty="0"/>
          </a:p>
        </p:txBody>
      </p:sp>
      <p:sp>
        <p:nvSpPr>
          <p:cNvPr id="4" name="Slide Number Placeholder 3">
            <a:extLst>
              <a:ext uri="{FF2B5EF4-FFF2-40B4-BE49-F238E27FC236}">
                <a16:creationId xmlns:a16="http://schemas.microsoft.com/office/drawing/2014/main" id="{BD115A18-CA39-6148-97F9-121914B5C62E}"/>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825817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3A496-CD1E-554D-ADF1-83813257C465}"/>
              </a:ext>
            </a:extLst>
          </p:cNvPr>
          <p:cNvSpPr>
            <a:spLocks noGrp="1"/>
          </p:cNvSpPr>
          <p:nvPr>
            <p:ph type="title"/>
          </p:nvPr>
        </p:nvSpPr>
        <p:spPr/>
        <p:txBody>
          <a:bodyPr/>
          <a:lstStyle/>
          <a:p>
            <a:r>
              <a:rPr lang="en-US" dirty="0"/>
              <a:t>Swelling in Gamma U</a:t>
            </a:r>
          </a:p>
        </p:txBody>
      </p:sp>
      <p:sp>
        <p:nvSpPr>
          <p:cNvPr id="3" name="Content Placeholder 2">
            <a:extLst>
              <a:ext uri="{FF2B5EF4-FFF2-40B4-BE49-F238E27FC236}">
                <a16:creationId xmlns:a16="http://schemas.microsoft.com/office/drawing/2014/main" id="{2796B876-D582-FE4B-A6A7-A1D84DB6FB61}"/>
              </a:ext>
            </a:extLst>
          </p:cNvPr>
          <p:cNvSpPr>
            <a:spLocks noGrp="1"/>
          </p:cNvSpPr>
          <p:nvPr>
            <p:ph sz="half" idx="1"/>
          </p:nvPr>
        </p:nvSpPr>
        <p:spPr/>
        <p:txBody>
          <a:bodyPr/>
          <a:lstStyle/>
          <a:p>
            <a:r>
              <a:rPr lang="en-US" sz="2200" dirty="0"/>
              <a:t>Swelling in the higher temperature phases occurs primarily by growth of fission gas bubbles, and is isotropic</a:t>
            </a:r>
          </a:p>
          <a:p>
            <a:r>
              <a:rPr lang="en-US" sz="2200" dirty="0"/>
              <a:t>All phases will also have solid fission product swelling</a:t>
            </a:r>
          </a:p>
          <a:p>
            <a:r>
              <a:rPr lang="en-US" sz="2200" dirty="0"/>
              <a:t>Fission gas is effectively insoluble in metallic U, and thus prefers to precipitate</a:t>
            </a:r>
          </a:p>
          <a:p>
            <a:r>
              <a:rPr lang="en-US" sz="2200" dirty="0"/>
              <a:t>Sufficiently large bubbles can maintain an equilibrium gas pressure by balancing the surface tension and the external pressure</a:t>
            </a:r>
          </a:p>
        </p:txBody>
      </p:sp>
      <p:sp>
        <p:nvSpPr>
          <p:cNvPr id="4" name="Content Placeholder 3">
            <a:extLst>
              <a:ext uri="{FF2B5EF4-FFF2-40B4-BE49-F238E27FC236}">
                <a16:creationId xmlns:a16="http://schemas.microsoft.com/office/drawing/2014/main" id="{A1982929-3519-2844-A4DE-6DDC531D72E2}"/>
              </a:ext>
            </a:extLst>
          </p:cNvPr>
          <p:cNvSpPr>
            <a:spLocks noGrp="1"/>
          </p:cNvSpPr>
          <p:nvPr>
            <p:ph sz="half" idx="2"/>
          </p:nvPr>
        </p:nvSpPr>
        <p:spPr/>
        <p:txBody>
          <a:bodyPr/>
          <a:lstStyle/>
          <a:p>
            <a:r>
              <a:rPr lang="en-US" sz="2200" dirty="0"/>
              <a:t>This growth is described by the Young-Laplace equation</a:t>
            </a:r>
          </a:p>
          <a:p>
            <a:endParaRPr lang="en-US" sz="2200" dirty="0"/>
          </a:p>
          <a:p>
            <a:endParaRPr lang="en-US" sz="2200" dirty="0"/>
          </a:p>
          <a:p>
            <a:r>
              <a:rPr lang="en-US" sz="2200" dirty="0"/>
              <a:t>The external pressure is determined by the plastic flow characteristics of the fuel surrounding the bubble and the mechanical restraint of the cladding</a:t>
            </a:r>
          </a:p>
          <a:p>
            <a:r>
              <a:rPr lang="en-US" sz="2200" dirty="0"/>
              <a:t>Fission gas swelling can be substantial, and must be accounted for</a:t>
            </a:r>
          </a:p>
          <a:p>
            <a:endParaRPr lang="en-US" sz="2200" dirty="0"/>
          </a:p>
          <a:p>
            <a:endParaRPr lang="en-US" sz="2200" dirty="0"/>
          </a:p>
        </p:txBody>
      </p:sp>
      <p:sp>
        <p:nvSpPr>
          <p:cNvPr id="5" name="Slide Number Placeholder 4">
            <a:extLst>
              <a:ext uri="{FF2B5EF4-FFF2-40B4-BE49-F238E27FC236}">
                <a16:creationId xmlns:a16="http://schemas.microsoft.com/office/drawing/2014/main" id="{39F2FCAE-C4C2-7148-90A8-9853DA64F92E}"/>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pic>
        <p:nvPicPr>
          <p:cNvPr id="7" name="Picture 6">
            <a:extLst>
              <a:ext uri="{FF2B5EF4-FFF2-40B4-BE49-F238E27FC236}">
                <a16:creationId xmlns:a16="http://schemas.microsoft.com/office/drawing/2014/main" id="{E19067C2-B351-BE4D-959C-639176FA7BAE}"/>
              </a:ext>
            </a:extLst>
          </p:cNvPr>
          <p:cNvPicPr>
            <a:picLocks noChangeAspect="1"/>
          </p:cNvPicPr>
          <p:nvPr/>
        </p:nvPicPr>
        <p:blipFill>
          <a:blip r:embed="rId2"/>
          <a:stretch>
            <a:fillRect/>
          </a:stretch>
        </p:blipFill>
        <p:spPr>
          <a:xfrm>
            <a:off x="7816850" y="2654300"/>
            <a:ext cx="1841500" cy="774700"/>
          </a:xfrm>
          <a:prstGeom prst="rect">
            <a:avLst/>
          </a:prstGeom>
        </p:spPr>
      </p:pic>
    </p:spTree>
    <p:extLst>
      <p:ext uri="{BB962C8B-B14F-4D97-AF65-F5344CB8AC3E}">
        <p14:creationId xmlns:p14="http://schemas.microsoft.com/office/powerpoint/2010/main" val="2552063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6BB0C-0DE6-6546-88BC-DFC8A84E27C3}"/>
              </a:ext>
            </a:extLst>
          </p:cNvPr>
          <p:cNvSpPr>
            <a:spLocks noGrp="1"/>
          </p:cNvSpPr>
          <p:nvPr>
            <p:ph type="title"/>
          </p:nvPr>
        </p:nvSpPr>
        <p:spPr/>
        <p:txBody>
          <a:bodyPr/>
          <a:lstStyle/>
          <a:p>
            <a:r>
              <a:rPr lang="en-US" dirty="0"/>
              <a:t>Alloying to modify properties</a:t>
            </a:r>
          </a:p>
        </p:txBody>
      </p:sp>
      <p:sp>
        <p:nvSpPr>
          <p:cNvPr id="3" name="Content Placeholder 2">
            <a:extLst>
              <a:ext uri="{FF2B5EF4-FFF2-40B4-BE49-F238E27FC236}">
                <a16:creationId xmlns:a16="http://schemas.microsoft.com/office/drawing/2014/main" id="{E81C0652-9923-7449-A55B-72E137B4EA35}"/>
              </a:ext>
            </a:extLst>
          </p:cNvPr>
          <p:cNvSpPr>
            <a:spLocks noGrp="1"/>
          </p:cNvSpPr>
          <p:nvPr>
            <p:ph sz="half" idx="1"/>
          </p:nvPr>
        </p:nvSpPr>
        <p:spPr/>
        <p:txBody>
          <a:bodyPr/>
          <a:lstStyle/>
          <a:p>
            <a:r>
              <a:rPr lang="en-US" sz="2200" dirty="0"/>
              <a:t>As with alpha U, small alloying additions were explored to limit the fission gas swelling behavior</a:t>
            </a:r>
          </a:p>
          <a:p>
            <a:r>
              <a:rPr lang="en-US" sz="2200" dirty="0"/>
              <a:t>Adjusted U – U alloyed with small amounts of Al, Fe, or Si</a:t>
            </a:r>
          </a:p>
          <a:p>
            <a:r>
              <a:rPr lang="en-US" sz="2200" dirty="0"/>
              <a:t>Additions form precipitates and act as point defect sinks, limiting swelling for low burnups</a:t>
            </a:r>
          </a:p>
          <a:p>
            <a:r>
              <a:rPr lang="en-US" sz="2200" dirty="0"/>
              <a:t>U-</a:t>
            </a:r>
            <a:r>
              <a:rPr lang="en-US" sz="2200" dirty="0" err="1"/>
              <a:t>Fissium</a:t>
            </a:r>
            <a:r>
              <a:rPr lang="en-US" sz="2200" dirty="0"/>
              <a:t> contained Mo-Ru, with lesser amounts of Rh, Pd, Zr, and Nb, and was the early EBR II fuel</a:t>
            </a:r>
          </a:p>
          <a:p>
            <a:endParaRPr lang="en-US" sz="2200" dirty="0"/>
          </a:p>
          <a:p>
            <a:endParaRPr lang="en-US" sz="2200" dirty="0"/>
          </a:p>
        </p:txBody>
      </p:sp>
      <p:sp>
        <p:nvSpPr>
          <p:cNvPr id="4" name="Content Placeholder 3">
            <a:extLst>
              <a:ext uri="{FF2B5EF4-FFF2-40B4-BE49-F238E27FC236}">
                <a16:creationId xmlns:a16="http://schemas.microsoft.com/office/drawing/2014/main" id="{79645A56-252D-4340-9444-5EA931F645E9}"/>
              </a:ext>
            </a:extLst>
          </p:cNvPr>
          <p:cNvSpPr>
            <a:spLocks noGrp="1"/>
          </p:cNvSpPr>
          <p:nvPr>
            <p:ph sz="half" idx="2"/>
          </p:nvPr>
        </p:nvSpPr>
        <p:spPr>
          <a:xfrm>
            <a:off x="6197600" y="1968503"/>
            <a:ext cx="5678842" cy="4157663"/>
          </a:xfrm>
        </p:spPr>
        <p:txBody>
          <a:bodyPr/>
          <a:lstStyle/>
          <a:p>
            <a:r>
              <a:rPr lang="en-US" sz="2200" dirty="0"/>
              <a:t>Higher content alloys have focused on elements that form extensive solid solutions with U in the high-temperature </a:t>
            </a:r>
            <a:r>
              <a:rPr lang="el-GR" sz="2200" dirty="0"/>
              <a:t>γ-</a:t>
            </a:r>
            <a:r>
              <a:rPr lang="en-US" sz="2200" dirty="0"/>
              <a:t>phase, specifically Mo, Zr, </a:t>
            </a:r>
            <a:r>
              <a:rPr lang="en-US" sz="2200" dirty="0" err="1"/>
              <a:t>Ti</a:t>
            </a:r>
            <a:r>
              <a:rPr lang="en-US" sz="2200" dirty="0"/>
              <a:t>, and Nb</a:t>
            </a:r>
          </a:p>
          <a:p>
            <a:r>
              <a:rPr lang="en-US" sz="2200" dirty="0"/>
              <a:t>These elements lower the temperature of the cubic </a:t>
            </a:r>
            <a:r>
              <a:rPr lang="el-GR" sz="2200" dirty="0"/>
              <a:t>γ-</a:t>
            </a:r>
            <a:r>
              <a:rPr lang="en-US" sz="2200" dirty="0"/>
              <a:t>phase boundary, allowing more of the fuel to operate in the isotropic </a:t>
            </a:r>
            <a:r>
              <a:rPr lang="el-GR" sz="2200" dirty="0"/>
              <a:t>γ-</a:t>
            </a:r>
            <a:r>
              <a:rPr lang="en-US" sz="2200" dirty="0"/>
              <a:t>phase; they also increase the solidus temperature, raising the margins at which the fuel melts</a:t>
            </a:r>
          </a:p>
          <a:p>
            <a:r>
              <a:rPr lang="en-US" sz="2200" dirty="0"/>
              <a:t>The addition of Zr and Mo seem to most substantially reduce the swelling of metallic U and low T and low burnup</a:t>
            </a:r>
          </a:p>
          <a:p>
            <a:endParaRPr lang="en-US" sz="2200" dirty="0"/>
          </a:p>
          <a:p>
            <a:endParaRPr lang="en-US" sz="2200" dirty="0"/>
          </a:p>
        </p:txBody>
      </p:sp>
      <p:sp>
        <p:nvSpPr>
          <p:cNvPr id="5" name="Slide Number Placeholder 4">
            <a:extLst>
              <a:ext uri="{FF2B5EF4-FFF2-40B4-BE49-F238E27FC236}">
                <a16:creationId xmlns:a16="http://schemas.microsoft.com/office/drawing/2014/main" id="{2C73B035-95A1-2A4D-BDEB-C5903A65143A}"/>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dirty="0"/>
          </a:p>
        </p:txBody>
      </p:sp>
    </p:spTree>
    <p:extLst>
      <p:ext uri="{BB962C8B-B14F-4D97-AF65-F5344CB8AC3E}">
        <p14:creationId xmlns:p14="http://schemas.microsoft.com/office/powerpoint/2010/main" val="2577522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62F90-80DB-CE43-BDF3-FD69EA932F5F}"/>
              </a:ext>
            </a:extLst>
          </p:cNvPr>
          <p:cNvSpPr>
            <a:spLocks noGrp="1"/>
          </p:cNvSpPr>
          <p:nvPr>
            <p:ph type="title"/>
          </p:nvPr>
        </p:nvSpPr>
        <p:spPr/>
        <p:txBody>
          <a:bodyPr/>
          <a:lstStyle/>
          <a:p>
            <a:r>
              <a:rPr lang="en-US" dirty="0"/>
              <a:t>Accommodation of Swelling</a:t>
            </a:r>
          </a:p>
        </p:txBody>
      </p:sp>
      <p:sp>
        <p:nvSpPr>
          <p:cNvPr id="3" name="Content Placeholder 2">
            <a:extLst>
              <a:ext uri="{FF2B5EF4-FFF2-40B4-BE49-F238E27FC236}">
                <a16:creationId xmlns:a16="http://schemas.microsoft.com/office/drawing/2014/main" id="{ED03F847-CD3E-E446-948E-C2A3D84580D8}"/>
              </a:ext>
            </a:extLst>
          </p:cNvPr>
          <p:cNvSpPr>
            <a:spLocks noGrp="1"/>
          </p:cNvSpPr>
          <p:nvPr>
            <p:ph sz="half" idx="1"/>
          </p:nvPr>
        </p:nvSpPr>
        <p:spPr/>
        <p:txBody>
          <a:bodyPr/>
          <a:lstStyle/>
          <a:p>
            <a:r>
              <a:rPr lang="en-US" sz="2200" dirty="0"/>
              <a:t>With high-content alloys, calculations of fuel swelling and gas release showed that if 30-40% free volume was afforded inside the cladding, fuel could swell, and when it contacted the cladding, allowing for mechanical strength of cladding to counteract further radial swelling</a:t>
            </a:r>
          </a:p>
          <a:p>
            <a:r>
              <a:rPr lang="en-US" sz="2200" dirty="0"/>
              <a:t>It was found that the majority of fission gas is released by about 30% swelling, and by including a large plenum, stresses on cladding could be reduced</a:t>
            </a:r>
          </a:p>
        </p:txBody>
      </p:sp>
      <p:sp>
        <p:nvSpPr>
          <p:cNvPr id="5" name="Slide Number Placeholder 4">
            <a:extLst>
              <a:ext uri="{FF2B5EF4-FFF2-40B4-BE49-F238E27FC236}">
                <a16:creationId xmlns:a16="http://schemas.microsoft.com/office/drawing/2014/main" id="{3E2F886B-1E34-F349-99A5-69B4A2EC4632}"/>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9" name="Content Placeholder 8">
            <a:extLst>
              <a:ext uri="{FF2B5EF4-FFF2-40B4-BE49-F238E27FC236}">
                <a16:creationId xmlns:a16="http://schemas.microsoft.com/office/drawing/2014/main" id="{EFA7407F-C893-0B46-8A3E-1609B540237F}"/>
              </a:ext>
            </a:extLst>
          </p:cNvPr>
          <p:cNvPicPr>
            <a:picLocks noGrp="1" noChangeAspect="1"/>
          </p:cNvPicPr>
          <p:nvPr>
            <p:ph sz="half" idx="2"/>
          </p:nvPr>
        </p:nvPicPr>
        <p:blipFill>
          <a:blip r:embed="rId2"/>
          <a:stretch>
            <a:fillRect/>
          </a:stretch>
        </p:blipFill>
        <p:spPr>
          <a:xfrm>
            <a:off x="6197600" y="2030920"/>
            <a:ext cx="5384800" cy="4032822"/>
          </a:xfrm>
          <a:prstGeom prst="rect">
            <a:avLst/>
          </a:prstGeom>
        </p:spPr>
      </p:pic>
    </p:spTree>
    <p:extLst>
      <p:ext uri="{BB962C8B-B14F-4D97-AF65-F5344CB8AC3E}">
        <p14:creationId xmlns:p14="http://schemas.microsoft.com/office/powerpoint/2010/main" val="2356016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29E8-F203-F04E-8FC2-0CA55E98E3D0}"/>
              </a:ext>
            </a:extLst>
          </p:cNvPr>
          <p:cNvSpPr>
            <a:spLocks noGrp="1"/>
          </p:cNvSpPr>
          <p:nvPr>
            <p:ph type="title"/>
          </p:nvPr>
        </p:nvSpPr>
        <p:spPr/>
        <p:txBody>
          <a:bodyPr/>
          <a:lstStyle/>
          <a:p>
            <a:r>
              <a:rPr lang="en-US" dirty="0"/>
              <a:t>Metal Fuel</a:t>
            </a:r>
          </a:p>
        </p:txBody>
      </p:sp>
      <p:sp>
        <p:nvSpPr>
          <p:cNvPr id="3" name="Content Placeholder 2">
            <a:extLst>
              <a:ext uri="{FF2B5EF4-FFF2-40B4-BE49-F238E27FC236}">
                <a16:creationId xmlns:a16="http://schemas.microsoft.com/office/drawing/2014/main" id="{6F68C27F-C453-0E49-B002-52FDE370D53A}"/>
              </a:ext>
            </a:extLst>
          </p:cNvPr>
          <p:cNvSpPr>
            <a:spLocks noGrp="1"/>
          </p:cNvSpPr>
          <p:nvPr>
            <p:ph sz="half" idx="1"/>
          </p:nvPr>
        </p:nvSpPr>
        <p:spPr>
          <a:xfrm>
            <a:off x="609599" y="1968503"/>
            <a:ext cx="6684579" cy="4157663"/>
          </a:xfrm>
        </p:spPr>
        <p:txBody>
          <a:bodyPr/>
          <a:lstStyle/>
          <a:p>
            <a:r>
              <a:rPr lang="en-US" sz="2200" dirty="0"/>
              <a:t>Metal fuels are ideal for fast reactors because they have higher densities of fissile and fertile materials and provide higher breeding ratio</a:t>
            </a:r>
          </a:p>
          <a:p>
            <a:r>
              <a:rPr lang="en-US" sz="2200" dirty="0"/>
              <a:t>The burnup of metal fuel in the early days was limited to a few atom percent (at.%) because of the increase in the fuel–cladding mechanical interaction (FCMI) caused by gas swelling of fuel alloys</a:t>
            </a:r>
          </a:p>
          <a:p>
            <a:r>
              <a:rPr lang="en-US" sz="2200" dirty="0"/>
              <a:t>Reducing the fuel smear density to about 75% is effective in promoting fission gas release before fuel-cladding contact and in suppressing FCMI</a:t>
            </a:r>
          </a:p>
          <a:p>
            <a:endParaRPr lang="en-US" sz="2200" dirty="0"/>
          </a:p>
          <a:p>
            <a:endParaRPr lang="en-US" sz="2200" dirty="0"/>
          </a:p>
        </p:txBody>
      </p:sp>
      <p:sp>
        <p:nvSpPr>
          <p:cNvPr id="5" name="Slide Number Placeholder 4">
            <a:extLst>
              <a:ext uri="{FF2B5EF4-FFF2-40B4-BE49-F238E27FC236}">
                <a16:creationId xmlns:a16="http://schemas.microsoft.com/office/drawing/2014/main" id="{413CA41E-4C58-7A4C-9E00-F9C910286E96}"/>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3074" name="Picture 2" descr="Impacts of Burnup-Dependent Swelling of Metallic Fuel on the Performance of  a Compact Breed-and-Burn Fast Reactor - ScienceDirect">
            <a:extLst>
              <a:ext uri="{FF2B5EF4-FFF2-40B4-BE49-F238E27FC236}">
                <a16:creationId xmlns:a16="http://schemas.microsoft.com/office/drawing/2014/main" id="{26CF02EA-BF47-6E4F-AE73-B413A419C51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531100" y="2320134"/>
            <a:ext cx="4051300" cy="345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260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96AF2-BE20-FF4F-AADC-3A666819D1E6}"/>
              </a:ext>
            </a:extLst>
          </p:cNvPr>
          <p:cNvSpPr>
            <a:spLocks noGrp="1"/>
          </p:cNvSpPr>
          <p:nvPr>
            <p:ph type="title"/>
          </p:nvPr>
        </p:nvSpPr>
        <p:spPr/>
        <p:txBody>
          <a:bodyPr/>
          <a:lstStyle/>
          <a:p>
            <a:r>
              <a:rPr lang="en-US" dirty="0"/>
              <a:t>Base Metal Fuel System</a:t>
            </a:r>
          </a:p>
        </p:txBody>
      </p:sp>
      <p:sp>
        <p:nvSpPr>
          <p:cNvPr id="3" name="Content Placeholder 2">
            <a:extLst>
              <a:ext uri="{FF2B5EF4-FFF2-40B4-BE49-F238E27FC236}">
                <a16:creationId xmlns:a16="http://schemas.microsoft.com/office/drawing/2014/main" id="{A162DFA2-EBC5-4149-9563-9DEAE5240D40}"/>
              </a:ext>
            </a:extLst>
          </p:cNvPr>
          <p:cNvSpPr>
            <a:spLocks noGrp="1"/>
          </p:cNvSpPr>
          <p:nvPr>
            <p:ph sz="half" idx="1"/>
          </p:nvPr>
        </p:nvSpPr>
        <p:spPr>
          <a:xfrm>
            <a:off x="609599" y="1968503"/>
            <a:ext cx="6936829" cy="4157663"/>
          </a:xfrm>
        </p:spPr>
        <p:txBody>
          <a:bodyPr/>
          <a:lstStyle/>
          <a:p>
            <a:r>
              <a:rPr lang="en-US" sz="2400" dirty="0"/>
              <a:t>The typical metallic fuel consists of a U(Pu)–10 </a:t>
            </a:r>
            <a:r>
              <a:rPr lang="en-US" sz="2400" dirty="0" err="1"/>
              <a:t>wt</a:t>
            </a:r>
            <a:r>
              <a:rPr lang="en-US" sz="2400" dirty="0"/>
              <a:t>% Zr fuel slug with ~75% smear density</a:t>
            </a:r>
          </a:p>
          <a:p>
            <a:r>
              <a:rPr lang="en-US" sz="2400" dirty="0"/>
              <a:t>The cylindrical fuel alloy rod is called a ‘fuel slug</a:t>
            </a:r>
          </a:p>
          <a:p>
            <a:r>
              <a:rPr lang="en-US" sz="2400" dirty="0"/>
              <a:t>The annular gap between the fuel slug and the cladding is filled with sodium (bond sodium)</a:t>
            </a:r>
          </a:p>
          <a:p>
            <a:r>
              <a:rPr lang="en-US" sz="2400" dirty="0"/>
              <a:t>A relatively large gas plenum (1-1.5x fuel length), which is a space above the fuel slug, is provided to mitigate the pressure of the fission gas accumulating during irradiation</a:t>
            </a:r>
          </a:p>
          <a:p>
            <a:endParaRPr lang="en-US" sz="2400" dirty="0"/>
          </a:p>
          <a:p>
            <a:endParaRPr lang="en-US" sz="2400" dirty="0"/>
          </a:p>
          <a:p>
            <a:endParaRPr lang="en-US" sz="2400" dirty="0"/>
          </a:p>
        </p:txBody>
      </p:sp>
      <p:pic>
        <p:nvPicPr>
          <p:cNvPr id="6" name="Content Placeholder 5">
            <a:extLst>
              <a:ext uri="{FF2B5EF4-FFF2-40B4-BE49-F238E27FC236}">
                <a16:creationId xmlns:a16="http://schemas.microsoft.com/office/drawing/2014/main" id="{442152D4-E672-A14F-B89C-C95F122D3E75}"/>
              </a:ext>
            </a:extLst>
          </p:cNvPr>
          <p:cNvPicPr>
            <a:picLocks noGrp="1" noChangeAspect="1"/>
          </p:cNvPicPr>
          <p:nvPr>
            <p:ph sz="half" idx="2"/>
          </p:nvPr>
        </p:nvPicPr>
        <p:blipFill>
          <a:blip r:embed="rId2"/>
          <a:stretch>
            <a:fillRect/>
          </a:stretch>
        </p:blipFill>
        <p:spPr>
          <a:xfrm>
            <a:off x="9357578" y="136523"/>
            <a:ext cx="1604843" cy="6541379"/>
          </a:xfrm>
          <a:prstGeom prst="rect">
            <a:avLst/>
          </a:prstGeom>
        </p:spPr>
      </p:pic>
      <p:sp>
        <p:nvSpPr>
          <p:cNvPr id="5" name="Slide Number Placeholder 4">
            <a:extLst>
              <a:ext uri="{FF2B5EF4-FFF2-40B4-BE49-F238E27FC236}">
                <a16:creationId xmlns:a16="http://schemas.microsoft.com/office/drawing/2014/main" id="{8EAF1FB8-F0CA-A548-BC04-2FBA1A076E89}"/>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dirty="0"/>
          </a:p>
        </p:txBody>
      </p:sp>
    </p:spTree>
    <p:extLst>
      <p:ext uri="{BB962C8B-B14F-4D97-AF65-F5344CB8AC3E}">
        <p14:creationId xmlns:p14="http://schemas.microsoft.com/office/powerpoint/2010/main" val="3969517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9E19-C1C9-7443-AF93-E2E066E639BA}"/>
              </a:ext>
            </a:extLst>
          </p:cNvPr>
          <p:cNvSpPr>
            <a:spLocks noGrp="1"/>
          </p:cNvSpPr>
          <p:nvPr>
            <p:ph type="title"/>
          </p:nvPr>
        </p:nvSpPr>
        <p:spPr/>
        <p:txBody>
          <a:bodyPr/>
          <a:lstStyle/>
          <a:p>
            <a:r>
              <a:rPr lang="en-US" dirty="0"/>
              <a:t>Closing the Fuel Cycle</a:t>
            </a:r>
          </a:p>
        </p:txBody>
      </p:sp>
      <p:sp>
        <p:nvSpPr>
          <p:cNvPr id="3" name="Content Placeholder 2">
            <a:extLst>
              <a:ext uri="{FF2B5EF4-FFF2-40B4-BE49-F238E27FC236}">
                <a16:creationId xmlns:a16="http://schemas.microsoft.com/office/drawing/2014/main" id="{D40D69A8-4E00-F24E-AB61-197E90D2FF1B}"/>
              </a:ext>
            </a:extLst>
          </p:cNvPr>
          <p:cNvSpPr>
            <a:spLocks noGrp="1"/>
          </p:cNvSpPr>
          <p:nvPr>
            <p:ph sz="half" idx="1"/>
          </p:nvPr>
        </p:nvSpPr>
        <p:spPr/>
        <p:txBody>
          <a:bodyPr/>
          <a:lstStyle/>
          <a:p>
            <a:r>
              <a:rPr lang="en-US" sz="2400" dirty="0"/>
              <a:t>An important factor in selecting a fuel form for fast reactors is ease of fuel recycling, including reprocessing and fuel refabrication</a:t>
            </a:r>
          </a:p>
          <a:p>
            <a:r>
              <a:rPr lang="en-US" sz="2400" dirty="0"/>
              <a:t>Pyrometallurgical processing, called ‘melt refining,’ can be combined with refining techniques to recycle spent metallic fuel</a:t>
            </a:r>
          </a:p>
          <a:p>
            <a:endParaRPr lang="en-US" sz="2400" dirty="0"/>
          </a:p>
          <a:p>
            <a:endParaRPr lang="en-US" sz="2400" dirty="0"/>
          </a:p>
        </p:txBody>
      </p:sp>
      <p:sp>
        <p:nvSpPr>
          <p:cNvPr id="4" name="Content Placeholder 3">
            <a:extLst>
              <a:ext uri="{FF2B5EF4-FFF2-40B4-BE49-F238E27FC236}">
                <a16:creationId xmlns:a16="http://schemas.microsoft.com/office/drawing/2014/main" id="{5EC804BA-81DE-1B42-92F0-1B2C0467510F}"/>
              </a:ext>
            </a:extLst>
          </p:cNvPr>
          <p:cNvSpPr>
            <a:spLocks noGrp="1"/>
          </p:cNvSpPr>
          <p:nvPr>
            <p:ph sz="half" idx="2"/>
          </p:nvPr>
        </p:nvSpPr>
        <p:spPr/>
        <p:txBody>
          <a:bodyPr/>
          <a:lstStyle/>
          <a:p>
            <a:r>
              <a:rPr lang="en-US" sz="2400" dirty="0"/>
              <a:t>This recycling process has been demonstrated for uranium alloy fuels in the 1960s, where fuel alloys were recycled as many as four times, and the fuel was returned to the reactor within 4–6 weeks of its removal from the reactor core</a:t>
            </a:r>
          </a:p>
          <a:p>
            <a:r>
              <a:rPr lang="en-US" sz="2400" dirty="0"/>
              <a:t>Will talk more about this later</a:t>
            </a:r>
          </a:p>
          <a:p>
            <a:endParaRPr lang="en-US" sz="2400" dirty="0"/>
          </a:p>
        </p:txBody>
      </p:sp>
      <p:sp>
        <p:nvSpPr>
          <p:cNvPr id="5" name="Slide Number Placeholder 4">
            <a:extLst>
              <a:ext uri="{FF2B5EF4-FFF2-40B4-BE49-F238E27FC236}">
                <a16:creationId xmlns:a16="http://schemas.microsoft.com/office/drawing/2014/main" id="{964CFBE6-1DA7-D449-9FF3-3E279AA490A3}"/>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spTree>
    <p:extLst>
      <p:ext uri="{BB962C8B-B14F-4D97-AF65-F5344CB8AC3E}">
        <p14:creationId xmlns:p14="http://schemas.microsoft.com/office/powerpoint/2010/main" val="3408933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3DBF-5D75-1D44-89C2-6C94E9321FDA}"/>
              </a:ext>
            </a:extLst>
          </p:cNvPr>
          <p:cNvSpPr>
            <a:spLocks noGrp="1"/>
          </p:cNvSpPr>
          <p:nvPr>
            <p:ph type="title"/>
          </p:nvPr>
        </p:nvSpPr>
        <p:spPr/>
        <p:txBody>
          <a:bodyPr/>
          <a:lstStyle/>
          <a:p>
            <a:r>
              <a:rPr lang="en-US" dirty="0"/>
              <a:t>The U-Zr System</a:t>
            </a:r>
          </a:p>
        </p:txBody>
      </p:sp>
      <p:sp>
        <p:nvSpPr>
          <p:cNvPr id="3" name="Content Placeholder 2">
            <a:extLst>
              <a:ext uri="{FF2B5EF4-FFF2-40B4-BE49-F238E27FC236}">
                <a16:creationId xmlns:a16="http://schemas.microsoft.com/office/drawing/2014/main" id="{B3AD023A-F031-3C46-B4F8-42BB400FD35D}"/>
              </a:ext>
            </a:extLst>
          </p:cNvPr>
          <p:cNvSpPr>
            <a:spLocks noGrp="1"/>
          </p:cNvSpPr>
          <p:nvPr>
            <p:ph sz="half" idx="1"/>
          </p:nvPr>
        </p:nvSpPr>
        <p:spPr/>
        <p:txBody>
          <a:bodyPr/>
          <a:lstStyle/>
          <a:p>
            <a:r>
              <a:rPr lang="en-US" sz="2400" dirty="0"/>
              <a:t>Metallic uranium is alloyed with Zr to stabilize the bcc phase, increase the melting point, improve mechanical properties, and reduce swelling</a:t>
            </a:r>
          </a:p>
          <a:p>
            <a:r>
              <a:rPr lang="en-US" sz="2400" dirty="0"/>
              <a:t>Typical composition is 10 wt.%, or approximately 23 atom %</a:t>
            </a:r>
          </a:p>
          <a:p>
            <a:r>
              <a:rPr lang="en-US" sz="2400" dirty="0"/>
              <a:t>At relevant temperature ranges in SFRs, multiple phases will be present</a:t>
            </a:r>
          </a:p>
        </p:txBody>
      </p:sp>
      <p:pic>
        <p:nvPicPr>
          <p:cNvPr id="6" name="Content Placeholder 5">
            <a:extLst>
              <a:ext uri="{FF2B5EF4-FFF2-40B4-BE49-F238E27FC236}">
                <a16:creationId xmlns:a16="http://schemas.microsoft.com/office/drawing/2014/main" id="{4B566BA8-C594-DC4F-A3FA-D1B3D347E9E4}"/>
              </a:ext>
            </a:extLst>
          </p:cNvPr>
          <p:cNvPicPr>
            <a:picLocks noGrp="1" noChangeAspect="1"/>
          </p:cNvPicPr>
          <p:nvPr>
            <p:ph sz="half" idx="2"/>
          </p:nvPr>
        </p:nvPicPr>
        <p:blipFill>
          <a:blip r:embed="rId2"/>
          <a:stretch>
            <a:fillRect/>
          </a:stretch>
        </p:blipFill>
        <p:spPr>
          <a:xfrm>
            <a:off x="7772400" y="2034384"/>
            <a:ext cx="4419600" cy="4025900"/>
          </a:xfrm>
          <a:prstGeom prst="rect">
            <a:avLst/>
          </a:prstGeom>
        </p:spPr>
      </p:pic>
      <p:sp>
        <p:nvSpPr>
          <p:cNvPr id="5" name="Slide Number Placeholder 4">
            <a:extLst>
              <a:ext uri="{FF2B5EF4-FFF2-40B4-BE49-F238E27FC236}">
                <a16:creationId xmlns:a16="http://schemas.microsoft.com/office/drawing/2014/main" id="{AA343E6E-9B41-554B-80C5-81BC663B0F21}"/>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pic>
        <p:nvPicPr>
          <p:cNvPr id="7" name="Picture 2" descr="C:\Users\beeler\Desktop\work\fission_gas_paper\alpha.jpg">
            <a:extLst>
              <a:ext uri="{FF2B5EF4-FFF2-40B4-BE49-F238E27FC236}">
                <a16:creationId xmlns:a16="http://schemas.microsoft.com/office/drawing/2014/main" id="{59105DC2-CC15-734C-8138-BC7B197EB70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688882" y="4431135"/>
            <a:ext cx="1291535" cy="11269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7" descr="C:\Users\beeler\Desktop\work\e_d_pic.tif">
            <a:extLst>
              <a:ext uri="{FF2B5EF4-FFF2-40B4-BE49-F238E27FC236}">
                <a16:creationId xmlns:a16="http://schemas.microsoft.com/office/drawing/2014/main" id="{12F73ADD-CF97-294C-B0D7-AB15B86A07E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bwMode="auto">
          <a:xfrm>
            <a:off x="6840708" y="2188592"/>
            <a:ext cx="1228710" cy="1240408"/>
          </a:xfrm>
          <a:prstGeom prst="rect">
            <a:avLst/>
          </a:prstGeom>
          <a:noFill/>
          <a:ln>
            <a:noFill/>
          </a:ln>
        </p:spPr>
      </p:pic>
    </p:spTree>
    <p:extLst>
      <p:ext uri="{BB962C8B-B14F-4D97-AF65-F5344CB8AC3E}">
        <p14:creationId xmlns:p14="http://schemas.microsoft.com/office/powerpoint/2010/main" val="428145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CFCD7-D417-5C4E-B380-7BDCE2DDAD1E}"/>
              </a:ext>
            </a:extLst>
          </p:cNvPr>
          <p:cNvSpPr>
            <a:spLocks noGrp="1"/>
          </p:cNvSpPr>
          <p:nvPr>
            <p:ph type="title"/>
          </p:nvPr>
        </p:nvSpPr>
        <p:spPr/>
        <p:txBody>
          <a:bodyPr/>
          <a:lstStyle/>
          <a:p>
            <a:r>
              <a:rPr lang="en-US" dirty="0"/>
              <a:t>U-Pu-Zr</a:t>
            </a:r>
          </a:p>
        </p:txBody>
      </p:sp>
      <p:sp>
        <p:nvSpPr>
          <p:cNvPr id="3" name="Content Placeholder 2">
            <a:extLst>
              <a:ext uri="{FF2B5EF4-FFF2-40B4-BE49-F238E27FC236}">
                <a16:creationId xmlns:a16="http://schemas.microsoft.com/office/drawing/2014/main" id="{D9BF51ED-EC63-A046-AABB-70584841A28B}"/>
              </a:ext>
            </a:extLst>
          </p:cNvPr>
          <p:cNvSpPr>
            <a:spLocks noGrp="1"/>
          </p:cNvSpPr>
          <p:nvPr>
            <p:ph sz="half" idx="1"/>
          </p:nvPr>
        </p:nvSpPr>
        <p:spPr>
          <a:xfrm>
            <a:off x="609599" y="1968503"/>
            <a:ext cx="7504387" cy="4157663"/>
          </a:xfrm>
        </p:spPr>
        <p:txBody>
          <a:bodyPr/>
          <a:lstStyle/>
          <a:p>
            <a:r>
              <a:rPr lang="en-US" sz="1800" dirty="0"/>
              <a:t>Ternary phase diagram isotherms</a:t>
            </a:r>
          </a:p>
          <a:p>
            <a:r>
              <a:rPr lang="en-US" sz="1800" dirty="0">
                <a:latin typeface="Symbol" pitchFamily="2" charset="2"/>
              </a:rPr>
              <a:t>g</a:t>
            </a:r>
            <a:r>
              <a:rPr lang="en-US" sz="1800" dirty="0"/>
              <a:t>: Body-centered cubic (bcc), has complete solid solubility for bcc </a:t>
            </a:r>
            <a:r>
              <a:rPr lang="en-US" sz="1800" dirty="0">
                <a:latin typeface="Symbol" pitchFamily="2" charset="2"/>
              </a:rPr>
              <a:t>e</a:t>
            </a:r>
            <a:r>
              <a:rPr lang="en-US" sz="1800" dirty="0"/>
              <a:t>-plutonium and bcc </a:t>
            </a:r>
            <a:r>
              <a:rPr lang="en-US" sz="1800" dirty="0">
                <a:latin typeface="Symbol" pitchFamily="2" charset="2"/>
              </a:rPr>
              <a:t>b</a:t>
            </a:r>
            <a:r>
              <a:rPr lang="en-US" sz="1800" dirty="0"/>
              <a:t>-zirconium</a:t>
            </a:r>
          </a:p>
          <a:p>
            <a:r>
              <a:rPr lang="en-US" sz="1800" dirty="0">
                <a:latin typeface="Symbol" pitchFamily="2" charset="2"/>
              </a:rPr>
              <a:t>a</a:t>
            </a:r>
            <a:r>
              <a:rPr lang="en-US" sz="1800" dirty="0"/>
              <a:t>: Orthorhombic allotropic modification of uranium that dissolves up to 15 at.% of plutonium, but has limited solubility for zirconium</a:t>
            </a:r>
          </a:p>
          <a:p>
            <a:r>
              <a:rPr lang="en-US" sz="1800" dirty="0">
                <a:latin typeface="Symbol" pitchFamily="2" charset="2"/>
              </a:rPr>
              <a:t>b</a:t>
            </a:r>
            <a:r>
              <a:rPr lang="en-US" sz="1800" dirty="0"/>
              <a:t>: Tetragonal allotropic modification of uranium that dissolves up to 20 at.% of plutonium, but has limited solubility for zirconium</a:t>
            </a:r>
          </a:p>
          <a:p>
            <a:r>
              <a:rPr lang="en-US" sz="1800" dirty="0">
                <a:latin typeface="Symbol" pitchFamily="2" charset="2"/>
              </a:rPr>
              <a:t>h</a:t>
            </a:r>
            <a:r>
              <a:rPr lang="en-US" sz="1800" dirty="0"/>
              <a:t>: A high-temperature intermediate phase in the U–Pu binary system that is believed to be tetragonal and has limited solubility for zirconium</a:t>
            </a:r>
          </a:p>
          <a:p>
            <a:r>
              <a:rPr lang="en-US" sz="1800" dirty="0">
                <a:latin typeface="Symbol" pitchFamily="2" charset="2"/>
              </a:rPr>
              <a:t>z</a:t>
            </a:r>
            <a:r>
              <a:rPr lang="en-US" sz="1800" dirty="0"/>
              <a:t>: A complex cubic U–Pu intermediate phase that dissolves up to 5 at.% zirconium</a:t>
            </a:r>
          </a:p>
          <a:p>
            <a:r>
              <a:rPr lang="en-US" sz="1800" dirty="0">
                <a:latin typeface="Symbol" pitchFamily="2" charset="2"/>
              </a:rPr>
              <a:t>d</a:t>
            </a:r>
            <a:r>
              <a:rPr lang="en-US" sz="1800" dirty="0"/>
              <a:t>: A hexagonal intermediate phase in the U–Zr system that occurs approximately at the composition UZr2 and has extensive solid solubility for plutonium</a:t>
            </a:r>
          </a:p>
        </p:txBody>
      </p:sp>
      <p:pic>
        <p:nvPicPr>
          <p:cNvPr id="6" name="Content Placeholder 5">
            <a:extLst>
              <a:ext uri="{FF2B5EF4-FFF2-40B4-BE49-F238E27FC236}">
                <a16:creationId xmlns:a16="http://schemas.microsoft.com/office/drawing/2014/main" id="{0712E107-265F-304B-9809-7DB38A658013}"/>
              </a:ext>
            </a:extLst>
          </p:cNvPr>
          <p:cNvPicPr>
            <a:picLocks noGrp="1" noChangeAspect="1"/>
          </p:cNvPicPr>
          <p:nvPr>
            <p:ph sz="half" idx="2"/>
          </p:nvPr>
        </p:nvPicPr>
        <p:blipFill>
          <a:blip r:embed="rId2"/>
          <a:stretch>
            <a:fillRect/>
          </a:stretch>
        </p:blipFill>
        <p:spPr>
          <a:xfrm>
            <a:off x="7998372" y="1572068"/>
            <a:ext cx="4158088" cy="4554097"/>
          </a:xfrm>
          <a:prstGeom prst="rect">
            <a:avLst/>
          </a:prstGeom>
        </p:spPr>
      </p:pic>
      <p:sp>
        <p:nvSpPr>
          <p:cNvPr id="5" name="Slide Number Placeholder 4">
            <a:extLst>
              <a:ext uri="{FF2B5EF4-FFF2-40B4-BE49-F238E27FC236}">
                <a16:creationId xmlns:a16="http://schemas.microsoft.com/office/drawing/2014/main" id="{911A207F-0790-7942-9627-B2F726264BA8}"/>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dirty="0"/>
          </a:p>
        </p:txBody>
      </p:sp>
    </p:spTree>
    <p:extLst>
      <p:ext uri="{BB962C8B-B14F-4D97-AF65-F5344CB8AC3E}">
        <p14:creationId xmlns:p14="http://schemas.microsoft.com/office/powerpoint/2010/main" val="339688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0" y="1968503"/>
            <a:ext cx="4876800" cy="4157663"/>
          </a:xfrm>
        </p:spPr>
        <p:txBody>
          <a:bodyPr/>
          <a:lstStyle/>
          <a:p>
            <a:r>
              <a:rPr lang="en-US" sz="2200" dirty="0"/>
              <a:t>The U-Pu-Zr system was the fuel choice for the Integral Fast Reactor design of the 1980s, and the current Versatile Test Reactor design</a:t>
            </a:r>
          </a:p>
          <a:p>
            <a:r>
              <a:rPr lang="en-US" sz="2200" dirty="0"/>
              <a:t>U-Pu-Zr alloys are the most recent alloys under active exploration, and thus have the most recent experimental data</a:t>
            </a:r>
          </a:p>
          <a:p>
            <a:endParaRPr lang="en-US" sz="2200" dirty="0"/>
          </a:p>
          <a:p>
            <a:endParaRPr lang="en-US" sz="2200" dirty="0"/>
          </a:p>
        </p:txBody>
      </p:sp>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pic>
        <p:nvPicPr>
          <p:cNvPr id="1026" name="Picture 2" descr="Versatile Test Reactor mock up">
            <a:extLst>
              <a:ext uri="{FF2B5EF4-FFF2-40B4-BE49-F238E27FC236}">
                <a16:creationId xmlns:a16="http://schemas.microsoft.com/office/drawing/2014/main" id="{4D7103BA-52B5-6440-8436-1F78FBFA969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97600" y="2593873"/>
            <a:ext cx="5384800" cy="2906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417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 Swelling</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0" y="1968503"/>
            <a:ext cx="4401787" cy="4157663"/>
          </a:xfrm>
        </p:spPr>
        <p:txBody>
          <a:bodyPr/>
          <a:lstStyle/>
          <a:p>
            <a:r>
              <a:rPr lang="en-US" sz="2200" dirty="0"/>
              <a:t>Swelling is typical of metallic fuels, in that it occurs rapidly, leveling off once in contact with the cladding</a:t>
            </a:r>
          </a:p>
          <a:p>
            <a:r>
              <a:rPr lang="en-US" sz="2200" dirty="0"/>
              <a:t>Fission gas release occurs within the first 5% burnup, corresponding with the rapid swelling</a:t>
            </a:r>
          </a:p>
          <a:p>
            <a:r>
              <a:rPr lang="en-US" sz="2200" dirty="0"/>
              <a:t>These fuels swell less in the axial direction than in the radial direction, if isotropic swelling is assumed</a:t>
            </a:r>
          </a:p>
          <a:p>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7FAABCC9-B60C-2144-BA52-B86B3F46FC50}"/>
              </a:ext>
            </a:extLst>
          </p:cNvPr>
          <p:cNvPicPr>
            <a:picLocks noGrp="1" noChangeAspect="1"/>
          </p:cNvPicPr>
          <p:nvPr>
            <p:ph sz="half" idx="2"/>
          </p:nvPr>
        </p:nvPicPr>
        <p:blipFill>
          <a:blip r:embed="rId2"/>
          <a:stretch>
            <a:fillRect/>
          </a:stretch>
        </p:blipFill>
        <p:spPr>
          <a:xfrm>
            <a:off x="5105400" y="2301008"/>
            <a:ext cx="3632200" cy="3064669"/>
          </a:xfrm>
          <a:prstGeom prst="rect">
            <a:avLst/>
          </a:prstGeom>
        </p:spPr>
      </p:pic>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7" name="Picture 6">
            <a:extLst>
              <a:ext uri="{FF2B5EF4-FFF2-40B4-BE49-F238E27FC236}">
                <a16:creationId xmlns:a16="http://schemas.microsoft.com/office/drawing/2014/main" id="{DE490BAC-A144-6D4C-AFD4-481A6A842729}"/>
              </a:ext>
            </a:extLst>
          </p:cNvPr>
          <p:cNvPicPr>
            <a:picLocks noChangeAspect="1"/>
          </p:cNvPicPr>
          <p:nvPr/>
        </p:nvPicPr>
        <p:blipFill>
          <a:blip r:embed="rId3"/>
          <a:stretch>
            <a:fillRect/>
          </a:stretch>
        </p:blipFill>
        <p:spPr>
          <a:xfrm>
            <a:off x="8620345" y="2083297"/>
            <a:ext cx="3172478" cy="3282380"/>
          </a:xfrm>
          <a:prstGeom prst="rect">
            <a:avLst/>
          </a:prstGeom>
        </p:spPr>
      </p:pic>
    </p:spTree>
    <p:extLst>
      <p:ext uri="{BB962C8B-B14F-4D97-AF65-F5344CB8AC3E}">
        <p14:creationId xmlns:p14="http://schemas.microsoft.com/office/powerpoint/2010/main" val="2611547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 Swelling</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0" y="1968503"/>
            <a:ext cx="5486400" cy="4157663"/>
          </a:xfrm>
        </p:spPr>
        <p:txBody>
          <a:bodyPr/>
          <a:lstStyle/>
          <a:p>
            <a:r>
              <a:rPr lang="en-US" sz="2200" dirty="0"/>
              <a:t>The is believed to be due to  the difference in swelling behavior between the hotter center of the fuel pin and the colder periphery</a:t>
            </a:r>
          </a:p>
          <a:p>
            <a:r>
              <a:rPr lang="en-US" sz="2200" dirty="0"/>
              <a:t>The gamma phase dominates in the center of the fuel pin at high temperatures</a:t>
            </a:r>
          </a:p>
          <a:p>
            <a:r>
              <a:rPr lang="en-US" sz="2200" dirty="0"/>
              <a:t>This phase has large gas bubbles, indicative of a higher plasticity of the fuel and, therefore, a lower capability to sustain shear stresses</a:t>
            </a:r>
          </a:p>
          <a:p>
            <a:endParaRPr lang="en-US" sz="2200" dirty="0"/>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9" name="Picture 8">
            <a:extLst>
              <a:ext uri="{FF2B5EF4-FFF2-40B4-BE49-F238E27FC236}">
                <a16:creationId xmlns:a16="http://schemas.microsoft.com/office/drawing/2014/main" id="{98D71413-C3BE-0F4A-B82A-C833B2F88A61}"/>
              </a:ext>
            </a:extLst>
          </p:cNvPr>
          <p:cNvPicPr>
            <a:picLocks noChangeAspect="1"/>
          </p:cNvPicPr>
          <p:nvPr/>
        </p:nvPicPr>
        <p:blipFill>
          <a:blip r:embed="rId2"/>
          <a:stretch>
            <a:fillRect/>
          </a:stretch>
        </p:blipFill>
        <p:spPr>
          <a:xfrm>
            <a:off x="6500585" y="2167741"/>
            <a:ext cx="3664693" cy="3871155"/>
          </a:xfrm>
          <a:prstGeom prst="rect">
            <a:avLst/>
          </a:prstGeom>
        </p:spPr>
      </p:pic>
      <p:sp>
        <p:nvSpPr>
          <p:cNvPr id="11" name="TextBox 10">
            <a:extLst>
              <a:ext uri="{FF2B5EF4-FFF2-40B4-BE49-F238E27FC236}">
                <a16:creationId xmlns:a16="http://schemas.microsoft.com/office/drawing/2014/main" id="{837DC1A9-5F38-9B45-8C65-8756C619E53D}"/>
              </a:ext>
            </a:extLst>
          </p:cNvPr>
          <p:cNvSpPr txBox="1"/>
          <p:nvPr/>
        </p:nvSpPr>
        <p:spPr>
          <a:xfrm>
            <a:off x="7822292" y="5957887"/>
            <a:ext cx="1021278" cy="369332"/>
          </a:xfrm>
          <a:prstGeom prst="rect">
            <a:avLst/>
          </a:prstGeom>
          <a:noFill/>
        </p:spPr>
        <p:txBody>
          <a:bodyPr wrap="square" rtlCol="0">
            <a:spAutoFit/>
          </a:bodyPr>
          <a:lstStyle/>
          <a:p>
            <a:pPr algn="ctr"/>
            <a:r>
              <a:rPr lang="en-US" dirty="0"/>
              <a:t>gamma</a:t>
            </a:r>
          </a:p>
        </p:txBody>
      </p:sp>
    </p:spTree>
    <p:extLst>
      <p:ext uri="{BB962C8B-B14F-4D97-AF65-F5344CB8AC3E}">
        <p14:creationId xmlns:p14="http://schemas.microsoft.com/office/powerpoint/2010/main" val="1144062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36C4-6315-0941-BC5B-448960400EDD}"/>
              </a:ext>
            </a:extLst>
          </p:cNvPr>
          <p:cNvSpPr>
            <a:spLocks noGrp="1"/>
          </p:cNvSpPr>
          <p:nvPr>
            <p:ph type="title"/>
          </p:nvPr>
        </p:nvSpPr>
        <p:spPr/>
        <p:txBody>
          <a:bodyPr/>
          <a:lstStyle/>
          <a:p>
            <a:r>
              <a:rPr lang="en-US" dirty="0"/>
              <a:t>U-Pu-Zr Swelling</a:t>
            </a:r>
          </a:p>
        </p:txBody>
      </p:sp>
      <p:sp>
        <p:nvSpPr>
          <p:cNvPr id="3" name="Content Placeholder 2">
            <a:extLst>
              <a:ext uri="{FF2B5EF4-FFF2-40B4-BE49-F238E27FC236}">
                <a16:creationId xmlns:a16="http://schemas.microsoft.com/office/drawing/2014/main" id="{ABD8771B-C776-E246-8848-BE910CD67E33}"/>
              </a:ext>
            </a:extLst>
          </p:cNvPr>
          <p:cNvSpPr>
            <a:spLocks noGrp="1"/>
          </p:cNvSpPr>
          <p:nvPr>
            <p:ph sz="half" idx="1"/>
          </p:nvPr>
        </p:nvSpPr>
        <p:spPr>
          <a:xfrm>
            <a:off x="609601" y="1968503"/>
            <a:ext cx="6266212" cy="4157663"/>
          </a:xfrm>
        </p:spPr>
        <p:txBody>
          <a:bodyPr/>
          <a:lstStyle/>
          <a:p>
            <a:r>
              <a:rPr lang="en-US" sz="2200" dirty="0"/>
              <a:t>The alpha phase dominates on the colder periphery of the fuel pin, and has smaller, textured porosity</a:t>
            </a:r>
          </a:p>
          <a:p>
            <a:r>
              <a:rPr lang="en-US" sz="2200" dirty="0"/>
              <a:t>The alpha phase is known to have higher strength, and is assumed to be less plastic than gamma</a:t>
            </a:r>
          </a:p>
          <a:p>
            <a:r>
              <a:rPr lang="en-US" sz="2200" dirty="0"/>
              <a:t>The fission gas pressure in the center would can potentially result in a near-biaxial loading of the peripheral shell, the radial stress component being twice the axial component</a:t>
            </a:r>
          </a:p>
          <a:p>
            <a:r>
              <a:rPr lang="en-US" sz="2200" dirty="0"/>
              <a:t>A stress effect on swelling in the peripheral fuel zone would result in a larger radial strain, and hence anisotropic swelling</a:t>
            </a:r>
          </a:p>
          <a:p>
            <a:endParaRPr lang="en-US" sz="2200" dirty="0"/>
          </a:p>
          <a:p>
            <a:endParaRPr lang="en-US" sz="2200" dirty="0"/>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DEA3E641-5603-E74B-AFCF-0C4D22E778E2}"/>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10" name="Picture 9">
            <a:extLst>
              <a:ext uri="{FF2B5EF4-FFF2-40B4-BE49-F238E27FC236}">
                <a16:creationId xmlns:a16="http://schemas.microsoft.com/office/drawing/2014/main" id="{92D36396-34AC-2C4D-99E2-F4A05BF1D3A8}"/>
              </a:ext>
            </a:extLst>
          </p:cNvPr>
          <p:cNvPicPr>
            <a:picLocks noChangeAspect="1"/>
          </p:cNvPicPr>
          <p:nvPr/>
        </p:nvPicPr>
        <p:blipFill>
          <a:blip r:embed="rId2"/>
          <a:stretch>
            <a:fillRect/>
          </a:stretch>
        </p:blipFill>
        <p:spPr>
          <a:xfrm>
            <a:off x="6875813" y="2124034"/>
            <a:ext cx="4030517" cy="4002132"/>
          </a:xfrm>
          <a:prstGeom prst="rect">
            <a:avLst/>
          </a:prstGeom>
        </p:spPr>
      </p:pic>
      <p:sp>
        <p:nvSpPr>
          <p:cNvPr id="12" name="TextBox 11">
            <a:extLst>
              <a:ext uri="{FF2B5EF4-FFF2-40B4-BE49-F238E27FC236}">
                <a16:creationId xmlns:a16="http://schemas.microsoft.com/office/drawing/2014/main" id="{5F01A0F4-C295-9F49-9162-DF96875CB311}"/>
              </a:ext>
            </a:extLst>
          </p:cNvPr>
          <p:cNvSpPr txBox="1"/>
          <p:nvPr/>
        </p:nvSpPr>
        <p:spPr>
          <a:xfrm>
            <a:off x="8565964" y="6200818"/>
            <a:ext cx="1021278" cy="369332"/>
          </a:xfrm>
          <a:prstGeom prst="rect">
            <a:avLst/>
          </a:prstGeom>
          <a:noFill/>
        </p:spPr>
        <p:txBody>
          <a:bodyPr wrap="square" rtlCol="0">
            <a:spAutoFit/>
          </a:bodyPr>
          <a:lstStyle/>
          <a:p>
            <a:pPr algn="ctr"/>
            <a:r>
              <a:rPr lang="en-US" dirty="0"/>
              <a:t>alpha</a:t>
            </a:r>
          </a:p>
        </p:txBody>
      </p:sp>
    </p:spTree>
    <p:extLst>
      <p:ext uri="{BB962C8B-B14F-4D97-AF65-F5344CB8AC3E}">
        <p14:creationId xmlns:p14="http://schemas.microsoft.com/office/powerpoint/2010/main" val="1544828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70D24-430E-944B-8948-557BA58B4503}"/>
              </a:ext>
            </a:extLst>
          </p:cNvPr>
          <p:cNvSpPr>
            <a:spLocks noGrp="1"/>
          </p:cNvSpPr>
          <p:nvPr>
            <p:ph type="title"/>
          </p:nvPr>
        </p:nvSpPr>
        <p:spPr/>
        <p:txBody>
          <a:bodyPr/>
          <a:lstStyle/>
          <a:p>
            <a:r>
              <a:rPr lang="en-US" dirty="0"/>
              <a:t>U-Pu-Zr</a:t>
            </a:r>
          </a:p>
        </p:txBody>
      </p:sp>
      <p:sp>
        <p:nvSpPr>
          <p:cNvPr id="3" name="Content Placeholder 2">
            <a:extLst>
              <a:ext uri="{FF2B5EF4-FFF2-40B4-BE49-F238E27FC236}">
                <a16:creationId xmlns:a16="http://schemas.microsoft.com/office/drawing/2014/main" id="{48644E5E-8716-514E-AE44-15028D3E6C47}"/>
              </a:ext>
            </a:extLst>
          </p:cNvPr>
          <p:cNvSpPr>
            <a:spLocks noGrp="1"/>
          </p:cNvSpPr>
          <p:nvPr>
            <p:ph sz="half" idx="1"/>
          </p:nvPr>
        </p:nvSpPr>
        <p:spPr/>
        <p:txBody>
          <a:bodyPr/>
          <a:lstStyle/>
          <a:p>
            <a:r>
              <a:rPr lang="en-US" sz="2800" dirty="0"/>
              <a:t>An increase in the Pu content exacerbates the anisotropic swelling</a:t>
            </a:r>
          </a:p>
          <a:p>
            <a:r>
              <a:rPr lang="en-US" sz="2800" dirty="0"/>
              <a:t>This is believed to be driven by the redistribution of Zr along the temperature gradient of the fuel</a:t>
            </a:r>
          </a:p>
        </p:txBody>
      </p:sp>
      <p:pic>
        <p:nvPicPr>
          <p:cNvPr id="6" name="Content Placeholder 5">
            <a:extLst>
              <a:ext uri="{FF2B5EF4-FFF2-40B4-BE49-F238E27FC236}">
                <a16:creationId xmlns:a16="http://schemas.microsoft.com/office/drawing/2014/main" id="{F4247674-0D3F-664D-A57D-0309663F3A63}"/>
              </a:ext>
            </a:extLst>
          </p:cNvPr>
          <p:cNvPicPr>
            <a:picLocks noGrp="1" noChangeAspect="1"/>
          </p:cNvPicPr>
          <p:nvPr>
            <p:ph sz="half" idx="2"/>
          </p:nvPr>
        </p:nvPicPr>
        <p:blipFill>
          <a:blip r:embed="rId2"/>
          <a:stretch>
            <a:fillRect/>
          </a:stretch>
        </p:blipFill>
        <p:spPr>
          <a:xfrm>
            <a:off x="6510056" y="1968500"/>
            <a:ext cx="4759887" cy="4157663"/>
          </a:xfrm>
          <a:prstGeom prst="rect">
            <a:avLst/>
          </a:prstGeom>
        </p:spPr>
      </p:pic>
      <p:sp>
        <p:nvSpPr>
          <p:cNvPr id="5" name="Slide Number Placeholder 4">
            <a:extLst>
              <a:ext uri="{FF2B5EF4-FFF2-40B4-BE49-F238E27FC236}">
                <a16:creationId xmlns:a16="http://schemas.microsoft.com/office/drawing/2014/main" id="{B3D9819A-B1B6-C040-BEB2-F138D1D83C52}"/>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237563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7B00F-B995-364D-AFB2-8C1281E13CF5}"/>
              </a:ext>
            </a:extLst>
          </p:cNvPr>
          <p:cNvSpPr>
            <a:spLocks noGrp="1"/>
          </p:cNvSpPr>
          <p:nvPr>
            <p:ph type="title"/>
          </p:nvPr>
        </p:nvSpPr>
        <p:spPr/>
        <p:txBody>
          <a:bodyPr/>
          <a:lstStyle/>
          <a:p>
            <a:r>
              <a:rPr lang="en-US" dirty="0"/>
              <a:t>U-Pu-Zr Phases</a:t>
            </a:r>
          </a:p>
        </p:txBody>
      </p:sp>
      <p:sp>
        <p:nvSpPr>
          <p:cNvPr id="3" name="Content Placeholder 2">
            <a:extLst>
              <a:ext uri="{FF2B5EF4-FFF2-40B4-BE49-F238E27FC236}">
                <a16:creationId xmlns:a16="http://schemas.microsoft.com/office/drawing/2014/main" id="{F561EDCF-2C59-A341-8B90-7DB6BD42C2BF}"/>
              </a:ext>
            </a:extLst>
          </p:cNvPr>
          <p:cNvSpPr>
            <a:spLocks noGrp="1"/>
          </p:cNvSpPr>
          <p:nvPr>
            <p:ph sz="half" idx="1"/>
          </p:nvPr>
        </p:nvSpPr>
        <p:spPr>
          <a:xfrm>
            <a:off x="609600" y="1968503"/>
            <a:ext cx="3879273" cy="4157663"/>
          </a:xfrm>
        </p:spPr>
        <p:txBody>
          <a:bodyPr/>
          <a:lstStyle/>
          <a:p>
            <a:r>
              <a:rPr lang="en-US" sz="2200" dirty="0"/>
              <a:t>Various phase boundaries exist radially across the fuel</a:t>
            </a:r>
          </a:p>
          <a:p>
            <a:r>
              <a:rPr lang="en-US" sz="2200" dirty="0"/>
              <a:t>The solubility of Zr in these phases varies with temperature; thus, a driving force for diffusion can be created both by the gradient in chemical potential, and by the temperature gradient</a:t>
            </a:r>
          </a:p>
          <a:p>
            <a:endParaRPr lang="en-US" sz="2200" dirty="0"/>
          </a:p>
        </p:txBody>
      </p:sp>
      <p:sp>
        <p:nvSpPr>
          <p:cNvPr id="5" name="Slide Number Placeholder 4">
            <a:extLst>
              <a:ext uri="{FF2B5EF4-FFF2-40B4-BE49-F238E27FC236}">
                <a16:creationId xmlns:a16="http://schemas.microsoft.com/office/drawing/2014/main" id="{9BF19BD3-C407-C743-9C9C-9236310B9940}"/>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Content Placeholder 5">
            <a:extLst>
              <a:ext uri="{FF2B5EF4-FFF2-40B4-BE49-F238E27FC236}">
                <a16:creationId xmlns:a16="http://schemas.microsoft.com/office/drawing/2014/main" id="{E2368728-0613-E94E-970F-605772AD8425}"/>
              </a:ext>
            </a:extLst>
          </p:cNvPr>
          <p:cNvPicPr>
            <a:picLocks noGrp="1" noChangeAspect="1"/>
          </p:cNvPicPr>
          <p:nvPr>
            <p:ph sz="half" idx="2"/>
          </p:nvPr>
        </p:nvPicPr>
        <p:blipFill>
          <a:blip r:embed="rId2"/>
          <a:stretch>
            <a:fillRect/>
          </a:stretch>
        </p:blipFill>
        <p:spPr>
          <a:xfrm>
            <a:off x="4641273" y="2116364"/>
            <a:ext cx="4419600" cy="4025900"/>
          </a:xfrm>
          <a:prstGeom prst="rect">
            <a:avLst/>
          </a:prstGeom>
        </p:spPr>
      </p:pic>
      <p:pic>
        <p:nvPicPr>
          <p:cNvPr id="7" name="Picture 6">
            <a:extLst>
              <a:ext uri="{FF2B5EF4-FFF2-40B4-BE49-F238E27FC236}">
                <a16:creationId xmlns:a16="http://schemas.microsoft.com/office/drawing/2014/main" id="{93146E4D-A665-6741-A464-79C5A4E36414}"/>
              </a:ext>
            </a:extLst>
          </p:cNvPr>
          <p:cNvPicPr>
            <a:picLocks noChangeAspect="1"/>
          </p:cNvPicPr>
          <p:nvPr/>
        </p:nvPicPr>
        <p:blipFill>
          <a:blip r:embed="rId3"/>
          <a:stretch>
            <a:fillRect/>
          </a:stretch>
        </p:blipFill>
        <p:spPr>
          <a:xfrm rot="5400000">
            <a:off x="7913870" y="2305236"/>
            <a:ext cx="4741636" cy="2900224"/>
          </a:xfrm>
          <a:prstGeom prst="rect">
            <a:avLst/>
          </a:prstGeom>
        </p:spPr>
      </p:pic>
    </p:spTree>
    <p:extLst>
      <p:ext uri="{BB962C8B-B14F-4D97-AF65-F5344CB8AC3E}">
        <p14:creationId xmlns:p14="http://schemas.microsoft.com/office/powerpoint/2010/main" val="3761128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BC54-4316-5C40-B1B3-03BCFDA37C01}"/>
              </a:ext>
            </a:extLst>
          </p:cNvPr>
          <p:cNvSpPr>
            <a:spLocks noGrp="1"/>
          </p:cNvSpPr>
          <p:nvPr>
            <p:ph type="title"/>
          </p:nvPr>
        </p:nvSpPr>
        <p:spPr/>
        <p:txBody>
          <a:bodyPr/>
          <a:lstStyle/>
          <a:p>
            <a:r>
              <a:rPr lang="en-US" dirty="0"/>
              <a:t>Redistribution</a:t>
            </a:r>
          </a:p>
        </p:txBody>
      </p:sp>
      <p:sp>
        <p:nvSpPr>
          <p:cNvPr id="3" name="Content Placeholder 2">
            <a:extLst>
              <a:ext uri="{FF2B5EF4-FFF2-40B4-BE49-F238E27FC236}">
                <a16:creationId xmlns:a16="http://schemas.microsoft.com/office/drawing/2014/main" id="{891DA251-E7D7-8840-A358-DD3BE728DA9D}"/>
              </a:ext>
            </a:extLst>
          </p:cNvPr>
          <p:cNvSpPr>
            <a:spLocks noGrp="1"/>
          </p:cNvSpPr>
          <p:nvPr>
            <p:ph sz="half" idx="1"/>
          </p:nvPr>
        </p:nvSpPr>
        <p:spPr>
          <a:xfrm>
            <a:off x="609600" y="1968503"/>
            <a:ext cx="5097813" cy="4157663"/>
          </a:xfrm>
        </p:spPr>
        <p:txBody>
          <a:bodyPr/>
          <a:lstStyle/>
          <a:p>
            <a:r>
              <a:rPr lang="en-US" sz="2100" dirty="0"/>
              <a:t>There can exist three compositional regions: 1) enriched Zr, 2) depleted Zr, 3) as-fabricated Zr</a:t>
            </a:r>
          </a:p>
          <a:p>
            <a:r>
              <a:rPr lang="en-US" sz="2100" dirty="0"/>
              <a:t>Zirconium diffuses up the temperature gradient to the high temperature gamma phase, leaving the intermediate temperature beta U phase</a:t>
            </a:r>
          </a:p>
          <a:p>
            <a:r>
              <a:rPr lang="en-US" sz="2100" dirty="0"/>
              <a:t>Uranium compensates by diffusing to the intermediate region</a:t>
            </a:r>
          </a:p>
          <a:p>
            <a:r>
              <a:rPr lang="en-US" sz="2100" dirty="0"/>
              <a:t>At lower T, decomposition into alpha/delta phases – with local low and high Zr content</a:t>
            </a:r>
          </a:p>
          <a:p>
            <a:endParaRPr lang="en-US" sz="2100" dirty="0"/>
          </a:p>
        </p:txBody>
      </p:sp>
      <p:pic>
        <p:nvPicPr>
          <p:cNvPr id="6" name="Content Placeholder 5">
            <a:extLst>
              <a:ext uri="{FF2B5EF4-FFF2-40B4-BE49-F238E27FC236}">
                <a16:creationId xmlns:a16="http://schemas.microsoft.com/office/drawing/2014/main" id="{1D57D141-9560-E343-9304-650086020E0D}"/>
              </a:ext>
            </a:extLst>
          </p:cNvPr>
          <p:cNvPicPr>
            <a:picLocks noGrp="1" noChangeAspect="1"/>
          </p:cNvPicPr>
          <p:nvPr>
            <p:ph sz="half" idx="2"/>
          </p:nvPr>
        </p:nvPicPr>
        <p:blipFill>
          <a:blip r:embed="rId2"/>
          <a:stretch>
            <a:fillRect/>
          </a:stretch>
        </p:blipFill>
        <p:spPr>
          <a:xfrm>
            <a:off x="5707413" y="2546587"/>
            <a:ext cx="2844800" cy="2667000"/>
          </a:xfrm>
          <a:prstGeom prst="rect">
            <a:avLst/>
          </a:prstGeom>
        </p:spPr>
      </p:pic>
      <p:sp>
        <p:nvSpPr>
          <p:cNvPr id="5" name="Slide Number Placeholder 4">
            <a:extLst>
              <a:ext uri="{FF2B5EF4-FFF2-40B4-BE49-F238E27FC236}">
                <a16:creationId xmlns:a16="http://schemas.microsoft.com/office/drawing/2014/main" id="{0A97010F-2F10-B04D-9BB4-F2109DB62C2C}"/>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7" name="Picture 6">
            <a:extLst>
              <a:ext uri="{FF2B5EF4-FFF2-40B4-BE49-F238E27FC236}">
                <a16:creationId xmlns:a16="http://schemas.microsoft.com/office/drawing/2014/main" id="{11E50213-8EB7-D746-B789-A94A1EAE7A2D}"/>
              </a:ext>
            </a:extLst>
          </p:cNvPr>
          <p:cNvPicPr>
            <a:picLocks noChangeAspect="1"/>
          </p:cNvPicPr>
          <p:nvPr/>
        </p:nvPicPr>
        <p:blipFill>
          <a:blip r:embed="rId3"/>
          <a:stretch>
            <a:fillRect/>
          </a:stretch>
        </p:blipFill>
        <p:spPr>
          <a:xfrm>
            <a:off x="8520545" y="2009384"/>
            <a:ext cx="3625355" cy="3568327"/>
          </a:xfrm>
          <a:prstGeom prst="rect">
            <a:avLst/>
          </a:prstGeom>
        </p:spPr>
      </p:pic>
    </p:spTree>
    <p:extLst>
      <p:ext uri="{BB962C8B-B14F-4D97-AF65-F5344CB8AC3E}">
        <p14:creationId xmlns:p14="http://schemas.microsoft.com/office/powerpoint/2010/main" val="169978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BC54-4316-5C40-B1B3-03BCFDA37C01}"/>
              </a:ext>
            </a:extLst>
          </p:cNvPr>
          <p:cNvSpPr>
            <a:spLocks noGrp="1"/>
          </p:cNvSpPr>
          <p:nvPr>
            <p:ph type="title"/>
          </p:nvPr>
        </p:nvSpPr>
        <p:spPr/>
        <p:txBody>
          <a:bodyPr/>
          <a:lstStyle/>
          <a:p>
            <a:r>
              <a:rPr lang="en-US" dirty="0"/>
              <a:t>Redistribution</a:t>
            </a:r>
          </a:p>
        </p:txBody>
      </p:sp>
      <p:sp>
        <p:nvSpPr>
          <p:cNvPr id="3" name="Content Placeholder 2">
            <a:extLst>
              <a:ext uri="{FF2B5EF4-FFF2-40B4-BE49-F238E27FC236}">
                <a16:creationId xmlns:a16="http://schemas.microsoft.com/office/drawing/2014/main" id="{891DA251-E7D7-8840-A358-DD3BE728DA9D}"/>
              </a:ext>
            </a:extLst>
          </p:cNvPr>
          <p:cNvSpPr>
            <a:spLocks noGrp="1"/>
          </p:cNvSpPr>
          <p:nvPr>
            <p:ph sz="half" idx="1"/>
          </p:nvPr>
        </p:nvSpPr>
        <p:spPr>
          <a:xfrm>
            <a:off x="609600" y="1968503"/>
            <a:ext cx="4674919" cy="4157663"/>
          </a:xfrm>
        </p:spPr>
        <p:txBody>
          <a:bodyPr/>
          <a:lstStyle/>
          <a:p>
            <a:r>
              <a:rPr lang="en-US" sz="2200" dirty="0"/>
              <a:t>The location of the radial zones essentially follows isotherms in the fuel which are determined by the various phase boundaries of the alloy</a:t>
            </a:r>
          </a:p>
          <a:p>
            <a:r>
              <a:rPr lang="en-US" sz="2200" dirty="0"/>
              <a:t>The extent of redistribution, and the radial location of the individual compositional regions, varies axially with temperature</a:t>
            </a:r>
          </a:p>
          <a:p>
            <a:r>
              <a:rPr lang="en-US" sz="2200" dirty="0"/>
              <a:t>Both chemical potential and </a:t>
            </a:r>
            <a:r>
              <a:rPr lang="en-US" sz="2200" dirty="0" err="1"/>
              <a:t>Soret</a:t>
            </a:r>
            <a:r>
              <a:rPr lang="en-US" sz="2200" dirty="0"/>
              <a:t> effect diffusion contribute</a:t>
            </a:r>
          </a:p>
          <a:p>
            <a:endParaRPr lang="en-US" sz="2200" dirty="0"/>
          </a:p>
        </p:txBody>
      </p:sp>
      <p:sp>
        <p:nvSpPr>
          <p:cNvPr id="5" name="Slide Number Placeholder 4">
            <a:extLst>
              <a:ext uri="{FF2B5EF4-FFF2-40B4-BE49-F238E27FC236}">
                <a16:creationId xmlns:a16="http://schemas.microsoft.com/office/drawing/2014/main" id="{0A97010F-2F10-B04D-9BB4-F2109DB62C2C}"/>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pic>
        <p:nvPicPr>
          <p:cNvPr id="9" name="Picture 8">
            <a:extLst>
              <a:ext uri="{FF2B5EF4-FFF2-40B4-BE49-F238E27FC236}">
                <a16:creationId xmlns:a16="http://schemas.microsoft.com/office/drawing/2014/main" id="{A9AC043B-CC64-B24A-B662-F0F41D71AB55}"/>
              </a:ext>
            </a:extLst>
          </p:cNvPr>
          <p:cNvPicPr>
            <a:picLocks noChangeAspect="1"/>
          </p:cNvPicPr>
          <p:nvPr/>
        </p:nvPicPr>
        <p:blipFill>
          <a:blip r:embed="rId2"/>
          <a:stretch>
            <a:fillRect/>
          </a:stretch>
        </p:blipFill>
        <p:spPr>
          <a:xfrm rot="5400000">
            <a:off x="7649022" y="-237506"/>
            <a:ext cx="2128995" cy="6858000"/>
          </a:xfrm>
          <a:prstGeom prst="rect">
            <a:avLst/>
          </a:prstGeom>
        </p:spPr>
      </p:pic>
      <p:pic>
        <p:nvPicPr>
          <p:cNvPr id="10" name="Picture 9">
            <a:extLst>
              <a:ext uri="{FF2B5EF4-FFF2-40B4-BE49-F238E27FC236}">
                <a16:creationId xmlns:a16="http://schemas.microsoft.com/office/drawing/2014/main" id="{73F0E84C-9677-E047-A5FE-65E80A117949}"/>
              </a:ext>
            </a:extLst>
          </p:cNvPr>
          <p:cNvPicPr>
            <a:picLocks noChangeAspect="1"/>
          </p:cNvPicPr>
          <p:nvPr/>
        </p:nvPicPr>
        <p:blipFill>
          <a:blip r:embed="rId3"/>
          <a:stretch>
            <a:fillRect/>
          </a:stretch>
        </p:blipFill>
        <p:spPr>
          <a:xfrm rot="5400000">
            <a:off x="8673713" y="1329936"/>
            <a:ext cx="471497" cy="6323610"/>
          </a:xfrm>
          <a:prstGeom prst="rect">
            <a:avLst/>
          </a:prstGeom>
        </p:spPr>
      </p:pic>
      <p:pic>
        <p:nvPicPr>
          <p:cNvPr id="11" name="Picture 10">
            <a:extLst>
              <a:ext uri="{FF2B5EF4-FFF2-40B4-BE49-F238E27FC236}">
                <a16:creationId xmlns:a16="http://schemas.microsoft.com/office/drawing/2014/main" id="{F8E78A9D-025D-3244-8FA4-814AC80F63BD}"/>
              </a:ext>
            </a:extLst>
          </p:cNvPr>
          <p:cNvPicPr>
            <a:picLocks noChangeAspect="1"/>
          </p:cNvPicPr>
          <p:nvPr/>
        </p:nvPicPr>
        <p:blipFill>
          <a:blip r:embed="rId4"/>
          <a:stretch>
            <a:fillRect/>
          </a:stretch>
        </p:blipFill>
        <p:spPr>
          <a:xfrm rot="5400000">
            <a:off x="7964199" y="2675639"/>
            <a:ext cx="1975729" cy="5648787"/>
          </a:xfrm>
          <a:prstGeom prst="rect">
            <a:avLst/>
          </a:prstGeom>
        </p:spPr>
      </p:pic>
    </p:spTree>
    <p:extLst>
      <p:ext uri="{BB962C8B-B14F-4D97-AF65-F5344CB8AC3E}">
        <p14:creationId xmlns:p14="http://schemas.microsoft.com/office/powerpoint/2010/main" val="1963861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385BAF0-C636-BB4A-AC63-D7ED1C9E171B}"/>
              </a:ext>
            </a:extLst>
          </p:cNvPr>
          <p:cNvPicPr>
            <a:picLocks noChangeAspect="1"/>
          </p:cNvPicPr>
          <p:nvPr/>
        </p:nvPicPr>
        <p:blipFill>
          <a:blip r:embed="rId2"/>
          <a:stretch>
            <a:fillRect/>
          </a:stretch>
        </p:blipFill>
        <p:spPr>
          <a:xfrm>
            <a:off x="4091297" y="3836215"/>
            <a:ext cx="3771900" cy="1016000"/>
          </a:xfrm>
          <a:prstGeom prst="rect">
            <a:avLst/>
          </a:prstGeom>
        </p:spPr>
      </p:pic>
      <p:sp>
        <p:nvSpPr>
          <p:cNvPr id="2" name="Title 1">
            <a:extLst>
              <a:ext uri="{FF2B5EF4-FFF2-40B4-BE49-F238E27FC236}">
                <a16:creationId xmlns:a16="http://schemas.microsoft.com/office/drawing/2014/main" id="{0522EF94-E3DD-024B-93DC-361119AD069C}"/>
              </a:ext>
            </a:extLst>
          </p:cNvPr>
          <p:cNvSpPr>
            <a:spLocks noGrp="1"/>
          </p:cNvSpPr>
          <p:nvPr>
            <p:ph type="title"/>
          </p:nvPr>
        </p:nvSpPr>
        <p:spPr/>
        <p:txBody>
          <a:bodyPr/>
          <a:lstStyle/>
          <a:p>
            <a:r>
              <a:rPr lang="en-US" dirty="0" err="1"/>
              <a:t>Soret</a:t>
            </a:r>
            <a:r>
              <a:rPr lang="en-US" dirty="0"/>
              <a:t> Diffusion</a:t>
            </a:r>
          </a:p>
        </p:txBody>
      </p:sp>
      <p:sp>
        <p:nvSpPr>
          <p:cNvPr id="3" name="Content Placeholder 2">
            <a:extLst>
              <a:ext uri="{FF2B5EF4-FFF2-40B4-BE49-F238E27FC236}">
                <a16:creationId xmlns:a16="http://schemas.microsoft.com/office/drawing/2014/main" id="{963F151B-437F-8847-B756-69BA20C7CA99}"/>
              </a:ext>
            </a:extLst>
          </p:cNvPr>
          <p:cNvSpPr>
            <a:spLocks noGrp="1"/>
          </p:cNvSpPr>
          <p:nvPr>
            <p:ph idx="1"/>
          </p:nvPr>
        </p:nvSpPr>
        <p:spPr>
          <a:xfrm>
            <a:off x="609600" y="1968500"/>
            <a:ext cx="10972800" cy="4157664"/>
          </a:xfrm>
        </p:spPr>
        <p:txBody>
          <a:bodyPr/>
          <a:lstStyle/>
          <a:p>
            <a:r>
              <a:rPr lang="en-US" sz="2400" dirty="0" err="1">
                <a:latin typeface="Arial" panose="020B0604020202020204" pitchFamily="34" charset="0"/>
                <a:cs typeface="Arial" panose="020B0604020202020204" pitchFamily="34" charset="0"/>
              </a:rPr>
              <a:t>Soret</a:t>
            </a:r>
            <a:r>
              <a:rPr lang="en-US" sz="2400" dirty="0">
                <a:latin typeface="Arial" panose="020B0604020202020204" pitchFamily="34" charset="0"/>
                <a:cs typeface="Arial" panose="020B0604020202020204" pitchFamily="34" charset="0"/>
              </a:rPr>
              <a:t> effect is a phenomenon observed in mixtures of mobile particles where the different particle types exhibit different responses to the force of a temperature gradient</a:t>
            </a:r>
          </a:p>
          <a:p>
            <a:r>
              <a:rPr lang="en-US" sz="2400" dirty="0">
                <a:latin typeface="Arial" panose="020B0604020202020204" pitchFamily="34" charset="0"/>
                <a:cs typeface="Arial" panose="020B0604020202020204" pitchFamily="34" charset="0"/>
              </a:rPr>
              <a:t>The solute flux in a temperature gradient is characterized by the heat of transport, Q*, of the migrating solute according to Fick’s law:</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where Di and Ni are the diffusivity and concentration of the migrating solute</a:t>
            </a:r>
          </a:p>
          <a:p>
            <a:r>
              <a:rPr lang="en-US" sz="2400" dirty="0">
                <a:latin typeface="Arial" panose="020B0604020202020204" pitchFamily="34" charset="0"/>
                <a:cs typeface="Arial" panose="020B0604020202020204" pitchFamily="34" charset="0"/>
              </a:rPr>
              <a:t>The heat of transport can be either positive or negative, depending on the sign and magnitude of its components</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071E5831-E653-0F4F-A675-2F8A4AB47950}"/>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spTree>
    <p:extLst>
      <p:ext uri="{BB962C8B-B14F-4D97-AF65-F5344CB8AC3E}">
        <p14:creationId xmlns:p14="http://schemas.microsoft.com/office/powerpoint/2010/main" val="2244811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E62F-4F6D-9A4D-8E21-9B4DD2ADD3EA}"/>
              </a:ext>
            </a:extLst>
          </p:cNvPr>
          <p:cNvSpPr>
            <a:spLocks noGrp="1"/>
          </p:cNvSpPr>
          <p:nvPr>
            <p:ph type="title"/>
          </p:nvPr>
        </p:nvSpPr>
        <p:spPr/>
        <p:txBody>
          <a:bodyPr/>
          <a:lstStyle/>
          <a:p>
            <a:r>
              <a:rPr lang="en-US" dirty="0" err="1"/>
              <a:t>Soret</a:t>
            </a:r>
            <a:r>
              <a:rPr lang="en-US" dirty="0"/>
              <a:t> Diffusion in UZr</a:t>
            </a:r>
          </a:p>
        </p:txBody>
      </p:sp>
      <p:sp>
        <p:nvSpPr>
          <p:cNvPr id="3" name="Content Placeholder 2">
            <a:extLst>
              <a:ext uri="{FF2B5EF4-FFF2-40B4-BE49-F238E27FC236}">
                <a16:creationId xmlns:a16="http://schemas.microsoft.com/office/drawing/2014/main" id="{2BE5A8AC-57A7-444C-A2AD-24D0D7C4657B}"/>
              </a:ext>
            </a:extLst>
          </p:cNvPr>
          <p:cNvSpPr>
            <a:spLocks noGrp="1"/>
          </p:cNvSpPr>
          <p:nvPr>
            <p:ph idx="1"/>
          </p:nvPr>
        </p:nvSpPr>
        <p:spPr>
          <a:xfrm>
            <a:off x="609600" y="2280746"/>
            <a:ext cx="6384966" cy="3845418"/>
          </a:xfrm>
        </p:spPr>
        <p:txBody>
          <a:bodyPr/>
          <a:lstStyle/>
          <a:p>
            <a:r>
              <a:rPr lang="en-US" sz="2400" dirty="0"/>
              <a:t>The value of Q* for pure U was measured to be +5 kcal/mol and to be −34 kcal/mol for Zr</a:t>
            </a:r>
          </a:p>
          <a:p>
            <a:r>
              <a:rPr lang="en-US" sz="2400" dirty="0"/>
              <a:t>Thus, in their pure states, U moves down a temperature gradient while Zr moves up, but it is unknown if this behavior directly translated to U-Zr alloys</a:t>
            </a:r>
          </a:p>
          <a:p>
            <a:r>
              <a:rPr lang="en-US" sz="2400" dirty="0"/>
              <a:t>For low Pu content alloys, the rate of redistribution is similar to UZr</a:t>
            </a:r>
          </a:p>
          <a:p>
            <a:endParaRPr lang="en-US" sz="2400" dirty="0"/>
          </a:p>
        </p:txBody>
      </p:sp>
      <p:sp>
        <p:nvSpPr>
          <p:cNvPr id="4" name="Slide Number Placeholder 3">
            <a:extLst>
              <a:ext uri="{FF2B5EF4-FFF2-40B4-BE49-F238E27FC236}">
                <a16:creationId xmlns:a16="http://schemas.microsoft.com/office/drawing/2014/main" id="{D1CF6A1C-2FAC-654A-8C67-25F962129CD9}"/>
              </a:ext>
            </a:extLst>
          </p:cNvPr>
          <p:cNvSpPr>
            <a:spLocks noGrp="1"/>
          </p:cNvSpPr>
          <p:nvPr>
            <p:ph type="sldNum" sz="quarter" idx="12"/>
          </p:nvPr>
        </p:nvSpPr>
        <p:spPr/>
        <p:txBody>
          <a:bodyPr/>
          <a:lstStyle/>
          <a:p>
            <a:pPr>
              <a:defRPr/>
            </a:pPr>
            <a:fld id="{3FF2C605-4958-CF43-AA48-80339EFDB0AF}" type="slidenum">
              <a:rPr lang="en-US" smtClean="0"/>
              <a:pPr>
                <a:defRPr/>
              </a:pPr>
              <a:t>20</a:t>
            </a:fld>
            <a:endParaRPr lang="en-US"/>
          </a:p>
        </p:txBody>
      </p:sp>
      <p:pic>
        <p:nvPicPr>
          <p:cNvPr id="5" name="Picture 4">
            <a:extLst>
              <a:ext uri="{FF2B5EF4-FFF2-40B4-BE49-F238E27FC236}">
                <a16:creationId xmlns:a16="http://schemas.microsoft.com/office/drawing/2014/main" id="{1A398C7D-601C-5441-8145-E2982492EBF9}"/>
              </a:ext>
            </a:extLst>
          </p:cNvPr>
          <p:cNvPicPr>
            <a:picLocks noChangeAspect="1"/>
          </p:cNvPicPr>
          <p:nvPr/>
        </p:nvPicPr>
        <p:blipFill>
          <a:blip r:embed="rId2"/>
          <a:stretch>
            <a:fillRect/>
          </a:stretch>
        </p:blipFill>
        <p:spPr>
          <a:xfrm>
            <a:off x="7232073" y="1968500"/>
            <a:ext cx="4461164" cy="4336174"/>
          </a:xfrm>
          <a:prstGeom prst="rect">
            <a:avLst/>
          </a:prstGeom>
        </p:spPr>
      </p:pic>
    </p:spTree>
    <p:extLst>
      <p:ext uri="{BB962C8B-B14F-4D97-AF65-F5344CB8AC3E}">
        <p14:creationId xmlns:p14="http://schemas.microsoft.com/office/powerpoint/2010/main" val="841738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E62F-4F6D-9A4D-8E21-9B4DD2ADD3EA}"/>
              </a:ext>
            </a:extLst>
          </p:cNvPr>
          <p:cNvSpPr>
            <a:spLocks noGrp="1"/>
          </p:cNvSpPr>
          <p:nvPr>
            <p:ph type="title"/>
          </p:nvPr>
        </p:nvSpPr>
        <p:spPr/>
        <p:txBody>
          <a:bodyPr/>
          <a:lstStyle/>
          <a:p>
            <a:r>
              <a:rPr lang="en-US" dirty="0" err="1"/>
              <a:t>Soret</a:t>
            </a:r>
            <a:r>
              <a:rPr lang="en-US" dirty="0"/>
              <a:t> Diffusion in UZr</a:t>
            </a:r>
          </a:p>
        </p:txBody>
      </p:sp>
      <p:sp>
        <p:nvSpPr>
          <p:cNvPr id="3" name="Content Placeholder 2">
            <a:extLst>
              <a:ext uri="{FF2B5EF4-FFF2-40B4-BE49-F238E27FC236}">
                <a16:creationId xmlns:a16="http://schemas.microsoft.com/office/drawing/2014/main" id="{2BE5A8AC-57A7-444C-A2AD-24D0D7C4657B}"/>
              </a:ext>
            </a:extLst>
          </p:cNvPr>
          <p:cNvSpPr>
            <a:spLocks noGrp="1"/>
          </p:cNvSpPr>
          <p:nvPr>
            <p:ph idx="1"/>
          </p:nvPr>
        </p:nvSpPr>
        <p:spPr>
          <a:xfrm>
            <a:off x="609600" y="2280746"/>
            <a:ext cx="6123709" cy="3845418"/>
          </a:xfrm>
        </p:spPr>
        <p:txBody>
          <a:bodyPr/>
          <a:lstStyle/>
          <a:p>
            <a:r>
              <a:rPr lang="en-US" sz="2300" dirty="0"/>
              <a:t>For high Pu content alloys (&gt;19%), redistribution is much more rapid</a:t>
            </a:r>
          </a:p>
          <a:p>
            <a:r>
              <a:rPr lang="en-US" sz="2300" dirty="0"/>
              <a:t>At the right is a 3% burnup fuel slug at a similar power density to the U-Zr slug in the previous slide</a:t>
            </a:r>
          </a:p>
          <a:p>
            <a:r>
              <a:rPr lang="en-US" sz="2300" dirty="0"/>
              <a:t>There is either a higher chemical driving force, or more rapid Zr diffusion present in these alloys</a:t>
            </a:r>
          </a:p>
          <a:p>
            <a:r>
              <a:rPr lang="en-US" sz="2300" dirty="0"/>
              <a:t>This more rapid redistribution can lead to greater anisotropic swelling, and thus more rapid radial swelling</a:t>
            </a:r>
          </a:p>
          <a:p>
            <a:endParaRPr lang="en-US" sz="2300" dirty="0"/>
          </a:p>
        </p:txBody>
      </p:sp>
      <p:sp>
        <p:nvSpPr>
          <p:cNvPr id="4" name="Slide Number Placeholder 3">
            <a:extLst>
              <a:ext uri="{FF2B5EF4-FFF2-40B4-BE49-F238E27FC236}">
                <a16:creationId xmlns:a16="http://schemas.microsoft.com/office/drawing/2014/main" id="{D1CF6A1C-2FAC-654A-8C67-25F962129CD9}"/>
              </a:ext>
            </a:extLst>
          </p:cNvPr>
          <p:cNvSpPr>
            <a:spLocks noGrp="1"/>
          </p:cNvSpPr>
          <p:nvPr>
            <p:ph type="sldNum" sz="quarter" idx="12"/>
          </p:nvPr>
        </p:nvSpPr>
        <p:spPr/>
        <p:txBody>
          <a:bodyPr/>
          <a:lstStyle/>
          <a:p>
            <a:pPr>
              <a:defRPr/>
            </a:pPr>
            <a:fld id="{3FF2C605-4958-CF43-AA48-80339EFDB0AF}" type="slidenum">
              <a:rPr lang="en-US" smtClean="0"/>
              <a:pPr>
                <a:defRPr/>
              </a:pPr>
              <a:t>21</a:t>
            </a:fld>
            <a:endParaRPr lang="en-US"/>
          </a:p>
        </p:txBody>
      </p:sp>
      <p:pic>
        <p:nvPicPr>
          <p:cNvPr id="6" name="Picture 5">
            <a:extLst>
              <a:ext uri="{FF2B5EF4-FFF2-40B4-BE49-F238E27FC236}">
                <a16:creationId xmlns:a16="http://schemas.microsoft.com/office/drawing/2014/main" id="{2D308FFE-F313-5C49-89CE-2C5B594B4AC2}"/>
              </a:ext>
            </a:extLst>
          </p:cNvPr>
          <p:cNvPicPr>
            <a:picLocks noChangeAspect="1"/>
          </p:cNvPicPr>
          <p:nvPr/>
        </p:nvPicPr>
        <p:blipFill>
          <a:blip r:embed="rId2"/>
          <a:stretch>
            <a:fillRect/>
          </a:stretch>
        </p:blipFill>
        <p:spPr>
          <a:xfrm>
            <a:off x="6816624" y="1968500"/>
            <a:ext cx="4062328" cy="3954954"/>
          </a:xfrm>
          <a:prstGeom prst="rect">
            <a:avLst/>
          </a:prstGeom>
        </p:spPr>
      </p:pic>
    </p:spTree>
    <p:extLst>
      <p:ext uri="{BB962C8B-B14F-4D97-AF65-F5344CB8AC3E}">
        <p14:creationId xmlns:p14="http://schemas.microsoft.com/office/powerpoint/2010/main" val="3997149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CA10-E33D-D341-8895-FC00E029C516}"/>
              </a:ext>
            </a:extLst>
          </p:cNvPr>
          <p:cNvSpPr>
            <a:spLocks noGrp="1"/>
          </p:cNvSpPr>
          <p:nvPr>
            <p:ph type="title"/>
          </p:nvPr>
        </p:nvSpPr>
        <p:spPr/>
        <p:txBody>
          <a:bodyPr/>
          <a:lstStyle/>
          <a:p>
            <a:r>
              <a:rPr lang="en-US" dirty="0"/>
              <a:t>Variable Porosity</a:t>
            </a:r>
          </a:p>
        </p:txBody>
      </p:sp>
      <p:sp>
        <p:nvSpPr>
          <p:cNvPr id="3" name="Content Placeholder 2">
            <a:extLst>
              <a:ext uri="{FF2B5EF4-FFF2-40B4-BE49-F238E27FC236}">
                <a16:creationId xmlns:a16="http://schemas.microsoft.com/office/drawing/2014/main" id="{C066DEC0-44C8-F641-8EB4-BB7D52229BF4}"/>
              </a:ext>
            </a:extLst>
          </p:cNvPr>
          <p:cNvSpPr>
            <a:spLocks noGrp="1"/>
          </p:cNvSpPr>
          <p:nvPr>
            <p:ph idx="1"/>
          </p:nvPr>
        </p:nvSpPr>
        <p:spPr>
          <a:xfrm>
            <a:off x="609599" y="1968500"/>
            <a:ext cx="4950373" cy="4157664"/>
          </a:xfrm>
        </p:spPr>
        <p:txBody>
          <a:bodyPr/>
          <a:lstStyle/>
          <a:p>
            <a:r>
              <a:rPr lang="en-US" sz="2200" dirty="0"/>
              <a:t>The porosity development depends on the phases present in the fuel</a:t>
            </a:r>
          </a:p>
          <a:p>
            <a:r>
              <a:rPr lang="en-US" sz="2200" dirty="0"/>
              <a:t>In all alloys, the high-temperature cubic U </a:t>
            </a:r>
            <a:r>
              <a:rPr lang="el-GR" sz="2200" dirty="0"/>
              <a:t>γ-</a:t>
            </a:r>
            <a:r>
              <a:rPr lang="en-US" sz="2200" dirty="0"/>
              <a:t>phase exhibits the characteristic large interconnected bubbles similar to those observed in pure </a:t>
            </a:r>
            <a:r>
              <a:rPr lang="el-GR" sz="2200" dirty="0"/>
              <a:t>γ </a:t>
            </a:r>
            <a:r>
              <a:rPr lang="en-US" sz="2200" dirty="0"/>
              <a:t>uranium</a:t>
            </a:r>
          </a:p>
          <a:p>
            <a:r>
              <a:rPr lang="en-US" sz="2200" dirty="0"/>
              <a:t>Different bubble sizes, densities, and morphologies can exist depending upon the local phase</a:t>
            </a:r>
          </a:p>
          <a:p>
            <a:endParaRPr lang="en-US" sz="2200" dirty="0"/>
          </a:p>
          <a:p>
            <a:endParaRPr lang="en-US" sz="2200" dirty="0"/>
          </a:p>
        </p:txBody>
      </p:sp>
      <p:sp>
        <p:nvSpPr>
          <p:cNvPr id="4" name="Slide Number Placeholder 3">
            <a:extLst>
              <a:ext uri="{FF2B5EF4-FFF2-40B4-BE49-F238E27FC236}">
                <a16:creationId xmlns:a16="http://schemas.microsoft.com/office/drawing/2014/main" id="{B5EF890F-27A5-9A43-A51D-6FD7867D80A3}"/>
              </a:ext>
            </a:extLst>
          </p:cNvPr>
          <p:cNvSpPr>
            <a:spLocks noGrp="1"/>
          </p:cNvSpPr>
          <p:nvPr>
            <p:ph type="sldNum" sz="quarter" idx="12"/>
          </p:nvPr>
        </p:nvSpPr>
        <p:spPr/>
        <p:txBody>
          <a:bodyPr/>
          <a:lstStyle/>
          <a:p>
            <a:pPr>
              <a:defRPr/>
            </a:pPr>
            <a:fld id="{3FF2C605-4958-CF43-AA48-80339EFDB0AF}" type="slidenum">
              <a:rPr lang="en-US" smtClean="0"/>
              <a:pPr>
                <a:defRPr/>
              </a:pPr>
              <a:t>22</a:t>
            </a:fld>
            <a:endParaRPr lang="en-US"/>
          </a:p>
        </p:txBody>
      </p:sp>
      <p:pic>
        <p:nvPicPr>
          <p:cNvPr id="5" name="Picture 4">
            <a:extLst>
              <a:ext uri="{FF2B5EF4-FFF2-40B4-BE49-F238E27FC236}">
                <a16:creationId xmlns:a16="http://schemas.microsoft.com/office/drawing/2014/main" id="{424AEB5F-E6BC-0341-8DD8-0F796BC85B3A}"/>
              </a:ext>
            </a:extLst>
          </p:cNvPr>
          <p:cNvPicPr>
            <a:picLocks noChangeAspect="1"/>
          </p:cNvPicPr>
          <p:nvPr/>
        </p:nvPicPr>
        <p:blipFill>
          <a:blip r:embed="rId2"/>
          <a:stretch>
            <a:fillRect/>
          </a:stretch>
        </p:blipFill>
        <p:spPr>
          <a:xfrm>
            <a:off x="5780689" y="1857812"/>
            <a:ext cx="5393147" cy="4845272"/>
          </a:xfrm>
          <a:prstGeom prst="rect">
            <a:avLst/>
          </a:prstGeom>
        </p:spPr>
      </p:pic>
    </p:spTree>
    <p:extLst>
      <p:ext uri="{BB962C8B-B14F-4D97-AF65-F5344CB8AC3E}">
        <p14:creationId xmlns:p14="http://schemas.microsoft.com/office/powerpoint/2010/main" val="574830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CA10-E33D-D341-8895-FC00E029C516}"/>
              </a:ext>
            </a:extLst>
          </p:cNvPr>
          <p:cNvSpPr>
            <a:spLocks noGrp="1"/>
          </p:cNvSpPr>
          <p:nvPr>
            <p:ph type="title"/>
          </p:nvPr>
        </p:nvSpPr>
        <p:spPr/>
        <p:txBody>
          <a:bodyPr/>
          <a:lstStyle/>
          <a:p>
            <a:r>
              <a:rPr lang="en-US" dirty="0"/>
              <a:t>Variable Porosity</a:t>
            </a:r>
          </a:p>
        </p:txBody>
      </p:sp>
      <p:sp>
        <p:nvSpPr>
          <p:cNvPr id="3" name="Content Placeholder 2">
            <a:extLst>
              <a:ext uri="{FF2B5EF4-FFF2-40B4-BE49-F238E27FC236}">
                <a16:creationId xmlns:a16="http://schemas.microsoft.com/office/drawing/2014/main" id="{C066DEC0-44C8-F641-8EB4-BB7D52229BF4}"/>
              </a:ext>
            </a:extLst>
          </p:cNvPr>
          <p:cNvSpPr>
            <a:spLocks noGrp="1"/>
          </p:cNvSpPr>
          <p:nvPr>
            <p:ph idx="1"/>
          </p:nvPr>
        </p:nvSpPr>
        <p:spPr>
          <a:xfrm>
            <a:off x="609599" y="1968500"/>
            <a:ext cx="4950373" cy="4157664"/>
          </a:xfrm>
        </p:spPr>
        <p:txBody>
          <a:bodyPr/>
          <a:lstStyle/>
          <a:p>
            <a:r>
              <a:rPr lang="en-US" sz="2200" dirty="0"/>
              <a:t>In U-Zr alloys, low-temperature U alpha phase and UZr2 delta phase form a laminar microstructure and the pore morphology follows this microstructure</a:t>
            </a:r>
          </a:p>
          <a:p>
            <a:endParaRPr lang="en-US" sz="2200" dirty="0"/>
          </a:p>
          <a:p>
            <a:endParaRPr lang="en-US" sz="2200" dirty="0"/>
          </a:p>
          <a:p>
            <a:endParaRPr lang="en-US" sz="2200" dirty="0"/>
          </a:p>
        </p:txBody>
      </p:sp>
      <p:sp>
        <p:nvSpPr>
          <p:cNvPr id="4" name="Slide Number Placeholder 3">
            <a:extLst>
              <a:ext uri="{FF2B5EF4-FFF2-40B4-BE49-F238E27FC236}">
                <a16:creationId xmlns:a16="http://schemas.microsoft.com/office/drawing/2014/main" id="{B5EF890F-27A5-9A43-A51D-6FD7867D80A3}"/>
              </a:ext>
            </a:extLst>
          </p:cNvPr>
          <p:cNvSpPr>
            <a:spLocks noGrp="1"/>
          </p:cNvSpPr>
          <p:nvPr>
            <p:ph type="sldNum" sz="quarter" idx="12"/>
          </p:nvPr>
        </p:nvSpPr>
        <p:spPr/>
        <p:txBody>
          <a:bodyPr/>
          <a:lstStyle/>
          <a:p>
            <a:pPr>
              <a:defRPr/>
            </a:pPr>
            <a:fld id="{3FF2C605-4958-CF43-AA48-80339EFDB0AF}" type="slidenum">
              <a:rPr lang="en-US" smtClean="0"/>
              <a:pPr>
                <a:defRPr/>
              </a:pPr>
              <a:t>23</a:t>
            </a:fld>
            <a:endParaRPr lang="en-US"/>
          </a:p>
        </p:txBody>
      </p:sp>
      <p:pic>
        <p:nvPicPr>
          <p:cNvPr id="5" name="Picture 4">
            <a:extLst>
              <a:ext uri="{FF2B5EF4-FFF2-40B4-BE49-F238E27FC236}">
                <a16:creationId xmlns:a16="http://schemas.microsoft.com/office/drawing/2014/main" id="{424AEB5F-E6BC-0341-8DD8-0F796BC85B3A}"/>
              </a:ext>
            </a:extLst>
          </p:cNvPr>
          <p:cNvPicPr>
            <a:picLocks noChangeAspect="1"/>
          </p:cNvPicPr>
          <p:nvPr/>
        </p:nvPicPr>
        <p:blipFill>
          <a:blip r:embed="rId2"/>
          <a:stretch>
            <a:fillRect/>
          </a:stretch>
        </p:blipFill>
        <p:spPr>
          <a:xfrm>
            <a:off x="5791200" y="1876205"/>
            <a:ext cx="5393147" cy="4845272"/>
          </a:xfrm>
          <a:prstGeom prst="rect">
            <a:avLst/>
          </a:prstGeom>
        </p:spPr>
      </p:pic>
      <p:pic>
        <p:nvPicPr>
          <p:cNvPr id="6" name="Picture 5">
            <a:extLst>
              <a:ext uri="{FF2B5EF4-FFF2-40B4-BE49-F238E27FC236}">
                <a16:creationId xmlns:a16="http://schemas.microsoft.com/office/drawing/2014/main" id="{C1063091-7C41-5240-A32A-CD99FDB486EF}"/>
              </a:ext>
            </a:extLst>
          </p:cNvPr>
          <p:cNvPicPr>
            <a:picLocks noChangeAspect="1"/>
          </p:cNvPicPr>
          <p:nvPr/>
        </p:nvPicPr>
        <p:blipFill rotWithShape="1">
          <a:blip r:embed="rId3"/>
          <a:srcRect l="66877" t="50000"/>
          <a:stretch/>
        </p:blipFill>
        <p:spPr>
          <a:xfrm>
            <a:off x="1965436" y="3836275"/>
            <a:ext cx="2775480" cy="2769587"/>
          </a:xfrm>
          <a:prstGeom prst="rect">
            <a:avLst/>
          </a:prstGeom>
        </p:spPr>
      </p:pic>
    </p:spTree>
    <p:extLst>
      <p:ext uri="{BB962C8B-B14F-4D97-AF65-F5344CB8AC3E}">
        <p14:creationId xmlns:p14="http://schemas.microsoft.com/office/powerpoint/2010/main" val="4290307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613070" cy="4157664"/>
          </a:xfrm>
        </p:spPr>
        <p:txBody>
          <a:bodyPr/>
          <a:lstStyle/>
          <a:p>
            <a:r>
              <a:rPr lang="en-US" sz="2400" dirty="0"/>
              <a:t>U-Zr has a very high thermal conductivity compared to oxide fuels</a:t>
            </a:r>
          </a:p>
          <a:p>
            <a:r>
              <a:rPr lang="en-US" sz="2400" dirty="0"/>
              <a:t>However, developing porosity will degrade the thermal conductivity </a:t>
            </a:r>
          </a:p>
          <a:p>
            <a:r>
              <a:rPr lang="en-US" sz="2400" dirty="0"/>
              <a:t>Understanding the temperature also governs how our porosity will develop and how redistribution will vary axially</a:t>
            </a:r>
          </a:p>
          <a:p>
            <a:r>
              <a:rPr lang="en-US" sz="2400" dirty="0"/>
              <a:t>This is a coupled problem that is complex, but critical for prediction of fuel evolution</a:t>
            </a:r>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a:defRPr/>
            </a:pPr>
            <a:fld id="{3FF2C605-4958-CF43-AA48-80339EFDB0AF}" type="slidenum">
              <a:rPr lang="en-US" smtClean="0"/>
              <a:pPr>
                <a:defRPr/>
              </a:pPr>
              <a:t>24</a:t>
            </a:fld>
            <a:endParaRPr lang="en-US"/>
          </a:p>
        </p:txBody>
      </p:sp>
      <p:pic>
        <p:nvPicPr>
          <p:cNvPr id="5" name="Picture 4">
            <a:extLst>
              <a:ext uri="{FF2B5EF4-FFF2-40B4-BE49-F238E27FC236}">
                <a16:creationId xmlns:a16="http://schemas.microsoft.com/office/drawing/2014/main" id="{E6D4B9D6-32AF-CE41-87D4-A6C48B2ED47C}"/>
              </a:ext>
            </a:extLst>
          </p:cNvPr>
          <p:cNvPicPr>
            <a:picLocks noChangeAspect="1"/>
          </p:cNvPicPr>
          <p:nvPr/>
        </p:nvPicPr>
        <p:blipFill>
          <a:blip r:embed="rId2"/>
          <a:stretch>
            <a:fillRect/>
          </a:stretch>
        </p:blipFill>
        <p:spPr>
          <a:xfrm>
            <a:off x="6353298" y="1968500"/>
            <a:ext cx="5379027" cy="3899430"/>
          </a:xfrm>
          <a:prstGeom prst="rect">
            <a:avLst/>
          </a:prstGeom>
        </p:spPr>
      </p:pic>
    </p:spTree>
    <p:extLst>
      <p:ext uri="{BB962C8B-B14F-4D97-AF65-F5344CB8AC3E}">
        <p14:creationId xmlns:p14="http://schemas.microsoft.com/office/powerpoint/2010/main" val="2466548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321465" cy="4157664"/>
          </a:xfrm>
        </p:spPr>
        <p:txBody>
          <a:bodyPr/>
          <a:lstStyle/>
          <a:p>
            <a:r>
              <a:rPr lang="en-US" sz="2300" dirty="0"/>
              <a:t>Bond sodium plays an important role on the thermal behavior of the fuel during irradiation</a:t>
            </a:r>
          </a:p>
          <a:p>
            <a:r>
              <a:rPr lang="en-US" sz="2300" dirty="0"/>
              <a:t>At the point where the fuel reaches its maximum swelling the porosity in most of the fuel interconnects and gas is vented to the plenum</a:t>
            </a:r>
          </a:p>
          <a:p>
            <a:r>
              <a:rPr lang="en-US" sz="2300" dirty="0"/>
              <a:t>This allows the bond sodium to infiltrate the fuel body and increase the fuel’s overall thermal conductivity</a:t>
            </a:r>
          </a:p>
          <a:p>
            <a:endParaRPr lang="en-US" sz="2300" dirty="0"/>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a:defRPr/>
            </a:pPr>
            <a:fld id="{3FF2C605-4958-CF43-AA48-80339EFDB0AF}" type="slidenum">
              <a:rPr lang="en-US" smtClean="0"/>
              <a:pPr>
                <a:defRPr/>
              </a:pPr>
              <a:t>25</a:t>
            </a:fld>
            <a:endParaRPr lang="en-US"/>
          </a:p>
        </p:txBody>
      </p:sp>
      <p:sp>
        <p:nvSpPr>
          <p:cNvPr id="8" name="Content Placeholder 2">
            <a:extLst>
              <a:ext uri="{FF2B5EF4-FFF2-40B4-BE49-F238E27FC236}">
                <a16:creationId xmlns:a16="http://schemas.microsoft.com/office/drawing/2014/main" id="{FAC3E5D0-A28C-0C44-BFD3-CC7A5D256DDD}"/>
              </a:ext>
            </a:extLst>
          </p:cNvPr>
          <p:cNvSpPr txBox="1">
            <a:spLocks/>
          </p:cNvSpPr>
          <p:nvPr/>
        </p:nvSpPr>
        <p:spPr bwMode="auto">
          <a:xfrm>
            <a:off x="5931065" y="1968500"/>
            <a:ext cx="5321465" cy="4157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2300" dirty="0"/>
              <a:t>Sodium infiltration is known because in PIE, the sodium level above the fuel elements, where the fuel has swelled out to the cladding, is always substantially lower than the total amount of preloaded sodium would indicate</a:t>
            </a:r>
          </a:p>
          <a:p>
            <a:r>
              <a:rPr lang="en-US" sz="2300" dirty="0"/>
              <a:t>Chemical analysis of irradiated fuel finds this “missing” sodium distributed throughout the fuel pin</a:t>
            </a:r>
          </a:p>
          <a:p>
            <a:endParaRPr lang="en-US" sz="2300" dirty="0"/>
          </a:p>
        </p:txBody>
      </p:sp>
    </p:spTree>
    <p:extLst>
      <p:ext uri="{BB962C8B-B14F-4D97-AF65-F5344CB8AC3E}">
        <p14:creationId xmlns:p14="http://schemas.microsoft.com/office/powerpoint/2010/main" val="1174409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613070" cy="4157664"/>
          </a:xfrm>
        </p:spPr>
        <p:txBody>
          <a:bodyPr/>
          <a:lstStyle/>
          <a:p>
            <a:r>
              <a:rPr lang="en-US" sz="2400" dirty="0"/>
              <a:t>On average, approximately 15–20% of the porosity is (filled) with sodium</a:t>
            </a:r>
          </a:p>
          <a:p>
            <a:r>
              <a:rPr lang="en-US" sz="2400" dirty="0"/>
              <a:t>The overall thermal conductivity of the fuel drops continuously during the early free-swelling stage, due to porosity development, but then increases rather suddenly with gas release and sodium logging</a:t>
            </a:r>
          </a:p>
          <a:p>
            <a:r>
              <a:rPr lang="en-US" sz="2400" dirty="0"/>
              <a:t>Experiments at right had thermocouples in the center of the fuel</a:t>
            </a:r>
          </a:p>
          <a:p>
            <a:endParaRPr lang="en-US" sz="2400" dirty="0"/>
          </a:p>
          <a:p>
            <a:endParaRPr lang="en-US" sz="1800" dirty="0"/>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a:defRPr/>
            </a:pPr>
            <a:fld id="{3FF2C605-4958-CF43-AA48-80339EFDB0AF}" type="slidenum">
              <a:rPr lang="en-US" smtClean="0"/>
              <a:pPr>
                <a:defRPr/>
              </a:pPr>
              <a:t>26</a:t>
            </a:fld>
            <a:endParaRPr lang="en-US"/>
          </a:p>
        </p:txBody>
      </p:sp>
      <p:pic>
        <p:nvPicPr>
          <p:cNvPr id="6" name="Picture 5">
            <a:extLst>
              <a:ext uri="{FF2B5EF4-FFF2-40B4-BE49-F238E27FC236}">
                <a16:creationId xmlns:a16="http://schemas.microsoft.com/office/drawing/2014/main" id="{E5542C1B-8E3A-094D-B6C8-95AAC8BD8EBD}"/>
              </a:ext>
            </a:extLst>
          </p:cNvPr>
          <p:cNvPicPr>
            <a:picLocks noChangeAspect="1"/>
          </p:cNvPicPr>
          <p:nvPr/>
        </p:nvPicPr>
        <p:blipFill>
          <a:blip r:embed="rId2"/>
          <a:stretch>
            <a:fillRect/>
          </a:stretch>
        </p:blipFill>
        <p:spPr>
          <a:xfrm>
            <a:off x="7253636" y="1889508"/>
            <a:ext cx="3297797" cy="4545836"/>
          </a:xfrm>
          <a:prstGeom prst="rect">
            <a:avLst/>
          </a:prstGeom>
        </p:spPr>
      </p:pic>
    </p:spTree>
    <p:extLst>
      <p:ext uri="{BB962C8B-B14F-4D97-AF65-F5344CB8AC3E}">
        <p14:creationId xmlns:p14="http://schemas.microsoft.com/office/powerpoint/2010/main" val="482840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1324-FBFC-2B46-BE7A-DF7C331580D6}"/>
              </a:ext>
            </a:extLst>
          </p:cNvPr>
          <p:cNvSpPr>
            <a:spLocks noGrp="1"/>
          </p:cNvSpPr>
          <p:nvPr>
            <p:ph type="title"/>
          </p:nvPr>
        </p:nvSpPr>
        <p:spPr/>
        <p:txBody>
          <a:bodyPr/>
          <a:lstStyle/>
          <a:p>
            <a:r>
              <a:rPr lang="en-US" dirty="0"/>
              <a:t>Fuel-Cladding Interaction</a:t>
            </a:r>
          </a:p>
        </p:txBody>
      </p:sp>
      <p:sp>
        <p:nvSpPr>
          <p:cNvPr id="3" name="Content Placeholder 2">
            <a:extLst>
              <a:ext uri="{FF2B5EF4-FFF2-40B4-BE49-F238E27FC236}">
                <a16:creationId xmlns:a16="http://schemas.microsoft.com/office/drawing/2014/main" id="{102BDC49-F166-254D-878A-9EABC96E79C9}"/>
              </a:ext>
            </a:extLst>
          </p:cNvPr>
          <p:cNvSpPr>
            <a:spLocks noGrp="1"/>
          </p:cNvSpPr>
          <p:nvPr>
            <p:ph sz="half" idx="1"/>
          </p:nvPr>
        </p:nvSpPr>
        <p:spPr/>
        <p:txBody>
          <a:bodyPr/>
          <a:lstStyle/>
          <a:p>
            <a:r>
              <a:rPr lang="en-US" sz="2300" dirty="0"/>
              <a:t>Fuel-Cladding interactions are both mechanical and chemical in nature (FCMI and FCCI)</a:t>
            </a:r>
          </a:p>
          <a:p>
            <a:r>
              <a:rPr lang="en-US" sz="2300" dirty="0"/>
              <a:t>FCMI results from when the fuel swells, comes into contact with the cladding, and exerts an outward force on the cladding</a:t>
            </a:r>
          </a:p>
          <a:p>
            <a:r>
              <a:rPr lang="en-US" sz="2300" dirty="0"/>
              <a:t>Early element designs did not allow the fuel sufficient free swelling, this gas bubble pressure was transmitted directly to the cladding</a:t>
            </a:r>
          </a:p>
        </p:txBody>
      </p:sp>
      <p:sp>
        <p:nvSpPr>
          <p:cNvPr id="4" name="Content Placeholder 3">
            <a:extLst>
              <a:ext uri="{FF2B5EF4-FFF2-40B4-BE49-F238E27FC236}">
                <a16:creationId xmlns:a16="http://schemas.microsoft.com/office/drawing/2014/main" id="{59E0C01A-F623-5141-BC8B-F700C65F7807}"/>
              </a:ext>
            </a:extLst>
          </p:cNvPr>
          <p:cNvSpPr>
            <a:spLocks noGrp="1"/>
          </p:cNvSpPr>
          <p:nvPr>
            <p:ph sz="half" idx="2"/>
          </p:nvPr>
        </p:nvSpPr>
        <p:spPr/>
        <p:txBody>
          <a:bodyPr/>
          <a:lstStyle/>
          <a:p>
            <a:r>
              <a:rPr lang="en-US" sz="2300" dirty="0"/>
              <a:t>Thus, all early designs suffered from cladding deformation and rupture at modest burnups</a:t>
            </a:r>
          </a:p>
          <a:p>
            <a:r>
              <a:rPr lang="en-US" sz="2300" dirty="0"/>
              <a:t>This was one of the primary reasons oxide fuels were pursued over metallic alloys</a:t>
            </a:r>
          </a:p>
          <a:p>
            <a:r>
              <a:rPr lang="en-US" sz="2300" dirty="0"/>
              <a:t>By the time the smear density solution had been implemented, metallic fuels had already been left behind</a:t>
            </a:r>
          </a:p>
          <a:p>
            <a:endParaRPr lang="en-US" sz="2300" dirty="0"/>
          </a:p>
        </p:txBody>
      </p:sp>
      <p:sp>
        <p:nvSpPr>
          <p:cNvPr id="5" name="Slide Number Placeholder 4">
            <a:extLst>
              <a:ext uri="{FF2B5EF4-FFF2-40B4-BE49-F238E27FC236}">
                <a16:creationId xmlns:a16="http://schemas.microsoft.com/office/drawing/2014/main" id="{2844C575-1846-B042-90B7-5E861B68A2F1}"/>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4159761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1324-FBFC-2B46-BE7A-DF7C331580D6}"/>
              </a:ext>
            </a:extLst>
          </p:cNvPr>
          <p:cNvSpPr>
            <a:spLocks noGrp="1"/>
          </p:cNvSpPr>
          <p:nvPr>
            <p:ph type="title"/>
          </p:nvPr>
        </p:nvSpPr>
        <p:spPr/>
        <p:txBody>
          <a:bodyPr/>
          <a:lstStyle/>
          <a:p>
            <a:r>
              <a:rPr lang="en-US" dirty="0"/>
              <a:t>Fuel-Cladding Mechanical Interaction</a:t>
            </a:r>
          </a:p>
        </p:txBody>
      </p:sp>
      <p:sp>
        <p:nvSpPr>
          <p:cNvPr id="3" name="Content Placeholder 2">
            <a:extLst>
              <a:ext uri="{FF2B5EF4-FFF2-40B4-BE49-F238E27FC236}">
                <a16:creationId xmlns:a16="http://schemas.microsoft.com/office/drawing/2014/main" id="{102BDC49-F166-254D-878A-9EABC96E79C9}"/>
              </a:ext>
            </a:extLst>
          </p:cNvPr>
          <p:cNvSpPr>
            <a:spLocks noGrp="1"/>
          </p:cNvSpPr>
          <p:nvPr>
            <p:ph sz="half" idx="1"/>
          </p:nvPr>
        </p:nvSpPr>
        <p:spPr>
          <a:xfrm>
            <a:off x="609599" y="1968503"/>
            <a:ext cx="6390291" cy="4157663"/>
          </a:xfrm>
        </p:spPr>
        <p:txBody>
          <a:bodyPr/>
          <a:lstStyle/>
          <a:p>
            <a:r>
              <a:rPr lang="en-US" sz="2100" dirty="0"/>
              <a:t>The cladding strain of low smear density, small plenum fuel rod designs is primarily creep strain due to FCMI (MK-I)</a:t>
            </a:r>
          </a:p>
          <a:p>
            <a:r>
              <a:rPr lang="en-US" sz="2100" dirty="0"/>
              <a:t>The cladding strain of high smear density, large plenum rods is mainly irradiation-induced cladding swelling (MK-II)</a:t>
            </a:r>
          </a:p>
          <a:p>
            <a:r>
              <a:rPr lang="en-US" sz="2100" dirty="0"/>
              <a:t>The creep strain can be accounted for by the plenum pressure stress alone, which confirms that FCMI is virtually nonexistent in suitably designed metallic fuel elements</a:t>
            </a:r>
          </a:p>
          <a:p>
            <a:r>
              <a:rPr lang="en-US" sz="2100" dirty="0"/>
              <a:t>Significant FCMI can be avoided to high burnup if the as-built fuel smeared density is kept to 75%, and a sufficient gas plenum is employed</a:t>
            </a:r>
          </a:p>
          <a:p>
            <a:endParaRPr lang="en-US" sz="2100" dirty="0"/>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2844C575-1846-B042-90B7-5E861B68A2F1}"/>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6" name="Picture 5">
            <a:extLst>
              <a:ext uri="{FF2B5EF4-FFF2-40B4-BE49-F238E27FC236}">
                <a16:creationId xmlns:a16="http://schemas.microsoft.com/office/drawing/2014/main" id="{233E5E04-7547-1C44-864D-564652F2B7D7}"/>
              </a:ext>
            </a:extLst>
          </p:cNvPr>
          <p:cNvPicPr>
            <a:picLocks noChangeAspect="1"/>
          </p:cNvPicPr>
          <p:nvPr/>
        </p:nvPicPr>
        <p:blipFill>
          <a:blip r:embed="rId2"/>
          <a:stretch>
            <a:fillRect/>
          </a:stretch>
        </p:blipFill>
        <p:spPr>
          <a:xfrm>
            <a:off x="6831687" y="1968500"/>
            <a:ext cx="5231853" cy="3815369"/>
          </a:xfrm>
          <a:prstGeom prst="rect">
            <a:avLst/>
          </a:prstGeom>
        </p:spPr>
      </p:pic>
    </p:spTree>
    <p:extLst>
      <p:ext uri="{BB962C8B-B14F-4D97-AF65-F5344CB8AC3E}">
        <p14:creationId xmlns:p14="http://schemas.microsoft.com/office/powerpoint/2010/main" val="1178276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C709-B88D-384A-8A02-9F07D005AB25}"/>
              </a:ext>
            </a:extLst>
          </p:cNvPr>
          <p:cNvSpPr>
            <a:spLocks noGrp="1"/>
          </p:cNvSpPr>
          <p:nvPr>
            <p:ph type="title"/>
          </p:nvPr>
        </p:nvSpPr>
        <p:spPr/>
        <p:txBody>
          <a:bodyPr/>
          <a:lstStyle/>
          <a:p>
            <a:r>
              <a:rPr lang="en-US" dirty="0"/>
              <a:t>Fission-Induced Creep</a:t>
            </a:r>
          </a:p>
        </p:txBody>
      </p:sp>
      <p:sp>
        <p:nvSpPr>
          <p:cNvPr id="3" name="Content Placeholder 2">
            <a:extLst>
              <a:ext uri="{FF2B5EF4-FFF2-40B4-BE49-F238E27FC236}">
                <a16:creationId xmlns:a16="http://schemas.microsoft.com/office/drawing/2014/main" id="{AC181A0A-8CAF-2E44-B702-AE87FB872D17}"/>
              </a:ext>
            </a:extLst>
          </p:cNvPr>
          <p:cNvSpPr>
            <a:spLocks noGrp="1"/>
          </p:cNvSpPr>
          <p:nvPr>
            <p:ph sz="half" idx="1"/>
          </p:nvPr>
        </p:nvSpPr>
        <p:spPr/>
        <p:txBody>
          <a:bodyPr/>
          <a:lstStyle/>
          <a:p>
            <a:r>
              <a:rPr lang="en-US" sz="2400" dirty="0"/>
              <a:t>Stress in the cladding due to fuel swelling will thus also depend on the effective creep rate of the fuel in-reactor</a:t>
            </a:r>
          </a:p>
          <a:p>
            <a:r>
              <a:rPr lang="en-US" sz="2400" dirty="0"/>
              <a:t>Measurable creep deformation of </a:t>
            </a:r>
            <a:r>
              <a:rPr lang="el-GR" sz="2400" dirty="0"/>
              <a:t>α-</a:t>
            </a:r>
            <a:r>
              <a:rPr lang="en-US" sz="2400" dirty="0"/>
              <a:t>U during fissioning at temperatures where classical creep does not exist has been experimentally identified</a:t>
            </a:r>
          </a:p>
          <a:p>
            <a:endParaRPr lang="en-US" sz="2400" dirty="0"/>
          </a:p>
          <a:p>
            <a:endParaRPr lang="en-US" sz="2400" dirty="0"/>
          </a:p>
        </p:txBody>
      </p:sp>
      <p:sp>
        <p:nvSpPr>
          <p:cNvPr id="4" name="Content Placeholder 3">
            <a:extLst>
              <a:ext uri="{FF2B5EF4-FFF2-40B4-BE49-F238E27FC236}">
                <a16:creationId xmlns:a16="http://schemas.microsoft.com/office/drawing/2014/main" id="{C36B2165-16A9-4B4A-AA01-B8F332DC360E}"/>
              </a:ext>
            </a:extLst>
          </p:cNvPr>
          <p:cNvSpPr>
            <a:spLocks noGrp="1"/>
          </p:cNvSpPr>
          <p:nvPr>
            <p:ph sz="half" idx="2"/>
          </p:nvPr>
        </p:nvSpPr>
        <p:spPr/>
        <p:txBody>
          <a:bodyPr/>
          <a:lstStyle/>
          <a:p>
            <a:r>
              <a:rPr lang="en-US" sz="2400" dirty="0"/>
              <a:t>These studies clearly established that at low temperature, the in-reactor creep rate of U is independent of temperature and linearly dependent on both stress</a:t>
            </a:r>
            <a:r>
              <a:rPr lang="el-GR" sz="2400" dirty="0"/>
              <a:t> </a:t>
            </a:r>
            <a:r>
              <a:rPr lang="en-US" sz="2400" dirty="0"/>
              <a:t>and fission rate</a:t>
            </a:r>
          </a:p>
          <a:p>
            <a:endParaRPr lang="en-US" sz="2400" dirty="0"/>
          </a:p>
          <a:p>
            <a:endParaRPr lang="en-US" sz="2400" dirty="0"/>
          </a:p>
        </p:txBody>
      </p:sp>
      <p:sp>
        <p:nvSpPr>
          <p:cNvPr id="5" name="Slide Number Placeholder 4">
            <a:extLst>
              <a:ext uri="{FF2B5EF4-FFF2-40B4-BE49-F238E27FC236}">
                <a16:creationId xmlns:a16="http://schemas.microsoft.com/office/drawing/2014/main" id="{465D38B1-F993-BA4E-AB05-8F02FA93A2AD}"/>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6" name="Picture 5">
            <a:extLst>
              <a:ext uri="{FF2B5EF4-FFF2-40B4-BE49-F238E27FC236}">
                <a16:creationId xmlns:a16="http://schemas.microsoft.com/office/drawing/2014/main" id="{14AF1C6E-A000-6F42-AE57-05203A39FF64}"/>
              </a:ext>
            </a:extLst>
          </p:cNvPr>
          <p:cNvPicPr>
            <a:picLocks noChangeAspect="1"/>
          </p:cNvPicPr>
          <p:nvPr/>
        </p:nvPicPr>
        <p:blipFill>
          <a:blip r:embed="rId2"/>
          <a:stretch>
            <a:fillRect/>
          </a:stretch>
        </p:blipFill>
        <p:spPr>
          <a:xfrm>
            <a:off x="5994400" y="4389403"/>
            <a:ext cx="5836526" cy="1736763"/>
          </a:xfrm>
          <a:prstGeom prst="rect">
            <a:avLst/>
          </a:prstGeom>
        </p:spPr>
      </p:pic>
    </p:spTree>
    <p:extLst>
      <p:ext uri="{BB962C8B-B14F-4D97-AF65-F5344CB8AC3E}">
        <p14:creationId xmlns:p14="http://schemas.microsoft.com/office/powerpoint/2010/main" val="193969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98917-1978-0F4C-9A37-CB823DAAE584}"/>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0E649986-DBBE-4243-8269-517043303930}"/>
              </a:ext>
            </a:extLst>
          </p:cNvPr>
          <p:cNvSpPr>
            <a:spLocks noGrp="1"/>
          </p:cNvSpPr>
          <p:nvPr>
            <p:ph sz="half" idx="1"/>
          </p:nvPr>
        </p:nvSpPr>
        <p:spPr/>
        <p:txBody>
          <a:bodyPr/>
          <a:lstStyle/>
          <a:p>
            <a:r>
              <a:rPr lang="en-US" sz="2400" dirty="0"/>
              <a:t>Post-irradiation examinations of high burnup fuel appear largely to support both partitioning into subgroups and assumptions of fission product behavior</a:t>
            </a:r>
          </a:p>
          <a:p>
            <a:r>
              <a:rPr lang="en-US" sz="2400" dirty="0"/>
              <a:t>A reason for partitioning these fission products is their different migration behavior in the fuel; such grouping allows an evaluation of this migration on the properties of the various radial phasal zones</a:t>
            </a:r>
          </a:p>
          <a:p>
            <a:endParaRPr lang="en-US" sz="2400" dirty="0"/>
          </a:p>
          <a:p>
            <a:endParaRPr lang="en-US" sz="1400" dirty="0"/>
          </a:p>
        </p:txBody>
      </p:sp>
      <p:sp>
        <p:nvSpPr>
          <p:cNvPr id="4" name="Content Placeholder 3">
            <a:extLst>
              <a:ext uri="{FF2B5EF4-FFF2-40B4-BE49-F238E27FC236}">
                <a16:creationId xmlns:a16="http://schemas.microsoft.com/office/drawing/2014/main" id="{C11316B1-2D2D-354B-80BD-C406B4C413C3}"/>
              </a:ext>
            </a:extLst>
          </p:cNvPr>
          <p:cNvSpPr>
            <a:spLocks noGrp="1"/>
          </p:cNvSpPr>
          <p:nvPr>
            <p:ph sz="half" idx="2"/>
          </p:nvPr>
        </p:nvSpPr>
        <p:spPr/>
        <p:txBody>
          <a:bodyPr/>
          <a:lstStyle/>
          <a:p>
            <a:r>
              <a:rPr lang="en-US" sz="2400" dirty="0"/>
              <a:t>Zr, Nb, and Mo are all in solution in the fuel phases</a:t>
            </a:r>
          </a:p>
          <a:p>
            <a:r>
              <a:rPr lang="en-US" sz="2400" dirty="0"/>
              <a:t>Alkali elements (Cs) are dissolved to some extent in the bond sodium</a:t>
            </a:r>
          </a:p>
          <a:p>
            <a:r>
              <a:rPr lang="en-US" sz="2400" dirty="0"/>
              <a:t>The noble metals (Pt) precipitate as compounds</a:t>
            </a:r>
          </a:p>
          <a:p>
            <a:r>
              <a:rPr lang="en-US" sz="2400" dirty="0"/>
              <a:t>The rare earths (Nd) precipitate as a separate compound or alloy</a:t>
            </a:r>
          </a:p>
          <a:p>
            <a:r>
              <a:rPr lang="en-US" sz="2400" dirty="0"/>
              <a:t>The majority of the alkaline (Sr) earths precipitate separately</a:t>
            </a:r>
          </a:p>
          <a:p>
            <a:endParaRPr lang="en-US" sz="2400" dirty="0"/>
          </a:p>
        </p:txBody>
      </p:sp>
      <p:sp>
        <p:nvSpPr>
          <p:cNvPr id="5" name="Slide Number Placeholder 4">
            <a:extLst>
              <a:ext uri="{FF2B5EF4-FFF2-40B4-BE49-F238E27FC236}">
                <a16:creationId xmlns:a16="http://schemas.microsoft.com/office/drawing/2014/main" id="{AAEDBF11-6B55-2E4E-B9A0-E7884BEE0498}"/>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Tree>
    <p:extLst>
      <p:ext uri="{BB962C8B-B14F-4D97-AF65-F5344CB8AC3E}">
        <p14:creationId xmlns:p14="http://schemas.microsoft.com/office/powerpoint/2010/main" val="2688883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p:txBody>
          <a:bodyPr/>
          <a:lstStyle/>
          <a:p>
            <a:r>
              <a:rPr lang="en-US" sz="2400" dirty="0"/>
              <a:t>The accommodation of the </a:t>
            </a:r>
            <a:r>
              <a:rPr lang="en-US" sz="2400" dirty="0" err="1"/>
              <a:t>nonsoluble</a:t>
            </a:r>
            <a:r>
              <a:rPr lang="en-US" sz="2400" dirty="0"/>
              <a:t> fission products predictably results in a volume expansion as a function of burnup</a:t>
            </a:r>
          </a:p>
          <a:p>
            <a:r>
              <a:rPr lang="en-US" sz="2400" dirty="0"/>
              <a:t>As U and Pu are removed from the lattice as they fission, this results in a volume decrease that partially offsets the volume expansion due to fission products</a:t>
            </a:r>
          </a:p>
          <a:p>
            <a:endParaRPr lang="en-US" sz="2400" dirty="0"/>
          </a:p>
        </p:txBody>
      </p:sp>
      <p:sp>
        <p:nvSpPr>
          <p:cNvPr id="4" name="Content Placeholder 3">
            <a:extLst>
              <a:ext uri="{FF2B5EF4-FFF2-40B4-BE49-F238E27FC236}">
                <a16:creationId xmlns:a16="http://schemas.microsoft.com/office/drawing/2014/main" id="{909DDA7D-BF65-F749-9A2E-F0AC83D330EB}"/>
              </a:ext>
            </a:extLst>
          </p:cNvPr>
          <p:cNvSpPr>
            <a:spLocks noGrp="1"/>
          </p:cNvSpPr>
          <p:nvPr>
            <p:ph sz="half" idx="2"/>
          </p:nvPr>
        </p:nvSpPr>
        <p:spPr/>
        <p:txBody>
          <a:bodyPr/>
          <a:lstStyle/>
          <a:p>
            <a:r>
              <a:rPr lang="en-US" sz="2400" dirty="0"/>
              <a:t>Since Zr, Nb and Mo are soluble in the matrix, this compensates for some of the volume decrease due to the disappearance of U and Pu</a:t>
            </a:r>
          </a:p>
          <a:p>
            <a:r>
              <a:rPr lang="en-US" sz="2400" dirty="0"/>
              <a:t>The result of these contributions is an associated volume change of 0.2 vol.% per percent burnup</a:t>
            </a:r>
          </a:p>
          <a:p>
            <a:endParaRPr lang="en-US" sz="2400" dirty="0"/>
          </a:p>
          <a:p>
            <a:endParaRPr lang="en-US" sz="2400" dirty="0"/>
          </a:p>
        </p:txBody>
      </p:sp>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spTree>
    <p:extLst>
      <p:ext uri="{BB962C8B-B14F-4D97-AF65-F5344CB8AC3E}">
        <p14:creationId xmlns:p14="http://schemas.microsoft.com/office/powerpoint/2010/main" val="2434926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p:txBody>
          <a:bodyPr/>
          <a:lstStyle/>
          <a:p>
            <a:r>
              <a:rPr lang="en-US" sz="2400" dirty="0"/>
              <a:t>The rare earths are found to collect in two separate phases in primarily large pores towards the periphery of the fuel and in gaps between the fuel and cladding</a:t>
            </a:r>
          </a:p>
          <a:p>
            <a:r>
              <a:rPr lang="en-US" sz="2400" dirty="0"/>
              <a:t>A chemical analysis of the bond sodium indicated that a major fraction of the alkali, and also some of the alkaline earth elements, can simply be added to the bond sodium volume</a:t>
            </a:r>
          </a:p>
          <a:p>
            <a:endParaRPr lang="en-US" sz="2400" dirty="0"/>
          </a:p>
          <a:p>
            <a:endParaRPr lang="en-US" sz="1400" dirty="0"/>
          </a:p>
        </p:txBody>
      </p:sp>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a:p>
        </p:txBody>
      </p:sp>
      <p:pic>
        <p:nvPicPr>
          <p:cNvPr id="8" name="Content Placeholder 7">
            <a:extLst>
              <a:ext uri="{FF2B5EF4-FFF2-40B4-BE49-F238E27FC236}">
                <a16:creationId xmlns:a16="http://schemas.microsoft.com/office/drawing/2014/main" id="{0852A4E0-7666-7E41-8B96-0DDD8452CE90}"/>
              </a:ext>
            </a:extLst>
          </p:cNvPr>
          <p:cNvPicPr>
            <a:picLocks noGrp="1" noChangeAspect="1"/>
          </p:cNvPicPr>
          <p:nvPr>
            <p:ph sz="half" idx="2"/>
          </p:nvPr>
        </p:nvPicPr>
        <p:blipFill>
          <a:blip r:embed="rId2"/>
          <a:stretch>
            <a:fillRect/>
          </a:stretch>
        </p:blipFill>
        <p:spPr>
          <a:xfrm>
            <a:off x="6197600" y="2448910"/>
            <a:ext cx="5935308" cy="2925499"/>
          </a:xfrm>
          <a:prstGeom prst="rect">
            <a:avLst/>
          </a:prstGeom>
        </p:spPr>
      </p:pic>
      <p:cxnSp>
        <p:nvCxnSpPr>
          <p:cNvPr id="10" name="Straight Arrow Connector 9">
            <a:extLst>
              <a:ext uri="{FF2B5EF4-FFF2-40B4-BE49-F238E27FC236}">
                <a16:creationId xmlns:a16="http://schemas.microsoft.com/office/drawing/2014/main" id="{0C931BCA-B38F-924A-A71E-0F6425DB15FF}"/>
              </a:ext>
            </a:extLst>
          </p:cNvPr>
          <p:cNvCxnSpPr/>
          <p:nvPr/>
        </p:nvCxnSpPr>
        <p:spPr>
          <a:xfrm flipH="1">
            <a:off x="9354207" y="2060028"/>
            <a:ext cx="662152" cy="1702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287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a:xfrm>
            <a:off x="609599" y="1968503"/>
            <a:ext cx="10573407" cy="774697"/>
          </a:xfrm>
        </p:spPr>
        <p:txBody>
          <a:bodyPr/>
          <a:lstStyle/>
          <a:p>
            <a:r>
              <a:rPr lang="en-US" sz="2400" dirty="0"/>
              <a:t>The total volume of the </a:t>
            </a:r>
            <a:r>
              <a:rPr lang="en-US" sz="2400" dirty="0" err="1"/>
              <a:t>nonsoluble</a:t>
            </a:r>
            <a:r>
              <a:rPr lang="en-US" sz="2400" dirty="0"/>
              <a:t> fission products amounts to approximately 1.2% fuel volume increase per percent burnup</a:t>
            </a:r>
          </a:p>
          <a:p>
            <a:endParaRPr lang="en-US" sz="1400" dirty="0"/>
          </a:p>
        </p:txBody>
      </p:sp>
      <p:pic>
        <p:nvPicPr>
          <p:cNvPr id="6" name="Content Placeholder 5">
            <a:extLst>
              <a:ext uri="{FF2B5EF4-FFF2-40B4-BE49-F238E27FC236}">
                <a16:creationId xmlns:a16="http://schemas.microsoft.com/office/drawing/2014/main" id="{A4F568BD-746E-4443-9B1E-32126C19D69C}"/>
              </a:ext>
            </a:extLst>
          </p:cNvPr>
          <p:cNvPicPr>
            <a:picLocks noGrp="1" noChangeAspect="1"/>
          </p:cNvPicPr>
          <p:nvPr>
            <p:ph sz="half" idx="2"/>
          </p:nvPr>
        </p:nvPicPr>
        <p:blipFill>
          <a:blip r:embed="rId2"/>
          <a:stretch>
            <a:fillRect/>
          </a:stretch>
        </p:blipFill>
        <p:spPr>
          <a:xfrm>
            <a:off x="2189654" y="2824560"/>
            <a:ext cx="7413296" cy="3451749"/>
          </a:xfrm>
          <a:prstGeom prst="rect">
            <a:avLst/>
          </a:prstGeom>
        </p:spPr>
      </p:pic>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a:defRPr/>
            </a:pPr>
            <a:fld id="{EC35E9FC-F6D5-0349-BBED-EA7D7A9BC49B}" type="slidenum">
              <a:rPr lang="en-US" smtClean="0"/>
              <a:pPr>
                <a:defRPr/>
              </a:pPr>
              <a:t>33</a:t>
            </a:fld>
            <a:endParaRPr lang="en-US"/>
          </a:p>
        </p:txBody>
      </p:sp>
    </p:spTree>
    <p:extLst>
      <p:ext uri="{BB962C8B-B14F-4D97-AF65-F5344CB8AC3E}">
        <p14:creationId xmlns:p14="http://schemas.microsoft.com/office/powerpoint/2010/main" val="3540224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68EF-2B93-5044-BCC3-14CB1500BD59}"/>
              </a:ext>
            </a:extLst>
          </p:cNvPr>
          <p:cNvSpPr>
            <a:spLocks noGrp="1"/>
          </p:cNvSpPr>
          <p:nvPr>
            <p:ph type="title"/>
          </p:nvPr>
        </p:nvSpPr>
        <p:spPr/>
        <p:txBody>
          <a:bodyPr/>
          <a:lstStyle/>
          <a:p>
            <a:r>
              <a:rPr lang="en-US" dirty="0"/>
              <a:t>Fuel-Cladding Chemical Interaction</a:t>
            </a:r>
          </a:p>
        </p:txBody>
      </p:sp>
      <p:sp>
        <p:nvSpPr>
          <p:cNvPr id="3" name="Content Placeholder 2">
            <a:extLst>
              <a:ext uri="{FF2B5EF4-FFF2-40B4-BE49-F238E27FC236}">
                <a16:creationId xmlns:a16="http://schemas.microsoft.com/office/drawing/2014/main" id="{54599477-A0FB-D449-AD1D-A2EA0D9F4FE1}"/>
              </a:ext>
            </a:extLst>
          </p:cNvPr>
          <p:cNvSpPr>
            <a:spLocks noGrp="1"/>
          </p:cNvSpPr>
          <p:nvPr>
            <p:ph sz="half" idx="1"/>
          </p:nvPr>
        </p:nvSpPr>
        <p:spPr/>
        <p:txBody>
          <a:bodyPr/>
          <a:lstStyle/>
          <a:p>
            <a:r>
              <a:rPr lang="en-US" sz="2400" dirty="0"/>
              <a:t>FCCI is a complex multicomponent diffusion and thermodynamic problem</a:t>
            </a:r>
          </a:p>
          <a:p>
            <a:r>
              <a:rPr lang="en-US" sz="2400" dirty="0"/>
              <a:t>The characterization of fuel-cladding interdiffusion is exceedingly difficult because of the number of alloy components involved</a:t>
            </a:r>
          </a:p>
          <a:p>
            <a:r>
              <a:rPr lang="en-US" sz="2400" dirty="0"/>
              <a:t>Fuel element species, minor alloy additions (C, N, O) and fission products all play a role in FCCI</a:t>
            </a:r>
          </a:p>
          <a:p>
            <a:endParaRPr lang="en-US" sz="2400" dirty="0"/>
          </a:p>
        </p:txBody>
      </p:sp>
      <p:sp>
        <p:nvSpPr>
          <p:cNvPr id="4" name="Content Placeholder 3">
            <a:extLst>
              <a:ext uri="{FF2B5EF4-FFF2-40B4-BE49-F238E27FC236}">
                <a16:creationId xmlns:a16="http://schemas.microsoft.com/office/drawing/2014/main" id="{3B21F27F-C8CF-4142-9500-1E8C86DFC004}"/>
              </a:ext>
            </a:extLst>
          </p:cNvPr>
          <p:cNvSpPr>
            <a:spLocks noGrp="1"/>
          </p:cNvSpPr>
          <p:nvPr>
            <p:ph sz="half" idx="2"/>
          </p:nvPr>
        </p:nvSpPr>
        <p:spPr/>
        <p:txBody>
          <a:bodyPr/>
          <a:lstStyle/>
          <a:p>
            <a:r>
              <a:rPr lang="en-US" sz="2400" dirty="0"/>
              <a:t>The potential problem of interdiffusion of fuel and cladding components is essentially twofold: (i) a weakening of the cladding’s mechanical properties; and (ii) the formation of relatively low melting point compositions in the fuel</a:t>
            </a:r>
          </a:p>
          <a:p>
            <a:r>
              <a:rPr lang="en-US" sz="2400" dirty="0"/>
              <a:t>Typically, diffusion couple experiments have been performed to try to evaluate these effects</a:t>
            </a:r>
          </a:p>
          <a:p>
            <a:endParaRPr lang="en-US" sz="2400" dirty="0"/>
          </a:p>
        </p:txBody>
      </p:sp>
      <p:sp>
        <p:nvSpPr>
          <p:cNvPr id="5" name="Slide Number Placeholder 4">
            <a:extLst>
              <a:ext uri="{FF2B5EF4-FFF2-40B4-BE49-F238E27FC236}">
                <a16:creationId xmlns:a16="http://schemas.microsoft.com/office/drawing/2014/main" id="{3309DF38-E84E-B240-A86A-E5A917786ECC}"/>
              </a:ext>
            </a:extLst>
          </p:cNvPr>
          <p:cNvSpPr>
            <a:spLocks noGrp="1"/>
          </p:cNvSpPr>
          <p:nvPr>
            <p:ph type="sldNum" sz="quarter" idx="12"/>
          </p:nvPr>
        </p:nvSpPr>
        <p:spPr/>
        <p:txBody>
          <a:bodyPr/>
          <a:lstStyle/>
          <a:p>
            <a:pPr>
              <a:defRPr/>
            </a:pPr>
            <a:fld id="{EC35E9FC-F6D5-0349-BBED-EA7D7A9BC49B}" type="slidenum">
              <a:rPr lang="en-US" smtClean="0"/>
              <a:pPr>
                <a:defRPr/>
              </a:pPr>
              <a:t>34</a:t>
            </a:fld>
            <a:endParaRPr lang="en-US"/>
          </a:p>
        </p:txBody>
      </p:sp>
    </p:spTree>
    <p:extLst>
      <p:ext uri="{BB962C8B-B14F-4D97-AF65-F5344CB8AC3E}">
        <p14:creationId xmlns:p14="http://schemas.microsoft.com/office/powerpoint/2010/main" val="998157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68EF-2B93-5044-BCC3-14CB1500BD59}"/>
              </a:ext>
            </a:extLst>
          </p:cNvPr>
          <p:cNvSpPr>
            <a:spLocks noGrp="1"/>
          </p:cNvSpPr>
          <p:nvPr>
            <p:ph type="title"/>
          </p:nvPr>
        </p:nvSpPr>
        <p:spPr/>
        <p:txBody>
          <a:bodyPr/>
          <a:lstStyle/>
          <a:p>
            <a:r>
              <a:rPr lang="en-US" dirty="0"/>
              <a:t>Fuel-Cladding Chemical Interaction</a:t>
            </a:r>
          </a:p>
        </p:txBody>
      </p:sp>
      <p:sp>
        <p:nvSpPr>
          <p:cNvPr id="3" name="Content Placeholder 2">
            <a:extLst>
              <a:ext uri="{FF2B5EF4-FFF2-40B4-BE49-F238E27FC236}">
                <a16:creationId xmlns:a16="http://schemas.microsoft.com/office/drawing/2014/main" id="{54599477-A0FB-D449-AD1D-A2EA0D9F4FE1}"/>
              </a:ext>
            </a:extLst>
          </p:cNvPr>
          <p:cNvSpPr>
            <a:spLocks noGrp="1"/>
          </p:cNvSpPr>
          <p:nvPr>
            <p:ph sz="half" idx="1"/>
          </p:nvPr>
        </p:nvSpPr>
        <p:spPr>
          <a:xfrm>
            <a:off x="609599" y="1968503"/>
            <a:ext cx="5896303" cy="4157663"/>
          </a:xfrm>
        </p:spPr>
        <p:txBody>
          <a:bodyPr/>
          <a:lstStyle/>
          <a:p>
            <a:r>
              <a:rPr lang="en-US" sz="2400" dirty="0"/>
              <a:t>Experiments in the 1960s showed that the addition of Zr showed a decrease in diffusion rates and an increase minimum melting temperature</a:t>
            </a:r>
          </a:p>
          <a:p>
            <a:r>
              <a:rPr lang="en-US" sz="2400" dirty="0"/>
              <a:t>Additions of Pu accelerate the rate of attack and low possible melting points</a:t>
            </a:r>
          </a:p>
          <a:p>
            <a:r>
              <a:rPr lang="en-US" sz="2400" dirty="0"/>
              <a:t>This is one of the basis for which Zr was selected as the alloying element for “modern” metallic fuel</a:t>
            </a:r>
          </a:p>
        </p:txBody>
      </p:sp>
      <p:sp>
        <p:nvSpPr>
          <p:cNvPr id="5" name="Slide Number Placeholder 4">
            <a:extLst>
              <a:ext uri="{FF2B5EF4-FFF2-40B4-BE49-F238E27FC236}">
                <a16:creationId xmlns:a16="http://schemas.microsoft.com/office/drawing/2014/main" id="{3309DF38-E84E-B240-A86A-E5A917786ECC}"/>
              </a:ext>
            </a:extLst>
          </p:cNvPr>
          <p:cNvSpPr>
            <a:spLocks noGrp="1"/>
          </p:cNvSpPr>
          <p:nvPr>
            <p:ph type="sldNum" sz="quarter" idx="12"/>
          </p:nvPr>
        </p:nvSpPr>
        <p:spPr/>
        <p:txBody>
          <a:bodyPr/>
          <a:lstStyle/>
          <a:p>
            <a:pPr>
              <a:defRPr/>
            </a:pPr>
            <a:fld id="{EC35E9FC-F6D5-0349-BBED-EA7D7A9BC49B}" type="slidenum">
              <a:rPr lang="en-US" smtClean="0"/>
              <a:pPr>
                <a:defRPr/>
              </a:pPr>
              <a:t>35</a:t>
            </a:fld>
            <a:endParaRPr lang="en-US"/>
          </a:p>
        </p:txBody>
      </p:sp>
      <p:pic>
        <p:nvPicPr>
          <p:cNvPr id="7" name="Picture 6">
            <a:extLst>
              <a:ext uri="{FF2B5EF4-FFF2-40B4-BE49-F238E27FC236}">
                <a16:creationId xmlns:a16="http://schemas.microsoft.com/office/drawing/2014/main" id="{90835C8C-B675-7540-A2B1-73E00196D58A}"/>
              </a:ext>
            </a:extLst>
          </p:cNvPr>
          <p:cNvPicPr>
            <a:picLocks noChangeAspect="1"/>
          </p:cNvPicPr>
          <p:nvPr/>
        </p:nvPicPr>
        <p:blipFill>
          <a:blip r:embed="rId2"/>
          <a:stretch>
            <a:fillRect/>
          </a:stretch>
        </p:blipFill>
        <p:spPr>
          <a:xfrm>
            <a:off x="7790821" y="1837372"/>
            <a:ext cx="3065736" cy="1792006"/>
          </a:xfrm>
          <a:prstGeom prst="rect">
            <a:avLst/>
          </a:prstGeom>
        </p:spPr>
      </p:pic>
      <p:pic>
        <p:nvPicPr>
          <p:cNvPr id="11" name="Content Placeholder 10">
            <a:extLst>
              <a:ext uri="{FF2B5EF4-FFF2-40B4-BE49-F238E27FC236}">
                <a16:creationId xmlns:a16="http://schemas.microsoft.com/office/drawing/2014/main" id="{82CA9FB8-F1FA-D14D-AF0A-31383D37B788}"/>
              </a:ext>
            </a:extLst>
          </p:cNvPr>
          <p:cNvPicPr>
            <a:picLocks noGrp="1" noChangeAspect="1"/>
          </p:cNvPicPr>
          <p:nvPr>
            <p:ph sz="half" idx="2"/>
          </p:nvPr>
        </p:nvPicPr>
        <p:blipFill>
          <a:blip r:embed="rId3"/>
          <a:stretch>
            <a:fillRect/>
          </a:stretch>
        </p:blipFill>
        <p:spPr>
          <a:xfrm>
            <a:off x="8160087" y="3602668"/>
            <a:ext cx="2327203" cy="3118809"/>
          </a:xfrm>
          <a:prstGeom prst="rect">
            <a:avLst/>
          </a:prstGeom>
        </p:spPr>
      </p:pic>
    </p:spTree>
    <p:extLst>
      <p:ext uri="{BB962C8B-B14F-4D97-AF65-F5344CB8AC3E}">
        <p14:creationId xmlns:p14="http://schemas.microsoft.com/office/powerpoint/2010/main" val="2508653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p:txBody>
          <a:bodyPr/>
          <a:lstStyle/>
          <a:p>
            <a:r>
              <a:rPr lang="en-US" sz="2400" dirty="0"/>
              <a:t>To gain initial insight into the phases that may develop at the FC interface, one can look at available equilibrium phase diagrams, even though the irradiation process deviates from equilibrium</a:t>
            </a:r>
          </a:p>
          <a:p>
            <a:r>
              <a:rPr lang="en-US" sz="2400" dirty="0"/>
              <a:t>Phase diagrams can indicate the intermetallic phases present, the solid-solubility ranges in different phase regions, and the temperatures and compositions at which liquid phases develop</a:t>
            </a:r>
          </a:p>
          <a:p>
            <a:endParaRPr lang="en-US" sz="2400" dirty="0"/>
          </a:p>
          <a:p>
            <a:endParaRPr lang="en-US" sz="2400" dirty="0"/>
          </a:p>
        </p:txBody>
      </p:sp>
      <p:sp>
        <p:nvSpPr>
          <p:cNvPr id="4" name="Content Placeholder 3">
            <a:extLst>
              <a:ext uri="{FF2B5EF4-FFF2-40B4-BE49-F238E27FC236}">
                <a16:creationId xmlns:a16="http://schemas.microsoft.com/office/drawing/2014/main" id="{E047CC33-401D-1244-AE18-22642DA3FB1E}"/>
              </a:ext>
            </a:extLst>
          </p:cNvPr>
          <p:cNvSpPr>
            <a:spLocks noGrp="1"/>
          </p:cNvSpPr>
          <p:nvPr>
            <p:ph sz="half" idx="2"/>
          </p:nvPr>
        </p:nvSpPr>
        <p:spPr/>
        <p:txBody>
          <a:bodyPr/>
          <a:lstStyle/>
          <a:p>
            <a:r>
              <a:rPr lang="en-US" sz="2400" dirty="0"/>
              <a:t>The intermetallic phases that are present in phase diagrams can form in the interaction zones during the interdiffusion process; wide ranges of solubility in terminal alloys can be an indication that interdiffusion rates may be high; and knowing the compositions of the low-melting phases is beneficial provides knowledge of potentially limiting conditions</a:t>
            </a:r>
          </a:p>
          <a:p>
            <a:endParaRPr lang="en-US" sz="2400" dirty="0"/>
          </a:p>
        </p:txBody>
      </p:sp>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36</a:t>
            </a:fld>
            <a:endParaRPr lang="en-US"/>
          </a:p>
        </p:txBody>
      </p:sp>
    </p:spTree>
    <p:extLst>
      <p:ext uri="{BB962C8B-B14F-4D97-AF65-F5344CB8AC3E}">
        <p14:creationId xmlns:p14="http://schemas.microsoft.com/office/powerpoint/2010/main" val="31904012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a:xfrm>
            <a:off x="609599" y="1968503"/>
            <a:ext cx="6547945" cy="4157663"/>
          </a:xfrm>
        </p:spPr>
        <p:txBody>
          <a:bodyPr/>
          <a:lstStyle/>
          <a:p>
            <a:r>
              <a:rPr lang="en-US" sz="2400" dirty="0"/>
              <a:t>The U-Fe and Pu-Fe phase diagrams</a:t>
            </a:r>
          </a:p>
          <a:p>
            <a:r>
              <a:rPr lang="en-US" sz="2400" dirty="0"/>
              <a:t>Intermetallic UFe2 and U6Fe phases are present in the U–Fe phase diagram and PuFe2 and Pu6Fe phase are present in the Pu–Fe system</a:t>
            </a:r>
          </a:p>
          <a:p>
            <a:r>
              <a:rPr lang="en-US" sz="2400" dirty="0"/>
              <a:t>These are likely phases to form</a:t>
            </a:r>
          </a:p>
          <a:p>
            <a:r>
              <a:rPr lang="en-US" sz="2400" dirty="0"/>
              <a:t>These systems also undergo eutectic melting at temperatures as low as ~700K</a:t>
            </a:r>
          </a:p>
          <a:p>
            <a:endParaRPr lang="en-US" sz="2400" dirty="0"/>
          </a:p>
          <a:p>
            <a:endParaRPr lang="en-US" sz="2400" dirty="0"/>
          </a:p>
        </p:txBody>
      </p:sp>
      <p:pic>
        <p:nvPicPr>
          <p:cNvPr id="6" name="Content Placeholder 5">
            <a:extLst>
              <a:ext uri="{FF2B5EF4-FFF2-40B4-BE49-F238E27FC236}">
                <a16:creationId xmlns:a16="http://schemas.microsoft.com/office/drawing/2014/main" id="{948F6598-FB25-AA42-AE93-B58B450433F9}"/>
              </a:ext>
            </a:extLst>
          </p:cNvPr>
          <p:cNvPicPr>
            <a:picLocks noGrp="1" noChangeAspect="1"/>
          </p:cNvPicPr>
          <p:nvPr>
            <p:ph sz="half" idx="2"/>
          </p:nvPr>
        </p:nvPicPr>
        <p:blipFill>
          <a:blip r:embed="rId2"/>
          <a:stretch>
            <a:fillRect/>
          </a:stretch>
        </p:blipFill>
        <p:spPr>
          <a:xfrm>
            <a:off x="7505697" y="1639925"/>
            <a:ext cx="3060484" cy="2690337"/>
          </a:xfrm>
          <a:prstGeom prst="rect">
            <a:avLst/>
          </a:prstGeom>
        </p:spPr>
      </p:pic>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37</a:t>
            </a:fld>
            <a:endParaRPr lang="en-US"/>
          </a:p>
        </p:txBody>
      </p:sp>
      <p:pic>
        <p:nvPicPr>
          <p:cNvPr id="7" name="Picture 6">
            <a:extLst>
              <a:ext uri="{FF2B5EF4-FFF2-40B4-BE49-F238E27FC236}">
                <a16:creationId xmlns:a16="http://schemas.microsoft.com/office/drawing/2014/main" id="{0A4465F8-02DF-6E4F-AF20-AF38DEA45583}"/>
              </a:ext>
            </a:extLst>
          </p:cNvPr>
          <p:cNvPicPr>
            <a:picLocks noChangeAspect="1"/>
          </p:cNvPicPr>
          <p:nvPr/>
        </p:nvPicPr>
        <p:blipFill>
          <a:blip r:embed="rId3"/>
          <a:stretch>
            <a:fillRect/>
          </a:stretch>
        </p:blipFill>
        <p:spPr>
          <a:xfrm>
            <a:off x="7617153" y="4330262"/>
            <a:ext cx="2949028" cy="2527738"/>
          </a:xfrm>
          <a:prstGeom prst="rect">
            <a:avLst/>
          </a:prstGeom>
        </p:spPr>
      </p:pic>
    </p:spTree>
    <p:extLst>
      <p:ext uri="{BB962C8B-B14F-4D97-AF65-F5344CB8AC3E}">
        <p14:creationId xmlns:p14="http://schemas.microsoft.com/office/powerpoint/2010/main" val="320578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a:xfrm>
            <a:off x="609599" y="1968503"/>
            <a:ext cx="6547945" cy="4157663"/>
          </a:xfrm>
        </p:spPr>
        <p:txBody>
          <a:bodyPr/>
          <a:lstStyle/>
          <a:p>
            <a:r>
              <a:rPr lang="en-US" sz="2400" dirty="0"/>
              <a:t>Addition of Zr towards U-Fe-Ze and U-Pu-Fe-Zr phase diagrams</a:t>
            </a:r>
          </a:p>
          <a:p>
            <a:r>
              <a:rPr lang="en-US" sz="2400" dirty="0"/>
              <a:t>Fe3Zr, Fe2Zr, FeZr2, and FeZr3 are intermetallic phases capable of forming in the FCCI zone</a:t>
            </a:r>
          </a:p>
          <a:p>
            <a:r>
              <a:rPr lang="en-US" sz="2400" dirty="0"/>
              <a:t>Continuous solid solutions have been reported between Pu6Fe and U6Fe and between PuFe2 and UFe2 2: (</a:t>
            </a:r>
            <a:r>
              <a:rPr lang="en-US" sz="2400" dirty="0" err="1"/>
              <a:t>U,Pu</a:t>
            </a:r>
            <a:r>
              <a:rPr lang="en-US" sz="2400" dirty="0"/>
              <a:t>)6Fe and (U, Pu)Fe2</a:t>
            </a:r>
          </a:p>
          <a:p>
            <a:endParaRPr lang="en-US" sz="2400" dirty="0"/>
          </a:p>
          <a:p>
            <a:endParaRPr lang="en-US" sz="2400" dirty="0"/>
          </a:p>
        </p:txBody>
      </p:sp>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38</a:t>
            </a:fld>
            <a:endParaRPr lang="en-US"/>
          </a:p>
        </p:txBody>
      </p:sp>
      <p:pic>
        <p:nvPicPr>
          <p:cNvPr id="9" name="Content Placeholder 8">
            <a:extLst>
              <a:ext uri="{FF2B5EF4-FFF2-40B4-BE49-F238E27FC236}">
                <a16:creationId xmlns:a16="http://schemas.microsoft.com/office/drawing/2014/main" id="{6205E83B-0B1F-1040-AD57-24B7D9D8C269}"/>
              </a:ext>
            </a:extLst>
          </p:cNvPr>
          <p:cNvPicPr>
            <a:picLocks noGrp="1" noChangeAspect="1"/>
          </p:cNvPicPr>
          <p:nvPr>
            <p:ph sz="half" idx="2"/>
          </p:nvPr>
        </p:nvPicPr>
        <p:blipFill>
          <a:blip r:embed="rId2"/>
          <a:stretch>
            <a:fillRect/>
          </a:stretch>
        </p:blipFill>
        <p:spPr>
          <a:xfrm>
            <a:off x="7567448" y="2122487"/>
            <a:ext cx="4035096" cy="3481711"/>
          </a:xfrm>
          <a:prstGeom prst="rect">
            <a:avLst/>
          </a:prstGeom>
        </p:spPr>
      </p:pic>
    </p:spTree>
    <p:extLst>
      <p:ext uri="{BB962C8B-B14F-4D97-AF65-F5344CB8AC3E}">
        <p14:creationId xmlns:p14="http://schemas.microsoft.com/office/powerpoint/2010/main" val="1433419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AE3A-B6F4-F348-B4D0-018C3B66CDE4}"/>
              </a:ext>
            </a:extLst>
          </p:cNvPr>
          <p:cNvSpPr>
            <a:spLocks noGrp="1"/>
          </p:cNvSpPr>
          <p:nvPr>
            <p:ph type="title"/>
          </p:nvPr>
        </p:nvSpPr>
        <p:spPr/>
        <p:txBody>
          <a:bodyPr/>
          <a:lstStyle/>
          <a:p>
            <a:r>
              <a:rPr lang="en-US" dirty="0"/>
              <a:t>Diffusion Couples</a:t>
            </a:r>
          </a:p>
        </p:txBody>
      </p:sp>
      <p:sp>
        <p:nvSpPr>
          <p:cNvPr id="3" name="Content Placeholder 2">
            <a:extLst>
              <a:ext uri="{FF2B5EF4-FFF2-40B4-BE49-F238E27FC236}">
                <a16:creationId xmlns:a16="http://schemas.microsoft.com/office/drawing/2014/main" id="{12759E40-9946-2540-BA2D-B51A91EE5180}"/>
              </a:ext>
            </a:extLst>
          </p:cNvPr>
          <p:cNvSpPr>
            <a:spLocks noGrp="1"/>
          </p:cNvSpPr>
          <p:nvPr>
            <p:ph sz="half" idx="1"/>
          </p:nvPr>
        </p:nvSpPr>
        <p:spPr>
          <a:xfrm>
            <a:off x="609600" y="1968500"/>
            <a:ext cx="6404303" cy="4157663"/>
          </a:xfrm>
        </p:spPr>
        <p:txBody>
          <a:bodyPr/>
          <a:lstStyle/>
          <a:p>
            <a:r>
              <a:rPr lang="en-US" sz="2400" dirty="0"/>
              <a:t>Out-of-pile diffusion couple experiments are typically conducted to determine the interdiffusion behavior of the various constituents at a temperature of interest</a:t>
            </a:r>
          </a:p>
          <a:p>
            <a:r>
              <a:rPr lang="en-US" sz="2400" dirty="0"/>
              <a:t>Test have been performed with U–Fs, U–Pu–Fs, U–Zr, and U–Pu–Zr and different cladding alloys</a:t>
            </a:r>
          </a:p>
          <a:p>
            <a:r>
              <a:rPr lang="en-US" sz="2400" dirty="0"/>
              <a:t>Diffusion couple experiments have indicated that a eutectic phase can form in FCCI zones at temperatures near 700C, and this phase is similar to U–Fe6</a:t>
            </a:r>
          </a:p>
          <a:p>
            <a:endParaRPr lang="en-US" sz="2400" dirty="0"/>
          </a:p>
        </p:txBody>
      </p:sp>
      <p:pic>
        <p:nvPicPr>
          <p:cNvPr id="6" name="Content Placeholder 5">
            <a:extLst>
              <a:ext uri="{FF2B5EF4-FFF2-40B4-BE49-F238E27FC236}">
                <a16:creationId xmlns:a16="http://schemas.microsoft.com/office/drawing/2014/main" id="{91112D4E-4FAA-F84A-855D-FF89E3609347}"/>
              </a:ext>
            </a:extLst>
          </p:cNvPr>
          <p:cNvPicPr>
            <a:picLocks noGrp="1" noChangeAspect="1"/>
          </p:cNvPicPr>
          <p:nvPr>
            <p:ph sz="half" idx="2"/>
          </p:nvPr>
        </p:nvPicPr>
        <p:blipFill>
          <a:blip r:embed="rId2"/>
          <a:stretch>
            <a:fillRect/>
          </a:stretch>
        </p:blipFill>
        <p:spPr>
          <a:xfrm>
            <a:off x="7013903" y="3574997"/>
            <a:ext cx="4284718" cy="2963917"/>
          </a:xfrm>
          <a:prstGeom prst="rect">
            <a:avLst/>
          </a:prstGeom>
        </p:spPr>
      </p:pic>
      <p:sp>
        <p:nvSpPr>
          <p:cNvPr id="5" name="Slide Number Placeholder 4">
            <a:extLst>
              <a:ext uri="{FF2B5EF4-FFF2-40B4-BE49-F238E27FC236}">
                <a16:creationId xmlns:a16="http://schemas.microsoft.com/office/drawing/2014/main" id="{EA727DBF-C7E4-C94E-9F50-4652FBA3B767}"/>
              </a:ext>
            </a:extLst>
          </p:cNvPr>
          <p:cNvSpPr>
            <a:spLocks noGrp="1"/>
          </p:cNvSpPr>
          <p:nvPr>
            <p:ph type="sldNum" sz="quarter" idx="12"/>
          </p:nvPr>
        </p:nvSpPr>
        <p:spPr/>
        <p:txBody>
          <a:bodyPr/>
          <a:lstStyle/>
          <a:p>
            <a:pPr>
              <a:defRPr/>
            </a:pPr>
            <a:fld id="{EC35E9FC-F6D5-0349-BBED-EA7D7A9BC49B}" type="slidenum">
              <a:rPr lang="en-US" smtClean="0"/>
              <a:pPr>
                <a:defRPr/>
              </a:pPr>
              <a:t>39</a:t>
            </a:fld>
            <a:endParaRPr lang="en-US"/>
          </a:p>
        </p:txBody>
      </p:sp>
      <p:pic>
        <p:nvPicPr>
          <p:cNvPr id="7" name="Picture 6">
            <a:extLst>
              <a:ext uri="{FF2B5EF4-FFF2-40B4-BE49-F238E27FC236}">
                <a16:creationId xmlns:a16="http://schemas.microsoft.com/office/drawing/2014/main" id="{4EE7C9B8-C93C-6847-8124-5ACCFF844C89}"/>
              </a:ext>
            </a:extLst>
          </p:cNvPr>
          <p:cNvPicPr>
            <a:picLocks noChangeAspect="1"/>
          </p:cNvPicPr>
          <p:nvPr/>
        </p:nvPicPr>
        <p:blipFill>
          <a:blip r:embed="rId3"/>
          <a:stretch>
            <a:fillRect/>
          </a:stretch>
        </p:blipFill>
        <p:spPr>
          <a:xfrm>
            <a:off x="9096220" y="611080"/>
            <a:ext cx="2486180" cy="2963917"/>
          </a:xfrm>
          <a:prstGeom prst="rect">
            <a:avLst/>
          </a:prstGeom>
        </p:spPr>
      </p:pic>
    </p:spTree>
    <p:extLst>
      <p:ext uri="{BB962C8B-B14F-4D97-AF65-F5344CB8AC3E}">
        <p14:creationId xmlns:p14="http://schemas.microsoft.com/office/powerpoint/2010/main" val="1986513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AE3A-B6F4-F348-B4D0-018C3B66CDE4}"/>
              </a:ext>
            </a:extLst>
          </p:cNvPr>
          <p:cNvSpPr>
            <a:spLocks noGrp="1"/>
          </p:cNvSpPr>
          <p:nvPr>
            <p:ph type="title"/>
          </p:nvPr>
        </p:nvSpPr>
        <p:spPr/>
        <p:txBody>
          <a:bodyPr/>
          <a:lstStyle/>
          <a:p>
            <a:r>
              <a:rPr lang="en-US" dirty="0"/>
              <a:t>Protective Rind</a:t>
            </a:r>
          </a:p>
        </p:txBody>
      </p:sp>
      <p:sp>
        <p:nvSpPr>
          <p:cNvPr id="3" name="Content Placeholder 2">
            <a:extLst>
              <a:ext uri="{FF2B5EF4-FFF2-40B4-BE49-F238E27FC236}">
                <a16:creationId xmlns:a16="http://schemas.microsoft.com/office/drawing/2014/main" id="{12759E40-9946-2540-BA2D-B51A91EE5180}"/>
              </a:ext>
            </a:extLst>
          </p:cNvPr>
          <p:cNvSpPr>
            <a:spLocks noGrp="1"/>
          </p:cNvSpPr>
          <p:nvPr>
            <p:ph sz="half" idx="1"/>
          </p:nvPr>
        </p:nvSpPr>
        <p:spPr>
          <a:xfrm>
            <a:off x="609601" y="1968500"/>
            <a:ext cx="5588000" cy="4157663"/>
          </a:xfrm>
        </p:spPr>
        <p:txBody>
          <a:bodyPr/>
          <a:lstStyle/>
          <a:p>
            <a:r>
              <a:rPr lang="en-US" sz="2400" dirty="0"/>
              <a:t>Impurities in the fuel or cladding alloys have been suggested to play a role in determining the FCCI behavior</a:t>
            </a:r>
          </a:p>
          <a:p>
            <a:r>
              <a:rPr lang="en-US" sz="2400" dirty="0"/>
              <a:t>If enough impurities are present (e.g., C, O, or N), then Zr-rich layers that are stabilized by impurities can develop at the interface and impede the interdiffusion process</a:t>
            </a:r>
          </a:p>
          <a:p>
            <a:r>
              <a:rPr lang="en-US" sz="2400" dirty="0"/>
              <a:t>The extent of the formation would depend on the oxygen activity in the cladding </a:t>
            </a:r>
          </a:p>
          <a:p>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EA727DBF-C7E4-C94E-9F50-4652FBA3B767}"/>
              </a:ext>
            </a:extLst>
          </p:cNvPr>
          <p:cNvSpPr>
            <a:spLocks noGrp="1"/>
          </p:cNvSpPr>
          <p:nvPr>
            <p:ph type="sldNum" sz="quarter" idx="12"/>
          </p:nvPr>
        </p:nvSpPr>
        <p:spPr/>
        <p:txBody>
          <a:bodyPr/>
          <a:lstStyle/>
          <a:p>
            <a:pPr>
              <a:defRPr/>
            </a:pPr>
            <a:fld id="{EC35E9FC-F6D5-0349-BBED-EA7D7A9BC49B}" type="slidenum">
              <a:rPr lang="en-US" smtClean="0"/>
              <a:pPr>
                <a:defRPr/>
              </a:pPr>
              <a:t>40</a:t>
            </a:fld>
            <a:endParaRPr lang="en-US"/>
          </a:p>
        </p:txBody>
      </p:sp>
      <p:sp>
        <p:nvSpPr>
          <p:cNvPr id="8" name="Content Placeholder 7">
            <a:extLst>
              <a:ext uri="{FF2B5EF4-FFF2-40B4-BE49-F238E27FC236}">
                <a16:creationId xmlns:a16="http://schemas.microsoft.com/office/drawing/2014/main" id="{173B4ECF-85F5-8F42-888D-4ACA37F59C95}"/>
              </a:ext>
            </a:extLst>
          </p:cNvPr>
          <p:cNvSpPr>
            <a:spLocks noGrp="1"/>
          </p:cNvSpPr>
          <p:nvPr>
            <p:ph sz="half" idx="2"/>
          </p:nvPr>
        </p:nvSpPr>
        <p:spPr/>
        <p:txBody>
          <a:bodyPr/>
          <a:lstStyle/>
          <a:p>
            <a:r>
              <a:rPr lang="en-US" sz="2400" dirty="0"/>
              <a:t>Work has been performed on U–Zr alloys to investigate the development of nitride layers with a N2 cover gas</a:t>
            </a:r>
          </a:p>
          <a:p>
            <a:r>
              <a:rPr lang="en-US" sz="2400" dirty="0"/>
              <a:t>This has been related to the rind and rind interactions with FCCI</a:t>
            </a:r>
          </a:p>
          <a:p>
            <a:r>
              <a:rPr lang="en-US" sz="2400" dirty="0"/>
              <a:t>The rind can form during a casting process due to the atmosphere and crucible/mold</a:t>
            </a:r>
          </a:p>
          <a:p>
            <a:r>
              <a:rPr lang="en-US" sz="2400" dirty="0"/>
              <a:t>It form on the exterior of the fuel slug, almost like a coating</a:t>
            </a:r>
          </a:p>
          <a:p>
            <a:endParaRPr lang="en-US" sz="2400" dirty="0"/>
          </a:p>
          <a:p>
            <a:endParaRPr lang="en-US" sz="2400" dirty="0"/>
          </a:p>
        </p:txBody>
      </p:sp>
    </p:spTree>
    <p:extLst>
      <p:ext uri="{BB962C8B-B14F-4D97-AF65-F5344CB8AC3E}">
        <p14:creationId xmlns:p14="http://schemas.microsoft.com/office/powerpoint/2010/main" val="2932318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p:txBody>
          <a:bodyPr/>
          <a:lstStyle/>
          <a:p>
            <a:r>
              <a:rPr lang="en-US" sz="2400" dirty="0"/>
              <a:t>The interaction zone formation in irradiated metallic fuel elements is localized</a:t>
            </a:r>
          </a:p>
          <a:p>
            <a:r>
              <a:rPr lang="en-US" sz="2400" dirty="0"/>
              <a:t>Typically, the largest interaction zones in fuel elements are created when a wedge-shaped crack forms in the fuel adjacent to the inner surface of the cladding and a large fission product deposit (primarily Nd, Ce, and La) develops</a:t>
            </a:r>
          </a:p>
          <a:p>
            <a:endParaRPr lang="en-US" sz="2400" dirty="0"/>
          </a:p>
          <a:p>
            <a:endParaRPr lang="en-US" sz="2400" dirty="0"/>
          </a:p>
        </p:txBody>
      </p:sp>
      <p:pic>
        <p:nvPicPr>
          <p:cNvPr id="6" name="Content Placeholder 5">
            <a:extLst>
              <a:ext uri="{FF2B5EF4-FFF2-40B4-BE49-F238E27FC236}">
                <a16:creationId xmlns:a16="http://schemas.microsoft.com/office/drawing/2014/main" id="{361FEB28-1222-AD46-8A64-6177E9FA582B}"/>
              </a:ext>
            </a:extLst>
          </p:cNvPr>
          <p:cNvPicPr>
            <a:picLocks noGrp="1" noChangeAspect="1"/>
          </p:cNvPicPr>
          <p:nvPr>
            <p:ph sz="half" idx="2"/>
          </p:nvPr>
        </p:nvPicPr>
        <p:blipFill>
          <a:blip r:embed="rId2"/>
          <a:stretch>
            <a:fillRect/>
          </a:stretch>
        </p:blipFill>
        <p:spPr>
          <a:xfrm>
            <a:off x="6313216" y="1912833"/>
            <a:ext cx="5149629" cy="4213333"/>
          </a:xfrm>
          <a:prstGeom prst="rect">
            <a:avLst/>
          </a:prstGeom>
        </p:spPr>
      </p:pic>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41</a:t>
            </a:fld>
            <a:endParaRPr lang="en-US"/>
          </a:p>
        </p:txBody>
      </p:sp>
    </p:spTree>
    <p:extLst>
      <p:ext uri="{BB962C8B-B14F-4D97-AF65-F5344CB8AC3E}">
        <p14:creationId xmlns:p14="http://schemas.microsoft.com/office/powerpoint/2010/main" val="3539469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6169573" cy="4157663"/>
          </a:xfrm>
        </p:spPr>
        <p:txBody>
          <a:bodyPr/>
          <a:lstStyle/>
          <a:p>
            <a:r>
              <a:rPr lang="en-US" sz="2200" dirty="0"/>
              <a:t>In many of the analyzed fuel elements, fuel–cladding interaction can be linked to the integrity of the Zr-rind</a:t>
            </a:r>
          </a:p>
          <a:p>
            <a:r>
              <a:rPr lang="en-US" sz="2200" dirty="0"/>
              <a:t>In the image, arrows indicate areas where rind is no longer intact</a:t>
            </a:r>
          </a:p>
          <a:p>
            <a:r>
              <a:rPr lang="en-US" sz="2200" dirty="0"/>
              <a:t>Both temperature and power variations along the length of a fuel element appear to impact the amount of fuel–cladding interaction that will occur</a:t>
            </a:r>
          </a:p>
          <a:p>
            <a:r>
              <a:rPr lang="en-US" sz="2200" dirty="0"/>
              <a:t>The maximum fuel–cladding interaction is observed in the combined high-temperature and high-power region of a fuel element</a:t>
            </a:r>
          </a:p>
          <a:p>
            <a:endParaRPr lang="en-US" sz="2200" dirty="0"/>
          </a:p>
          <a:p>
            <a:endParaRPr lang="en-US" sz="2200" dirty="0"/>
          </a:p>
        </p:txBody>
      </p:sp>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42</a:t>
            </a:fld>
            <a:endParaRPr lang="en-US"/>
          </a:p>
        </p:txBody>
      </p:sp>
      <p:pic>
        <p:nvPicPr>
          <p:cNvPr id="8" name="Content Placeholder 7">
            <a:extLst>
              <a:ext uri="{FF2B5EF4-FFF2-40B4-BE49-F238E27FC236}">
                <a16:creationId xmlns:a16="http://schemas.microsoft.com/office/drawing/2014/main" id="{9FDCF733-E69A-3943-8B75-4DBA4A061222}"/>
              </a:ext>
            </a:extLst>
          </p:cNvPr>
          <p:cNvPicPr>
            <a:picLocks noGrp="1" noChangeAspect="1"/>
          </p:cNvPicPr>
          <p:nvPr>
            <p:ph sz="half" idx="2"/>
          </p:nvPr>
        </p:nvPicPr>
        <p:blipFill>
          <a:blip r:embed="rId2"/>
          <a:stretch>
            <a:fillRect/>
          </a:stretch>
        </p:blipFill>
        <p:spPr>
          <a:xfrm>
            <a:off x="6852745" y="1642214"/>
            <a:ext cx="4639441" cy="4639441"/>
          </a:xfrm>
          <a:prstGeom prst="rect">
            <a:avLst/>
          </a:prstGeom>
        </p:spPr>
      </p:pic>
    </p:spTree>
    <p:extLst>
      <p:ext uri="{BB962C8B-B14F-4D97-AF65-F5344CB8AC3E}">
        <p14:creationId xmlns:p14="http://schemas.microsoft.com/office/powerpoint/2010/main" val="22085927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5588001" cy="4157663"/>
          </a:xfrm>
        </p:spPr>
        <p:txBody>
          <a:bodyPr/>
          <a:lstStyle/>
          <a:p>
            <a:r>
              <a:rPr lang="en-US" sz="2400" dirty="0"/>
              <a:t>The burnup of a fuel pin is another parameter that impacts the size of the fuel–cladding interaction zone</a:t>
            </a:r>
          </a:p>
          <a:p>
            <a:r>
              <a:rPr lang="en-US" sz="2400" dirty="0"/>
              <a:t>Larger interaction zones are observed for higher burnup fuel elements</a:t>
            </a:r>
          </a:p>
          <a:p>
            <a:r>
              <a:rPr lang="en-US" sz="2400" dirty="0"/>
              <a:t>The larger inventories of fission products allow more lanthanides to diffuse down the temperature gradient, thereby increasing the inventory of fission products at the interface</a:t>
            </a:r>
          </a:p>
        </p:txBody>
      </p:sp>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43</a:t>
            </a:fld>
            <a:endParaRPr lang="en-US"/>
          </a:p>
        </p:txBody>
      </p:sp>
      <p:sp>
        <p:nvSpPr>
          <p:cNvPr id="6" name="Content Placeholder 5">
            <a:extLst>
              <a:ext uri="{FF2B5EF4-FFF2-40B4-BE49-F238E27FC236}">
                <a16:creationId xmlns:a16="http://schemas.microsoft.com/office/drawing/2014/main" id="{753EDF85-8C2A-BC41-A021-1E9097D92F7B}"/>
              </a:ext>
            </a:extLst>
          </p:cNvPr>
          <p:cNvSpPr>
            <a:spLocks noGrp="1"/>
          </p:cNvSpPr>
          <p:nvPr>
            <p:ph sz="half" idx="2"/>
          </p:nvPr>
        </p:nvSpPr>
        <p:spPr/>
        <p:txBody>
          <a:bodyPr/>
          <a:lstStyle/>
          <a:p>
            <a:r>
              <a:rPr lang="en-US" sz="2400" dirty="0"/>
              <a:t>For high burnup fuels, temperature effects also exacerbate FCCI due to thermal cond. degradation producing higher temperatures, and more rapid FP diffusion</a:t>
            </a:r>
          </a:p>
          <a:p>
            <a:r>
              <a:rPr lang="en-US" sz="2400" dirty="0"/>
              <a:t>Fuel elements at the hotter core positions can exhibit increased interdiffusion at the fuel–cladding interface over those at colder positions</a:t>
            </a:r>
          </a:p>
          <a:p>
            <a:endParaRPr lang="en-US" sz="2400" dirty="0"/>
          </a:p>
        </p:txBody>
      </p:sp>
    </p:spTree>
    <p:extLst>
      <p:ext uri="{BB962C8B-B14F-4D97-AF65-F5344CB8AC3E}">
        <p14:creationId xmlns:p14="http://schemas.microsoft.com/office/powerpoint/2010/main" val="34928000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D733-9A9D-0147-B472-6D2A3431311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357AA63C-5C44-4545-A937-4E8E5D379A5A}"/>
              </a:ext>
            </a:extLst>
          </p:cNvPr>
          <p:cNvSpPr>
            <a:spLocks noGrp="1"/>
          </p:cNvSpPr>
          <p:nvPr>
            <p:ph sz="half" idx="1"/>
          </p:nvPr>
        </p:nvSpPr>
        <p:spPr>
          <a:xfrm>
            <a:off x="609599" y="1968503"/>
            <a:ext cx="10972799" cy="4157663"/>
          </a:xfrm>
        </p:spPr>
        <p:txBody>
          <a:bodyPr/>
          <a:lstStyle/>
          <a:p>
            <a:r>
              <a:rPr lang="en-US" sz="2400" dirty="0"/>
              <a:t>Radial redistribution of chemical species driven by thermodynamics and </a:t>
            </a:r>
            <a:r>
              <a:rPr lang="en-US" sz="2400" dirty="0" err="1"/>
              <a:t>Soret</a:t>
            </a:r>
            <a:r>
              <a:rPr lang="en-US" sz="2400" dirty="0"/>
              <a:t> diffusion</a:t>
            </a:r>
          </a:p>
          <a:p>
            <a:r>
              <a:rPr lang="en-US" sz="2400" dirty="0"/>
              <a:t>Include large plenum to accommodate fission gas release</a:t>
            </a:r>
          </a:p>
          <a:p>
            <a:r>
              <a:rPr lang="en-US" sz="2400" dirty="0"/>
              <a:t>Thermal conductivity degradation</a:t>
            </a:r>
          </a:p>
          <a:p>
            <a:pPr lvl="1"/>
            <a:r>
              <a:rPr lang="en-US" sz="2400" dirty="0"/>
              <a:t>fission gas swelling/porosity, sodium infiltration</a:t>
            </a:r>
          </a:p>
          <a:p>
            <a:r>
              <a:rPr lang="en-US" sz="2400" dirty="0"/>
              <a:t>Fuel-cladding mechanical interaction</a:t>
            </a:r>
          </a:p>
          <a:p>
            <a:pPr lvl="1"/>
            <a:r>
              <a:rPr lang="en-US" sz="2400" dirty="0"/>
              <a:t>fuel swelling, creep, internal pressure, etc.</a:t>
            </a:r>
          </a:p>
          <a:p>
            <a:r>
              <a:rPr lang="en-US" sz="2400" dirty="0"/>
              <a:t>Fuel-cladding chemical interaction</a:t>
            </a:r>
          </a:p>
          <a:p>
            <a:pPr lvl="1"/>
            <a:r>
              <a:rPr lang="en-US" sz="2400" dirty="0"/>
              <a:t>phase diagrams and kinetics, low melting points, </a:t>
            </a:r>
            <a:r>
              <a:rPr lang="en-US" sz="2400" dirty="0" err="1"/>
              <a:t>intermetallics</a:t>
            </a:r>
            <a:r>
              <a:rPr lang="en-US" sz="2400" dirty="0"/>
              <a:t>, etc.</a:t>
            </a:r>
          </a:p>
          <a:p>
            <a:endParaRPr lang="en-US" sz="2400" dirty="0"/>
          </a:p>
        </p:txBody>
      </p:sp>
      <p:sp>
        <p:nvSpPr>
          <p:cNvPr id="5" name="Slide Number Placeholder 4">
            <a:extLst>
              <a:ext uri="{FF2B5EF4-FFF2-40B4-BE49-F238E27FC236}">
                <a16:creationId xmlns:a16="http://schemas.microsoft.com/office/drawing/2014/main" id="{ED13D8C5-2625-944D-A346-88684E6316EC}"/>
              </a:ext>
            </a:extLst>
          </p:cNvPr>
          <p:cNvSpPr>
            <a:spLocks noGrp="1"/>
          </p:cNvSpPr>
          <p:nvPr>
            <p:ph type="sldNum" sz="quarter" idx="12"/>
          </p:nvPr>
        </p:nvSpPr>
        <p:spPr/>
        <p:txBody>
          <a:bodyPr/>
          <a:lstStyle/>
          <a:p>
            <a:pPr>
              <a:defRPr/>
            </a:pPr>
            <a:fld id="{EC35E9FC-F6D5-0349-BBED-EA7D7A9BC49B}" type="slidenum">
              <a:rPr lang="en-US" smtClean="0"/>
              <a:pPr>
                <a:defRPr/>
              </a:pPr>
              <a:t>44</a:t>
            </a:fld>
            <a:endParaRPr lang="en-US"/>
          </a:p>
        </p:txBody>
      </p:sp>
    </p:spTree>
    <p:extLst>
      <p:ext uri="{BB962C8B-B14F-4D97-AF65-F5344CB8AC3E}">
        <p14:creationId xmlns:p14="http://schemas.microsoft.com/office/powerpoint/2010/main" val="35933808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AB3C08B6-1600-4947-B6F4-BC6C06F3B322}"/>
              </a:ext>
            </a:extLst>
          </p:cNvPr>
          <p:cNvSpPr>
            <a:spLocks noGrp="1"/>
          </p:cNvSpPr>
          <p:nvPr>
            <p:ph type="sldNum" sz="quarter" idx="12"/>
          </p:nvPr>
        </p:nvSpPr>
        <p:spPr/>
        <p:txBody>
          <a:bodyPr/>
          <a:lstStyle/>
          <a:p>
            <a:pPr>
              <a:defRPr/>
            </a:pPr>
            <a:fld id="{0DA6BD0F-ABBC-C14D-BC96-77BE126A748B}" type="slidenum">
              <a:rPr lang="en-US" smtClean="0"/>
              <a:pPr>
                <a:defRPr/>
              </a:pPr>
              <a:t>45</a:t>
            </a:fld>
            <a:endParaRPr lang="en-US"/>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33526</TotalTime>
  <Words>3354</Words>
  <Application>Microsoft Macintosh PowerPoint</Application>
  <PresentationFormat>Widescreen</PresentationFormat>
  <Paragraphs>271</Paragraphs>
  <Slides>45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45</vt:i4>
      </vt:variant>
    </vt:vector>
  </HeadingPairs>
  <TitlesOfParts>
    <vt:vector size="51" baseType="lpstr">
      <vt:lpstr>Arial</vt:lpstr>
      <vt:lpstr>Calibri</vt:lpstr>
      <vt:lpstr>Calibri Light</vt:lpstr>
      <vt:lpstr>Symbol</vt:lpstr>
      <vt:lpstr>Custom Design</vt:lpstr>
      <vt:lpstr>1_NCStateU-horizontal-left-logo</vt:lpstr>
      <vt:lpstr>NE 763: Advanced Reactor Materials</vt:lpstr>
      <vt:lpstr>Last Time</vt:lpstr>
      <vt:lpstr>Swelling in Gamma U</vt:lpstr>
      <vt:lpstr>Alloying to modify properties</vt:lpstr>
      <vt:lpstr>Accommodation of Swelling</vt:lpstr>
      <vt:lpstr>Metal Fuel</vt:lpstr>
      <vt:lpstr>Base Metal Fuel System</vt:lpstr>
      <vt:lpstr>Closing the Fuel Cycle</vt:lpstr>
      <vt:lpstr>The U-Zr System</vt:lpstr>
      <vt:lpstr>U-Pu-Zr</vt:lpstr>
      <vt:lpstr>U-Pu-Zr</vt:lpstr>
      <vt:lpstr>U-Pu-Zr Swelling</vt:lpstr>
      <vt:lpstr>U-Pu-Zr Swelling</vt:lpstr>
      <vt:lpstr>U-Pu-Zr Swelling</vt:lpstr>
      <vt:lpstr>U-Pu-Zr</vt:lpstr>
      <vt:lpstr>U-Pu-Zr Phases</vt:lpstr>
      <vt:lpstr>Redistribution</vt:lpstr>
      <vt:lpstr>Redistribution</vt:lpstr>
      <vt:lpstr>Soret Diffusion</vt:lpstr>
      <vt:lpstr>Soret Diffusion in UZr</vt:lpstr>
      <vt:lpstr>Soret Diffusion in UZr</vt:lpstr>
      <vt:lpstr>Variable Porosity</vt:lpstr>
      <vt:lpstr>Variable Porosity</vt:lpstr>
      <vt:lpstr>Changes in Thermal Conductivity</vt:lpstr>
      <vt:lpstr>Changes in Thermal Conductivity</vt:lpstr>
      <vt:lpstr>Changes in Thermal Conductivity</vt:lpstr>
      <vt:lpstr>Fuel-Cladding Interaction</vt:lpstr>
      <vt:lpstr>Fuel-Cladding Mechanical Interaction</vt:lpstr>
      <vt:lpstr>Fission-Induced Creep</vt:lpstr>
      <vt:lpstr>Fission Product Swelling</vt:lpstr>
      <vt:lpstr>Fission Product Swelling</vt:lpstr>
      <vt:lpstr>Fission Product Swelling</vt:lpstr>
      <vt:lpstr>Fission Product Swelling</vt:lpstr>
      <vt:lpstr>Fuel-Cladding Chemical Interaction</vt:lpstr>
      <vt:lpstr>Fuel-Cladding Chemical Interaction</vt:lpstr>
      <vt:lpstr>Phase Diagrams for FCCI</vt:lpstr>
      <vt:lpstr>Phase Diagrams for FCCI</vt:lpstr>
      <vt:lpstr>Phase Diagrams for FCCI</vt:lpstr>
      <vt:lpstr>Diffusion Couples</vt:lpstr>
      <vt:lpstr>Protective Rind</vt:lpstr>
      <vt:lpstr>FCCI</vt:lpstr>
      <vt:lpstr>FCCI</vt:lpstr>
      <vt:lpstr>FCCI</vt:lpstr>
      <vt:lpstr>Summary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93</cp:revision>
  <dcterms:created xsi:type="dcterms:W3CDTF">2019-12-09T16:44:02Z</dcterms:created>
  <dcterms:modified xsi:type="dcterms:W3CDTF">2025-09-04T20:37:28Z</dcterms:modified>
</cp:coreProperties>
</file>
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37"/>
  </p:notesMasterIdLst>
  <p:sldIdLst>
    <p:sldId id="256" r:id="rId2"/>
    <p:sldId id="507" r:id="rId3"/>
    <p:sldId id="492" r:id="rId4"/>
    <p:sldId id="493" r:id="rId5"/>
    <p:sldId id="442" r:id="rId6"/>
    <p:sldId id="443" r:id="rId7"/>
    <p:sldId id="446" r:id="rId8"/>
    <p:sldId id="537" r:id="rId9"/>
    <p:sldId id="463" r:id="rId10"/>
    <p:sldId id="496" r:id="rId11"/>
    <p:sldId id="523" r:id="rId12"/>
    <p:sldId id="522" r:id="rId13"/>
    <p:sldId id="532" r:id="rId14"/>
    <p:sldId id="533" r:id="rId15"/>
    <p:sldId id="525" r:id="rId16"/>
    <p:sldId id="527" r:id="rId17"/>
    <p:sldId id="526" r:id="rId18"/>
    <p:sldId id="448" r:id="rId19"/>
    <p:sldId id="498" r:id="rId20"/>
    <p:sldId id="499" r:id="rId21"/>
    <p:sldId id="506" r:id="rId22"/>
    <p:sldId id="524" r:id="rId23"/>
    <p:sldId id="500" r:id="rId24"/>
    <p:sldId id="530" r:id="rId25"/>
    <p:sldId id="502" r:id="rId26"/>
    <p:sldId id="503" r:id="rId27"/>
    <p:sldId id="504" r:id="rId28"/>
    <p:sldId id="505" r:id="rId29"/>
    <p:sldId id="528" r:id="rId30"/>
    <p:sldId id="531" r:id="rId31"/>
    <p:sldId id="529" r:id="rId32"/>
    <p:sldId id="536" r:id="rId33"/>
    <p:sldId id="538" r:id="rId34"/>
    <p:sldId id="501" r:id="rId35"/>
    <p:sldId id="53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502"/>
    <p:restoredTop sz="94694"/>
  </p:normalViewPr>
  <p:slideViewPr>
    <p:cSldViewPr snapToGrid="0" snapToObjects="1">
      <p:cViewPr varScale="1">
        <p:scale>
          <a:sx n="121" d="100"/>
          <a:sy n="121" d="100"/>
        </p:scale>
        <p:origin x="4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7EF8CCA7-042D-4344-9F38-A30A24316FF0}" type="datetime1">
              <a:rPr lang="en-US" smtClean="0"/>
              <a:t>8/28/25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280746"/>
            <a:ext cx="10972800" cy="3845418"/>
          </a:xfrm>
        </p:spPr>
        <p:txBody>
          <a:bodyPr/>
          <a:lstStyle>
            <a:lvl1pPr>
              <a:defRPr sz="2800"/>
            </a:lvl1pPr>
            <a:lvl2pPr>
              <a:defRPr sz="2800"/>
            </a:lvl2pPr>
            <a:lvl3pPr>
              <a:defRPr sz="1600"/>
            </a:lvl3pPr>
            <a:lvl4pPr>
              <a:defRPr sz="1800"/>
            </a:lvl4pPr>
            <a:lvl5pPr>
              <a:defRPr sz="12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F85CAF1B-B7C8-8347-AE4A-EC343217B68C}" type="datetime1">
              <a:rPr lang="en-US" smtClean="0"/>
              <a:t>8/28/25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44FF136D-307A-4941-889F-E9EB8268902E}" type="datetime1">
              <a:rPr lang="en-US" smtClean="0"/>
              <a:t>8/28/25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200"/>
            </a:lvl1pPr>
            <a:lvl2pPr>
              <a:defRPr sz="2400"/>
            </a:lvl2pPr>
            <a:lvl3pPr>
              <a:defRPr sz="2000"/>
            </a:lvl3pPr>
            <a:lvl4pPr>
              <a:defRPr sz="1800"/>
            </a:lvl4pPr>
            <a:lvl5pPr>
              <a:defRPr sz="18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B51F76C3-E96E-A54F-A122-6303A871D871}" type="datetime1">
              <a:rPr lang="en-US" smtClean="0"/>
              <a:t>8/28/25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a:lvl1pPr>
          </a:lstStyle>
          <a:p>
            <a:r>
              <a:rPr lang="en-US" dirty="0"/>
              <a:t>Click to edit Master title style</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800"/>
            </a:lvl4pPr>
            <a:lvl5pPr>
              <a:defRPr sz="18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34040392-1101-8A42-BEB5-9592F30E3A91}" type="datetime1">
              <a:rPr lang="en-US" smtClean="0"/>
              <a:t>8/28/25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65C72F20-AC2E-6D46-8A6B-0183BC6D49D1}" type="datetime1">
              <a:rPr lang="en-US" smtClean="0"/>
              <a:t>8/28/25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6FEA4AC-8DBD-3E4B-B61C-36A721F07D61}" type="datetime1">
              <a:rPr lang="en-US" smtClean="0"/>
              <a:t>8/28/25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71BFB7E-23D3-E748-98B9-B9A8C558BBAC}" type="datetime1">
              <a:rPr lang="en-US" smtClean="0"/>
              <a:t>8/28/25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C690E0F4-A999-A54E-B545-67F2F70C10FB}" type="datetime1">
              <a:rPr lang="en-US" smtClean="0"/>
              <a:t>8/28/25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1013E56-4916-404E-AAB2-B4BA03F90FC2}" type="datetime1">
              <a:rPr lang="en-US" smtClean="0"/>
              <a:t>8/28/25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81713883-51E5-FD4C-BFE2-284CCAA85938}" type="datetime1">
              <a:rPr lang="en-US" smtClean="0"/>
              <a:t>8/28/25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50A6D047-5534-0641-AA46-5C16F49FBEAF}" type="datetime1">
              <a:rPr lang="en-US" smtClean="0"/>
              <a:t>8/28/25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4.tiff"/><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8.tiff"/><Relationship Id="rId2" Type="http://schemas.openxmlformats.org/officeDocument/2006/relationships/image" Target="../media/image17.tiff"/><Relationship Id="rId1" Type="http://schemas.openxmlformats.org/officeDocument/2006/relationships/slideLayout" Target="../slideLayouts/slideLayout4.xml"/><Relationship Id="rId5" Type="http://schemas.openxmlformats.org/officeDocument/2006/relationships/image" Target="../media/image20.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18.tiff"/><Relationship Id="rId2" Type="http://schemas.openxmlformats.org/officeDocument/2006/relationships/image" Target="../media/image17.tiff"/><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21.tif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tiff"/><Relationship Id="rId1" Type="http://schemas.openxmlformats.org/officeDocument/2006/relationships/slideLayout" Target="../slideLayouts/slideLayout4.xml"/><Relationship Id="rId4" Type="http://schemas.openxmlformats.org/officeDocument/2006/relationships/image" Target="../media/image24.tiff"/></Relationships>
</file>

<file path=ppt/slides/_rels/slide22.xml.rels><?xml version="1.0" encoding="UTF-8" standalone="yes"?>
<Relationships xmlns="http://schemas.openxmlformats.org/package/2006/relationships"><Relationship Id="rId3" Type="http://schemas.openxmlformats.org/officeDocument/2006/relationships/image" Target="../media/image24.tiff"/><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6.tiff"/><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8.tif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29.tiff"/><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29.tiff"/><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33.tiff"/><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BF1E015E-2E6F-6B40-94AC-A2FDB6C7B9A0}"/>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3DC84-0091-574A-9F80-9BA14DB58A53}"/>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C5249696-DAB3-3B49-B4C8-AEDA11EFD906}"/>
              </a:ext>
            </a:extLst>
          </p:cNvPr>
          <p:cNvSpPr>
            <a:spLocks noGrp="1"/>
          </p:cNvSpPr>
          <p:nvPr>
            <p:ph idx="1"/>
          </p:nvPr>
        </p:nvSpPr>
        <p:spPr>
          <a:xfrm>
            <a:off x="609600" y="2280746"/>
            <a:ext cx="6306208" cy="3845418"/>
          </a:xfrm>
        </p:spPr>
        <p:txBody>
          <a:bodyPr/>
          <a:lstStyle/>
          <a:p>
            <a:r>
              <a:rPr lang="en-US" sz="2400" dirty="0"/>
              <a:t>Different defect regimes</a:t>
            </a:r>
          </a:p>
          <a:p>
            <a:r>
              <a:rPr lang="en-US" sz="2400" dirty="0"/>
              <a:t>Different swelling regimes</a:t>
            </a:r>
          </a:p>
          <a:p>
            <a:r>
              <a:rPr lang="en-US" sz="2400" dirty="0"/>
              <a:t>Thermal conductivity degradation</a:t>
            </a:r>
          </a:p>
        </p:txBody>
      </p:sp>
      <p:sp>
        <p:nvSpPr>
          <p:cNvPr id="4" name="Slide Number Placeholder 3">
            <a:extLst>
              <a:ext uri="{FF2B5EF4-FFF2-40B4-BE49-F238E27FC236}">
                <a16:creationId xmlns:a16="http://schemas.microsoft.com/office/drawing/2014/main" id="{E63D0608-22D0-4848-AAC2-5EDF7821481A}"/>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088103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477D36-EB06-4549-A44D-7339388524BB}"/>
              </a:ext>
            </a:extLst>
          </p:cNvPr>
          <p:cNvSpPr>
            <a:spLocks noGrp="1"/>
          </p:cNvSpPr>
          <p:nvPr>
            <p:ph type="title"/>
          </p:nvPr>
        </p:nvSpPr>
        <p:spPr/>
        <p:txBody>
          <a:bodyPr/>
          <a:lstStyle/>
          <a:p>
            <a:r>
              <a:rPr lang="en-US" dirty="0" err="1"/>
              <a:t>SiC</a:t>
            </a:r>
            <a:r>
              <a:rPr lang="en-US" dirty="0"/>
              <a:t> Mechanical Properties</a:t>
            </a:r>
          </a:p>
        </p:txBody>
      </p:sp>
      <p:sp>
        <p:nvSpPr>
          <p:cNvPr id="3" name="Content Placeholder 2">
            <a:extLst>
              <a:ext uri="{FF2B5EF4-FFF2-40B4-BE49-F238E27FC236}">
                <a16:creationId xmlns:a16="http://schemas.microsoft.com/office/drawing/2014/main" id="{060CE1D1-7751-5B4B-BEC0-A8BD64CDA357}"/>
              </a:ext>
            </a:extLst>
          </p:cNvPr>
          <p:cNvSpPr>
            <a:spLocks noGrp="1"/>
          </p:cNvSpPr>
          <p:nvPr>
            <p:ph sz="half" idx="1"/>
          </p:nvPr>
        </p:nvSpPr>
        <p:spPr>
          <a:xfrm>
            <a:off x="609600" y="1968503"/>
            <a:ext cx="6953026" cy="4157663"/>
          </a:xfrm>
        </p:spPr>
        <p:txBody>
          <a:bodyPr/>
          <a:lstStyle/>
          <a:p>
            <a:r>
              <a:rPr lang="en-US" sz="2200" dirty="0"/>
              <a:t>Irradiation generally reduces modulus to a greater extent for lower temperature irradiation, while the modulus reduction becomes negligible when irradiation temperature reaches or exceeds 1273 K</a:t>
            </a:r>
          </a:p>
          <a:p>
            <a:r>
              <a:rPr lang="en-US" sz="2200" dirty="0"/>
              <a:t>Irradiation-induced toughening (increase in fracture toughness) seems to be significant at 573–1273K in spite of the decrease in elastic modulus</a:t>
            </a:r>
          </a:p>
          <a:p>
            <a:r>
              <a:rPr lang="en-US" sz="2200" dirty="0"/>
              <a:t>However, there is significant scatter in the data</a:t>
            </a:r>
          </a:p>
          <a:p>
            <a:r>
              <a:rPr lang="en-US" sz="2200" dirty="0"/>
              <a:t>Reminder: toughness is related to the area under the stress–strain curve</a:t>
            </a:r>
          </a:p>
          <a:p>
            <a:endParaRPr lang="en-US" sz="2200" dirty="0"/>
          </a:p>
          <a:p>
            <a:endParaRPr lang="en-US" sz="2200" dirty="0"/>
          </a:p>
        </p:txBody>
      </p:sp>
      <p:pic>
        <p:nvPicPr>
          <p:cNvPr id="5" name="Content Placeholder 4">
            <a:extLst>
              <a:ext uri="{FF2B5EF4-FFF2-40B4-BE49-F238E27FC236}">
                <a16:creationId xmlns:a16="http://schemas.microsoft.com/office/drawing/2014/main" id="{C2CD6816-F5A1-FB44-B7CB-E3FC6B3110A0}"/>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8254701" y="1691257"/>
            <a:ext cx="2764716" cy="2484817"/>
          </a:xfrm>
          <a:prstGeom prst="rect">
            <a:avLst/>
          </a:prstGeom>
        </p:spPr>
      </p:pic>
      <p:pic>
        <p:nvPicPr>
          <p:cNvPr id="6" name="Picture 5">
            <a:extLst>
              <a:ext uri="{FF2B5EF4-FFF2-40B4-BE49-F238E27FC236}">
                <a16:creationId xmlns:a16="http://schemas.microsoft.com/office/drawing/2014/main" id="{BF92F5D9-0C92-AA43-AD03-C18E9B423FF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10220" y="4176074"/>
            <a:ext cx="3053678" cy="2681926"/>
          </a:xfrm>
          <a:prstGeom prst="rect">
            <a:avLst/>
          </a:prstGeom>
        </p:spPr>
      </p:pic>
      <p:sp>
        <p:nvSpPr>
          <p:cNvPr id="4" name="Slide Number Placeholder 3">
            <a:extLst>
              <a:ext uri="{FF2B5EF4-FFF2-40B4-BE49-F238E27FC236}">
                <a16:creationId xmlns:a16="http://schemas.microsoft.com/office/drawing/2014/main" id="{E4A316FE-42E3-4D41-B81A-1E32AE54BD44}"/>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spTree>
    <p:extLst>
      <p:ext uri="{BB962C8B-B14F-4D97-AF65-F5344CB8AC3E}">
        <p14:creationId xmlns:p14="http://schemas.microsoft.com/office/powerpoint/2010/main" val="1687615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4DA255F5-8B58-1943-A133-8F901A7376F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677037" y="2661793"/>
            <a:ext cx="5266466" cy="2484041"/>
          </a:xfrm>
          <a:prstGeom prst="rect">
            <a:avLst/>
          </a:prstGeom>
        </p:spPr>
      </p:pic>
      <p:sp>
        <p:nvSpPr>
          <p:cNvPr id="2" name="Title 1">
            <a:extLst>
              <a:ext uri="{FF2B5EF4-FFF2-40B4-BE49-F238E27FC236}">
                <a16:creationId xmlns:a16="http://schemas.microsoft.com/office/drawing/2014/main" id="{3A031A22-ACB8-2F4E-BFCA-7B287E03FFB2}"/>
              </a:ext>
            </a:extLst>
          </p:cNvPr>
          <p:cNvSpPr>
            <a:spLocks noGrp="1"/>
          </p:cNvSpPr>
          <p:nvPr>
            <p:ph type="title"/>
          </p:nvPr>
        </p:nvSpPr>
        <p:spPr/>
        <p:txBody>
          <a:bodyPr/>
          <a:lstStyle/>
          <a:p>
            <a:r>
              <a:rPr lang="en-US" dirty="0" err="1"/>
              <a:t>SiC</a:t>
            </a:r>
            <a:r>
              <a:rPr lang="en-US" dirty="0"/>
              <a:t> Creep</a:t>
            </a:r>
          </a:p>
        </p:txBody>
      </p:sp>
      <p:sp>
        <p:nvSpPr>
          <p:cNvPr id="3" name="Content Placeholder 2">
            <a:extLst>
              <a:ext uri="{FF2B5EF4-FFF2-40B4-BE49-F238E27FC236}">
                <a16:creationId xmlns:a16="http://schemas.microsoft.com/office/drawing/2014/main" id="{C29D9F15-A532-C34C-8A17-13539F258179}"/>
              </a:ext>
            </a:extLst>
          </p:cNvPr>
          <p:cNvSpPr>
            <a:spLocks noGrp="1"/>
          </p:cNvSpPr>
          <p:nvPr>
            <p:ph sz="half" idx="1"/>
          </p:nvPr>
        </p:nvSpPr>
        <p:spPr>
          <a:xfrm>
            <a:off x="609599" y="1968503"/>
            <a:ext cx="6067437" cy="4157663"/>
          </a:xfrm>
        </p:spPr>
        <p:txBody>
          <a:bodyPr/>
          <a:lstStyle/>
          <a:p>
            <a:r>
              <a:rPr lang="en-US" sz="2200" dirty="0"/>
              <a:t>Irradiation creep is defined as the difference in dimensional changes between a stressed and an unstressed sample irradiated under identical conditions</a:t>
            </a:r>
          </a:p>
          <a:p>
            <a:r>
              <a:rPr lang="en-US" sz="2200" dirty="0"/>
              <a:t>Studies on irradiation creep of </a:t>
            </a:r>
            <a:r>
              <a:rPr lang="en-US" sz="2200" dirty="0" err="1"/>
              <a:t>SiC</a:t>
            </a:r>
            <a:r>
              <a:rPr lang="en-US" sz="2200" dirty="0"/>
              <a:t> have been limited, although it is of high importance for </a:t>
            </a:r>
            <a:r>
              <a:rPr lang="en-US" sz="2200" dirty="0" err="1"/>
              <a:t>SiC</a:t>
            </a:r>
            <a:r>
              <a:rPr lang="en-US" sz="2200" dirty="0"/>
              <a:t> in TRISO particles</a:t>
            </a:r>
          </a:p>
          <a:p>
            <a:r>
              <a:rPr lang="en-US" sz="2200" dirty="0"/>
              <a:t>The creep strain for CVD </a:t>
            </a:r>
            <a:r>
              <a:rPr lang="en-US" sz="2200" dirty="0" err="1"/>
              <a:t>SiC</a:t>
            </a:r>
            <a:r>
              <a:rPr lang="en-US" sz="2200" dirty="0"/>
              <a:t> exhibited a weak temperature dependence at &lt;0.7 dpa whereas a major transition at higher doses likely exists at higher temperatures</a:t>
            </a:r>
          </a:p>
          <a:p>
            <a:endParaRPr lang="en-US" sz="2200" dirty="0"/>
          </a:p>
          <a:p>
            <a:endParaRPr lang="en-US" sz="2200" dirty="0"/>
          </a:p>
        </p:txBody>
      </p:sp>
      <p:sp>
        <p:nvSpPr>
          <p:cNvPr id="4" name="Slide Number Placeholder 3">
            <a:extLst>
              <a:ext uri="{FF2B5EF4-FFF2-40B4-BE49-F238E27FC236}">
                <a16:creationId xmlns:a16="http://schemas.microsoft.com/office/drawing/2014/main" id="{D3352FA0-B43D-7049-A55B-AA5F560FA26F}"/>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
        <p:nvSpPr>
          <p:cNvPr id="7" name="Rectangle 6">
            <a:extLst>
              <a:ext uri="{FF2B5EF4-FFF2-40B4-BE49-F238E27FC236}">
                <a16:creationId xmlns:a16="http://schemas.microsoft.com/office/drawing/2014/main" id="{B2869CC4-0122-98A6-2882-CAF445D8230F}"/>
              </a:ext>
            </a:extLst>
          </p:cNvPr>
          <p:cNvSpPr/>
          <p:nvPr/>
        </p:nvSpPr>
        <p:spPr>
          <a:xfrm>
            <a:off x="6677036" y="3453331"/>
            <a:ext cx="3339323" cy="488048"/>
          </a:xfrm>
          <a:prstGeom prst="rect">
            <a:avLst/>
          </a:prstGeom>
          <a:no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62D96F2-1991-E4BB-59A6-BD517C4D2384}"/>
              </a:ext>
            </a:extLst>
          </p:cNvPr>
          <p:cNvSpPr/>
          <p:nvPr/>
        </p:nvSpPr>
        <p:spPr>
          <a:xfrm>
            <a:off x="6677036" y="4035415"/>
            <a:ext cx="3339323" cy="370179"/>
          </a:xfrm>
          <a:prstGeom prst="rect">
            <a:avLst/>
          </a:prstGeom>
          <a:noFill/>
          <a:ln w="127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78516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err="1"/>
              <a:t>SiC</a:t>
            </a:r>
            <a:r>
              <a:rPr lang="en-US" dirty="0"/>
              <a:t> Corrosion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5588000" cy="4157663"/>
          </a:xfrm>
        </p:spPr>
        <p:txBody>
          <a:bodyPr/>
          <a:lstStyle/>
          <a:p>
            <a:r>
              <a:rPr lang="en-US" sz="2000" dirty="0"/>
              <a:t>The silicon carbide layer serves as a critical fission product barrier, but can be corroded by fission products, in particular palladium</a:t>
            </a:r>
          </a:p>
          <a:p>
            <a:r>
              <a:rPr lang="en-US" sz="2000" dirty="0"/>
              <a:t>Additionally, silver can be transported through intact </a:t>
            </a:r>
            <a:r>
              <a:rPr lang="en-US" sz="2000" dirty="0" err="1"/>
              <a:t>SiC</a:t>
            </a:r>
            <a:r>
              <a:rPr lang="en-US" sz="2000" dirty="0"/>
              <a:t> layers</a:t>
            </a:r>
          </a:p>
          <a:p>
            <a:r>
              <a:rPr lang="en-US" sz="2000" dirty="0"/>
              <a:t>For </a:t>
            </a:r>
            <a:r>
              <a:rPr lang="en-US" sz="2000" dirty="0" err="1"/>
              <a:t>Pd</a:t>
            </a:r>
            <a:r>
              <a:rPr lang="en-US" sz="2000" dirty="0"/>
              <a:t>, the reaction with </a:t>
            </a:r>
            <a:r>
              <a:rPr lang="en-US" sz="2000" dirty="0" err="1"/>
              <a:t>SiC</a:t>
            </a:r>
            <a:r>
              <a:rPr lang="en-US" sz="2000" dirty="0"/>
              <a:t> can be qualitatively explained by the phase-diagram, where a number of intermetallic structures are present</a:t>
            </a:r>
          </a:p>
          <a:p>
            <a:r>
              <a:rPr lang="en-US" sz="2000" dirty="0"/>
              <a:t>To prevent corrosion by Pd, new combinations of coating layers have been proposed, and means of trapping Pd in the fuel are explored</a:t>
            </a:r>
          </a:p>
          <a:p>
            <a:endParaRPr lang="en-US" sz="2000" dirty="0"/>
          </a:p>
        </p:txBody>
      </p:sp>
      <p:pic>
        <p:nvPicPr>
          <p:cNvPr id="4" name="Content Placeholder 3">
            <a:extLst>
              <a:ext uri="{FF2B5EF4-FFF2-40B4-BE49-F238E27FC236}">
                <a16:creationId xmlns:a16="http://schemas.microsoft.com/office/drawing/2014/main" id="{43AF7B02-3EAF-FA42-94F5-F6AB95C4D445}"/>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438045" y="1968500"/>
            <a:ext cx="4903910" cy="4157663"/>
          </a:xfrm>
          <a:prstGeom prst="rect">
            <a:avLst/>
          </a:prstGeom>
        </p:spPr>
      </p:pic>
      <p:sp>
        <p:nvSpPr>
          <p:cNvPr id="5" name="Slide Number Placeholder 4">
            <a:extLst>
              <a:ext uri="{FF2B5EF4-FFF2-40B4-BE49-F238E27FC236}">
                <a16:creationId xmlns:a16="http://schemas.microsoft.com/office/drawing/2014/main" id="{EBA6ECC8-2DCD-234D-B7F3-96EA9DC5A810}"/>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spTree>
    <p:extLst>
      <p:ext uri="{BB962C8B-B14F-4D97-AF65-F5344CB8AC3E}">
        <p14:creationId xmlns:p14="http://schemas.microsoft.com/office/powerpoint/2010/main" val="876150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err="1"/>
              <a:t>SiC</a:t>
            </a:r>
            <a:r>
              <a:rPr lang="en-US" dirty="0"/>
              <a:t> Corrosion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599" y="1968503"/>
            <a:ext cx="6059596" cy="4157663"/>
          </a:xfrm>
        </p:spPr>
        <p:txBody>
          <a:bodyPr/>
          <a:lstStyle/>
          <a:p>
            <a:r>
              <a:rPr lang="en-US" sz="2000" dirty="0"/>
              <a:t>Silver release has been observed from undamaged particles suggesting that Ag migrates through intact </a:t>
            </a:r>
            <a:r>
              <a:rPr lang="en-US" sz="2000" dirty="0" err="1"/>
              <a:t>SiC</a:t>
            </a:r>
            <a:r>
              <a:rPr lang="en-US" sz="2000" dirty="0"/>
              <a:t> layers at temperatures &gt;1100 C</a:t>
            </a:r>
          </a:p>
          <a:p>
            <a:r>
              <a:rPr lang="en-US" sz="2000" dirty="0"/>
              <a:t>The Ag migration mechanism remains not fully understood, but has a temperature dependence, and is expected to be grain boundary diffusion driven</a:t>
            </a:r>
          </a:p>
          <a:p>
            <a:r>
              <a:rPr lang="en-US" sz="2000" dirty="0"/>
              <a:t>From microstructural analyses, it seems possible that Ag, Cd, and Pd cluster and transport together at grain boundaries and triple points because of their common chemical properties </a:t>
            </a:r>
          </a:p>
        </p:txBody>
      </p:sp>
      <p:pic>
        <p:nvPicPr>
          <p:cNvPr id="4" name="Content Placeholder 3">
            <a:extLst>
              <a:ext uri="{FF2B5EF4-FFF2-40B4-BE49-F238E27FC236}">
                <a16:creationId xmlns:a16="http://schemas.microsoft.com/office/drawing/2014/main" id="{D0C74934-2F83-C647-AFF0-653A0984E4F1}"/>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669195" y="1827466"/>
            <a:ext cx="2455679" cy="2219868"/>
          </a:xfrm>
          <a:prstGeom prst="rect">
            <a:avLst/>
          </a:prstGeom>
        </p:spPr>
      </p:pic>
      <p:pic>
        <p:nvPicPr>
          <p:cNvPr id="5" name="Picture 4">
            <a:extLst>
              <a:ext uri="{FF2B5EF4-FFF2-40B4-BE49-F238E27FC236}">
                <a16:creationId xmlns:a16="http://schemas.microsoft.com/office/drawing/2014/main" id="{7B86676B-D186-904A-B66F-95830B935BE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669195" y="4082794"/>
            <a:ext cx="4913205" cy="2775206"/>
          </a:xfrm>
          <a:prstGeom prst="rect">
            <a:avLst/>
          </a:prstGeom>
        </p:spPr>
      </p:pic>
      <p:pic>
        <p:nvPicPr>
          <p:cNvPr id="6" name="Picture 5">
            <a:extLst>
              <a:ext uri="{FF2B5EF4-FFF2-40B4-BE49-F238E27FC236}">
                <a16:creationId xmlns:a16="http://schemas.microsoft.com/office/drawing/2014/main" id="{19B56E3F-2176-874F-82A9-4012EB6B6D5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337364" y="1794193"/>
            <a:ext cx="2245036" cy="2253141"/>
          </a:xfrm>
          <a:prstGeom prst="rect">
            <a:avLst/>
          </a:prstGeom>
        </p:spPr>
      </p:pic>
      <p:sp>
        <p:nvSpPr>
          <p:cNvPr id="7" name="Slide Number Placeholder 6">
            <a:extLst>
              <a:ext uri="{FF2B5EF4-FFF2-40B4-BE49-F238E27FC236}">
                <a16:creationId xmlns:a16="http://schemas.microsoft.com/office/drawing/2014/main" id="{49313024-78E4-F447-BDFF-582776420277}"/>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spTree>
    <p:extLst>
      <p:ext uri="{BB962C8B-B14F-4D97-AF65-F5344CB8AC3E}">
        <p14:creationId xmlns:p14="http://schemas.microsoft.com/office/powerpoint/2010/main" val="1479018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err="1"/>
              <a:t>SiC</a:t>
            </a:r>
            <a:r>
              <a:rPr lang="en-US" dirty="0"/>
              <a:t> Corrosion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5588000" cy="4157663"/>
          </a:xfrm>
        </p:spPr>
        <p:txBody>
          <a:bodyPr/>
          <a:lstStyle/>
          <a:p>
            <a:r>
              <a:rPr lang="en-US" sz="2000" dirty="0"/>
              <a:t>Once cesium has migrated into the buffer, it can react with carbon</a:t>
            </a:r>
          </a:p>
          <a:p>
            <a:r>
              <a:rPr lang="en-US" sz="2000" dirty="0"/>
              <a:t>At nominal temperatures, cesium may be released from the fuel and associate with carbon of the buffer layer to form compounds</a:t>
            </a:r>
          </a:p>
          <a:p>
            <a:r>
              <a:rPr lang="en-US" sz="2000" dirty="0"/>
              <a:t>These compounds can vaporize, and may become a potential source of cesium release</a:t>
            </a:r>
          </a:p>
          <a:p>
            <a:r>
              <a:rPr lang="en-US" sz="2000" dirty="0"/>
              <a:t>Typically, cesium-graphite compounds are not stable at 923 K under vacuum and decompose to give cesium vapor and graphite</a:t>
            </a:r>
          </a:p>
          <a:p>
            <a:endParaRPr lang="en-US" sz="2000" dirty="0"/>
          </a:p>
          <a:p>
            <a:endParaRPr lang="en-US" sz="2000" dirty="0"/>
          </a:p>
          <a:p>
            <a:endParaRPr lang="en-US" sz="2000" dirty="0"/>
          </a:p>
        </p:txBody>
      </p:sp>
      <p:pic>
        <p:nvPicPr>
          <p:cNvPr id="4" name="Content Placeholder 3">
            <a:extLst>
              <a:ext uri="{FF2B5EF4-FFF2-40B4-BE49-F238E27FC236}">
                <a16:creationId xmlns:a16="http://schemas.microsoft.com/office/drawing/2014/main" id="{AE01217D-9EA7-CA42-9009-5D611B67F903}"/>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168190" y="2571516"/>
            <a:ext cx="3024393" cy="1981169"/>
          </a:xfrm>
          <a:prstGeom prst="rect">
            <a:avLst/>
          </a:prstGeom>
        </p:spPr>
      </p:pic>
      <p:pic>
        <p:nvPicPr>
          <p:cNvPr id="5" name="Picture 4">
            <a:extLst>
              <a:ext uri="{FF2B5EF4-FFF2-40B4-BE49-F238E27FC236}">
                <a16:creationId xmlns:a16="http://schemas.microsoft.com/office/drawing/2014/main" id="{5B3991BA-376E-104A-A083-82A27F25620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192583" y="2173045"/>
            <a:ext cx="2844729" cy="3345628"/>
          </a:xfrm>
          <a:prstGeom prst="rect">
            <a:avLst/>
          </a:prstGeom>
        </p:spPr>
      </p:pic>
      <p:sp>
        <p:nvSpPr>
          <p:cNvPr id="6" name="Slide Number Placeholder 5">
            <a:extLst>
              <a:ext uri="{FF2B5EF4-FFF2-40B4-BE49-F238E27FC236}">
                <a16:creationId xmlns:a16="http://schemas.microsoft.com/office/drawing/2014/main" id="{AABBF4D5-8715-8443-932A-EF188E9094F4}"/>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2589985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524F9-669F-9E0B-0420-E681F9316EE3}"/>
              </a:ext>
            </a:extLst>
          </p:cNvPr>
          <p:cNvSpPr>
            <a:spLocks noGrp="1"/>
          </p:cNvSpPr>
          <p:nvPr>
            <p:ph type="title"/>
          </p:nvPr>
        </p:nvSpPr>
        <p:spPr/>
        <p:txBody>
          <a:bodyPr/>
          <a:lstStyle/>
          <a:p>
            <a:r>
              <a:rPr lang="en-US" dirty="0"/>
              <a:t>Wrap-Up on </a:t>
            </a:r>
            <a:r>
              <a:rPr lang="en-US" dirty="0" err="1"/>
              <a:t>SiC</a:t>
            </a:r>
            <a:endParaRPr lang="en-US" dirty="0"/>
          </a:p>
        </p:txBody>
      </p:sp>
      <p:sp>
        <p:nvSpPr>
          <p:cNvPr id="3" name="Content Placeholder 2">
            <a:extLst>
              <a:ext uri="{FF2B5EF4-FFF2-40B4-BE49-F238E27FC236}">
                <a16:creationId xmlns:a16="http://schemas.microsoft.com/office/drawing/2014/main" id="{C68CE1B0-E223-DBE9-63C0-DA211B5ED0D4}"/>
              </a:ext>
            </a:extLst>
          </p:cNvPr>
          <p:cNvSpPr>
            <a:spLocks noGrp="1"/>
          </p:cNvSpPr>
          <p:nvPr>
            <p:ph sz="half" idx="1"/>
          </p:nvPr>
        </p:nvSpPr>
        <p:spPr>
          <a:xfrm>
            <a:off x="609599" y="1968503"/>
            <a:ext cx="10972799" cy="4157663"/>
          </a:xfrm>
        </p:spPr>
        <p:txBody>
          <a:bodyPr/>
          <a:lstStyle/>
          <a:p>
            <a:r>
              <a:rPr lang="en-US" sz="2000" dirty="0" err="1"/>
              <a:t>SiC</a:t>
            </a:r>
            <a:r>
              <a:rPr lang="en-US" sz="2000" dirty="0"/>
              <a:t>: high strength, high thermal conductivity, high temperature stability, oxidation resistant</a:t>
            </a:r>
          </a:p>
          <a:p>
            <a:r>
              <a:rPr lang="en-US" sz="2000" dirty="0"/>
              <a:t>Radiation damage is dependent on temperature/fluence</a:t>
            </a:r>
          </a:p>
          <a:p>
            <a:r>
              <a:rPr lang="en-US" sz="2000" dirty="0"/>
              <a:t>Radiation induced swelling corresponds to defect types</a:t>
            </a:r>
          </a:p>
          <a:p>
            <a:r>
              <a:rPr lang="en-US" sz="2000" dirty="0"/>
              <a:t>In point defect swelling regime, thermal conductivity directly corresponds to defect concentration</a:t>
            </a:r>
          </a:p>
          <a:p>
            <a:r>
              <a:rPr lang="en-US" sz="2000" dirty="0"/>
              <a:t>Mechanical properties largely unaffected by irradiation</a:t>
            </a:r>
          </a:p>
          <a:p>
            <a:r>
              <a:rPr lang="en-US" sz="2000" dirty="0"/>
              <a:t>Reasonably good creep resistance, more susceptible to irradiation creep at high T</a:t>
            </a:r>
          </a:p>
          <a:p>
            <a:r>
              <a:rPr lang="en-US" sz="2000" dirty="0"/>
              <a:t>Pd attack is a key concern, with Pd-Si compounds consuming the </a:t>
            </a:r>
            <a:r>
              <a:rPr lang="en-US" sz="2000" dirty="0" err="1"/>
              <a:t>SiC</a:t>
            </a:r>
            <a:r>
              <a:rPr lang="en-US" sz="2000" dirty="0"/>
              <a:t> layer</a:t>
            </a:r>
          </a:p>
          <a:p>
            <a:r>
              <a:rPr lang="en-US" sz="2000" dirty="0"/>
              <a:t>Ag release can occur in intact particles, probably via GB diffusion</a:t>
            </a:r>
          </a:p>
          <a:p>
            <a:endParaRPr lang="en-US" sz="2000" dirty="0"/>
          </a:p>
        </p:txBody>
      </p:sp>
      <p:sp>
        <p:nvSpPr>
          <p:cNvPr id="5" name="Slide Number Placeholder 4">
            <a:extLst>
              <a:ext uri="{FF2B5EF4-FFF2-40B4-BE49-F238E27FC236}">
                <a16:creationId xmlns:a16="http://schemas.microsoft.com/office/drawing/2014/main" id="{C5A29B1E-06EA-29B5-5F41-B33DCD2D826B}"/>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Tree>
    <p:extLst>
      <p:ext uri="{BB962C8B-B14F-4D97-AF65-F5344CB8AC3E}">
        <p14:creationId xmlns:p14="http://schemas.microsoft.com/office/powerpoint/2010/main" val="2629783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Graphite</a:t>
            </a:r>
          </a:p>
        </p:txBody>
      </p:sp>
      <p:sp>
        <p:nvSpPr>
          <p:cNvPr id="3" name="Slide Number Placeholder 2">
            <a:extLst>
              <a:ext uri="{FF2B5EF4-FFF2-40B4-BE49-F238E27FC236}">
                <a16:creationId xmlns:a16="http://schemas.microsoft.com/office/drawing/2014/main" id="{51D2078D-EE8C-6A44-A588-78A28A29BE52}"/>
              </a:ext>
            </a:extLst>
          </p:cNvPr>
          <p:cNvSpPr>
            <a:spLocks noGrp="1"/>
          </p:cNvSpPr>
          <p:nvPr>
            <p:ph type="sldNum" sz="quarter" idx="12"/>
          </p:nvPr>
        </p:nvSpPr>
        <p:spPr/>
        <p:txBody>
          <a:bodyPr/>
          <a:lstStyle/>
          <a:p>
            <a:pPr>
              <a:defRPr/>
            </a:pPr>
            <a:fld id="{0DA6BD0F-ABBC-C14D-BC96-77BE126A748B}" type="slidenum">
              <a:rPr lang="en-US" smtClean="0"/>
              <a:pPr>
                <a:defRPr/>
              </a:pPr>
              <a:t>9</a:t>
            </a:fld>
            <a:endParaRPr lang="en-US"/>
          </a:p>
        </p:txBody>
      </p:sp>
    </p:spTree>
    <p:extLst>
      <p:ext uri="{BB962C8B-B14F-4D97-AF65-F5344CB8AC3E}">
        <p14:creationId xmlns:p14="http://schemas.microsoft.com/office/powerpoint/2010/main" val="3669705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1A0A0-A2F7-0A47-916B-D6A54DDA2BED}"/>
              </a:ext>
            </a:extLst>
          </p:cNvPr>
          <p:cNvSpPr>
            <a:spLocks noGrp="1"/>
          </p:cNvSpPr>
          <p:nvPr>
            <p:ph type="title"/>
          </p:nvPr>
        </p:nvSpPr>
        <p:spPr/>
        <p:txBody>
          <a:bodyPr/>
          <a:lstStyle/>
          <a:p>
            <a:r>
              <a:rPr lang="en-US" dirty="0"/>
              <a:t>Graphite Usage</a:t>
            </a:r>
          </a:p>
        </p:txBody>
      </p:sp>
      <p:sp>
        <p:nvSpPr>
          <p:cNvPr id="3" name="Content Placeholder 2">
            <a:extLst>
              <a:ext uri="{FF2B5EF4-FFF2-40B4-BE49-F238E27FC236}">
                <a16:creationId xmlns:a16="http://schemas.microsoft.com/office/drawing/2014/main" id="{AC7D69F7-E118-DD40-A367-3FAA4F500B63}"/>
              </a:ext>
            </a:extLst>
          </p:cNvPr>
          <p:cNvSpPr>
            <a:spLocks noGrp="1"/>
          </p:cNvSpPr>
          <p:nvPr>
            <p:ph sz="half" idx="1"/>
          </p:nvPr>
        </p:nvSpPr>
        <p:spPr/>
        <p:txBody>
          <a:bodyPr/>
          <a:lstStyle/>
          <a:p>
            <a:r>
              <a:rPr lang="en-US" sz="2200" dirty="0"/>
              <a:t>Graphite was the moderator in the first reactor to sustain a chain reaction and has been used as a moderator in over 100 nuclear reactors, many of which are still operating</a:t>
            </a:r>
          </a:p>
          <a:p>
            <a:r>
              <a:rPr lang="en-US" sz="2200" dirty="0"/>
              <a:t>Graphite has a high neutron scattering cross-section and a very low neutron absorption cross-section, making it an ideal moderator</a:t>
            </a:r>
          </a:p>
          <a:p>
            <a:endParaRPr lang="en-US" sz="2200" dirty="0"/>
          </a:p>
        </p:txBody>
      </p:sp>
      <p:pic>
        <p:nvPicPr>
          <p:cNvPr id="5" name="Content Placeholder 4">
            <a:extLst>
              <a:ext uri="{FF2B5EF4-FFF2-40B4-BE49-F238E27FC236}">
                <a16:creationId xmlns:a16="http://schemas.microsoft.com/office/drawing/2014/main" id="{421963F0-CCDF-E144-AB09-739AC8D7818E}"/>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258423" y="1968500"/>
            <a:ext cx="3059953" cy="4421632"/>
          </a:xfrm>
          <a:prstGeom prst="rect">
            <a:avLst/>
          </a:prstGeom>
        </p:spPr>
      </p:pic>
      <p:sp>
        <p:nvSpPr>
          <p:cNvPr id="4" name="Slide Number Placeholder 3">
            <a:extLst>
              <a:ext uri="{FF2B5EF4-FFF2-40B4-BE49-F238E27FC236}">
                <a16:creationId xmlns:a16="http://schemas.microsoft.com/office/drawing/2014/main" id="{3B78AA51-15D7-5643-9015-9C9065CA0FB9}"/>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35128898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3B3CF-8805-9147-B8FF-FDF08CC1D21F}"/>
              </a:ext>
            </a:extLst>
          </p:cNvPr>
          <p:cNvSpPr>
            <a:spLocks noGrp="1"/>
          </p:cNvSpPr>
          <p:nvPr>
            <p:ph type="title"/>
          </p:nvPr>
        </p:nvSpPr>
        <p:spPr/>
        <p:txBody>
          <a:bodyPr/>
          <a:lstStyle/>
          <a:p>
            <a:r>
              <a:rPr lang="en-US" dirty="0"/>
              <a:t>Delineate Types of Graphite</a:t>
            </a:r>
          </a:p>
        </p:txBody>
      </p:sp>
      <p:sp>
        <p:nvSpPr>
          <p:cNvPr id="3" name="Content Placeholder 2">
            <a:extLst>
              <a:ext uri="{FF2B5EF4-FFF2-40B4-BE49-F238E27FC236}">
                <a16:creationId xmlns:a16="http://schemas.microsoft.com/office/drawing/2014/main" id="{2B04EC0F-D7DD-3A4F-B32E-75734ECDB904}"/>
              </a:ext>
            </a:extLst>
          </p:cNvPr>
          <p:cNvSpPr>
            <a:spLocks noGrp="1"/>
          </p:cNvSpPr>
          <p:nvPr>
            <p:ph sz="half" idx="1"/>
          </p:nvPr>
        </p:nvSpPr>
        <p:spPr/>
        <p:txBody>
          <a:bodyPr/>
          <a:lstStyle/>
          <a:p>
            <a:r>
              <a:rPr lang="en-US" sz="2200" dirty="0"/>
              <a:t>TRISO Graphite (</a:t>
            </a:r>
            <a:r>
              <a:rPr lang="en-US" sz="2200" dirty="0" err="1"/>
              <a:t>PyC</a:t>
            </a:r>
            <a:r>
              <a:rPr lang="en-US" sz="2200" dirty="0"/>
              <a:t>)</a:t>
            </a:r>
          </a:p>
          <a:p>
            <a:pPr lvl="1"/>
            <a:r>
              <a:rPr lang="en-US" sz="2200" dirty="0"/>
              <a:t>CVD deposition</a:t>
            </a:r>
          </a:p>
          <a:p>
            <a:pPr lvl="1"/>
            <a:r>
              <a:rPr lang="en-US" sz="2200" dirty="0"/>
              <a:t>treated to ensure ultra dense and high purity</a:t>
            </a:r>
          </a:p>
          <a:p>
            <a:r>
              <a:rPr lang="en-US" sz="2200" dirty="0"/>
              <a:t>Prismatic Blocks and Pebbles</a:t>
            </a:r>
          </a:p>
          <a:p>
            <a:pPr lvl="1"/>
            <a:r>
              <a:rPr lang="en-US" sz="2200" dirty="0"/>
              <a:t>large scale</a:t>
            </a:r>
          </a:p>
          <a:p>
            <a:pPr lvl="1"/>
            <a:r>
              <a:rPr lang="en-US" sz="2200" dirty="0"/>
              <a:t>different fabrication process from TRISO</a:t>
            </a:r>
          </a:p>
          <a:p>
            <a:pPr lvl="1"/>
            <a:r>
              <a:rPr lang="en-US" sz="2200" dirty="0"/>
              <a:t>different microstructure</a:t>
            </a:r>
          </a:p>
          <a:p>
            <a:endParaRPr lang="en-US" sz="2200" dirty="0"/>
          </a:p>
        </p:txBody>
      </p:sp>
      <p:sp>
        <p:nvSpPr>
          <p:cNvPr id="4" name="Content Placeholder 3">
            <a:extLst>
              <a:ext uri="{FF2B5EF4-FFF2-40B4-BE49-F238E27FC236}">
                <a16:creationId xmlns:a16="http://schemas.microsoft.com/office/drawing/2014/main" id="{D4B96F44-B914-8C4E-AD68-294994974875}"/>
              </a:ext>
            </a:extLst>
          </p:cNvPr>
          <p:cNvSpPr>
            <a:spLocks noGrp="1"/>
          </p:cNvSpPr>
          <p:nvPr>
            <p:ph sz="half" idx="2"/>
          </p:nvPr>
        </p:nvSpPr>
        <p:spPr/>
        <p:txBody>
          <a:bodyPr/>
          <a:lstStyle/>
          <a:p>
            <a:r>
              <a:rPr lang="en-US" sz="2200" dirty="0"/>
              <a:t>We will generally be talking about large scale graphite, which most directly applies to prismatic block type graphite</a:t>
            </a:r>
          </a:p>
          <a:p>
            <a:r>
              <a:rPr lang="en-US" sz="2200" dirty="0"/>
              <a:t>Similar radiation effects are assumed to occur in PyC layers</a:t>
            </a:r>
          </a:p>
          <a:p>
            <a:r>
              <a:rPr lang="en-US" sz="2200" dirty="0"/>
              <a:t>Not sufficient research into potential differences in PyC vs bulk graphite behavior</a:t>
            </a:r>
          </a:p>
        </p:txBody>
      </p:sp>
      <p:sp>
        <p:nvSpPr>
          <p:cNvPr id="5" name="Slide Number Placeholder 4">
            <a:extLst>
              <a:ext uri="{FF2B5EF4-FFF2-40B4-BE49-F238E27FC236}">
                <a16:creationId xmlns:a16="http://schemas.microsoft.com/office/drawing/2014/main" id="{9513AD85-CAB2-5F4C-A839-E207E42FFA32}"/>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775184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79936-F21A-C044-83B4-40702921E8AE}"/>
              </a:ext>
            </a:extLst>
          </p:cNvPr>
          <p:cNvSpPr>
            <a:spLocks noGrp="1"/>
          </p:cNvSpPr>
          <p:nvPr>
            <p:ph type="title"/>
          </p:nvPr>
        </p:nvSpPr>
        <p:spPr/>
        <p:txBody>
          <a:bodyPr/>
          <a:lstStyle/>
          <a:p>
            <a:r>
              <a:rPr lang="en-US" dirty="0"/>
              <a:t>Graphite Structure</a:t>
            </a:r>
          </a:p>
        </p:txBody>
      </p:sp>
      <p:sp>
        <p:nvSpPr>
          <p:cNvPr id="3" name="Content Placeholder 2">
            <a:extLst>
              <a:ext uri="{FF2B5EF4-FFF2-40B4-BE49-F238E27FC236}">
                <a16:creationId xmlns:a16="http://schemas.microsoft.com/office/drawing/2014/main" id="{30C1BF23-B277-DB4A-9378-BDB23DC17A0B}"/>
              </a:ext>
            </a:extLst>
          </p:cNvPr>
          <p:cNvSpPr>
            <a:spLocks noGrp="1"/>
          </p:cNvSpPr>
          <p:nvPr>
            <p:ph sz="half" idx="1"/>
          </p:nvPr>
        </p:nvSpPr>
        <p:spPr>
          <a:xfrm>
            <a:off x="609599" y="1968503"/>
            <a:ext cx="5896303" cy="4157663"/>
          </a:xfrm>
        </p:spPr>
        <p:txBody>
          <a:bodyPr/>
          <a:lstStyle/>
          <a:p>
            <a:r>
              <a:rPr lang="en-US" sz="2200" dirty="0"/>
              <a:t>The electronic hybridization of carbon atoms (1s2, 2s2, 2p2) allows several types of covalent-bonded structures</a:t>
            </a:r>
          </a:p>
          <a:p>
            <a:r>
              <a:rPr lang="en-US" sz="2200" dirty="0"/>
              <a:t>In graphite, we have sp2 hybridization where the carbon atom is bound to three equidistant nearest neighbors in a given plane to form the hexagonal graphene structure</a:t>
            </a:r>
          </a:p>
          <a:p>
            <a:r>
              <a:rPr lang="en-US" sz="2200" dirty="0"/>
              <a:t>The sheets are weakly bound with van der Waals type bonds in an ABAB stacking sequence with a separation of 0.335 nm</a:t>
            </a:r>
          </a:p>
          <a:p>
            <a:endParaRPr lang="en-US" sz="2200" dirty="0"/>
          </a:p>
          <a:p>
            <a:endParaRPr lang="en-US" sz="2200" dirty="0"/>
          </a:p>
        </p:txBody>
      </p:sp>
      <p:pic>
        <p:nvPicPr>
          <p:cNvPr id="5" name="Content Placeholder 4">
            <a:extLst>
              <a:ext uri="{FF2B5EF4-FFF2-40B4-BE49-F238E27FC236}">
                <a16:creationId xmlns:a16="http://schemas.microsoft.com/office/drawing/2014/main" id="{2069F450-C1A6-7E4C-86C8-33ADB4B61795}"/>
              </a:ext>
            </a:extLst>
          </p:cNvPr>
          <p:cNvPicPr>
            <a:picLocks noGrp="1" noChangeAspect="1"/>
          </p:cNvPicPr>
          <p:nvPr>
            <p:ph sz="half" idx="2"/>
          </p:nvPr>
        </p:nvPicPr>
        <p:blipFill>
          <a:blip r:embed="rId2"/>
          <a:stretch>
            <a:fillRect/>
          </a:stretch>
        </p:blipFill>
        <p:spPr>
          <a:xfrm>
            <a:off x="6692900" y="2104231"/>
            <a:ext cx="4394200" cy="3886200"/>
          </a:xfrm>
          <a:prstGeom prst="rect">
            <a:avLst/>
          </a:prstGeom>
        </p:spPr>
      </p:pic>
      <p:sp>
        <p:nvSpPr>
          <p:cNvPr id="6" name="Slide Number Placeholder 5">
            <a:extLst>
              <a:ext uri="{FF2B5EF4-FFF2-40B4-BE49-F238E27FC236}">
                <a16:creationId xmlns:a16="http://schemas.microsoft.com/office/drawing/2014/main" id="{EF534693-351C-AD4A-BF6D-527C01E6A2D8}"/>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1857633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8F25D-05A9-4D4E-9392-96806C0A22D9}"/>
              </a:ext>
            </a:extLst>
          </p:cNvPr>
          <p:cNvSpPr>
            <a:spLocks noGrp="1"/>
          </p:cNvSpPr>
          <p:nvPr>
            <p:ph type="title"/>
          </p:nvPr>
        </p:nvSpPr>
        <p:spPr/>
        <p:txBody>
          <a:bodyPr/>
          <a:lstStyle/>
          <a:p>
            <a:r>
              <a:rPr lang="en-US" dirty="0"/>
              <a:t>Fundamental Properties</a:t>
            </a:r>
          </a:p>
        </p:txBody>
      </p:sp>
      <p:sp>
        <p:nvSpPr>
          <p:cNvPr id="3" name="Content Placeholder 2">
            <a:extLst>
              <a:ext uri="{FF2B5EF4-FFF2-40B4-BE49-F238E27FC236}">
                <a16:creationId xmlns:a16="http://schemas.microsoft.com/office/drawing/2014/main" id="{E79B600D-064F-3E46-82F3-795C7AFE3173}"/>
              </a:ext>
            </a:extLst>
          </p:cNvPr>
          <p:cNvSpPr>
            <a:spLocks noGrp="1"/>
          </p:cNvSpPr>
          <p:nvPr>
            <p:ph sz="half" idx="1"/>
          </p:nvPr>
        </p:nvSpPr>
        <p:spPr>
          <a:xfrm>
            <a:off x="609599" y="1968503"/>
            <a:ext cx="5838495" cy="4157663"/>
          </a:xfrm>
        </p:spPr>
        <p:txBody>
          <a:bodyPr/>
          <a:lstStyle/>
          <a:p>
            <a:r>
              <a:rPr lang="en-US" sz="2200" dirty="0"/>
              <a:t>The CTE for graphite displays anisotropic behavior, and strongly varies as a function of temperature</a:t>
            </a:r>
          </a:p>
          <a:p>
            <a:r>
              <a:rPr lang="en-US" sz="2200" dirty="0"/>
              <a:t>Due to the structure, the strength along the basal planes is higher than the strength perpendicular to the planes, and the shear strength between the basal panes is relatively weak</a:t>
            </a:r>
          </a:p>
          <a:p>
            <a:r>
              <a:rPr lang="en-US" sz="2200" dirty="0"/>
              <a:t>The thermal conductivity along the basal planes is much greater than perpendicular to the planes</a:t>
            </a:r>
          </a:p>
        </p:txBody>
      </p:sp>
      <p:sp>
        <p:nvSpPr>
          <p:cNvPr id="5" name="Slide Number Placeholder 4">
            <a:extLst>
              <a:ext uri="{FF2B5EF4-FFF2-40B4-BE49-F238E27FC236}">
                <a16:creationId xmlns:a16="http://schemas.microsoft.com/office/drawing/2014/main" id="{97B511C5-C13A-F345-926E-8FCAA05E3DFA}"/>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9" name="Content Placeholder 5">
            <a:extLst>
              <a:ext uri="{FF2B5EF4-FFF2-40B4-BE49-F238E27FC236}">
                <a16:creationId xmlns:a16="http://schemas.microsoft.com/office/drawing/2014/main" id="{8A50948E-E351-804F-95C7-BA7E9EBDFD7A}"/>
              </a:ext>
            </a:extLst>
          </p:cNvPr>
          <p:cNvPicPr>
            <a:picLocks noChangeAspect="1"/>
          </p:cNvPicPr>
          <p:nvPr/>
        </p:nvPicPr>
        <p:blipFill rotWithShape="1">
          <a:blip r:embed="rId2"/>
          <a:srcRect r="51485"/>
          <a:stretch/>
        </p:blipFill>
        <p:spPr bwMode="auto">
          <a:xfrm>
            <a:off x="7328089" y="1842448"/>
            <a:ext cx="3374315" cy="250841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pic>
      <p:pic>
        <p:nvPicPr>
          <p:cNvPr id="10" name="Content Placeholder 5">
            <a:extLst>
              <a:ext uri="{FF2B5EF4-FFF2-40B4-BE49-F238E27FC236}">
                <a16:creationId xmlns:a16="http://schemas.microsoft.com/office/drawing/2014/main" id="{ADF81ADF-124C-C747-BC0B-DAA1B73B098C}"/>
              </a:ext>
            </a:extLst>
          </p:cNvPr>
          <p:cNvPicPr>
            <a:picLocks noChangeAspect="1"/>
          </p:cNvPicPr>
          <p:nvPr/>
        </p:nvPicPr>
        <p:blipFill rotWithShape="1">
          <a:blip r:embed="rId2"/>
          <a:srcRect l="49147"/>
          <a:stretch/>
        </p:blipFill>
        <p:spPr bwMode="auto">
          <a:xfrm>
            <a:off x="7576205" y="4224813"/>
            <a:ext cx="3360988" cy="238364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pic>
    </p:spTree>
    <p:extLst>
      <p:ext uri="{BB962C8B-B14F-4D97-AF65-F5344CB8AC3E}">
        <p14:creationId xmlns:p14="http://schemas.microsoft.com/office/powerpoint/2010/main" val="3360621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BB681-80F7-8C4F-AB34-69020D9FCD98}"/>
              </a:ext>
            </a:extLst>
          </p:cNvPr>
          <p:cNvSpPr>
            <a:spLocks noGrp="1"/>
          </p:cNvSpPr>
          <p:nvPr>
            <p:ph type="title"/>
          </p:nvPr>
        </p:nvSpPr>
        <p:spPr/>
        <p:txBody>
          <a:bodyPr/>
          <a:lstStyle/>
          <a:p>
            <a:r>
              <a:rPr lang="en-US" dirty="0"/>
              <a:t>Mrozowski Cracks</a:t>
            </a:r>
          </a:p>
        </p:txBody>
      </p:sp>
      <p:sp>
        <p:nvSpPr>
          <p:cNvPr id="3" name="Content Placeholder 2">
            <a:extLst>
              <a:ext uri="{FF2B5EF4-FFF2-40B4-BE49-F238E27FC236}">
                <a16:creationId xmlns:a16="http://schemas.microsoft.com/office/drawing/2014/main" id="{4D085868-55DD-CA41-A53C-431CBE94F3C9}"/>
              </a:ext>
            </a:extLst>
          </p:cNvPr>
          <p:cNvSpPr>
            <a:spLocks noGrp="1"/>
          </p:cNvSpPr>
          <p:nvPr>
            <p:ph sz="half" idx="1"/>
          </p:nvPr>
        </p:nvSpPr>
        <p:spPr>
          <a:xfrm>
            <a:off x="609600" y="1968503"/>
            <a:ext cx="6705600" cy="4157663"/>
          </a:xfrm>
        </p:spPr>
        <p:txBody>
          <a:bodyPr/>
          <a:lstStyle/>
          <a:p>
            <a:r>
              <a:rPr lang="en-US" sz="2200" dirty="0"/>
              <a:t>During the manufacture of artificial graphite, very high temperatures (2800–3000 C) are required</a:t>
            </a:r>
          </a:p>
          <a:p>
            <a:r>
              <a:rPr lang="en-US" sz="2200" dirty="0"/>
              <a:t>Upon cooling, the anisotropy in thermal expansion coefficients leads to the formation of long, thin microcracks parallel to the basal planes, often referred to as ‘Mrozowski’ cracks</a:t>
            </a:r>
          </a:p>
          <a:p>
            <a:r>
              <a:rPr lang="en-US" sz="2200" dirty="0"/>
              <a:t>The presence of these microcracks is very important in understanding the properties of nuclear graphite</a:t>
            </a:r>
          </a:p>
          <a:p>
            <a:r>
              <a:rPr lang="en-US" sz="2200" dirty="0"/>
              <a:t>These cracks form in both TRISO </a:t>
            </a:r>
            <a:r>
              <a:rPr lang="en-US" sz="2200" dirty="0" err="1"/>
              <a:t>PyC</a:t>
            </a:r>
            <a:r>
              <a:rPr lang="en-US" sz="2200" dirty="0"/>
              <a:t>, sometimes called highly orientated pyrolytic graphite (HOPG), and standard nuclear graphite</a:t>
            </a:r>
          </a:p>
          <a:p>
            <a:endParaRPr lang="en-US" sz="2200" dirty="0"/>
          </a:p>
          <a:p>
            <a:endParaRPr lang="en-US" sz="2200" dirty="0"/>
          </a:p>
        </p:txBody>
      </p:sp>
      <p:pic>
        <p:nvPicPr>
          <p:cNvPr id="6" name="Content Placeholder 5">
            <a:extLst>
              <a:ext uri="{FF2B5EF4-FFF2-40B4-BE49-F238E27FC236}">
                <a16:creationId xmlns:a16="http://schemas.microsoft.com/office/drawing/2014/main" id="{AA108053-49B5-114C-8E28-1B0C91D55E16}"/>
              </a:ext>
            </a:extLst>
          </p:cNvPr>
          <p:cNvPicPr>
            <a:picLocks noGrp="1" noChangeAspect="1"/>
          </p:cNvPicPr>
          <p:nvPr>
            <p:ph sz="half" idx="2"/>
          </p:nvPr>
        </p:nvPicPr>
        <p:blipFill rotWithShape="1">
          <a:blip r:embed="rId2"/>
          <a:srcRect r="47950"/>
          <a:stretch/>
        </p:blipFill>
        <p:spPr>
          <a:xfrm>
            <a:off x="8136757" y="1770463"/>
            <a:ext cx="2802759" cy="2276871"/>
          </a:xfrm>
          <a:prstGeom prst="rect">
            <a:avLst/>
          </a:prstGeom>
        </p:spPr>
      </p:pic>
      <p:sp>
        <p:nvSpPr>
          <p:cNvPr id="5" name="Slide Number Placeholder 4">
            <a:extLst>
              <a:ext uri="{FF2B5EF4-FFF2-40B4-BE49-F238E27FC236}">
                <a16:creationId xmlns:a16="http://schemas.microsoft.com/office/drawing/2014/main" id="{D30A3F28-A456-A84C-A43A-C6C1716A7B72}"/>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pic>
        <p:nvPicPr>
          <p:cNvPr id="7" name="Content Placeholder 5">
            <a:extLst>
              <a:ext uri="{FF2B5EF4-FFF2-40B4-BE49-F238E27FC236}">
                <a16:creationId xmlns:a16="http://schemas.microsoft.com/office/drawing/2014/main" id="{17C052EA-89A7-854D-AE28-985E9267A4E0}"/>
              </a:ext>
            </a:extLst>
          </p:cNvPr>
          <p:cNvPicPr>
            <a:picLocks noChangeAspect="1"/>
          </p:cNvPicPr>
          <p:nvPr/>
        </p:nvPicPr>
        <p:blipFill rotWithShape="1">
          <a:blip r:embed="rId2"/>
          <a:srcRect l="51789"/>
          <a:stretch/>
        </p:blipFill>
        <p:spPr bwMode="auto">
          <a:xfrm>
            <a:off x="8240110" y="4079481"/>
            <a:ext cx="2596055" cy="227687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pic>
    </p:spTree>
    <p:extLst>
      <p:ext uri="{BB962C8B-B14F-4D97-AF65-F5344CB8AC3E}">
        <p14:creationId xmlns:p14="http://schemas.microsoft.com/office/powerpoint/2010/main" val="312626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1F19D-19B6-7744-9C42-BDAC2021DA81}"/>
              </a:ext>
            </a:extLst>
          </p:cNvPr>
          <p:cNvSpPr>
            <a:spLocks noGrp="1"/>
          </p:cNvSpPr>
          <p:nvPr>
            <p:ph type="title"/>
          </p:nvPr>
        </p:nvSpPr>
        <p:spPr/>
        <p:txBody>
          <a:bodyPr/>
          <a:lstStyle/>
          <a:p>
            <a:r>
              <a:rPr lang="en-US" dirty="0"/>
              <a:t>Graphite Texture</a:t>
            </a:r>
          </a:p>
        </p:txBody>
      </p:sp>
      <p:sp>
        <p:nvSpPr>
          <p:cNvPr id="3" name="Content Placeholder 2">
            <a:extLst>
              <a:ext uri="{FF2B5EF4-FFF2-40B4-BE49-F238E27FC236}">
                <a16:creationId xmlns:a16="http://schemas.microsoft.com/office/drawing/2014/main" id="{FF451AF7-8C65-DD46-B1DB-55FD522BD2D0}"/>
              </a:ext>
            </a:extLst>
          </p:cNvPr>
          <p:cNvSpPr>
            <a:spLocks noGrp="1"/>
          </p:cNvSpPr>
          <p:nvPr>
            <p:ph sz="half" idx="1"/>
          </p:nvPr>
        </p:nvSpPr>
        <p:spPr>
          <a:xfrm>
            <a:off x="609600" y="1968503"/>
            <a:ext cx="7094484" cy="4157663"/>
          </a:xfrm>
        </p:spPr>
        <p:txBody>
          <a:bodyPr/>
          <a:lstStyle/>
          <a:p>
            <a:r>
              <a:rPr lang="en-US" sz="2000" dirty="0"/>
              <a:t>Graphite structure is largely dependent upon the manufacturing process</a:t>
            </a:r>
          </a:p>
          <a:p>
            <a:r>
              <a:rPr lang="en-US" sz="2000" dirty="0" err="1"/>
              <a:t>Graphites</a:t>
            </a:r>
            <a:r>
              <a:rPr lang="en-US" sz="2000" dirty="0"/>
              <a:t> are classified according to their grain size from coarse-grained (containing grains in the starting mix that are generally &gt;4mm) to microfine-grained (containing grains in the starting mix that are generally &lt;2 </a:t>
            </a:r>
            <a:r>
              <a:rPr lang="en-US" sz="2000" dirty="0">
                <a:latin typeface="Symbol" pitchFamily="2" charset="2"/>
              </a:rPr>
              <a:t>m</a:t>
            </a:r>
            <a:r>
              <a:rPr lang="en-US" sz="2000" dirty="0"/>
              <a:t>m)</a:t>
            </a:r>
          </a:p>
          <a:p>
            <a:r>
              <a:rPr lang="en-US" sz="2000" dirty="0"/>
              <a:t>Grade AGOT was used as the moderator in the earliest nuclear reactors in the United States</a:t>
            </a:r>
          </a:p>
          <a:p>
            <a:r>
              <a:rPr lang="en-US" sz="2000" dirty="0"/>
              <a:t>Nuclear graphite is medium to fine grained, includes grades of </a:t>
            </a:r>
            <a:r>
              <a:rPr lang="en-US" sz="2000" dirty="0" err="1"/>
              <a:t>Gilsocarbon</a:t>
            </a:r>
            <a:r>
              <a:rPr lang="en-US" sz="2000" dirty="0"/>
              <a:t>, IG-110 and IG-11, and many others</a:t>
            </a:r>
          </a:p>
          <a:p>
            <a:r>
              <a:rPr lang="en-US" sz="2000" dirty="0"/>
              <a:t>Ideally manufacture graphite with bulk isotropic properties; with grain/against grain ratios near 1</a:t>
            </a:r>
          </a:p>
        </p:txBody>
      </p:sp>
      <p:sp>
        <p:nvSpPr>
          <p:cNvPr id="5" name="Slide Number Placeholder 4">
            <a:extLst>
              <a:ext uri="{FF2B5EF4-FFF2-40B4-BE49-F238E27FC236}">
                <a16:creationId xmlns:a16="http://schemas.microsoft.com/office/drawing/2014/main" id="{38690538-41FF-A748-9613-BBEE5DA6375B}"/>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pic>
        <p:nvPicPr>
          <p:cNvPr id="9" name="Content Placeholder 8">
            <a:extLst>
              <a:ext uri="{FF2B5EF4-FFF2-40B4-BE49-F238E27FC236}">
                <a16:creationId xmlns:a16="http://schemas.microsoft.com/office/drawing/2014/main" id="{C99E0CF4-DCD0-1149-AD05-42B84F81EBD6}"/>
              </a:ext>
            </a:extLst>
          </p:cNvPr>
          <p:cNvPicPr>
            <a:picLocks noGrp="1" noChangeAspect="1"/>
          </p:cNvPicPr>
          <p:nvPr>
            <p:ph sz="half" idx="2"/>
          </p:nvPr>
        </p:nvPicPr>
        <p:blipFill>
          <a:blip r:embed="rId2"/>
          <a:stretch>
            <a:fillRect/>
          </a:stretch>
        </p:blipFill>
        <p:spPr>
          <a:xfrm>
            <a:off x="7865693" y="1882872"/>
            <a:ext cx="3254922" cy="2443523"/>
          </a:xfrm>
          <a:prstGeom prst="rect">
            <a:avLst/>
          </a:prstGeom>
        </p:spPr>
      </p:pic>
      <p:pic>
        <p:nvPicPr>
          <p:cNvPr id="10" name="Picture 9">
            <a:extLst>
              <a:ext uri="{FF2B5EF4-FFF2-40B4-BE49-F238E27FC236}">
                <a16:creationId xmlns:a16="http://schemas.microsoft.com/office/drawing/2014/main" id="{F8CAB3F4-03BB-A44F-A13B-55FC2BE27245}"/>
              </a:ext>
            </a:extLst>
          </p:cNvPr>
          <p:cNvPicPr>
            <a:picLocks noChangeAspect="1"/>
          </p:cNvPicPr>
          <p:nvPr/>
        </p:nvPicPr>
        <p:blipFill>
          <a:blip r:embed="rId3"/>
          <a:stretch>
            <a:fillRect/>
          </a:stretch>
        </p:blipFill>
        <p:spPr>
          <a:xfrm>
            <a:off x="7945712" y="4240766"/>
            <a:ext cx="3174903" cy="2419840"/>
          </a:xfrm>
          <a:prstGeom prst="rect">
            <a:avLst/>
          </a:prstGeom>
        </p:spPr>
      </p:pic>
    </p:spTree>
    <p:extLst>
      <p:ext uri="{BB962C8B-B14F-4D97-AF65-F5344CB8AC3E}">
        <p14:creationId xmlns:p14="http://schemas.microsoft.com/office/powerpoint/2010/main" val="29933949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2A544-A911-7943-A1A8-5BE3556A0622}"/>
              </a:ext>
            </a:extLst>
          </p:cNvPr>
          <p:cNvSpPr>
            <a:spLocks noGrp="1"/>
          </p:cNvSpPr>
          <p:nvPr>
            <p:ph type="title"/>
          </p:nvPr>
        </p:nvSpPr>
        <p:spPr/>
        <p:txBody>
          <a:bodyPr/>
          <a:lstStyle/>
          <a:p>
            <a:r>
              <a:rPr lang="en-US" dirty="0"/>
              <a:t>Initial Porosity</a:t>
            </a:r>
          </a:p>
        </p:txBody>
      </p:sp>
      <p:sp>
        <p:nvSpPr>
          <p:cNvPr id="3" name="Content Placeholder 2">
            <a:extLst>
              <a:ext uri="{FF2B5EF4-FFF2-40B4-BE49-F238E27FC236}">
                <a16:creationId xmlns:a16="http://schemas.microsoft.com/office/drawing/2014/main" id="{B828ED25-72FA-FF4F-9C5F-F9B973B71195}"/>
              </a:ext>
            </a:extLst>
          </p:cNvPr>
          <p:cNvSpPr>
            <a:spLocks noGrp="1"/>
          </p:cNvSpPr>
          <p:nvPr>
            <p:ph sz="half" idx="1"/>
          </p:nvPr>
        </p:nvSpPr>
        <p:spPr>
          <a:xfrm>
            <a:off x="609598" y="1968503"/>
            <a:ext cx="7220609" cy="4157663"/>
          </a:xfrm>
        </p:spPr>
        <p:txBody>
          <a:bodyPr/>
          <a:lstStyle/>
          <a:p>
            <a:r>
              <a:rPr lang="en-US" sz="2200" dirty="0"/>
              <a:t>A dominant feature of graphite texture is the amount of porosity</a:t>
            </a:r>
          </a:p>
          <a:p>
            <a:r>
              <a:rPr lang="en-US" sz="2200" dirty="0"/>
              <a:t>About half the total porosity is open to the surface</a:t>
            </a:r>
          </a:p>
          <a:p>
            <a:r>
              <a:rPr lang="en-US" sz="2200" dirty="0"/>
              <a:t>The formation of pores and cracks in the graphite during manufacture adds to the texture arising from grain orientation and causes anisotropy in the graphite physical properties</a:t>
            </a:r>
          </a:p>
          <a:p>
            <a:r>
              <a:rPr lang="en-US" sz="2200" dirty="0"/>
              <a:t>Three origins of porosity:</a:t>
            </a:r>
          </a:p>
          <a:p>
            <a:pPr lvl="1"/>
            <a:r>
              <a:rPr lang="en-US" sz="2200" dirty="0"/>
              <a:t>Those formed by incomplete filling of voids</a:t>
            </a:r>
          </a:p>
          <a:p>
            <a:pPr lvl="1"/>
            <a:r>
              <a:rPr lang="en-US" sz="2200" dirty="0"/>
              <a:t>Gas entrapment during pyrolysis</a:t>
            </a:r>
          </a:p>
          <a:p>
            <a:pPr lvl="1"/>
            <a:r>
              <a:rPr lang="en-US" sz="2200" dirty="0"/>
              <a:t>Thermal cracks</a:t>
            </a:r>
          </a:p>
          <a:p>
            <a:pPr lvl="1"/>
            <a:endParaRPr lang="en-US" sz="2200" dirty="0"/>
          </a:p>
          <a:p>
            <a:pPr lvl="1"/>
            <a:endParaRPr lang="en-US" sz="2200" dirty="0"/>
          </a:p>
          <a:p>
            <a:endParaRPr lang="en-US" sz="2200" dirty="0"/>
          </a:p>
        </p:txBody>
      </p:sp>
      <p:sp>
        <p:nvSpPr>
          <p:cNvPr id="5" name="Slide Number Placeholder 4">
            <a:extLst>
              <a:ext uri="{FF2B5EF4-FFF2-40B4-BE49-F238E27FC236}">
                <a16:creationId xmlns:a16="http://schemas.microsoft.com/office/drawing/2014/main" id="{44A62C58-CA4C-6942-BEFA-EDEA17FB975E}"/>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pic>
        <p:nvPicPr>
          <p:cNvPr id="6" name="Content Placeholder 8">
            <a:extLst>
              <a:ext uri="{FF2B5EF4-FFF2-40B4-BE49-F238E27FC236}">
                <a16:creationId xmlns:a16="http://schemas.microsoft.com/office/drawing/2014/main" id="{DF64485B-B771-4946-A0CB-7B9DFC210107}"/>
              </a:ext>
            </a:extLst>
          </p:cNvPr>
          <p:cNvPicPr>
            <a:picLocks noGrp="1" noChangeAspect="1"/>
          </p:cNvPicPr>
          <p:nvPr>
            <p:ph sz="half" idx="2"/>
          </p:nvPr>
        </p:nvPicPr>
        <p:blipFill>
          <a:blip r:embed="rId2"/>
          <a:stretch>
            <a:fillRect/>
          </a:stretch>
        </p:blipFill>
        <p:spPr>
          <a:xfrm>
            <a:off x="7883986" y="2383634"/>
            <a:ext cx="4147074" cy="3113276"/>
          </a:xfrm>
          <a:prstGeom prst="rect">
            <a:avLst/>
          </a:prstGeom>
        </p:spPr>
      </p:pic>
    </p:spTree>
    <p:extLst>
      <p:ext uri="{BB962C8B-B14F-4D97-AF65-F5344CB8AC3E}">
        <p14:creationId xmlns:p14="http://schemas.microsoft.com/office/powerpoint/2010/main" val="3541632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CB127-6272-514A-97CE-21AC2C24E9BD}"/>
              </a:ext>
            </a:extLst>
          </p:cNvPr>
          <p:cNvSpPr>
            <a:spLocks noGrp="1"/>
          </p:cNvSpPr>
          <p:nvPr>
            <p:ph type="title"/>
          </p:nvPr>
        </p:nvSpPr>
        <p:spPr/>
        <p:txBody>
          <a:bodyPr/>
          <a:lstStyle/>
          <a:p>
            <a:r>
              <a:rPr lang="en-US" dirty="0"/>
              <a:t>RADIATION EFFECTS IN GRAPHITE</a:t>
            </a:r>
          </a:p>
        </p:txBody>
      </p:sp>
      <p:sp>
        <p:nvSpPr>
          <p:cNvPr id="3" name="Slide Number Placeholder 2">
            <a:extLst>
              <a:ext uri="{FF2B5EF4-FFF2-40B4-BE49-F238E27FC236}">
                <a16:creationId xmlns:a16="http://schemas.microsoft.com/office/drawing/2014/main" id="{92294122-7BB9-1644-86BE-EE21060E4A90}"/>
              </a:ext>
            </a:extLst>
          </p:cNvPr>
          <p:cNvSpPr>
            <a:spLocks noGrp="1"/>
          </p:cNvSpPr>
          <p:nvPr>
            <p:ph type="sldNum" sz="quarter" idx="12"/>
          </p:nvPr>
        </p:nvSpPr>
        <p:spPr/>
        <p:txBody>
          <a:bodyPr/>
          <a:lstStyle/>
          <a:p>
            <a:pPr>
              <a:defRPr/>
            </a:pPr>
            <a:fld id="{C2AB7D4D-4E81-5B40-91F6-CF14C25F8623}" type="slidenum">
              <a:rPr lang="en-US" smtClean="0"/>
              <a:pPr>
                <a:defRPr/>
              </a:pPr>
              <a:t>17</a:t>
            </a:fld>
            <a:endParaRPr lang="en-US"/>
          </a:p>
        </p:txBody>
      </p:sp>
    </p:spTree>
    <p:extLst>
      <p:ext uri="{BB962C8B-B14F-4D97-AF65-F5344CB8AC3E}">
        <p14:creationId xmlns:p14="http://schemas.microsoft.com/office/powerpoint/2010/main" val="2968417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Graphite Shrinkage</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6350598" cy="4157663"/>
          </a:xfrm>
        </p:spPr>
        <p:txBody>
          <a:bodyPr/>
          <a:lstStyle/>
          <a:p>
            <a:r>
              <a:rPr lang="en-US" sz="2000" dirty="0"/>
              <a:t>When graphite components are irradiated in a reactor, significant changes to their dimensions and properties occur</a:t>
            </a:r>
          </a:p>
          <a:p>
            <a:r>
              <a:rPr lang="en-US" sz="2000" dirty="0"/>
              <a:t>The unit of irradiation exposure EDND used in the figures is particular to nuclear graphite technology</a:t>
            </a:r>
          </a:p>
          <a:p>
            <a:r>
              <a:rPr lang="en-US" sz="2000" dirty="0"/>
              <a:t>EDND = Equivalent DIDO Nickel Dose </a:t>
            </a:r>
          </a:p>
          <a:p>
            <a:r>
              <a:rPr lang="en-US" sz="2000" dirty="0"/>
              <a:t>EDNF = Equivalent DIDO Nickel Flux</a:t>
            </a:r>
          </a:p>
          <a:p>
            <a:r>
              <a:rPr lang="en-US" sz="2000" dirty="0"/>
              <a:t>They are based upon the equivalent nickel activation in the DIDO reactor</a:t>
            </a:r>
          </a:p>
          <a:p>
            <a:endParaRPr lang="en-US" sz="2000" dirty="0"/>
          </a:p>
          <a:p>
            <a:pPr marL="0" indent="0">
              <a:buNone/>
            </a:pPr>
            <a:endParaRPr lang="en-US" sz="2000" dirty="0"/>
          </a:p>
          <a:p>
            <a:endParaRPr lang="en-US" sz="2000" dirty="0"/>
          </a:p>
        </p:txBody>
      </p:sp>
      <p:pic>
        <p:nvPicPr>
          <p:cNvPr id="12" name="Picture 11">
            <a:extLst>
              <a:ext uri="{FF2B5EF4-FFF2-40B4-BE49-F238E27FC236}">
                <a16:creationId xmlns:a16="http://schemas.microsoft.com/office/drawing/2014/main" id="{FDAACC0A-1382-D844-88C2-AAB48FB3A739}"/>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213600" y="4359214"/>
            <a:ext cx="3414956" cy="2322348"/>
          </a:xfrm>
          <a:prstGeom prst="rect">
            <a:avLst/>
          </a:prstGeom>
        </p:spPr>
      </p:pic>
      <p:pic>
        <p:nvPicPr>
          <p:cNvPr id="13" name="Content Placeholder 12">
            <a:extLst>
              <a:ext uri="{FF2B5EF4-FFF2-40B4-BE49-F238E27FC236}">
                <a16:creationId xmlns:a16="http://schemas.microsoft.com/office/drawing/2014/main" id="{71B2C9C6-EB1B-7341-A268-24F92404C3C5}"/>
              </a:ext>
            </a:extLst>
          </p:cNvPr>
          <p:cNvPicPr>
            <a:picLocks noGrp="1" noChangeAspect="1"/>
          </p:cNvPicPr>
          <p:nvPr>
            <p:ph sz="half" idx="2"/>
          </p:nvPr>
        </p:nvPicPr>
        <p:blipFill rotWithShape="1">
          <a:blip r:embed="rId3" cstate="email">
            <a:extLst>
              <a:ext uri="{28A0092B-C50C-407E-A947-70E740481C1C}">
                <a14:useLocalDpi xmlns:a14="http://schemas.microsoft.com/office/drawing/2010/main"/>
              </a:ext>
            </a:extLst>
          </a:blip>
          <a:srcRect/>
          <a:stretch/>
        </p:blipFill>
        <p:spPr>
          <a:xfrm>
            <a:off x="7213600" y="1925468"/>
            <a:ext cx="3634632" cy="2390714"/>
          </a:xfrm>
          <a:prstGeom prst="rect">
            <a:avLst/>
          </a:prstGeom>
        </p:spPr>
      </p:pic>
      <p:pic>
        <p:nvPicPr>
          <p:cNvPr id="4" name="Picture 3">
            <a:extLst>
              <a:ext uri="{FF2B5EF4-FFF2-40B4-BE49-F238E27FC236}">
                <a16:creationId xmlns:a16="http://schemas.microsoft.com/office/drawing/2014/main" id="{7B84BFBE-DA8C-1946-B82B-941A06BDB18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237394" y="5171770"/>
            <a:ext cx="2260600" cy="685800"/>
          </a:xfrm>
          <a:prstGeom prst="rect">
            <a:avLst/>
          </a:prstGeom>
        </p:spPr>
      </p:pic>
      <p:sp>
        <p:nvSpPr>
          <p:cNvPr id="5" name="Slide Number Placeholder 4">
            <a:extLst>
              <a:ext uri="{FF2B5EF4-FFF2-40B4-BE49-F238E27FC236}">
                <a16:creationId xmlns:a16="http://schemas.microsoft.com/office/drawing/2014/main" id="{71CDF259-68A0-0D48-912C-85F83C5B638D}"/>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pic>
        <p:nvPicPr>
          <p:cNvPr id="6" name="Picture 5">
            <a:extLst>
              <a:ext uri="{FF2B5EF4-FFF2-40B4-BE49-F238E27FC236}">
                <a16:creationId xmlns:a16="http://schemas.microsoft.com/office/drawing/2014/main" id="{E5260261-BE16-EC48-8381-F1D843C3CE79}"/>
              </a:ext>
            </a:extLst>
          </p:cNvPr>
          <p:cNvPicPr>
            <a:picLocks noChangeAspect="1"/>
          </p:cNvPicPr>
          <p:nvPr/>
        </p:nvPicPr>
        <p:blipFill>
          <a:blip r:embed="rId5"/>
          <a:stretch>
            <a:fillRect/>
          </a:stretch>
        </p:blipFill>
        <p:spPr>
          <a:xfrm>
            <a:off x="1930343" y="5311470"/>
            <a:ext cx="1447800" cy="406400"/>
          </a:xfrm>
          <a:prstGeom prst="rect">
            <a:avLst/>
          </a:prstGeom>
        </p:spPr>
      </p:pic>
    </p:spTree>
    <p:extLst>
      <p:ext uri="{BB962C8B-B14F-4D97-AF65-F5344CB8AC3E}">
        <p14:creationId xmlns:p14="http://schemas.microsoft.com/office/powerpoint/2010/main" val="758624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Graphite Shrinkage</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600" y="1968503"/>
            <a:ext cx="6350598" cy="4157663"/>
          </a:xfrm>
        </p:spPr>
        <p:txBody>
          <a:bodyPr/>
          <a:lstStyle/>
          <a:p>
            <a:r>
              <a:rPr lang="en-US" sz="2000" dirty="0"/>
              <a:t>Graphite typically shrinks with dose until a point is reached where the shrinkage stops, and the graphite starts to swell</a:t>
            </a:r>
          </a:p>
          <a:p>
            <a:r>
              <a:rPr lang="en-US" sz="2000" dirty="0"/>
              <a:t>This change from shrinkage to swelling is known as "turnaround”</a:t>
            </a:r>
          </a:p>
          <a:p>
            <a:r>
              <a:rPr lang="en-US" sz="2000" dirty="0"/>
              <a:t>Due to the manufacturing process of nuclear graphite, the graphite component has a much lower density than may be expected (1.7-1.9 g/cm3) compared with 2.2.6 g/cm3 for pure graphite crystals</a:t>
            </a:r>
          </a:p>
          <a:p>
            <a:r>
              <a:rPr lang="en-US" sz="2000" dirty="0"/>
              <a:t>The original state of the graphite, and the particular radiation defects in graphite, govern this fluence-dependent behavior</a:t>
            </a:r>
          </a:p>
          <a:p>
            <a:endParaRPr lang="en-US" sz="2000" dirty="0"/>
          </a:p>
          <a:p>
            <a:endParaRPr lang="en-US" sz="2000" dirty="0"/>
          </a:p>
          <a:p>
            <a:endParaRPr lang="en-US" sz="2000" dirty="0"/>
          </a:p>
          <a:p>
            <a:endParaRPr lang="en-US" sz="2000" dirty="0"/>
          </a:p>
        </p:txBody>
      </p:sp>
      <p:pic>
        <p:nvPicPr>
          <p:cNvPr id="12" name="Picture 11">
            <a:extLst>
              <a:ext uri="{FF2B5EF4-FFF2-40B4-BE49-F238E27FC236}">
                <a16:creationId xmlns:a16="http://schemas.microsoft.com/office/drawing/2014/main" id="{FDAACC0A-1382-D844-88C2-AAB48FB3A739}"/>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213600" y="4359214"/>
            <a:ext cx="3414956" cy="2322348"/>
          </a:xfrm>
          <a:prstGeom prst="rect">
            <a:avLst/>
          </a:prstGeom>
        </p:spPr>
      </p:pic>
      <p:pic>
        <p:nvPicPr>
          <p:cNvPr id="13" name="Content Placeholder 12">
            <a:extLst>
              <a:ext uri="{FF2B5EF4-FFF2-40B4-BE49-F238E27FC236}">
                <a16:creationId xmlns:a16="http://schemas.microsoft.com/office/drawing/2014/main" id="{71B2C9C6-EB1B-7341-A268-24F92404C3C5}"/>
              </a:ext>
            </a:extLst>
          </p:cNvPr>
          <p:cNvPicPr>
            <a:picLocks noGrp="1" noChangeAspect="1"/>
          </p:cNvPicPr>
          <p:nvPr>
            <p:ph sz="half" idx="2"/>
          </p:nvPr>
        </p:nvPicPr>
        <p:blipFill rotWithShape="1">
          <a:blip r:embed="rId3" cstate="email">
            <a:extLst>
              <a:ext uri="{28A0092B-C50C-407E-A947-70E740481C1C}">
                <a14:useLocalDpi xmlns:a14="http://schemas.microsoft.com/office/drawing/2010/main"/>
              </a:ext>
            </a:extLst>
          </a:blip>
          <a:srcRect/>
          <a:stretch/>
        </p:blipFill>
        <p:spPr>
          <a:xfrm>
            <a:off x="7213600" y="1925468"/>
            <a:ext cx="3634632" cy="2390714"/>
          </a:xfrm>
          <a:prstGeom prst="rect">
            <a:avLst/>
          </a:prstGeom>
        </p:spPr>
      </p:pic>
      <p:sp>
        <p:nvSpPr>
          <p:cNvPr id="4" name="Slide Number Placeholder 3">
            <a:extLst>
              <a:ext uri="{FF2B5EF4-FFF2-40B4-BE49-F238E27FC236}">
                <a16:creationId xmlns:a16="http://schemas.microsoft.com/office/drawing/2014/main" id="{05D93974-879A-8D48-83D2-7B57A7F8E6DF}"/>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33659144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911E5C-FC6A-604F-BF88-363B16E2BB27}"/>
              </a:ext>
            </a:extLst>
          </p:cNvPr>
          <p:cNvSpPr>
            <a:spLocks noGrp="1"/>
          </p:cNvSpPr>
          <p:nvPr>
            <p:ph type="title"/>
          </p:nvPr>
        </p:nvSpPr>
        <p:spPr/>
        <p:txBody>
          <a:bodyPr/>
          <a:lstStyle/>
          <a:p>
            <a:r>
              <a:rPr lang="en-US" dirty="0"/>
              <a:t>Graphite Dimensional Change</a:t>
            </a:r>
          </a:p>
        </p:txBody>
      </p:sp>
      <p:sp>
        <p:nvSpPr>
          <p:cNvPr id="3" name="Content Placeholder 2">
            <a:extLst>
              <a:ext uri="{FF2B5EF4-FFF2-40B4-BE49-F238E27FC236}">
                <a16:creationId xmlns:a16="http://schemas.microsoft.com/office/drawing/2014/main" id="{1823F0CA-D662-FB4B-82D6-ED2E7356431D}"/>
              </a:ext>
            </a:extLst>
          </p:cNvPr>
          <p:cNvSpPr>
            <a:spLocks noGrp="1"/>
          </p:cNvSpPr>
          <p:nvPr>
            <p:ph sz="half" idx="1"/>
          </p:nvPr>
        </p:nvSpPr>
        <p:spPr>
          <a:xfrm>
            <a:off x="609599" y="1968503"/>
            <a:ext cx="5812715" cy="4157663"/>
          </a:xfrm>
        </p:spPr>
        <p:txBody>
          <a:bodyPr/>
          <a:lstStyle/>
          <a:p>
            <a:r>
              <a:rPr lang="en-US" sz="2000" dirty="0"/>
              <a:t>Dimensional change data obtained on AGR graphite samples are shown at the right</a:t>
            </a:r>
          </a:p>
          <a:p>
            <a:r>
              <a:rPr lang="en-US" sz="2000" dirty="0"/>
              <a:t>The higher the temperature the sooner ‘turnaround’ from shrinkage to swelling occurs</a:t>
            </a:r>
          </a:p>
          <a:p>
            <a:r>
              <a:rPr lang="en-US" sz="2000" dirty="0"/>
              <a:t>This behavior is typical for most semi-isotropic, medium and fine-grained graphite grades, although the magnitude of the changes varies from grade to grade</a:t>
            </a:r>
          </a:p>
          <a:p>
            <a:r>
              <a:rPr lang="en-US" sz="2000" dirty="0"/>
              <a:t>Nuclear graphite, such as </a:t>
            </a:r>
            <a:r>
              <a:rPr lang="en-US" sz="2000" dirty="0" err="1"/>
              <a:t>Gilsocarbon</a:t>
            </a:r>
            <a:r>
              <a:rPr lang="en-US" sz="2000" dirty="0"/>
              <a:t>, is semi-isotropic</a:t>
            </a:r>
          </a:p>
          <a:p>
            <a:r>
              <a:rPr lang="en-US" sz="2000" dirty="0"/>
              <a:t>Anisotropic graphite can display significantly different irradiation behavior</a:t>
            </a:r>
          </a:p>
          <a:p>
            <a:endParaRPr lang="en-US" sz="2000" dirty="0"/>
          </a:p>
        </p:txBody>
      </p:sp>
      <p:pic>
        <p:nvPicPr>
          <p:cNvPr id="5" name="Content Placeholder 4">
            <a:extLst>
              <a:ext uri="{FF2B5EF4-FFF2-40B4-BE49-F238E27FC236}">
                <a16:creationId xmlns:a16="http://schemas.microsoft.com/office/drawing/2014/main" id="{DEC56998-9EB4-2849-9DA6-B6E540EC2DD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842955" y="2420444"/>
            <a:ext cx="4888857" cy="2939831"/>
          </a:xfrm>
          <a:prstGeom prst="rect">
            <a:avLst/>
          </a:prstGeom>
        </p:spPr>
      </p:pic>
      <p:sp>
        <p:nvSpPr>
          <p:cNvPr id="4" name="Slide Number Placeholder 3">
            <a:extLst>
              <a:ext uri="{FF2B5EF4-FFF2-40B4-BE49-F238E27FC236}">
                <a16:creationId xmlns:a16="http://schemas.microsoft.com/office/drawing/2014/main" id="{D83EC8E6-CEA5-9C4C-BA2B-865331BB5D05}"/>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29069950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4432D-2BE7-1146-8D26-7940FE36C43D}"/>
              </a:ext>
            </a:extLst>
          </p:cNvPr>
          <p:cNvSpPr>
            <a:spLocks noGrp="1"/>
          </p:cNvSpPr>
          <p:nvPr>
            <p:ph type="title"/>
          </p:nvPr>
        </p:nvSpPr>
        <p:spPr/>
        <p:txBody>
          <a:bodyPr/>
          <a:lstStyle/>
          <a:p>
            <a:r>
              <a:rPr lang="en-US" dirty="0"/>
              <a:t>Interstitials in Graphite</a:t>
            </a:r>
          </a:p>
        </p:txBody>
      </p:sp>
      <p:sp>
        <p:nvSpPr>
          <p:cNvPr id="3" name="Content Placeholder 2">
            <a:extLst>
              <a:ext uri="{FF2B5EF4-FFF2-40B4-BE49-F238E27FC236}">
                <a16:creationId xmlns:a16="http://schemas.microsoft.com/office/drawing/2014/main" id="{C6FFB0D5-E317-DB4C-B577-18052EBA0AF6}"/>
              </a:ext>
            </a:extLst>
          </p:cNvPr>
          <p:cNvSpPr>
            <a:spLocks noGrp="1"/>
          </p:cNvSpPr>
          <p:nvPr>
            <p:ph sz="half" idx="1"/>
          </p:nvPr>
        </p:nvSpPr>
        <p:spPr>
          <a:xfrm>
            <a:off x="609600" y="1968503"/>
            <a:ext cx="5673155" cy="4157663"/>
          </a:xfrm>
        </p:spPr>
        <p:txBody>
          <a:bodyPr/>
          <a:lstStyle/>
          <a:p>
            <a:r>
              <a:rPr lang="en-US" sz="2200" dirty="0"/>
              <a:t>The interstitial atom prefers to form a bridge-like structure on the graphene surface</a:t>
            </a:r>
          </a:p>
          <a:p>
            <a:r>
              <a:rPr lang="en-US" sz="2200" dirty="0"/>
              <a:t>Repelling the two graphene sheets increases </a:t>
            </a:r>
            <a:r>
              <a:rPr lang="en-US" sz="2200" i="1" dirty="0"/>
              <a:t>c</a:t>
            </a:r>
            <a:r>
              <a:rPr lang="en-US" sz="2200" dirty="0"/>
              <a:t>, yielding a corresponding contraction in </a:t>
            </a:r>
            <a:r>
              <a:rPr lang="en-US" sz="2200" i="1" dirty="0"/>
              <a:t>a</a:t>
            </a:r>
          </a:p>
          <a:p>
            <a:r>
              <a:rPr lang="en-US" sz="2200" dirty="0"/>
              <a:t>Vacancies shrink the basal plane, further reducing </a:t>
            </a:r>
            <a:r>
              <a:rPr lang="en-US" sz="2200" i="1" dirty="0"/>
              <a:t>a</a:t>
            </a:r>
          </a:p>
          <a:p>
            <a:r>
              <a:rPr lang="en-US" sz="2200" dirty="0"/>
              <a:t>Turnaround occurs when the matrix can no longer accommodate the defect-induced dimensional change</a:t>
            </a:r>
          </a:p>
          <a:p>
            <a:endParaRPr lang="en-US" sz="2200" dirty="0"/>
          </a:p>
          <a:p>
            <a:endParaRPr lang="en-US" sz="2200" dirty="0"/>
          </a:p>
        </p:txBody>
      </p:sp>
      <p:pic>
        <p:nvPicPr>
          <p:cNvPr id="7" name="Picture 6">
            <a:extLst>
              <a:ext uri="{FF2B5EF4-FFF2-40B4-BE49-F238E27FC236}">
                <a16:creationId xmlns:a16="http://schemas.microsoft.com/office/drawing/2014/main" id="{F648E3BF-F589-EA41-A0FF-6B7DEAF24D23}"/>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6288383" y="2238783"/>
            <a:ext cx="2703610" cy="1322917"/>
          </a:xfrm>
          <a:prstGeom prst="rect">
            <a:avLst/>
          </a:prstGeom>
        </p:spPr>
      </p:pic>
      <p:sp>
        <p:nvSpPr>
          <p:cNvPr id="4" name="Slide Number Placeholder 3">
            <a:extLst>
              <a:ext uri="{FF2B5EF4-FFF2-40B4-BE49-F238E27FC236}">
                <a16:creationId xmlns:a16="http://schemas.microsoft.com/office/drawing/2014/main" id="{84BA2553-D263-6E49-87D2-AE7148064574}"/>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pic>
        <p:nvPicPr>
          <p:cNvPr id="10" name="Content Placeholder 9">
            <a:extLst>
              <a:ext uri="{FF2B5EF4-FFF2-40B4-BE49-F238E27FC236}">
                <a16:creationId xmlns:a16="http://schemas.microsoft.com/office/drawing/2014/main" id="{B0FFA22C-BC95-5840-9ABE-FA443EDFF793}"/>
              </a:ext>
            </a:extLst>
          </p:cNvPr>
          <p:cNvPicPr>
            <a:picLocks noGrp="1" noChangeAspect="1"/>
          </p:cNvPicPr>
          <p:nvPr>
            <p:ph sz="half" idx="2"/>
          </p:nvPr>
        </p:nvPicPr>
        <p:blipFill>
          <a:blip r:embed="rId3"/>
          <a:stretch>
            <a:fillRect/>
          </a:stretch>
        </p:blipFill>
        <p:spPr>
          <a:xfrm>
            <a:off x="6197602" y="3738413"/>
            <a:ext cx="5384800" cy="2441226"/>
          </a:xfrm>
          <a:prstGeom prst="rect">
            <a:avLst/>
          </a:prstGeom>
        </p:spPr>
      </p:pic>
      <p:pic>
        <p:nvPicPr>
          <p:cNvPr id="11" name="Content Placeholder 5">
            <a:extLst>
              <a:ext uri="{FF2B5EF4-FFF2-40B4-BE49-F238E27FC236}">
                <a16:creationId xmlns:a16="http://schemas.microsoft.com/office/drawing/2014/main" id="{4BDB920F-19EE-CA4A-AA3B-FF89C8399AB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bwMode="auto">
          <a:xfrm>
            <a:off x="8997621" y="1787153"/>
            <a:ext cx="2878762" cy="2032338"/>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15693542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93B70-18CE-9442-825C-EFD77FB9CB97}"/>
              </a:ext>
            </a:extLst>
          </p:cNvPr>
          <p:cNvSpPr>
            <a:spLocks noGrp="1"/>
          </p:cNvSpPr>
          <p:nvPr>
            <p:ph type="title"/>
          </p:nvPr>
        </p:nvSpPr>
        <p:spPr/>
        <p:txBody>
          <a:bodyPr/>
          <a:lstStyle/>
          <a:p>
            <a:r>
              <a:rPr lang="en-US" dirty="0"/>
              <a:t>Graphite Shrinkage</a:t>
            </a:r>
          </a:p>
        </p:txBody>
      </p:sp>
      <p:sp>
        <p:nvSpPr>
          <p:cNvPr id="3" name="Content Placeholder 2">
            <a:extLst>
              <a:ext uri="{FF2B5EF4-FFF2-40B4-BE49-F238E27FC236}">
                <a16:creationId xmlns:a16="http://schemas.microsoft.com/office/drawing/2014/main" id="{0B723F4E-44DD-4A4B-8B40-3D8F8549E12A}"/>
              </a:ext>
            </a:extLst>
          </p:cNvPr>
          <p:cNvSpPr>
            <a:spLocks noGrp="1"/>
          </p:cNvSpPr>
          <p:nvPr>
            <p:ph sz="half" idx="1"/>
          </p:nvPr>
        </p:nvSpPr>
        <p:spPr>
          <a:xfrm>
            <a:off x="609599" y="1968503"/>
            <a:ext cx="7522023" cy="4157663"/>
          </a:xfrm>
        </p:spPr>
        <p:txBody>
          <a:bodyPr/>
          <a:lstStyle/>
          <a:p>
            <a:r>
              <a:rPr lang="en-US" sz="2000" dirty="0"/>
              <a:t>Nuclear graphite possess a polycrystalline structure, usually with significant texture resulting from the method of forming during manufacture </a:t>
            </a:r>
          </a:p>
          <a:p>
            <a:r>
              <a:rPr lang="en-US" sz="2000" dirty="0"/>
              <a:t>Thermal shrinkage cracks that occur during manufacture and that are preferentially aligned in the crystallographic a-direction will initially accommodate the c-direction expansion</a:t>
            </a:r>
          </a:p>
          <a:p>
            <a:r>
              <a:rPr lang="en-US" sz="2000" dirty="0"/>
              <a:t>So, contraction in the a-direction will be observed, and graphite thus undergoes net volume shrinkage</a:t>
            </a:r>
          </a:p>
          <a:p>
            <a:r>
              <a:rPr lang="en-US" sz="2000" dirty="0"/>
              <a:t>With increasing dose, the crystallite dimensional changes fill in the porosity, and the volume shrinkage rate falls, eventually reaching zero</a:t>
            </a:r>
          </a:p>
          <a:p>
            <a:r>
              <a:rPr lang="en-US" sz="2000" dirty="0"/>
              <a:t>The graphite now begins to swell at an increasing rate with increasing neutron dose</a:t>
            </a:r>
          </a:p>
        </p:txBody>
      </p:sp>
      <p:sp>
        <p:nvSpPr>
          <p:cNvPr id="5" name="Slide Number Placeholder 4">
            <a:extLst>
              <a:ext uri="{FF2B5EF4-FFF2-40B4-BE49-F238E27FC236}">
                <a16:creationId xmlns:a16="http://schemas.microsoft.com/office/drawing/2014/main" id="{DDE32DB8-359C-B84B-B5A6-8087070A4DF2}"/>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pic>
        <p:nvPicPr>
          <p:cNvPr id="6" name="Picture 5">
            <a:extLst>
              <a:ext uri="{FF2B5EF4-FFF2-40B4-BE49-F238E27FC236}">
                <a16:creationId xmlns:a16="http://schemas.microsoft.com/office/drawing/2014/main" id="{4FEC4A1F-E90F-E540-8B64-D4F047C92CF6}"/>
              </a:ext>
            </a:extLst>
          </p:cNvPr>
          <p:cNvPicPr>
            <a:picLocks noChangeAspect="1"/>
          </p:cNvPicPr>
          <p:nvPr/>
        </p:nvPicPr>
        <p:blipFill>
          <a:blip r:embed="rId2"/>
          <a:stretch>
            <a:fillRect/>
          </a:stretch>
        </p:blipFill>
        <p:spPr>
          <a:xfrm>
            <a:off x="8811611" y="4324762"/>
            <a:ext cx="2327922" cy="2338552"/>
          </a:xfrm>
          <a:prstGeom prst="rect">
            <a:avLst/>
          </a:prstGeom>
        </p:spPr>
      </p:pic>
      <p:pic>
        <p:nvPicPr>
          <p:cNvPr id="7" name="Content Placeholder 5">
            <a:extLst>
              <a:ext uri="{FF2B5EF4-FFF2-40B4-BE49-F238E27FC236}">
                <a16:creationId xmlns:a16="http://schemas.microsoft.com/office/drawing/2014/main" id="{56F97FBC-A218-CA4E-8B33-6466C4C4189B}"/>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bwMode="auto">
          <a:xfrm>
            <a:off x="8438055" y="1862957"/>
            <a:ext cx="3443890" cy="243130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2877276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56018-AC38-B74D-A2D1-398BA4A29855}"/>
              </a:ext>
            </a:extLst>
          </p:cNvPr>
          <p:cNvSpPr>
            <a:spLocks noGrp="1"/>
          </p:cNvSpPr>
          <p:nvPr>
            <p:ph type="title"/>
          </p:nvPr>
        </p:nvSpPr>
        <p:spPr/>
        <p:txBody>
          <a:bodyPr/>
          <a:lstStyle/>
          <a:p>
            <a:r>
              <a:rPr lang="en-US" dirty="0"/>
              <a:t>Graphite Irradiation Under Loading</a:t>
            </a:r>
          </a:p>
        </p:txBody>
      </p:sp>
      <p:sp>
        <p:nvSpPr>
          <p:cNvPr id="3" name="Content Placeholder 2">
            <a:extLst>
              <a:ext uri="{FF2B5EF4-FFF2-40B4-BE49-F238E27FC236}">
                <a16:creationId xmlns:a16="http://schemas.microsoft.com/office/drawing/2014/main" id="{9DCCD833-CCD9-AA41-BFFB-6DE3C332F967}"/>
              </a:ext>
            </a:extLst>
          </p:cNvPr>
          <p:cNvSpPr>
            <a:spLocks noGrp="1"/>
          </p:cNvSpPr>
          <p:nvPr>
            <p:ph sz="half" idx="1"/>
          </p:nvPr>
        </p:nvSpPr>
        <p:spPr>
          <a:xfrm>
            <a:off x="609600" y="1968503"/>
            <a:ext cx="5446955" cy="4157663"/>
          </a:xfrm>
        </p:spPr>
        <p:txBody>
          <a:bodyPr/>
          <a:lstStyle/>
          <a:p>
            <a:r>
              <a:rPr lang="en-US" sz="2000" dirty="0"/>
              <a:t>If graphite is irradiated under load the dimensional change data are modified</a:t>
            </a:r>
          </a:p>
          <a:p>
            <a:r>
              <a:rPr lang="en-US" sz="2000" dirty="0"/>
              <a:t>The difference between loaded and unloaded dimensional change is referred to as creep</a:t>
            </a:r>
          </a:p>
          <a:p>
            <a:r>
              <a:rPr lang="en-US" sz="2000" dirty="0"/>
              <a:t>The shrinkage is increased under compression and reduced under tension</a:t>
            </a:r>
          </a:p>
          <a:p>
            <a:r>
              <a:rPr lang="en-US" sz="2000" dirty="0"/>
              <a:t>With increasing fluence the creep strain increases fairly linearly at first, and then the rate reduces before finally increasing</a:t>
            </a:r>
          </a:p>
          <a:p>
            <a:endParaRPr lang="en-US" sz="2000" dirty="0"/>
          </a:p>
          <a:p>
            <a:endParaRPr lang="en-US" sz="2000" dirty="0"/>
          </a:p>
          <a:p>
            <a:endParaRPr lang="en-US" sz="2000" dirty="0"/>
          </a:p>
          <a:p>
            <a:endParaRPr lang="en-US" sz="2000" dirty="0"/>
          </a:p>
        </p:txBody>
      </p:sp>
      <p:pic>
        <p:nvPicPr>
          <p:cNvPr id="5" name="Content Placeholder 4">
            <a:extLst>
              <a:ext uri="{FF2B5EF4-FFF2-40B4-BE49-F238E27FC236}">
                <a16:creationId xmlns:a16="http://schemas.microsoft.com/office/drawing/2014/main" id="{5CF30C49-A168-AE42-A27C-DD9F810731EF}"/>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197600" y="2253322"/>
            <a:ext cx="5384800" cy="3588018"/>
          </a:xfrm>
          <a:prstGeom prst="rect">
            <a:avLst/>
          </a:prstGeom>
        </p:spPr>
      </p:pic>
      <p:sp>
        <p:nvSpPr>
          <p:cNvPr id="4" name="Slide Number Placeholder 3">
            <a:extLst>
              <a:ext uri="{FF2B5EF4-FFF2-40B4-BE49-F238E27FC236}">
                <a16:creationId xmlns:a16="http://schemas.microsoft.com/office/drawing/2014/main" id="{9D7E2D6F-3574-B848-B5D7-CD170E09C464}"/>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a:p>
        </p:txBody>
      </p:sp>
    </p:spTree>
    <p:extLst>
      <p:ext uri="{BB962C8B-B14F-4D97-AF65-F5344CB8AC3E}">
        <p14:creationId xmlns:p14="http://schemas.microsoft.com/office/powerpoint/2010/main" val="21181011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7A6EF-4E20-3A43-97CC-DFA54E70C92C}"/>
              </a:ext>
            </a:extLst>
          </p:cNvPr>
          <p:cNvSpPr>
            <a:spLocks noGrp="1"/>
          </p:cNvSpPr>
          <p:nvPr>
            <p:ph type="title"/>
          </p:nvPr>
        </p:nvSpPr>
        <p:spPr/>
        <p:txBody>
          <a:bodyPr/>
          <a:lstStyle/>
          <a:p>
            <a:r>
              <a:rPr lang="en-US" dirty="0"/>
              <a:t>Thermal Conductivity</a:t>
            </a:r>
          </a:p>
        </p:txBody>
      </p:sp>
      <p:sp>
        <p:nvSpPr>
          <p:cNvPr id="3" name="Content Placeholder 2">
            <a:extLst>
              <a:ext uri="{FF2B5EF4-FFF2-40B4-BE49-F238E27FC236}">
                <a16:creationId xmlns:a16="http://schemas.microsoft.com/office/drawing/2014/main" id="{CBE31A8B-78D6-6E40-B484-9CC626E899D6}"/>
              </a:ext>
            </a:extLst>
          </p:cNvPr>
          <p:cNvSpPr>
            <a:spLocks noGrp="1"/>
          </p:cNvSpPr>
          <p:nvPr>
            <p:ph sz="half" idx="1"/>
          </p:nvPr>
        </p:nvSpPr>
        <p:spPr>
          <a:xfrm>
            <a:off x="609599" y="1968503"/>
            <a:ext cx="5833241" cy="4157663"/>
          </a:xfrm>
        </p:spPr>
        <p:txBody>
          <a:bodyPr/>
          <a:lstStyle/>
          <a:p>
            <a:r>
              <a:rPr lang="en-US" sz="2200" dirty="0"/>
              <a:t>Graphite is a phonon conductor of heat</a:t>
            </a:r>
          </a:p>
          <a:p>
            <a:r>
              <a:rPr lang="en-US" sz="2200" dirty="0"/>
              <a:t>Similar to </a:t>
            </a:r>
            <a:r>
              <a:rPr lang="en-US" sz="2200" dirty="0" err="1"/>
              <a:t>SiC</a:t>
            </a:r>
            <a:r>
              <a:rPr lang="en-US" sz="2200" dirty="0"/>
              <a:t>, larger grain size, theoretical densities, low defect content, improve k</a:t>
            </a:r>
          </a:p>
          <a:p>
            <a:r>
              <a:rPr lang="en-US" sz="2200" dirty="0"/>
              <a:t>The increase of thermal resistivity due to irradiation damage has been ascribed to the formation of (1) small interstitial clusters, (2) vacancies, (3) vacancy loops</a:t>
            </a:r>
          </a:p>
          <a:p>
            <a:r>
              <a:rPr lang="en-US" sz="2200" dirty="0"/>
              <a:t>At any irradiation temperature, the decreasing thermal conductivity will reach a ‘saturation limit’</a:t>
            </a:r>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714A3765-6F29-7A48-8073-209C4BF5ECA3}"/>
              </a:ext>
            </a:extLst>
          </p:cNvPr>
          <p:cNvPicPr>
            <a:picLocks noGrp="1" noChangeAspect="1"/>
          </p:cNvPicPr>
          <p:nvPr>
            <p:ph sz="half" idx="2"/>
          </p:nvPr>
        </p:nvPicPr>
        <p:blipFill>
          <a:blip r:embed="rId2"/>
          <a:stretch>
            <a:fillRect/>
          </a:stretch>
        </p:blipFill>
        <p:spPr>
          <a:xfrm>
            <a:off x="6480550" y="2486245"/>
            <a:ext cx="5101850" cy="2958114"/>
          </a:xfrm>
          <a:prstGeom prst="rect">
            <a:avLst/>
          </a:prstGeom>
        </p:spPr>
      </p:pic>
      <p:sp>
        <p:nvSpPr>
          <p:cNvPr id="5" name="Slide Number Placeholder 4">
            <a:extLst>
              <a:ext uri="{FF2B5EF4-FFF2-40B4-BE49-F238E27FC236}">
                <a16:creationId xmlns:a16="http://schemas.microsoft.com/office/drawing/2014/main" id="{861D54AA-9438-F342-B1E2-88C2CC04DB42}"/>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spTree>
    <p:extLst>
      <p:ext uri="{BB962C8B-B14F-4D97-AF65-F5344CB8AC3E}">
        <p14:creationId xmlns:p14="http://schemas.microsoft.com/office/powerpoint/2010/main" val="39458754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5C64-5055-6F40-ADCB-745896050A85}"/>
              </a:ext>
            </a:extLst>
          </p:cNvPr>
          <p:cNvSpPr>
            <a:spLocks noGrp="1"/>
          </p:cNvSpPr>
          <p:nvPr>
            <p:ph type="title"/>
          </p:nvPr>
        </p:nvSpPr>
        <p:spPr/>
        <p:txBody>
          <a:bodyPr/>
          <a:lstStyle/>
          <a:p>
            <a:r>
              <a:rPr lang="en-US" dirty="0"/>
              <a:t>Impacts of Changes Under Irradiation</a:t>
            </a:r>
          </a:p>
        </p:txBody>
      </p:sp>
      <p:sp>
        <p:nvSpPr>
          <p:cNvPr id="3" name="Content Placeholder 2">
            <a:extLst>
              <a:ext uri="{FF2B5EF4-FFF2-40B4-BE49-F238E27FC236}">
                <a16:creationId xmlns:a16="http://schemas.microsoft.com/office/drawing/2014/main" id="{C0B72261-9E6E-3C42-BDC7-0E546BA81C03}"/>
              </a:ext>
            </a:extLst>
          </p:cNvPr>
          <p:cNvSpPr>
            <a:spLocks noGrp="1"/>
          </p:cNvSpPr>
          <p:nvPr>
            <p:ph sz="half" idx="1"/>
          </p:nvPr>
        </p:nvSpPr>
        <p:spPr/>
        <p:txBody>
          <a:bodyPr/>
          <a:lstStyle/>
          <a:p>
            <a:r>
              <a:rPr lang="en-US" sz="2000" dirty="0"/>
              <a:t>In graphite moderated reactors, the graphite structure provides channels for fuel, fuel-cooling, and control rod entry, the structural integrity of the graphite components is important from safety and lifetime considerations</a:t>
            </a:r>
          </a:p>
          <a:p>
            <a:r>
              <a:rPr lang="en-US" sz="2000" dirty="0"/>
              <a:t>Components develop stresses which need to be accounted for</a:t>
            </a:r>
          </a:p>
          <a:p>
            <a:r>
              <a:rPr lang="en-US" sz="2000" dirty="0"/>
              <a:t>Temperature distribution across a graphite channel is shown at the right</a:t>
            </a:r>
          </a:p>
          <a:p>
            <a:r>
              <a:rPr lang="en-US" sz="2000" dirty="0"/>
              <a:t>Fluence also changes radially</a:t>
            </a:r>
          </a:p>
          <a:p>
            <a:r>
              <a:rPr lang="en-US" sz="2000" dirty="0"/>
              <a:t>Fuel is in the center (bore)</a:t>
            </a:r>
          </a:p>
          <a:p>
            <a:endParaRPr lang="en-US" sz="2000" dirty="0"/>
          </a:p>
          <a:p>
            <a:endParaRPr lang="en-US" sz="2000" dirty="0"/>
          </a:p>
        </p:txBody>
      </p:sp>
      <p:pic>
        <p:nvPicPr>
          <p:cNvPr id="5" name="Content Placeholder 4">
            <a:extLst>
              <a:ext uri="{FF2B5EF4-FFF2-40B4-BE49-F238E27FC236}">
                <a16:creationId xmlns:a16="http://schemas.microsoft.com/office/drawing/2014/main" id="{56E40B4B-EB1E-6844-91BC-80E04567E6D6}"/>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6927925" y="2175337"/>
            <a:ext cx="4396291" cy="3703893"/>
          </a:xfrm>
          <a:prstGeom prst="rect">
            <a:avLst/>
          </a:prstGeom>
        </p:spPr>
      </p:pic>
      <p:sp>
        <p:nvSpPr>
          <p:cNvPr id="4" name="Slide Number Placeholder 3">
            <a:extLst>
              <a:ext uri="{FF2B5EF4-FFF2-40B4-BE49-F238E27FC236}">
                <a16:creationId xmlns:a16="http://schemas.microsoft.com/office/drawing/2014/main" id="{45A91731-DF2D-2040-B9EF-053D4FDA93CD}"/>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24914875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5C64-5055-6F40-ADCB-745896050A85}"/>
              </a:ext>
            </a:extLst>
          </p:cNvPr>
          <p:cNvSpPr>
            <a:spLocks noGrp="1"/>
          </p:cNvSpPr>
          <p:nvPr>
            <p:ph type="title"/>
          </p:nvPr>
        </p:nvSpPr>
        <p:spPr/>
        <p:txBody>
          <a:bodyPr/>
          <a:lstStyle/>
          <a:p>
            <a:r>
              <a:rPr lang="en-US" dirty="0"/>
              <a:t>Impacts of Changes Under Irradiation</a:t>
            </a:r>
          </a:p>
        </p:txBody>
      </p:sp>
      <p:sp>
        <p:nvSpPr>
          <p:cNvPr id="3" name="Content Placeholder 2">
            <a:extLst>
              <a:ext uri="{FF2B5EF4-FFF2-40B4-BE49-F238E27FC236}">
                <a16:creationId xmlns:a16="http://schemas.microsoft.com/office/drawing/2014/main" id="{C0B72261-9E6E-3C42-BDC7-0E546BA81C03}"/>
              </a:ext>
            </a:extLst>
          </p:cNvPr>
          <p:cNvSpPr>
            <a:spLocks noGrp="1"/>
          </p:cNvSpPr>
          <p:nvPr>
            <p:ph sz="half" idx="1"/>
          </p:nvPr>
        </p:nvSpPr>
        <p:spPr/>
        <p:txBody>
          <a:bodyPr/>
          <a:lstStyle/>
          <a:p>
            <a:r>
              <a:rPr lang="en-US" sz="2000" dirty="0"/>
              <a:t>Properties and dimensions change as a function of both temperature and fluence</a:t>
            </a:r>
          </a:p>
          <a:p>
            <a:r>
              <a:rPr lang="en-US" sz="2000" dirty="0"/>
              <a:t>First, the graphite brick will shrink faster at the bore than at the outside, and properties will vary radially</a:t>
            </a:r>
          </a:p>
          <a:p>
            <a:r>
              <a:rPr lang="en-US" sz="2000" dirty="0"/>
              <a:t>Graphite brick internal shrinkage and thermal stresses are generated; first tensile at the bore and compressive at the outside, and then reversing in sign towards the end of reactor life</a:t>
            </a:r>
          </a:p>
          <a:p>
            <a:r>
              <a:rPr lang="en-US" sz="2000" dirty="0"/>
              <a:t>Fortunately, much of this stress is reduced by irradiation creep</a:t>
            </a:r>
          </a:p>
          <a:p>
            <a:endParaRPr lang="en-US" sz="2000" dirty="0"/>
          </a:p>
          <a:p>
            <a:endParaRPr lang="en-US" sz="2000" dirty="0"/>
          </a:p>
          <a:p>
            <a:endParaRPr lang="en-US" sz="2000" dirty="0"/>
          </a:p>
          <a:p>
            <a:endParaRPr lang="en-US" sz="2000" dirty="0"/>
          </a:p>
          <a:p>
            <a:endParaRPr lang="en-US" sz="2000" dirty="0"/>
          </a:p>
          <a:p>
            <a:endParaRPr lang="en-US" sz="2000" dirty="0"/>
          </a:p>
        </p:txBody>
      </p:sp>
      <p:pic>
        <p:nvPicPr>
          <p:cNvPr id="8" name="Content Placeholder 7">
            <a:extLst>
              <a:ext uri="{FF2B5EF4-FFF2-40B4-BE49-F238E27FC236}">
                <a16:creationId xmlns:a16="http://schemas.microsoft.com/office/drawing/2014/main" id="{6B406453-2CE3-8942-AB2A-FF3C145BB948}"/>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401995" y="2425740"/>
            <a:ext cx="5384800" cy="3243188"/>
          </a:xfrm>
          <a:prstGeom prst="rect">
            <a:avLst/>
          </a:prstGeom>
        </p:spPr>
      </p:pic>
      <p:sp>
        <p:nvSpPr>
          <p:cNvPr id="4" name="Slide Number Placeholder 3">
            <a:extLst>
              <a:ext uri="{FF2B5EF4-FFF2-40B4-BE49-F238E27FC236}">
                <a16:creationId xmlns:a16="http://schemas.microsoft.com/office/drawing/2014/main" id="{4A68A361-D477-DA40-9F72-5699827D2F5B}"/>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spTree>
    <p:extLst>
      <p:ext uri="{BB962C8B-B14F-4D97-AF65-F5344CB8AC3E}">
        <p14:creationId xmlns:p14="http://schemas.microsoft.com/office/powerpoint/2010/main" val="36823458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F5C64-5055-6F40-ADCB-745896050A85}"/>
              </a:ext>
            </a:extLst>
          </p:cNvPr>
          <p:cNvSpPr>
            <a:spLocks noGrp="1"/>
          </p:cNvSpPr>
          <p:nvPr>
            <p:ph type="title"/>
          </p:nvPr>
        </p:nvSpPr>
        <p:spPr/>
        <p:txBody>
          <a:bodyPr/>
          <a:lstStyle/>
          <a:p>
            <a:r>
              <a:rPr lang="en-US" dirty="0"/>
              <a:t>Impacts of Changes Under Irradiation</a:t>
            </a:r>
          </a:p>
        </p:txBody>
      </p:sp>
      <p:sp>
        <p:nvSpPr>
          <p:cNvPr id="3" name="Content Placeholder 2">
            <a:extLst>
              <a:ext uri="{FF2B5EF4-FFF2-40B4-BE49-F238E27FC236}">
                <a16:creationId xmlns:a16="http://schemas.microsoft.com/office/drawing/2014/main" id="{C0B72261-9E6E-3C42-BDC7-0E546BA81C03}"/>
              </a:ext>
            </a:extLst>
          </p:cNvPr>
          <p:cNvSpPr>
            <a:spLocks noGrp="1"/>
          </p:cNvSpPr>
          <p:nvPr>
            <p:ph sz="half" idx="1"/>
          </p:nvPr>
        </p:nvSpPr>
        <p:spPr>
          <a:xfrm>
            <a:off x="609599" y="1968503"/>
            <a:ext cx="5629835" cy="4157663"/>
          </a:xfrm>
        </p:spPr>
        <p:txBody>
          <a:bodyPr/>
          <a:lstStyle/>
          <a:p>
            <a:r>
              <a:rPr lang="en-US" sz="2000" dirty="0"/>
              <a:t>Discontinuities in the figure are due to shutdowns every 2 years</a:t>
            </a:r>
          </a:p>
          <a:p>
            <a:r>
              <a:rPr lang="en-US" sz="2000" dirty="0"/>
              <a:t>The difference in CTE between the inside and the outside of the brick, along with irradiation creep, causes the stresses to significantly change when the reactor is shutdown and the graphite cools</a:t>
            </a:r>
          </a:p>
          <a:p>
            <a:r>
              <a:rPr lang="en-US" sz="2000" dirty="0"/>
              <a:t>The change in stress at shutdown is mainly due to the temperature difference across the brick, which creeps out during reactor operation</a:t>
            </a:r>
          </a:p>
          <a:p>
            <a:r>
              <a:rPr lang="en-US" sz="2000" dirty="0"/>
              <a:t>Towards the EOL, this leads to significantly different stress states for the inside/outside of the graphite brick</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p:txBody>
      </p:sp>
      <p:pic>
        <p:nvPicPr>
          <p:cNvPr id="8" name="Content Placeholder 7">
            <a:extLst>
              <a:ext uri="{FF2B5EF4-FFF2-40B4-BE49-F238E27FC236}">
                <a16:creationId xmlns:a16="http://schemas.microsoft.com/office/drawing/2014/main" id="{6B406453-2CE3-8942-AB2A-FF3C145BB948}"/>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401995" y="2425740"/>
            <a:ext cx="5384800" cy="3243188"/>
          </a:xfrm>
          <a:prstGeom prst="rect">
            <a:avLst/>
          </a:prstGeom>
        </p:spPr>
      </p:pic>
      <p:sp>
        <p:nvSpPr>
          <p:cNvPr id="4" name="Slide Number Placeholder 3">
            <a:extLst>
              <a:ext uri="{FF2B5EF4-FFF2-40B4-BE49-F238E27FC236}">
                <a16:creationId xmlns:a16="http://schemas.microsoft.com/office/drawing/2014/main" id="{BD23DB52-2239-2A44-AF40-981AA5A5513D}"/>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24931670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4C020-5E7D-BD4C-98B7-C317A404F781}"/>
              </a:ext>
            </a:extLst>
          </p:cNvPr>
          <p:cNvSpPr>
            <a:spLocks noGrp="1"/>
          </p:cNvSpPr>
          <p:nvPr>
            <p:ph type="title"/>
          </p:nvPr>
        </p:nvSpPr>
        <p:spPr/>
        <p:txBody>
          <a:bodyPr/>
          <a:lstStyle/>
          <a:p>
            <a:r>
              <a:rPr lang="en-US" dirty="0"/>
              <a:t>Irradiation Creep</a:t>
            </a:r>
          </a:p>
        </p:txBody>
      </p:sp>
      <p:sp>
        <p:nvSpPr>
          <p:cNvPr id="3" name="Content Placeholder 2">
            <a:extLst>
              <a:ext uri="{FF2B5EF4-FFF2-40B4-BE49-F238E27FC236}">
                <a16:creationId xmlns:a16="http://schemas.microsoft.com/office/drawing/2014/main" id="{0985D648-6AE3-5A43-A034-2BBCB2BC52CB}"/>
              </a:ext>
            </a:extLst>
          </p:cNvPr>
          <p:cNvSpPr>
            <a:spLocks noGrp="1"/>
          </p:cNvSpPr>
          <p:nvPr>
            <p:ph sz="half" idx="1"/>
          </p:nvPr>
        </p:nvSpPr>
        <p:spPr>
          <a:xfrm>
            <a:off x="609600" y="1968503"/>
            <a:ext cx="6148552" cy="4157663"/>
          </a:xfrm>
        </p:spPr>
        <p:txBody>
          <a:bodyPr/>
          <a:lstStyle/>
          <a:p>
            <a:r>
              <a:rPr lang="en-US" sz="2200" dirty="0"/>
              <a:t>Graphite will undergo creep during neutron irradiation and under stress at temperatures where thermal creep is generally negligible</a:t>
            </a:r>
          </a:p>
          <a:p>
            <a:r>
              <a:rPr lang="en-US" sz="2200" dirty="0"/>
              <a:t>Creep is so fundamentally important to graphite that if irradiation-induced stresses in graphite moderators could not relax via radiation creep, rapid core disintegration would result</a:t>
            </a:r>
          </a:p>
          <a:p>
            <a:r>
              <a:rPr lang="en-US" sz="2200" dirty="0"/>
              <a:t>One study showed that a 50% decrease in the assumed creep strain resulted in a 50% increase in the predicted hoop stress in a hollow cylindrical core brick</a:t>
            </a:r>
          </a:p>
          <a:p>
            <a:endParaRPr lang="en-US" sz="2200" dirty="0"/>
          </a:p>
          <a:p>
            <a:endParaRPr lang="en-US" sz="2200" dirty="0"/>
          </a:p>
        </p:txBody>
      </p:sp>
      <p:sp>
        <p:nvSpPr>
          <p:cNvPr id="4" name="Content Placeholder 3">
            <a:extLst>
              <a:ext uri="{FF2B5EF4-FFF2-40B4-BE49-F238E27FC236}">
                <a16:creationId xmlns:a16="http://schemas.microsoft.com/office/drawing/2014/main" id="{C23B8536-FA08-144C-A944-05BAAF816CCA}"/>
              </a:ext>
            </a:extLst>
          </p:cNvPr>
          <p:cNvSpPr>
            <a:spLocks noGrp="1"/>
          </p:cNvSpPr>
          <p:nvPr>
            <p:ph sz="half" idx="2"/>
          </p:nvPr>
        </p:nvSpPr>
        <p:spPr>
          <a:xfrm>
            <a:off x="6863254" y="1968503"/>
            <a:ext cx="4719145" cy="4157663"/>
          </a:xfrm>
        </p:spPr>
        <p:txBody>
          <a:bodyPr/>
          <a:lstStyle/>
          <a:p>
            <a:r>
              <a:rPr lang="en-US" sz="2200" dirty="0"/>
              <a:t>The total strain, in a graphite component under irradiation in a reactor core is given by:</a:t>
            </a:r>
          </a:p>
          <a:p>
            <a:endParaRPr lang="en-US" sz="2200" dirty="0"/>
          </a:p>
          <a:p>
            <a:r>
              <a:rPr lang="en-US" sz="2200" dirty="0"/>
              <a:t>where </a:t>
            </a:r>
            <a:r>
              <a:rPr lang="en-US" sz="2200" dirty="0" err="1">
                <a:latin typeface="Symbol" pitchFamily="2" charset="2"/>
              </a:rPr>
              <a:t>e</a:t>
            </a:r>
            <a:r>
              <a:rPr lang="en-US" sz="2200" baseline="-25000" dirty="0" err="1"/>
              <a:t>e</a:t>
            </a:r>
            <a:r>
              <a:rPr lang="en-US" sz="2200" dirty="0"/>
              <a:t> is the elastic strain; </a:t>
            </a:r>
            <a:r>
              <a:rPr lang="en-US" sz="2200" dirty="0">
                <a:latin typeface="Symbol" pitchFamily="2" charset="2"/>
              </a:rPr>
              <a:t>e</a:t>
            </a:r>
            <a:r>
              <a:rPr lang="en-US" sz="2200" baseline="-25000" dirty="0"/>
              <a:t>t</a:t>
            </a:r>
            <a:r>
              <a:rPr lang="en-US" sz="2200" dirty="0"/>
              <a:t>, the thermal strain; </a:t>
            </a:r>
            <a:r>
              <a:rPr lang="en-US" sz="2200" dirty="0">
                <a:latin typeface="Symbol" pitchFamily="2" charset="2"/>
              </a:rPr>
              <a:t>e</a:t>
            </a:r>
            <a:r>
              <a:rPr lang="en-US" sz="2200" baseline="-25000" dirty="0"/>
              <a:t>d</a:t>
            </a:r>
            <a:r>
              <a:rPr lang="en-US" sz="2200" dirty="0"/>
              <a:t>, the dimensional change strain; and </a:t>
            </a:r>
            <a:r>
              <a:rPr lang="en-US" sz="2200" dirty="0" err="1">
                <a:latin typeface="Symbol" pitchFamily="2" charset="2"/>
              </a:rPr>
              <a:t>e</a:t>
            </a:r>
            <a:r>
              <a:rPr lang="en-US" sz="2200" baseline="-25000" dirty="0" err="1"/>
              <a:t>c</a:t>
            </a:r>
            <a:r>
              <a:rPr lang="en-US" sz="2200" dirty="0"/>
              <a:t> is the creep strain</a:t>
            </a:r>
          </a:p>
          <a:p>
            <a:endParaRPr lang="en-US" sz="2200" dirty="0"/>
          </a:p>
          <a:p>
            <a:endParaRPr lang="en-US" sz="2200" dirty="0"/>
          </a:p>
        </p:txBody>
      </p:sp>
      <p:sp>
        <p:nvSpPr>
          <p:cNvPr id="5" name="Slide Number Placeholder 4">
            <a:extLst>
              <a:ext uri="{FF2B5EF4-FFF2-40B4-BE49-F238E27FC236}">
                <a16:creationId xmlns:a16="http://schemas.microsoft.com/office/drawing/2014/main" id="{CFE85F0E-E4F1-C445-9430-CCB912E48FAC}"/>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dirty="0"/>
          </a:p>
        </p:txBody>
      </p:sp>
      <p:pic>
        <p:nvPicPr>
          <p:cNvPr id="6" name="Picture 5">
            <a:extLst>
              <a:ext uri="{FF2B5EF4-FFF2-40B4-BE49-F238E27FC236}">
                <a16:creationId xmlns:a16="http://schemas.microsoft.com/office/drawing/2014/main" id="{15475D07-5548-A545-860E-C23B16EA72A0}"/>
              </a:ext>
            </a:extLst>
          </p:cNvPr>
          <p:cNvPicPr>
            <a:picLocks noChangeAspect="1"/>
          </p:cNvPicPr>
          <p:nvPr/>
        </p:nvPicPr>
        <p:blipFill>
          <a:blip r:embed="rId2"/>
          <a:stretch>
            <a:fillRect/>
          </a:stretch>
        </p:blipFill>
        <p:spPr>
          <a:xfrm>
            <a:off x="8233104" y="3073400"/>
            <a:ext cx="2552700" cy="355600"/>
          </a:xfrm>
          <a:prstGeom prst="rect">
            <a:avLst/>
          </a:prstGeom>
        </p:spPr>
      </p:pic>
    </p:spTree>
    <p:extLst>
      <p:ext uri="{BB962C8B-B14F-4D97-AF65-F5344CB8AC3E}">
        <p14:creationId xmlns:p14="http://schemas.microsoft.com/office/powerpoint/2010/main" val="366480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906A2-CF6F-F048-AD9A-1332A30044C6}"/>
              </a:ext>
            </a:extLst>
          </p:cNvPr>
          <p:cNvSpPr>
            <a:spLocks noGrp="1"/>
          </p:cNvSpPr>
          <p:nvPr>
            <p:ph type="title"/>
          </p:nvPr>
        </p:nvSpPr>
        <p:spPr/>
        <p:txBody>
          <a:bodyPr/>
          <a:lstStyle/>
          <a:p>
            <a:r>
              <a:rPr lang="en-US" dirty="0"/>
              <a:t>Irradiation Creep</a:t>
            </a:r>
          </a:p>
        </p:txBody>
      </p:sp>
      <p:sp>
        <p:nvSpPr>
          <p:cNvPr id="3" name="Content Placeholder 2">
            <a:extLst>
              <a:ext uri="{FF2B5EF4-FFF2-40B4-BE49-F238E27FC236}">
                <a16:creationId xmlns:a16="http://schemas.microsoft.com/office/drawing/2014/main" id="{D3357522-D994-614D-850F-F333BB61053B}"/>
              </a:ext>
            </a:extLst>
          </p:cNvPr>
          <p:cNvSpPr>
            <a:spLocks noGrp="1"/>
          </p:cNvSpPr>
          <p:nvPr>
            <p:ph sz="half" idx="1"/>
          </p:nvPr>
        </p:nvSpPr>
        <p:spPr/>
        <p:txBody>
          <a:bodyPr/>
          <a:lstStyle/>
          <a:p>
            <a:r>
              <a:rPr lang="en-US" sz="2200" dirty="0"/>
              <a:t>Because of the significance of irradiation-induced creep to the stress levels in graphite core components, accurate models of creep have long been sought, but current models tend to break down at high temperature and fluence</a:t>
            </a:r>
          </a:p>
          <a:p>
            <a:r>
              <a:rPr lang="en-US" sz="2200" dirty="0"/>
              <a:t>Stress state (compressive/tensile) has an impact on the creep rate</a:t>
            </a:r>
          </a:p>
          <a:p>
            <a:r>
              <a:rPr lang="en-US" sz="2200" dirty="0"/>
              <a:t>The creep rate increases more rapidly in the tensile loading case compared to the compressive case at high dose</a:t>
            </a:r>
          </a:p>
          <a:p>
            <a:endParaRPr lang="en-US" sz="2200" dirty="0"/>
          </a:p>
          <a:p>
            <a:endParaRPr lang="en-US" sz="2200" dirty="0"/>
          </a:p>
        </p:txBody>
      </p:sp>
      <p:pic>
        <p:nvPicPr>
          <p:cNvPr id="6" name="Content Placeholder 5">
            <a:extLst>
              <a:ext uri="{FF2B5EF4-FFF2-40B4-BE49-F238E27FC236}">
                <a16:creationId xmlns:a16="http://schemas.microsoft.com/office/drawing/2014/main" id="{3CCE3AC9-FF96-7A4A-BB09-BFA480842E73}"/>
              </a:ext>
            </a:extLst>
          </p:cNvPr>
          <p:cNvPicPr>
            <a:picLocks noGrp="1" noChangeAspect="1"/>
          </p:cNvPicPr>
          <p:nvPr>
            <p:ph sz="half" idx="2"/>
          </p:nvPr>
        </p:nvPicPr>
        <p:blipFill>
          <a:blip r:embed="rId2"/>
          <a:stretch>
            <a:fillRect/>
          </a:stretch>
        </p:blipFill>
        <p:spPr>
          <a:xfrm>
            <a:off x="6292193" y="2417379"/>
            <a:ext cx="5775374" cy="3053415"/>
          </a:xfrm>
          <a:prstGeom prst="rect">
            <a:avLst/>
          </a:prstGeom>
        </p:spPr>
      </p:pic>
      <p:sp>
        <p:nvSpPr>
          <p:cNvPr id="5" name="Slide Number Placeholder 4">
            <a:extLst>
              <a:ext uri="{FF2B5EF4-FFF2-40B4-BE49-F238E27FC236}">
                <a16:creationId xmlns:a16="http://schemas.microsoft.com/office/drawing/2014/main" id="{48514159-C89D-AA4D-B279-D7B7452CAEE4}"/>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spTree>
    <p:extLst>
      <p:ext uri="{BB962C8B-B14F-4D97-AF65-F5344CB8AC3E}">
        <p14:creationId xmlns:p14="http://schemas.microsoft.com/office/powerpoint/2010/main" val="17072176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617CF-7C30-5440-A1BD-09B528945D57}"/>
              </a:ext>
            </a:extLst>
          </p:cNvPr>
          <p:cNvSpPr>
            <a:spLocks noGrp="1"/>
          </p:cNvSpPr>
          <p:nvPr>
            <p:ph type="title"/>
          </p:nvPr>
        </p:nvSpPr>
        <p:spPr/>
        <p:txBody>
          <a:bodyPr/>
          <a:lstStyle/>
          <a:p>
            <a:r>
              <a:rPr lang="en-US" dirty="0"/>
              <a:t>Irradiation Creep Models</a:t>
            </a:r>
          </a:p>
        </p:txBody>
      </p:sp>
      <p:sp>
        <p:nvSpPr>
          <p:cNvPr id="3" name="Content Placeholder 2">
            <a:extLst>
              <a:ext uri="{FF2B5EF4-FFF2-40B4-BE49-F238E27FC236}">
                <a16:creationId xmlns:a16="http://schemas.microsoft.com/office/drawing/2014/main" id="{A75A18E7-F6CD-1144-9377-E5F1C48BBDFC}"/>
              </a:ext>
            </a:extLst>
          </p:cNvPr>
          <p:cNvSpPr>
            <a:spLocks noGrp="1"/>
          </p:cNvSpPr>
          <p:nvPr>
            <p:ph sz="half" idx="1"/>
          </p:nvPr>
        </p:nvSpPr>
        <p:spPr/>
        <p:txBody>
          <a:bodyPr/>
          <a:lstStyle/>
          <a:p>
            <a:r>
              <a:rPr lang="en-US" sz="2200" dirty="0"/>
              <a:t>Since creep is so important to graphite, a number of creep prediction models have been developed:</a:t>
            </a:r>
          </a:p>
          <a:p>
            <a:pPr lvl="1"/>
            <a:r>
              <a:rPr lang="en-US" sz="2200" dirty="0"/>
              <a:t>Linear viscoelastic creep, UK creep, Kennedy, Kelly and Burchell, etc.</a:t>
            </a:r>
          </a:p>
          <a:p>
            <a:r>
              <a:rPr lang="en-US" sz="2200" dirty="0"/>
              <a:t>These models can take into account evolving pore structure, thermal expansion, recoverable strain, etc. </a:t>
            </a:r>
          </a:p>
          <a:p>
            <a:r>
              <a:rPr lang="en-US" sz="2200" dirty="0"/>
              <a:t>The M</a:t>
            </a:r>
            <a:r>
              <a:rPr lang="en-US" sz="2200" baseline="30000" dirty="0"/>
              <a:t>2</a:t>
            </a:r>
            <a:r>
              <a:rPr lang="en-US" sz="2200" dirty="0"/>
              <a:t> model potentially performs the most accurately as a function of dose at relatively low temperatures</a:t>
            </a:r>
          </a:p>
          <a:p>
            <a:endParaRPr lang="en-US" sz="2200" dirty="0"/>
          </a:p>
          <a:p>
            <a:endParaRPr lang="en-US" sz="2200" dirty="0"/>
          </a:p>
          <a:p>
            <a:pPr lvl="1"/>
            <a:endParaRPr lang="en-US" sz="2200" dirty="0"/>
          </a:p>
        </p:txBody>
      </p:sp>
      <p:sp>
        <p:nvSpPr>
          <p:cNvPr id="4" name="Content Placeholder 3">
            <a:extLst>
              <a:ext uri="{FF2B5EF4-FFF2-40B4-BE49-F238E27FC236}">
                <a16:creationId xmlns:a16="http://schemas.microsoft.com/office/drawing/2014/main" id="{559BE980-9F54-BC4C-BFDC-171F2C0475DA}"/>
              </a:ext>
            </a:extLst>
          </p:cNvPr>
          <p:cNvSpPr>
            <a:spLocks noGrp="1"/>
          </p:cNvSpPr>
          <p:nvPr>
            <p:ph sz="half" idx="2"/>
          </p:nvPr>
        </p:nvSpPr>
        <p:spPr/>
        <p:txBody>
          <a:bodyPr/>
          <a:lstStyle/>
          <a:p>
            <a:r>
              <a:rPr lang="en-US" sz="2200" dirty="0"/>
              <a:t>However, no model is sufficiently accurate at both high dose and high temperature</a:t>
            </a:r>
          </a:p>
          <a:p>
            <a:endParaRPr lang="en-US" sz="2200" dirty="0"/>
          </a:p>
        </p:txBody>
      </p:sp>
      <p:sp>
        <p:nvSpPr>
          <p:cNvPr id="5" name="Slide Number Placeholder 4">
            <a:extLst>
              <a:ext uri="{FF2B5EF4-FFF2-40B4-BE49-F238E27FC236}">
                <a16:creationId xmlns:a16="http://schemas.microsoft.com/office/drawing/2014/main" id="{F12FDB8C-BFC1-D84E-BD7A-D98656FEA9B7}"/>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pic>
        <p:nvPicPr>
          <p:cNvPr id="6" name="Picture 5">
            <a:extLst>
              <a:ext uri="{FF2B5EF4-FFF2-40B4-BE49-F238E27FC236}">
                <a16:creationId xmlns:a16="http://schemas.microsoft.com/office/drawing/2014/main" id="{AEC981B7-4640-C94C-9917-9DA935502720}"/>
              </a:ext>
            </a:extLst>
          </p:cNvPr>
          <p:cNvPicPr>
            <a:picLocks noChangeAspect="1"/>
          </p:cNvPicPr>
          <p:nvPr/>
        </p:nvPicPr>
        <p:blipFill>
          <a:blip r:embed="rId2"/>
          <a:stretch>
            <a:fillRect/>
          </a:stretch>
        </p:blipFill>
        <p:spPr>
          <a:xfrm>
            <a:off x="6639034" y="3071648"/>
            <a:ext cx="4638973" cy="2886239"/>
          </a:xfrm>
          <a:prstGeom prst="rect">
            <a:avLst/>
          </a:prstGeom>
        </p:spPr>
      </p:pic>
    </p:spTree>
    <p:extLst>
      <p:ext uri="{BB962C8B-B14F-4D97-AF65-F5344CB8AC3E}">
        <p14:creationId xmlns:p14="http://schemas.microsoft.com/office/powerpoint/2010/main" val="24678198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906A2-CF6F-F048-AD9A-1332A30044C6}"/>
              </a:ext>
            </a:extLst>
          </p:cNvPr>
          <p:cNvSpPr>
            <a:spLocks noGrp="1"/>
          </p:cNvSpPr>
          <p:nvPr>
            <p:ph type="title"/>
          </p:nvPr>
        </p:nvSpPr>
        <p:spPr/>
        <p:txBody>
          <a:bodyPr/>
          <a:lstStyle/>
          <a:p>
            <a:r>
              <a:rPr lang="en-US" dirty="0"/>
              <a:t>Irradiation Creep</a:t>
            </a:r>
          </a:p>
        </p:txBody>
      </p:sp>
      <p:sp>
        <p:nvSpPr>
          <p:cNvPr id="3" name="Content Placeholder 2">
            <a:extLst>
              <a:ext uri="{FF2B5EF4-FFF2-40B4-BE49-F238E27FC236}">
                <a16:creationId xmlns:a16="http://schemas.microsoft.com/office/drawing/2014/main" id="{D3357522-D994-614D-850F-F333BB61053B}"/>
              </a:ext>
            </a:extLst>
          </p:cNvPr>
          <p:cNvSpPr>
            <a:spLocks noGrp="1"/>
          </p:cNvSpPr>
          <p:nvPr>
            <p:ph sz="half" idx="1"/>
          </p:nvPr>
        </p:nvSpPr>
        <p:spPr>
          <a:xfrm>
            <a:off x="609599" y="1968503"/>
            <a:ext cx="5864773" cy="4157663"/>
          </a:xfrm>
        </p:spPr>
        <p:txBody>
          <a:bodyPr/>
          <a:lstStyle/>
          <a:p>
            <a:r>
              <a:rPr lang="en-US" sz="2200" dirty="0"/>
              <a:t>Irradiation-induced basal plane dislocation pinning/unpinning in the graphite crystal is the expected mechanism for the irradiation-induced creep</a:t>
            </a:r>
          </a:p>
          <a:p>
            <a:r>
              <a:rPr lang="en-US" sz="2200" dirty="0"/>
              <a:t>The pinning points are speculated to be interstitial atom clusters</a:t>
            </a:r>
          </a:p>
          <a:p>
            <a:r>
              <a:rPr lang="en-US" sz="2200" dirty="0"/>
              <a:t>The interstitial clusters are temporary barriers as they are destroyed by further irradiation</a:t>
            </a:r>
          </a:p>
          <a:p>
            <a:r>
              <a:rPr lang="en-US" sz="2200" dirty="0"/>
              <a:t>The concentration of pinning sites increases under irradiation from the initial value to a steady-state concentration</a:t>
            </a:r>
          </a:p>
          <a:p>
            <a:endParaRPr lang="en-US" sz="2200" dirty="0"/>
          </a:p>
          <a:p>
            <a:endParaRPr lang="en-US" sz="2200" dirty="0"/>
          </a:p>
          <a:p>
            <a:endParaRPr lang="en-US" sz="2200" dirty="0"/>
          </a:p>
        </p:txBody>
      </p:sp>
      <p:sp>
        <p:nvSpPr>
          <p:cNvPr id="5" name="Slide Number Placeholder 4">
            <a:extLst>
              <a:ext uri="{FF2B5EF4-FFF2-40B4-BE49-F238E27FC236}">
                <a16:creationId xmlns:a16="http://schemas.microsoft.com/office/drawing/2014/main" id="{48514159-C89D-AA4D-B279-D7B7452CAEE4}"/>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
        <p:nvSpPr>
          <p:cNvPr id="7" name="Content Placeholder 6">
            <a:extLst>
              <a:ext uri="{FF2B5EF4-FFF2-40B4-BE49-F238E27FC236}">
                <a16:creationId xmlns:a16="http://schemas.microsoft.com/office/drawing/2014/main" id="{11E875DA-0D5B-0E4E-9CC5-2FE8C457FBEA}"/>
              </a:ext>
            </a:extLst>
          </p:cNvPr>
          <p:cNvSpPr>
            <a:spLocks noGrp="1"/>
          </p:cNvSpPr>
          <p:nvPr>
            <p:ph sz="half" idx="2"/>
          </p:nvPr>
        </p:nvSpPr>
        <p:spPr>
          <a:xfrm>
            <a:off x="6474372" y="1968503"/>
            <a:ext cx="5108028" cy="4157663"/>
          </a:xfrm>
        </p:spPr>
        <p:txBody>
          <a:bodyPr/>
          <a:lstStyle/>
          <a:p>
            <a:r>
              <a:rPr lang="en-US" sz="2200" dirty="0"/>
              <a:t>The initial creep rate is high and decreases to a near steady-state value as the pinning concentration saturates at a level controlled by the neutron flux and temperature</a:t>
            </a:r>
          </a:p>
          <a:p>
            <a:r>
              <a:rPr lang="en-US" sz="2200" dirty="0"/>
              <a:t>At high dose, the creep rate can again increase because of (1) high internal stress enhancing the creep rate, and (2) the destruction of interstitial pins by thermal diffusion of vacancies</a:t>
            </a:r>
          </a:p>
          <a:p>
            <a:endParaRPr lang="en-US" sz="2200" dirty="0"/>
          </a:p>
          <a:p>
            <a:endParaRPr lang="en-US" sz="2200" dirty="0"/>
          </a:p>
          <a:p>
            <a:endParaRPr lang="en-US" sz="2200" dirty="0"/>
          </a:p>
        </p:txBody>
      </p:sp>
    </p:spTree>
    <p:extLst>
      <p:ext uri="{BB962C8B-B14F-4D97-AF65-F5344CB8AC3E}">
        <p14:creationId xmlns:p14="http://schemas.microsoft.com/office/powerpoint/2010/main" val="37421892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6E1F9-FDA9-BE44-B394-425404F7A94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9B6A0A9-2876-1446-8E64-A40C1B12E72B}"/>
              </a:ext>
            </a:extLst>
          </p:cNvPr>
          <p:cNvSpPr>
            <a:spLocks noGrp="1"/>
          </p:cNvSpPr>
          <p:nvPr>
            <p:ph sz="half" idx="1"/>
          </p:nvPr>
        </p:nvSpPr>
        <p:spPr>
          <a:xfrm>
            <a:off x="609600" y="1968503"/>
            <a:ext cx="10972800" cy="4157663"/>
          </a:xfrm>
        </p:spPr>
        <p:txBody>
          <a:bodyPr/>
          <a:lstStyle/>
          <a:p>
            <a:r>
              <a:rPr lang="en-US" sz="2400" dirty="0"/>
              <a:t>Graphite has a lot of texture and porosity, dependent upon fabrication</a:t>
            </a:r>
          </a:p>
          <a:p>
            <a:r>
              <a:rPr lang="en-US" sz="2400" dirty="0"/>
              <a:t>Graphite has anisotropic properties, but nuclear-grade graphite is manufactured in a way to target semi-isotropic properties</a:t>
            </a:r>
          </a:p>
          <a:p>
            <a:r>
              <a:rPr lang="en-US" sz="2400" dirty="0"/>
              <a:t>Graphite shrinks, then undergoes turnaround</a:t>
            </a:r>
          </a:p>
          <a:p>
            <a:r>
              <a:rPr lang="en-US" sz="2400" dirty="0"/>
              <a:t>This behavior is governed by point defects, which induced swelling, and close Mrozowski cracks</a:t>
            </a:r>
          </a:p>
          <a:p>
            <a:r>
              <a:rPr lang="en-US" sz="2400" dirty="0"/>
              <a:t>Turnaround happens quicker at higher temperatures, and is dependent upon applied stress</a:t>
            </a:r>
          </a:p>
          <a:p>
            <a:r>
              <a:rPr lang="en-US" sz="2400" dirty="0"/>
              <a:t>Irradiation creep is critically important in graphite</a:t>
            </a:r>
          </a:p>
        </p:txBody>
      </p:sp>
      <p:sp>
        <p:nvSpPr>
          <p:cNvPr id="5" name="Slide Number Placeholder 4">
            <a:extLst>
              <a:ext uri="{FF2B5EF4-FFF2-40B4-BE49-F238E27FC236}">
                <a16:creationId xmlns:a16="http://schemas.microsoft.com/office/drawing/2014/main" id="{3C7E02AC-765A-2946-A8E5-11DDDB268EE4}"/>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spTree>
    <p:extLst>
      <p:ext uri="{BB962C8B-B14F-4D97-AF65-F5344CB8AC3E}">
        <p14:creationId xmlns:p14="http://schemas.microsoft.com/office/powerpoint/2010/main" val="19246453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C0FE3-55A7-0361-C92F-4138FDBE8BC8}"/>
              </a:ext>
            </a:extLst>
          </p:cNvPr>
          <p:cNvSpPr>
            <a:spLocks noGrp="1"/>
          </p:cNvSpPr>
          <p:nvPr>
            <p:ph type="title"/>
          </p:nvPr>
        </p:nvSpPr>
        <p:spPr/>
        <p:txBody>
          <a:bodyPr/>
          <a:lstStyle/>
          <a:p>
            <a:r>
              <a:rPr lang="en-US" dirty="0"/>
              <a:t>EXTRAS….</a:t>
            </a:r>
          </a:p>
        </p:txBody>
      </p:sp>
      <p:sp>
        <p:nvSpPr>
          <p:cNvPr id="3" name="Content Placeholder 2">
            <a:extLst>
              <a:ext uri="{FF2B5EF4-FFF2-40B4-BE49-F238E27FC236}">
                <a16:creationId xmlns:a16="http://schemas.microsoft.com/office/drawing/2014/main" id="{B392BC54-59F8-8D5C-50C8-3F2E085A0DF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77BE3C20-6DC4-F644-59B4-E8FE2A7981F8}"/>
              </a:ext>
            </a:extLst>
          </p:cNvPr>
          <p:cNvSpPr>
            <a:spLocks noGrp="1"/>
          </p:cNvSpPr>
          <p:nvPr>
            <p:ph sz="half" idx="2"/>
          </p:nvPr>
        </p:nvSpPr>
        <p:spPr/>
        <p:txBody>
          <a:bodyPr/>
          <a:lstStyle/>
          <a:p>
            <a:endParaRPr lang="en-US"/>
          </a:p>
        </p:txBody>
      </p:sp>
      <p:sp>
        <p:nvSpPr>
          <p:cNvPr id="5" name="Slide Number Placeholder 4">
            <a:extLst>
              <a:ext uri="{FF2B5EF4-FFF2-40B4-BE49-F238E27FC236}">
                <a16:creationId xmlns:a16="http://schemas.microsoft.com/office/drawing/2014/main" id="{C6FE7E01-6D13-FBE7-0E3E-98646275876E}"/>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862081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5EDF0-6B60-4744-B285-91CB7521E0E6}"/>
              </a:ext>
            </a:extLst>
          </p:cNvPr>
          <p:cNvSpPr>
            <a:spLocks noGrp="1"/>
          </p:cNvSpPr>
          <p:nvPr>
            <p:ph type="title"/>
          </p:nvPr>
        </p:nvSpPr>
        <p:spPr/>
        <p:txBody>
          <a:bodyPr/>
          <a:lstStyle/>
          <a:p>
            <a:r>
              <a:rPr lang="en-US" dirty="0"/>
              <a:t>CTE and Young’s Modulus</a:t>
            </a:r>
          </a:p>
        </p:txBody>
      </p:sp>
      <p:sp>
        <p:nvSpPr>
          <p:cNvPr id="3" name="Content Placeholder 2">
            <a:extLst>
              <a:ext uri="{FF2B5EF4-FFF2-40B4-BE49-F238E27FC236}">
                <a16:creationId xmlns:a16="http://schemas.microsoft.com/office/drawing/2014/main" id="{14531046-C265-174C-9006-67D45ACCC23B}"/>
              </a:ext>
            </a:extLst>
          </p:cNvPr>
          <p:cNvSpPr>
            <a:spLocks noGrp="1"/>
          </p:cNvSpPr>
          <p:nvPr>
            <p:ph sz="half" idx="1"/>
          </p:nvPr>
        </p:nvSpPr>
        <p:spPr>
          <a:xfrm>
            <a:off x="609600" y="1968503"/>
            <a:ext cx="4648606" cy="4157663"/>
          </a:xfrm>
        </p:spPr>
        <p:txBody>
          <a:bodyPr/>
          <a:lstStyle/>
          <a:p>
            <a:r>
              <a:rPr lang="en-US" sz="2000" dirty="0"/>
              <a:t>The behavior of the CTE and E is complex and differs between anisotropic and semi-isotropic grades</a:t>
            </a:r>
          </a:p>
          <a:p>
            <a:r>
              <a:rPr lang="en-US" sz="2000" dirty="0"/>
              <a:t>The CTE of </a:t>
            </a:r>
            <a:r>
              <a:rPr lang="en-US" sz="2000" dirty="0" err="1"/>
              <a:t>Gilsocarbon</a:t>
            </a:r>
            <a:r>
              <a:rPr lang="en-US" sz="2000" dirty="0"/>
              <a:t> first increases then reduces</a:t>
            </a:r>
          </a:p>
          <a:p>
            <a:r>
              <a:rPr lang="en-US" sz="2000" dirty="0"/>
              <a:t>For E there an increase with increasing fluence for </a:t>
            </a:r>
            <a:r>
              <a:rPr lang="en-US" sz="2000" dirty="0" err="1"/>
              <a:t>Gilsocarbon</a:t>
            </a:r>
            <a:endParaRPr lang="en-US" sz="2000" dirty="0"/>
          </a:p>
          <a:p>
            <a:r>
              <a:rPr lang="en-US" sz="2000" dirty="0"/>
              <a:t>If irradiated past turnaround, significant degradation occurs, and the modulus starts to reduce</a:t>
            </a:r>
          </a:p>
          <a:p>
            <a:r>
              <a:rPr lang="en-US" sz="2000" dirty="0"/>
              <a:t>PGA = Pile Grade A, course, anisotropic graphite</a:t>
            </a:r>
          </a:p>
          <a:p>
            <a:endParaRPr lang="en-US" sz="2000" dirty="0"/>
          </a:p>
          <a:p>
            <a:endParaRPr lang="en-US" sz="2000" dirty="0"/>
          </a:p>
        </p:txBody>
      </p:sp>
      <p:pic>
        <p:nvPicPr>
          <p:cNvPr id="5" name="Content Placeholder 4">
            <a:extLst>
              <a:ext uri="{FF2B5EF4-FFF2-40B4-BE49-F238E27FC236}">
                <a16:creationId xmlns:a16="http://schemas.microsoft.com/office/drawing/2014/main" id="{B5C9524A-A626-914D-BD02-4DD5A18C3809}"/>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5258206" y="2184826"/>
            <a:ext cx="6405100" cy="4171526"/>
          </a:xfrm>
          <a:prstGeom prst="rect">
            <a:avLst/>
          </a:prstGeom>
        </p:spPr>
      </p:pic>
      <p:sp>
        <p:nvSpPr>
          <p:cNvPr id="4" name="Slide Number Placeholder 3">
            <a:extLst>
              <a:ext uri="{FF2B5EF4-FFF2-40B4-BE49-F238E27FC236}">
                <a16:creationId xmlns:a16="http://schemas.microsoft.com/office/drawing/2014/main" id="{D0AFEDFD-E290-9E49-B2DC-D4393C24A05E}"/>
              </a:ext>
            </a:extLst>
          </p:cNvPr>
          <p:cNvSpPr>
            <a:spLocks noGrp="1"/>
          </p:cNvSpPr>
          <p:nvPr>
            <p:ph type="sldNum" sz="quarter" idx="12"/>
          </p:nvPr>
        </p:nvSpPr>
        <p:spPr/>
        <p:txBody>
          <a:bodyPr/>
          <a:lstStyle/>
          <a:p>
            <a:pPr>
              <a:defRPr/>
            </a:pPr>
            <a:fld id="{EC35E9FC-F6D5-0349-BBED-EA7D7A9BC49B}" type="slidenum">
              <a:rPr lang="en-US" smtClean="0"/>
              <a:pPr>
                <a:defRPr/>
              </a:pPr>
              <a:t>34</a:t>
            </a:fld>
            <a:endParaRPr lang="en-US"/>
          </a:p>
        </p:txBody>
      </p:sp>
      <p:sp>
        <p:nvSpPr>
          <p:cNvPr id="6" name="TextBox 5">
            <a:extLst>
              <a:ext uri="{FF2B5EF4-FFF2-40B4-BE49-F238E27FC236}">
                <a16:creationId xmlns:a16="http://schemas.microsoft.com/office/drawing/2014/main" id="{CAF0BC5B-28BD-9347-A744-D1FC1F509A43}"/>
              </a:ext>
            </a:extLst>
          </p:cNvPr>
          <p:cNvSpPr txBox="1"/>
          <p:nvPr/>
        </p:nvSpPr>
        <p:spPr>
          <a:xfrm>
            <a:off x="6358758" y="1891997"/>
            <a:ext cx="1019504" cy="369332"/>
          </a:xfrm>
          <a:prstGeom prst="rect">
            <a:avLst/>
          </a:prstGeom>
          <a:noFill/>
        </p:spPr>
        <p:txBody>
          <a:bodyPr wrap="square" rtlCol="0">
            <a:spAutoFit/>
          </a:bodyPr>
          <a:lstStyle/>
          <a:p>
            <a:pPr algn="ctr"/>
            <a:r>
              <a:rPr lang="en-US" dirty="0"/>
              <a:t>PGA</a:t>
            </a:r>
          </a:p>
        </p:txBody>
      </p:sp>
      <p:sp>
        <p:nvSpPr>
          <p:cNvPr id="7" name="TextBox 6">
            <a:extLst>
              <a:ext uri="{FF2B5EF4-FFF2-40B4-BE49-F238E27FC236}">
                <a16:creationId xmlns:a16="http://schemas.microsoft.com/office/drawing/2014/main" id="{B63307D3-B499-4242-AD01-A496BB37D53E}"/>
              </a:ext>
            </a:extLst>
          </p:cNvPr>
          <p:cNvSpPr txBox="1"/>
          <p:nvPr/>
        </p:nvSpPr>
        <p:spPr>
          <a:xfrm>
            <a:off x="9462428" y="1891997"/>
            <a:ext cx="1480207" cy="369332"/>
          </a:xfrm>
          <a:prstGeom prst="rect">
            <a:avLst/>
          </a:prstGeom>
          <a:noFill/>
        </p:spPr>
        <p:txBody>
          <a:bodyPr wrap="square" rtlCol="0">
            <a:spAutoFit/>
          </a:bodyPr>
          <a:lstStyle/>
          <a:p>
            <a:pPr algn="ctr"/>
            <a:r>
              <a:rPr lang="en-US" dirty="0" err="1"/>
              <a:t>Gilsocarbon</a:t>
            </a:r>
            <a:endParaRPr lang="en-US" dirty="0"/>
          </a:p>
        </p:txBody>
      </p:sp>
    </p:spTree>
    <p:extLst>
      <p:ext uri="{BB962C8B-B14F-4D97-AF65-F5344CB8AC3E}">
        <p14:creationId xmlns:p14="http://schemas.microsoft.com/office/powerpoint/2010/main" val="4879162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007C5-E917-1341-A784-F84B4A392885}"/>
              </a:ext>
            </a:extLst>
          </p:cNvPr>
          <p:cNvSpPr>
            <a:spLocks noGrp="1"/>
          </p:cNvSpPr>
          <p:nvPr>
            <p:ph type="title"/>
          </p:nvPr>
        </p:nvSpPr>
        <p:spPr/>
        <p:txBody>
          <a:bodyPr/>
          <a:lstStyle/>
          <a:p>
            <a:r>
              <a:rPr lang="en-US" dirty="0"/>
              <a:t>Radiolytic Oxidation</a:t>
            </a:r>
          </a:p>
        </p:txBody>
      </p:sp>
      <p:sp>
        <p:nvSpPr>
          <p:cNvPr id="3" name="Content Placeholder 2">
            <a:extLst>
              <a:ext uri="{FF2B5EF4-FFF2-40B4-BE49-F238E27FC236}">
                <a16:creationId xmlns:a16="http://schemas.microsoft.com/office/drawing/2014/main" id="{8C41E1E4-D27B-104A-A462-7F07747D4EA0}"/>
              </a:ext>
            </a:extLst>
          </p:cNvPr>
          <p:cNvSpPr>
            <a:spLocks noGrp="1"/>
          </p:cNvSpPr>
          <p:nvPr>
            <p:ph sz="half" idx="1"/>
          </p:nvPr>
        </p:nvSpPr>
        <p:spPr/>
        <p:txBody>
          <a:bodyPr/>
          <a:lstStyle/>
          <a:p>
            <a:r>
              <a:rPr lang="en-US" sz="2400" dirty="0"/>
              <a:t>In carbon dioxide (CO2)-cooled reactors, two types of oxidation can occur: thermal and radiolytic</a:t>
            </a:r>
          </a:p>
          <a:p>
            <a:r>
              <a:rPr lang="en-US" sz="2400" dirty="0"/>
              <a:t>Radiolytic oxidation occurs when CO2 is decomposed by ionizing radiation (radiolysis) to form CO and an active oxidizing species (something like CO3), which attacks the graphite</a:t>
            </a:r>
          </a:p>
          <a:p>
            <a:endParaRPr lang="en-US" sz="2400" dirty="0"/>
          </a:p>
          <a:p>
            <a:endParaRPr lang="en-US" sz="2400" dirty="0"/>
          </a:p>
        </p:txBody>
      </p:sp>
      <p:sp>
        <p:nvSpPr>
          <p:cNvPr id="4" name="Content Placeholder 3">
            <a:extLst>
              <a:ext uri="{FF2B5EF4-FFF2-40B4-BE49-F238E27FC236}">
                <a16:creationId xmlns:a16="http://schemas.microsoft.com/office/drawing/2014/main" id="{D42E2F99-9EB0-7548-BCFF-E4A5B18DB53D}"/>
              </a:ext>
            </a:extLst>
          </p:cNvPr>
          <p:cNvSpPr>
            <a:spLocks noGrp="1"/>
          </p:cNvSpPr>
          <p:nvPr>
            <p:ph sz="half" idx="2"/>
          </p:nvPr>
        </p:nvSpPr>
        <p:spPr/>
        <p:txBody>
          <a:bodyPr/>
          <a:lstStyle/>
          <a:p>
            <a:r>
              <a:rPr lang="en-US" sz="2400" dirty="0"/>
              <a:t>Radiolytic oxidation occurs predominantly within the graphite open porosity</a:t>
            </a:r>
          </a:p>
          <a:p>
            <a:r>
              <a:rPr lang="en-US" sz="2400" dirty="0"/>
              <a:t>Can result in weight loss and wastage from graphite</a:t>
            </a:r>
          </a:p>
          <a:p>
            <a:endParaRPr lang="en-US" sz="2400" dirty="0"/>
          </a:p>
          <a:p>
            <a:endParaRPr lang="en-US" sz="2400" dirty="0"/>
          </a:p>
        </p:txBody>
      </p:sp>
      <p:sp>
        <p:nvSpPr>
          <p:cNvPr id="5" name="Slide Number Placeholder 4">
            <a:extLst>
              <a:ext uri="{FF2B5EF4-FFF2-40B4-BE49-F238E27FC236}">
                <a16:creationId xmlns:a16="http://schemas.microsoft.com/office/drawing/2014/main" id="{F06781E5-A083-0C40-921E-6E8476C692F7}"/>
              </a:ext>
            </a:extLst>
          </p:cNvPr>
          <p:cNvSpPr>
            <a:spLocks noGrp="1"/>
          </p:cNvSpPr>
          <p:nvPr>
            <p:ph type="sldNum" sz="quarter" idx="12"/>
          </p:nvPr>
        </p:nvSpPr>
        <p:spPr/>
        <p:txBody>
          <a:bodyPr/>
          <a:lstStyle/>
          <a:p>
            <a:pPr>
              <a:defRPr/>
            </a:pPr>
            <a:fld id="{EC35E9FC-F6D5-0349-BBED-EA7D7A9BC49B}" type="slidenum">
              <a:rPr lang="en-US" smtClean="0"/>
              <a:pPr>
                <a:defRPr/>
              </a:pPr>
              <a:t>35</a:t>
            </a:fld>
            <a:endParaRPr lang="en-US"/>
          </a:p>
        </p:txBody>
      </p:sp>
      <p:pic>
        <p:nvPicPr>
          <p:cNvPr id="6" name="Picture 5">
            <a:extLst>
              <a:ext uri="{FF2B5EF4-FFF2-40B4-BE49-F238E27FC236}">
                <a16:creationId xmlns:a16="http://schemas.microsoft.com/office/drawing/2014/main" id="{BAA4923E-89CE-BD49-85FC-3FB0D89AD860}"/>
              </a:ext>
            </a:extLst>
          </p:cNvPr>
          <p:cNvPicPr>
            <a:picLocks noChangeAspect="1"/>
          </p:cNvPicPr>
          <p:nvPr/>
        </p:nvPicPr>
        <p:blipFill>
          <a:blip r:embed="rId2"/>
          <a:stretch>
            <a:fillRect/>
          </a:stretch>
        </p:blipFill>
        <p:spPr>
          <a:xfrm>
            <a:off x="1778000" y="5475287"/>
            <a:ext cx="3048000" cy="965200"/>
          </a:xfrm>
          <a:prstGeom prst="rect">
            <a:avLst/>
          </a:prstGeom>
        </p:spPr>
      </p:pic>
      <p:pic>
        <p:nvPicPr>
          <p:cNvPr id="7" name="Picture 6">
            <a:extLst>
              <a:ext uri="{FF2B5EF4-FFF2-40B4-BE49-F238E27FC236}">
                <a16:creationId xmlns:a16="http://schemas.microsoft.com/office/drawing/2014/main" id="{91AD87D7-6E62-C14E-BBE0-23B5C1D05E37}"/>
              </a:ext>
            </a:extLst>
          </p:cNvPr>
          <p:cNvPicPr>
            <a:picLocks noChangeAspect="1"/>
          </p:cNvPicPr>
          <p:nvPr/>
        </p:nvPicPr>
        <p:blipFill>
          <a:blip r:embed="rId3"/>
          <a:stretch>
            <a:fillRect/>
          </a:stretch>
        </p:blipFill>
        <p:spPr>
          <a:xfrm>
            <a:off x="6302780" y="3932294"/>
            <a:ext cx="4869639" cy="2789183"/>
          </a:xfrm>
          <a:prstGeom prst="rect">
            <a:avLst/>
          </a:prstGeom>
        </p:spPr>
      </p:pic>
    </p:spTree>
    <p:extLst>
      <p:ext uri="{BB962C8B-B14F-4D97-AF65-F5344CB8AC3E}">
        <p14:creationId xmlns:p14="http://schemas.microsoft.com/office/powerpoint/2010/main" val="4211486530"/>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90029</TotalTime>
  <Words>2410</Words>
  <Application>Microsoft Macintosh PowerPoint</Application>
  <PresentationFormat>Widescreen</PresentationFormat>
  <Paragraphs>238</Paragraphs>
  <Slides>35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Symbol</vt:lpstr>
      <vt:lpstr>1_NCStateU-horizontal-left-logo</vt:lpstr>
      <vt:lpstr>NE 763: Advanced Reactor Materials</vt:lpstr>
      <vt:lpstr>Last Time</vt:lpstr>
      <vt:lpstr>SiC Mechanical Properties</vt:lpstr>
      <vt:lpstr>SiC Creep</vt:lpstr>
      <vt:lpstr>SiC Corrosion</vt:lpstr>
      <vt:lpstr>SiC Corrosion</vt:lpstr>
      <vt:lpstr>SiC Corrosion</vt:lpstr>
      <vt:lpstr>Wrap-Up on SiC</vt:lpstr>
      <vt:lpstr>Graphite</vt:lpstr>
      <vt:lpstr>Graphite Usage</vt:lpstr>
      <vt:lpstr>Delineate Types of Graphite</vt:lpstr>
      <vt:lpstr>Graphite Structure</vt:lpstr>
      <vt:lpstr>Fundamental Properties</vt:lpstr>
      <vt:lpstr>Mrozowski Cracks</vt:lpstr>
      <vt:lpstr>Graphite Texture</vt:lpstr>
      <vt:lpstr>Initial Porosity</vt:lpstr>
      <vt:lpstr>RADIATION EFFECTS IN GRAPHITE</vt:lpstr>
      <vt:lpstr>Graphite Shrinkage</vt:lpstr>
      <vt:lpstr>Graphite Shrinkage</vt:lpstr>
      <vt:lpstr>Graphite Dimensional Change</vt:lpstr>
      <vt:lpstr>Interstitials in Graphite</vt:lpstr>
      <vt:lpstr>Graphite Shrinkage</vt:lpstr>
      <vt:lpstr>Graphite Irradiation Under Loading</vt:lpstr>
      <vt:lpstr>Thermal Conductivity</vt:lpstr>
      <vt:lpstr>Impacts of Changes Under Irradiation</vt:lpstr>
      <vt:lpstr>Impacts of Changes Under Irradiation</vt:lpstr>
      <vt:lpstr>Impacts of Changes Under Irradiation</vt:lpstr>
      <vt:lpstr>Irradiation Creep</vt:lpstr>
      <vt:lpstr>Irradiation Creep</vt:lpstr>
      <vt:lpstr>Irradiation Creep Models</vt:lpstr>
      <vt:lpstr>Irradiation Creep</vt:lpstr>
      <vt:lpstr>Summary</vt:lpstr>
      <vt:lpstr>EXTRAS….</vt:lpstr>
      <vt:lpstr>CTE and Young’s Modulus</vt:lpstr>
      <vt:lpstr>Radiolytic Oxidation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Beeler</cp:lastModifiedBy>
  <cp:revision>196</cp:revision>
  <dcterms:created xsi:type="dcterms:W3CDTF">2019-12-09T16:44:02Z</dcterms:created>
  <dcterms:modified xsi:type="dcterms:W3CDTF">2025-08-28T19:10:45Z</dcterms:modified>
</cp:coreProperties>
</file>
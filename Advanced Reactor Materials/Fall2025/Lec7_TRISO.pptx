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7"/>
  </p:notesMasterIdLst>
  <p:sldIdLst>
    <p:sldId id="256" r:id="rId2"/>
    <p:sldId id="527" r:id="rId3"/>
    <p:sldId id="510" r:id="rId4"/>
    <p:sldId id="509" r:id="rId5"/>
    <p:sldId id="513" r:id="rId6"/>
    <p:sldId id="444" r:id="rId7"/>
    <p:sldId id="514" r:id="rId8"/>
    <p:sldId id="515" r:id="rId9"/>
    <p:sldId id="511" r:id="rId10"/>
    <p:sldId id="516" r:id="rId11"/>
    <p:sldId id="512" r:id="rId12"/>
    <p:sldId id="517" r:id="rId13"/>
    <p:sldId id="518" r:id="rId14"/>
    <p:sldId id="526" r:id="rId15"/>
    <p:sldId id="52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02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B0241-1142-C84C-9EE2-42E44ABD8DAA}" type="datetimeFigureOut">
              <a:rPr lang="en-US" smtClean="0"/>
              <a:t>9/3/25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37FF6-46D6-B849-A6CD-85860317B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8CCA7-042D-4344-9F38-A30A24316FF0}" type="datetime1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80746"/>
            <a:ext cx="10972800" cy="384541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1600"/>
            </a:lvl3pPr>
            <a:lvl4pPr>
              <a:defRPr sz="18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CAF1B-B7C8-8347-AE4A-EC343217B68C}" type="datetime1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9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FF136D-307A-4941-889F-E9EB8268902E}" type="datetime1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9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F76C3-E96E-A54F-A122-6303A871D871}" type="datetime1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5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40392-1101-8A42-BEB5-9592F30E3A91}" type="datetime1">
              <a:rPr lang="en-US" smtClean="0"/>
              <a:t>9/3/25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8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72F20-AC2E-6D46-8A6B-0183BC6D49D1}" type="datetime1">
              <a:rPr lang="en-US" smtClean="0"/>
              <a:t>9/3/25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2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EA4AC-8DBD-3E4B-B61C-36A721F07D61}" type="datetime1">
              <a:rPr lang="en-US" smtClean="0"/>
              <a:t>9/3/25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3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BFB7E-23D3-E748-98B9-B9A8C558BBAC}" type="datetime1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80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E0F4-A999-A54E-B545-67F2F70C10FB}" type="datetime1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6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13E56-4916-404E-AAB2-B4BA03F90FC2}" type="datetime1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2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13883-51E5-FD4C-BFE2-284CCAA85938}" type="datetime1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8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0A6D047-5534-0641-AA46-5C16F49FBEAF}" type="datetime1">
              <a:rPr lang="en-US" smtClean="0"/>
              <a:t>9/3/25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3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E015E-2E6F-6B40-94AC-A2FDB6C7B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B8C2-7E9B-9D79-CEE4-6B061904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</a:t>
            </a:r>
            <a:r>
              <a:rPr lang="en-US" sz="3600" dirty="0"/>
              <a:t>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5EE27-E7EB-3B2A-17FE-9F8A19F1D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/>
          <a:p>
            <a:r>
              <a:rPr lang="en-US" sz="2400" dirty="0"/>
              <a:t>TRISO fuel performance</a:t>
            </a:r>
          </a:p>
          <a:p>
            <a:pPr lvl="1"/>
            <a:r>
              <a:rPr lang="en-US" sz="2400" dirty="0"/>
              <a:t>key focus on predicting stress state in different layers</a:t>
            </a:r>
          </a:p>
          <a:p>
            <a:pPr lvl="1"/>
            <a:r>
              <a:rPr lang="en-US" sz="2400" dirty="0"/>
              <a:t>data needs for various material thermodynamics and kinetic properties</a:t>
            </a:r>
          </a:p>
          <a:p>
            <a:r>
              <a:rPr lang="en-US" sz="2400" dirty="0"/>
              <a:t>Fuel failure mechanisms</a:t>
            </a:r>
          </a:p>
          <a:p>
            <a:pPr lvl="1"/>
            <a:r>
              <a:rPr lang="en-US" sz="2400" dirty="0"/>
              <a:t>overpressure, PyC cracking, FP attack, kernel migration, etc.</a:t>
            </a:r>
          </a:p>
          <a:p>
            <a:r>
              <a:rPr lang="en-US" sz="2400" dirty="0"/>
              <a:t>Material performance in He</a:t>
            </a:r>
          </a:p>
          <a:p>
            <a:pPr lvl="1"/>
            <a:r>
              <a:rPr lang="en-US" sz="2400" dirty="0"/>
              <a:t>level of impurities impacts corrosion on graphite and IHX</a:t>
            </a:r>
          </a:p>
          <a:p>
            <a:r>
              <a:rPr lang="en-US" sz="2400" dirty="0"/>
              <a:t>TRISO fabrication</a:t>
            </a:r>
          </a:p>
          <a:p>
            <a:pPr lvl="1"/>
            <a:r>
              <a:rPr lang="en-US" sz="2400" dirty="0"/>
              <a:t>sol-gel of kernels, CVD of outer layers, graphite matrix powder, sintering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7011F-6696-090E-76F5-3D9C50EE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1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concepts in TRISO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992943-4CCC-3543-8C54-A7CCD52C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6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48FC-FEFA-8E42-84D0-39C4F96C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ZrC replacing </a:t>
            </a:r>
            <a:r>
              <a:rPr lang="en-US" dirty="0" err="1"/>
              <a:t>SiC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0ADC0-F5B5-3A4E-802B-4D28FBDC1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148553" cy="4157663"/>
          </a:xfrm>
        </p:spPr>
        <p:txBody>
          <a:bodyPr/>
          <a:lstStyle/>
          <a:p>
            <a:r>
              <a:rPr lang="en-US" sz="2000" dirty="0"/>
              <a:t>Zirconium carbide (ZrC) is a refractory and chemically stable compound, which melts </a:t>
            </a:r>
            <a:r>
              <a:rPr lang="en-US" sz="2000" dirty="0" err="1"/>
              <a:t>eutectically</a:t>
            </a:r>
            <a:r>
              <a:rPr lang="en-US" sz="2000" dirty="0"/>
              <a:t> with carbon at 3123 K</a:t>
            </a:r>
          </a:p>
          <a:p>
            <a:r>
              <a:rPr lang="en-US" sz="2000" dirty="0"/>
              <a:t>ZrC can potentially improve the high-temperature stability, the resistance to chemical attack by fission products, and the retention of fission products</a:t>
            </a:r>
          </a:p>
          <a:p>
            <a:r>
              <a:rPr lang="en-US" sz="2000" dirty="0"/>
              <a:t>However, ZrC is significantly less oxidation resistant than </a:t>
            </a:r>
            <a:r>
              <a:rPr lang="en-US" sz="2000" dirty="0" err="1"/>
              <a:t>SiC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D6AE4B-F138-E54E-8D47-B01535B590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49632"/>
          <a:stretch/>
        </p:blipFill>
        <p:spPr>
          <a:xfrm>
            <a:off x="6706165" y="2303820"/>
            <a:ext cx="4062869" cy="28232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CC533-9CFF-4E47-9B18-FD558776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96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48FC-FEFA-8E42-84D0-39C4F96C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ZrC replacing </a:t>
            </a:r>
            <a:r>
              <a:rPr lang="en-US" dirty="0" err="1"/>
              <a:t>SiC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0ADC0-F5B5-3A4E-802B-4D28FBDC1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588001" cy="4157663"/>
          </a:xfrm>
        </p:spPr>
        <p:txBody>
          <a:bodyPr/>
          <a:lstStyle/>
          <a:p>
            <a:r>
              <a:rPr lang="en-US" sz="2000" dirty="0"/>
              <a:t>Four types of ZrC inclusions have been studied (1) ZrC-TRISO coated particles, (2) ZrC-TRISO type coated particles without </a:t>
            </a:r>
            <a:r>
              <a:rPr lang="en-US" sz="2000" dirty="0" err="1"/>
              <a:t>OPyC</a:t>
            </a:r>
            <a:r>
              <a:rPr lang="en-US" sz="2000" dirty="0"/>
              <a:t> layer, (3) ZrC-coated particles with ZrC-doped </a:t>
            </a:r>
            <a:r>
              <a:rPr lang="en-US" sz="2000" dirty="0" err="1"/>
              <a:t>OPyC</a:t>
            </a:r>
            <a:r>
              <a:rPr lang="en-US" sz="2000" dirty="0"/>
              <a:t> layer, and (4) ZrC coated particles with graded C–ZrC layer(s)</a:t>
            </a:r>
          </a:p>
          <a:p>
            <a:r>
              <a:rPr lang="en-US" sz="2000" dirty="0"/>
              <a:t>All four types have been fabricated and irradiated</a:t>
            </a:r>
          </a:p>
          <a:p>
            <a:r>
              <a:rPr lang="en-US" sz="2000" dirty="0"/>
              <a:t>Primary focus has been on option 1, however usage of ZrC started from option 2 in the 1970s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90218-C1C6-7C46-9566-467DF3B2E1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ZrC-TRISO-coated UO2 particle after irradiation at 1673–1923K to 4.5% FIMA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E35011-00A8-1047-A40A-C6D2BBBC0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070" y="3732065"/>
            <a:ext cx="2806849" cy="28068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19574-F9A9-EE4D-8926-162E283E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21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2EDF0-99C9-A74B-9FB0-4F65ED39B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SiC</a:t>
            </a:r>
            <a:r>
              <a:rPr lang="en-US" dirty="0"/>
              <a:t> vs ZrC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3294-2E35-604D-B71F-DBB1DC21A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318325" cy="4157663"/>
          </a:xfrm>
        </p:spPr>
        <p:txBody>
          <a:bodyPr/>
          <a:lstStyle/>
          <a:p>
            <a:r>
              <a:rPr lang="en-US" sz="2000" dirty="0"/>
              <a:t>An approach to counteract </a:t>
            </a:r>
            <a:r>
              <a:rPr lang="en-US" sz="2000" dirty="0" err="1"/>
              <a:t>SiC</a:t>
            </a:r>
            <a:r>
              <a:rPr lang="en-US" sz="2000" dirty="0"/>
              <a:t> fission product corrosion is to replace the </a:t>
            </a:r>
            <a:r>
              <a:rPr lang="en-US" sz="2000" dirty="0" err="1"/>
              <a:t>SiC</a:t>
            </a:r>
            <a:r>
              <a:rPr lang="en-US" sz="2000" dirty="0"/>
              <a:t> coating by a ZrC layer</a:t>
            </a:r>
          </a:p>
          <a:p>
            <a:r>
              <a:rPr lang="en-US" sz="2000" dirty="0"/>
              <a:t>Experimental observations showed neither </a:t>
            </a:r>
            <a:r>
              <a:rPr lang="en-US" sz="2000" dirty="0" err="1"/>
              <a:t>Pd</a:t>
            </a:r>
            <a:r>
              <a:rPr lang="en-US" sz="2000" dirty="0"/>
              <a:t> attack nor thermal degradation of ZrC up to 1600C</a:t>
            </a:r>
          </a:p>
          <a:p>
            <a:r>
              <a:rPr lang="en-US" sz="2000" dirty="0"/>
              <a:t>ZrC was also shown to have a high capacity to retain Cs, but poor retention of Ru</a:t>
            </a:r>
          </a:p>
          <a:p>
            <a:r>
              <a:rPr lang="en-US" sz="2000" dirty="0"/>
              <a:t>At higher T, the deterioration of the ZrC particle is caused by failure of the </a:t>
            </a:r>
            <a:r>
              <a:rPr lang="en-US" sz="2000" dirty="0" err="1"/>
              <a:t>IPyC</a:t>
            </a:r>
            <a:endParaRPr lang="en-US" sz="2000" dirty="0"/>
          </a:p>
          <a:p>
            <a:r>
              <a:rPr lang="en-US" sz="2000" dirty="0"/>
              <a:t>The development of TRISO with ZrC-coating is at an early stage compared to the </a:t>
            </a:r>
            <a:r>
              <a:rPr lang="en-US" sz="2000" dirty="0" err="1"/>
              <a:t>SiC</a:t>
            </a:r>
            <a:r>
              <a:rPr lang="en-US" sz="2000" dirty="0"/>
              <a:t>-coated design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BF9C7E-1100-B942-AC45-7E8B19338D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4976" y="1968500"/>
            <a:ext cx="3750048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97030-9E94-3345-8763-EAA4A31C7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6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48FC-FEFA-8E42-84D0-39C4F96C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ZrC replacing </a:t>
            </a:r>
            <a:r>
              <a:rPr lang="en-US" dirty="0" err="1"/>
              <a:t>SiC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0ADC0-F5B5-3A4E-802B-4D28FBDC1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361545" cy="4157663"/>
          </a:xfrm>
        </p:spPr>
        <p:txBody>
          <a:bodyPr/>
          <a:lstStyle/>
          <a:p>
            <a:r>
              <a:rPr lang="en-US" sz="2200" dirty="0"/>
              <a:t>The improved performance of the ZrC coating layer against chemical attack by </a:t>
            </a:r>
            <a:r>
              <a:rPr lang="en-US" sz="2200" dirty="0" err="1"/>
              <a:t>Pd</a:t>
            </a:r>
            <a:r>
              <a:rPr lang="en-US" sz="2200" dirty="0"/>
              <a:t> has been demonstrated in both out-of-reactor experiments and irradiation tests</a:t>
            </a:r>
          </a:p>
          <a:p>
            <a:r>
              <a:rPr lang="en-US" sz="2200" dirty="0"/>
              <a:t>ZrPd3 can form in lab conditions, but insufficient </a:t>
            </a:r>
            <a:r>
              <a:rPr lang="en-US" sz="2200" dirty="0" err="1"/>
              <a:t>Pd</a:t>
            </a:r>
            <a:r>
              <a:rPr lang="en-US" sz="2200" dirty="0"/>
              <a:t> exists in fuel particles to cause formation and thus degradation</a:t>
            </a:r>
          </a:p>
          <a:p>
            <a:r>
              <a:rPr lang="en-US" sz="2200" dirty="0"/>
              <a:t>ZrC does not seem to solve the silver problem</a:t>
            </a:r>
          </a:p>
          <a:p>
            <a:r>
              <a:rPr lang="en-US" sz="2200" dirty="0"/>
              <a:t>Ruthenium release might be an issue, which it is not for </a:t>
            </a:r>
            <a:r>
              <a:rPr lang="en-US" sz="2200" dirty="0" err="1"/>
              <a:t>SiC</a:t>
            </a:r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9723978-41F1-0D4B-8B49-F88263D227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99079" y="1968500"/>
            <a:ext cx="3155386" cy="473762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C7C75-4464-F345-999A-58CC3E74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05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35BB5-BB39-4D45-885E-277E4016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ZrC replacing </a:t>
            </a:r>
            <a:r>
              <a:rPr lang="en-US" dirty="0" err="1"/>
              <a:t>SiC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D9773-1ABE-5244-8DF6-687740B63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589987" cy="4157663"/>
          </a:xfrm>
        </p:spPr>
        <p:txBody>
          <a:bodyPr/>
          <a:lstStyle/>
          <a:p>
            <a:r>
              <a:rPr lang="en-US" sz="2100" dirty="0"/>
              <a:t>High-temperature behavior of ZrC is superior to </a:t>
            </a:r>
            <a:r>
              <a:rPr lang="en-US" sz="2100" dirty="0" err="1"/>
              <a:t>SiC</a:t>
            </a:r>
            <a:endParaRPr lang="en-US" sz="2100" dirty="0"/>
          </a:p>
          <a:p>
            <a:r>
              <a:rPr lang="en-US" sz="2100" dirty="0"/>
              <a:t>Right is a heating experiment on irradiated TRISO particles</a:t>
            </a:r>
          </a:p>
          <a:p>
            <a:r>
              <a:rPr lang="en-US" sz="2100" dirty="0"/>
              <a:t>No ZrC failures up to 2400C, where an extended hold produced a failure</a:t>
            </a:r>
          </a:p>
          <a:p>
            <a:r>
              <a:rPr lang="en-US" sz="2100" dirty="0"/>
              <a:t>At temperatures above 2000C, </a:t>
            </a:r>
            <a:r>
              <a:rPr lang="en-US" sz="2100" dirty="0" err="1"/>
              <a:t>SiC</a:t>
            </a:r>
            <a:r>
              <a:rPr lang="en-US" sz="2100" dirty="0"/>
              <a:t> will decompose into its constituents</a:t>
            </a:r>
          </a:p>
          <a:p>
            <a:r>
              <a:rPr lang="en-US" sz="2100" dirty="0"/>
              <a:t>Thus, better stability during fabrication, ability to operate at higher temperatures, better stability in off-normal temperature spikes, better fission gas retention at high temperature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E1ECF7-4E20-9D4C-AB1D-3ECD1F94A6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33973" y="1968503"/>
            <a:ext cx="4446564" cy="4157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FC78A-1799-B546-B9B5-3055232F0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941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48FC-FEFA-8E42-84D0-39C4F96C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Non-fissile Carbides in Fuel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0ADC0-F5B5-3A4E-802B-4D28FBDC1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665076" cy="4157663"/>
          </a:xfrm>
        </p:spPr>
        <p:txBody>
          <a:bodyPr/>
          <a:lstStyle/>
          <a:p>
            <a:r>
              <a:rPr lang="en-US" sz="2200" dirty="0"/>
              <a:t>To inhibit the buildup of CO gas in UO2 fuel kernels, UC2 is often added to getter oxygen and reduce the oxygen potential</a:t>
            </a:r>
          </a:p>
          <a:p>
            <a:r>
              <a:rPr lang="en-US" sz="2200" dirty="0"/>
              <a:t>Similar results can be achieved by the addition of </a:t>
            </a:r>
            <a:r>
              <a:rPr lang="en-US" sz="2200" dirty="0" err="1"/>
              <a:t>nonfissionable</a:t>
            </a:r>
            <a:r>
              <a:rPr lang="en-US" sz="2200" dirty="0"/>
              <a:t> carbides, such as </a:t>
            </a:r>
            <a:r>
              <a:rPr lang="en-US" sz="2200" dirty="0" err="1"/>
              <a:t>SiC</a:t>
            </a:r>
            <a:r>
              <a:rPr lang="en-US" sz="2200" dirty="0"/>
              <a:t> or ZrC around fuel kernel</a:t>
            </a:r>
          </a:p>
          <a:p>
            <a:r>
              <a:rPr lang="en-US" sz="2200" dirty="0"/>
              <a:t>Added as a layer around UO2 fuel kernels and/or dispersed within the buffer</a:t>
            </a:r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A9F9AC-9BFD-8F40-8144-D245ECA6BC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91300" y="2224881"/>
            <a:ext cx="4597400" cy="36449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36A81-4AFB-B24A-A31B-BE4B3971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BE600C-34C1-1B05-7049-A90FE3510171}"/>
              </a:ext>
            </a:extLst>
          </p:cNvPr>
          <p:cNvSpPr txBox="1"/>
          <p:nvPr/>
        </p:nvSpPr>
        <p:spPr>
          <a:xfrm>
            <a:off x="6947338" y="1897084"/>
            <a:ext cx="1513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As-fabricated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E13CC-0638-9EA9-A7DB-92FB185C4114}"/>
              </a:ext>
            </a:extLst>
          </p:cNvPr>
          <p:cNvSpPr txBox="1"/>
          <p:nvPr/>
        </p:nvSpPr>
        <p:spPr>
          <a:xfrm>
            <a:off x="9264869" y="1900762"/>
            <a:ext cx="1513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Irradiated</a:t>
            </a:r>
          </a:p>
        </p:txBody>
      </p:sp>
    </p:spTree>
    <p:extLst>
      <p:ext uri="{BB962C8B-B14F-4D97-AF65-F5344CB8AC3E}">
        <p14:creationId xmlns:p14="http://schemas.microsoft.com/office/powerpoint/2010/main" val="385330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CC066-BDD1-7249-A990-408260FD9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Non-fissile Carbides in Fuel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C9421-E1A3-3C4A-8162-3C73D4A4F1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Introduction of ZrC around fuel kernel getters released oxygen</a:t>
            </a:r>
          </a:p>
          <a:p>
            <a:r>
              <a:rPr lang="en-US" sz="2200" dirty="0"/>
              <a:t>This seems to inhibit fuel kernel migration</a:t>
            </a:r>
          </a:p>
          <a:p>
            <a:r>
              <a:rPr lang="en-US" sz="2200" dirty="0"/>
              <a:t>If the layered ZrC is intact, can inhibit fuel swelling as well, potentially reduced stresses on outer layers</a:t>
            </a:r>
          </a:p>
          <a:p>
            <a:r>
              <a:rPr lang="en-US" sz="2200" dirty="0"/>
              <a:t>Have performed limited irradiation experiments with no failures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866AF-09CE-8240-AE16-B18819E19E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If the layered ZrC is intact, no release occurs for Ag and Eu</a:t>
            </a:r>
          </a:p>
          <a:p>
            <a:r>
              <a:rPr lang="en-US" sz="2200" dirty="0"/>
              <a:t>Release occurs for both species under same conditions for nominal TRISO and for ZrC dispersed in buffer</a:t>
            </a:r>
          </a:p>
          <a:p>
            <a:r>
              <a:rPr lang="en-US" sz="2200" dirty="0"/>
              <a:t>An intact ZrC layer seems to be necessary for explaining the outstanding retention of these particles, in addition to the benefits of O gettering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88D2A-8E5C-FE40-83E8-B5C1CD06F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95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48FC-FEFA-8E42-84D0-39C4F96C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Layering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0ADC0-F5B5-3A4E-802B-4D28FBDC1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400800" cy="4157663"/>
          </a:xfrm>
        </p:spPr>
        <p:txBody>
          <a:bodyPr/>
          <a:lstStyle/>
          <a:p>
            <a:r>
              <a:rPr lang="en-US" sz="2200" dirty="0"/>
              <a:t>Two methods are available to prevent the corrosion of the </a:t>
            </a:r>
            <a:r>
              <a:rPr lang="en-US" sz="2200" dirty="0" err="1"/>
              <a:t>SiC</a:t>
            </a:r>
            <a:r>
              <a:rPr lang="en-US" sz="2200" dirty="0"/>
              <a:t> layer: (1) to keep the fission products within the fuel kernel and (2) to make a barrier to the diffusion of the fission products to the </a:t>
            </a:r>
            <a:r>
              <a:rPr lang="en-US" sz="2200" dirty="0" err="1"/>
              <a:t>SiC</a:t>
            </a:r>
            <a:r>
              <a:rPr lang="en-US" sz="2200" dirty="0"/>
              <a:t> layer</a:t>
            </a:r>
          </a:p>
          <a:p>
            <a:r>
              <a:rPr lang="en-US" sz="2200" dirty="0"/>
              <a:t>Can potentially add a layer that traps palladium by chemical reaction inside the </a:t>
            </a:r>
            <a:r>
              <a:rPr lang="en-US" sz="2200" dirty="0" err="1"/>
              <a:t>SiC</a:t>
            </a:r>
            <a:r>
              <a:rPr lang="en-US" sz="2200" dirty="0"/>
              <a:t> layer of the TRISO coating</a:t>
            </a:r>
          </a:p>
          <a:p>
            <a:r>
              <a:rPr lang="en-US" sz="2200" dirty="0"/>
              <a:t>Can add either an additional </a:t>
            </a:r>
            <a:r>
              <a:rPr lang="en-US" sz="2200" dirty="0" err="1"/>
              <a:t>SiC</a:t>
            </a:r>
            <a:r>
              <a:rPr lang="en-US" sz="2200" dirty="0"/>
              <a:t> layer, or a </a:t>
            </a:r>
            <a:r>
              <a:rPr lang="en-US" sz="2200" dirty="0" err="1"/>
              <a:t>SiC</a:t>
            </a:r>
            <a:r>
              <a:rPr lang="en-US" sz="2200" dirty="0"/>
              <a:t>/</a:t>
            </a:r>
            <a:r>
              <a:rPr lang="en-US" sz="2200" dirty="0" err="1"/>
              <a:t>PyC</a:t>
            </a:r>
            <a:r>
              <a:rPr lang="en-US" sz="2200" dirty="0"/>
              <a:t> composite layer</a:t>
            </a:r>
          </a:p>
          <a:p>
            <a:endParaRPr lang="en-US" sz="2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930912B-644F-5B43-A829-F8C5C3E64E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21410" y="1772794"/>
            <a:ext cx="4460990" cy="50099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6DC2B-4EB5-334B-9A39-272B716E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63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48FC-FEFA-8E42-84D0-39C4F96C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Layering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0ADC0-F5B5-3A4E-802B-4D28FBDC1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400800" cy="4157663"/>
          </a:xfrm>
        </p:spPr>
        <p:txBody>
          <a:bodyPr/>
          <a:lstStyle/>
          <a:p>
            <a:r>
              <a:rPr lang="en-US" sz="2100" dirty="0"/>
              <a:t>The type-A coating has an additional layer of </a:t>
            </a:r>
            <a:r>
              <a:rPr lang="en-US" sz="2100" dirty="0" err="1"/>
              <a:t>SiC+PyC</a:t>
            </a:r>
            <a:r>
              <a:rPr lang="en-US" sz="2100" dirty="0"/>
              <a:t> adjacent to the inside of the </a:t>
            </a:r>
            <a:r>
              <a:rPr lang="en-US" sz="2100" dirty="0" err="1"/>
              <a:t>SiC</a:t>
            </a:r>
            <a:r>
              <a:rPr lang="en-US" sz="2100" dirty="0"/>
              <a:t> layer; the thickness of the </a:t>
            </a:r>
            <a:r>
              <a:rPr lang="en-US" sz="2100" dirty="0" err="1"/>
              <a:t>IPyC</a:t>
            </a:r>
            <a:r>
              <a:rPr lang="en-US" sz="2100" dirty="0"/>
              <a:t> layer can be reduced</a:t>
            </a:r>
          </a:p>
          <a:p>
            <a:r>
              <a:rPr lang="en-US" sz="2100" dirty="0"/>
              <a:t>The type-B coating has the dense </a:t>
            </a:r>
            <a:r>
              <a:rPr lang="en-US" sz="2100" dirty="0" err="1"/>
              <a:t>PyC</a:t>
            </a:r>
            <a:r>
              <a:rPr lang="en-US" sz="2100" dirty="0"/>
              <a:t> layer between the </a:t>
            </a:r>
            <a:r>
              <a:rPr lang="en-US" sz="2100" dirty="0" err="1"/>
              <a:t>SiC+PyC</a:t>
            </a:r>
            <a:r>
              <a:rPr lang="en-US" sz="2100" dirty="0"/>
              <a:t> and </a:t>
            </a:r>
            <a:r>
              <a:rPr lang="en-US" sz="2100" dirty="0" err="1"/>
              <a:t>SiC</a:t>
            </a:r>
            <a:r>
              <a:rPr lang="en-US" sz="2100" dirty="0"/>
              <a:t> layers; the intermediate dense </a:t>
            </a:r>
            <a:r>
              <a:rPr lang="en-US" sz="2100" dirty="0" err="1"/>
              <a:t>PyC</a:t>
            </a:r>
            <a:r>
              <a:rPr lang="en-US" sz="2100" dirty="0"/>
              <a:t> layer will interrupt extension of the corrosion zone from the </a:t>
            </a:r>
            <a:r>
              <a:rPr lang="en-US" sz="2100" dirty="0" err="1"/>
              <a:t>SiC+PyC</a:t>
            </a:r>
            <a:r>
              <a:rPr lang="en-US" sz="2100" dirty="0"/>
              <a:t> layer to the </a:t>
            </a:r>
            <a:r>
              <a:rPr lang="en-US" sz="2100" dirty="0" err="1"/>
              <a:t>SiC</a:t>
            </a:r>
            <a:r>
              <a:rPr lang="en-US" sz="2100" dirty="0"/>
              <a:t> layer</a:t>
            </a:r>
          </a:p>
          <a:p>
            <a:r>
              <a:rPr lang="en-US" sz="2100" dirty="0"/>
              <a:t>In the type-C coating, </a:t>
            </a:r>
            <a:r>
              <a:rPr lang="en-US" sz="2100" dirty="0" err="1"/>
              <a:t>SiC</a:t>
            </a:r>
            <a:r>
              <a:rPr lang="en-US" sz="2100" dirty="0"/>
              <a:t> is used for an additional layer; </a:t>
            </a:r>
            <a:r>
              <a:rPr lang="en-US" sz="2100" dirty="0" err="1"/>
              <a:t>SiC</a:t>
            </a:r>
            <a:r>
              <a:rPr lang="en-US" sz="2100" dirty="0"/>
              <a:t> layer will react with fission products and PyC will interrupt corrosion of outer </a:t>
            </a:r>
            <a:r>
              <a:rPr lang="en-US" sz="2100" dirty="0" err="1"/>
              <a:t>SiC</a:t>
            </a:r>
            <a:endParaRPr lang="en-US" sz="21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930912B-644F-5B43-A829-F8C5C3E64E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21410" y="1772794"/>
            <a:ext cx="4460990" cy="50099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75321-1D35-EA44-8A28-98D18EB4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67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48FC-FEFA-8E42-84D0-39C4F96C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Layering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0ADC0-F5B5-3A4E-802B-4D28FBDC1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7788166" cy="4157663"/>
          </a:xfrm>
        </p:spPr>
        <p:txBody>
          <a:bodyPr/>
          <a:lstStyle/>
          <a:p>
            <a:r>
              <a:rPr lang="en-US" sz="2100" dirty="0"/>
              <a:t>Irradiation of these advanced coatings was performed in the JRR-2 reactor</a:t>
            </a:r>
          </a:p>
          <a:p>
            <a:r>
              <a:rPr lang="en-US" sz="2100" dirty="0" err="1"/>
              <a:t>Ceramography</a:t>
            </a:r>
            <a:r>
              <a:rPr lang="en-US" sz="2100" dirty="0"/>
              <a:t> revealed no crack in the advanced coating layers or in the TRISO coating layers</a:t>
            </a:r>
          </a:p>
          <a:p>
            <a:r>
              <a:rPr lang="en-US" sz="2100" dirty="0"/>
              <a:t>All three types trapped Pd at the inner </a:t>
            </a:r>
            <a:r>
              <a:rPr lang="en-US" sz="2100" dirty="0" err="1"/>
              <a:t>SiC</a:t>
            </a:r>
            <a:r>
              <a:rPr lang="en-US" sz="2100" dirty="0"/>
              <a:t>-based barrier, preventing corrosion of the outer </a:t>
            </a:r>
            <a:r>
              <a:rPr lang="en-US" sz="2100" dirty="0" err="1"/>
              <a:t>SiC</a:t>
            </a:r>
            <a:endParaRPr lang="en-US" sz="2100" dirty="0"/>
          </a:p>
          <a:p>
            <a:r>
              <a:rPr lang="en-US" sz="2100" dirty="0"/>
              <a:t>At high heating, a </a:t>
            </a:r>
            <a:r>
              <a:rPr lang="en-US" sz="2100" dirty="0" err="1"/>
              <a:t>PyC</a:t>
            </a:r>
            <a:r>
              <a:rPr lang="en-US" sz="2100" dirty="0"/>
              <a:t> layer between the outer </a:t>
            </a:r>
            <a:r>
              <a:rPr lang="en-US" sz="2100" dirty="0" err="1"/>
              <a:t>SiC</a:t>
            </a:r>
            <a:r>
              <a:rPr lang="en-US" sz="2100" dirty="0"/>
              <a:t> and the inner </a:t>
            </a:r>
            <a:r>
              <a:rPr lang="en-US" sz="2100" dirty="0" err="1"/>
              <a:t>SiC</a:t>
            </a:r>
            <a:r>
              <a:rPr lang="en-US" sz="2100" dirty="0"/>
              <a:t>-based layer proved more effective at fission product retention</a:t>
            </a:r>
          </a:p>
          <a:p>
            <a:r>
              <a:rPr lang="en-US" sz="2100" dirty="0"/>
              <a:t>Also, the </a:t>
            </a:r>
            <a:r>
              <a:rPr lang="en-US" sz="2100" dirty="0" err="1"/>
              <a:t>SiC</a:t>
            </a:r>
            <a:r>
              <a:rPr lang="en-US" sz="2100" dirty="0"/>
              <a:t>/</a:t>
            </a:r>
            <a:r>
              <a:rPr lang="en-US" sz="2100" dirty="0" err="1"/>
              <a:t>PyC</a:t>
            </a:r>
            <a:r>
              <a:rPr lang="en-US" sz="2100" dirty="0"/>
              <a:t> layer proved more effective than pure </a:t>
            </a:r>
            <a:r>
              <a:rPr lang="en-US" sz="2100" dirty="0" err="1"/>
              <a:t>SiC</a:t>
            </a:r>
            <a:endParaRPr lang="en-US" sz="2100" dirty="0"/>
          </a:p>
          <a:p>
            <a:r>
              <a:rPr lang="en-US" sz="2100" dirty="0"/>
              <a:t>No new technology needed to fabricate these particles</a:t>
            </a:r>
          </a:p>
          <a:p>
            <a:endParaRPr lang="en-US" sz="2100" dirty="0"/>
          </a:p>
          <a:p>
            <a:endParaRPr lang="en-US" sz="21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08686E8-5240-5942-B580-B3496C626E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891060" y="1434306"/>
            <a:ext cx="2584485" cy="50662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403760-6632-CC44-B283-9C7B5DD8A215}"/>
              </a:ext>
            </a:extLst>
          </p:cNvPr>
          <p:cNvSpPr txBox="1"/>
          <p:nvPr/>
        </p:nvSpPr>
        <p:spPr>
          <a:xfrm>
            <a:off x="9396248" y="6430861"/>
            <a:ext cx="177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 B Coating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B576288-7100-D745-B4C9-DFCD299DC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00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686E-04BD-5440-87A8-E66158E7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B9BF7-9CEF-9C43-836D-CE9BF1290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972800" cy="4157663"/>
          </a:xfrm>
        </p:spPr>
        <p:txBody>
          <a:bodyPr/>
          <a:lstStyle/>
          <a:p>
            <a:r>
              <a:rPr lang="en-US" sz="2200" dirty="0"/>
              <a:t>Advanced concepts in TRISO particles</a:t>
            </a:r>
          </a:p>
          <a:p>
            <a:pPr lvl="1"/>
            <a:r>
              <a:rPr lang="en-US" sz="2200" dirty="0"/>
              <a:t>ZrC instead of </a:t>
            </a:r>
            <a:r>
              <a:rPr lang="en-US" sz="2200" dirty="0" err="1"/>
              <a:t>SiC</a:t>
            </a:r>
            <a:endParaRPr lang="en-US" sz="2200" dirty="0"/>
          </a:p>
          <a:p>
            <a:pPr lvl="1"/>
            <a:r>
              <a:rPr lang="en-US" sz="2200" dirty="0"/>
              <a:t>ZrC/</a:t>
            </a:r>
            <a:r>
              <a:rPr lang="en-US" sz="2200" dirty="0" err="1"/>
              <a:t>SiC</a:t>
            </a:r>
            <a:r>
              <a:rPr lang="en-US" sz="2200" dirty="0"/>
              <a:t> as a layer around kernel</a:t>
            </a:r>
          </a:p>
          <a:p>
            <a:pPr lvl="1"/>
            <a:r>
              <a:rPr lang="en-US" sz="2200" dirty="0"/>
              <a:t>alternate layering of </a:t>
            </a:r>
            <a:r>
              <a:rPr lang="en-US" sz="2200" dirty="0" err="1"/>
              <a:t>SiC</a:t>
            </a:r>
            <a:r>
              <a:rPr lang="en-US" sz="2200" dirty="0"/>
              <a:t>/PyC</a:t>
            </a:r>
          </a:p>
          <a:p>
            <a:r>
              <a:rPr lang="en-US" sz="2200" dirty="0"/>
              <a:t>All aim to improve behavior in some fashion:</a:t>
            </a:r>
          </a:p>
          <a:p>
            <a:pPr lvl="1"/>
            <a:r>
              <a:rPr lang="en-US" sz="2200" dirty="0"/>
              <a:t>improved stability at high T</a:t>
            </a:r>
          </a:p>
          <a:p>
            <a:pPr lvl="1"/>
            <a:r>
              <a:rPr lang="en-US" sz="2200" dirty="0"/>
              <a:t>improved FP retention and mitigation of kernel migration</a:t>
            </a:r>
          </a:p>
          <a:p>
            <a:pPr lvl="1"/>
            <a:r>
              <a:rPr lang="en-US" sz="2200" dirty="0"/>
              <a:t>improved FP retention and mitigation of FP attack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2688A-5D6C-0F43-A75A-3B4ED0E2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91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831C-2508-9D4A-A7D5-7B962726E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Upcoming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53258-661B-B74F-816D-CEC5B6E52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cover TRISO particle-based fuels</a:t>
            </a:r>
          </a:p>
          <a:p>
            <a:r>
              <a:rPr lang="en-US" dirty="0"/>
              <a:t>Exam will be on Sept 9</a:t>
            </a:r>
          </a:p>
          <a:p>
            <a:r>
              <a:rPr lang="en-US" dirty="0"/>
              <a:t>Open ended questions covering the concepts presented in class</a:t>
            </a:r>
          </a:p>
          <a:p>
            <a:r>
              <a:rPr lang="en-US" dirty="0"/>
              <a:t>Closed book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4FF8B-7B28-5141-AB2A-3DF17278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08023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89185</TotalTime>
  <Words>994</Words>
  <Application>Microsoft Macintosh PowerPoint</Application>
  <PresentationFormat>Widescreen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1_NCStateU-horizontal-left-logo</vt:lpstr>
      <vt:lpstr>NE 763: Advanced Reactor Materials</vt:lpstr>
      <vt:lpstr>Last Time</vt:lpstr>
      <vt:lpstr>Advanced concepts in TRISO</vt:lpstr>
      <vt:lpstr>ZrC replacing SiC </vt:lpstr>
      <vt:lpstr>ZrC replacing SiC </vt:lpstr>
      <vt:lpstr>SiC vs ZrC Corrosion</vt:lpstr>
      <vt:lpstr>ZrC replacing SiC </vt:lpstr>
      <vt:lpstr>ZrC replacing SiC </vt:lpstr>
      <vt:lpstr>Non-fissile Carbides in Fuel</vt:lpstr>
      <vt:lpstr>Non-fissile Carbides in Fuel</vt:lpstr>
      <vt:lpstr>Alternate Layering</vt:lpstr>
      <vt:lpstr>Alternate Layering</vt:lpstr>
      <vt:lpstr>Alternate Layering</vt:lpstr>
      <vt:lpstr>Summary</vt:lpstr>
      <vt:lpstr>Exam Upcoming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Fabrication</dc:title>
  <dc:creator>Ben Beeler</dc:creator>
  <cp:lastModifiedBy>Benjamin Beeler</cp:lastModifiedBy>
  <cp:revision>198</cp:revision>
  <dcterms:created xsi:type="dcterms:W3CDTF">2019-12-09T16:44:02Z</dcterms:created>
  <dcterms:modified xsi:type="dcterms:W3CDTF">2025-09-04T17:18:28Z</dcterms:modified>
</cp:coreProperties>
</file>
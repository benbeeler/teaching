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23"/>
  </p:notesMasterIdLst>
  <p:sldIdLst>
    <p:sldId id="256" r:id="rId2"/>
    <p:sldId id="507" r:id="rId3"/>
    <p:sldId id="462" r:id="rId4"/>
    <p:sldId id="469" r:id="rId5"/>
    <p:sldId id="468" r:id="rId6"/>
    <p:sldId id="477" r:id="rId7"/>
    <p:sldId id="478" r:id="rId8"/>
    <p:sldId id="479" r:id="rId9"/>
    <p:sldId id="480" r:id="rId10"/>
    <p:sldId id="481" r:id="rId11"/>
    <p:sldId id="482" r:id="rId12"/>
    <p:sldId id="483" r:id="rId13"/>
    <p:sldId id="484" r:id="rId14"/>
    <p:sldId id="485" r:id="rId15"/>
    <p:sldId id="486" r:id="rId16"/>
    <p:sldId id="534" r:id="rId17"/>
    <p:sldId id="487" r:id="rId18"/>
    <p:sldId id="488" r:id="rId19"/>
    <p:sldId id="489" r:id="rId20"/>
    <p:sldId id="491" r:id="rId21"/>
    <p:sldId id="4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32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6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2B0241-1142-C84C-9EE2-42E44ABD8DAA}" type="datetimeFigureOut">
              <a:rPr lang="en-US" smtClean="0"/>
              <a:t>8/26/25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137FF6-46D6-B849-A6CD-85860317B6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13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095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91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83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70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66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F8CCA7-042D-4344-9F38-A30A24316FF0}" type="datetime1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9085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968500"/>
            <a:ext cx="10972800" cy="415766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5CAF1B-B7C8-8347-AE4A-EC343217B68C}" type="datetime1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198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1380751"/>
            <a:ext cx="10363200" cy="1362075"/>
          </a:xfrm>
        </p:spPr>
        <p:txBody>
          <a:bodyPr anchor="t"/>
          <a:lstStyle>
            <a:lvl1pPr algn="l">
              <a:defRPr sz="5333" b="1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4FF136D-307A-4941-889F-E9EB8268902E}" type="datetime1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894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4800" cy="4157663"/>
          </a:xfrm>
        </p:spPr>
        <p:txBody>
          <a:bodyPr/>
          <a:lstStyle>
            <a:lvl1pPr>
              <a:defRPr sz="24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968503"/>
            <a:ext cx="5384800" cy="41576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1F76C3-E96E-A54F-A122-6303A871D871}" type="datetime1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657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4" y="867339"/>
            <a:ext cx="10972800" cy="1068387"/>
          </a:xfrm>
        </p:spPr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935726"/>
            <a:ext cx="5386917" cy="419043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2" y="2174875"/>
            <a:ext cx="5389033" cy="3951288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4040392-1101-8A42-BEB5-9592F30E3A91}" type="datetime1">
              <a:rPr lang="en-US" smtClean="0"/>
              <a:t>8/26/25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183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5C72F20-AC2E-6D46-8A6B-0183BC6D49D1}" type="datetime1">
              <a:rPr lang="en-US" smtClean="0"/>
              <a:t>8/26/25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825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6FEA4AC-8DBD-3E4B-B61C-36A721F07D61}" type="datetime1">
              <a:rPr lang="en-US" smtClean="0"/>
              <a:t>8/26/25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5831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5" y="273049"/>
            <a:ext cx="4011084" cy="1162051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5" y="1435103"/>
            <a:ext cx="4011084" cy="46910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71BFB7E-23D3-E748-98B9-B9A8C558BBAC}" type="datetime1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280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1"/>
            <a:ext cx="7315200" cy="566739"/>
          </a:xfrm>
        </p:spPr>
        <p:txBody>
          <a:bodyPr anchor="b"/>
          <a:lstStyle>
            <a:lvl1pPr algn="l">
              <a:defRPr sz="2667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9"/>
            <a:ext cx="7315200" cy="804863"/>
          </a:xfrm>
        </p:spPr>
        <p:txBody>
          <a:bodyPr/>
          <a:lstStyle>
            <a:lvl1pPr marL="0" indent="0">
              <a:buNone/>
              <a:defRPr sz="1867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90E0F4-A999-A54E-B545-67F2F70C10FB}" type="datetime1">
              <a:rPr lang="en-US" smtClean="0"/>
              <a:t>8/26/25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568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1013E56-4916-404E-AAB2-B4BA03F90FC2}" type="datetime1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420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0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0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713883-51E5-FD4C-BFE2-284CCAA85938}" type="datetime1">
              <a:rPr lang="en-US" smtClean="0"/>
              <a:t>8/26/25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282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900113"/>
            <a:ext cx="10972800" cy="1068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Headline Line One</a:t>
            </a:r>
            <a:br>
              <a:rPr lang="en-US" dirty="0"/>
            </a:br>
            <a:r>
              <a:rPr lang="en-US" dirty="0"/>
              <a:t>Headline Line Two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3022600"/>
            <a:ext cx="10972800" cy="3103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50A6D047-5534-0641-AA46-5C16F49FBEAF}" type="datetime1">
              <a:rPr lang="en-US" smtClean="0"/>
              <a:t>8/26/25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2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6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fontAlgn="auto">
              <a:spcBef>
                <a:spcPts val="0"/>
              </a:spcBef>
              <a:spcAft>
                <a:spcPts val="0"/>
              </a:spcAft>
              <a:defRPr sz="160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0"/>
            <a:ext cx="122029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32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ctr" defTabSz="609585" rtl="0" eaLnBrk="1" fontAlgn="base" hangingPunct="1">
        <a:spcBef>
          <a:spcPct val="0"/>
        </a:spcBef>
        <a:spcAft>
          <a:spcPct val="0"/>
        </a:spcAft>
        <a:defRPr sz="4267" b="1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2pPr>
      <a:lvl3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3pPr>
      <a:lvl4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4pPr>
      <a:lvl5pPr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5pPr>
      <a:lvl6pPr marL="609585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6pPr>
      <a:lvl7pPr marL="1219170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7pPr>
      <a:lvl8pPr marL="1828754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8pPr>
      <a:lvl9pPr marL="2438339" algn="ctr" defTabSz="609585" rtl="0" eaLnBrk="1" fontAlgn="base" hangingPunct="1">
        <a:spcBef>
          <a:spcPct val="0"/>
        </a:spcBef>
        <a:spcAft>
          <a:spcPct val="0"/>
        </a:spcAft>
        <a:defRPr sz="4267" b="1">
          <a:solidFill>
            <a:schemeClr val="tx1"/>
          </a:solidFill>
          <a:latin typeface="Arial" charset="0"/>
          <a:ea typeface="ＭＳ Ｐゴシック" charset="0"/>
        </a:defRPr>
      </a:lvl9pPr>
    </p:titleStyle>
    <p:bodyStyle>
      <a:lvl1pPr marL="457189" indent="-457189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1pPr>
      <a:lvl2pPr marL="990575" indent="-380990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200" kern="1200">
          <a:solidFill>
            <a:schemeClr val="tx1"/>
          </a:solidFill>
          <a:latin typeface="Arial"/>
          <a:ea typeface="ＭＳ Ｐゴシック" charset="0"/>
          <a:cs typeface="Arial"/>
        </a:defRPr>
      </a:lvl2pPr>
      <a:lvl3pPr marL="1523962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Arial"/>
          <a:ea typeface="ＭＳ Ｐゴシック" charset="0"/>
          <a:cs typeface="Arial"/>
        </a:defRPr>
      </a:lvl3pPr>
      <a:lvl4pPr marL="2133547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1867" kern="1200">
          <a:solidFill>
            <a:schemeClr val="tx1"/>
          </a:solidFill>
          <a:latin typeface="Arial"/>
          <a:ea typeface="ＭＳ Ｐゴシック" charset="0"/>
          <a:cs typeface="Arial"/>
        </a:defRPr>
      </a:lvl4pPr>
      <a:lvl5pPr marL="2743131" indent="-304792" algn="l" defTabSz="609585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1333" kern="1200">
          <a:solidFill>
            <a:schemeClr val="tx1"/>
          </a:solidFill>
          <a:latin typeface="Arial"/>
          <a:ea typeface="ＭＳ Ｐゴシック" charset="0"/>
          <a:cs typeface="Aria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tif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98C24-8575-8644-833E-593D27AC50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dirty="0"/>
              <a:t>NE 763: Advanced Reactor Materials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187F49-5DA5-4E46-B793-DAB018625C3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  <a:p>
            <a:r>
              <a:rPr lang="en-US" dirty="0"/>
              <a:t>Dr. Benjamin Beeler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E015E-2E6F-6B40-94AC-A2FDB6C7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E82176-A547-F94B-AC51-D6E9C882CB88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5064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3DC84-0091-574A-9F80-9BA14DB58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9696-DAB3-3B49-B4C8-AEDA11EFD9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280746"/>
            <a:ext cx="11183007" cy="3845418"/>
          </a:xfrm>
        </p:spPr>
        <p:txBody>
          <a:bodyPr/>
          <a:lstStyle/>
          <a:p>
            <a:r>
              <a:rPr lang="en-US" sz="2400" dirty="0"/>
              <a:t>TRISO particle intro, evolution into current TRISO design</a:t>
            </a:r>
          </a:p>
          <a:p>
            <a:r>
              <a:rPr lang="en-US" sz="2400" dirty="0"/>
              <a:t>Different layers and their roles</a:t>
            </a:r>
          </a:p>
          <a:p>
            <a:pPr lvl="1"/>
            <a:r>
              <a:rPr lang="en-US" sz="2400" dirty="0"/>
              <a:t>kernel, buffer, </a:t>
            </a:r>
            <a:r>
              <a:rPr lang="en-US" sz="2400" dirty="0" err="1"/>
              <a:t>IPyC</a:t>
            </a:r>
            <a:r>
              <a:rPr lang="en-US" sz="2400" dirty="0"/>
              <a:t>, </a:t>
            </a:r>
            <a:r>
              <a:rPr lang="en-US" sz="2400" dirty="0" err="1"/>
              <a:t>SiC</a:t>
            </a:r>
            <a:r>
              <a:rPr lang="en-US" sz="2400" dirty="0"/>
              <a:t>, </a:t>
            </a:r>
            <a:r>
              <a:rPr lang="en-US" sz="2400" dirty="0" err="1"/>
              <a:t>OPyC</a:t>
            </a:r>
            <a:endParaRPr lang="en-US" sz="2400" dirty="0"/>
          </a:p>
          <a:p>
            <a:r>
              <a:rPr lang="en-US" sz="2400" dirty="0"/>
              <a:t>Fuel kernel – UO2 and UCO</a:t>
            </a:r>
          </a:p>
          <a:p>
            <a:pPr lvl="1"/>
            <a:r>
              <a:rPr lang="en-US" sz="2400" dirty="0"/>
              <a:t>UO2 retains fission products, but generates CO</a:t>
            </a:r>
          </a:p>
          <a:p>
            <a:pPr lvl="1"/>
            <a:r>
              <a:rPr lang="en-US" sz="2400" dirty="0"/>
              <a:t>UC2 limits CO formation, but poorly retains fission products</a:t>
            </a:r>
          </a:p>
          <a:p>
            <a:r>
              <a:rPr lang="en-US" sz="2400" dirty="0"/>
              <a:t>Fission products</a:t>
            </a:r>
          </a:p>
          <a:p>
            <a:pPr lvl="1"/>
            <a:r>
              <a:rPr lang="en-US" sz="2400" dirty="0"/>
              <a:t>Oxygen potential controls which compounds form, transitioning UC into UO2, while some FPs form oxides and other carbides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D0608-22D0-4848-AAC2-5EDF78214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F2C605-4958-CF43-AA48-80339EFDB0AF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8103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947CF-EAEA-5F40-93E5-30922295C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Carbide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119F45-AD4E-DB44-9BDF-31513E0DD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A6BD0F-ABBC-C14D-BC96-77BE126A748B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8034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0A1E1-6E18-384F-B1A3-3F786D8E4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Carbide (</a:t>
            </a:r>
            <a:r>
              <a:rPr lang="en-US" dirty="0" err="1"/>
              <a:t>SiC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0FC78-65F0-0D49-94D5-96503B56A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05139" cy="4157663"/>
          </a:xfrm>
        </p:spPr>
        <p:txBody>
          <a:bodyPr/>
          <a:lstStyle/>
          <a:p>
            <a:r>
              <a:rPr lang="en-US" sz="2000" dirty="0" err="1"/>
              <a:t>SiC</a:t>
            </a:r>
            <a:r>
              <a:rPr lang="en-US" sz="2000" dirty="0"/>
              <a:t> is a very hard and strong non-oxide ceramic that possesses unique thermal and electronic properties</a:t>
            </a:r>
          </a:p>
          <a:p>
            <a:r>
              <a:rPr lang="en-US" sz="2000" dirty="0"/>
              <a:t>Polycrystalline </a:t>
            </a:r>
            <a:r>
              <a:rPr lang="en-US" sz="2000" dirty="0" err="1"/>
              <a:t>SiC</a:t>
            </a:r>
            <a:r>
              <a:rPr lang="en-US" sz="2000" dirty="0"/>
              <a:t> has a strength of 15 GPa and has excellent creep resistance</a:t>
            </a:r>
          </a:p>
          <a:p>
            <a:r>
              <a:rPr lang="en-US" sz="2000" dirty="0" err="1"/>
              <a:t>SiC’s</a:t>
            </a:r>
            <a:r>
              <a:rPr lang="en-US" sz="2000" dirty="0"/>
              <a:t> upper limit of stability is around 2500C and has a melting temperature of around 2830C</a:t>
            </a:r>
          </a:p>
          <a:p>
            <a:r>
              <a:rPr lang="en-US" sz="2000" dirty="0" err="1"/>
              <a:t>SiC</a:t>
            </a:r>
            <a:r>
              <a:rPr lang="en-US" sz="2000" dirty="0"/>
              <a:t> also has excellent thermal conductivity</a:t>
            </a:r>
          </a:p>
          <a:p>
            <a:r>
              <a:rPr lang="en-US" sz="2000" dirty="0" err="1"/>
              <a:t>SiC</a:t>
            </a:r>
            <a:r>
              <a:rPr lang="en-US" sz="2000" dirty="0"/>
              <a:t> is a highly covalent material that forms tetrahedra that are centered around either carbon or silicon atoms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B02EDE-6F11-CD4C-813D-89AFE8189A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6104" y="4467188"/>
            <a:ext cx="5106296" cy="1658978"/>
          </a:xfrm>
        </p:spPr>
        <p:txBody>
          <a:bodyPr/>
          <a:lstStyle/>
          <a:p>
            <a:r>
              <a:rPr lang="el-GR" sz="2000" dirty="0"/>
              <a:t>β-</a:t>
            </a:r>
            <a:r>
              <a:rPr lang="en-US" sz="2000" dirty="0" err="1"/>
              <a:t>SiC</a:t>
            </a:r>
            <a:r>
              <a:rPr lang="en-US" sz="2000" dirty="0"/>
              <a:t> takes the diamond cubic structure with half of the carbons being replaced with silicon; this is a very stable structure that is conducive to </a:t>
            </a:r>
            <a:r>
              <a:rPr lang="en-US" sz="2000" dirty="0" err="1"/>
              <a:t>phononic</a:t>
            </a:r>
            <a:r>
              <a:rPr lang="en-US" sz="2000" dirty="0"/>
              <a:t> heat conduction</a:t>
            </a:r>
            <a:endParaRPr lang="en-US" sz="11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BA2D98-6AF1-2A42-9978-8D9B37CEBA96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6104" y="1749388"/>
            <a:ext cx="2400300" cy="2717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1D27F00-753B-564B-81F4-3CEDDA5F22BA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0033" y="1905678"/>
            <a:ext cx="2530243" cy="2405219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479196-67C6-E04E-813D-F068C1E7C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799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6D832-8525-2A41-9BF2-D0B2618EE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Carbide (</a:t>
            </a:r>
            <a:r>
              <a:rPr lang="en-US" dirty="0" err="1"/>
              <a:t>SiC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AF318-667E-0544-9A8B-CF772AABFF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Silicon carbide (</a:t>
            </a:r>
            <a:r>
              <a:rPr lang="en-US" sz="2400" dirty="0" err="1"/>
              <a:t>SiC</a:t>
            </a:r>
            <a:r>
              <a:rPr lang="en-US" sz="2400" dirty="0"/>
              <a:t>) has been studied and utilized in nuclear systems for decades, primarily as the micro pressure vessel for high-temperature gas-cooled reactor fuels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must be strong enough to withstand the pressure buildup from the fission product gas liberated and CO produced</a:t>
            </a:r>
          </a:p>
          <a:p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CAB368-801F-BB4B-B5EE-A710FA1FA9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layer must withstand chemical attack from metallic fission products such as palladium 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must be able to handle the mechanical loads derived from irradiation-induced dimensional changes occurring in the PyC layers</a:t>
            </a:r>
          </a:p>
          <a:p>
            <a:r>
              <a:rPr lang="en-US" sz="2400" dirty="0"/>
              <a:t>The </a:t>
            </a:r>
            <a:r>
              <a:rPr lang="en-US" sz="2400" dirty="0" err="1"/>
              <a:t>SiC</a:t>
            </a:r>
            <a:r>
              <a:rPr lang="en-US" sz="2400" dirty="0"/>
              <a:t> must maintain its properties during irradiation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40622E-583F-FE4C-B306-6E354AF59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389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87F84-1F20-054D-BC38-64CEA5C7F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C7A60-A43F-F14B-B647-991B6AA0A5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10972800" cy="4157663"/>
          </a:xfrm>
        </p:spPr>
        <p:txBody>
          <a:bodyPr/>
          <a:lstStyle/>
          <a:p>
            <a:r>
              <a:rPr lang="en-US" sz="2400" dirty="0"/>
              <a:t>The neutron-induced swelling of </a:t>
            </a:r>
            <a:r>
              <a:rPr lang="en-US" sz="2400" dirty="0" err="1"/>
              <a:t>SiC</a:t>
            </a:r>
            <a:r>
              <a:rPr lang="en-US" sz="2400" dirty="0"/>
              <a:t> has been well studied for low and intermediate temperatures (up to 1000 C)</a:t>
            </a:r>
          </a:p>
          <a:p>
            <a:r>
              <a:rPr lang="en-US" sz="2400" dirty="0"/>
              <a:t>It is well understood that the presence of significant second phases and/or poorly crystallized phases in these materials leads to unstable behavior under neutron irradiation</a:t>
            </a:r>
          </a:p>
          <a:p>
            <a:r>
              <a:rPr lang="en-US" sz="2400" dirty="0"/>
              <a:t>High purity, stoichiometric, near-theoretical density </a:t>
            </a:r>
            <a:r>
              <a:rPr lang="en-US" sz="2400" dirty="0" err="1"/>
              <a:t>SiC</a:t>
            </a:r>
            <a:r>
              <a:rPr lang="en-US" sz="2400" dirty="0"/>
              <a:t> can show excellent radiation resistance</a:t>
            </a:r>
          </a:p>
          <a:p>
            <a:r>
              <a:rPr lang="en-US" sz="2400" dirty="0"/>
              <a:t>Here I will be talking about the good </a:t>
            </a:r>
            <a:r>
              <a:rPr lang="en-US" sz="2400" dirty="0" err="1"/>
              <a:t>SiC</a:t>
            </a:r>
            <a:r>
              <a:rPr lang="en-US" sz="2400" dirty="0"/>
              <a:t>, assuming that the fabrication process has produced appropriately clean coatings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85D81B-471F-B247-997A-1F5F4CC3C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26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E8619-8F8B-E649-98FB-551E85B3B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4F582F-09B3-F047-9EDC-67C6C18144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381297" cy="4157663"/>
          </a:xfrm>
        </p:spPr>
        <p:txBody>
          <a:bodyPr/>
          <a:lstStyle/>
          <a:p>
            <a:r>
              <a:rPr lang="en-US" dirty="0"/>
              <a:t>The microstructural evolution map is shown on the right</a:t>
            </a:r>
          </a:p>
          <a:p>
            <a:r>
              <a:rPr lang="en-US" dirty="0"/>
              <a:t>Different types of defects form at different temperatures</a:t>
            </a:r>
          </a:p>
          <a:p>
            <a:r>
              <a:rPr lang="en-US" dirty="0"/>
              <a:t>Swelling behavior of </a:t>
            </a:r>
            <a:r>
              <a:rPr lang="en-US" dirty="0" err="1"/>
              <a:t>SiC</a:t>
            </a:r>
            <a:r>
              <a:rPr lang="en-US" dirty="0"/>
              <a:t> is relatively well understood</a:t>
            </a:r>
          </a:p>
          <a:p>
            <a:r>
              <a:rPr lang="en-US" dirty="0"/>
              <a:t>But the contribution of the defects themselves to the swelling in </a:t>
            </a:r>
            <a:r>
              <a:rPr lang="en-US" dirty="0" err="1"/>
              <a:t>SiC</a:t>
            </a:r>
            <a:r>
              <a:rPr lang="en-US" dirty="0"/>
              <a:t> is not well understood</a:t>
            </a:r>
          </a:p>
          <a:p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493A0B-EBC6-1341-A32D-84DC6A8107C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28076" y="1968500"/>
            <a:ext cx="4723848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51886F-9E4C-7B46-8BC9-3409E487E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69006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03049-4B0D-0947-9A8D-33B38D2E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5B20-5E00-B145-9346-A0CC7F4F2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422973" cy="4157663"/>
          </a:xfrm>
        </p:spPr>
        <p:txBody>
          <a:bodyPr/>
          <a:lstStyle/>
          <a:p>
            <a:r>
              <a:rPr lang="en-US" sz="2000" dirty="0"/>
              <a:t>Below 400 K, neutron irradiated </a:t>
            </a:r>
            <a:r>
              <a:rPr lang="en-US" sz="2000" dirty="0" err="1"/>
              <a:t>SiC</a:t>
            </a:r>
            <a:r>
              <a:rPr lang="en-US" sz="2000" dirty="0"/>
              <a:t> microstructure is described as black spot defects, which are most likely clusters of self-interstitial atoms</a:t>
            </a:r>
          </a:p>
          <a:p>
            <a:r>
              <a:rPr lang="en-US" sz="2000" dirty="0"/>
              <a:t>For irradiation temperatures less than about 423 K, accumulation of strain due to the irradiation-produced defects can exceed a critical level above which the crystal becomes amorphous</a:t>
            </a:r>
          </a:p>
          <a:p>
            <a:r>
              <a:rPr lang="en-US" sz="2000" dirty="0"/>
              <a:t>The swelling under self-ion irradiation increases logarithmically with dose until amorphization occurs</a:t>
            </a:r>
          </a:p>
          <a:p>
            <a:r>
              <a:rPr lang="en-US" sz="2000" dirty="0"/>
              <a:t>The swelling of neutron- and ion-amorphized </a:t>
            </a:r>
            <a:r>
              <a:rPr lang="en-US" sz="2000" dirty="0" err="1"/>
              <a:t>SiC</a:t>
            </a:r>
            <a:r>
              <a:rPr lang="en-US" sz="2000" dirty="0"/>
              <a:t> has been reported to be as high as 10.8% at 343K</a:t>
            </a:r>
          </a:p>
          <a:p>
            <a:endParaRPr lang="en-US" sz="2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4C70F64-58F7-E242-AB90-A542BD2FDA5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2572" y="1968500"/>
            <a:ext cx="4723848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4DE5D-0656-2E45-B4C7-692BA49F0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392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03049-4B0D-0947-9A8D-33B38D2E0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Low-Med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775B20-5E00-B145-9346-A0CC7F4F2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918476" cy="4157663"/>
          </a:xfrm>
        </p:spPr>
        <p:txBody>
          <a:bodyPr/>
          <a:lstStyle/>
          <a:p>
            <a:r>
              <a:rPr lang="en-US" sz="2000" dirty="0"/>
              <a:t>Above the critical amorphization temperature (423 K), the swelling increases logarithmically with dose until it reaches saturation</a:t>
            </a:r>
          </a:p>
          <a:p>
            <a:r>
              <a:rPr lang="en-US" sz="2000" dirty="0"/>
              <a:t>The saturation level decreases with increasing irradiation temperature</a:t>
            </a:r>
          </a:p>
          <a:p>
            <a:r>
              <a:rPr lang="en-US" sz="2000" dirty="0"/>
              <a:t>The dose exponents of swelling during the log period are often close to 2/3, in line with assumptions based on interstitial clusters</a:t>
            </a:r>
          </a:p>
          <a:p>
            <a:r>
              <a:rPr lang="en-US" sz="2000" dirty="0"/>
              <a:t>This temperature regime is referred to as the point-defect swelling regime and goes from critical amorphization temperature to about 1273 K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3629BA-C39F-114C-A1F4-094B6069E223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42997" y="4231559"/>
            <a:ext cx="4123422" cy="262644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D838706-DB0E-234A-B96B-3F1CBD13DE04}"/>
              </a:ext>
            </a:extLst>
          </p:cNvPr>
          <p:cNvSpPr/>
          <p:nvPr/>
        </p:nvSpPr>
        <p:spPr>
          <a:xfrm>
            <a:off x="7400249" y="4317025"/>
            <a:ext cx="1499600" cy="415498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700" dirty="0" err="1">
                <a:latin typeface="Helvetica" pitchFamily="2" charset="0"/>
              </a:rPr>
              <a:t>Tirr</a:t>
            </a:r>
            <a:r>
              <a:rPr lang="en-US" sz="700" dirty="0">
                <a:latin typeface="Helvetica" pitchFamily="2" charset="0"/>
              </a:rPr>
              <a:t>=300  C, 6 dpa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Dot number density  2.2e+24m-3</a:t>
            </a:r>
          </a:p>
          <a:p>
            <a:pPr algn="ctr"/>
            <a:r>
              <a:rPr lang="en-US" sz="700" dirty="0">
                <a:latin typeface="Helvetica" pitchFamily="2" charset="0"/>
              </a:rPr>
              <a:t>Mean dot diameter=1nm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DF0EE-5997-A84F-B89C-BB0B3A75F6ED}"/>
              </a:ext>
            </a:extLst>
          </p:cNvPr>
          <p:cNvSpPr/>
          <p:nvPr/>
        </p:nvSpPr>
        <p:spPr>
          <a:xfrm>
            <a:off x="9355113" y="4317025"/>
            <a:ext cx="1751649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sz="800" dirty="0" err="1">
                <a:latin typeface="Helvetica" pitchFamily="2" charset="0"/>
              </a:rPr>
              <a:t>Tirr</a:t>
            </a:r>
            <a:r>
              <a:rPr lang="en-US" sz="800" dirty="0">
                <a:latin typeface="Helvetica" pitchFamily="2" charset="0"/>
              </a:rPr>
              <a:t>= 800  C, 7.7 dpa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Loop number density  3.3e+23m-3</a:t>
            </a:r>
          </a:p>
          <a:p>
            <a:pPr algn="ctr"/>
            <a:r>
              <a:rPr lang="en-US" sz="800" dirty="0">
                <a:latin typeface="Helvetica" pitchFamily="2" charset="0"/>
              </a:rPr>
              <a:t>Mean loop diameter = 3.0 nm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604D0E9E-B234-7346-84D8-32C772AD761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616954" y="1703255"/>
            <a:ext cx="2872605" cy="25283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7752AB-4E91-654B-9BEA-04BA868B8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1047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5B8A0-BF30-1440-97BD-9FCCBD737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Saturation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D6EBB-A39D-884F-B14C-39C6B20CF9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5" cy="4157663"/>
          </a:xfrm>
        </p:spPr>
        <p:txBody>
          <a:bodyPr/>
          <a:lstStyle/>
          <a:p>
            <a:r>
              <a:rPr lang="en-US" sz="2400" dirty="0"/>
              <a:t>Log swelling vs dose shown at right for CVD </a:t>
            </a:r>
            <a:r>
              <a:rPr lang="en-US" sz="2400" dirty="0" err="1"/>
              <a:t>SiC</a:t>
            </a:r>
            <a:r>
              <a:rPr lang="en-US" sz="2400" dirty="0"/>
              <a:t> irradiated in HFIR</a:t>
            </a:r>
          </a:p>
          <a:p>
            <a:r>
              <a:rPr lang="en-US" sz="2400" dirty="0"/>
              <a:t>The swelling of </a:t>
            </a:r>
            <a:r>
              <a:rPr lang="en-US" sz="2400" dirty="0" err="1"/>
              <a:t>SiC</a:t>
            </a:r>
            <a:r>
              <a:rPr lang="en-US" sz="2400" dirty="0"/>
              <a:t> is highly temperature dependent</a:t>
            </a:r>
          </a:p>
          <a:p>
            <a:pPr lvl="1"/>
            <a:r>
              <a:rPr lang="en-US" sz="1867" dirty="0"/>
              <a:t>at 1 dpa, saturation values from 200 C to 800 C vary by a factor of 5</a:t>
            </a:r>
          </a:p>
          <a:p>
            <a:r>
              <a:rPr lang="en-US" sz="2400" dirty="0"/>
              <a:t>The decrease in saturation with increasing T is due to increased recombination of defects</a:t>
            </a:r>
          </a:p>
          <a:p>
            <a:r>
              <a:rPr lang="en-US" sz="2400" dirty="0"/>
              <a:t>Swelling saturates at relatively low doses, less than 10 dpa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41284E-76ED-6C42-A0AC-3A121F12F2B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92746" y="5856493"/>
            <a:ext cx="3835400" cy="850900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9E1832C-7411-3443-9900-A8C2E4757A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68988" y="1968501"/>
            <a:ext cx="3342046" cy="381516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782E88-0D33-9D41-801A-A4A219FAA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66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957E8-B98C-F044-BD9F-900BAC20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A1D2C-87D7-A84A-BED9-7210B2DFF2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533479" cy="4157663"/>
          </a:xfrm>
        </p:spPr>
        <p:txBody>
          <a:bodyPr/>
          <a:lstStyle/>
          <a:p>
            <a:r>
              <a:rPr lang="en-US" sz="2200" dirty="0"/>
              <a:t>Above 1000C, Frank loops of the interstitial type become the dominant defects observed by TEM</a:t>
            </a:r>
          </a:p>
          <a:p>
            <a:r>
              <a:rPr lang="en-US" sz="2200" dirty="0"/>
              <a:t>Interstitial Frank loops are faulted, in that they include a stacking fault</a:t>
            </a:r>
          </a:p>
          <a:p>
            <a:r>
              <a:rPr lang="en-US" sz="2200" dirty="0"/>
              <a:t>Consequently, these loops cannot glide and will not move under an applied stress or temperature, and are therefore considered as sessile</a:t>
            </a:r>
          </a:p>
          <a:p>
            <a:r>
              <a:rPr lang="en-US" sz="2200" dirty="0"/>
              <a:t>At high temperature, the development of Frank loops into dislocation networks through unfaulting reactions at high doses is reported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6003CB-11BC-CE42-8ADA-9D9BD5F78ACA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57440" y="1968500"/>
            <a:ext cx="2810598" cy="19083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7F7C259-2E87-BB45-9DF5-516B803A9A0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779721" y="3876871"/>
            <a:ext cx="2429286" cy="26209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88A641-3ABC-A946-BE15-9A77593E4AFE}"/>
              </a:ext>
            </a:extLst>
          </p:cNvPr>
          <p:cNvSpPr txBox="1"/>
          <p:nvPr/>
        </p:nvSpPr>
        <p:spPr>
          <a:xfrm>
            <a:off x="10424160" y="4593515"/>
            <a:ext cx="12586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Frank loops in 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432E1F-F866-0244-8360-246DAFA3F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0847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329D-E63E-0349-A476-6CE2C0E0A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T Radiation Effects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59A460-9072-664C-AABE-83BB119ABDE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/>
              <a:t>The volume associated with dislocation loops in irradiated </a:t>
            </a:r>
            <a:r>
              <a:rPr lang="en-US" sz="2400" dirty="0" err="1"/>
              <a:t>SiC</a:t>
            </a:r>
            <a:r>
              <a:rPr lang="en-US" sz="2400" dirty="0"/>
              <a:t> has been estimated to be on the order of 0.1%</a:t>
            </a:r>
          </a:p>
          <a:p>
            <a:r>
              <a:rPr lang="en-US" sz="2400" dirty="0"/>
              <a:t>At high T (greater than about 1250 K) vacancies are sufficiently mobile and vacancy clusters can be formed</a:t>
            </a:r>
          </a:p>
          <a:p>
            <a:r>
              <a:rPr lang="en-US" sz="2400" dirty="0"/>
              <a:t>This high T regime is the void swelling regime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5790135-67CB-E646-90F9-4856CD5B257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267450" y="2288381"/>
            <a:ext cx="5245100" cy="35179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A361B1-3443-C34A-AB65-DC5B2A5A2FE9}"/>
              </a:ext>
            </a:extLst>
          </p:cNvPr>
          <p:cNvSpPr/>
          <p:nvPr/>
        </p:nvSpPr>
        <p:spPr>
          <a:xfrm>
            <a:off x="5822493" y="6126162"/>
            <a:ext cx="613501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Helvetica" pitchFamily="2" charset="0"/>
              </a:rPr>
              <a:t>Evolution of voids in high-temperature irradiated CVD </a:t>
            </a:r>
            <a:r>
              <a:rPr lang="en-US" dirty="0" err="1">
                <a:latin typeface="Helvetica" pitchFamily="2" charset="0"/>
              </a:rPr>
              <a:t>SiC</a:t>
            </a:r>
            <a:endParaRPr lang="en-US" dirty="0">
              <a:effectLst/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2ED2E6-AE87-6E40-B576-536035F5A1EE}"/>
              </a:ext>
            </a:extLst>
          </p:cNvPr>
          <p:cNvSpPr/>
          <p:nvPr/>
        </p:nvSpPr>
        <p:spPr>
          <a:xfrm>
            <a:off x="6553323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AFB8A6-2C53-AF49-875E-2D0C6943D6D3}"/>
              </a:ext>
            </a:extLst>
          </p:cNvPr>
          <p:cNvSpPr/>
          <p:nvPr/>
        </p:nvSpPr>
        <p:spPr>
          <a:xfrm>
            <a:off x="8175892" y="3082970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1130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5B05CB-08F4-164B-9CDB-622B4A1C45A9}"/>
              </a:ext>
            </a:extLst>
          </p:cNvPr>
          <p:cNvSpPr/>
          <p:nvPr/>
        </p:nvSpPr>
        <p:spPr>
          <a:xfrm>
            <a:off x="10081754" y="3004905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1280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09F7C5-67CF-8C46-8304-29F7A11B29B2}"/>
              </a:ext>
            </a:extLst>
          </p:cNvPr>
          <p:cNvSpPr/>
          <p:nvPr/>
        </p:nvSpPr>
        <p:spPr>
          <a:xfrm>
            <a:off x="6553322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1.8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C0533CC-AE9D-094C-9A17-0C75DC313A49}"/>
              </a:ext>
            </a:extLst>
          </p:cNvPr>
          <p:cNvSpPr/>
          <p:nvPr/>
        </p:nvSpPr>
        <p:spPr>
          <a:xfrm>
            <a:off x="8277491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5.0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9A8950D-F948-074F-A106-0680561A17E3}"/>
              </a:ext>
            </a:extLst>
          </p:cNvPr>
          <p:cNvSpPr/>
          <p:nvPr/>
        </p:nvSpPr>
        <p:spPr>
          <a:xfrm>
            <a:off x="10081753" y="4739648"/>
            <a:ext cx="122501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>
                <a:latin typeface="Helvetica" pitchFamily="2" charset="0"/>
              </a:rPr>
              <a:t>1450  C, 8.5 dpa</a:t>
            </a:r>
            <a:endParaRPr lang="en-US" sz="1100" dirty="0">
              <a:effectLst/>
              <a:latin typeface="Helvetica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5DBD7-A652-2744-9757-49E48B0C7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67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926851" cy="4157663"/>
          </a:xfrm>
        </p:spPr>
        <p:txBody>
          <a:bodyPr/>
          <a:lstStyle/>
          <a:p>
            <a:r>
              <a:rPr lang="en-US" sz="2400" dirty="0"/>
              <a:t>The transition from point-defect saturated swelling to void swelling occurs above 1000C</a:t>
            </a:r>
          </a:p>
          <a:p>
            <a:r>
              <a:rPr lang="en-US" sz="2400" dirty="0"/>
              <a:t>Void swelling increases as a function of dose, and is not known to saturate</a:t>
            </a:r>
          </a:p>
          <a:p>
            <a:r>
              <a:rPr lang="en-US" sz="2400" dirty="0"/>
              <a:t>The swelling near the critical amorphization temperature is described as the differential strain between point defects or small defect clusters</a:t>
            </a:r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3053EA-89D8-044D-BA24-295FF82C9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5354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Above the critical amorphization temperature, the number of defects surviving recombination is reduced and the mobility of both silicon and carbon interstitials becomes significant</a:t>
            </a:r>
          </a:p>
          <a:p>
            <a:r>
              <a:rPr lang="en-US" sz="2200" dirty="0"/>
              <a:t>Above 1000 C microstructural studies have noted the presence of both Frank loops and tiny voids, indicating limited mobility of vacancies</a:t>
            </a:r>
          </a:p>
          <a:p>
            <a:r>
              <a:rPr lang="en-US" sz="2200" dirty="0"/>
              <a:t>The max irradiation temperature shown is 0.65 </a:t>
            </a:r>
            <a:r>
              <a:rPr lang="en-US" sz="2200" dirty="0" err="1"/>
              <a:t>T</a:t>
            </a:r>
            <a:r>
              <a:rPr lang="en-US" sz="2200" baseline="-25000" dirty="0" err="1"/>
              <a:t>melt</a:t>
            </a:r>
            <a:endParaRPr lang="en-US" sz="2200" baseline="-25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89A4B-F623-2B48-82E5-ED4E36D5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072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8E768-A935-F342-A8D1-4E267FB4C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Irradiation-Induced Swelling in </a:t>
            </a:r>
            <a:r>
              <a:rPr lang="en-US" dirty="0" err="1"/>
              <a:t>SiC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3DA84-6B86-3845-A6D5-98EB5A128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6017112" cy="4157663"/>
          </a:xfrm>
        </p:spPr>
        <p:txBody>
          <a:bodyPr/>
          <a:lstStyle/>
          <a:p>
            <a:r>
              <a:rPr lang="en-US" sz="2200" dirty="0"/>
              <a:t>In typical </a:t>
            </a:r>
            <a:r>
              <a:rPr lang="en-US" sz="2200" dirty="0" err="1"/>
              <a:t>fcc</a:t>
            </a:r>
            <a:r>
              <a:rPr lang="en-US" sz="2200" dirty="0"/>
              <a:t> metal systems void swelling typically begins at ~0.35Tm, goes through a maximum value, and decreases to nil swelling by ~0.55Tm</a:t>
            </a:r>
          </a:p>
          <a:p>
            <a:r>
              <a:rPr lang="en-US" sz="2200" dirty="0"/>
              <a:t>The voids in </a:t>
            </a:r>
            <a:r>
              <a:rPr lang="en-US" sz="2200" dirty="0" err="1"/>
              <a:t>SiC</a:t>
            </a:r>
            <a:r>
              <a:rPr lang="en-US" sz="2200" dirty="0"/>
              <a:t> are continuing to grow in </a:t>
            </a:r>
            <a:r>
              <a:rPr lang="en-US" sz="2200" dirty="0" err="1"/>
              <a:t>SiC</a:t>
            </a:r>
            <a:r>
              <a:rPr lang="en-US" sz="2200" dirty="0"/>
              <a:t> irradiated to 1773 K, thus the energies for diffusion of either the Si or C vacancy or both must be quite high</a:t>
            </a:r>
          </a:p>
          <a:p>
            <a:r>
              <a:rPr lang="en-US" sz="2200" dirty="0"/>
              <a:t>This has been confirmed through DFT methods</a:t>
            </a:r>
          </a:p>
          <a:p>
            <a:r>
              <a:rPr lang="en-US" sz="2200" dirty="0"/>
              <a:t>It is unclear how swelling will increase as a function of dose above 10 dpa</a:t>
            </a:r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E289562-8E23-8646-9690-FD01D359C1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36451" y="1968500"/>
            <a:ext cx="470709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4B6BE-B35F-E044-B8DC-C2678633E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240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7FA9A-E401-F253-8DF3-5762FE1AF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of </a:t>
            </a:r>
            <a:r>
              <a:rPr lang="en-US" dirty="0" err="1"/>
              <a:t>SiC</a:t>
            </a:r>
            <a:r>
              <a:rPr lang="en-US" dirty="0"/>
              <a:t> Irradiation Defects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4CF-753B-70CB-5C02-C7939F761D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8057361" cy="4157663"/>
          </a:xfrm>
        </p:spPr>
        <p:txBody>
          <a:bodyPr/>
          <a:lstStyle/>
          <a:p>
            <a:r>
              <a:rPr lang="en-US" dirty="0"/>
              <a:t>below 423 K, </a:t>
            </a:r>
            <a:r>
              <a:rPr lang="en-US" dirty="0" err="1"/>
              <a:t>SiC</a:t>
            </a:r>
            <a:r>
              <a:rPr lang="en-US" dirty="0"/>
              <a:t> can amorphize, can have fairly high swelling rates</a:t>
            </a:r>
          </a:p>
          <a:p>
            <a:r>
              <a:rPr lang="en-US" dirty="0"/>
              <a:t>at 423-1273 K, point defect swelling regime</a:t>
            </a:r>
          </a:p>
          <a:p>
            <a:pPr lvl="1"/>
            <a:r>
              <a:rPr lang="en-US" sz="2400" dirty="0"/>
              <a:t>black spot defects are the main types of defects</a:t>
            </a:r>
          </a:p>
          <a:p>
            <a:pPr lvl="1"/>
            <a:r>
              <a:rPr lang="en-US" sz="2400" dirty="0"/>
              <a:t>cause swelling which saturates, the level of which is inversely proportional to T</a:t>
            </a:r>
          </a:p>
          <a:p>
            <a:r>
              <a:rPr lang="en-US" dirty="0"/>
              <a:t>above 1273 K, we get Frank loops and voids</a:t>
            </a:r>
          </a:p>
          <a:p>
            <a:pPr lvl="1"/>
            <a:r>
              <a:rPr lang="en-US" sz="2400" dirty="0"/>
              <a:t>void swelling regime</a:t>
            </a:r>
          </a:p>
          <a:p>
            <a:pPr lvl="1"/>
            <a:r>
              <a:rPr lang="en-US" sz="2400" dirty="0"/>
              <a:t>does not saturate, increases with dose and with 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33A1E-ECD6-ACE4-AAEB-5534F9A5F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BAAAA74-F8C8-9189-0FD4-B8F4E679ADA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66960" y="3752382"/>
            <a:ext cx="3112802" cy="2749462"/>
          </a:xfrm>
          <a:prstGeom prst="rect">
            <a:avLst/>
          </a:prstGeom>
        </p:spPr>
      </p:pic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BF5BD5E9-9CB3-F2C0-3E72-7E16D46981F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05602" y="1026234"/>
            <a:ext cx="2435518" cy="2780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</p:spTree>
    <p:extLst>
      <p:ext uri="{BB962C8B-B14F-4D97-AF65-F5344CB8AC3E}">
        <p14:creationId xmlns:p14="http://schemas.microsoft.com/office/powerpoint/2010/main" val="18728681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6045778" cy="4157663"/>
          </a:xfrm>
        </p:spPr>
        <p:txBody>
          <a:bodyPr/>
          <a:lstStyle/>
          <a:p>
            <a:r>
              <a:rPr lang="en-US" sz="2200" dirty="0" err="1"/>
              <a:t>SiC</a:t>
            </a:r>
            <a:r>
              <a:rPr lang="en-US" sz="2200" dirty="0"/>
              <a:t> is a ceramic with a band gap, and thus thermal conductivity is based on phonons</a:t>
            </a:r>
          </a:p>
          <a:p>
            <a:r>
              <a:rPr lang="en-US" sz="2200" dirty="0"/>
              <a:t>The conduction of heat can be generally described by the strength of the individual contributors to phonon scattering: grain boundary scattering; phonon–phonon interaction; and defect scattering</a:t>
            </a:r>
          </a:p>
          <a:p>
            <a:r>
              <a:rPr lang="en-US" sz="2200" dirty="0"/>
              <a:t>Each of these types occurs at differing phonon frequencies and can be considered separable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11FC71-58EB-7144-8DF1-263329C1D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1899511-6D22-BB20-3ECE-3F11857847F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6091" y="5779105"/>
            <a:ext cx="2222500" cy="29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1230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The unirradiated k</a:t>
            </a:r>
            <a:r>
              <a:rPr lang="en-US" sz="2400" baseline="-25000" dirty="0"/>
              <a:t>th</a:t>
            </a:r>
            <a:r>
              <a:rPr lang="en-US" sz="2400" dirty="0"/>
              <a:t> is highly dependent upon initial microstructure and temperature</a:t>
            </a:r>
          </a:p>
          <a:p>
            <a:r>
              <a:rPr lang="en-US" sz="2400" dirty="0"/>
              <a:t>Initial microstructure can be tailored, but the temperature dependence cannot be removed</a:t>
            </a:r>
          </a:p>
          <a:p>
            <a:r>
              <a:rPr lang="en-US" sz="2400" dirty="0"/>
              <a:t>For reference, Zr thermal conductivity is about 22 W/m-K at 1000 K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9C2E20E-F2B5-9341-B5E7-70810E8C88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55378" y="1968500"/>
            <a:ext cx="4469244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E24FA-B0D1-DC45-B164-153C7CD9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69380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r>
              <a:rPr lang="en-US" sz="2400" dirty="0"/>
              <a:t>At low temperatures irradiation produces simple defects and defect clusters that very effectively scatter phonons</a:t>
            </a:r>
          </a:p>
          <a:p>
            <a:r>
              <a:rPr lang="en-US" sz="2400" dirty="0"/>
              <a:t>In this case, defect scattering quickly dominates, with saturation thermal conductivity typically achieved by a few dpa</a:t>
            </a:r>
          </a:p>
          <a:p>
            <a:r>
              <a:rPr lang="en-US" sz="2400" dirty="0"/>
              <a:t>Defect scattering is sufficiently present to eliminate the temperature dependence</a:t>
            </a:r>
          </a:p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BAE249BE-9E7F-A94E-A8AA-954DDE56E9C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0246" y="1968500"/>
            <a:ext cx="4139507" cy="415766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5E32D-D551-D147-9B83-57143EC4B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18604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61E8AD-1ED9-E044-977B-436EBFDAB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56E65-B45F-DE49-A02A-453904A0D0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968503"/>
            <a:ext cx="5855746" cy="4157663"/>
          </a:xfrm>
        </p:spPr>
        <p:txBody>
          <a:bodyPr/>
          <a:lstStyle/>
          <a:p>
            <a:endParaRPr lang="en-US" sz="2400" dirty="0"/>
          </a:p>
          <a:p>
            <a:endParaRPr lang="en-US" sz="24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CE0CC0A-2F1F-9C40-A2D7-AD26591F93E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15910" y="2345018"/>
            <a:ext cx="2969338" cy="31413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091F565-C9AC-7C4E-9D36-E5BA8BDE106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3411" y="2011366"/>
            <a:ext cx="2808589" cy="3475034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2A99754-751D-8C40-9109-7DA406691619}"/>
              </a:ext>
            </a:extLst>
          </p:cNvPr>
          <p:cNvSpPr txBox="1">
            <a:spLocks/>
          </p:cNvSpPr>
          <p:nvPr/>
        </p:nvSpPr>
        <p:spPr bwMode="auto">
          <a:xfrm>
            <a:off x="762000" y="2120903"/>
            <a:ext cx="5544207" cy="4157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457189" indent="-457189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3733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990575" indent="-380990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32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523962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•"/>
              <a:defRPr sz="2667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2133547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743131" indent="-304792" algn="l" defTabSz="609585" rtl="0" eaLnBrk="1" fontAlgn="base" hangingPunct="1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400"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The thermal defect resistance is defined as the difference between the reciprocals of the irradiated and nonirradiated thermal conductivity (1/</a:t>
            </a:r>
            <a:r>
              <a:rPr lang="en-US" sz="2000" dirty="0" err="1"/>
              <a:t>K</a:t>
            </a:r>
            <a:r>
              <a:rPr lang="en-US" sz="2000" baseline="-25000" dirty="0" err="1"/>
              <a:t>rd</a:t>
            </a:r>
            <a:r>
              <a:rPr lang="en-US" sz="2000" dirty="0"/>
              <a:t> = 1/</a:t>
            </a:r>
            <a:r>
              <a:rPr lang="en-US" sz="2000" dirty="0" err="1"/>
              <a:t>K</a:t>
            </a:r>
            <a:r>
              <a:rPr lang="en-US" sz="2000" baseline="-25000" dirty="0" err="1"/>
              <a:t>irr</a:t>
            </a:r>
            <a:r>
              <a:rPr lang="en-US" sz="2000" dirty="0"/>
              <a:t> – 1/</a:t>
            </a:r>
            <a:r>
              <a:rPr lang="en-US" sz="2000" dirty="0" err="1"/>
              <a:t>K</a:t>
            </a:r>
            <a:r>
              <a:rPr lang="en-US" sz="2000" baseline="-25000" dirty="0" err="1"/>
              <a:t>nonirr</a:t>
            </a:r>
            <a:r>
              <a:rPr lang="en-US" sz="2000" dirty="0"/>
              <a:t>)</a:t>
            </a:r>
          </a:p>
          <a:p>
            <a:r>
              <a:rPr lang="en-US" sz="2000" dirty="0"/>
              <a:t>This term can be related directly to the defect type and concentration present in irradiated ceramics</a:t>
            </a:r>
          </a:p>
          <a:p>
            <a:r>
              <a:rPr lang="en-US" sz="2000" dirty="0"/>
              <a:t>The thermal defect resistance is directly proportional to the irradiation-induced swelling in </a:t>
            </a:r>
            <a:r>
              <a:rPr lang="en-US" sz="2000" dirty="0" err="1"/>
              <a:t>SiC</a:t>
            </a:r>
            <a:endParaRPr lang="en-US" sz="2000" dirty="0"/>
          </a:p>
          <a:p>
            <a:r>
              <a:rPr lang="en-US" sz="2000" dirty="0"/>
              <a:t>This allows an indirect determination of thermal conductivity by measurement of the density change in the TRISO </a:t>
            </a:r>
            <a:r>
              <a:rPr lang="en-US" sz="2000" dirty="0" err="1"/>
              <a:t>SiC</a:t>
            </a:r>
            <a:r>
              <a:rPr lang="en-US" sz="2000" dirty="0"/>
              <a:t> shell</a:t>
            </a:r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2BE51A-AAD1-984F-8E06-3D029832E1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645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0F246-B5CC-9544-B2A6-036175CF4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Thermal Conductivity Degradation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7E7EA-9334-B745-88DC-5034E8BF2B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968503"/>
            <a:ext cx="5769686" cy="4157663"/>
          </a:xfrm>
        </p:spPr>
        <p:txBody>
          <a:bodyPr/>
          <a:lstStyle/>
          <a:p>
            <a:r>
              <a:rPr lang="en-US" sz="2200" dirty="0"/>
              <a:t>In the high temperature void swelling regime, thermal conductivity degradation is not expected to saturate, as voids continue to grow and scatter phonons</a:t>
            </a:r>
          </a:p>
          <a:p>
            <a:r>
              <a:rPr lang="en-US" sz="2200" dirty="0"/>
              <a:t>Additionally, the linear relationship between swelling and thermal defect resistance does not exist at high temperature</a:t>
            </a:r>
          </a:p>
          <a:p>
            <a:r>
              <a:rPr lang="en-US" sz="2200" dirty="0"/>
              <a:t>Generally, void swelling does not degrade thermal conductivity as severely as point defects, but data at high T is quite limited</a:t>
            </a:r>
          </a:p>
          <a:p>
            <a:endParaRPr lang="en-US" sz="22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2CBB67-EB10-A74E-B49A-35E6A1508B6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97600" y="1981306"/>
            <a:ext cx="5384800" cy="413205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55BDD-884B-2741-8566-BD77231A5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C35E9FC-F6D5-0349-BBED-EA7D7A9BC49B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457683"/>
      </p:ext>
    </p:extLst>
  </p:cSld>
  <p:clrMapOvr>
    <a:masterClrMapping/>
  </p:clrMapOvr>
</p:sld>
</file>

<file path=ppt/theme/theme1.xml><?xml version="1.0" encoding="utf-8"?>
<a:theme xmlns:a="http://schemas.openxmlformats.org/drawingml/2006/main" name="1_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88231</TotalTime>
  <Words>1452</Words>
  <Application>Microsoft Macintosh PowerPoint</Application>
  <PresentationFormat>Widescreen</PresentationFormat>
  <Paragraphs>146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Helvetica</vt:lpstr>
      <vt:lpstr>1_NCStateU-horizontal-left-logo</vt:lpstr>
      <vt:lpstr>NE 763: Advanced Reactor Materials</vt:lpstr>
      <vt:lpstr>Last Time</vt:lpstr>
      <vt:lpstr>Silicon Carbide</vt:lpstr>
      <vt:lpstr>Silicon Carbide (SiC)</vt:lpstr>
      <vt:lpstr>Silicon Carbide (SiC)</vt:lpstr>
      <vt:lpstr>Radiation Effects in SiC</vt:lpstr>
      <vt:lpstr>Radiation Effects in SiC</vt:lpstr>
      <vt:lpstr>Low T Radiation Effects in SiC</vt:lpstr>
      <vt:lpstr>Low-Med T Radiation Effects in SiC</vt:lpstr>
      <vt:lpstr>Saturation Swelling in SiC</vt:lpstr>
      <vt:lpstr>High T Radiation Effects in SiC</vt:lpstr>
      <vt:lpstr>High T Radiation Effects in SiC</vt:lpstr>
      <vt:lpstr>Irradiation-Induced Swelling in SiC</vt:lpstr>
      <vt:lpstr>Irradiation-Induced Swelling in SiC</vt:lpstr>
      <vt:lpstr>Irradiation-Induced Swelling in SiC</vt:lpstr>
      <vt:lpstr>Recap of SiC Irradiation Defects</vt:lpstr>
      <vt:lpstr>Thermal Conductivity Degradation</vt:lpstr>
      <vt:lpstr>Thermal Conductivity Degradation</vt:lpstr>
      <vt:lpstr>Thermal Conductivity Degradation</vt:lpstr>
      <vt:lpstr>Thermal Conductivity Degradation</vt:lpstr>
      <vt:lpstr>Thermal Conductivity Degradation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Fabrication</dc:title>
  <dc:creator>Ben Beeler</dc:creator>
  <cp:lastModifiedBy>Benjamin Beeler</cp:lastModifiedBy>
  <cp:revision>191</cp:revision>
  <dcterms:created xsi:type="dcterms:W3CDTF">2019-12-09T16:44:02Z</dcterms:created>
  <dcterms:modified xsi:type="dcterms:W3CDTF">2025-08-26T19:13:29Z</dcterms:modified>
</cp:coreProperties>
</file>
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  <p:sldMasterId id="2147483684" r:id="rId2"/>
  </p:sldMasterIdLst>
  <p:notesMasterIdLst>
    <p:notesMasterId r:id="rId37"/>
  </p:notesMasterIdLst>
  <p:sldIdLst>
    <p:sldId id="256" r:id="rId3"/>
    <p:sldId id="507" r:id="rId4"/>
    <p:sldId id="462" r:id="rId5"/>
    <p:sldId id="469" r:id="rId6"/>
    <p:sldId id="468" r:id="rId7"/>
    <p:sldId id="477" r:id="rId8"/>
    <p:sldId id="478" r:id="rId9"/>
    <p:sldId id="479" r:id="rId10"/>
    <p:sldId id="480" r:id="rId11"/>
    <p:sldId id="481" r:id="rId12"/>
    <p:sldId id="482" r:id="rId13"/>
    <p:sldId id="483" r:id="rId14"/>
    <p:sldId id="484" r:id="rId15"/>
    <p:sldId id="485" r:id="rId16"/>
    <p:sldId id="486" r:id="rId17"/>
    <p:sldId id="487" r:id="rId18"/>
    <p:sldId id="488" r:id="rId19"/>
    <p:sldId id="489" r:id="rId20"/>
    <p:sldId id="491" r:id="rId21"/>
    <p:sldId id="490" r:id="rId22"/>
    <p:sldId id="492" r:id="rId23"/>
    <p:sldId id="493" r:id="rId24"/>
    <p:sldId id="442" r:id="rId25"/>
    <p:sldId id="443" r:id="rId26"/>
    <p:sldId id="446" r:id="rId27"/>
    <p:sldId id="444" r:id="rId28"/>
    <p:sldId id="463" r:id="rId29"/>
    <p:sldId id="496" r:id="rId30"/>
    <p:sldId id="523" r:id="rId31"/>
    <p:sldId id="522" r:id="rId32"/>
    <p:sldId id="532" r:id="rId33"/>
    <p:sldId id="533" r:id="rId34"/>
    <p:sldId id="525" r:id="rId35"/>
    <p:sldId id="527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32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69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viewProps" Target="viewProp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2B0241-1142-C84C-9EE2-42E44ABD8DAA}" type="datetimeFigureOut">
              <a:rPr lang="en-US" smtClean="0"/>
              <a:t>8/21/25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137FF6-46D6-B849-A6CD-85860317B6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13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2802D-2D03-BE49-97AF-DE25499D6F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3C79BB-C53F-454F-8922-2B2739189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74EF80-FE65-ED4F-9FE0-B09E92D1E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0305F-1CC5-D743-8B75-9BFF4558415F}" type="datetime1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9F942A-634C-BB40-9910-CBFA44068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42F66-DE68-D245-97C8-9A6FA1D0A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24F7F-1103-A749-AA35-91DD36B89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8650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5C586-3F5F-8148-BB1F-499EF949B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6E2D30-D2E4-C24D-96F5-10BF4E0422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C657D-8EE5-CB48-9FCB-F9F368C27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B7BDF0-33EE-ED4E-A1A1-446990BE89AC}" type="datetime1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8A4680-2FCD-2C45-88DD-58DC3F094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73DDA8-E64C-534E-9966-09CB65200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24F7F-1103-A749-AA35-91DD36B89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647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0776C-1D59-8049-88C7-A9CF31D468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8B2CAF-2FC3-CE40-AFEE-BB0B1776B2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E7856D-91AF-CD4F-BBB9-BB22C9E86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32A8C-C50B-B849-A938-8B60F015CF8A}" type="datetime1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E3E7E-C490-8847-8BD6-E8FF927245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48B10A-A8F3-4D47-8A42-C63FD91ED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24F7F-1103-A749-AA35-91DD36B89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7152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16C5A-058F-7443-BE51-F3484A7E1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6365D3-EC68-114D-9B11-DAB294D6F0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729DA-5D8F-0D4A-9476-2A4B456533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E80497-C1FE-D547-B571-D69E57419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BFC86-2DCE-084F-ADD8-86F8DD5E1B99}" type="datetime1">
              <a:rPr lang="en-US" smtClean="0"/>
              <a:t>8/21/25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C48521-7F13-C445-8751-4E87C9A27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E37EE6-7CA7-0E41-9D14-899502497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24F7F-1103-A749-AA35-91DD36B89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133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1FEF4-0D8E-DE46-AA71-05EE50ED0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DD346F-A12C-C142-8A93-08AF8CD4FB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A45F87-A4D7-9343-A334-BB0CFE4C10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5EE44D-0A72-974F-A950-E6793FBEAC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D733BD-E3C6-644A-BFEA-4784978800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682D901-6AD6-4A49-BB2B-6B6114E8DD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BBB686-0587-F442-BC2B-85E37441C678}" type="datetime1">
              <a:rPr lang="en-US" smtClean="0"/>
              <a:t>8/21/25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AE8327C-C108-2948-9F3B-C5B7A290D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E731F0-A30E-CD44-8DE4-E48337563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24F7F-1103-A749-AA35-91DD36B89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21827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B4FD0-E6C0-4B4E-9F81-15DB20837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913ED28-8A5F-F64A-8A93-8A03DD77C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B71C4-A8DD-5E42-9033-4B9437130A45}" type="datetime1">
              <a:rPr lang="en-US" smtClean="0"/>
              <a:t>8/21/25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B56722-EB54-8141-9FFB-B883395CC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2943BF-772C-0847-97EA-D301AA577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24F7F-1103-A749-AA35-91DD36B89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8163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5AB0981-B3E8-BA40-99FE-EA2C2AD95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96FEB-57AA-5E42-B42B-29A49C56821B}" type="datetime1">
              <a:rPr lang="en-US" smtClean="0"/>
              <a:t>8/21/25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E22584C-B9F3-5C46-B605-B2FB47395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E55008-FE08-E24B-9B3C-0A16B2CEE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24F7F-1103-A749-AA35-91DD36B89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1983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7EC03-3651-D14B-AEAB-3A7133F5A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F6D8CA-8B8C-944F-8C90-AE9CC8AC0A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54B7D9-B6E8-714F-A4A5-B28D20D3F8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6B4357-3269-4248-AEAA-3609D1B55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DA8F8B-64C0-644D-B977-5D899210463C}" type="datetime1">
              <a:rPr lang="en-US" smtClean="0"/>
              <a:t>8/21/25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507DF4-EB73-9348-BA24-2E62ACB54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BFC95E-AF76-2F40-8E6E-10EEB82B0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24F7F-1103-A749-AA35-91DD36B89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787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06BE1-1070-164D-B226-7BEB3337B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9FE752A-35DB-4244-957A-47F0C249B8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5A8CC6-3E86-9E4C-B828-E55B4933B0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05BC1C-7B9D-C646-8E67-4C98CDDA9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77087-1FFB-5B45-AE46-3C879ADBCD86}" type="datetime1">
              <a:rPr lang="en-US" smtClean="0"/>
              <a:t>8/21/25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79295E-F278-8441-AA89-1F2F8EB28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BFDEB5-4B8E-1143-AC2B-DDB5F2941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24F7F-1103-A749-AA35-91DD36B89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4458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A86B8-FDC8-A24B-A420-9A3529038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A81A36-D120-B846-BA83-5C4BFEA362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5F6F14-E9DD-E146-A94A-4A7CA228F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D6C2A9-6253-154B-B733-037751386140}" type="datetime1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470E94-9F94-1649-8FE1-5341BF855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1F5164-23F2-A840-AE31-9813D2137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24F7F-1103-A749-AA35-91DD36B89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3776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1027D83-6F99-5343-9159-1F2E060A4D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F7CEDD-89DF-CC43-9E60-8FC65D4CF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E88CF-EA17-6D4E-A676-D0DD2AEEE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85E70-01A0-F346-BD96-C71A4405ABF1}" type="datetime1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C857EE-AA9E-7744-B121-837829395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05FA26-DD53-CA43-B54B-89E91BCDA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24F7F-1103-A749-AA35-91DD36B89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6188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EF8CCA7-042D-4344-9F38-A30A24316FF0}" type="datetime1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E82176-A547-F94B-AC51-D6E9C882CB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0850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2280746"/>
            <a:ext cx="10972800" cy="384541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5CAF1B-B7C8-8347-AE4A-EC343217B68C}" type="datetime1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C605-4958-CF43-AA48-80339EFDB0A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1981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138075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4FF136D-307A-4941-889F-E9EB8268902E}" type="datetime1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A6BD0F-ABBC-C14D-BC96-77BE126A748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8942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384800" cy="41576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968503"/>
            <a:ext cx="5384800" cy="41576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1F76C3-E96E-A54F-A122-6303A871D871}" type="datetime1">
              <a:rPr lang="en-US" smtClean="0"/>
              <a:t>8/21/25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35E9FC-F6D5-0349-BBED-EA7D7A9BC49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657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4" y="867339"/>
            <a:ext cx="10972800" cy="1068387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2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4040392-1101-8A42-BEB5-9592F30E3A91}" type="datetime1">
              <a:rPr lang="en-US" smtClean="0"/>
              <a:t>8/21/25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18392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5C72F20-AC2E-6D46-8A6B-0183BC6D49D1}" type="datetime1">
              <a:rPr lang="en-US" smtClean="0"/>
              <a:t>8/21/25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AB7D4D-4E81-5B40-91F6-CF14C25F862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82584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6FEA4AC-8DBD-3E4B-B61C-36A721F07D61}" type="datetime1">
              <a:rPr lang="en-US" smtClean="0"/>
              <a:t>8/21/25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5B2FA7-4FDB-5643-811E-7991DEE50B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83194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5" y="273049"/>
            <a:ext cx="4011084" cy="1162051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5" y="1435103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1BFB7E-23D3-E748-98B9-B9A8C558BBAC}" type="datetime1">
              <a:rPr lang="en-US" smtClean="0"/>
              <a:t>8/21/25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DD8B14-AE1E-054C-8668-93D0F0400A1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28093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1"/>
            <a:ext cx="7315200" cy="566739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9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90E0F4-A999-A54E-B545-67F2F70C10FB}" type="datetime1">
              <a:rPr lang="en-US" smtClean="0"/>
              <a:t>8/21/25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EF0004-A563-C64B-9FAD-6198662E1BD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56826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1013E56-4916-404E-AAB2-B4BA03F90FC2}" type="datetime1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9610A8-B29A-B34A-A0B5-3DF26A2EB85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4201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0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0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713883-51E5-FD4C-BFE2-284CCAA85938}" type="datetime1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2D0221-73D0-6245-9CCD-73A1D8FCB5E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2822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B12B010-5E9E-E240-BC91-7846D2B27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63D9EB-2FC9-1848-BCB3-4904198DC0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744448-0A7D-184E-908E-72ADAF04E2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DBBF69-BE89-6841-9243-2F9C2E854C58}" type="datetime1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886183-444C-E749-AEE5-FEA7D7D6E2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918D00-42C1-B442-BC2B-ECBBCB6471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424F7F-1103-A749-AA35-91DD36B89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451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900113"/>
            <a:ext cx="10972800" cy="1068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Headline Line One</a:t>
            </a:r>
            <a:br>
              <a:rPr lang="en-US" dirty="0"/>
            </a:br>
            <a:r>
              <a:rPr lang="en-US" dirty="0"/>
              <a:t>Headline Line Two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3022600"/>
            <a:ext cx="10972800" cy="3103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600" smtClean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50A6D047-5534-0641-AA46-5C16F49FBEAF}" type="datetime1">
              <a:rPr lang="en-US" smtClean="0"/>
              <a:t>8/21/25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2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6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6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0EF7D53D-272A-624E-BE3D-99D13E2B4193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0"/>
            <a:ext cx="12202925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032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ctr" defTabSz="609585" rtl="0" eaLnBrk="1" fontAlgn="base" hangingPunct="1">
        <a:spcBef>
          <a:spcPct val="0"/>
        </a:spcBef>
        <a:spcAft>
          <a:spcPct val="0"/>
        </a:spcAft>
        <a:defRPr sz="4267" b="1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2pPr>
      <a:lvl3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3pPr>
      <a:lvl4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4pPr>
      <a:lvl5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5pPr>
      <a:lvl6pPr marL="609585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6pPr>
      <a:lvl7pPr marL="1219170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7pPr>
      <a:lvl8pPr marL="1828754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8pPr>
      <a:lvl9pPr marL="2438339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9pPr>
    </p:titleStyle>
    <p:bodyStyle>
      <a:lvl1pPr marL="457189" indent="-457189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marL="990575" indent="-380990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3200" kern="1200">
          <a:solidFill>
            <a:schemeClr val="tx1"/>
          </a:solidFill>
          <a:latin typeface="Arial"/>
          <a:ea typeface="ＭＳ Ｐゴシック" charset="0"/>
          <a:cs typeface="Arial"/>
        </a:defRPr>
      </a:lvl2pPr>
      <a:lvl3pPr marL="1523962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Arial"/>
          <a:ea typeface="ＭＳ Ｐゴシック" charset="0"/>
          <a:cs typeface="Arial"/>
        </a:defRPr>
      </a:lvl3pPr>
      <a:lvl4pPr marL="2133547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1867" kern="1200">
          <a:solidFill>
            <a:schemeClr val="tx1"/>
          </a:solidFill>
          <a:latin typeface="Arial"/>
          <a:ea typeface="ＭＳ Ｐゴシック" charset="0"/>
          <a:cs typeface="Arial"/>
        </a:defRPr>
      </a:lvl4pPr>
      <a:lvl5pPr marL="2743131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1333" kern="1200">
          <a:solidFill>
            <a:schemeClr val="tx1"/>
          </a:solidFill>
          <a:latin typeface="Arial"/>
          <a:ea typeface="ＭＳ Ｐゴシック" charset="0"/>
          <a:cs typeface="Arial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tiff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tiff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iff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tiff"/><Relationship Id="rId1" Type="http://schemas.openxmlformats.org/officeDocument/2006/relationships/slideLayout" Target="../slideLayouts/slideLayout1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98C24-8575-8644-833E-593D27AC50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dirty="0"/>
              <a:t>NE 763: Advanced Reactor Materials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187F49-5DA5-4E46-B793-DAB018625C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  <a:p>
            <a:r>
              <a:rPr lang="en-US" dirty="0"/>
              <a:t>Dr. Benjamin Beeler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1E015E-2E6F-6B40-94AC-A2FDB6C7B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1E82176-A547-F94B-AC51-D6E9C882CB88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0646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3DC84-0091-574A-9F80-9BA14DB58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Last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249696-DAB3-3B49-B4C8-AEDA11EFD9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2280746"/>
            <a:ext cx="11183007" cy="3845418"/>
          </a:xfrm>
        </p:spPr>
        <p:txBody>
          <a:bodyPr/>
          <a:lstStyle/>
          <a:p>
            <a:r>
              <a:rPr lang="en-US" sz="2400" dirty="0"/>
              <a:t>TRISO particle intro, evolution into current TRISO design</a:t>
            </a:r>
          </a:p>
          <a:p>
            <a:r>
              <a:rPr lang="en-US" sz="2400" dirty="0"/>
              <a:t>Fuel kernel – UO2 and UCO</a:t>
            </a:r>
          </a:p>
          <a:p>
            <a:pPr lvl="1"/>
            <a:r>
              <a:rPr lang="en-US" sz="2400" dirty="0"/>
              <a:t>UO2 retains fission products, but generates CO</a:t>
            </a:r>
          </a:p>
          <a:p>
            <a:pPr lvl="1"/>
            <a:r>
              <a:rPr lang="en-US" sz="2400" dirty="0"/>
              <a:t>UC2 limits CO formation, but poorly retains fission products</a:t>
            </a:r>
          </a:p>
          <a:p>
            <a:pPr lvl="1"/>
            <a:r>
              <a:rPr lang="en-US" sz="2400" dirty="0"/>
              <a:t>Oxygen potential controls which compounds form, transitioning UC into UO2, while some FPs form oxides and other carbides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3D0608-22D0-4848-AAC2-5EDF78214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81038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947CF-EAEA-5F40-93E5-30922295C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Silicon Carbide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119F45-AD4E-DB44-9BDF-31513E0DD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A6BD0F-ABBC-C14D-BC96-77BE126A748B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8034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0A1E1-6E18-384F-B1A3-3F786D8E4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Silicon Carbide (</a:t>
            </a:r>
            <a:r>
              <a:rPr lang="en-US" dirty="0" err="1"/>
              <a:t>SiC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80FC78-65F0-0D49-94D5-96503B56A5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5705139" cy="4157663"/>
          </a:xfrm>
        </p:spPr>
        <p:txBody>
          <a:bodyPr/>
          <a:lstStyle/>
          <a:p>
            <a:r>
              <a:rPr lang="en-US" sz="2000" dirty="0" err="1"/>
              <a:t>SiC</a:t>
            </a:r>
            <a:r>
              <a:rPr lang="en-US" sz="2000" dirty="0"/>
              <a:t> is a very hard and strong non-oxide ceramic that possesses unique thermal and electronic properties</a:t>
            </a:r>
          </a:p>
          <a:p>
            <a:r>
              <a:rPr lang="en-US" sz="2000" dirty="0"/>
              <a:t>Polycrystalline </a:t>
            </a:r>
            <a:r>
              <a:rPr lang="en-US" sz="2000" dirty="0" err="1"/>
              <a:t>SiC</a:t>
            </a:r>
            <a:r>
              <a:rPr lang="en-US" sz="2000" dirty="0"/>
              <a:t> has a strength of 15 GPa and has excellent creep resistance</a:t>
            </a:r>
          </a:p>
          <a:p>
            <a:r>
              <a:rPr lang="en-US" sz="2000" dirty="0" err="1"/>
              <a:t>SiC’s</a:t>
            </a:r>
            <a:r>
              <a:rPr lang="en-US" sz="2000" dirty="0"/>
              <a:t> upper limit of stability is around 2500C and has a melting temperature of around 2830C</a:t>
            </a:r>
          </a:p>
          <a:p>
            <a:r>
              <a:rPr lang="en-US" sz="2000" dirty="0" err="1"/>
              <a:t>SiC</a:t>
            </a:r>
            <a:r>
              <a:rPr lang="en-US" sz="2000" dirty="0"/>
              <a:t> also has excellent thermal conductivity</a:t>
            </a:r>
          </a:p>
          <a:p>
            <a:r>
              <a:rPr lang="en-US" sz="2000" dirty="0" err="1"/>
              <a:t>SiC</a:t>
            </a:r>
            <a:r>
              <a:rPr lang="en-US" sz="2000" dirty="0"/>
              <a:t> is a highly covalent material that forms tetrahedra that are centered around either carbon or silicon atoms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B02EDE-6F11-CD4C-813D-89AFE8189A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76104" y="4467188"/>
            <a:ext cx="5106296" cy="1658978"/>
          </a:xfrm>
        </p:spPr>
        <p:txBody>
          <a:bodyPr/>
          <a:lstStyle/>
          <a:p>
            <a:r>
              <a:rPr lang="el-GR" sz="2000" dirty="0"/>
              <a:t>β-</a:t>
            </a:r>
            <a:r>
              <a:rPr lang="en-US" sz="2000" dirty="0" err="1"/>
              <a:t>SiC</a:t>
            </a:r>
            <a:r>
              <a:rPr lang="en-US" sz="2000" dirty="0"/>
              <a:t> takes the diamond cubic structure with half of the carbons being replaced with silicon; this is a very stable structure that is conducive to </a:t>
            </a:r>
            <a:r>
              <a:rPr lang="en-US" sz="2000" dirty="0" err="1"/>
              <a:t>phononic</a:t>
            </a:r>
            <a:r>
              <a:rPr lang="en-US" sz="2000" dirty="0"/>
              <a:t> heat conduction</a:t>
            </a:r>
            <a:endParaRPr lang="en-US" sz="11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BA2D98-6AF1-2A42-9978-8D9B37CEBA96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6104" y="1749388"/>
            <a:ext cx="2400300" cy="2717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1D27F00-753B-564B-81F4-3CEDDA5F22BA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40033" y="1905678"/>
            <a:ext cx="2530243" cy="2405219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479196-67C6-E04E-813D-F068C1E7C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7994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6D832-8525-2A41-9BF2-D0B2618EE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Silicon Carbide (</a:t>
            </a:r>
            <a:r>
              <a:rPr lang="en-US" dirty="0" err="1"/>
              <a:t>SiC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AF318-667E-0544-9A8B-CF772AABFFA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Silicon carbide (</a:t>
            </a:r>
            <a:r>
              <a:rPr lang="en-US" sz="2400" dirty="0" err="1"/>
              <a:t>SiC</a:t>
            </a:r>
            <a:r>
              <a:rPr lang="en-US" sz="2400" dirty="0"/>
              <a:t>) has been studied and utilized in nuclear systems for decades, primarily as the micro pressure vessel for high-temperature gas-cooled reactor fuels</a:t>
            </a:r>
          </a:p>
          <a:p>
            <a:r>
              <a:rPr lang="en-US" sz="2400" dirty="0"/>
              <a:t>The </a:t>
            </a:r>
            <a:r>
              <a:rPr lang="en-US" sz="2400" dirty="0" err="1"/>
              <a:t>SiC</a:t>
            </a:r>
            <a:r>
              <a:rPr lang="en-US" sz="2400" dirty="0"/>
              <a:t> must be strong enough to withstand the pressure buildup from the fission product gas liberated and CO produced</a:t>
            </a:r>
          </a:p>
          <a:p>
            <a:endParaRPr lang="en-US" sz="24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CAB368-801F-BB4B-B5EE-A710FA1FA9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400" dirty="0"/>
              <a:t>The </a:t>
            </a:r>
            <a:r>
              <a:rPr lang="en-US" sz="2400" dirty="0" err="1"/>
              <a:t>SiC</a:t>
            </a:r>
            <a:r>
              <a:rPr lang="en-US" sz="2400" dirty="0"/>
              <a:t> layer must withstand chemical attack from metallic fission products such as palladium </a:t>
            </a:r>
          </a:p>
          <a:p>
            <a:r>
              <a:rPr lang="en-US" sz="2400" dirty="0"/>
              <a:t>The </a:t>
            </a:r>
            <a:r>
              <a:rPr lang="en-US" sz="2400" dirty="0" err="1"/>
              <a:t>SiC</a:t>
            </a:r>
            <a:r>
              <a:rPr lang="en-US" sz="2400" dirty="0"/>
              <a:t> must be able to handle the mechanical loads derived from irradiation-induced dimensional changes occurring in the pyrolytic graphite</a:t>
            </a:r>
          </a:p>
          <a:p>
            <a:r>
              <a:rPr lang="en-US" sz="2400" dirty="0"/>
              <a:t>The </a:t>
            </a:r>
            <a:r>
              <a:rPr lang="en-US" sz="2400" dirty="0" err="1"/>
              <a:t>SiC</a:t>
            </a:r>
            <a:r>
              <a:rPr lang="en-US" sz="2400" dirty="0"/>
              <a:t> must maintain its properties during irradiation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40622E-583F-FE4C-B306-6E354AF59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3897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87F84-1F20-054D-BC38-64CEA5C7F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Radiation Effects in </a:t>
            </a:r>
            <a:r>
              <a:rPr lang="en-US" dirty="0" err="1"/>
              <a:t>SiC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BC7A60-A43F-F14B-B647-991B6AA0A5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10972800" cy="4157663"/>
          </a:xfrm>
        </p:spPr>
        <p:txBody>
          <a:bodyPr/>
          <a:lstStyle/>
          <a:p>
            <a:r>
              <a:rPr lang="en-US" sz="2400" dirty="0"/>
              <a:t>The neutron-induced swelling of </a:t>
            </a:r>
            <a:r>
              <a:rPr lang="en-US" sz="2400" dirty="0" err="1"/>
              <a:t>SiC</a:t>
            </a:r>
            <a:r>
              <a:rPr lang="en-US" sz="2400" dirty="0"/>
              <a:t> has been well studied for low and intermediate temperatures (up to 1000 C)</a:t>
            </a:r>
          </a:p>
          <a:p>
            <a:r>
              <a:rPr lang="en-US" sz="2400" dirty="0"/>
              <a:t>It is well understood that the presence of significant second phases and/or poorly crystallized phases in these materials leads to unstable behavior under neutron irradiation</a:t>
            </a:r>
          </a:p>
          <a:p>
            <a:r>
              <a:rPr lang="en-US" sz="2400" dirty="0"/>
              <a:t>While high purity, stoichiometric, near-theoretical density </a:t>
            </a:r>
            <a:r>
              <a:rPr lang="en-US" sz="2400" dirty="0" err="1"/>
              <a:t>SiC</a:t>
            </a:r>
            <a:r>
              <a:rPr lang="en-US" sz="2400" dirty="0"/>
              <a:t> can show excellent radiation resistance</a:t>
            </a:r>
          </a:p>
          <a:p>
            <a:r>
              <a:rPr lang="en-US" sz="2400" dirty="0"/>
              <a:t>Here I will be talking about the good </a:t>
            </a:r>
            <a:r>
              <a:rPr lang="en-US" sz="2400" dirty="0" err="1"/>
              <a:t>SiC</a:t>
            </a:r>
            <a:r>
              <a:rPr lang="en-US" sz="2400" dirty="0"/>
              <a:t>, assuming that the fabrication process has produced appropriately clean coatings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85D81B-471F-B247-997A-1F5F4CC3C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326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E8619-8F8B-E649-98FB-551E85B3B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Radiation Effects in </a:t>
            </a:r>
            <a:r>
              <a:rPr lang="en-US" dirty="0" err="1"/>
              <a:t>SiC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4F582F-09B3-F047-9EDC-67C6C18144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381297" cy="4157663"/>
          </a:xfrm>
        </p:spPr>
        <p:txBody>
          <a:bodyPr/>
          <a:lstStyle/>
          <a:p>
            <a:r>
              <a:rPr lang="en-US" sz="2800" dirty="0"/>
              <a:t>The microstructural evolution map is shown on the right</a:t>
            </a:r>
          </a:p>
          <a:p>
            <a:r>
              <a:rPr lang="en-US" sz="2800" dirty="0"/>
              <a:t>The contribution of the defects themselves to the swelling in </a:t>
            </a:r>
            <a:r>
              <a:rPr lang="en-US" sz="2800" dirty="0" err="1"/>
              <a:t>SiC</a:t>
            </a:r>
            <a:r>
              <a:rPr lang="en-US" sz="2800" dirty="0"/>
              <a:t> is not well understood</a:t>
            </a:r>
          </a:p>
          <a:p>
            <a:endParaRPr lang="en-US" sz="28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5493A0B-EBC6-1341-A32D-84DC6A8107C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28076" y="1968500"/>
            <a:ext cx="4723848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51886F-9E4C-7B46-8BC9-3409E487E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69006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03049-4B0D-0947-9A8D-33B38D2E0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Low T Radiation Effects in </a:t>
            </a:r>
            <a:r>
              <a:rPr lang="en-US" dirty="0" err="1"/>
              <a:t>SiC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775B20-5E00-B145-9346-A0CC7F4F2B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422973" cy="4157663"/>
          </a:xfrm>
        </p:spPr>
        <p:txBody>
          <a:bodyPr/>
          <a:lstStyle/>
          <a:p>
            <a:r>
              <a:rPr lang="en-US" sz="2000" dirty="0"/>
              <a:t>Below 400 K, neutron irradiated </a:t>
            </a:r>
            <a:r>
              <a:rPr lang="en-US" sz="2000" dirty="0" err="1"/>
              <a:t>SiC</a:t>
            </a:r>
            <a:r>
              <a:rPr lang="en-US" sz="2000" dirty="0"/>
              <a:t> microstructure is described as black spot defects, which are most likely clusters of self-interstitial atoms</a:t>
            </a:r>
          </a:p>
          <a:p>
            <a:r>
              <a:rPr lang="en-US" sz="2000" dirty="0"/>
              <a:t>For irradiation temperatures less than about 423 K, accumulation of strain due to the irradiation-produced defects can exceed a critical level above which the crystal becomes amorphous</a:t>
            </a:r>
          </a:p>
          <a:p>
            <a:r>
              <a:rPr lang="en-US" sz="2000" dirty="0"/>
              <a:t>The swelling under self-ion irradiation increases logarithmically with dose until amorphization occurs</a:t>
            </a:r>
          </a:p>
          <a:p>
            <a:r>
              <a:rPr lang="en-US" sz="2000" dirty="0"/>
              <a:t>The swelling of neutron- and ion-amorphized </a:t>
            </a:r>
            <a:r>
              <a:rPr lang="en-US" sz="2000" dirty="0" err="1"/>
              <a:t>SiC</a:t>
            </a:r>
            <a:r>
              <a:rPr lang="en-US" sz="2000" dirty="0"/>
              <a:t> has been reported to be as high as 10.8% at 343K</a:t>
            </a:r>
          </a:p>
          <a:p>
            <a:endParaRPr lang="en-US" sz="2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4C70F64-58F7-E242-AB90-A542BD2FDA5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2572" y="1968500"/>
            <a:ext cx="4723848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F4DE5D-0656-2E45-B4C7-692BA49F0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3925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03049-4B0D-0947-9A8D-33B38D2E0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Low-Med T Radiation Effects in </a:t>
            </a:r>
            <a:r>
              <a:rPr lang="en-US" dirty="0" err="1"/>
              <a:t>SiC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775B20-5E00-B145-9346-A0CC7F4F2B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918476" cy="4157663"/>
          </a:xfrm>
        </p:spPr>
        <p:txBody>
          <a:bodyPr/>
          <a:lstStyle/>
          <a:p>
            <a:r>
              <a:rPr lang="en-US" sz="2000" dirty="0"/>
              <a:t>Above the critical amorphization temperature (423 K), the swelling increases logarithmically with dose until it reaches saturation</a:t>
            </a:r>
          </a:p>
          <a:p>
            <a:r>
              <a:rPr lang="en-US" sz="2000" dirty="0"/>
              <a:t>The saturation level decreases with increasing irradiation temperature</a:t>
            </a:r>
          </a:p>
          <a:p>
            <a:r>
              <a:rPr lang="en-US" sz="2000" dirty="0"/>
              <a:t>The dose exponents of swelling during the log period are often close to 2/3, in line with assumptions based on interstitial clusters</a:t>
            </a:r>
          </a:p>
          <a:p>
            <a:r>
              <a:rPr lang="en-US" sz="2000" dirty="0"/>
              <a:t>This temperature regime is referred to as the point-defect swelling regime and goes from critical amorphization temperature to about 1273 K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3629BA-C39F-114C-A1F4-094B6069E223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42997" y="4231559"/>
            <a:ext cx="4123422" cy="262644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D838706-DB0E-234A-B96B-3F1CBD13DE04}"/>
              </a:ext>
            </a:extLst>
          </p:cNvPr>
          <p:cNvSpPr/>
          <p:nvPr/>
        </p:nvSpPr>
        <p:spPr>
          <a:xfrm>
            <a:off x="7400249" y="4317025"/>
            <a:ext cx="1499600" cy="415498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sz="700" dirty="0" err="1">
                <a:latin typeface="Helvetica" pitchFamily="2" charset="0"/>
              </a:rPr>
              <a:t>Tirr</a:t>
            </a:r>
            <a:r>
              <a:rPr lang="en-US" sz="700" dirty="0">
                <a:latin typeface="Helvetica" pitchFamily="2" charset="0"/>
              </a:rPr>
              <a:t>=300  C, 6 dpa</a:t>
            </a:r>
          </a:p>
          <a:p>
            <a:pPr algn="ctr"/>
            <a:r>
              <a:rPr lang="en-US" sz="700" dirty="0">
                <a:latin typeface="Helvetica" pitchFamily="2" charset="0"/>
              </a:rPr>
              <a:t>Dot number density  2.2e+24m-3</a:t>
            </a:r>
          </a:p>
          <a:p>
            <a:pPr algn="ctr"/>
            <a:r>
              <a:rPr lang="en-US" sz="700" dirty="0">
                <a:latin typeface="Helvetica" pitchFamily="2" charset="0"/>
              </a:rPr>
              <a:t>Mean dot diameter=1nm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BDF0EE-5997-A84F-B89C-BB0B3A75F6ED}"/>
              </a:ext>
            </a:extLst>
          </p:cNvPr>
          <p:cNvSpPr/>
          <p:nvPr/>
        </p:nvSpPr>
        <p:spPr>
          <a:xfrm>
            <a:off x="9355113" y="4317025"/>
            <a:ext cx="1751649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sz="800" dirty="0" err="1">
                <a:latin typeface="Helvetica" pitchFamily="2" charset="0"/>
              </a:rPr>
              <a:t>Tirr</a:t>
            </a:r>
            <a:r>
              <a:rPr lang="en-US" sz="800" dirty="0">
                <a:latin typeface="Helvetica" pitchFamily="2" charset="0"/>
              </a:rPr>
              <a:t>= 800  C, 7.7 dpa</a:t>
            </a:r>
          </a:p>
          <a:p>
            <a:pPr algn="ctr"/>
            <a:r>
              <a:rPr lang="en-US" sz="800" dirty="0">
                <a:latin typeface="Helvetica" pitchFamily="2" charset="0"/>
              </a:rPr>
              <a:t>Loop number density  3.3e+23m-3</a:t>
            </a:r>
          </a:p>
          <a:p>
            <a:pPr algn="ctr"/>
            <a:r>
              <a:rPr lang="en-US" sz="800" dirty="0">
                <a:latin typeface="Helvetica" pitchFamily="2" charset="0"/>
              </a:rPr>
              <a:t>Mean loop diameter = 3.0 nm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604D0E9E-B234-7346-84D8-32C772AD761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616954" y="1703255"/>
            <a:ext cx="2872605" cy="25283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57752AB-4E91-654B-9BEA-04BA868B8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1047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5B8A0-BF30-1440-97BD-9FCCBD737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Saturation Swelling in </a:t>
            </a:r>
            <a:r>
              <a:rPr lang="en-US" dirty="0" err="1"/>
              <a:t>SiC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9D6EBB-A39D-884F-B14C-39C6B20CF9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5769685" cy="4157663"/>
          </a:xfrm>
        </p:spPr>
        <p:txBody>
          <a:bodyPr/>
          <a:lstStyle/>
          <a:p>
            <a:r>
              <a:rPr lang="en-US" sz="2400" dirty="0"/>
              <a:t>Log swelling vs dose shown at right for CVD </a:t>
            </a:r>
            <a:r>
              <a:rPr lang="en-US" sz="2400" dirty="0" err="1"/>
              <a:t>SiC</a:t>
            </a:r>
            <a:r>
              <a:rPr lang="en-US" sz="2400" dirty="0"/>
              <a:t> irradiated in HFIR</a:t>
            </a:r>
          </a:p>
          <a:p>
            <a:r>
              <a:rPr lang="en-US" sz="2400" dirty="0"/>
              <a:t>The swelling of </a:t>
            </a:r>
            <a:r>
              <a:rPr lang="en-US" sz="2400" dirty="0" err="1"/>
              <a:t>SiC</a:t>
            </a:r>
            <a:r>
              <a:rPr lang="en-US" sz="2400" dirty="0"/>
              <a:t> is highly temperature dependent</a:t>
            </a:r>
          </a:p>
          <a:p>
            <a:pPr lvl="1"/>
            <a:r>
              <a:rPr lang="en-US" sz="1867" dirty="0"/>
              <a:t>at 1 dpa, saturation values from 200 C to 800 C vary by a factor of 5</a:t>
            </a:r>
          </a:p>
          <a:p>
            <a:r>
              <a:rPr lang="en-US" sz="2400" dirty="0"/>
              <a:t>The decrease in saturation with increasing T is due to increased recombination of defects</a:t>
            </a:r>
          </a:p>
          <a:p>
            <a:r>
              <a:rPr lang="en-US" sz="2400" dirty="0"/>
              <a:t>Swelling saturates at relatively low doses, less than 10 dpa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841284E-76ED-6C42-A0AC-3A121F12F2B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92746" y="5856493"/>
            <a:ext cx="3835400" cy="85090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79E1832C-7411-3443-9900-A8C2E4757A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68988" y="1968501"/>
            <a:ext cx="3342046" cy="381516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782E88-0D33-9D41-801A-A4A219FAA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667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957E8-B98C-F044-BD9F-900BAC205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T Radiation Effects in </a:t>
            </a:r>
            <a:r>
              <a:rPr lang="en-US" dirty="0" err="1"/>
              <a:t>SiC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A1D2C-87D7-A84A-BED9-7210B2DFF2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533479" cy="4157663"/>
          </a:xfrm>
        </p:spPr>
        <p:txBody>
          <a:bodyPr/>
          <a:lstStyle/>
          <a:p>
            <a:r>
              <a:rPr lang="en-US" sz="2200" dirty="0"/>
              <a:t>Above 1000C, Frank loops of the interstitial type become the dominant defects observed by TEM</a:t>
            </a:r>
          </a:p>
          <a:p>
            <a:r>
              <a:rPr lang="en-US" sz="2200" dirty="0"/>
              <a:t>Interstitial Frank loops are faulted, in that they include a stacking fault</a:t>
            </a:r>
          </a:p>
          <a:p>
            <a:r>
              <a:rPr lang="en-US" sz="2200" dirty="0"/>
              <a:t>Consequently, these loops cannot glide and will not move under an applied stress or temperature, and are therefore considered as sessile</a:t>
            </a:r>
          </a:p>
          <a:p>
            <a:r>
              <a:rPr lang="en-US" sz="2200" dirty="0"/>
              <a:t>At high temperature, the development of Frank loops into dislocation networks through unfaulting reactions at high doses is reported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26003CB-11BC-CE42-8ADA-9D9BD5F78AC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957440" y="1968500"/>
            <a:ext cx="2810598" cy="19083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F7C259-2E87-BB45-9DF5-516B803A9A0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779721" y="3876871"/>
            <a:ext cx="2429286" cy="262099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088A641-3ABC-A946-BE15-9A77593E4AFE}"/>
              </a:ext>
            </a:extLst>
          </p:cNvPr>
          <p:cNvSpPr txBox="1"/>
          <p:nvPr/>
        </p:nvSpPr>
        <p:spPr>
          <a:xfrm>
            <a:off x="10424160" y="4593515"/>
            <a:ext cx="12586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Frank loops in 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432E1F-F866-0244-8360-246DAFA3F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0847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329D-E63E-0349-A476-6CE2C0E0A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T Radiation Effects in </a:t>
            </a:r>
            <a:r>
              <a:rPr lang="en-US" dirty="0" err="1"/>
              <a:t>SiC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59A460-9072-664C-AABE-83BB119ABDE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The volume associated with dislocation loops in irradiated </a:t>
            </a:r>
            <a:r>
              <a:rPr lang="en-US" sz="2400" dirty="0" err="1"/>
              <a:t>SiC</a:t>
            </a:r>
            <a:r>
              <a:rPr lang="en-US" sz="2400" dirty="0"/>
              <a:t> has been estimated to be on the order of 0.1%</a:t>
            </a:r>
          </a:p>
          <a:p>
            <a:r>
              <a:rPr lang="en-US" sz="2400" dirty="0"/>
              <a:t>At high T (greater than about 1500 K) vacancies are sufficiently mobile and vacancy clusters can be formed</a:t>
            </a:r>
          </a:p>
          <a:p>
            <a:r>
              <a:rPr lang="en-US" sz="2400" dirty="0"/>
              <a:t>This high T regime is the void swelling regime</a:t>
            </a:r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5790135-67CB-E646-90F9-4856CD5B257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67450" y="2288381"/>
            <a:ext cx="5245100" cy="35179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BA361B1-3443-C34A-AB65-DC5B2A5A2FE9}"/>
              </a:ext>
            </a:extLst>
          </p:cNvPr>
          <p:cNvSpPr/>
          <p:nvPr/>
        </p:nvSpPr>
        <p:spPr>
          <a:xfrm>
            <a:off x="5822493" y="6126162"/>
            <a:ext cx="61350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Helvetica" pitchFamily="2" charset="0"/>
              </a:rPr>
              <a:t>Evolution of voids in high-temperature irradiated CVD </a:t>
            </a:r>
            <a:r>
              <a:rPr lang="en-US" dirty="0" err="1">
                <a:latin typeface="Helvetica" pitchFamily="2" charset="0"/>
              </a:rPr>
              <a:t>SiC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2ED2E6-AE87-6E40-B576-536035F5A1EE}"/>
              </a:ext>
            </a:extLst>
          </p:cNvPr>
          <p:cNvSpPr/>
          <p:nvPr/>
        </p:nvSpPr>
        <p:spPr>
          <a:xfrm>
            <a:off x="6553323" y="3082970"/>
            <a:ext cx="122501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1130  C, 1.8 dpa</a:t>
            </a:r>
            <a:endParaRPr lang="en-US" sz="1100" dirty="0">
              <a:effectLst/>
              <a:latin typeface="Helvetica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EAFB8A6-2C53-AF49-875E-2D0C6943D6D3}"/>
              </a:ext>
            </a:extLst>
          </p:cNvPr>
          <p:cNvSpPr/>
          <p:nvPr/>
        </p:nvSpPr>
        <p:spPr>
          <a:xfrm>
            <a:off x="8175892" y="3082970"/>
            <a:ext cx="122501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1130  C, 8.5 dpa</a:t>
            </a:r>
            <a:endParaRPr lang="en-US" sz="1100" dirty="0">
              <a:effectLst/>
              <a:latin typeface="Helvetica" pitchFamily="2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05B05CB-08F4-164B-9CDB-622B4A1C45A9}"/>
              </a:ext>
            </a:extLst>
          </p:cNvPr>
          <p:cNvSpPr/>
          <p:nvPr/>
        </p:nvSpPr>
        <p:spPr>
          <a:xfrm>
            <a:off x="10081754" y="3004905"/>
            <a:ext cx="122501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1280  C, 5.0 dpa</a:t>
            </a:r>
            <a:endParaRPr lang="en-US" sz="1100" dirty="0">
              <a:effectLst/>
              <a:latin typeface="Helvetica" pitchFamily="2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09F7C5-67CF-8C46-8304-29F7A11B29B2}"/>
              </a:ext>
            </a:extLst>
          </p:cNvPr>
          <p:cNvSpPr/>
          <p:nvPr/>
        </p:nvSpPr>
        <p:spPr>
          <a:xfrm>
            <a:off x="6553322" y="4739648"/>
            <a:ext cx="122501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1450  C, 1.8 dpa</a:t>
            </a:r>
            <a:endParaRPr lang="en-US" sz="1100" dirty="0">
              <a:effectLst/>
              <a:latin typeface="Helvetica" pitchFamily="2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C0533CC-AE9D-094C-9A17-0C75DC313A49}"/>
              </a:ext>
            </a:extLst>
          </p:cNvPr>
          <p:cNvSpPr/>
          <p:nvPr/>
        </p:nvSpPr>
        <p:spPr>
          <a:xfrm>
            <a:off x="8277491" y="4739648"/>
            <a:ext cx="122501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1450  C, 5.0 dpa</a:t>
            </a:r>
            <a:endParaRPr lang="en-US" sz="1100" dirty="0">
              <a:effectLst/>
              <a:latin typeface="Helvetica" pitchFamily="2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9A8950D-F948-074F-A106-0680561A17E3}"/>
              </a:ext>
            </a:extLst>
          </p:cNvPr>
          <p:cNvSpPr/>
          <p:nvPr/>
        </p:nvSpPr>
        <p:spPr>
          <a:xfrm>
            <a:off x="10081753" y="4739648"/>
            <a:ext cx="122501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1450  C, 8.5 dpa</a:t>
            </a:r>
            <a:endParaRPr lang="en-US" sz="1100" dirty="0">
              <a:effectLst/>
              <a:latin typeface="Helvetica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25DBD7-A652-2744-9757-49E48B0C7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675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8E768-A935-F342-A8D1-4E267FB4C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Irradiation-Induced Swelling in </a:t>
            </a:r>
            <a:r>
              <a:rPr lang="en-US" dirty="0" err="1"/>
              <a:t>SiC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3DA84-6B86-3845-A6D5-98EB5A128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5926851" cy="4157663"/>
          </a:xfrm>
        </p:spPr>
        <p:txBody>
          <a:bodyPr/>
          <a:lstStyle/>
          <a:p>
            <a:r>
              <a:rPr lang="en-US" sz="2400" dirty="0"/>
              <a:t>The transition from point-defect saturated swelling to void swelling occurs above 1000C</a:t>
            </a:r>
          </a:p>
          <a:p>
            <a:r>
              <a:rPr lang="en-US" sz="2400" dirty="0"/>
              <a:t>Void swelling increases as a function of dose, and is not known to saturate</a:t>
            </a:r>
          </a:p>
          <a:p>
            <a:r>
              <a:rPr lang="en-US" sz="2400" dirty="0"/>
              <a:t>The swelling near the critical amorphization temperature is described as the differential strain between the single interstitial, or tiny interstitial clusters, immobile vacancies, and </a:t>
            </a:r>
            <a:r>
              <a:rPr lang="en-US" sz="2400" dirty="0" err="1"/>
              <a:t>antisite</a:t>
            </a:r>
            <a:r>
              <a:rPr lang="en-US" sz="2400" dirty="0"/>
              <a:t> defects</a:t>
            </a:r>
          </a:p>
          <a:p>
            <a:endParaRPr lang="en-US" sz="24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E289562-8E23-8646-9690-FD01D359C18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36451" y="1968500"/>
            <a:ext cx="4707097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3053EA-89D8-044D-BA24-295FF82C9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5354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8E768-A935-F342-A8D1-4E267FB4C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Irradiation-Induced Swelling in </a:t>
            </a:r>
            <a:r>
              <a:rPr lang="en-US" dirty="0" err="1"/>
              <a:t>SiC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3DA84-6B86-3845-A6D5-98EB5A128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017112" cy="4157663"/>
          </a:xfrm>
        </p:spPr>
        <p:txBody>
          <a:bodyPr/>
          <a:lstStyle/>
          <a:p>
            <a:r>
              <a:rPr lang="en-US" sz="2200" dirty="0"/>
              <a:t>Above the critical amorphization temperature, the number of defects surviving recombination is reduced and the mobility of both silicon and carbon interstitials becomes significant</a:t>
            </a:r>
          </a:p>
          <a:p>
            <a:r>
              <a:rPr lang="en-US" sz="2200" dirty="0"/>
              <a:t>Above 1000 C microstructural studies have noted the presence of both Frank loops and tiny voids, indicating limited mobility of vacancies</a:t>
            </a:r>
          </a:p>
          <a:p>
            <a:r>
              <a:rPr lang="en-US" sz="2200" dirty="0"/>
              <a:t>The max irradiation temperature shown is 0.65 </a:t>
            </a:r>
            <a:r>
              <a:rPr lang="en-US" sz="2200" dirty="0" err="1"/>
              <a:t>T</a:t>
            </a:r>
            <a:r>
              <a:rPr lang="en-US" sz="2200" baseline="-25000" dirty="0" err="1"/>
              <a:t>melt</a:t>
            </a:r>
            <a:endParaRPr lang="en-US" sz="2200" baseline="-25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E289562-8E23-8646-9690-FD01D359C18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36451" y="1968500"/>
            <a:ext cx="4707097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89A4B-F623-2B48-82E5-ED4E36D50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0724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8E768-A935-F342-A8D1-4E267FB4C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Irradiation-Induced Swelling in </a:t>
            </a:r>
            <a:r>
              <a:rPr lang="en-US" dirty="0" err="1"/>
              <a:t>SiC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3DA84-6B86-3845-A6D5-98EB5A128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017112" cy="4157663"/>
          </a:xfrm>
        </p:spPr>
        <p:txBody>
          <a:bodyPr/>
          <a:lstStyle/>
          <a:p>
            <a:r>
              <a:rPr lang="en-US" sz="2200" dirty="0"/>
              <a:t>In typical </a:t>
            </a:r>
            <a:r>
              <a:rPr lang="en-US" sz="2200" dirty="0" err="1"/>
              <a:t>fcc</a:t>
            </a:r>
            <a:r>
              <a:rPr lang="en-US" sz="2200" dirty="0"/>
              <a:t> metal systems void swelling typically begins at ~0.35Tm, goes through a maximum value, and decreases to nil swelling by ~0.55Tm</a:t>
            </a:r>
          </a:p>
          <a:p>
            <a:r>
              <a:rPr lang="en-US" sz="2200" dirty="0"/>
              <a:t>The voids in </a:t>
            </a:r>
            <a:r>
              <a:rPr lang="en-US" sz="2200" dirty="0" err="1"/>
              <a:t>SiC</a:t>
            </a:r>
            <a:r>
              <a:rPr lang="en-US" sz="2200" dirty="0"/>
              <a:t> are continuing to grow in </a:t>
            </a:r>
            <a:r>
              <a:rPr lang="en-US" sz="2200" dirty="0" err="1"/>
              <a:t>SiC</a:t>
            </a:r>
            <a:r>
              <a:rPr lang="en-US" sz="2200" dirty="0"/>
              <a:t> irradiated to 1773 K, thus the energies for diffusion of either the Si or C vacancy or both must be quite high</a:t>
            </a:r>
          </a:p>
          <a:p>
            <a:r>
              <a:rPr lang="en-US" sz="2200" dirty="0"/>
              <a:t>This has been confirmed through DFT methods</a:t>
            </a:r>
          </a:p>
          <a:p>
            <a:r>
              <a:rPr lang="en-US" sz="2200" dirty="0"/>
              <a:t>It is unclear how swelling will increase as a function of dose above 10 dpa</a:t>
            </a:r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E289562-8E23-8646-9690-FD01D359C18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36451" y="1968500"/>
            <a:ext cx="4707097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24B6BE-B35F-E044-B8DC-C2678633E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5240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1E8AD-1ED9-E044-977B-436EBFDAB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Thermal Conductivity Degradation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56E65-B45F-DE49-A02A-453904A0D0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6045778" cy="4157663"/>
          </a:xfrm>
        </p:spPr>
        <p:txBody>
          <a:bodyPr/>
          <a:lstStyle/>
          <a:p>
            <a:r>
              <a:rPr lang="en-US" sz="2200" dirty="0" err="1"/>
              <a:t>SiC</a:t>
            </a:r>
            <a:r>
              <a:rPr lang="en-US" sz="2200" dirty="0"/>
              <a:t> is a ceramic with a band gap, and thus thermal conductivity is based on phonons</a:t>
            </a:r>
          </a:p>
          <a:p>
            <a:r>
              <a:rPr lang="en-US" sz="2200" dirty="0"/>
              <a:t>The conduction heat can be generally described by the strength of the individual contributors to phonon scattering: grain boundary scattering; phonon–phonon interaction; and defect scattering</a:t>
            </a:r>
          </a:p>
          <a:p>
            <a:r>
              <a:rPr lang="en-US" sz="2200" dirty="0"/>
              <a:t>Each of these types occurs at differing phonon frequencies and can be considered separable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9C2E20E-F2B5-9341-B5E7-70810E8C88A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55378" y="1968500"/>
            <a:ext cx="4469244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11FC71-58EB-7144-8DF1-263329C1D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1899511-6D22-BB20-3ECE-3F11857847F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16091" y="5779105"/>
            <a:ext cx="2222500" cy="29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1230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1E8AD-1ED9-E044-977B-436EBFDAB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Thermal Conductivity Degradation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56E65-B45F-DE49-A02A-453904A0D0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855746" cy="4157663"/>
          </a:xfrm>
        </p:spPr>
        <p:txBody>
          <a:bodyPr/>
          <a:lstStyle/>
          <a:p>
            <a:r>
              <a:rPr lang="en-US" sz="2400" dirty="0"/>
              <a:t>The unirradiated k</a:t>
            </a:r>
            <a:r>
              <a:rPr lang="en-US" sz="2400" baseline="-25000" dirty="0"/>
              <a:t>th</a:t>
            </a:r>
            <a:r>
              <a:rPr lang="en-US" sz="2400" dirty="0"/>
              <a:t> is highly dependent upon initial microstructure and temperature</a:t>
            </a:r>
          </a:p>
          <a:p>
            <a:r>
              <a:rPr lang="en-US" sz="2400" dirty="0"/>
              <a:t>Initial microstructure can be tailored, but the temperature dependence cannot be removed</a:t>
            </a:r>
          </a:p>
          <a:p>
            <a:r>
              <a:rPr lang="en-US" sz="2400" dirty="0"/>
              <a:t>For reference, Zr thermal conductivity is about 22 W/m-K at 1000 K</a:t>
            </a:r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9C2E20E-F2B5-9341-B5E7-70810E8C88A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55378" y="1968500"/>
            <a:ext cx="4469244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FE24FA-B0D1-DC45-B164-153C7CD9C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69380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1E8AD-1ED9-E044-977B-436EBFDAB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Thermal Conductivity Degradation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56E65-B45F-DE49-A02A-453904A0D0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855746" cy="4157663"/>
          </a:xfrm>
        </p:spPr>
        <p:txBody>
          <a:bodyPr/>
          <a:lstStyle/>
          <a:p>
            <a:r>
              <a:rPr lang="en-US" sz="2400" dirty="0"/>
              <a:t>At low temperatures irradiation produces simple defects and defect clusters that very effectively scatter phonons</a:t>
            </a:r>
          </a:p>
          <a:p>
            <a:r>
              <a:rPr lang="en-US" sz="2400" dirty="0"/>
              <a:t>In this case, defect scattering quickly dominates, with saturation thermal conductivity typically achieved by a few dpa</a:t>
            </a:r>
          </a:p>
          <a:p>
            <a:r>
              <a:rPr lang="en-US" sz="2400" dirty="0"/>
              <a:t>Defect scattering is sufficiently present to eliminate the temperature dependence</a:t>
            </a:r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AE249BE-9E7F-A94E-A8AA-954DDE56E9C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20246" y="1968500"/>
            <a:ext cx="4139507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5E32D-D551-D147-9B83-57143EC4B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8604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1E8AD-1ED9-E044-977B-436EBFDAB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Thermal Conductivity Degradation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56E65-B45F-DE49-A02A-453904A0D0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855746" cy="4157663"/>
          </a:xfrm>
        </p:spPr>
        <p:txBody>
          <a:bodyPr/>
          <a:lstStyle/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CE0CC0A-2F1F-9C40-A2D7-AD26591F93E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15910" y="2345018"/>
            <a:ext cx="2969338" cy="31413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091F565-C9AC-7C4E-9D36-E5BA8BDE1065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83411" y="2011366"/>
            <a:ext cx="2808589" cy="3475034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2A99754-751D-8C40-9109-7DA406691619}"/>
              </a:ext>
            </a:extLst>
          </p:cNvPr>
          <p:cNvSpPr txBox="1">
            <a:spLocks/>
          </p:cNvSpPr>
          <p:nvPr/>
        </p:nvSpPr>
        <p:spPr bwMode="auto">
          <a:xfrm>
            <a:off x="762000" y="2120903"/>
            <a:ext cx="5544207" cy="4157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457189" indent="-457189" algn="l" defTabSz="609585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3733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990575" indent="-380990" algn="l" defTabSz="609585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3200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523962" indent="-304792" algn="l" defTabSz="609585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667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2133547" indent="-304792" algn="l" defTabSz="609585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743131" indent="-304792" algn="l" defTabSz="609585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400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335271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The thermal defect resistance is defined as the difference between the reciprocals of the irradiated and nonirradiated thermal conductivity (1/</a:t>
            </a:r>
            <a:r>
              <a:rPr lang="en-US" sz="2000" dirty="0" err="1"/>
              <a:t>K</a:t>
            </a:r>
            <a:r>
              <a:rPr lang="en-US" sz="2000" baseline="-25000" dirty="0" err="1"/>
              <a:t>rd</a:t>
            </a:r>
            <a:r>
              <a:rPr lang="en-US" sz="2000" dirty="0"/>
              <a:t> = 1/</a:t>
            </a:r>
            <a:r>
              <a:rPr lang="en-US" sz="2000" dirty="0" err="1"/>
              <a:t>K</a:t>
            </a:r>
            <a:r>
              <a:rPr lang="en-US" sz="2000" baseline="-25000" dirty="0" err="1"/>
              <a:t>irr</a:t>
            </a:r>
            <a:r>
              <a:rPr lang="en-US" sz="2000" dirty="0"/>
              <a:t> – 1/</a:t>
            </a:r>
            <a:r>
              <a:rPr lang="en-US" sz="2000" dirty="0" err="1"/>
              <a:t>K</a:t>
            </a:r>
            <a:r>
              <a:rPr lang="en-US" sz="2000" baseline="-25000" dirty="0" err="1"/>
              <a:t>nonirr</a:t>
            </a:r>
            <a:r>
              <a:rPr lang="en-US" sz="2000" dirty="0"/>
              <a:t>)</a:t>
            </a:r>
          </a:p>
          <a:p>
            <a:r>
              <a:rPr lang="en-US" sz="2000" dirty="0"/>
              <a:t>This term can be related directly to the defect type and concentration present in irradiated ceramics</a:t>
            </a:r>
          </a:p>
          <a:p>
            <a:r>
              <a:rPr lang="en-US" sz="2000" dirty="0"/>
              <a:t>The thermal defect resistance is directly proportional to the irradiation-induced swelling in </a:t>
            </a:r>
            <a:r>
              <a:rPr lang="en-US" sz="2000" dirty="0" err="1"/>
              <a:t>SiC</a:t>
            </a:r>
            <a:endParaRPr lang="en-US" sz="2000" dirty="0"/>
          </a:p>
          <a:p>
            <a:r>
              <a:rPr lang="en-US" sz="2000" dirty="0"/>
              <a:t>This allows an indirect determination of thermal conductivity by measurement of the density change in the TRISO </a:t>
            </a:r>
            <a:r>
              <a:rPr lang="en-US" sz="2000" dirty="0" err="1"/>
              <a:t>SiC</a:t>
            </a:r>
            <a:r>
              <a:rPr lang="en-US" sz="2000" dirty="0"/>
              <a:t> shell</a:t>
            </a:r>
          </a:p>
          <a:p>
            <a:pPr marL="0" indent="0">
              <a:buNone/>
            </a:pPr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2BE51A-AAD1-984F-8E06-3D029832E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6454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0F246-B5CC-9544-B2A6-036175CF4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Thermal Conductivity Degradation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27E7EA-9334-B745-88DC-5034E8BF2B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5769686" cy="4157663"/>
          </a:xfrm>
        </p:spPr>
        <p:txBody>
          <a:bodyPr/>
          <a:lstStyle/>
          <a:p>
            <a:r>
              <a:rPr lang="en-US" sz="2200" dirty="0"/>
              <a:t>In the high temperature void swelling regime, thermal conductivity degradation is not expected to saturate, as voids continue to grow and scatter phonons</a:t>
            </a:r>
          </a:p>
          <a:p>
            <a:r>
              <a:rPr lang="en-US" sz="2200" dirty="0"/>
              <a:t>Additionally, the linear relationship between swelling and thermal defect resistance does not exist at high temperature</a:t>
            </a:r>
          </a:p>
          <a:p>
            <a:r>
              <a:rPr lang="en-US" sz="2200" dirty="0"/>
              <a:t>Generally, void swelling does not degrade thermal conductivity as severely as point defects, but data at high T is quite limited</a:t>
            </a:r>
          </a:p>
          <a:p>
            <a:endParaRPr lang="en-US" sz="22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E2CBB67-EB10-A74E-B49A-35E6A1508B6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97600" y="1981306"/>
            <a:ext cx="5384800" cy="413205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255BDD-884B-2741-8566-BD77231A5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4576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77D36-EB06-4549-A44D-733938852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SiC</a:t>
            </a:r>
            <a:r>
              <a:rPr lang="en-US" dirty="0"/>
              <a:t> Mechanical 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0CE1D1-7751-5B4B-BEC0-A8BD64CDA3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6953026" cy="4157663"/>
          </a:xfrm>
        </p:spPr>
        <p:txBody>
          <a:bodyPr/>
          <a:lstStyle/>
          <a:p>
            <a:r>
              <a:rPr lang="en-US" sz="2200" dirty="0"/>
              <a:t>Irradiation generally reduces modulus to a greater extent for lower temperature irradiation, while the modulus reduction becomes negligible when irradiation temperature reaches or exceeds 1273 K</a:t>
            </a:r>
          </a:p>
          <a:p>
            <a:r>
              <a:rPr lang="en-US" sz="2200" dirty="0"/>
              <a:t>Irradiation-induced toughening (increase in fracture toughness) seems to be significant at 573–1273K in spite of the decrease in elastic modulus</a:t>
            </a:r>
          </a:p>
          <a:p>
            <a:r>
              <a:rPr lang="en-US" sz="2200" dirty="0"/>
              <a:t>However, there is significant scatter in the data</a:t>
            </a:r>
          </a:p>
          <a:p>
            <a:r>
              <a:rPr lang="en-US" sz="2200" dirty="0"/>
              <a:t>Reminder: toughness is related to the area under the stress–strain curve</a:t>
            </a:r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2CD6816-F5A1-FB44-B7CB-E3FC6B3110A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54701" y="1691257"/>
            <a:ext cx="2764716" cy="24848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F92F5D9-0C92-AA43-AD03-C18E9B423FF8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10220" y="4176074"/>
            <a:ext cx="3053678" cy="268192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A316FE-42E3-4D41-B81A-1E32AE54B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6152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31A22-ACB8-2F4E-BFCA-7B287E03F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SiC</a:t>
            </a:r>
            <a:r>
              <a:rPr lang="en-US" dirty="0"/>
              <a:t> Creep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D9F15-A532-C34C-8A17-13539F2581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067437" cy="4157663"/>
          </a:xfrm>
        </p:spPr>
        <p:txBody>
          <a:bodyPr/>
          <a:lstStyle/>
          <a:p>
            <a:r>
              <a:rPr lang="en-US" sz="2200" dirty="0"/>
              <a:t>Irradiation creep is defined as the difference in dimensional changes between a stressed and an unstressed sample irradiated under identical conditions</a:t>
            </a:r>
          </a:p>
          <a:p>
            <a:r>
              <a:rPr lang="en-US" sz="2200" dirty="0"/>
              <a:t>Studies on irradiation creep of </a:t>
            </a:r>
            <a:r>
              <a:rPr lang="en-US" sz="2200" dirty="0" err="1"/>
              <a:t>SiC</a:t>
            </a:r>
            <a:r>
              <a:rPr lang="en-US" sz="2200" dirty="0"/>
              <a:t> have been limited, although it is of high importance for </a:t>
            </a:r>
            <a:r>
              <a:rPr lang="en-US" sz="2200" dirty="0" err="1"/>
              <a:t>SiC</a:t>
            </a:r>
            <a:r>
              <a:rPr lang="en-US" sz="2200" dirty="0"/>
              <a:t> in TRISO particles</a:t>
            </a:r>
          </a:p>
          <a:p>
            <a:r>
              <a:rPr lang="en-US" sz="2200" dirty="0"/>
              <a:t>The creep strain for CVD </a:t>
            </a:r>
            <a:r>
              <a:rPr lang="en-US" sz="2200" dirty="0" err="1"/>
              <a:t>SiC</a:t>
            </a:r>
            <a:r>
              <a:rPr lang="en-US" sz="2200" dirty="0"/>
              <a:t> exhibited a weak temperature dependence at &lt;0.7 dpa whereas a major transition at higher doses likely exists at higher temperatures</a:t>
            </a:r>
          </a:p>
          <a:p>
            <a:r>
              <a:rPr lang="en-US" sz="2200" dirty="0"/>
              <a:t>Note: 3C-SiC is beta-</a:t>
            </a:r>
            <a:r>
              <a:rPr lang="en-US" sz="2200" dirty="0" err="1"/>
              <a:t>SiC</a:t>
            </a:r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DA255F5-8B58-1943-A133-8F901A7376F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77037" y="2661793"/>
            <a:ext cx="5266466" cy="248404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352FA0-B43D-7049-A55B-AA5F560FA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5166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2EDF0-99C9-A74B-9FB0-4F65ED39B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SiC</a:t>
            </a:r>
            <a:r>
              <a:rPr lang="en-US" dirty="0"/>
              <a:t> Corrosion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003294-2E35-604D-B71F-DBB1DC21AD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588000" cy="4157663"/>
          </a:xfrm>
        </p:spPr>
        <p:txBody>
          <a:bodyPr/>
          <a:lstStyle/>
          <a:p>
            <a:r>
              <a:rPr lang="en-US" sz="2000" dirty="0"/>
              <a:t>The silicon carbide layer serves as a critical fission product barrier, but can be corroded by fission products, in particular palladium</a:t>
            </a:r>
          </a:p>
          <a:p>
            <a:r>
              <a:rPr lang="en-US" sz="2000" dirty="0"/>
              <a:t>Additionally, silver can be transported through intact </a:t>
            </a:r>
            <a:r>
              <a:rPr lang="en-US" sz="2000" dirty="0" err="1"/>
              <a:t>SiC</a:t>
            </a:r>
            <a:r>
              <a:rPr lang="en-US" sz="2000" dirty="0"/>
              <a:t> layers</a:t>
            </a:r>
          </a:p>
          <a:p>
            <a:r>
              <a:rPr lang="en-US" sz="2000" dirty="0"/>
              <a:t>For </a:t>
            </a:r>
            <a:r>
              <a:rPr lang="en-US" sz="2000" dirty="0" err="1"/>
              <a:t>Pd</a:t>
            </a:r>
            <a:r>
              <a:rPr lang="en-US" sz="2000" dirty="0"/>
              <a:t>, the reaction with </a:t>
            </a:r>
            <a:r>
              <a:rPr lang="en-US" sz="2000" dirty="0" err="1"/>
              <a:t>SiC</a:t>
            </a:r>
            <a:r>
              <a:rPr lang="en-US" sz="2000" dirty="0"/>
              <a:t> can be qualitatively explained by the phase-diagram, where a number of intermetallic structures are present</a:t>
            </a:r>
          </a:p>
          <a:p>
            <a:r>
              <a:rPr lang="en-US" sz="2000" dirty="0"/>
              <a:t>To prevent corrosion by Pd, new combinations of coating layers have been proposed, and means of trapping Pd in the fuel are explored</a:t>
            </a:r>
          </a:p>
          <a:p>
            <a:endParaRPr lang="en-US" sz="20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3AF7B02-3EAF-FA42-94F5-F6AB95C4D44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38045" y="1968500"/>
            <a:ext cx="4903910" cy="415766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6ECC8-2DCD-234D-B7F3-96EA9DC5A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1504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2EDF0-99C9-A74B-9FB0-4F65ED39B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SiC</a:t>
            </a:r>
            <a:r>
              <a:rPr lang="en-US" dirty="0"/>
              <a:t> Corrosion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003294-2E35-604D-B71F-DBB1DC21AD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059596" cy="4157663"/>
          </a:xfrm>
        </p:spPr>
        <p:txBody>
          <a:bodyPr/>
          <a:lstStyle/>
          <a:p>
            <a:r>
              <a:rPr lang="en-US" sz="2000" dirty="0"/>
              <a:t>Silver release has been observed from undamaged particles suggesting that Ag migrates through intact </a:t>
            </a:r>
            <a:r>
              <a:rPr lang="en-US" sz="2000" dirty="0" err="1"/>
              <a:t>SiC</a:t>
            </a:r>
            <a:r>
              <a:rPr lang="en-US" sz="2000" dirty="0"/>
              <a:t> layers at temperatures &gt;1100 C</a:t>
            </a:r>
          </a:p>
          <a:p>
            <a:r>
              <a:rPr lang="en-US" sz="2000" dirty="0"/>
              <a:t>The Ag migration mechanism remains not fully understood, and is still an active area of research</a:t>
            </a:r>
          </a:p>
          <a:p>
            <a:r>
              <a:rPr lang="en-US" sz="2000" dirty="0"/>
              <a:t>Ag release has a temperature dependence, pointing towards a diffusive mechanism</a:t>
            </a:r>
          </a:p>
          <a:p>
            <a:r>
              <a:rPr lang="en-US" sz="2000" dirty="0"/>
              <a:t>From microstructural analyses, it seems possible that Ag, Cd, and Pd cluster and transport together at grain boundaries and triple points because of their common chemical properties 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0C74934-2F83-C647-AFF0-653A0984E4F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69195" y="1827466"/>
            <a:ext cx="2455679" cy="221986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B86676B-D186-904A-B66F-95830B935BE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69195" y="4082794"/>
            <a:ext cx="4913205" cy="277520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9B56E3F-2176-874F-82A9-4012EB6B6D52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37364" y="1794193"/>
            <a:ext cx="2245036" cy="2253141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313024-78E4-F447-BDFF-582776420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0181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2EDF0-99C9-A74B-9FB0-4F65ED39B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SiC</a:t>
            </a:r>
            <a:r>
              <a:rPr lang="en-US" dirty="0"/>
              <a:t> Corrosion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003294-2E35-604D-B71F-DBB1DC21AD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588000" cy="4157663"/>
          </a:xfrm>
        </p:spPr>
        <p:txBody>
          <a:bodyPr/>
          <a:lstStyle/>
          <a:p>
            <a:r>
              <a:rPr lang="en-US" sz="2000" dirty="0"/>
              <a:t>Once cesium has migrated into the buffer, it can react with carbon</a:t>
            </a:r>
          </a:p>
          <a:p>
            <a:r>
              <a:rPr lang="en-US" sz="2000" dirty="0"/>
              <a:t>At nominal temperatures, cesium may be released and associated with carbon of the buffer layer to form compounds</a:t>
            </a:r>
          </a:p>
          <a:p>
            <a:r>
              <a:rPr lang="en-US" sz="2000" dirty="0"/>
              <a:t>These compounds, if they are not stable with increasing temperatures, may become a potential source of cesium release</a:t>
            </a:r>
          </a:p>
          <a:p>
            <a:r>
              <a:rPr lang="en-US" sz="2000" dirty="0"/>
              <a:t>Typically, cesium-graphite compounds are not stable at 923 K under vacuum and decompose to give cesium vapor and graphite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E01217D-9EA7-CA42-9009-5D611B67F90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68190" y="2571516"/>
            <a:ext cx="3024393" cy="198116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B3991BA-376E-104A-A083-82A27F256202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92583" y="2173045"/>
            <a:ext cx="2844729" cy="3345628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BF4D5-8715-8443-932A-EF188E909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9857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2EDF0-99C9-A74B-9FB0-4F65ED39B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SiC</a:t>
            </a:r>
            <a:r>
              <a:rPr lang="en-US" dirty="0"/>
              <a:t> vs ZrC Corrosion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003294-2E35-604D-B71F-DBB1DC21AD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318325" cy="4157663"/>
          </a:xfrm>
        </p:spPr>
        <p:txBody>
          <a:bodyPr/>
          <a:lstStyle/>
          <a:p>
            <a:r>
              <a:rPr lang="en-US" sz="2000" dirty="0"/>
              <a:t>An approach to counteract </a:t>
            </a:r>
            <a:r>
              <a:rPr lang="en-US" sz="2000" dirty="0" err="1"/>
              <a:t>SiC</a:t>
            </a:r>
            <a:r>
              <a:rPr lang="en-US" sz="2000" dirty="0"/>
              <a:t> fission product corrosion is to replace the </a:t>
            </a:r>
            <a:r>
              <a:rPr lang="en-US" sz="2000" dirty="0" err="1"/>
              <a:t>SiC</a:t>
            </a:r>
            <a:r>
              <a:rPr lang="en-US" sz="2000" dirty="0"/>
              <a:t> coating by a ZrC layer</a:t>
            </a:r>
          </a:p>
          <a:p>
            <a:r>
              <a:rPr lang="en-US" sz="2000" dirty="0"/>
              <a:t>Experimental observations showed neither </a:t>
            </a:r>
            <a:r>
              <a:rPr lang="en-US" sz="2000" dirty="0" err="1"/>
              <a:t>Pd</a:t>
            </a:r>
            <a:r>
              <a:rPr lang="en-US" sz="2000" dirty="0"/>
              <a:t> attack nor thermal degradation of ZrC up to 1600C</a:t>
            </a:r>
          </a:p>
          <a:p>
            <a:r>
              <a:rPr lang="en-US" sz="2000" dirty="0"/>
              <a:t>ZrC was also shown to have a high capacity to retain Cs, but poor retention of Ru</a:t>
            </a:r>
          </a:p>
          <a:p>
            <a:r>
              <a:rPr lang="en-US" sz="2000" dirty="0"/>
              <a:t>At higher T, the deterioration of the ZrC particle is caused by failure of the </a:t>
            </a:r>
            <a:r>
              <a:rPr lang="en-US" sz="2000" dirty="0" err="1"/>
              <a:t>IPyC</a:t>
            </a:r>
            <a:endParaRPr lang="en-US" sz="2000" dirty="0"/>
          </a:p>
          <a:p>
            <a:r>
              <a:rPr lang="en-US" sz="2000" dirty="0"/>
              <a:t>The development of TRISO with ZrC-coating is at an early stage compared to the </a:t>
            </a:r>
            <a:r>
              <a:rPr lang="en-US" sz="2000" dirty="0" err="1"/>
              <a:t>SiC</a:t>
            </a:r>
            <a:r>
              <a:rPr lang="en-US" sz="2000" dirty="0"/>
              <a:t>-coated design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8BF9C7E-1100-B942-AC45-7E8B19338DE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14976" y="1968500"/>
            <a:ext cx="3750048" cy="415766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097030-9E94-3345-8763-EAA4A31C7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4643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947CF-EAEA-5F40-93E5-30922295C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Graphite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1D2078D-EE8C-6A44-A588-78A28A29B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A6BD0F-ABBC-C14D-BC96-77BE126A748B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2078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1A0A0-A2F7-0A47-916B-D6A54DDA2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Graphite Usage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D69F7-E118-DD40-A367-3FAA4F500B6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Graphite was the moderator in the first reactor to sustain a chain reaction and has been used as a moderator in over 100 nuclear reactors, many of which are still operating</a:t>
            </a:r>
          </a:p>
          <a:p>
            <a:r>
              <a:rPr lang="en-US" sz="2200" dirty="0"/>
              <a:t>Graphite has a high neutron scattering cross-section and a very low neutron absorption cross-section, making it an ideal moderator</a:t>
            </a:r>
          </a:p>
          <a:p>
            <a:endParaRPr lang="en-US" sz="22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21963F0-CCDF-E144-AB09-739AC8D7818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58423" y="1968500"/>
            <a:ext cx="3059953" cy="442163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78AA51-15D7-5643-9015-9C9065CA0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8898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3B3CF-8805-9147-B8FF-FDF08CC1D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Delineate Types of Graphite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EC0F-D7DD-3A4F-B32E-75734ECDB90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TRISO Graphite (</a:t>
            </a:r>
            <a:r>
              <a:rPr lang="en-US" sz="2200" dirty="0" err="1"/>
              <a:t>PyC</a:t>
            </a:r>
            <a:r>
              <a:rPr lang="en-US" sz="2200" dirty="0"/>
              <a:t>)</a:t>
            </a:r>
          </a:p>
          <a:p>
            <a:pPr lvl="1"/>
            <a:r>
              <a:rPr lang="en-US" sz="2200" dirty="0"/>
              <a:t>CVD deposition</a:t>
            </a:r>
          </a:p>
          <a:p>
            <a:pPr lvl="1"/>
            <a:r>
              <a:rPr lang="en-US" sz="2200" dirty="0"/>
              <a:t>treated to ensure ultra dense and high purity</a:t>
            </a:r>
          </a:p>
          <a:p>
            <a:r>
              <a:rPr lang="en-US" sz="2200" dirty="0"/>
              <a:t>Prismatic Blocks and Pebbles</a:t>
            </a:r>
          </a:p>
          <a:p>
            <a:pPr lvl="1"/>
            <a:r>
              <a:rPr lang="en-US" sz="2200" dirty="0"/>
              <a:t>large scale</a:t>
            </a:r>
          </a:p>
          <a:p>
            <a:pPr lvl="1"/>
            <a:r>
              <a:rPr lang="en-US" sz="2200" dirty="0"/>
              <a:t>different fabrication process from TRISO</a:t>
            </a:r>
          </a:p>
          <a:p>
            <a:pPr lvl="1"/>
            <a:r>
              <a:rPr lang="en-US" sz="2200" dirty="0"/>
              <a:t>different microstructure</a:t>
            </a:r>
          </a:p>
          <a:p>
            <a:endParaRPr lang="en-US" sz="2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B96F44-B914-8C4E-AD68-29499497487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dirty="0"/>
              <a:t>We will generally be talking about graphite, which most directly applies to prismatic block type graphite</a:t>
            </a:r>
          </a:p>
          <a:p>
            <a:r>
              <a:rPr lang="en-US" sz="2200" dirty="0"/>
              <a:t>Similar radiation effects are assumed to occur in </a:t>
            </a:r>
            <a:r>
              <a:rPr lang="en-US" sz="2200" dirty="0" err="1"/>
              <a:t>PyC</a:t>
            </a:r>
            <a:r>
              <a:rPr lang="en-US" sz="2200" dirty="0"/>
              <a:t> layers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13AD85-CAB2-5F4C-A839-E207E42FF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1847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79936-F21A-C044-83B4-40702921E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Graphite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C1BF23-B277-DB4A-9378-BDB23DC17A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5896303" cy="4157663"/>
          </a:xfrm>
        </p:spPr>
        <p:txBody>
          <a:bodyPr/>
          <a:lstStyle/>
          <a:p>
            <a:r>
              <a:rPr lang="en-US" sz="2200" dirty="0"/>
              <a:t>The electronic hybridization of carbon atoms (1s2, 2s2, 2p2) allows several types of covalent-bonded structures</a:t>
            </a:r>
          </a:p>
          <a:p>
            <a:r>
              <a:rPr lang="en-US" sz="2200" dirty="0"/>
              <a:t>In graphite, we have sp2 hybridization where the carbon atom is bound to three equidistant nearest neighbors in a given plane to form the hexagonal graphene structure</a:t>
            </a:r>
          </a:p>
          <a:p>
            <a:r>
              <a:rPr lang="en-US" sz="2200" dirty="0"/>
              <a:t>The sheets are weakly bound with van der Waals type bonds in an ABAB stacking sequence with a separation of 0.335 nm</a:t>
            </a:r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069F450-C1A6-7E4C-86C8-33ADB4B6179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692900" y="2104231"/>
            <a:ext cx="4394200" cy="388620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534693-351C-AD4A-BF6D-527C01E6A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6330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8F25D-05A9-4D4E-9392-96806C0A2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Fundamental 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9B600D-064F-3E46-82F3-795C7AFE31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5838495" cy="4157663"/>
          </a:xfrm>
        </p:spPr>
        <p:txBody>
          <a:bodyPr/>
          <a:lstStyle/>
          <a:p>
            <a:r>
              <a:rPr lang="en-US" sz="2200" dirty="0"/>
              <a:t>The CTE for graphite displays anisotropic behavior, and strongly varies as a function of temperature</a:t>
            </a:r>
          </a:p>
          <a:p>
            <a:r>
              <a:rPr lang="en-US" sz="2200" dirty="0"/>
              <a:t>Due to the structure the strength along the basal planes is higher than the strength perpendicular to the planes, and the shear strength between the basal panes is relatively weak</a:t>
            </a:r>
          </a:p>
          <a:p>
            <a:r>
              <a:rPr lang="en-US" sz="2200" dirty="0"/>
              <a:t>The thermal conductivity along the basal planes is much greater than perpendicular to the planes</a:t>
            </a:r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B511C5-C13A-F345-926E-8FCAA05E3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8A50948E-E351-804F-95C7-BA7E9EBDFD7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1485"/>
          <a:stretch/>
        </p:blipFill>
        <p:spPr bwMode="auto">
          <a:xfrm>
            <a:off x="7328089" y="1842448"/>
            <a:ext cx="3374315" cy="25084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pic>
      <p:pic>
        <p:nvPicPr>
          <p:cNvPr id="10" name="Content Placeholder 5">
            <a:extLst>
              <a:ext uri="{FF2B5EF4-FFF2-40B4-BE49-F238E27FC236}">
                <a16:creationId xmlns:a16="http://schemas.microsoft.com/office/drawing/2014/main" id="{ADF81ADF-124C-C747-BC0B-DAA1B73B098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147"/>
          <a:stretch/>
        </p:blipFill>
        <p:spPr bwMode="auto">
          <a:xfrm>
            <a:off x="7576205" y="4224813"/>
            <a:ext cx="3360988" cy="23836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pic>
    </p:spTree>
    <p:extLst>
      <p:ext uri="{BB962C8B-B14F-4D97-AF65-F5344CB8AC3E}">
        <p14:creationId xmlns:p14="http://schemas.microsoft.com/office/powerpoint/2010/main" val="33606210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BB681-80F7-8C4F-AB34-69020D9FC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Mrozowski Cracks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085868-55DD-CA41-A53C-431CBE94F3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6705600" cy="4157663"/>
          </a:xfrm>
        </p:spPr>
        <p:txBody>
          <a:bodyPr/>
          <a:lstStyle/>
          <a:p>
            <a:r>
              <a:rPr lang="en-US" sz="2200" dirty="0"/>
              <a:t>During the manufacture of artificial graphite, very high temperatures (2800–3000 C) are required</a:t>
            </a:r>
          </a:p>
          <a:p>
            <a:r>
              <a:rPr lang="en-US" sz="2200" dirty="0"/>
              <a:t>Upon cooling, the anisotropy in thermal expansion coefficients leads to the formation of long, thin microcracks parallel to the basal planes, often referred to as ‘Mrozowski’ cracks</a:t>
            </a:r>
          </a:p>
          <a:p>
            <a:r>
              <a:rPr lang="en-US" sz="2200" dirty="0"/>
              <a:t>The presence of these microcracks is very important in understanding the properties of nuclear graphite</a:t>
            </a:r>
          </a:p>
          <a:p>
            <a:r>
              <a:rPr lang="en-US" sz="2200" dirty="0"/>
              <a:t>These cracks form in both TRISO </a:t>
            </a:r>
            <a:r>
              <a:rPr lang="en-US" sz="2200" dirty="0" err="1"/>
              <a:t>PyC</a:t>
            </a:r>
            <a:r>
              <a:rPr lang="en-US" sz="2200" dirty="0"/>
              <a:t>, sometimes called highly orientated pyrolytic graphite (HOPG), and standard nuclear graphite</a:t>
            </a:r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A108053-49B5-114C-8E28-1B0C91D55E1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/>
          <a:srcRect r="47950"/>
          <a:stretch/>
        </p:blipFill>
        <p:spPr>
          <a:xfrm>
            <a:off x="8136757" y="1770463"/>
            <a:ext cx="2802759" cy="2276871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0A3F28-A456-A84C-A43A-C6C1716A7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32</a:t>
            </a:fld>
            <a:endParaRPr lang="en-US"/>
          </a:p>
        </p:txBody>
      </p:sp>
      <p:pic>
        <p:nvPicPr>
          <p:cNvPr id="7" name="Content Placeholder 5">
            <a:extLst>
              <a:ext uri="{FF2B5EF4-FFF2-40B4-BE49-F238E27FC236}">
                <a16:creationId xmlns:a16="http://schemas.microsoft.com/office/drawing/2014/main" id="{17C052EA-89A7-854D-AE28-985E9267A4E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1789"/>
          <a:stretch/>
        </p:blipFill>
        <p:spPr bwMode="auto">
          <a:xfrm>
            <a:off x="8240110" y="4079481"/>
            <a:ext cx="2596055" cy="22768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pic>
    </p:spTree>
    <p:extLst>
      <p:ext uri="{BB962C8B-B14F-4D97-AF65-F5344CB8AC3E}">
        <p14:creationId xmlns:p14="http://schemas.microsoft.com/office/powerpoint/2010/main" val="31262638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1F19D-19B6-7744-9C42-BDAC2021D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Graphite Texture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451AF7-8C65-DD46-B1DB-55FD522BD2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7094484" cy="4157663"/>
          </a:xfrm>
        </p:spPr>
        <p:txBody>
          <a:bodyPr/>
          <a:lstStyle/>
          <a:p>
            <a:r>
              <a:rPr lang="en-US" sz="2200" dirty="0"/>
              <a:t>Graphite structure is largely dependent upon the manufacturing process</a:t>
            </a:r>
          </a:p>
          <a:p>
            <a:r>
              <a:rPr lang="en-US" sz="2200" dirty="0" err="1"/>
              <a:t>Graphites</a:t>
            </a:r>
            <a:r>
              <a:rPr lang="en-US" sz="2200" dirty="0"/>
              <a:t> are classified according to their grain size from coarse-grained (containing grains in the starting mix that are generally &gt;4mm) to microfine-grained (containing grains in the starting mix that are generally &lt;2 mm)</a:t>
            </a:r>
          </a:p>
          <a:p>
            <a:r>
              <a:rPr lang="en-US" sz="2200" dirty="0"/>
              <a:t>Grade AGOT was used as the moderator in the earliest nuclear reactors in the United States</a:t>
            </a:r>
          </a:p>
          <a:p>
            <a:r>
              <a:rPr lang="en-US" sz="2200" dirty="0"/>
              <a:t>2020 graphite was a candidate for the core support structure of the modular high temperature gas-cooled reactor in the United States</a:t>
            </a:r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690538-41FF-A748-9613-BBEE5DA63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33</a:t>
            </a:fld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99E0CF4-DCD0-1149-AD05-42B84F81EBD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865693" y="1882872"/>
            <a:ext cx="3254922" cy="244352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8CAB3F4-03BB-A44F-A13B-55FC2BE272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712" y="4240766"/>
            <a:ext cx="3174903" cy="2419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39494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2A544-A911-7943-A1A8-5BE3556A0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 Porosity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28ED25-72FA-FF4F-9C5F-F9B973B711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8" y="1968503"/>
            <a:ext cx="7220609" cy="4157663"/>
          </a:xfrm>
        </p:spPr>
        <p:txBody>
          <a:bodyPr/>
          <a:lstStyle/>
          <a:p>
            <a:r>
              <a:rPr lang="en-US" sz="2200" dirty="0"/>
              <a:t>A dominant feature of graphite texture is the amount of porosity</a:t>
            </a:r>
          </a:p>
          <a:p>
            <a:r>
              <a:rPr lang="en-US" sz="2200" dirty="0"/>
              <a:t>About half the total porosity is open to the surface</a:t>
            </a:r>
          </a:p>
          <a:p>
            <a:r>
              <a:rPr lang="en-US" sz="2200" dirty="0"/>
              <a:t>The formation of pores and cracks in the graphite during manufacture adds to the texture arising from grain orientation and causes anisotropy in the graphite physical properties</a:t>
            </a:r>
          </a:p>
          <a:p>
            <a:r>
              <a:rPr lang="en-US" sz="2200" dirty="0"/>
              <a:t>Three origins of porosity:</a:t>
            </a:r>
          </a:p>
          <a:p>
            <a:pPr lvl="1"/>
            <a:r>
              <a:rPr lang="en-US" sz="2200" dirty="0"/>
              <a:t>Those formed by incomplete filling of voids</a:t>
            </a:r>
          </a:p>
          <a:p>
            <a:pPr lvl="1"/>
            <a:r>
              <a:rPr lang="en-US" sz="2200" dirty="0"/>
              <a:t>Gas entrapment during pyrolysis</a:t>
            </a:r>
          </a:p>
          <a:p>
            <a:pPr lvl="1"/>
            <a:r>
              <a:rPr lang="en-US" sz="2200" dirty="0"/>
              <a:t>Thermal cracks</a:t>
            </a:r>
          </a:p>
          <a:p>
            <a:pPr lvl="1"/>
            <a:endParaRPr lang="en-US" sz="2200" dirty="0"/>
          </a:p>
          <a:p>
            <a:pPr lvl="1"/>
            <a:endParaRPr lang="en-US" sz="2200" dirty="0"/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A62C58-CA4C-6942-BEFA-EDEA17FB97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34</a:t>
            </a:fld>
            <a:endParaRPr lang="en-US"/>
          </a:p>
        </p:txBody>
      </p:sp>
      <p:pic>
        <p:nvPicPr>
          <p:cNvPr id="6" name="Content Placeholder 8">
            <a:extLst>
              <a:ext uri="{FF2B5EF4-FFF2-40B4-BE49-F238E27FC236}">
                <a16:creationId xmlns:a16="http://schemas.microsoft.com/office/drawing/2014/main" id="{DF64485B-B771-4946-A0CB-7B9DFC21010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883986" y="2383634"/>
            <a:ext cx="4147074" cy="3113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632520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NCStateU-horizontal-left-log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87963</TotalTime>
  <Words>2335</Words>
  <Application>Microsoft Macintosh PowerPoint</Application>
  <PresentationFormat>Widescreen</PresentationFormat>
  <Paragraphs>222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Arial</vt:lpstr>
      <vt:lpstr>Calibri</vt:lpstr>
      <vt:lpstr>Calibri Light</vt:lpstr>
      <vt:lpstr>Helvetica</vt:lpstr>
      <vt:lpstr>Custom Design</vt:lpstr>
      <vt:lpstr>1_NCStateU-horizontal-left-logo</vt:lpstr>
      <vt:lpstr>NE 763: Advanced Reactor Materials</vt:lpstr>
      <vt:lpstr>Last Time</vt:lpstr>
      <vt:lpstr>Silicon Carbide</vt:lpstr>
      <vt:lpstr>Silicon Carbide (SiC)</vt:lpstr>
      <vt:lpstr>Silicon Carbide (SiC)</vt:lpstr>
      <vt:lpstr>Radiation Effects in SiC</vt:lpstr>
      <vt:lpstr>Radiation Effects in SiC</vt:lpstr>
      <vt:lpstr>Low T Radiation Effects in SiC</vt:lpstr>
      <vt:lpstr>Low-Med T Radiation Effects in SiC</vt:lpstr>
      <vt:lpstr>Saturation Swelling in SiC</vt:lpstr>
      <vt:lpstr>High T Radiation Effects in SiC</vt:lpstr>
      <vt:lpstr>High T Radiation Effects in SiC</vt:lpstr>
      <vt:lpstr>Irradiation-Induced Swelling in SiC</vt:lpstr>
      <vt:lpstr>Irradiation-Induced Swelling in SiC</vt:lpstr>
      <vt:lpstr>Irradiation-Induced Swelling in SiC</vt:lpstr>
      <vt:lpstr>Thermal Conductivity Degradation</vt:lpstr>
      <vt:lpstr>Thermal Conductivity Degradation</vt:lpstr>
      <vt:lpstr>Thermal Conductivity Degradation</vt:lpstr>
      <vt:lpstr>Thermal Conductivity Degradation</vt:lpstr>
      <vt:lpstr>Thermal Conductivity Degradation</vt:lpstr>
      <vt:lpstr>SiC Mechanical Properties</vt:lpstr>
      <vt:lpstr>SiC Creep</vt:lpstr>
      <vt:lpstr>SiC Corrosion</vt:lpstr>
      <vt:lpstr>SiC Corrosion</vt:lpstr>
      <vt:lpstr>SiC Corrosion</vt:lpstr>
      <vt:lpstr>SiC vs ZrC Corrosion</vt:lpstr>
      <vt:lpstr>Graphite</vt:lpstr>
      <vt:lpstr>Graphite Usage</vt:lpstr>
      <vt:lpstr>Delineate Types of Graphite</vt:lpstr>
      <vt:lpstr>Graphite Structure</vt:lpstr>
      <vt:lpstr>Fundamental Properties</vt:lpstr>
      <vt:lpstr>Mrozowski Cracks</vt:lpstr>
      <vt:lpstr>Graphite Texture</vt:lpstr>
      <vt:lpstr>Initial Porosity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Fuel Fabrication</dc:title>
  <dc:creator>Ben Beeler</dc:creator>
  <cp:lastModifiedBy>Benjamin Beeler</cp:lastModifiedBy>
  <cp:revision>185</cp:revision>
  <dcterms:created xsi:type="dcterms:W3CDTF">2019-12-09T16:44:02Z</dcterms:created>
  <dcterms:modified xsi:type="dcterms:W3CDTF">2025-08-21T19:09:30Z</dcterms:modified>
</cp:coreProperties>
</file>
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31"/>
  </p:notesMasterIdLst>
  <p:sldIdLst>
    <p:sldId id="257" r:id="rId2"/>
    <p:sldId id="407" r:id="rId3"/>
    <p:sldId id="409" r:id="rId4"/>
    <p:sldId id="413" r:id="rId5"/>
    <p:sldId id="410" r:id="rId6"/>
    <p:sldId id="418" r:id="rId7"/>
    <p:sldId id="411" r:id="rId8"/>
    <p:sldId id="422" r:id="rId9"/>
    <p:sldId id="423" r:id="rId10"/>
    <p:sldId id="424" r:id="rId11"/>
    <p:sldId id="416" r:id="rId12"/>
    <p:sldId id="425" r:id="rId13"/>
    <p:sldId id="436" r:id="rId14"/>
    <p:sldId id="437" r:id="rId15"/>
    <p:sldId id="426" r:id="rId16"/>
    <p:sldId id="412" r:id="rId17"/>
    <p:sldId id="417" r:id="rId18"/>
    <p:sldId id="427" r:id="rId19"/>
    <p:sldId id="428" r:id="rId20"/>
    <p:sldId id="430" r:id="rId21"/>
    <p:sldId id="431" r:id="rId22"/>
    <p:sldId id="432" r:id="rId23"/>
    <p:sldId id="429" r:id="rId24"/>
    <p:sldId id="434" r:id="rId25"/>
    <p:sldId id="433" r:id="rId26"/>
    <p:sldId id="438" r:id="rId27"/>
    <p:sldId id="439" r:id="rId28"/>
    <p:sldId id="440" r:id="rId29"/>
    <p:sldId id="441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834"/>
    <p:restoredTop sz="96654"/>
  </p:normalViewPr>
  <p:slideViewPr>
    <p:cSldViewPr snapToGrid="0" snapToObjects="1">
      <p:cViewPr varScale="1">
        <p:scale>
          <a:sx n="128" d="100"/>
          <a:sy n="128" d="100"/>
        </p:scale>
        <p:origin x="40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A94640-27A7-D142-A7F1-7A0567BBD3BE}" type="datetimeFigureOut">
              <a:rPr lang="en-US" smtClean="0"/>
              <a:t>10/30/25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856CFD3-D41E-7E4C-B770-A544F99535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7113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94AA4F1-E60E-ED49-8C20-82C5C22F290D}" type="datetime1">
              <a:rPr lang="en-US" smtClean="0"/>
              <a:t>10/30/25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E82176-A547-F94B-AC51-D6E9C882CB8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17641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968500"/>
            <a:ext cx="10972800" cy="4157664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BD2A092-D95B-2F45-9AE1-6EFCF7AE7B47}" type="datetime1">
              <a:rPr lang="en-US" smtClean="0"/>
              <a:t>10/30/25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C605-4958-CF43-AA48-80339EFDB0A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77942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1380751"/>
            <a:ext cx="10363200" cy="1362075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8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3B8BFC1-C5A3-FC42-B47E-2330D93F4E7B}" type="datetime1">
              <a:rPr lang="en-US" smtClean="0"/>
              <a:t>10/30/25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A6BD0F-ABBC-C14D-BC96-77BE126A748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261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5384800" cy="41576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968503"/>
            <a:ext cx="5384800" cy="41576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2582718-A77B-9048-9272-D0B6D7D4EB49}" type="datetime1">
              <a:rPr lang="en-US" smtClean="0"/>
              <a:t>10/30/25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C35E9FC-F6D5-0349-BBED-EA7D7A9BC49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55287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4" y="867339"/>
            <a:ext cx="10972800" cy="1068387"/>
          </a:xfrm>
        </p:spPr>
        <p:txBody>
          <a:bodyPr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1935726"/>
            <a:ext cx="5386917" cy="4190437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72" y="1935726"/>
            <a:ext cx="5389033" cy="4190437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EF29A29-DE41-AE44-84CD-E2DC9D0A4AEF}" type="datetime1">
              <a:rPr lang="en-US" smtClean="0"/>
              <a:t>10/30/25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5B94E0-5E06-6D42-A41D-50D581B4090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71870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88F258-9F55-9A4A-8F7B-E6D573AE7D17}" type="datetime1">
              <a:rPr lang="en-US" smtClean="0"/>
              <a:t>10/30/25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2AB7D4D-4E81-5B40-91F6-CF14C25F862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58221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90C9A10-6892-2C47-9186-E7C225E7EF67}" type="datetime1">
              <a:rPr lang="en-US" smtClean="0"/>
              <a:t>10/30/25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35B2FA7-4FDB-5643-811E-7991DEE50B0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3228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5" y="273049"/>
            <a:ext cx="4011084" cy="1162051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5" y="1435103"/>
            <a:ext cx="4011084" cy="46910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2B0F250-9D6A-4F4C-B5DC-E5BB3C55173B}" type="datetime1">
              <a:rPr lang="en-US" smtClean="0"/>
              <a:t>10/30/25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1DD8B14-AE1E-054C-8668-93D0F0400A1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03290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1"/>
            <a:ext cx="7315200" cy="566739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9"/>
            <a:ext cx="7315200" cy="8048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FAADB8-F38D-2C42-A4A0-2C734CD2343F}" type="datetime1">
              <a:rPr lang="en-US" smtClean="0"/>
              <a:t>10/30/25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EF0004-A563-C64B-9FAD-6198662E1BD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5912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2A76008-4EAC-D34C-B1EB-04DA1310F40F}" type="datetime1">
              <a:rPr lang="en-US" smtClean="0"/>
              <a:t>10/30/25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9610A8-B29A-B34A-A0B5-3DF26A2EB85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9576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0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0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929ADC1-8B12-034F-A960-24F99F4EC07D}" type="datetime1">
              <a:rPr lang="en-US" smtClean="0"/>
              <a:t>10/30/25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2D0221-73D0-6245-9CCD-73A1D8FCB5E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558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4" y="867339"/>
            <a:ext cx="10972800" cy="1068387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72" y="2174875"/>
            <a:ext cx="5389033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2C8D95E-0433-3E41-A2B7-DA6DB5BC1DF2}" type="datetime1">
              <a:rPr lang="en-US" smtClean="0"/>
              <a:t>10/30/25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5B94E0-5E06-6D42-A41D-50D581B4090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87152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4" y="867339"/>
            <a:ext cx="10972800" cy="1068387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72" y="2174875"/>
            <a:ext cx="5389033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7FBC4C2-9061-9449-A33A-8008D6913207}" type="datetime1">
              <a:rPr lang="en-US" smtClean="0"/>
              <a:t>10/30/25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5B94E0-5E06-6D42-A41D-50D581B4090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8407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4" y="867339"/>
            <a:ext cx="10972800" cy="1068387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72" y="2174875"/>
            <a:ext cx="5389033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DC22EC4-74A3-3A40-B4D1-8F81E951ED2E}" type="datetime1">
              <a:rPr lang="en-US" smtClean="0"/>
              <a:t>10/30/25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5B94E0-5E06-6D42-A41D-50D581B4090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067338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4" y="867339"/>
            <a:ext cx="10972800" cy="1068387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72" y="2174875"/>
            <a:ext cx="5389033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607C6E2-ADFA-A145-A1FC-BC1400347F7B}" type="datetime1">
              <a:rPr lang="en-US" smtClean="0"/>
              <a:t>10/30/25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5B94E0-5E06-6D42-A41D-50D581B4090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2395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900113"/>
            <a:ext cx="10972800" cy="1068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Headline Line One</a:t>
            </a:r>
            <a:br>
              <a:rPr lang="en-US" dirty="0"/>
            </a:br>
            <a:r>
              <a:rPr lang="en-US" dirty="0"/>
              <a:t>Headline Line Two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3022600"/>
            <a:ext cx="10972800" cy="3103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600" smtClean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29A14411-20DE-BF4C-B2EF-F03C6EB9FD11}" type="datetime1">
              <a:rPr lang="en-US" smtClean="0"/>
              <a:t>10/30/25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2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6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6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0EF7D53D-272A-624E-BE3D-99D13E2B4193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2202925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9379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65" r:id="rId15"/>
  </p:sldLayoutIdLst>
  <p:hf hdr="0" ftr="0" dt="0"/>
  <p:txStyles>
    <p:titleStyle>
      <a:lvl1pPr algn="ctr" defTabSz="609585" rtl="0" eaLnBrk="1" fontAlgn="base" hangingPunct="1">
        <a:spcBef>
          <a:spcPct val="0"/>
        </a:spcBef>
        <a:spcAft>
          <a:spcPct val="0"/>
        </a:spcAft>
        <a:defRPr sz="4267" b="1" kern="1200">
          <a:solidFill>
            <a:schemeClr val="tx1"/>
          </a:solidFill>
          <a:latin typeface="Arial"/>
          <a:ea typeface="ＭＳ Ｐゴシック" charset="0"/>
          <a:cs typeface="Arial"/>
        </a:defRPr>
      </a:lvl1pPr>
      <a:lvl2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2pPr>
      <a:lvl3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3pPr>
      <a:lvl4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4pPr>
      <a:lvl5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5pPr>
      <a:lvl6pPr marL="609585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6pPr>
      <a:lvl7pPr marL="1219170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7pPr>
      <a:lvl8pPr marL="1828754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8pPr>
      <a:lvl9pPr marL="2438339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9pPr>
    </p:titleStyle>
    <p:bodyStyle>
      <a:lvl1pPr marL="457189" indent="-457189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Arial"/>
          <a:ea typeface="ＭＳ Ｐゴシック" charset="0"/>
          <a:cs typeface="Arial"/>
        </a:defRPr>
      </a:lvl1pPr>
      <a:lvl2pPr marL="990575" indent="-380990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3200" kern="1200">
          <a:solidFill>
            <a:schemeClr val="tx1"/>
          </a:solidFill>
          <a:latin typeface="Arial"/>
          <a:ea typeface="ＭＳ Ｐゴシック" charset="0"/>
          <a:cs typeface="Arial"/>
        </a:defRPr>
      </a:lvl2pPr>
      <a:lvl3pPr marL="1523962" indent="-304792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Arial"/>
          <a:ea typeface="ＭＳ Ｐゴシック" charset="0"/>
          <a:cs typeface="Arial"/>
        </a:defRPr>
      </a:lvl3pPr>
      <a:lvl4pPr marL="2133547" indent="-304792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1867" kern="1200">
          <a:solidFill>
            <a:schemeClr val="tx1"/>
          </a:solidFill>
          <a:latin typeface="Arial"/>
          <a:ea typeface="ＭＳ Ｐゴシック" charset="0"/>
          <a:cs typeface="Arial"/>
        </a:defRPr>
      </a:lvl4pPr>
      <a:lvl5pPr marL="2743131" indent="-304792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1333" kern="1200">
          <a:solidFill>
            <a:schemeClr val="tx1"/>
          </a:solidFill>
          <a:latin typeface="Arial"/>
          <a:ea typeface="ＭＳ Ｐゴシック" charset="0"/>
          <a:cs typeface="Arial"/>
        </a:defRPr>
      </a:lvl5pPr>
      <a:lvl6pPr marL="335271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tiff"/><Relationship Id="rId2" Type="http://schemas.openxmlformats.org/officeDocument/2006/relationships/image" Target="../media/image20.tiff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B98C24-8575-8644-833E-593D27AC502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dirty="0"/>
              <a:t>NE 763: Advanced Reactor Materials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187F49-5DA5-4E46-B793-DAB018625C3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  <a:p>
            <a:r>
              <a:rPr lang="en-US" dirty="0"/>
              <a:t>Dr. Benjamin Beeler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9FB798-AA1F-5549-89F3-34904C58E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1E82176-A547-F94B-AC51-D6E9C882CB88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07828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947CF-EAEA-5F40-93E5-30922295C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Research reactors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A48F280-BD83-7F41-84F5-93857A3071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A6BD0F-ABBC-C14D-BC96-77BE126A748B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6636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43F8D7-C0C9-3B4B-8E0F-CC66DDAD73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Intermetallic Fuels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21D8A1-BB67-9D49-88D1-B7AA94FBD04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/>
              <a:t>Uranium intermetallic fuels such as U–Al, U–Si, and U–Mo are chiefly meant for research and test reactors in which neutron production, instead of power generation, is the main purpose</a:t>
            </a:r>
          </a:p>
          <a:p>
            <a:r>
              <a:rPr lang="en-US" sz="2200" dirty="0"/>
              <a:t>The operation temperatures of these fuels are lower than those UO2</a:t>
            </a:r>
          </a:p>
          <a:p>
            <a:r>
              <a:rPr lang="en-US" sz="2200" dirty="0"/>
              <a:t>In general, the U intermetallic fuels can achieve much higher fission densities than oxide fuels</a:t>
            </a:r>
          </a:p>
          <a:p>
            <a:endParaRPr lang="en-US" sz="2200" dirty="0"/>
          </a:p>
          <a:p>
            <a:endParaRPr lang="en-US" sz="22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DBFCA2-79B9-2D42-89D7-9D68B321FA9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200" dirty="0"/>
              <a:t>Currently available research reactor fuels are predominantly in a dispersion form that is composed of fuel particles dispersed in an inert matrix (often Al)</a:t>
            </a:r>
          </a:p>
          <a:p>
            <a:r>
              <a:rPr lang="en-US" sz="2200" dirty="0"/>
              <a:t>The fueled zone in a dispersion fuel plate, that is, the fuel particles–matrix mixture zone, is metallurgically bonded to the Al cladding</a:t>
            </a:r>
          </a:p>
          <a:p>
            <a:endParaRPr lang="en-US" sz="22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22539E-8737-C449-BC83-547408A91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B0E9569-868A-DF4B-AD64-32340D64E8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6931" y="5325594"/>
            <a:ext cx="5384800" cy="800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7622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246C8-F255-F04D-AB41-91EDEEE04E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Intermetallic Fuels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ADFC8F-EB4C-CD43-A04C-138C8DBCB1D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/>
              <a:t>U–Al, U–Si, and U–Mo fuels have been used in research reactors, with development from Al, to Si, to Mo driven by obtaining higher U densities</a:t>
            </a:r>
          </a:p>
          <a:p>
            <a:r>
              <a:rPr lang="en-US" sz="2200" dirty="0"/>
              <a:t>Uranium metal in unsuitable, so </a:t>
            </a:r>
            <a:r>
              <a:rPr lang="en-US" sz="2200" dirty="0" err="1"/>
              <a:t>intermetallics</a:t>
            </a:r>
            <a:r>
              <a:rPr lang="en-US" sz="2200" dirty="0"/>
              <a:t> we developed to stabilize irradiation behavior</a:t>
            </a:r>
          </a:p>
          <a:p>
            <a:r>
              <a:rPr lang="en-US" sz="2200" dirty="0"/>
              <a:t>The U-Al alloy was the first uranium intermetallic fuel chosen for research and test reactor purposes, largely because of compatibility with Al cladding</a:t>
            </a:r>
          </a:p>
          <a:p>
            <a:endParaRPr lang="en-US" sz="22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3312F51-3684-4A45-A7DC-5022FB73CEE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929226" y="1968500"/>
            <a:ext cx="3921548" cy="4157663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3656EB-89BD-1749-B6DA-E55FF038C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05078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621E7-3C36-2244-94B8-9947F6710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U-Al Alloys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A85F62-2648-4C49-AF4F-2D3DBF373C9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000" dirty="0"/>
              <a:t>U-Al was utilized as the fuel in the Materials Test Reactor (MTR; 1952-1970) and the Engineering Test Reactor (ETR: 1957-1981)</a:t>
            </a:r>
          </a:p>
          <a:p>
            <a:r>
              <a:rPr lang="en-US" sz="2000" dirty="0"/>
              <a:t>Fabrication of U–Al alloys with high uranium contents poses difficulties during the rolling process, and uranium inhomogeneity increases proportionally with uranium content</a:t>
            </a:r>
          </a:p>
          <a:p>
            <a:r>
              <a:rPr lang="en-US" sz="2000" dirty="0"/>
              <a:t>The application of monolithic U–Al alloy in higher power reactors was limited because of fabrication constraints and high fuel swelling</a:t>
            </a:r>
          </a:p>
          <a:p>
            <a:endParaRPr lang="en-US" sz="20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8B4A623-7465-A948-B90B-60BDB39C633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915716" y="2177620"/>
            <a:ext cx="3171894" cy="3358476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F98EB0-3D67-2E40-8D8A-05C871ECB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C06EAFB-C51F-D046-AF41-BC822CE953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3350" y="2578462"/>
            <a:ext cx="3168650" cy="2787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7652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A7BF0-1655-C246-9225-400CB5B76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U-Al Phases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8488B9-F120-654B-80E4-61073A33FF0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/>
              <a:t>There are three intermetallic compounds in the U–Al system: UAl2, UAl3, and UAl4</a:t>
            </a:r>
          </a:p>
          <a:p>
            <a:r>
              <a:rPr lang="en-US" sz="2200" dirty="0"/>
              <a:t>UAl2 forms directly from the liquid, but UAl3 and UAl4 form by peritectoid reactions with aluminum</a:t>
            </a:r>
          </a:p>
          <a:p>
            <a:r>
              <a:rPr lang="en-US" sz="2200" dirty="0"/>
              <a:t>UAl2 is </a:t>
            </a:r>
            <a:r>
              <a:rPr lang="en-US" sz="2200" dirty="0" err="1"/>
              <a:t>fcc</a:t>
            </a:r>
            <a:r>
              <a:rPr lang="en-US" sz="2200" dirty="0"/>
              <a:t>, UAl3 is L1</a:t>
            </a:r>
            <a:r>
              <a:rPr lang="en-US" sz="2200" baseline="-25000" dirty="0"/>
              <a:t>2</a:t>
            </a:r>
            <a:r>
              <a:rPr lang="en-US" sz="2200" dirty="0"/>
              <a:t> type, UAl4 is </a:t>
            </a:r>
            <a:r>
              <a:rPr lang="en-US" sz="2200" dirty="0" err="1"/>
              <a:t>bco</a:t>
            </a:r>
            <a:endParaRPr lang="en-US" sz="2200" dirty="0"/>
          </a:p>
          <a:p>
            <a:r>
              <a:rPr lang="en-US" sz="2200" dirty="0"/>
              <a:t>Densities range from 6.6 g/cc to 4.2 g/cc with decreasing U loading</a:t>
            </a:r>
          </a:p>
          <a:p>
            <a:r>
              <a:rPr lang="en-US" sz="2200" dirty="0"/>
              <a:t>Thermal conductivity of dispersion fuels is largely governed by the matrix </a:t>
            </a:r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6D2D3DD1-CF00-9740-AA37-379F3D4633F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392531" y="1026498"/>
            <a:ext cx="3885506" cy="386300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8353D2-AB97-8C46-904E-EA3DE5695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9D36B5F-63B6-7AE7-35A6-A4F3AB3070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7220" y="5001876"/>
            <a:ext cx="5636128" cy="1068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41809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0C1B20-2B3E-D344-9CBF-AF5605204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U-Al Alloys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4775E9-D133-D942-8A5F-D6E9308D7E9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/>
              <a:t>The fuel form of U–Al alloy with a U density high enough to satisfy the need for high-power rectors is a mixture of UAl2, UAl3, and UAl4, known as </a:t>
            </a:r>
            <a:r>
              <a:rPr lang="en-US" sz="2200" dirty="0" err="1"/>
              <a:t>UAlx</a:t>
            </a:r>
            <a:endParaRPr lang="en-US" sz="2200" dirty="0"/>
          </a:p>
          <a:p>
            <a:r>
              <a:rPr lang="en-US" sz="2200" dirty="0" err="1"/>
              <a:t>UAlx</a:t>
            </a:r>
            <a:r>
              <a:rPr lang="en-US" sz="2200" dirty="0"/>
              <a:t> has positive features that enable its superior performance in high-power reactors</a:t>
            </a:r>
          </a:p>
          <a:p>
            <a:r>
              <a:rPr lang="en-US" sz="2200" dirty="0"/>
              <a:t>Fuel swelling can be reduced by accommodating fission product swelling in the powder dispersions, which include pores left during fabrication</a:t>
            </a:r>
          </a:p>
          <a:p>
            <a:endParaRPr lang="en-US" sz="22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7F2635-CBBF-1A4B-8507-53069883955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200" dirty="0" err="1"/>
              <a:t>UAlx</a:t>
            </a:r>
            <a:r>
              <a:rPr lang="en-US" sz="2200" dirty="0"/>
              <a:t> also has exceptional resistance to fission gas bubble formation</a:t>
            </a:r>
          </a:p>
          <a:p>
            <a:r>
              <a:rPr lang="en-US" sz="2200" dirty="0"/>
              <a:t>In addition, fabrication with a uniform distribution of burnable absorbers is possible</a:t>
            </a:r>
          </a:p>
          <a:p>
            <a:r>
              <a:rPr lang="en-US" sz="2200" dirty="0"/>
              <a:t>Typical powder lots used in the ATR contained phase fractions of 7.6 wt% UAl2, 78.6 wt% UAl3, and 13.8wt% UAl4</a:t>
            </a:r>
          </a:p>
          <a:p>
            <a:r>
              <a:rPr lang="en-US" sz="2200" dirty="0"/>
              <a:t>These phase fractions can be modified based upon the fabrication process</a:t>
            </a:r>
          </a:p>
          <a:p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3AD7F4-FE47-CF4F-8560-695EB50CD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28626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D19A9-A96E-3C48-9350-5117CDEA2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Fuel Swelling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9F1D95-6640-F24B-B0FA-9A4D80CFA4F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/>
              <a:t>Fuel swelling by fission products is divided into two distinct parts: solid and gaseous</a:t>
            </a:r>
          </a:p>
          <a:p>
            <a:r>
              <a:rPr lang="en-US" sz="2200" dirty="0"/>
              <a:t>Solid FP swelling is due to the difference between the volume of a uranium atom and solid fission products</a:t>
            </a:r>
          </a:p>
          <a:p>
            <a:r>
              <a:rPr lang="en-US" sz="2200" dirty="0"/>
              <a:t>Most fission gas atoms remain in the fuel, with solid FP swelling proportional only to burnup; independent of fabrication method, fuel type, temperature, etc.</a:t>
            </a:r>
          </a:p>
          <a:p>
            <a:endParaRPr lang="en-US" sz="22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D4E63D-4F01-3F4C-804F-2A11CBB2D01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200" dirty="0"/>
              <a:t>Thus, solid swelling is applicable across other intermetallic fuels, with derivations from U-Zr being modified for </a:t>
            </a:r>
            <a:r>
              <a:rPr lang="en-US" sz="2200" dirty="0" err="1"/>
              <a:t>UAl</a:t>
            </a:r>
            <a:r>
              <a:rPr lang="en-US" sz="2200" dirty="0"/>
              <a:t>, </a:t>
            </a:r>
            <a:r>
              <a:rPr lang="en-US" sz="2200" dirty="0" err="1"/>
              <a:t>USi</a:t>
            </a:r>
            <a:r>
              <a:rPr lang="en-US" sz="2200" dirty="0"/>
              <a:t>, and UMo fuels</a:t>
            </a:r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  <a:p>
            <a:r>
              <a:rPr lang="en-US" sz="2200" dirty="0"/>
              <a:t>The solid FP swelling for UMo is given by the above equation, where </a:t>
            </a:r>
            <a:r>
              <a:rPr lang="en-US" sz="2200" dirty="0" err="1"/>
              <a:t>fd</a:t>
            </a:r>
            <a:r>
              <a:rPr lang="en-US" sz="2200" dirty="0"/>
              <a:t> is fission density in 10</a:t>
            </a:r>
            <a:r>
              <a:rPr lang="en-US" sz="2200" baseline="30000" dirty="0"/>
              <a:t>27</a:t>
            </a:r>
            <a:r>
              <a:rPr lang="en-US" sz="2200" dirty="0"/>
              <a:t> fissions/m</a:t>
            </a:r>
            <a:r>
              <a:rPr lang="en-US" sz="2200" baseline="30000" dirty="0"/>
              <a:t>3</a:t>
            </a:r>
          </a:p>
          <a:p>
            <a:r>
              <a:rPr lang="en-US" sz="2200" dirty="0"/>
              <a:t>50% burnup is approximately 4x10</a:t>
            </a:r>
            <a:r>
              <a:rPr lang="en-US" sz="2200" baseline="30000" dirty="0"/>
              <a:t>27</a:t>
            </a:r>
            <a:r>
              <a:rPr lang="en-US" sz="2200" dirty="0"/>
              <a:t> f/m</a:t>
            </a:r>
            <a:r>
              <a:rPr lang="en-US" sz="2200" baseline="30000" dirty="0"/>
              <a:t>3</a:t>
            </a:r>
          </a:p>
          <a:p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E594DA-D3DD-8843-A187-5EDC3CB9E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BA2E240-62B1-0246-9E4F-E520353221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0055" y="3647284"/>
            <a:ext cx="1676400" cy="80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9976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BCC9B-BF9E-DC4F-A9DD-276358D70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Fuel Swelling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7FAB42-63FB-0A41-912B-82C59BB89D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5588000" cy="4157663"/>
          </a:xfrm>
        </p:spPr>
        <p:txBody>
          <a:bodyPr/>
          <a:lstStyle/>
          <a:p>
            <a:r>
              <a:rPr lang="en-US" sz="2200" dirty="0"/>
              <a:t>Gaseous FP swelling is due to the formation of fission gas bubbles and is more difficult to quantify</a:t>
            </a:r>
          </a:p>
          <a:p>
            <a:r>
              <a:rPr lang="en-US" sz="2200" dirty="0"/>
              <a:t>Historical examinations on </a:t>
            </a:r>
            <a:r>
              <a:rPr lang="en-US" sz="2200" dirty="0" err="1"/>
              <a:t>UAlx</a:t>
            </a:r>
            <a:r>
              <a:rPr lang="en-US" sz="2200" dirty="0"/>
              <a:t> fuels showed no large fission gas bubbles in the fuel</a:t>
            </a:r>
          </a:p>
          <a:p>
            <a:r>
              <a:rPr lang="en-US" sz="2200" dirty="0"/>
              <a:t>Thus, fission gas bubbles were sufficiently small to be beyond the scope of 1980s era SEM</a:t>
            </a:r>
          </a:p>
          <a:p>
            <a:r>
              <a:rPr lang="en-US" sz="2200" dirty="0"/>
              <a:t>However, oxide inclusions showed large fission gas bubbles</a:t>
            </a:r>
          </a:p>
          <a:p>
            <a:r>
              <a:rPr lang="en-US" sz="2200" dirty="0"/>
              <a:t>Oxides are present due to fabrication</a:t>
            </a:r>
          </a:p>
          <a:p>
            <a:endParaRPr lang="en-US" sz="2200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DFC6FD5-6ADD-A640-91BF-6C817A5392F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514193" y="1968500"/>
            <a:ext cx="4751614" cy="415766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02DA5E-C6D5-C34D-8BD8-96A549A66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2697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BCC9B-BF9E-DC4F-A9DD-276358D70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Fuel Swelling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7FAB42-63FB-0A41-912B-82C59BB89D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5588000" cy="4157663"/>
          </a:xfrm>
        </p:spPr>
        <p:txBody>
          <a:bodyPr/>
          <a:lstStyle/>
          <a:p>
            <a:r>
              <a:rPr lang="en-US" sz="2200" dirty="0"/>
              <a:t>It is unclear whether the oxide clusters acted as reservoirs absorbing fission gas, or whether </a:t>
            </a:r>
            <a:r>
              <a:rPr lang="en-US" sz="2200" dirty="0" err="1"/>
              <a:t>UAlx</a:t>
            </a:r>
            <a:r>
              <a:rPr lang="en-US" sz="2200" dirty="0"/>
              <a:t> helps retard bubble formation</a:t>
            </a:r>
          </a:p>
          <a:p>
            <a:r>
              <a:rPr lang="en-US" sz="2200" dirty="0"/>
              <a:t>It is possible that nanoscale bubbles are forming, but are undetectable via SEM (I would argue this is necessary)</a:t>
            </a:r>
          </a:p>
          <a:p>
            <a:r>
              <a:rPr lang="en-US" sz="2200" dirty="0"/>
              <a:t>The gas bubble swelling rate is estimated by subtraction of solid fission product swelling from the total swelling of the plate</a:t>
            </a:r>
          </a:p>
          <a:p>
            <a:endParaRPr lang="en-US" sz="2200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DFC6FD5-6ADD-A640-91BF-6C817A5392F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514193" y="1968500"/>
            <a:ext cx="4751614" cy="415766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02DA5E-C6D5-C34D-8BD8-96A549A66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49752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5EF13-7EA2-1B4F-99D1-328CE8869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Amorphization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BCF4EC-DBCB-104B-A0FE-979B86B9AE9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/>
              <a:t>The performance of all U intermetallic fuels is closely related to whether they are crystalline or amorphous during irradiation</a:t>
            </a:r>
          </a:p>
          <a:p>
            <a:r>
              <a:rPr lang="en-US" sz="2200" dirty="0"/>
              <a:t>The U intermetallic fuels tend to be amorphized by damage in the crystal structure caused by highly energetic fission fragments and low temperatures inhibiting recombination</a:t>
            </a:r>
          </a:p>
          <a:p>
            <a:r>
              <a:rPr lang="en-US" sz="2200" dirty="0"/>
              <a:t>Amorphization of a crystalline material is accompanied by an increase in volume, which facilitates atomic mobility, enhancing diffusion</a:t>
            </a:r>
          </a:p>
          <a:p>
            <a:endParaRPr lang="en-US" sz="2200" dirty="0"/>
          </a:p>
          <a:p>
            <a:endParaRPr lang="en-US" sz="22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736B0C-A013-0140-A724-B425EEE22E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97600" y="1800224"/>
            <a:ext cx="5384800" cy="4157663"/>
          </a:xfrm>
        </p:spPr>
        <p:txBody>
          <a:bodyPr/>
          <a:lstStyle/>
          <a:p>
            <a:r>
              <a:rPr lang="en-US" sz="2200" dirty="0"/>
              <a:t>Fission gas mobility is also high in amorphous materials and the fuel material is more readily deformed by the growing gas bubbles</a:t>
            </a:r>
          </a:p>
          <a:p>
            <a:r>
              <a:rPr lang="en-US" sz="2200" dirty="0"/>
              <a:t>Thus, fission gas bubble growth in an amorphous material is faster</a:t>
            </a:r>
          </a:p>
          <a:p>
            <a:r>
              <a:rPr lang="en-US" sz="2200" dirty="0"/>
              <a:t>The three U–Al </a:t>
            </a:r>
            <a:r>
              <a:rPr lang="en-US" sz="2200" dirty="0" err="1"/>
              <a:t>intermetallics</a:t>
            </a:r>
            <a:r>
              <a:rPr lang="en-US" sz="2200" dirty="0"/>
              <a:t> undergo amorphization depending on the fission rate and temperature</a:t>
            </a:r>
          </a:p>
          <a:p>
            <a:r>
              <a:rPr lang="en-US" sz="2200" dirty="0"/>
              <a:t>The lower the irradiation temperature and the higher the fission rate, the more readily the fuel becomes amorphous</a:t>
            </a:r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67CECD-3D96-3744-9262-B89592A9D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44114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2B9F41-A238-3F49-9E97-EA2733F4E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UAl</a:t>
            </a:r>
            <a:r>
              <a:rPr lang="en-US" dirty="0"/>
              <a:t>-Al Interaction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A8B24D-DE2A-0E42-B147-26CED8A6E7E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 err="1"/>
              <a:t>UAlx</a:t>
            </a:r>
            <a:r>
              <a:rPr lang="en-US" sz="2200" dirty="0"/>
              <a:t> and Al react during irradiation even at low temperatures due to irradiation-enhanced interdiffusion</a:t>
            </a:r>
          </a:p>
          <a:p>
            <a:r>
              <a:rPr lang="en-US" sz="2200" dirty="0"/>
              <a:t>UAl2 and UAl3 react with matrix Al to generate UAl4, and since there are no higher content compounds, UAl4 stays stable with Al</a:t>
            </a:r>
          </a:p>
          <a:p>
            <a:r>
              <a:rPr lang="en-US" sz="2200" dirty="0"/>
              <a:t>In the image, A is UAl2, B is UAl3, C is UAl4, and D is U oxide</a:t>
            </a:r>
          </a:p>
          <a:p>
            <a:r>
              <a:rPr lang="en-US" sz="2200" dirty="0"/>
              <a:t>Measured reaction data of </a:t>
            </a:r>
            <a:r>
              <a:rPr lang="en-US" sz="2200" dirty="0" err="1"/>
              <a:t>UAlx</a:t>
            </a:r>
            <a:r>
              <a:rPr lang="en-US" sz="2200" dirty="0"/>
              <a:t>–Al from in-pile tests are scarce</a:t>
            </a:r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BF432B1-962F-BE45-91EB-2E35FBD7815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879141" y="1968500"/>
            <a:ext cx="4021717" cy="415766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96DFE2-ABB1-8446-9632-6C26D6D56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28B9ECA-E32E-4DBA-6026-63C3CC9EAA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5017" y="954254"/>
            <a:ext cx="3106376" cy="2474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0210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3DEE8-182A-1643-890D-6B930F9F9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Fission Gas Bubbles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3B7B52-FB09-D80F-8485-8E5FB79AC26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/>
              <a:t>The fuel kernel and the interaction layers can both become amorphous</a:t>
            </a:r>
          </a:p>
          <a:p>
            <a:r>
              <a:rPr lang="en-US" sz="2200" dirty="0"/>
              <a:t>Even in the amorphous phases, no large fission gas bubbles have been observed</a:t>
            </a:r>
          </a:p>
          <a:p>
            <a:r>
              <a:rPr lang="en-US" sz="2200" dirty="0"/>
              <a:t>Relatively recent TEM work has showed that at 20% burnup, Xe is still in solid solution in the amorphized phases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AF404F-36D2-86F3-E48E-66E96BB3743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200" dirty="0"/>
              <a:t>Conversion of UAl2 to UAl3 and UAl4 results in a volume reduction of the fuel, which generates extra space for fission products to reside, increasing the effective solubility</a:t>
            </a:r>
          </a:p>
          <a:p>
            <a:r>
              <a:rPr lang="en-US" sz="2200" dirty="0"/>
              <a:t>The high resistance of </a:t>
            </a:r>
            <a:r>
              <a:rPr lang="en-US" sz="2200" dirty="0" err="1"/>
              <a:t>UAlx</a:t>
            </a:r>
            <a:r>
              <a:rPr lang="en-US" sz="2200" dirty="0"/>
              <a:t> to large fission gas bubble formation and a higher as-fabricated porosity lead to a lower overall  plate thickness increase in </a:t>
            </a:r>
            <a:r>
              <a:rPr lang="en-US" sz="2200" dirty="0" err="1"/>
              <a:t>UAlx</a:t>
            </a:r>
            <a:r>
              <a:rPr lang="en-US" sz="2200" dirty="0"/>
              <a:t>/Al compared to other fuel dispersion systems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BE3739-3B8D-FFBD-C713-70E8F9ED0C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8202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C19CA0-74F3-8327-6389-D34A0746A6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Off-normal behavior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56C8CF-31F6-D50E-DACF-A3BC7B9E5A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5992190" cy="4157663"/>
          </a:xfrm>
        </p:spPr>
        <p:txBody>
          <a:bodyPr/>
          <a:lstStyle/>
          <a:p>
            <a:r>
              <a:rPr lang="en-US" sz="2200" dirty="0"/>
              <a:t>Most common accident scenario is a channel blockage, resulting in loss of coolant flow</a:t>
            </a:r>
          </a:p>
          <a:p>
            <a:r>
              <a:rPr lang="en-US" sz="2200" dirty="0"/>
              <a:t>In the extreme, this can lead to fuel melting</a:t>
            </a:r>
          </a:p>
          <a:p>
            <a:r>
              <a:rPr lang="en-US" sz="2200" dirty="0"/>
              <a:t>Higher temperatures at a minimum will lead to bubble formation, coalescence, and swelling</a:t>
            </a:r>
          </a:p>
          <a:p>
            <a:r>
              <a:rPr lang="en-US" sz="2200" dirty="0"/>
              <a:t>Temperature increases can result in the blistering of the plates, a delamination of the cladding from the fuel, and potential burst of cladding and release of fission products</a:t>
            </a:r>
          </a:p>
          <a:p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9951A1-2C74-E119-DB9F-BBDA53F66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B63D236-456F-C233-D784-BA520F6E2A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5539" y="3854452"/>
            <a:ext cx="3810000" cy="25019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F1B6424-7DE1-3466-300C-233E8E93E0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1227" y="1534579"/>
            <a:ext cx="5384800" cy="41098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C665255-6427-44D8-967C-73E3FEA4C7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5417" y="2256534"/>
            <a:ext cx="4704522" cy="1172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03377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BE5530-71AA-924E-A3F4-3E4C128548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U-Al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A62B47-1A01-F544-899A-0E4E15A0911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 err="1"/>
              <a:t>UAlx</a:t>
            </a:r>
            <a:r>
              <a:rPr lang="en-US" sz="2200" dirty="0"/>
              <a:t> fuels are in dispersion form in an aluminum matrix</a:t>
            </a:r>
          </a:p>
          <a:p>
            <a:r>
              <a:rPr lang="en-US" sz="2200" dirty="0"/>
              <a:t>The three uranium aluminides undergo amorphization depending on the fission rate and temperature</a:t>
            </a:r>
          </a:p>
          <a:p>
            <a:r>
              <a:rPr lang="en-US" sz="2200" dirty="0"/>
              <a:t>UAl4 </a:t>
            </a:r>
            <a:r>
              <a:rPr lang="en-US" sz="2200" dirty="0" err="1"/>
              <a:t>amorphizes</a:t>
            </a:r>
            <a:r>
              <a:rPr lang="en-US" sz="2200" dirty="0"/>
              <a:t> most readily and UAl2 least readily</a:t>
            </a:r>
          </a:p>
          <a:p>
            <a:r>
              <a:rPr lang="en-US" sz="2200" dirty="0" err="1"/>
              <a:t>UAlx</a:t>
            </a:r>
            <a:r>
              <a:rPr lang="en-US" sz="2200" dirty="0"/>
              <a:t>–Al dispersions have lower fueled zone swelling than any other type fuel dispersions due to low fission gas bubble swelling</a:t>
            </a:r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4B4515-736D-5541-A546-C3DF1FDB1E1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200" dirty="0" err="1"/>
              <a:t>UAlx</a:t>
            </a:r>
            <a:r>
              <a:rPr lang="en-US" sz="2200" dirty="0"/>
              <a:t> fuels had limited utilization due to the requirement of very high U enrichment in relatively low U density alloys</a:t>
            </a:r>
          </a:p>
          <a:p>
            <a:r>
              <a:rPr lang="en-US" sz="2200" dirty="0"/>
              <a:t>Additionally, UAl2 is highly pyrophoric, leading to difficulties in fabrication, significantly increasing costs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D2F7DF-DFCE-784B-AF68-F999942529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74292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0DE3E-4658-E144-A16D-E99D1699A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RERTR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E0C4AB-CB2C-074B-8653-02829705D74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/>
              <a:t>The US DOE initiated the RERTR (Reduced Enrichment for Research and Test Reactor) program in 1978 to convert the world’s research and test reactors using high-enrichment uranium (HEU) to those using low-enrichment uranium (LEU)</a:t>
            </a:r>
          </a:p>
          <a:p>
            <a:r>
              <a:rPr lang="en-US" sz="2200" dirty="0"/>
              <a:t>An enrichment in 235U of 20 at.% is the threshold between HEU and LEU</a:t>
            </a:r>
          </a:p>
          <a:p>
            <a:r>
              <a:rPr lang="en-US" sz="2200" dirty="0"/>
              <a:t>Reactors were/are using mainly </a:t>
            </a:r>
            <a:r>
              <a:rPr lang="en-US" sz="2200" dirty="0" err="1"/>
              <a:t>UAlx</a:t>
            </a:r>
            <a:r>
              <a:rPr lang="en-US" sz="2200" dirty="0"/>
              <a:t> and U3O8 dispersion fuels</a:t>
            </a:r>
          </a:p>
          <a:p>
            <a:endParaRPr lang="en-US" sz="22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F3022C-C7CC-5849-9BFA-F8AD42CB29F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200" dirty="0"/>
              <a:t>To use a fuel with reduced enrichment while keeping the fuel phase volume the same in the fueled zone requires using a fuel with a higher uranium density to compensate for the reduced fissile fraction in LEU</a:t>
            </a:r>
          </a:p>
          <a:p>
            <a:r>
              <a:rPr lang="en-US" sz="2200" dirty="0"/>
              <a:t>The fuel form developed to accomplish this is U3Si2, which allows the highest possible uranium loading among the qualified fuel types</a:t>
            </a:r>
          </a:p>
          <a:p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DAC79C-6C88-774B-9B7C-90048843AC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17740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76F77-4FB6-2046-BF8D-A89488B48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U-Si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50F29C-0D6C-1F44-AA12-8A80620EBA8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/>
              <a:t>In the U–Si system, U3Si, U3Si2, and </a:t>
            </a:r>
            <a:r>
              <a:rPr lang="en-US" sz="2200" dirty="0" err="1"/>
              <a:t>USi</a:t>
            </a:r>
            <a:r>
              <a:rPr lang="en-US" sz="2200" dirty="0"/>
              <a:t> are the compounds of interest for candidate fuels chiefly because of their high uranium density: 15.3, 12.2, and 10.96 g/cc, respectively</a:t>
            </a:r>
          </a:p>
          <a:p>
            <a:r>
              <a:rPr lang="en-US" sz="2200" dirty="0"/>
              <a:t>U3Si2 and </a:t>
            </a:r>
            <a:r>
              <a:rPr lang="en-US" sz="2200" dirty="0" err="1"/>
              <a:t>USi</a:t>
            </a:r>
            <a:r>
              <a:rPr lang="en-US" sz="2200" dirty="0"/>
              <a:t> form directly from liquid, but U3Si forms only by a peritectoid reaction at 925C</a:t>
            </a:r>
          </a:p>
          <a:p>
            <a:r>
              <a:rPr lang="en-US" sz="2200" dirty="0"/>
              <a:t>U3Si and U3Si2 are of key interest, due to their higher U density</a:t>
            </a:r>
          </a:p>
          <a:p>
            <a:r>
              <a:rPr lang="en-US" sz="2200" dirty="0"/>
              <a:t>U3Si2 is also of some interest in commercial LWR application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610C221-5A39-3143-8A9D-10091DAB073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729646" y="1968500"/>
            <a:ext cx="4320708" cy="415766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9AFDB9-F106-BC47-9CEB-0AF4605F2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97268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99044-B5BD-CF4D-A8AC-E574D446B3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USi</a:t>
            </a:r>
            <a:r>
              <a:rPr lang="en-US" dirty="0"/>
              <a:t> Fabrication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A1FA3A-FD6B-1840-8485-2DB7EE01CA3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/>
              <a:t>In practice, it is almost impossible to fabricate the exact stoichiometric form of one of these U-Si compounds</a:t>
            </a:r>
          </a:p>
          <a:p>
            <a:r>
              <a:rPr lang="en-US" sz="2200" dirty="0"/>
              <a:t>Typically, a higher content of Si is required to suppress the formation of solid solution U, or Si-lean U-Si compounds</a:t>
            </a:r>
          </a:p>
          <a:p>
            <a:r>
              <a:rPr lang="en-US" sz="2200" dirty="0"/>
              <a:t>The secondary phases typically reside </a:t>
            </a:r>
            <a:r>
              <a:rPr lang="en-US" sz="2200" dirty="0" err="1"/>
              <a:t>inhomogeneously</a:t>
            </a:r>
            <a:r>
              <a:rPr lang="en-US" sz="2200" dirty="0"/>
              <a:t> in a fuel particle, which causes inhomogeneous size distributions of fission gas bubbles inside the fuel particles</a:t>
            </a:r>
          </a:p>
          <a:p>
            <a:endParaRPr lang="en-US" sz="2200" dirty="0"/>
          </a:p>
          <a:p>
            <a:endParaRPr lang="en-US" sz="22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576759-FFB4-9B4E-A4C0-37D9403BD36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200" dirty="0"/>
              <a:t>Alloy ingots of U–Si are made by mixing and melting of uranium and silicon with a desired Si/U ratio</a:t>
            </a:r>
          </a:p>
          <a:p>
            <a:r>
              <a:rPr lang="en-US" sz="2200" dirty="0"/>
              <a:t>The ingots are sometimes annealed in an inert atmosphere to complete compound formation</a:t>
            </a:r>
          </a:p>
          <a:p>
            <a:r>
              <a:rPr lang="en-US" sz="2200" dirty="0"/>
              <a:t>These ingots are then broken into smaller particles by a powder fabrication process</a:t>
            </a:r>
          </a:p>
          <a:p>
            <a:r>
              <a:rPr lang="en-US" sz="2200" dirty="0"/>
              <a:t>U3Si is more ductile than U3Si2, and requires significantly more work to break into small particles</a:t>
            </a:r>
          </a:p>
          <a:p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C2D05-61B9-FB44-8920-7E67E8FBE7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228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2C1417-C762-6B4B-B163-ECB93B5000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USi</a:t>
            </a:r>
            <a:r>
              <a:rPr lang="en-US" dirty="0"/>
              <a:t> Fabrication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934247-B759-3F44-BA28-6B08C2E683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5874327" cy="4157663"/>
          </a:xfrm>
        </p:spPr>
        <p:txBody>
          <a:bodyPr/>
          <a:lstStyle/>
          <a:p>
            <a:r>
              <a:rPr lang="en-US" sz="2200" dirty="0"/>
              <a:t>The fragmentation/comminution process results in jagged and irregular powders</a:t>
            </a:r>
          </a:p>
          <a:p>
            <a:r>
              <a:rPr lang="en-US" sz="2200" dirty="0"/>
              <a:t>An atomization technology widely used in powder metallurgy is applied to fabricate spherical powders of U3Si2 and U3Si, involving liquid fuel droplets and centrifugal force</a:t>
            </a:r>
          </a:p>
          <a:p>
            <a:r>
              <a:rPr lang="en-US" sz="2200" dirty="0"/>
              <a:t>Atomized powder has several advantages over comminuted powder: 1) surface-to-volume ratio is smaller, so reaction with matrix is less; 2) high homogeneity and fewer impurities; 3) lower residual stresses and defects</a:t>
            </a:r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A3183ED-889E-2842-81DF-190460EA30A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156161" y="1749883"/>
            <a:ext cx="3517600" cy="258998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475F2D-C404-A84C-957A-95BE4A08C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19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5799F11-8806-CC4A-B2B7-6AAC3A61C3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6302" y="4339867"/>
            <a:ext cx="3361460" cy="249657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8733E7E-5377-DC4E-8B00-F644F684D99C}"/>
              </a:ext>
            </a:extLst>
          </p:cNvPr>
          <p:cNvSpPr txBox="1"/>
          <p:nvPr/>
        </p:nvSpPr>
        <p:spPr>
          <a:xfrm>
            <a:off x="10587762" y="2675542"/>
            <a:ext cx="15066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Comminution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74D5AB-37ED-AE44-BF6F-76D775DAC885}"/>
              </a:ext>
            </a:extLst>
          </p:cNvPr>
          <p:cNvSpPr txBox="1"/>
          <p:nvPr/>
        </p:nvSpPr>
        <p:spPr>
          <a:xfrm>
            <a:off x="10587762" y="5142100"/>
            <a:ext cx="15066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Atomization</a:t>
            </a:r>
          </a:p>
        </p:txBody>
      </p:sp>
    </p:spTree>
    <p:extLst>
      <p:ext uri="{BB962C8B-B14F-4D97-AF65-F5344CB8AC3E}">
        <p14:creationId xmlns:p14="http://schemas.microsoft.com/office/powerpoint/2010/main" val="29368053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463345-7D04-EC40-AB62-54AD77DDA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USi</a:t>
            </a:r>
            <a:r>
              <a:rPr lang="en-US" dirty="0"/>
              <a:t> Fuel Swelling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6CEFD2-8E82-6F4D-978F-B7A54B8FF8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5691809" cy="4157663"/>
          </a:xfrm>
        </p:spPr>
        <p:txBody>
          <a:bodyPr/>
          <a:lstStyle/>
          <a:p>
            <a:r>
              <a:rPr lang="en-US" sz="2200" dirty="0"/>
              <a:t>Solid fission product swelling is treated as identical to that in </a:t>
            </a:r>
            <a:r>
              <a:rPr lang="en-US" sz="2200" dirty="0" err="1"/>
              <a:t>UAlx</a:t>
            </a:r>
            <a:r>
              <a:rPr lang="en-US" sz="2200" dirty="0"/>
              <a:t> fuels, but fission gas swelling is markedly different</a:t>
            </a:r>
          </a:p>
          <a:p>
            <a:r>
              <a:rPr lang="en-US" sz="2200" dirty="0"/>
              <a:t>Large swelling for U-Si phases, more so for U3Si</a:t>
            </a:r>
          </a:p>
          <a:p>
            <a:r>
              <a:rPr lang="en-US" sz="2200" dirty="0"/>
              <a:t>Fuel swelling kinetics of U–Si fuel particles is well documented in the literature</a:t>
            </a:r>
          </a:p>
          <a:p>
            <a:r>
              <a:rPr lang="en-US" sz="2200" dirty="0"/>
              <a:t>Again, gaseous swelling is estimated by subtracting solid FP swelling from the total swelling</a:t>
            </a:r>
          </a:p>
          <a:p>
            <a:endParaRPr lang="en-US" sz="2200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2475D520-2431-1A45-862C-7EDCCD52D24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394450" y="2256631"/>
            <a:ext cx="4991100" cy="3581400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3DAA0E-0579-2E47-8671-0E6A6DF9E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96365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229E5-E632-A146-8140-A96933CA85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Amorphous Swelling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41DACD-6435-F342-B6F2-E6311A3B376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/>
              <a:t>U3Si and U3Si2 are known to become amorphous under irradiation at sufficiently low temperatures</a:t>
            </a:r>
          </a:p>
          <a:p>
            <a:r>
              <a:rPr lang="en-US" sz="2200" dirty="0"/>
              <a:t>The primary damage in the crystal is due to highly energetic fission fragments</a:t>
            </a:r>
          </a:p>
          <a:p>
            <a:r>
              <a:rPr lang="en-US" sz="2200" dirty="0"/>
              <a:t>In the amorphous fuel, fuel swelling depends on the viscosity of fuel</a:t>
            </a:r>
          </a:p>
          <a:p>
            <a:r>
              <a:rPr lang="en-US" sz="2200" dirty="0"/>
              <a:t>Fission gas mobility is also high in amorphous material and the fuel material is more readily deformed by the growing gas bubbles</a:t>
            </a:r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529E2FC2-1B3B-9C40-A150-ED5F880BA66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913418" y="2134754"/>
            <a:ext cx="4180404" cy="3476336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464A74-FD70-794C-9312-A4051C3EB7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21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86F108-0C6D-8B43-8E4B-7727F00FC2F0}"/>
              </a:ext>
            </a:extLst>
          </p:cNvPr>
          <p:cNvSpPr txBox="1"/>
          <p:nvPr/>
        </p:nvSpPr>
        <p:spPr>
          <a:xfrm>
            <a:off x="7086600" y="5750650"/>
            <a:ext cx="40072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U3Si fission gas bubbles at 4.5E27 f/m3</a:t>
            </a:r>
          </a:p>
        </p:txBody>
      </p:sp>
    </p:spTree>
    <p:extLst>
      <p:ext uri="{BB962C8B-B14F-4D97-AF65-F5344CB8AC3E}">
        <p14:creationId xmlns:p14="http://schemas.microsoft.com/office/powerpoint/2010/main" val="17401862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55AB17-4777-1A4F-A464-CE2B14A55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USi</a:t>
            </a:r>
            <a:r>
              <a:rPr lang="en-US" dirty="0"/>
              <a:t> Swelling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CE31F2-9B0A-A448-9265-39C2455D1C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4"/>
            <a:ext cx="10820400" cy="1346198"/>
          </a:xfrm>
        </p:spPr>
        <p:txBody>
          <a:bodyPr/>
          <a:lstStyle/>
          <a:p>
            <a:r>
              <a:rPr lang="en-US" sz="2200" dirty="0"/>
              <a:t>Figures shows fuel microstructures and the fission gas bubble morphology of irradiated U3Si and U3Si2 at 100C to 15% and 19% burnup</a:t>
            </a:r>
          </a:p>
          <a:p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4D461D-0E94-2144-950C-E040728F3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8CBE50-22EA-8148-BB8A-31F26CDD489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8967"/>
          <a:stretch/>
        </p:blipFill>
        <p:spPr>
          <a:xfrm rot="5400000">
            <a:off x="2125815" y="3000121"/>
            <a:ext cx="3267077" cy="344538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56D9C00-A2C8-9349-8A19-D88E34DCCC3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8939"/>
          <a:stretch/>
        </p:blipFill>
        <p:spPr>
          <a:xfrm rot="5400000">
            <a:off x="6797654" y="2954217"/>
            <a:ext cx="3178178" cy="3537194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F405E906-D29E-8E48-B47A-77AD28BEC809}"/>
              </a:ext>
            </a:extLst>
          </p:cNvPr>
          <p:cNvSpPr/>
          <p:nvPr/>
        </p:nvSpPr>
        <p:spPr>
          <a:xfrm>
            <a:off x="3402450" y="6356352"/>
            <a:ext cx="60785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U3Si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05C08D3-F665-3E45-9633-79D1A46CA3E9}"/>
              </a:ext>
            </a:extLst>
          </p:cNvPr>
          <p:cNvSpPr/>
          <p:nvPr/>
        </p:nvSpPr>
        <p:spPr>
          <a:xfrm>
            <a:off x="8093584" y="6352145"/>
            <a:ext cx="72487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U3Si2</a:t>
            </a:r>
          </a:p>
        </p:txBody>
      </p:sp>
    </p:spTree>
    <p:extLst>
      <p:ext uri="{BB962C8B-B14F-4D97-AF65-F5344CB8AC3E}">
        <p14:creationId xmlns:p14="http://schemas.microsoft.com/office/powerpoint/2010/main" val="18486524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01EDA3-817B-374C-ADDF-FFBEC331BC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USi</a:t>
            </a:r>
            <a:r>
              <a:rPr lang="en-US" dirty="0"/>
              <a:t> Swelling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A31113-FD0D-084A-A56A-74CFB8C86B0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/>
              <a:t>Both U3Si and U3Si2 are amorphous during research reactor irradiation</a:t>
            </a:r>
          </a:p>
          <a:p>
            <a:r>
              <a:rPr lang="en-US" sz="2200" dirty="0"/>
              <a:t>Fission gas bubble growth in U3Si is high and unstable, while that of U3Si2 is generally lower and stable</a:t>
            </a:r>
          </a:p>
          <a:p>
            <a:r>
              <a:rPr lang="en-US" sz="2200" dirty="0"/>
              <a:t>An explanation is the correlation between free volume and viscosity, in that U3Si has larger free volume than U3Si2</a:t>
            </a:r>
          </a:p>
          <a:p>
            <a:r>
              <a:rPr lang="en-US" sz="2200" dirty="0"/>
              <a:t>Thus U3Si viscosity is relatively lower</a:t>
            </a:r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2FDB29-CCC3-D643-A2A4-580D56D7BF7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200" dirty="0"/>
              <a:t>The additional Si bonds in U3Si2 have a large effect on the amount of free volume in the glassy state, and therefore also on the fluidity of the fuel, and thus the swelling behavior</a:t>
            </a:r>
          </a:p>
          <a:p>
            <a:r>
              <a:rPr lang="en-US" sz="2200" dirty="0"/>
              <a:t>Amorphization is a prerequisite for this low-temperature high-swelling behavior</a:t>
            </a:r>
          </a:p>
          <a:p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2F6022-D91F-FC45-90C9-2C7FBE8A6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0576AFB-28A7-DC44-9DD3-944CA87277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9148" y="5598014"/>
            <a:ext cx="1930400" cy="7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09220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C8F0A7-EE54-A743-861F-948626E71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U3Si2 Swelling w/ temperature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98D07F-37E2-D345-8E25-2B5A34D5C95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/>
              <a:t>The bubble morphology from higher temperature tests is available</a:t>
            </a:r>
          </a:p>
          <a:p>
            <a:r>
              <a:rPr lang="en-US" sz="2200" dirty="0"/>
              <a:t>Bubble growth in U3Si2 can be enhanced to the level of U3Si if the temperature is increased by about 60C (albeit at higher burnups)</a:t>
            </a:r>
          </a:p>
          <a:p>
            <a:r>
              <a:rPr lang="en-US" sz="2200" dirty="0"/>
              <a:t>It appears that the low bubble growth advantage of U3Si2 provided by the high Si/U ratio is negated if the temperature is increased</a:t>
            </a:r>
          </a:p>
          <a:p>
            <a:endParaRPr lang="en-US" sz="2200" dirty="0"/>
          </a:p>
          <a:p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1F730A-668E-C04D-A1CA-DDFA8B10FE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1C02379-2DFA-F14D-866E-67AA317434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2227" y="1831977"/>
            <a:ext cx="2565450" cy="502602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E336DFED-3CD9-2C4D-A389-03ABDE1AFD36}"/>
              </a:ext>
            </a:extLst>
          </p:cNvPr>
          <p:cNvSpPr/>
          <p:nvPr/>
        </p:nvSpPr>
        <p:spPr>
          <a:xfrm>
            <a:off x="9417677" y="2715698"/>
            <a:ext cx="270796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latin typeface="Helvetica" pitchFamily="2" charset="0"/>
              </a:rPr>
              <a:t>T=105 C and FD=3.2E27 f/m3</a:t>
            </a:r>
            <a:endParaRPr lang="en-US" sz="1400" dirty="0">
              <a:effectLst/>
              <a:latin typeface="Helvetica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EFFF5F2-76D2-5D47-95DD-4037557B3A15}"/>
              </a:ext>
            </a:extLst>
          </p:cNvPr>
          <p:cNvSpPr/>
          <p:nvPr/>
        </p:nvSpPr>
        <p:spPr>
          <a:xfrm>
            <a:off x="9404977" y="4191099"/>
            <a:ext cx="270796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latin typeface="Helvetica" pitchFamily="2" charset="0"/>
              </a:rPr>
              <a:t>T=136 C and FD=5.4E27 f/m3</a:t>
            </a:r>
            <a:endParaRPr lang="en-US" sz="1400" dirty="0">
              <a:effectLst/>
              <a:latin typeface="Helvetica" pitchFamily="2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401F9B6-75A5-3B4F-990E-9518A6072DB2}"/>
              </a:ext>
            </a:extLst>
          </p:cNvPr>
          <p:cNvSpPr/>
          <p:nvPr/>
        </p:nvSpPr>
        <p:spPr>
          <a:xfrm>
            <a:off x="9417677" y="5736532"/>
            <a:ext cx="270796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latin typeface="Helvetica" pitchFamily="2" charset="0"/>
              </a:rPr>
              <a:t>T=160 C and FD=6.1E27 f/m3</a:t>
            </a:r>
            <a:endParaRPr lang="en-US" sz="1400" dirty="0"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40802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97D9B-4706-EF41-BDC8-24DBBF839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USi</a:t>
            </a:r>
            <a:r>
              <a:rPr lang="en-US" dirty="0"/>
              <a:t> interaction with 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162033-1416-A947-83F2-AC472609CEC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/>
              <a:t>U3Si, U3Si2, and </a:t>
            </a:r>
            <a:r>
              <a:rPr lang="en-US" sz="2200" dirty="0" err="1"/>
              <a:t>USi</a:t>
            </a:r>
            <a:r>
              <a:rPr lang="en-US" sz="2200" dirty="0"/>
              <a:t> react with Al to form a single intermetallic compound, U(</a:t>
            </a:r>
            <a:r>
              <a:rPr lang="en-US" sz="2200" dirty="0" err="1"/>
              <a:t>AlSi</a:t>
            </a:r>
            <a:r>
              <a:rPr lang="en-US" sz="2200" dirty="0"/>
              <a:t>)3</a:t>
            </a:r>
          </a:p>
          <a:p>
            <a:r>
              <a:rPr lang="en-US" sz="2200" dirty="0"/>
              <a:t>The solubility of Al in the </a:t>
            </a:r>
            <a:r>
              <a:rPr lang="en-US" sz="2200" dirty="0" err="1"/>
              <a:t>USi</a:t>
            </a:r>
            <a:r>
              <a:rPr lang="en-US" sz="2200" dirty="0"/>
              <a:t> phases is very low</a:t>
            </a:r>
          </a:p>
          <a:p>
            <a:r>
              <a:rPr lang="en-US" sz="2200" dirty="0"/>
              <a:t>U(</a:t>
            </a:r>
            <a:r>
              <a:rPr lang="en-US" sz="2200" dirty="0" err="1"/>
              <a:t>AlSi</a:t>
            </a:r>
            <a:r>
              <a:rPr lang="en-US" sz="2200" dirty="0"/>
              <a:t>)3 has a composition intermediate between UAl3 and USi3, both of which are mutually soluble</a:t>
            </a:r>
          </a:p>
          <a:p>
            <a:endParaRPr lang="en-US" sz="2200" dirty="0"/>
          </a:p>
          <a:p>
            <a:endParaRPr lang="en-US" sz="2200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877B193-5D23-A64E-92EE-3CB10D72976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97600" y="1996620"/>
            <a:ext cx="5384800" cy="4101422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5F8B3C-5C85-524F-82F8-DC06BF37D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657036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22382F-B420-834D-A847-4A9E1B601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USi</a:t>
            </a:r>
            <a:r>
              <a:rPr lang="en-US" dirty="0"/>
              <a:t> interaction with 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A41F64-B10D-9449-BB11-355A9CA1E60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/>
              <a:t>Interaction layer growth is an interdiffusion controlled process, and can be investigated in out-of-pile experiments</a:t>
            </a:r>
          </a:p>
          <a:p>
            <a:r>
              <a:rPr lang="en-US" sz="2200" dirty="0"/>
              <a:t>Out-of-pile tests are typically performed at high temperatures (600C) and have shown that interdiffusion is the rate-controlling process in IL growth of silicide–Al dispersion</a:t>
            </a:r>
          </a:p>
          <a:p>
            <a:endParaRPr lang="en-US" sz="22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6C4E2E-CB8A-3C42-8B69-34550E9A353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200" dirty="0"/>
              <a:t>Fuel temperatures of typical in-pile tests are much lower (&lt;200C) than the out-of-pile tests</a:t>
            </a:r>
          </a:p>
          <a:p>
            <a:r>
              <a:rPr lang="en-US" sz="2200" dirty="0"/>
              <a:t>Simple extrapolations to the low temperature regime of the IL growth correlations for out-of-pile tests yield orders of magnitude smaller IL thickness values than observed</a:t>
            </a:r>
          </a:p>
          <a:p>
            <a:r>
              <a:rPr lang="en-US" sz="2200" dirty="0"/>
              <a:t>This implies that thermally activated diffusion must be augmented by fission enhanced diffusion during irradiation</a:t>
            </a:r>
          </a:p>
          <a:p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79AF9E-0B5A-BD4E-9B35-400B9D72E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3760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5BFB8-86FA-0A43-9D6B-171DE6698C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USi</a:t>
            </a:r>
            <a:r>
              <a:rPr lang="en-US" dirty="0"/>
              <a:t> interaction with 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0CE3F2-BB97-C742-9706-8F24E44B204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200" dirty="0"/>
              <a:t>The compositions in the interaction layer deviate from the exact stoichiometry of U(</a:t>
            </a:r>
            <a:r>
              <a:rPr lang="en-US" sz="2200" dirty="0" err="1"/>
              <a:t>AlSi</a:t>
            </a:r>
            <a:r>
              <a:rPr lang="en-US" sz="2200" dirty="0"/>
              <a:t>)3</a:t>
            </a:r>
          </a:p>
          <a:p>
            <a:r>
              <a:rPr lang="en-US" sz="2200" dirty="0"/>
              <a:t>This indicates that the reaction products become amorphous during irradiation, which has been observed in in-pile tests</a:t>
            </a:r>
          </a:p>
          <a:p>
            <a:r>
              <a:rPr lang="en-US" sz="2200" dirty="0"/>
              <a:t>Since the IL is amorphous, U, Al, and Si atoms exist in a mixture without crystalline restriction of stoichiometry</a:t>
            </a:r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57BE99-8A5F-8D49-83E9-7E6FA239519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200" dirty="0"/>
              <a:t>The formation of gas bubbles in the ILs is important because of its potential effects on the IL growth rate</a:t>
            </a:r>
          </a:p>
          <a:p>
            <a:r>
              <a:rPr lang="en-US" sz="2200" dirty="0"/>
              <a:t>The gas bubbles in the IL reduce the effective diffusion area and thereby reduce the IL growth rate, limiting breakaway IL formation</a:t>
            </a:r>
          </a:p>
          <a:p>
            <a:endParaRPr lang="en-US" sz="2200" dirty="0"/>
          </a:p>
          <a:p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42584B-9F9C-804A-923B-983DE63A7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54802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51AAC-9D03-1247-8B04-8CDD64673F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00113"/>
            <a:ext cx="6622473" cy="1068387"/>
          </a:xfrm>
        </p:spPr>
        <p:txBody>
          <a:bodyPr/>
          <a:lstStyle/>
          <a:p>
            <a:pPr algn="l"/>
            <a:r>
              <a:rPr lang="en-US" sz="3600" dirty="0"/>
              <a:t>Micrographs of irradiated LEU U3Si–Al and U3Si2–Al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8C5A94-E77D-D242-8702-23F085DFB9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2067791"/>
            <a:ext cx="6238009" cy="4058375"/>
          </a:xfrm>
        </p:spPr>
        <p:txBody>
          <a:bodyPr/>
          <a:lstStyle/>
          <a:p>
            <a:r>
              <a:rPr lang="en-US" sz="2200" dirty="0"/>
              <a:t>The ILs of both fuels are generally uniform in thickness and free of visible fission gas bubbles</a:t>
            </a:r>
          </a:p>
          <a:p>
            <a:r>
              <a:rPr lang="en-US" sz="2200" dirty="0"/>
              <a:t>The gas bubbles in the unreacted fuel serve as a boundary between the unreacted fuel and the ILs</a:t>
            </a:r>
          </a:p>
          <a:p>
            <a:r>
              <a:rPr lang="en-US" sz="2200" dirty="0"/>
              <a:t>U3Si has dramatically higher swelling than U3Si2</a:t>
            </a:r>
          </a:p>
          <a:p>
            <a:r>
              <a:rPr lang="en-US" sz="2200" dirty="0"/>
              <a:t>Both samples have similar burnup and temperature</a:t>
            </a:r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896E84F-B862-5C46-985A-05DE37440BA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561118" y="1281478"/>
            <a:ext cx="3536373" cy="2652280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056F77-7906-D04E-923A-458E611F9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28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F6E058A-DE1A-AB45-9A60-CF0DF2B17D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1117" y="3933758"/>
            <a:ext cx="3536373" cy="269438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95B3E9-BC7A-E944-9D55-8CC72F2BB890}"/>
              </a:ext>
            </a:extLst>
          </p:cNvPr>
          <p:cNvSpPr/>
          <p:nvPr/>
        </p:nvSpPr>
        <p:spPr>
          <a:xfrm>
            <a:off x="11097490" y="2537795"/>
            <a:ext cx="9621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U3Si–Al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E95AEE8-480D-AF4F-A038-BBC9F4CA8C61}"/>
              </a:ext>
            </a:extLst>
          </p:cNvPr>
          <p:cNvSpPr/>
          <p:nvPr/>
        </p:nvSpPr>
        <p:spPr>
          <a:xfrm>
            <a:off x="11033370" y="4911616"/>
            <a:ext cx="102624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U3Si2–Al</a:t>
            </a:r>
          </a:p>
        </p:txBody>
      </p:sp>
    </p:spTree>
    <p:extLst>
      <p:ext uri="{BB962C8B-B14F-4D97-AF65-F5344CB8AC3E}">
        <p14:creationId xmlns:p14="http://schemas.microsoft.com/office/powerpoint/2010/main" val="6745240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51AAC-9D03-1247-8B04-8CDD64673F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900113"/>
            <a:ext cx="6622473" cy="1068387"/>
          </a:xfrm>
        </p:spPr>
        <p:txBody>
          <a:bodyPr/>
          <a:lstStyle/>
          <a:p>
            <a:pPr algn="l"/>
            <a:r>
              <a:rPr lang="en-US" sz="3600" dirty="0"/>
              <a:t>Micrographs of irradiated HEU U3Si–Al and U3Si2–Al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8C5A94-E77D-D242-8702-23F085DFB9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2067791"/>
            <a:ext cx="6238009" cy="4058375"/>
          </a:xfrm>
        </p:spPr>
        <p:txBody>
          <a:bodyPr/>
          <a:lstStyle/>
          <a:p>
            <a:r>
              <a:rPr lang="en-US" sz="2200" dirty="0"/>
              <a:t>Gas bubbles are found in ILs of high-burnup HEU </a:t>
            </a:r>
            <a:r>
              <a:rPr lang="en-US" sz="2200" dirty="0" err="1"/>
              <a:t>USi</a:t>
            </a:r>
            <a:r>
              <a:rPr lang="en-US" sz="2200" dirty="0"/>
              <a:t> fuels</a:t>
            </a:r>
          </a:p>
          <a:p>
            <a:r>
              <a:rPr lang="en-US" sz="2200" dirty="0"/>
              <a:t>These images are from ultra high burnup samples, ~4.5X the previous slide</a:t>
            </a:r>
          </a:p>
          <a:p>
            <a:r>
              <a:rPr lang="en-US" sz="2200" dirty="0"/>
              <a:t>Thus, likely the formation of fission gas bubbles in the IL is dependent upon fission density</a:t>
            </a:r>
          </a:p>
          <a:p>
            <a:r>
              <a:rPr lang="en-US" sz="2200" dirty="0"/>
              <a:t>Bubbles in the IL of U3Si2 appear later than in U3Si</a:t>
            </a:r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056F77-7906-D04E-923A-458E611F9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29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F95B3E9-BC7A-E944-9D55-8CC72F2BB890}"/>
              </a:ext>
            </a:extLst>
          </p:cNvPr>
          <p:cNvSpPr/>
          <p:nvPr/>
        </p:nvSpPr>
        <p:spPr>
          <a:xfrm>
            <a:off x="11097490" y="2537795"/>
            <a:ext cx="9621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U3Si–Al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E95AEE8-480D-AF4F-A038-BBC9F4CA8C61}"/>
              </a:ext>
            </a:extLst>
          </p:cNvPr>
          <p:cNvSpPr/>
          <p:nvPr/>
        </p:nvSpPr>
        <p:spPr>
          <a:xfrm>
            <a:off x="11033370" y="4911616"/>
            <a:ext cx="102624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U3Si2–Al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1300CF0-8C2E-7048-BE95-C4AFDECE2E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4260" y="900113"/>
            <a:ext cx="3904976" cy="285242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D0369E9-3F06-D84D-8496-F56B81E9D7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3851" y="3783307"/>
            <a:ext cx="3797589" cy="2995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9956796"/>
      </p:ext>
    </p:extLst>
  </p:cSld>
  <p:clrMapOvr>
    <a:masterClrMapping/>
  </p:clrMapOvr>
</p:sld>
</file>

<file path=ppt/theme/theme1.xml><?xml version="1.0" encoding="utf-8"?>
<a:theme xmlns:a="http://schemas.openxmlformats.org/drawingml/2006/main" name="2_NCStateU-horizontal-left-log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3738</TotalTime>
  <Words>2445</Words>
  <Application>Microsoft Macintosh PowerPoint</Application>
  <PresentationFormat>Widescreen</PresentationFormat>
  <Paragraphs>210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Arial</vt:lpstr>
      <vt:lpstr>Calibri</vt:lpstr>
      <vt:lpstr>Helvetica</vt:lpstr>
      <vt:lpstr>2_NCStateU-horizontal-left-logo</vt:lpstr>
      <vt:lpstr>NE 763: Advanced Reactor Materials</vt:lpstr>
      <vt:lpstr>Research reactors</vt:lpstr>
      <vt:lpstr>Intermetallic Fuels</vt:lpstr>
      <vt:lpstr>Intermetallic Fuels</vt:lpstr>
      <vt:lpstr>U-Al Alloys</vt:lpstr>
      <vt:lpstr>U-Al Phases</vt:lpstr>
      <vt:lpstr>U-Al Alloys</vt:lpstr>
      <vt:lpstr>Fuel Swelling</vt:lpstr>
      <vt:lpstr>Fuel Swelling</vt:lpstr>
      <vt:lpstr>Fuel Swelling</vt:lpstr>
      <vt:lpstr>Amorphization</vt:lpstr>
      <vt:lpstr>UAl-Al Interaction</vt:lpstr>
      <vt:lpstr>Fission Gas Bubbles</vt:lpstr>
      <vt:lpstr>Off-normal behavior</vt:lpstr>
      <vt:lpstr>U-Al Summary</vt:lpstr>
      <vt:lpstr>RERTR</vt:lpstr>
      <vt:lpstr>U-Si</vt:lpstr>
      <vt:lpstr>USi Fabrication</vt:lpstr>
      <vt:lpstr>USi Fabrication</vt:lpstr>
      <vt:lpstr>USi Fuel Swelling</vt:lpstr>
      <vt:lpstr>Amorphous Swelling</vt:lpstr>
      <vt:lpstr>USi Swelling</vt:lpstr>
      <vt:lpstr>USi Swelling</vt:lpstr>
      <vt:lpstr>U3Si2 Swelling w/ temperature</vt:lpstr>
      <vt:lpstr>USi interaction with Al</vt:lpstr>
      <vt:lpstr>USi interaction with Al</vt:lpstr>
      <vt:lpstr>USi interaction with Al</vt:lpstr>
      <vt:lpstr>Micrographs of irradiated LEU U3Si–Al and U3Si2–Al</vt:lpstr>
      <vt:lpstr>Micrographs of irradiated HEU U3Si–Al and U3Si2–Al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 591: Advanced Reactor Materials</dc:title>
  <dc:creator>Benjamin W. Beeler</dc:creator>
  <cp:lastModifiedBy>Benjamin Beeler</cp:lastModifiedBy>
  <cp:revision>29</cp:revision>
  <dcterms:created xsi:type="dcterms:W3CDTF">2021-06-30T18:29:00Z</dcterms:created>
  <dcterms:modified xsi:type="dcterms:W3CDTF">2025-10-30T19:14:06Z</dcterms:modified>
</cp:coreProperties>
</file>
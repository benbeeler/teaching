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tiff" ContentType="image/tif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 id="2147483684" r:id="rId2"/>
  </p:sldMasterIdLst>
  <p:notesMasterIdLst>
    <p:notesMasterId r:id="rId61"/>
  </p:notesMasterIdLst>
  <p:sldIdLst>
    <p:sldId id="256" r:id="rId3"/>
    <p:sldId id="506" r:id="rId4"/>
    <p:sldId id="528" r:id="rId5"/>
    <p:sldId id="509" r:id="rId6"/>
    <p:sldId id="494" r:id="rId7"/>
    <p:sldId id="466" r:id="rId8"/>
    <p:sldId id="472" r:id="rId9"/>
    <p:sldId id="468" r:id="rId10"/>
    <p:sldId id="474" r:id="rId11"/>
    <p:sldId id="475" r:id="rId12"/>
    <p:sldId id="481" r:id="rId13"/>
    <p:sldId id="476" r:id="rId14"/>
    <p:sldId id="477" r:id="rId15"/>
    <p:sldId id="479" r:id="rId16"/>
    <p:sldId id="478" r:id="rId17"/>
    <p:sldId id="483" r:id="rId18"/>
    <p:sldId id="484" r:id="rId19"/>
    <p:sldId id="486" r:id="rId20"/>
    <p:sldId id="487" r:id="rId21"/>
    <p:sldId id="488" r:id="rId22"/>
    <p:sldId id="489" r:id="rId23"/>
    <p:sldId id="490" r:id="rId24"/>
    <p:sldId id="491" r:id="rId25"/>
    <p:sldId id="492" r:id="rId26"/>
    <p:sldId id="525" r:id="rId27"/>
    <p:sldId id="526" r:id="rId28"/>
    <p:sldId id="493" r:id="rId29"/>
    <p:sldId id="495" r:id="rId30"/>
    <p:sldId id="496" r:id="rId31"/>
    <p:sldId id="497" r:id="rId32"/>
    <p:sldId id="498" r:id="rId33"/>
    <p:sldId id="499" r:id="rId34"/>
    <p:sldId id="500" r:id="rId35"/>
    <p:sldId id="501" r:id="rId36"/>
    <p:sldId id="502" r:id="rId37"/>
    <p:sldId id="505" r:id="rId38"/>
    <p:sldId id="434" r:id="rId39"/>
    <p:sldId id="443" r:id="rId40"/>
    <p:sldId id="444" r:id="rId41"/>
    <p:sldId id="433" r:id="rId42"/>
    <p:sldId id="510" r:id="rId43"/>
    <p:sldId id="511" r:id="rId44"/>
    <p:sldId id="508" r:id="rId45"/>
    <p:sldId id="512" r:id="rId46"/>
    <p:sldId id="436" r:id="rId47"/>
    <p:sldId id="513" r:id="rId48"/>
    <p:sldId id="514" r:id="rId49"/>
    <p:sldId id="515" r:id="rId50"/>
    <p:sldId id="516" r:id="rId51"/>
    <p:sldId id="517" r:id="rId52"/>
    <p:sldId id="518" r:id="rId53"/>
    <p:sldId id="519" r:id="rId54"/>
    <p:sldId id="520" r:id="rId55"/>
    <p:sldId id="521" r:id="rId56"/>
    <p:sldId id="522" r:id="rId57"/>
    <p:sldId id="523" r:id="rId58"/>
    <p:sldId id="524" r:id="rId59"/>
    <p:sldId id="395" r:id="rId6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930"/>
    <p:restoredTop sz="94694"/>
  </p:normalViewPr>
  <p:slideViewPr>
    <p:cSldViewPr snapToGrid="0" snapToObjects="1">
      <p:cViewPr varScale="1">
        <p:scale>
          <a:sx n="121" d="100"/>
          <a:sy n="121" d="100"/>
        </p:scale>
        <p:origin x="272"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slide" Target="slides/slide53.xml"/><Relationship Id="rId63" Type="http://schemas.openxmlformats.org/officeDocument/2006/relationships/viewProps" Target="view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5" Type="http://schemas.openxmlformats.org/officeDocument/2006/relationships/slide" Target="slides/slide3.xml"/><Relationship Id="rId61" Type="http://schemas.openxmlformats.org/officeDocument/2006/relationships/notesMaster" Target="notesMasters/notesMaster1.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theme" Target="theme/theme1.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6516A0F-2645-F945-ADC5-B2CC11F8F912}" type="datetimeFigureOut">
              <a:rPr lang="en-US" smtClean="0"/>
              <a:t>9/11/25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59D32B1-08AD-0943-8C60-7CB4F1A83E64}" type="slidenum">
              <a:rPr lang="en-US" smtClean="0"/>
              <a:t>‹#›</a:t>
            </a:fld>
            <a:endParaRPr lang="en-US"/>
          </a:p>
        </p:txBody>
      </p:sp>
    </p:spTree>
    <p:extLst>
      <p:ext uri="{BB962C8B-B14F-4D97-AF65-F5344CB8AC3E}">
        <p14:creationId xmlns:p14="http://schemas.microsoft.com/office/powerpoint/2010/main" val="38365972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D32B1-08AD-0943-8C60-7CB4F1A83E64}" type="slidenum">
              <a:rPr lang="en-US" smtClean="0"/>
              <a:t>37</a:t>
            </a:fld>
            <a:endParaRPr lang="en-US"/>
          </a:p>
        </p:txBody>
      </p:sp>
    </p:spTree>
    <p:extLst>
      <p:ext uri="{BB962C8B-B14F-4D97-AF65-F5344CB8AC3E}">
        <p14:creationId xmlns:p14="http://schemas.microsoft.com/office/powerpoint/2010/main" val="180954210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D32B1-08AD-0943-8C60-7CB4F1A83E64}" type="slidenum">
              <a:rPr lang="en-US" smtClean="0"/>
              <a:t>38</a:t>
            </a:fld>
            <a:endParaRPr lang="en-US"/>
          </a:p>
        </p:txBody>
      </p:sp>
    </p:spTree>
    <p:extLst>
      <p:ext uri="{BB962C8B-B14F-4D97-AF65-F5344CB8AC3E}">
        <p14:creationId xmlns:p14="http://schemas.microsoft.com/office/powerpoint/2010/main" val="313639489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59D32B1-08AD-0943-8C60-7CB4F1A83E64}" type="slidenum">
              <a:rPr lang="en-US" smtClean="0"/>
              <a:t>39</a:t>
            </a:fld>
            <a:endParaRPr lang="en-US"/>
          </a:p>
        </p:txBody>
      </p:sp>
    </p:spTree>
    <p:extLst>
      <p:ext uri="{BB962C8B-B14F-4D97-AF65-F5344CB8AC3E}">
        <p14:creationId xmlns:p14="http://schemas.microsoft.com/office/powerpoint/2010/main" val="61357169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72802D-2D03-BE49-97AF-DE25499D6FB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A3C79BB-C53F-454F-8922-2B27391893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F274EF80-FE65-ED4F-9FE0-B09E92D1EA8A}"/>
              </a:ext>
            </a:extLst>
          </p:cNvPr>
          <p:cNvSpPr>
            <a:spLocks noGrp="1"/>
          </p:cNvSpPr>
          <p:nvPr>
            <p:ph type="dt" sz="half" idx="10"/>
          </p:nvPr>
        </p:nvSpPr>
        <p:spPr/>
        <p:txBody>
          <a:bodyPr/>
          <a:lstStyle/>
          <a:p>
            <a:fld id="{6008B229-1626-F140-A5AB-667E95C72CE6}" type="datetime1">
              <a:rPr lang="en-US" smtClean="0"/>
              <a:t>9/11/25</a:t>
            </a:fld>
            <a:endParaRPr lang="en-US"/>
          </a:p>
        </p:txBody>
      </p:sp>
      <p:sp>
        <p:nvSpPr>
          <p:cNvPr id="5" name="Footer Placeholder 4">
            <a:extLst>
              <a:ext uri="{FF2B5EF4-FFF2-40B4-BE49-F238E27FC236}">
                <a16:creationId xmlns:a16="http://schemas.microsoft.com/office/drawing/2014/main" id="{679F942A-634C-BB40-9910-CBFA440686A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9942F66-DE68-D245-97C8-9A6FA1D0AEF4}"/>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158650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C5C586-3F5F-8148-BB1F-499EF949B089}"/>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26E2D30-D2E4-C24D-96F5-10BF4E042259}"/>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1CC657D-8EE5-CB48-9FCB-F9F368C27214}"/>
              </a:ext>
            </a:extLst>
          </p:cNvPr>
          <p:cNvSpPr>
            <a:spLocks noGrp="1"/>
          </p:cNvSpPr>
          <p:nvPr>
            <p:ph type="dt" sz="half" idx="10"/>
          </p:nvPr>
        </p:nvSpPr>
        <p:spPr/>
        <p:txBody>
          <a:bodyPr/>
          <a:lstStyle/>
          <a:p>
            <a:fld id="{054DD6E4-1949-3040-894C-35794FB3182E}" type="datetime1">
              <a:rPr lang="en-US" smtClean="0"/>
              <a:t>9/11/25</a:t>
            </a:fld>
            <a:endParaRPr lang="en-US"/>
          </a:p>
        </p:txBody>
      </p:sp>
      <p:sp>
        <p:nvSpPr>
          <p:cNvPr id="5" name="Footer Placeholder 4">
            <a:extLst>
              <a:ext uri="{FF2B5EF4-FFF2-40B4-BE49-F238E27FC236}">
                <a16:creationId xmlns:a16="http://schemas.microsoft.com/office/drawing/2014/main" id="{818A4680-2FCD-2C45-88DD-58DC3F0940E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F73DDA8-E64C-534E-9966-09CB65200A30}"/>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233647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A0776C-1D59-8049-88C7-A9CF31D468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A8B2CAF-2FC3-CE40-AFEE-BB0B1776B2B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0CE7856D-91AF-CD4F-BBB9-BB22C9E8644B}"/>
              </a:ext>
            </a:extLst>
          </p:cNvPr>
          <p:cNvSpPr>
            <a:spLocks noGrp="1"/>
          </p:cNvSpPr>
          <p:nvPr>
            <p:ph type="dt" sz="half" idx="10"/>
          </p:nvPr>
        </p:nvSpPr>
        <p:spPr/>
        <p:txBody>
          <a:bodyPr/>
          <a:lstStyle/>
          <a:p>
            <a:fld id="{C757C4BA-F6BD-9D46-BAF7-7A606C7B7108}" type="datetime1">
              <a:rPr lang="en-US" smtClean="0"/>
              <a:t>9/11/25</a:t>
            </a:fld>
            <a:endParaRPr lang="en-US"/>
          </a:p>
        </p:txBody>
      </p:sp>
      <p:sp>
        <p:nvSpPr>
          <p:cNvPr id="5" name="Footer Placeholder 4">
            <a:extLst>
              <a:ext uri="{FF2B5EF4-FFF2-40B4-BE49-F238E27FC236}">
                <a16:creationId xmlns:a16="http://schemas.microsoft.com/office/drawing/2014/main" id="{16CE3E7E-C490-8847-8BD6-E8FF927245C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8B10A-A8F3-4D47-8A42-C63FD91ED029}"/>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84371527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016C5A-058F-7443-BE51-F3484A7E13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56365D3-EC68-114D-9B11-DAB294D6F0D9}"/>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BAF729DA-5D8F-0D4A-9476-2A4B4565334D}"/>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8E80497-C1FE-D547-B571-D69E574199AB}"/>
              </a:ext>
            </a:extLst>
          </p:cNvPr>
          <p:cNvSpPr>
            <a:spLocks noGrp="1"/>
          </p:cNvSpPr>
          <p:nvPr>
            <p:ph type="dt" sz="half" idx="10"/>
          </p:nvPr>
        </p:nvSpPr>
        <p:spPr/>
        <p:txBody>
          <a:bodyPr/>
          <a:lstStyle/>
          <a:p>
            <a:fld id="{95FEEB89-C0FA-7B44-91C8-3A1F81281704}" type="datetime1">
              <a:rPr lang="en-US" smtClean="0"/>
              <a:t>9/11/25</a:t>
            </a:fld>
            <a:endParaRPr lang="en-US"/>
          </a:p>
        </p:txBody>
      </p:sp>
      <p:sp>
        <p:nvSpPr>
          <p:cNvPr id="6" name="Footer Placeholder 5">
            <a:extLst>
              <a:ext uri="{FF2B5EF4-FFF2-40B4-BE49-F238E27FC236}">
                <a16:creationId xmlns:a16="http://schemas.microsoft.com/office/drawing/2014/main" id="{8AC48521-7F13-C445-8751-4E87C9A27F1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CE37EE6-7CA7-0E41-9D14-89950249757E}"/>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572133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1FEF4-0D8E-DE46-AA71-05EE50ED029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FDD346F-A12C-C142-8A93-08AF8CD4FB6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43A45F87-A4D7-9343-A334-BB0CFE4C10AF}"/>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55EE44D-0A72-974F-A950-E6793FBEACE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63D733BD-E3C6-644A-BFEA-47849788004B}"/>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682D901-6AD6-4A49-BB2B-6B6114E8DD7A}"/>
              </a:ext>
            </a:extLst>
          </p:cNvPr>
          <p:cNvSpPr>
            <a:spLocks noGrp="1"/>
          </p:cNvSpPr>
          <p:nvPr>
            <p:ph type="dt" sz="half" idx="10"/>
          </p:nvPr>
        </p:nvSpPr>
        <p:spPr/>
        <p:txBody>
          <a:bodyPr/>
          <a:lstStyle/>
          <a:p>
            <a:fld id="{CF66CC17-747B-F748-A0C3-012987D5CF06}" type="datetime1">
              <a:rPr lang="en-US" smtClean="0"/>
              <a:t>9/11/25</a:t>
            </a:fld>
            <a:endParaRPr lang="en-US"/>
          </a:p>
        </p:txBody>
      </p:sp>
      <p:sp>
        <p:nvSpPr>
          <p:cNvPr id="8" name="Footer Placeholder 7">
            <a:extLst>
              <a:ext uri="{FF2B5EF4-FFF2-40B4-BE49-F238E27FC236}">
                <a16:creationId xmlns:a16="http://schemas.microsoft.com/office/drawing/2014/main" id="{1AE8327C-C108-2948-9F3B-C5B7A290D55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E1E731F0-A30E-CD44-8DE4-E483375638B1}"/>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6521827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7B4FD0-E6C0-4B4E-9F81-15DB20837727}"/>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913ED28-8A5F-F64A-8A93-8A03DD77CDF2}"/>
              </a:ext>
            </a:extLst>
          </p:cNvPr>
          <p:cNvSpPr>
            <a:spLocks noGrp="1"/>
          </p:cNvSpPr>
          <p:nvPr>
            <p:ph type="dt" sz="half" idx="10"/>
          </p:nvPr>
        </p:nvSpPr>
        <p:spPr/>
        <p:txBody>
          <a:bodyPr/>
          <a:lstStyle/>
          <a:p>
            <a:fld id="{69BCEF32-73C1-834F-B688-79D9DDD34705}" type="datetime1">
              <a:rPr lang="en-US" smtClean="0"/>
              <a:t>9/11/25</a:t>
            </a:fld>
            <a:endParaRPr lang="en-US"/>
          </a:p>
        </p:txBody>
      </p:sp>
      <p:sp>
        <p:nvSpPr>
          <p:cNvPr id="4" name="Footer Placeholder 3">
            <a:extLst>
              <a:ext uri="{FF2B5EF4-FFF2-40B4-BE49-F238E27FC236}">
                <a16:creationId xmlns:a16="http://schemas.microsoft.com/office/drawing/2014/main" id="{5AB56722-EB54-8141-9FFB-B883395CC89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82943BF-772C-0847-97EA-D301AA5778E5}"/>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3978163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5AB0981-B3E8-BA40-99FE-EA2C2AD9529B}"/>
              </a:ext>
            </a:extLst>
          </p:cNvPr>
          <p:cNvSpPr>
            <a:spLocks noGrp="1"/>
          </p:cNvSpPr>
          <p:nvPr>
            <p:ph type="dt" sz="half" idx="10"/>
          </p:nvPr>
        </p:nvSpPr>
        <p:spPr/>
        <p:txBody>
          <a:bodyPr/>
          <a:lstStyle/>
          <a:p>
            <a:fld id="{2E3B6507-7DFF-0847-9F5C-8F1A1EA2E5B9}" type="datetime1">
              <a:rPr lang="en-US" smtClean="0"/>
              <a:t>9/11/25</a:t>
            </a:fld>
            <a:endParaRPr lang="en-US"/>
          </a:p>
        </p:txBody>
      </p:sp>
      <p:sp>
        <p:nvSpPr>
          <p:cNvPr id="3" name="Footer Placeholder 2">
            <a:extLst>
              <a:ext uri="{FF2B5EF4-FFF2-40B4-BE49-F238E27FC236}">
                <a16:creationId xmlns:a16="http://schemas.microsoft.com/office/drawing/2014/main" id="{EE22584C-B9F3-5C46-B605-B2FB47395B5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BE55008-FE08-E24B-9B3C-0A16B2CEE7C2}"/>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39619832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47EC03-3651-D14B-AEAB-3A7133F5A90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5F6D8CA-8B8C-944F-8C90-AE9CC8AC0A2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354B7D9-B6E8-714F-A4A5-B28D20D3F8E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86B4357-3269-4248-AEAA-3609D1B55016}"/>
              </a:ext>
            </a:extLst>
          </p:cNvPr>
          <p:cNvSpPr>
            <a:spLocks noGrp="1"/>
          </p:cNvSpPr>
          <p:nvPr>
            <p:ph type="dt" sz="half" idx="10"/>
          </p:nvPr>
        </p:nvSpPr>
        <p:spPr/>
        <p:txBody>
          <a:bodyPr/>
          <a:lstStyle/>
          <a:p>
            <a:fld id="{2DB495FC-A020-2046-83B9-B5FB38D52B0B}" type="datetime1">
              <a:rPr lang="en-US" smtClean="0"/>
              <a:t>9/11/25</a:t>
            </a:fld>
            <a:endParaRPr lang="en-US"/>
          </a:p>
        </p:txBody>
      </p:sp>
      <p:sp>
        <p:nvSpPr>
          <p:cNvPr id="6" name="Footer Placeholder 5">
            <a:extLst>
              <a:ext uri="{FF2B5EF4-FFF2-40B4-BE49-F238E27FC236}">
                <a16:creationId xmlns:a16="http://schemas.microsoft.com/office/drawing/2014/main" id="{DC507DF4-EB73-9348-BA24-2E62ACB54FF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4BFC95E-AF76-2F40-8E6E-10EEB82B0CB8}"/>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956787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C06BE1-1070-164D-B226-7BEB3337B9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C9FE752A-35DB-4244-957A-47F0C249B8B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D5A8CC6-3E86-9E4C-B828-E55B4933B09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B05BC1C-7B9D-C646-8E67-4C98CDDA9FEA}"/>
              </a:ext>
            </a:extLst>
          </p:cNvPr>
          <p:cNvSpPr>
            <a:spLocks noGrp="1"/>
          </p:cNvSpPr>
          <p:nvPr>
            <p:ph type="dt" sz="half" idx="10"/>
          </p:nvPr>
        </p:nvSpPr>
        <p:spPr/>
        <p:txBody>
          <a:bodyPr/>
          <a:lstStyle/>
          <a:p>
            <a:fld id="{BD7A8680-6AE5-D949-9D95-115987696769}" type="datetime1">
              <a:rPr lang="en-US" smtClean="0"/>
              <a:t>9/11/25</a:t>
            </a:fld>
            <a:endParaRPr lang="en-US"/>
          </a:p>
        </p:txBody>
      </p:sp>
      <p:sp>
        <p:nvSpPr>
          <p:cNvPr id="6" name="Footer Placeholder 5">
            <a:extLst>
              <a:ext uri="{FF2B5EF4-FFF2-40B4-BE49-F238E27FC236}">
                <a16:creationId xmlns:a16="http://schemas.microsoft.com/office/drawing/2014/main" id="{4C79295E-F278-8441-AA89-1F2F8EB282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1BFDEB5-4B8E-1143-AC2B-DDB5F294146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29564458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CA86B8-FDC8-A24B-A420-9A35290385CE}"/>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21A81A36-D120-B846-BA83-5C4BFEA3627F}"/>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5F6F14-E9DD-E146-A94A-4A7CA228F3D7}"/>
              </a:ext>
            </a:extLst>
          </p:cNvPr>
          <p:cNvSpPr>
            <a:spLocks noGrp="1"/>
          </p:cNvSpPr>
          <p:nvPr>
            <p:ph type="dt" sz="half" idx="10"/>
          </p:nvPr>
        </p:nvSpPr>
        <p:spPr/>
        <p:txBody>
          <a:bodyPr/>
          <a:lstStyle/>
          <a:p>
            <a:fld id="{777BA9D7-BCB1-2C4D-8831-3E14AB2674F7}" type="datetime1">
              <a:rPr lang="en-US" smtClean="0"/>
              <a:t>9/11/25</a:t>
            </a:fld>
            <a:endParaRPr lang="en-US"/>
          </a:p>
        </p:txBody>
      </p:sp>
      <p:sp>
        <p:nvSpPr>
          <p:cNvPr id="5" name="Footer Placeholder 4">
            <a:extLst>
              <a:ext uri="{FF2B5EF4-FFF2-40B4-BE49-F238E27FC236}">
                <a16:creationId xmlns:a16="http://schemas.microsoft.com/office/drawing/2014/main" id="{FF470E94-9F94-1649-8FE1-5341BF855B0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81F5164-23F2-A840-AE31-9813D2137143}"/>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30203776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1027D83-6F99-5343-9159-1F2E060A4D1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6F7CEDD-89DF-CC43-9E60-8FC65D4CFA73}"/>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9BE88CF-EA17-6D4E-A676-D0DD2AEEE584}"/>
              </a:ext>
            </a:extLst>
          </p:cNvPr>
          <p:cNvSpPr>
            <a:spLocks noGrp="1"/>
          </p:cNvSpPr>
          <p:nvPr>
            <p:ph type="dt" sz="half" idx="10"/>
          </p:nvPr>
        </p:nvSpPr>
        <p:spPr/>
        <p:txBody>
          <a:bodyPr/>
          <a:lstStyle/>
          <a:p>
            <a:fld id="{C8CF900D-2ECF-E249-9251-2832B420FAEA}" type="datetime1">
              <a:rPr lang="en-US" smtClean="0"/>
              <a:t>9/11/25</a:t>
            </a:fld>
            <a:endParaRPr lang="en-US"/>
          </a:p>
        </p:txBody>
      </p:sp>
      <p:sp>
        <p:nvSpPr>
          <p:cNvPr id="5" name="Footer Placeholder 4">
            <a:extLst>
              <a:ext uri="{FF2B5EF4-FFF2-40B4-BE49-F238E27FC236}">
                <a16:creationId xmlns:a16="http://schemas.microsoft.com/office/drawing/2014/main" id="{BEC857EE-AA9E-7744-B121-837829395AE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805FA26-DD53-CA43-B54B-89E91BCDA11F}"/>
              </a:ext>
            </a:extLst>
          </p:cNvPr>
          <p:cNvSpPr>
            <a:spLocks noGrp="1"/>
          </p:cNvSpPr>
          <p:nvPr>
            <p:ph type="sldNum" sz="quarter" idx="12"/>
          </p:nvPr>
        </p:nvSpPr>
        <p:spPr/>
        <p:txBody>
          <a:bodyPr/>
          <a:lstStyle/>
          <a:p>
            <a:fld id="{E5424F7F-1103-A749-AA35-91DD36B89A7B}" type="slidenum">
              <a:rPr lang="en-US" smtClean="0"/>
              <a:t>‹#›</a:t>
            </a:fld>
            <a:endParaRPr lang="en-US"/>
          </a:p>
        </p:txBody>
      </p:sp>
    </p:spTree>
    <p:extLst>
      <p:ext uri="{BB962C8B-B14F-4D97-AF65-F5344CB8AC3E}">
        <p14:creationId xmlns:p14="http://schemas.microsoft.com/office/powerpoint/2010/main" val="187461886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a:t>Click to edit Master title style</a:t>
            </a:r>
            <a:endParaRPr lang="en-US" dirty="0"/>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609585" indent="0" algn="ctr">
              <a:buNone/>
              <a:defRPr>
                <a:solidFill>
                  <a:schemeClr val="tx1">
                    <a:tint val="75000"/>
                  </a:schemeClr>
                </a:solidFill>
              </a:defRPr>
            </a:lvl2pPr>
            <a:lvl3pPr marL="1219170" indent="0" algn="ctr">
              <a:buNone/>
              <a:defRPr>
                <a:solidFill>
                  <a:schemeClr val="tx1">
                    <a:tint val="75000"/>
                  </a:schemeClr>
                </a:solidFill>
              </a:defRPr>
            </a:lvl3pPr>
            <a:lvl4pPr marL="1828754" indent="0" algn="ctr">
              <a:buNone/>
              <a:defRPr>
                <a:solidFill>
                  <a:schemeClr val="tx1">
                    <a:tint val="75000"/>
                  </a:schemeClr>
                </a:solidFill>
              </a:defRPr>
            </a:lvl4pPr>
            <a:lvl5pPr marL="2438339" indent="0" algn="ctr">
              <a:buNone/>
              <a:defRPr>
                <a:solidFill>
                  <a:schemeClr val="tx1">
                    <a:tint val="75000"/>
                  </a:schemeClr>
                </a:solidFill>
              </a:defRPr>
            </a:lvl5pPr>
            <a:lvl6pPr marL="3047924" indent="0" algn="ctr">
              <a:buNone/>
              <a:defRPr>
                <a:solidFill>
                  <a:schemeClr val="tx1">
                    <a:tint val="75000"/>
                  </a:schemeClr>
                </a:solidFill>
              </a:defRPr>
            </a:lvl6pPr>
            <a:lvl7pPr marL="3657509" indent="0" algn="ctr">
              <a:buNone/>
              <a:defRPr>
                <a:solidFill>
                  <a:schemeClr val="tx1">
                    <a:tint val="75000"/>
                  </a:schemeClr>
                </a:solidFill>
              </a:defRPr>
            </a:lvl7pPr>
            <a:lvl8pPr marL="4267093" indent="0" algn="ctr">
              <a:buNone/>
              <a:defRPr>
                <a:solidFill>
                  <a:schemeClr val="tx1">
                    <a:tint val="75000"/>
                  </a:schemeClr>
                </a:solidFill>
              </a:defRPr>
            </a:lvl8pPr>
            <a:lvl9pPr marL="4876678"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defRPr/>
            </a:lvl1pPr>
          </a:lstStyle>
          <a:p>
            <a:pPr>
              <a:defRPr/>
            </a:pPr>
            <a:fld id="{30785609-E5CC-DE44-B37C-B4F30876FF32}"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1E82176-A547-F94B-AC51-D6E9C882CB88}" type="slidenum">
              <a:rPr lang="en-US"/>
              <a:pPr>
                <a:defRPr/>
              </a:pPr>
              <a:t>‹#›</a:t>
            </a:fld>
            <a:endParaRPr lang="en-US"/>
          </a:p>
        </p:txBody>
      </p:sp>
    </p:spTree>
    <p:extLst>
      <p:ext uri="{BB962C8B-B14F-4D97-AF65-F5344CB8AC3E}">
        <p14:creationId xmlns:p14="http://schemas.microsoft.com/office/powerpoint/2010/main" val="35790850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609600" y="2280746"/>
            <a:ext cx="10972800" cy="384541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lvl1pPr>
              <a:defRPr/>
            </a:lvl1pPr>
          </a:lstStyle>
          <a:p>
            <a:pPr>
              <a:defRPr/>
            </a:pPr>
            <a:fld id="{DD2F8954-4A2E-3243-B2DC-9CD5CB712752}"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3FF2C605-4958-CF43-AA48-80339EFDB0AF}" type="slidenum">
              <a:rPr lang="en-US"/>
              <a:pPr>
                <a:defRPr/>
              </a:pPr>
              <a:t>‹#›</a:t>
            </a:fld>
            <a:endParaRPr lang="en-US"/>
          </a:p>
        </p:txBody>
      </p:sp>
    </p:spTree>
    <p:extLst>
      <p:ext uri="{BB962C8B-B14F-4D97-AF65-F5344CB8AC3E}">
        <p14:creationId xmlns:p14="http://schemas.microsoft.com/office/powerpoint/2010/main" val="413319810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1380751"/>
            <a:ext cx="10363200" cy="1362075"/>
          </a:xfrm>
        </p:spPr>
        <p:txBody>
          <a:bodyPr anchor="t"/>
          <a:lstStyle>
            <a:lvl1pPr algn="l">
              <a:defRPr sz="5333" b="1" cap="all"/>
            </a:lvl1pPr>
          </a:lstStyle>
          <a:p>
            <a:r>
              <a:rPr lang="en-US"/>
              <a:t>Click to edit Master title style</a:t>
            </a:r>
            <a:endParaRPr lang="en-US" dirty="0"/>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667">
                <a:solidFill>
                  <a:schemeClr val="tx1">
                    <a:tint val="75000"/>
                  </a:schemeClr>
                </a:solidFill>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lvl1pPr>
              <a:defRPr/>
            </a:lvl1pPr>
          </a:lstStyle>
          <a:p>
            <a:pPr>
              <a:defRPr/>
            </a:pPr>
            <a:fld id="{2FD4575D-199B-0745-9376-4BA74FA8EFA7}"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0DA6BD0F-ABBC-C14D-BC96-77BE126A748B}" type="slidenum">
              <a:rPr lang="en-US"/>
              <a:pPr>
                <a:defRPr/>
              </a:pPr>
              <a:t>‹#›</a:t>
            </a:fld>
            <a:endParaRPr lang="en-US"/>
          </a:p>
        </p:txBody>
      </p:sp>
    </p:spTree>
    <p:extLst>
      <p:ext uri="{BB962C8B-B14F-4D97-AF65-F5344CB8AC3E}">
        <p14:creationId xmlns:p14="http://schemas.microsoft.com/office/powerpoint/2010/main" val="289589423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97600" y="1968503"/>
            <a:ext cx="5384800" cy="4157663"/>
          </a:xfrm>
        </p:spPr>
        <p:txBody>
          <a:bodyPr/>
          <a:lstStyle>
            <a:lvl1pPr>
              <a:defRPr sz="3733"/>
            </a:lvl1pPr>
            <a:lvl2pPr>
              <a:defRPr sz="3200"/>
            </a:lvl2pPr>
            <a:lvl3pPr>
              <a:defRPr sz="2667"/>
            </a:lvl3pPr>
            <a:lvl4pPr>
              <a:defRPr sz="2400"/>
            </a:lvl4pPr>
            <a:lvl5pPr>
              <a:defRPr sz="2400"/>
            </a:lvl5pPr>
            <a:lvl6pPr>
              <a:defRPr sz="2400"/>
            </a:lvl6pPr>
            <a:lvl7pPr>
              <a:defRPr sz="2400"/>
            </a:lvl7pPr>
            <a:lvl8pPr>
              <a:defRPr sz="2400"/>
            </a:lvl8pPr>
            <a:lvl9pPr>
              <a:defRPr sz="2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3"/>
          <p:cNvSpPr>
            <a:spLocks noGrp="1"/>
          </p:cNvSpPr>
          <p:nvPr>
            <p:ph type="dt" sz="half" idx="10"/>
          </p:nvPr>
        </p:nvSpPr>
        <p:spPr/>
        <p:txBody>
          <a:bodyPr/>
          <a:lstStyle>
            <a:lvl1pPr>
              <a:defRPr/>
            </a:lvl1pPr>
          </a:lstStyle>
          <a:p>
            <a:pPr>
              <a:defRPr/>
            </a:pPr>
            <a:fld id="{334EC5E2-8D01-2849-BCEF-95F1335AF02C}" type="datetime1">
              <a:rPr lang="en-US" smtClean="0"/>
              <a:t>9/11/25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EC35E9FC-F6D5-0349-BBED-EA7D7A9BC49B}" type="slidenum">
              <a:rPr lang="en-US"/>
              <a:pPr>
                <a:defRPr/>
              </a:pPr>
              <a:t>‹#›</a:t>
            </a:fld>
            <a:endParaRPr lang="en-US"/>
          </a:p>
        </p:txBody>
      </p:sp>
    </p:spTree>
    <p:extLst>
      <p:ext uri="{BB962C8B-B14F-4D97-AF65-F5344CB8AC3E}">
        <p14:creationId xmlns:p14="http://schemas.microsoft.com/office/powerpoint/2010/main" val="3281657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4" y="867339"/>
            <a:ext cx="10972800" cy="1068387"/>
          </a:xfrm>
        </p:spPr>
        <p:txBody>
          <a:bodyPr/>
          <a:lstStyle>
            <a:lvl1pPr>
              <a:defRPr/>
            </a:lvl1pPr>
          </a:lstStyle>
          <a:p>
            <a:r>
              <a:rPr lang="en-US"/>
              <a:t>Click to edit Master title style</a:t>
            </a:r>
            <a:endParaRPr lang="en-US" dirty="0"/>
          </a:p>
        </p:txBody>
      </p:sp>
      <p:sp>
        <p:nvSpPr>
          <p:cNvPr id="4" name="Content Placeholder 3"/>
          <p:cNvSpPr>
            <a:spLocks noGrp="1"/>
          </p:cNvSpPr>
          <p:nvPr>
            <p:ph sz="half" idx="2"/>
          </p:nvPr>
        </p:nvSpPr>
        <p:spPr>
          <a:xfrm>
            <a:off x="609600" y="2174875"/>
            <a:ext cx="5386917"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6193372" y="2174875"/>
            <a:ext cx="5389033" cy="3951288"/>
          </a:xfrm>
        </p:spPr>
        <p:txBody>
          <a:bodyPr/>
          <a:lstStyle>
            <a:lvl1pPr>
              <a:defRPr sz="3200"/>
            </a:lvl1pPr>
            <a:lvl2pPr>
              <a:defRPr sz="2667"/>
            </a:lvl2pPr>
            <a:lvl3pPr>
              <a:defRPr sz="2400"/>
            </a:lvl3pPr>
            <a:lvl4pPr>
              <a:defRPr sz="2133"/>
            </a:lvl4pPr>
            <a:lvl5pPr>
              <a:defRPr sz="2133"/>
            </a:lvl5pPr>
            <a:lvl6pPr>
              <a:defRPr sz="2133"/>
            </a:lvl6pPr>
            <a:lvl7pPr>
              <a:defRPr sz="2133"/>
            </a:lvl7pPr>
            <a:lvl8pPr>
              <a:defRPr sz="2133"/>
            </a:lvl8pPr>
            <a:lvl9pPr>
              <a:defRPr sz="2133"/>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lvl1pPr>
              <a:defRPr/>
            </a:lvl1pPr>
          </a:lstStyle>
          <a:p>
            <a:pPr>
              <a:defRPr/>
            </a:pPr>
            <a:fld id="{71BB4091-1279-5E46-833E-3B1192709521}" type="datetime1">
              <a:rPr lang="en-US" smtClean="0"/>
              <a:t>9/11/25</a:t>
            </a:fld>
            <a:endParaRPr lang="en-US"/>
          </a:p>
        </p:txBody>
      </p:sp>
      <p:sp>
        <p:nvSpPr>
          <p:cNvPr id="8" name="Footer Placeholder 4"/>
          <p:cNvSpPr>
            <a:spLocks noGrp="1"/>
          </p:cNvSpPr>
          <p:nvPr>
            <p:ph type="ftr" sz="quarter" idx="11"/>
          </p:nvPr>
        </p:nvSpPr>
        <p:spPr/>
        <p:txBody>
          <a:bodyPr/>
          <a:lstStyle>
            <a:lvl1pPr>
              <a:defRPr/>
            </a:lvl1pPr>
          </a:lstStyle>
          <a:p>
            <a:pPr>
              <a:defRPr/>
            </a:pPr>
            <a:endParaRPr lang="en-US"/>
          </a:p>
        </p:txBody>
      </p:sp>
      <p:sp>
        <p:nvSpPr>
          <p:cNvPr id="9" name="Slide Number Placeholder 5"/>
          <p:cNvSpPr>
            <a:spLocks noGrp="1"/>
          </p:cNvSpPr>
          <p:nvPr>
            <p:ph type="sldNum" sz="quarter" idx="12"/>
          </p:nvPr>
        </p:nvSpPr>
        <p:spPr/>
        <p:txBody>
          <a:bodyPr/>
          <a:lstStyle>
            <a:lvl1pPr>
              <a:defRPr/>
            </a:lvl1pPr>
          </a:lstStyle>
          <a:p>
            <a:pPr>
              <a:defRPr/>
            </a:pPr>
            <a:fld id="{BB5B94E0-5E06-6D42-A41D-50D581B40900}" type="slidenum">
              <a:rPr lang="en-US"/>
              <a:pPr>
                <a:defRPr/>
              </a:pPr>
              <a:t>‹#›</a:t>
            </a:fld>
            <a:endParaRPr lang="en-US"/>
          </a:p>
        </p:txBody>
      </p:sp>
    </p:spTree>
    <p:extLst>
      <p:ext uri="{BB962C8B-B14F-4D97-AF65-F5344CB8AC3E}">
        <p14:creationId xmlns:p14="http://schemas.microsoft.com/office/powerpoint/2010/main" val="130618392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pPr>
              <a:defRPr/>
            </a:pPr>
            <a:fld id="{98C5C5CE-9A98-3649-A752-35F044CBF5B8}" type="datetime1">
              <a:rPr lang="en-US" smtClean="0"/>
              <a:t>9/11/25</a:t>
            </a:fld>
            <a:endParaRPr lang="en-US"/>
          </a:p>
        </p:txBody>
      </p:sp>
      <p:sp>
        <p:nvSpPr>
          <p:cNvPr id="4" name="Footer Placeholder 4"/>
          <p:cNvSpPr>
            <a:spLocks noGrp="1"/>
          </p:cNvSpPr>
          <p:nvPr>
            <p:ph type="ftr" sz="quarter" idx="11"/>
          </p:nvPr>
        </p:nvSpPr>
        <p:spPr/>
        <p:txBody>
          <a:bodyPr/>
          <a:lstStyle>
            <a:lvl1pPr>
              <a:defRPr/>
            </a:lvl1pPr>
          </a:lstStyle>
          <a:p>
            <a:pPr>
              <a:defRPr/>
            </a:pPr>
            <a:endParaRPr lang="en-US"/>
          </a:p>
        </p:txBody>
      </p:sp>
      <p:sp>
        <p:nvSpPr>
          <p:cNvPr id="5" name="Slide Number Placeholder 5"/>
          <p:cNvSpPr>
            <a:spLocks noGrp="1"/>
          </p:cNvSpPr>
          <p:nvPr>
            <p:ph type="sldNum" sz="quarter" idx="12"/>
          </p:nvPr>
        </p:nvSpPr>
        <p:spPr/>
        <p:txBody>
          <a:bodyPr/>
          <a:lstStyle>
            <a:lvl1pPr>
              <a:defRPr/>
            </a:lvl1pPr>
          </a:lstStyle>
          <a:p>
            <a:pPr>
              <a:defRPr/>
            </a:pPr>
            <a:fld id="{C2AB7D4D-4E81-5B40-91F6-CF14C25F8623}" type="slidenum">
              <a:rPr lang="en-US"/>
              <a:pPr>
                <a:defRPr/>
              </a:pPr>
              <a:t>‹#›</a:t>
            </a:fld>
            <a:endParaRPr lang="en-US"/>
          </a:p>
        </p:txBody>
      </p:sp>
    </p:spTree>
    <p:extLst>
      <p:ext uri="{BB962C8B-B14F-4D97-AF65-F5344CB8AC3E}">
        <p14:creationId xmlns:p14="http://schemas.microsoft.com/office/powerpoint/2010/main" val="228382584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pPr>
              <a:defRPr/>
            </a:pPr>
            <a:fld id="{79324C5E-CE4C-B646-8BD9-2D7670818E7E}" type="datetime1">
              <a:rPr lang="en-US" smtClean="0"/>
              <a:t>9/11/25</a:t>
            </a:fld>
            <a:endParaRPr lang="en-US"/>
          </a:p>
        </p:txBody>
      </p:sp>
      <p:sp>
        <p:nvSpPr>
          <p:cNvPr id="3" name="Footer Placeholder 4"/>
          <p:cNvSpPr>
            <a:spLocks noGrp="1"/>
          </p:cNvSpPr>
          <p:nvPr>
            <p:ph type="ftr" sz="quarter" idx="11"/>
          </p:nvPr>
        </p:nvSpPr>
        <p:spPr/>
        <p:txBody>
          <a:bodyPr/>
          <a:lstStyle>
            <a:lvl1pPr>
              <a:defRPr/>
            </a:lvl1pPr>
          </a:lstStyle>
          <a:p>
            <a:pPr>
              <a:defRPr/>
            </a:pPr>
            <a:endParaRPr lang="en-US"/>
          </a:p>
        </p:txBody>
      </p:sp>
      <p:sp>
        <p:nvSpPr>
          <p:cNvPr id="4" name="Slide Number Placeholder 5"/>
          <p:cNvSpPr>
            <a:spLocks noGrp="1"/>
          </p:cNvSpPr>
          <p:nvPr>
            <p:ph type="sldNum" sz="quarter" idx="12"/>
          </p:nvPr>
        </p:nvSpPr>
        <p:spPr/>
        <p:txBody>
          <a:bodyPr/>
          <a:lstStyle>
            <a:lvl1pPr>
              <a:defRPr/>
            </a:lvl1pPr>
          </a:lstStyle>
          <a:p>
            <a:pPr>
              <a:defRPr/>
            </a:pPr>
            <a:fld id="{B35B2FA7-4FDB-5643-811E-7991DEE50B01}" type="slidenum">
              <a:rPr lang="en-US"/>
              <a:pPr>
                <a:defRPr/>
              </a:pPr>
              <a:t>‹#›</a:t>
            </a:fld>
            <a:endParaRPr lang="en-US"/>
          </a:p>
        </p:txBody>
      </p:sp>
    </p:spTree>
    <p:extLst>
      <p:ext uri="{BB962C8B-B14F-4D97-AF65-F5344CB8AC3E}">
        <p14:creationId xmlns:p14="http://schemas.microsoft.com/office/powerpoint/2010/main" val="78583194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5" y="273049"/>
            <a:ext cx="4011084" cy="1162051"/>
          </a:xfrm>
        </p:spPr>
        <p:txBody>
          <a:bodyPr anchor="b"/>
          <a:lstStyle>
            <a:lvl1pPr algn="l">
              <a:defRPr sz="2667" b="1"/>
            </a:lvl1pPr>
          </a:lstStyle>
          <a:p>
            <a:r>
              <a:rPr lang="en-US"/>
              <a:t>Click to edit Master title style</a:t>
            </a:r>
          </a:p>
        </p:txBody>
      </p:sp>
      <p:sp>
        <p:nvSpPr>
          <p:cNvPr id="3" name="Content Placeholder 2"/>
          <p:cNvSpPr>
            <a:spLocks noGrp="1"/>
          </p:cNvSpPr>
          <p:nvPr>
            <p:ph idx="1"/>
          </p:nvPr>
        </p:nvSpPr>
        <p:spPr>
          <a:xfrm>
            <a:off x="4766733" y="273053"/>
            <a:ext cx="6815667" cy="5853113"/>
          </a:xfrm>
        </p:spPr>
        <p:txBody>
          <a:bodyPr/>
          <a:lstStyle>
            <a:lvl1pPr>
              <a:defRPr sz="4267"/>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09605" y="1435103"/>
            <a:ext cx="4011084" cy="46910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03B3BC9F-3142-5445-97AB-BA4A48743DCA}" type="datetime1">
              <a:rPr lang="en-US" smtClean="0"/>
              <a:t>9/11/25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91DD8B14-AE1E-054C-8668-93D0F0400A18}" type="slidenum">
              <a:rPr lang="en-US"/>
              <a:pPr>
                <a:defRPr/>
              </a:pPr>
              <a:t>‹#›</a:t>
            </a:fld>
            <a:endParaRPr lang="en-US"/>
          </a:p>
        </p:txBody>
      </p:sp>
    </p:spTree>
    <p:extLst>
      <p:ext uri="{BB962C8B-B14F-4D97-AF65-F5344CB8AC3E}">
        <p14:creationId xmlns:p14="http://schemas.microsoft.com/office/powerpoint/2010/main" val="311528093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1"/>
            <a:ext cx="7315200" cy="566739"/>
          </a:xfrm>
        </p:spPr>
        <p:txBody>
          <a:bodyPr anchor="b"/>
          <a:lstStyle>
            <a:lvl1pPr algn="l">
              <a:defRPr sz="2667" b="1"/>
            </a:lvl1pPr>
          </a:lstStyle>
          <a:p>
            <a:r>
              <a:rPr lang="en-US"/>
              <a:t>Click to edit Master title style</a:t>
            </a:r>
            <a:endParaRPr lang="en-US" dirty="0"/>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4267"/>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pPr lvl="0"/>
            <a:r>
              <a:rPr lang="en-US" noProof="0"/>
              <a:t>Click icon to add picture</a:t>
            </a:r>
            <a:endParaRPr lang="en-US" noProof="0" dirty="0"/>
          </a:p>
        </p:txBody>
      </p:sp>
      <p:sp>
        <p:nvSpPr>
          <p:cNvPr id="4" name="Text Placeholder 3"/>
          <p:cNvSpPr>
            <a:spLocks noGrp="1"/>
          </p:cNvSpPr>
          <p:nvPr>
            <p:ph type="body" sz="half" idx="2"/>
          </p:nvPr>
        </p:nvSpPr>
        <p:spPr>
          <a:xfrm>
            <a:off x="2389717" y="5367339"/>
            <a:ext cx="7315200" cy="804863"/>
          </a:xfrm>
        </p:spPr>
        <p:txBody>
          <a:bodyPr/>
          <a:lstStyle>
            <a:lvl1pPr marL="0" indent="0">
              <a:buNone/>
              <a:defRPr sz="1867"/>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3"/>
          <p:cNvSpPr>
            <a:spLocks noGrp="1"/>
          </p:cNvSpPr>
          <p:nvPr>
            <p:ph type="dt" sz="half" idx="10"/>
          </p:nvPr>
        </p:nvSpPr>
        <p:spPr/>
        <p:txBody>
          <a:bodyPr/>
          <a:lstStyle>
            <a:lvl1pPr>
              <a:defRPr/>
            </a:lvl1pPr>
          </a:lstStyle>
          <a:p>
            <a:pPr>
              <a:defRPr/>
            </a:pPr>
            <a:fld id="{1897FE6E-4AF1-BB43-A3BB-BA9931BC385B}" type="datetime1">
              <a:rPr lang="en-US" smtClean="0"/>
              <a:t>9/11/25</a:t>
            </a:fld>
            <a:endParaRPr lang="en-US"/>
          </a:p>
        </p:txBody>
      </p:sp>
      <p:sp>
        <p:nvSpPr>
          <p:cNvPr id="6" name="Footer Placeholder 4"/>
          <p:cNvSpPr>
            <a:spLocks noGrp="1"/>
          </p:cNvSpPr>
          <p:nvPr>
            <p:ph type="ftr" sz="quarter" idx="11"/>
          </p:nvPr>
        </p:nvSpPr>
        <p:spPr/>
        <p:txBody>
          <a:bodyPr/>
          <a:lstStyle>
            <a:lvl1pPr>
              <a:defRPr/>
            </a:lvl1pPr>
          </a:lstStyle>
          <a:p>
            <a:pPr>
              <a:defRPr/>
            </a:pPr>
            <a:endParaRPr lang="en-US"/>
          </a:p>
        </p:txBody>
      </p:sp>
      <p:sp>
        <p:nvSpPr>
          <p:cNvPr id="7" name="Slide Number Placeholder 5"/>
          <p:cNvSpPr>
            <a:spLocks noGrp="1"/>
          </p:cNvSpPr>
          <p:nvPr>
            <p:ph type="sldNum" sz="quarter" idx="12"/>
          </p:nvPr>
        </p:nvSpPr>
        <p:spPr/>
        <p:txBody>
          <a:bodyPr/>
          <a:lstStyle>
            <a:lvl1pPr>
              <a:defRPr/>
            </a:lvl1pPr>
          </a:lstStyle>
          <a:p>
            <a:pPr>
              <a:defRPr/>
            </a:pPr>
            <a:fld id="{8FEF0004-A563-C64B-9FAD-6198662E1BD1}" type="slidenum">
              <a:rPr lang="en-US"/>
              <a:pPr>
                <a:defRPr/>
              </a:pPr>
              <a:t>‹#›</a:t>
            </a:fld>
            <a:endParaRPr lang="en-US"/>
          </a:p>
        </p:txBody>
      </p:sp>
    </p:spTree>
    <p:extLst>
      <p:ext uri="{BB962C8B-B14F-4D97-AF65-F5344CB8AC3E}">
        <p14:creationId xmlns:p14="http://schemas.microsoft.com/office/powerpoint/2010/main" val="98556826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0DAF1F23-51F5-E24D-A2F3-F9FF410B2C6B}"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FB9610A8-B29A-B34A-A0B5-3DF26A2EB850}" type="slidenum">
              <a:rPr lang="en-US"/>
              <a:pPr>
                <a:defRPr/>
              </a:pPr>
              <a:t>‹#›</a:t>
            </a:fld>
            <a:endParaRPr lang="en-US"/>
          </a:p>
        </p:txBody>
      </p:sp>
    </p:spTree>
    <p:extLst>
      <p:ext uri="{BB962C8B-B14F-4D97-AF65-F5344CB8AC3E}">
        <p14:creationId xmlns:p14="http://schemas.microsoft.com/office/powerpoint/2010/main" val="313642016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40"/>
            <a:ext cx="27432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274640"/>
            <a:ext cx="8026400" cy="5851525"/>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pPr>
              <a:defRPr/>
            </a:pPr>
            <a:fld id="{C7F9506E-CC5A-D948-B9E0-FC81D1F3EEB8}" type="datetime1">
              <a:rPr lang="en-US" smtClean="0"/>
              <a:t>9/11/25</a:t>
            </a:fld>
            <a:endParaRPr lang="en-US"/>
          </a:p>
        </p:txBody>
      </p:sp>
      <p:sp>
        <p:nvSpPr>
          <p:cNvPr id="5" name="Footer Placeholder 4"/>
          <p:cNvSpPr>
            <a:spLocks noGrp="1"/>
          </p:cNvSpPr>
          <p:nvPr>
            <p:ph type="ftr" sz="quarter" idx="11"/>
          </p:nvPr>
        </p:nvSpPr>
        <p:spPr/>
        <p:txBody>
          <a:bodyPr/>
          <a:lstStyle>
            <a:lvl1pPr>
              <a:defRPr/>
            </a:lvl1pPr>
          </a:lstStyle>
          <a:p>
            <a:pPr>
              <a:defRPr/>
            </a:pPr>
            <a:endParaRPr lang="en-US"/>
          </a:p>
        </p:txBody>
      </p:sp>
      <p:sp>
        <p:nvSpPr>
          <p:cNvPr id="6" name="Slide Number Placeholder 5"/>
          <p:cNvSpPr>
            <a:spLocks noGrp="1"/>
          </p:cNvSpPr>
          <p:nvPr>
            <p:ph type="sldNum" sz="quarter" idx="12"/>
          </p:nvPr>
        </p:nvSpPr>
        <p:spPr/>
        <p:txBody>
          <a:bodyPr/>
          <a:lstStyle>
            <a:lvl1pPr>
              <a:defRPr/>
            </a:lvl1pPr>
          </a:lstStyle>
          <a:p>
            <a:pPr>
              <a:defRPr/>
            </a:pPr>
            <a:fld id="{E12D0221-73D0-6245-9CCD-73A1D8FCB5E4}" type="slidenum">
              <a:rPr lang="en-US"/>
              <a:pPr>
                <a:defRPr/>
              </a:pPr>
              <a:t>‹#›</a:t>
            </a:fld>
            <a:endParaRPr lang="en-US"/>
          </a:p>
        </p:txBody>
      </p:sp>
    </p:spTree>
    <p:extLst>
      <p:ext uri="{BB962C8B-B14F-4D97-AF65-F5344CB8AC3E}">
        <p14:creationId xmlns:p14="http://schemas.microsoft.com/office/powerpoint/2010/main" val="77828223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1.jp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12B010-5E9E-E240-BC91-7846D2B278F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E163D9EB-2FC9-1848-BCB3-4904198DC0F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C744448-0A7D-184E-908E-72ADAF04E21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F7D75D3-5748-F148-9D5F-9B1083DE5149}" type="datetime1">
              <a:rPr lang="en-US" smtClean="0"/>
              <a:t>9/11/25</a:t>
            </a:fld>
            <a:endParaRPr lang="en-US"/>
          </a:p>
        </p:txBody>
      </p:sp>
      <p:sp>
        <p:nvSpPr>
          <p:cNvPr id="5" name="Footer Placeholder 4">
            <a:extLst>
              <a:ext uri="{FF2B5EF4-FFF2-40B4-BE49-F238E27FC236}">
                <a16:creationId xmlns:a16="http://schemas.microsoft.com/office/drawing/2014/main" id="{B9886183-444C-E749-AEE5-FEA7D7D6E2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0918D00-42C1-B442-BC2B-ECBBCB6471E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5424F7F-1103-A749-AA35-91DD36B89A7B}" type="slidenum">
              <a:rPr lang="en-US" smtClean="0"/>
              <a:t>‹#›</a:t>
            </a:fld>
            <a:endParaRPr lang="en-US"/>
          </a:p>
        </p:txBody>
      </p:sp>
    </p:spTree>
    <p:extLst>
      <p:ext uri="{BB962C8B-B14F-4D97-AF65-F5344CB8AC3E}">
        <p14:creationId xmlns:p14="http://schemas.microsoft.com/office/powerpoint/2010/main" val="681451562"/>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609600" y="900113"/>
            <a:ext cx="10972800" cy="10683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ctr" anchorCtr="0" compatLnSpc="1">
            <a:prstTxWarp prst="textNoShape">
              <a:avLst/>
            </a:prstTxWarp>
          </a:bodyPr>
          <a:lstStyle/>
          <a:p>
            <a:pPr lvl="0"/>
            <a:r>
              <a:rPr lang="en-US" dirty="0"/>
              <a:t>Headline Line One</a:t>
            </a:r>
            <a:br>
              <a:rPr lang="en-US" dirty="0"/>
            </a:br>
            <a:r>
              <a:rPr lang="en-US" dirty="0"/>
              <a:t>Headline Line Two</a:t>
            </a:r>
          </a:p>
        </p:txBody>
      </p:sp>
      <p:sp>
        <p:nvSpPr>
          <p:cNvPr id="1027" name="Text Placeholder 2"/>
          <p:cNvSpPr>
            <a:spLocks noGrp="1"/>
          </p:cNvSpPr>
          <p:nvPr>
            <p:ph type="body" idx="1"/>
          </p:nvPr>
        </p:nvSpPr>
        <p:spPr bwMode="auto">
          <a:xfrm>
            <a:off x="609600" y="3022600"/>
            <a:ext cx="10972800" cy="31035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09600" y="6356352"/>
            <a:ext cx="2844800" cy="365125"/>
          </a:xfrm>
          <a:prstGeom prst="rect">
            <a:avLst/>
          </a:prstGeom>
        </p:spPr>
        <p:txBody>
          <a:bodyPr vert="horz" lIns="91440" tIns="45720" rIns="91440" bIns="45720" rtlCol="0" anchor="ctr"/>
          <a:lstStyle>
            <a:lvl1pPr algn="l" fontAlgn="auto">
              <a:spcBef>
                <a:spcPts val="0"/>
              </a:spcBef>
              <a:spcAft>
                <a:spcPts val="0"/>
              </a:spcAft>
              <a:defRPr sz="1600" smtClean="0">
                <a:solidFill>
                  <a:schemeClr val="tx1">
                    <a:tint val="75000"/>
                  </a:schemeClr>
                </a:solidFill>
                <a:latin typeface="Arial" panose="020B0604020202020204" pitchFamily="34" charset="0"/>
                <a:ea typeface="+mn-ea"/>
                <a:cs typeface="Arial" panose="020B0604020202020204" pitchFamily="34" charset="0"/>
              </a:defRPr>
            </a:lvl1pPr>
          </a:lstStyle>
          <a:p>
            <a:pPr>
              <a:defRPr/>
            </a:pPr>
            <a:fld id="{4F3AB534-2132-774F-82DE-4210B1BD5FED}" type="datetime1">
              <a:rPr lang="en-US" smtClean="0"/>
              <a:t>9/11/25</a:t>
            </a:fld>
            <a:endParaRPr lang="en-US" dirty="0"/>
          </a:p>
        </p:txBody>
      </p:sp>
      <p:sp>
        <p:nvSpPr>
          <p:cNvPr id="5" name="Footer Placeholder 4"/>
          <p:cNvSpPr>
            <a:spLocks noGrp="1"/>
          </p:cNvSpPr>
          <p:nvPr>
            <p:ph type="ftr" sz="quarter" idx="3"/>
          </p:nvPr>
        </p:nvSpPr>
        <p:spPr>
          <a:xfrm>
            <a:off x="4165600" y="6356352"/>
            <a:ext cx="3860800" cy="365125"/>
          </a:xfrm>
          <a:prstGeom prst="rect">
            <a:avLst/>
          </a:prstGeom>
        </p:spPr>
        <p:txBody>
          <a:bodyPr vert="horz" lIns="91440" tIns="45720" rIns="91440" bIns="45720" rtlCol="0" anchor="ctr"/>
          <a:lstStyle>
            <a:lvl1pPr algn="ctr" fontAlgn="auto">
              <a:spcBef>
                <a:spcPts val="0"/>
              </a:spcBef>
              <a:spcAft>
                <a:spcPts val="0"/>
              </a:spcAft>
              <a:defRPr sz="1600">
                <a:solidFill>
                  <a:schemeClr val="tx1">
                    <a:tint val="75000"/>
                  </a:schemeClr>
                </a:solidFill>
                <a:latin typeface="Arial" panose="020B0604020202020204" pitchFamily="34" charset="0"/>
                <a:ea typeface="+mn-ea"/>
                <a:cs typeface="Arial" panose="020B0604020202020204" pitchFamily="34" charset="0"/>
              </a:defRPr>
            </a:lvl1pPr>
          </a:lstStyle>
          <a:p>
            <a:pPr>
              <a:defRPr/>
            </a:pPr>
            <a:endParaRPr lang="en-US" dirty="0"/>
          </a:p>
        </p:txBody>
      </p:sp>
      <p:sp>
        <p:nvSpPr>
          <p:cNvPr id="6" name="Slide Number Placeholder 5"/>
          <p:cNvSpPr>
            <a:spLocks noGrp="1"/>
          </p:cNvSpPr>
          <p:nvPr>
            <p:ph type="sldNum" sz="quarter" idx="4"/>
          </p:nvPr>
        </p:nvSpPr>
        <p:spPr>
          <a:xfrm>
            <a:off x="8737600" y="6356352"/>
            <a:ext cx="2844800" cy="365125"/>
          </a:xfrm>
          <a:prstGeom prst="rect">
            <a:avLst/>
          </a:prstGeom>
        </p:spPr>
        <p:txBody>
          <a:bodyPr vert="horz" lIns="91440" tIns="45720" rIns="91440" bIns="45720" rtlCol="0" anchor="ctr"/>
          <a:lstStyle>
            <a:lvl1pPr algn="r" fontAlgn="auto">
              <a:spcBef>
                <a:spcPts val="0"/>
              </a:spcBef>
              <a:spcAft>
                <a:spcPts val="0"/>
              </a:spcAft>
              <a:defRPr sz="1600" smtClean="0">
                <a:solidFill>
                  <a:schemeClr val="tx1">
                    <a:tint val="75000"/>
                  </a:schemeClr>
                </a:solidFill>
                <a:latin typeface="+mn-lt"/>
                <a:ea typeface="+mn-ea"/>
                <a:cs typeface="+mn-cs"/>
              </a:defRPr>
            </a:lvl1pPr>
          </a:lstStyle>
          <a:p>
            <a:pPr>
              <a:defRPr/>
            </a:pPr>
            <a:fld id="{0EF7D53D-272A-624E-BE3D-99D13E2B4193}" type="slidenum">
              <a:rPr lang="en-US"/>
              <a:pPr>
                <a:defRPr/>
              </a:pPr>
              <a:t>‹#›</a:t>
            </a:fld>
            <a:endParaRPr lang="en-US" dirty="0"/>
          </a:p>
        </p:txBody>
      </p:sp>
      <p:pic>
        <p:nvPicPr>
          <p:cNvPr id="8" name="Picture 7"/>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 y="0"/>
            <a:ext cx="12202925" cy="609600"/>
          </a:xfrm>
          <a:prstGeom prst="rect">
            <a:avLst/>
          </a:prstGeom>
        </p:spPr>
      </p:pic>
    </p:spTree>
    <p:extLst>
      <p:ext uri="{BB962C8B-B14F-4D97-AF65-F5344CB8AC3E}">
        <p14:creationId xmlns:p14="http://schemas.microsoft.com/office/powerpoint/2010/main" val="3459032160"/>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hf hdr="0" ftr="0" dt="0"/>
  <p:txStyles>
    <p:titleStyle>
      <a:lvl1pPr algn="ctr" defTabSz="609585" rtl="0" eaLnBrk="1" fontAlgn="base" hangingPunct="1">
        <a:spcBef>
          <a:spcPct val="0"/>
        </a:spcBef>
        <a:spcAft>
          <a:spcPct val="0"/>
        </a:spcAft>
        <a:defRPr sz="4267" b="1" kern="1200">
          <a:solidFill>
            <a:schemeClr val="tx1"/>
          </a:solidFill>
          <a:latin typeface="Arial"/>
          <a:ea typeface="ＭＳ Ｐゴシック" charset="0"/>
          <a:cs typeface="Arial"/>
        </a:defRPr>
      </a:lvl1pPr>
      <a:lvl2pPr algn="ctr" defTabSz="609585" rtl="0" eaLnBrk="1" fontAlgn="base" hangingPunct="1">
        <a:spcBef>
          <a:spcPct val="0"/>
        </a:spcBef>
        <a:spcAft>
          <a:spcPct val="0"/>
        </a:spcAft>
        <a:defRPr sz="4267" b="1">
          <a:solidFill>
            <a:schemeClr val="tx1"/>
          </a:solidFill>
          <a:latin typeface="Arial" charset="0"/>
          <a:ea typeface="ＭＳ Ｐゴシック" charset="0"/>
        </a:defRPr>
      </a:lvl2pPr>
      <a:lvl3pPr algn="ctr" defTabSz="609585" rtl="0" eaLnBrk="1" fontAlgn="base" hangingPunct="1">
        <a:spcBef>
          <a:spcPct val="0"/>
        </a:spcBef>
        <a:spcAft>
          <a:spcPct val="0"/>
        </a:spcAft>
        <a:defRPr sz="4267" b="1">
          <a:solidFill>
            <a:schemeClr val="tx1"/>
          </a:solidFill>
          <a:latin typeface="Arial" charset="0"/>
          <a:ea typeface="ＭＳ Ｐゴシック" charset="0"/>
        </a:defRPr>
      </a:lvl3pPr>
      <a:lvl4pPr algn="ctr" defTabSz="609585" rtl="0" eaLnBrk="1" fontAlgn="base" hangingPunct="1">
        <a:spcBef>
          <a:spcPct val="0"/>
        </a:spcBef>
        <a:spcAft>
          <a:spcPct val="0"/>
        </a:spcAft>
        <a:defRPr sz="4267" b="1">
          <a:solidFill>
            <a:schemeClr val="tx1"/>
          </a:solidFill>
          <a:latin typeface="Arial" charset="0"/>
          <a:ea typeface="ＭＳ Ｐゴシック" charset="0"/>
        </a:defRPr>
      </a:lvl4pPr>
      <a:lvl5pPr algn="ctr" defTabSz="609585" rtl="0" eaLnBrk="1" fontAlgn="base" hangingPunct="1">
        <a:spcBef>
          <a:spcPct val="0"/>
        </a:spcBef>
        <a:spcAft>
          <a:spcPct val="0"/>
        </a:spcAft>
        <a:defRPr sz="4267" b="1">
          <a:solidFill>
            <a:schemeClr val="tx1"/>
          </a:solidFill>
          <a:latin typeface="Arial" charset="0"/>
          <a:ea typeface="ＭＳ Ｐゴシック" charset="0"/>
        </a:defRPr>
      </a:lvl5pPr>
      <a:lvl6pPr marL="609585" algn="ctr" defTabSz="609585" rtl="0" eaLnBrk="1" fontAlgn="base" hangingPunct="1">
        <a:spcBef>
          <a:spcPct val="0"/>
        </a:spcBef>
        <a:spcAft>
          <a:spcPct val="0"/>
        </a:spcAft>
        <a:defRPr sz="4267" b="1">
          <a:solidFill>
            <a:schemeClr val="tx1"/>
          </a:solidFill>
          <a:latin typeface="Arial" charset="0"/>
          <a:ea typeface="ＭＳ Ｐゴシック" charset="0"/>
        </a:defRPr>
      </a:lvl6pPr>
      <a:lvl7pPr marL="1219170" algn="ctr" defTabSz="609585" rtl="0" eaLnBrk="1" fontAlgn="base" hangingPunct="1">
        <a:spcBef>
          <a:spcPct val="0"/>
        </a:spcBef>
        <a:spcAft>
          <a:spcPct val="0"/>
        </a:spcAft>
        <a:defRPr sz="4267" b="1">
          <a:solidFill>
            <a:schemeClr val="tx1"/>
          </a:solidFill>
          <a:latin typeface="Arial" charset="0"/>
          <a:ea typeface="ＭＳ Ｐゴシック" charset="0"/>
        </a:defRPr>
      </a:lvl7pPr>
      <a:lvl8pPr marL="1828754" algn="ctr" defTabSz="609585" rtl="0" eaLnBrk="1" fontAlgn="base" hangingPunct="1">
        <a:spcBef>
          <a:spcPct val="0"/>
        </a:spcBef>
        <a:spcAft>
          <a:spcPct val="0"/>
        </a:spcAft>
        <a:defRPr sz="4267" b="1">
          <a:solidFill>
            <a:schemeClr val="tx1"/>
          </a:solidFill>
          <a:latin typeface="Arial" charset="0"/>
          <a:ea typeface="ＭＳ Ｐゴシック" charset="0"/>
        </a:defRPr>
      </a:lvl8pPr>
      <a:lvl9pPr marL="2438339" algn="ctr" defTabSz="609585" rtl="0" eaLnBrk="1" fontAlgn="base" hangingPunct="1">
        <a:spcBef>
          <a:spcPct val="0"/>
        </a:spcBef>
        <a:spcAft>
          <a:spcPct val="0"/>
        </a:spcAft>
        <a:defRPr sz="4267" b="1">
          <a:solidFill>
            <a:schemeClr val="tx1"/>
          </a:solidFill>
          <a:latin typeface="Arial" charset="0"/>
          <a:ea typeface="ＭＳ Ｐゴシック" charset="0"/>
        </a:defRPr>
      </a:lvl9pPr>
    </p:titleStyle>
    <p:body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p:bodyStyle>
    <p:otherStyle>
      <a:defPPr>
        <a:defRPr lang="en-US"/>
      </a:defPPr>
      <a:lvl1pPr marL="0" algn="l" defTabSz="609585" rtl="0" eaLnBrk="1" latinLnBrk="0" hangingPunct="1">
        <a:defRPr sz="2400" kern="1200">
          <a:solidFill>
            <a:schemeClr val="tx1"/>
          </a:solidFill>
          <a:latin typeface="+mn-lt"/>
          <a:ea typeface="+mn-ea"/>
          <a:cs typeface="+mn-cs"/>
        </a:defRPr>
      </a:lvl1pPr>
      <a:lvl2pPr marL="609585" algn="l" defTabSz="609585" rtl="0" eaLnBrk="1" latinLnBrk="0" hangingPunct="1">
        <a:defRPr sz="2400" kern="1200">
          <a:solidFill>
            <a:schemeClr val="tx1"/>
          </a:solidFill>
          <a:latin typeface="+mn-lt"/>
          <a:ea typeface="+mn-ea"/>
          <a:cs typeface="+mn-cs"/>
        </a:defRPr>
      </a:lvl2pPr>
      <a:lvl3pPr marL="1219170" algn="l" defTabSz="609585" rtl="0" eaLnBrk="1" latinLnBrk="0" hangingPunct="1">
        <a:defRPr sz="2400" kern="1200">
          <a:solidFill>
            <a:schemeClr val="tx1"/>
          </a:solidFill>
          <a:latin typeface="+mn-lt"/>
          <a:ea typeface="+mn-ea"/>
          <a:cs typeface="+mn-cs"/>
        </a:defRPr>
      </a:lvl3pPr>
      <a:lvl4pPr marL="1828754" algn="l" defTabSz="609585" rtl="0" eaLnBrk="1" latinLnBrk="0" hangingPunct="1">
        <a:defRPr sz="2400" kern="1200">
          <a:solidFill>
            <a:schemeClr val="tx1"/>
          </a:solidFill>
          <a:latin typeface="+mn-lt"/>
          <a:ea typeface="+mn-ea"/>
          <a:cs typeface="+mn-cs"/>
        </a:defRPr>
      </a:lvl4pPr>
      <a:lvl5pPr marL="2438339" algn="l" defTabSz="609585" rtl="0" eaLnBrk="1" latinLnBrk="0" hangingPunct="1">
        <a:defRPr sz="2400" kern="1200">
          <a:solidFill>
            <a:schemeClr val="tx1"/>
          </a:solidFill>
          <a:latin typeface="+mn-lt"/>
          <a:ea typeface="+mn-ea"/>
          <a:cs typeface="+mn-cs"/>
        </a:defRPr>
      </a:lvl5pPr>
      <a:lvl6pPr marL="3047924" algn="l" defTabSz="609585" rtl="0" eaLnBrk="1" latinLnBrk="0" hangingPunct="1">
        <a:defRPr sz="2400" kern="1200">
          <a:solidFill>
            <a:schemeClr val="tx1"/>
          </a:solidFill>
          <a:latin typeface="+mn-lt"/>
          <a:ea typeface="+mn-ea"/>
          <a:cs typeface="+mn-cs"/>
        </a:defRPr>
      </a:lvl6pPr>
      <a:lvl7pPr marL="3657509" algn="l" defTabSz="609585" rtl="0" eaLnBrk="1" latinLnBrk="0" hangingPunct="1">
        <a:defRPr sz="2400" kern="1200">
          <a:solidFill>
            <a:schemeClr val="tx1"/>
          </a:solidFill>
          <a:latin typeface="+mn-lt"/>
          <a:ea typeface="+mn-ea"/>
          <a:cs typeface="+mn-cs"/>
        </a:defRPr>
      </a:lvl7pPr>
      <a:lvl8pPr marL="4267093" algn="l" defTabSz="609585" rtl="0" eaLnBrk="1" latinLnBrk="0" hangingPunct="1">
        <a:defRPr sz="2400" kern="1200">
          <a:solidFill>
            <a:schemeClr val="tx1"/>
          </a:solidFill>
          <a:latin typeface="+mn-lt"/>
          <a:ea typeface="+mn-ea"/>
          <a:cs typeface="+mn-cs"/>
        </a:defRPr>
      </a:lvl8pPr>
      <a:lvl9pPr marL="4876678" algn="l" defTabSz="609585"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5.xml"/></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5.xml"/></Relationships>
</file>

<file path=ppt/slides/_rels/slide24.xml.rels><?xml version="1.0" encoding="UTF-8" standalone="yes"?>
<Relationships xmlns="http://schemas.openxmlformats.org/package/2006/relationships"><Relationship Id="rId2" Type="http://schemas.openxmlformats.org/officeDocument/2006/relationships/image" Target="../media/image16.tiff"/><Relationship Id="rId1" Type="http://schemas.openxmlformats.org/officeDocument/2006/relationships/slideLayout" Target="../slideLayouts/slideLayout15.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5.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5.xml"/></Relationships>
</file>

<file path=ppt/slides/_rels/slide3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5.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9.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5.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15.xml"/></Relationships>
</file>

<file path=ppt/slides/_rels/slide50.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15.xml"/></Relationships>
</file>

<file path=ppt/slides/_rels/slide5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15.xml"/><Relationship Id="rId4" Type="http://schemas.openxmlformats.org/officeDocument/2006/relationships/image" Target="../media/image37.png"/></Relationships>
</file>

<file path=ppt/slides/_rels/slide52.xml.rels><?xml version="1.0" encoding="UTF-8" standalone="yes"?>
<Relationships xmlns="http://schemas.openxmlformats.org/package/2006/relationships"><Relationship Id="rId3" Type="http://schemas.openxmlformats.org/officeDocument/2006/relationships/image" Target="../media/image39.png"/><Relationship Id="rId7" Type="http://schemas.openxmlformats.org/officeDocument/2006/relationships/image" Target="../media/image43.png"/><Relationship Id="rId2" Type="http://schemas.openxmlformats.org/officeDocument/2006/relationships/image" Target="../media/image38.png"/><Relationship Id="rId1" Type="http://schemas.openxmlformats.org/officeDocument/2006/relationships/slideLayout" Target="../slideLayouts/slideLayout15.xml"/><Relationship Id="rId6" Type="http://schemas.openxmlformats.org/officeDocument/2006/relationships/image" Target="../media/image42.png"/><Relationship Id="rId5" Type="http://schemas.openxmlformats.org/officeDocument/2006/relationships/image" Target="../media/image41.png"/><Relationship Id="rId4" Type="http://schemas.openxmlformats.org/officeDocument/2006/relationships/image" Target="../media/image40.png"/></Relationships>
</file>

<file path=ppt/slides/_rels/slide53.xml.rels><?xml version="1.0" encoding="UTF-8" standalone="yes"?>
<Relationships xmlns="http://schemas.openxmlformats.org/package/2006/relationships"><Relationship Id="rId3" Type="http://schemas.openxmlformats.org/officeDocument/2006/relationships/image" Target="../media/image45.tiff"/><Relationship Id="rId2" Type="http://schemas.openxmlformats.org/officeDocument/2006/relationships/image" Target="../media/image44.tiff"/><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5.xml"/><Relationship Id="rId6" Type="http://schemas.openxmlformats.org/officeDocument/2006/relationships/image" Target="../media/image50.png"/><Relationship Id="rId5" Type="http://schemas.openxmlformats.org/officeDocument/2006/relationships/image" Target="../media/image49.png"/><Relationship Id="rId4" Type="http://schemas.openxmlformats.org/officeDocument/2006/relationships/image" Target="../media/image48.png"/></Relationships>
</file>

<file path=ppt/slides/_rels/slide55.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image" Target="../media/image51.png"/><Relationship Id="rId1" Type="http://schemas.openxmlformats.org/officeDocument/2006/relationships/slideLayout" Target="../slideLayouts/slideLayout15.xml"/><Relationship Id="rId5" Type="http://schemas.openxmlformats.org/officeDocument/2006/relationships/image" Target="../media/image54.png"/><Relationship Id="rId4" Type="http://schemas.openxmlformats.org/officeDocument/2006/relationships/image" Target="../media/image53.png"/></Relationships>
</file>

<file path=ppt/slides/_rels/slide56.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image" Target="../media/image55.png"/><Relationship Id="rId1" Type="http://schemas.openxmlformats.org/officeDocument/2006/relationships/slideLayout" Target="../slideLayouts/slideLayout15.xml"/><Relationship Id="rId4" Type="http://schemas.openxmlformats.org/officeDocument/2006/relationships/image" Target="../media/image57.png"/></Relationships>
</file>

<file path=ppt/slides/_rels/slide57.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15.xml"/><Relationship Id="rId4" Type="http://schemas.openxmlformats.org/officeDocument/2006/relationships/image" Target="../media/image6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B98C24-8575-8644-833E-593D27AC502F}"/>
              </a:ext>
            </a:extLst>
          </p:cNvPr>
          <p:cNvSpPr>
            <a:spLocks noGrp="1"/>
          </p:cNvSpPr>
          <p:nvPr>
            <p:ph type="ctrTitle"/>
          </p:nvPr>
        </p:nvSpPr>
        <p:spPr/>
        <p:txBody>
          <a:bodyPr/>
          <a:lstStyle/>
          <a:p>
            <a:r>
              <a:rPr lang="en-US" sz="4000" dirty="0"/>
              <a:t>NE 763: Advanced Reactor Materials</a:t>
            </a:r>
          </a:p>
        </p:txBody>
      </p:sp>
      <p:sp>
        <p:nvSpPr>
          <p:cNvPr id="3" name="Subtitle 2">
            <a:extLst>
              <a:ext uri="{FF2B5EF4-FFF2-40B4-BE49-F238E27FC236}">
                <a16:creationId xmlns:a16="http://schemas.microsoft.com/office/drawing/2014/main" id="{62187F49-5DA5-4E46-B793-DAB018625C3A}"/>
              </a:ext>
            </a:extLst>
          </p:cNvPr>
          <p:cNvSpPr>
            <a:spLocks noGrp="1"/>
          </p:cNvSpPr>
          <p:nvPr>
            <p:ph type="subTitle" idx="1"/>
          </p:nvPr>
        </p:nvSpPr>
        <p:spPr/>
        <p:txBody>
          <a:bodyPr/>
          <a:lstStyle/>
          <a:p>
            <a:r>
              <a:rPr lang="en-US" dirty="0"/>
              <a:t>Fall 2025</a:t>
            </a:r>
          </a:p>
          <a:p>
            <a:r>
              <a:rPr lang="en-US" dirty="0"/>
              <a:t>Dr. Benjamin Beeler</a:t>
            </a:r>
          </a:p>
        </p:txBody>
      </p:sp>
      <p:sp>
        <p:nvSpPr>
          <p:cNvPr id="4" name="Slide Number Placeholder 3">
            <a:extLst>
              <a:ext uri="{FF2B5EF4-FFF2-40B4-BE49-F238E27FC236}">
                <a16:creationId xmlns:a16="http://schemas.microsoft.com/office/drawing/2014/main" id="{91667053-FE0B-2E4F-88E8-0DE41FF95167}"/>
              </a:ext>
            </a:extLst>
          </p:cNvPr>
          <p:cNvSpPr>
            <a:spLocks noGrp="1"/>
          </p:cNvSpPr>
          <p:nvPr>
            <p:ph type="sldNum" sz="quarter" idx="12"/>
          </p:nvPr>
        </p:nvSpPr>
        <p:spPr/>
        <p:txBody>
          <a:bodyPr/>
          <a:lstStyle/>
          <a:p>
            <a:pPr>
              <a:defRPr/>
            </a:pPr>
            <a:fld id="{01E82176-A547-F94B-AC51-D6E9C882CB88}" type="slidenum">
              <a:rPr lang="en-US" smtClean="0"/>
              <a:pPr>
                <a:defRPr/>
              </a:pPr>
              <a:t>1</a:t>
            </a:fld>
            <a:endParaRPr lang="en-US"/>
          </a:p>
        </p:txBody>
      </p:sp>
    </p:spTree>
    <p:extLst>
      <p:ext uri="{BB962C8B-B14F-4D97-AF65-F5344CB8AC3E}">
        <p14:creationId xmlns:p14="http://schemas.microsoft.com/office/powerpoint/2010/main" val="300506465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9F4521-08F0-2FC4-1F7F-E0BDBD2D8AB6}"/>
              </a:ext>
            </a:extLst>
          </p:cNvPr>
          <p:cNvSpPr>
            <a:spLocks noGrp="1"/>
          </p:cNvSpPr>
          <p:nvPr>
            <p:ph type="title"/>
          </p:nvPr>
        </p:nvSpPr>
        <p:spPr/>
        <p:txBody>
          <a:bodyPr/>
          <a:lstStyle/>
          <a:p>
            <a:r>
              <a:rPr lang="en-US" dirty="0"/>
              <a:t>Exam Results</a:t>
            </a:r>
          </a:p>
        </p:txBody>
      </p:sp>
      <p:sp>
        <p:nvSpPr>
          <p:cNvPr id="3" name="Content Placeholder 2">
            <a:extLst>
              <a:ext uri="{FF2B5EF4-FFF2-40B4-BE49-F238E27FC236}">
                <a16:creationId xmlns:a16="http://schemas.microsoft.com/office/drawing/2014/main" id="{73FB57D1-27F2-0866-C448-618915A8F8DC}"/>
              </a:ext>
            </a:extLst>
          </p:cNvPr>
          <p:cNvSpPr>
            <a:spLocks noGrp="1"/>
          </p:cNvSpPr>
          <p:nvPr>
            <p:ph idx="1"/>
          </p:nvPr>
        </p:nvSpPr>
        <p:spPr/>
        <p:txBody>
          <a:bodyPr/>
          <a:lstStyle/>
          <a:p>
            <a:endParaRPr lang="en-US" dirty="0"/>
          </a:p>
        </p:txBody>
      </p:sp>
      <p:sp>
        <p:nvSpPr>
          <p:cNvPr id="4" name="Slide Number Placeholder 3">
            <a:extLst>
              <a:ext uri="{FF2B5EF4-FFF2-40B4-BE49-F238E27FC236}">
                <a16:creationId xmlns:a16="http://schemas.microsoft.com/office/drawing/2014/main" id="{F6B6EDC9-1206-018F-DC52-F62722544C72}"/>
              </a:ext>
            </a:extLst>
          </p:cNvPr>
          <p:cNvSpPr>
            <a:spLocks noGrp="1"/>
          </p:cNvSpPr>
          <p:nvPr>
            <p:ph type="sldNum" sz="quarter" idx="12"/>
          </p:nvPr>
        </p:nvSpPr>
        <p:spPr/>
        <p:txBody>
          <a:bodyPr/>
          <a:lstStyle/>
          <a:p>
            <a:pPr>
              <a:defRPr/>
            </a:pPr>
            <a:fld id="{3FF2C605-4958-CF43-AA48-80339EFDB0AF}" type="slidenum">
              <a:rPr lang="en-US" smtClean="0"/>
              <a:pPr>
                <a:defRPr/>
              </a:pPr>
              <a:t>2</a:t>
            </a:fld>
            <a:endParaRPr lang="en-US"/>
          </a:p>
        </p:txBody>
      </p:sp>
    </p:spTree>
    <p:extLst>
      <p:ext uri="{BB962C8B-B14F-4D97-AF65-F5344CB8AC3E}">
        <p14:creationId xmlns:p14="http://schemas.microsoft.com/office/powerpoint/2010/main" val="3734282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F64594-648B-A695-842C-9B0438E22FD1}"/>
              </a:ext>
            </a:extLst>
          </p:cNvPr>
          <p:cNvSpPr>
            <a:spLocks noGrp="1"/>
          </p:cNvSpPr>
          <p:nvPr>
            <p:ph type="title"/>
          </p:nvPr>
        </p:nvSpPr>
        <p:spPr/>
        <p:txBody>
          <a:bodyPr/>
          <a:lstStyle/>
          <a:p>
            <a:r>
              <a:rPr lang="en-US" dirty="0"/>
              <a:t>Paper Presentation Assignment</a:t>
            </a:r>
          </a:p>
        </p:txBody>
      </p:sp>
      <p:sp>
        <p:nvSpPr>
          <p:cNvPr id="3" name="Content Placeholder 2">
            <a:extLst>
              <a:ext uri="{FF2B5EF4-FFF2-40B4-BE49-F238E27FC236}">
                <a16:creationId xmlns:a16="http://schemas.microsoft.com/office/drawing/2014/main" id="{1AD1EA64-21F0-DC99-B8D3-7031E5F6564C}"/>
              </a:ext>
            </a:extLst>
          </p:cNvPr>
          <p:cNvSpPr>
            <a:spLocks noGrp="1"/>
          </p:cNvSpPr>
          <p:nvPr>
            <p:ph idx="1"/>
          </p:nvPr>
        </p:nvSpPr>
        <p:spPr/>
        <p:txBody>
          <a:bodyPr/>
          <a:lstStyle/>
          <a:p>
            <a:r>
              <a:rPr lang="en-US" sz="2000" dirty="0"/>
              <a:t>A topic related to advanced reactor materials will be assigned and the student will present a presentation summarizing the topic area. Students will be evaluated on the technical content and the presentation/organization of the content. </a:t>
            </a:r>
          </a:p>
          <a:p>
            <a:r>
              <a:rPr lang="en-US" sz="2000" dirty="0"/>
              <a:t>Twenty minutes maximum (15 for talk, 5 for questions)</a:t>
            </a:r>
          </a:p>
          <a:p>
            <a:r>
              <a:rPr lang="en-US" sz="2000" dirty="0"/>
              <a:t>Conducted in class, slides uploaded day before presentations begin</a:t>
            </a:r>
          </a:p>
          <a:p>
            <a:r>
              <a:rPr lang="en-US" sz="2000" dirty="0"/>
              <a:t>Presentations on October 16 and 21</a:t>
            </a:r>
          </a:p>
          <a:p>
            <a:endParaRPr lang="en-US" sz="2000" dirty="0"/>
          </a:p>
          <a:p>
            <a:endParaRPr lang="en-US" sz="2000" dirty="0"/>
          </a:p>
        </p:txBody>
      </p:sp>
      <p:sp>
        <p:nvSpPr>
          <p:cNvPr id="4" name="Slide Number Placeholder 3">
            <a:extLst>
              <a:ext uri="{FF2B5EF4-FFF2-40B4-BE49-F238E27FC236}">
                <a16:creationId xmlns:a16="http://schemas.microsoft.com/office/drawing/2014/main" id="{E9A95A56-8186-B96C-1C56-385FC4D04B1E}"/>
              </a:ext>
            </a:extLst>
          </p:cNvPr>
          <p:cNvSpPr>
            <a:spLocks noGrp="1"/>
          </p:cNvSpPr>
          <p:nvPr>
            <p:ph type="sldNum" sz="quarter" idx="12"/>
          </p:nvPr>
        </p:nvSpPr>
        <p:spPr/>
        <p:txBody>
          <a:bodyPr/>
          <a:lstStyle/>
          <a:p>
            <a:pPr>
              <a:defRPr/>
            </a:pPr>
            <a:fld id="{3FF2C605-4958-CF43-AA48-80339EFDB0AF}" type="slidenum">
              <a:rPr lang="en-US" smtClean="0"/>
              <a:pPr>
                <a:defRPr/>
              </a:pPr>
              <a:t>3</a:t>
            </a:fld>
            <a:endParaRPr lang="en-US"/>
          </a:p>
        </p:txBody>
      </p:sp>
    </p:spTree>
    <p:extLst>
      <p:ext uri="{BB962C8B-B14F-4D97-AF65-F5344CB8AC3E}">
        <p14:creationId xmlns:p14="http://schemas.microsoft.com/office/powerpoint/2010/main" val="27410724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CC8B06-19A8-2754-C58D-2ADE978760ED}"/>
              </a:ext>
            </a:extLst>
          </p:cNvPr>
          <p:cNvSpPr>
            <a:spLocks noGrp="1"/>
          </p:cNvSpPr>
          <p:nvPr>
            <p:ph type="title"/>
          </p:nvPr>
        </p:nvSpPr>
        <p:spPr/>
        <p:txBody>
          <a:bodyPr/>
          <a:lstStyle/>
          <a:p>
            <a:r>
              <a:rPr lang="en-US" sz="4400" dirty="0"/>
              <a:t>Presentation topic assignments:</a:t>
            </a:r>
          </a:p>
        </p:txBody>
      </p:sp>
      <p:sp>
        <p:nvSpPr>
          <p:cNvPr id="3" name="Content Placeholder 2">
            <a:extLst>
              <a:ext uri="{FF2B5EF4-FFF2-40B4-BE49-F238E27FC236}">
                <a16:creationId xmlns:a16="http://schemas.microsoft.com/office/drawing/2014/main" id="{F9A4F61C-B050-B686-2C05-1CD9AB306779}"/>
              </a:ext>
            </a:extLst>
          </p:cNvPr>
          <p:cNvSpPr>
            <a:spLocks noGrp="1"/>
          </p:cNvSpPr>
          <p:nvPr>
            <p:ph sz="half" idx="1"/>
          </p:nvPr>
        </p:nvSpPr>
        <p:spPr>
          <a:xfrm>
            <a:off x="609600" y="1968503"/>
            <a:ext cx="10972800" cy="4157663"/>
          </a:xfrm>
        </p:spPr>
        <p:txBody>
          <a:bodyPr/>
          <a:lstStyle/>
          <a:p>
            <a:r>
              <a:rPr lang="en-US" sz="2000" dirty="0">
                <a:effectLst/>
                <a:latin typeface="Calibri" panose="020F0502020204030204" pitchFamily="34" charset="0"/>
                <a:ea typeface="Calibri" panose="020F0502020204030204" pitchFamily="34" charset="0"/>
                <a:cs typeface="Times New Roman" panose="02020603050405020304" pitchFamily="18" charset="0"/>
              </a:rPr>
              <a:t>Alexandra Doherty: Cermet fuel concept and applications</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Anthony Cowan: Corrosion in supercritical water-cooled reactors</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Cecilia Harrison: </a:t>
            </a:r>
            <a:r>
              <a:rPr lang="en-US" sz="2000" dirty="0" err="1">
                <a:effectLst/>
                <a:latin typeface="Calibri" panose="020F0502020204030204" pitchFamily="34" charset="0"/>
                <a:ea typeface="Calibri" panose="020F0502020204030204" pitchFamily="34" charset="0"/>
                <a:cs typeface="Times New Roman" panose="02020603050405020304" pitchFamily="18" charset="0"/>
              </a:rPr>
              <a:t>SiC</a:t>
            </a:r>
            <a:r>
              <a:rPr lang="en-US" sz="2000" dirty="0">
                <a:effectLst/>
                <a:latin typeface="Calibri" panose="020F0502020204030204" pitchFamily="34" charset="0"/>
                <a:ea typeface="Calibri" panose="020F0502020204030204" pitchFamily="34" charset="0"/>
                <a:cs typeface="Times New Roman" panose="02020603050405020304" pitchFamily="18" charset="0"/>
              </a:rPr>
              <a:t> as a cladding material (non-TRISO applications)</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Gwen White: Swelling of stainless steel under fast fluence</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Josephine Hartmann: Corrosion of stainless steel in chloride salts</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Kyle Holloway: Inert matrix actinide-bearing fuel concepts</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Rashed Almasri: High temperature materials for gas reactor heat exchangers</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Emily Quisenberry: Alternate geometries of metallic fuels (e.g., slotted, annular, etc.)</a:t>
            </a:r>
          </a:p>
          <a:p>
            <a:r>
              <a:rPr lang="en-US" sz="2000" dirty="0">
                <a:effectLst/>
                <a:latin typeface="Calibri" panose="020F0502020204030204" pitchFamily="34" charset="0"/>
                <a:ea typeface="Calibri" panose="020F0502020204030204" pitchFamily="34" charset="0"/>
                <a:cs typeface="Times New Roman" panose="02020603050405020304" pitchFamily="18" charset="0"/>
              </a:rPr>
              <a:t>Justin Yarrington: Borosilicate waste glasses</a:t>
            </a:r>
          </a:p>
        </p:txBody>
      </p:sp>
      <p:sp>
        <p:nvSpPr>
          <p:cNvPr id="5" name="Slide Number Placeholder 4">
            <a:extLst>
              <a:ext uri="{FF2B5EF4-FFF2-40B4-BE49-F238E27FC236}">
                <a16:creationId xmlns:a16="http://schemas.microsoft.com/office/drawing/2014/main" id="{B43F4A0B-592D-EED9-36F8-57DE93D12340}"/>
              </a:ext>
            </a:extLst>
          </p:cNvPr>
          <p:cNvSpPr>
            <a:spLocks noGrp="1"/>
          </p:cNvSpPr>
          <p:nvPr>
            <p:ph type="sldNum" sz="quarter" idx="12"/>
          </p:nvPr>
        </p:nvSpPr>
        <p:spPr/>
        <p:txBody>
          <a:bodyPr/>
          <a:lstStyle/>
          <a:p>
            <a:pPr>
              <a:defRPr/>
            </a:pPr>
            <a:fld id="{EC35E9FC-F6D5-0349-BBED-EA7D7A9BC49B}" type="slidenum">
              <a:rPr lang="en-US" smtClean="0"/>
              <a:pPr>
                <a:defRPr/>
              </a:pPr>
              <a:t>4</a:t>
            </a:fld>
            <a:endParaRPr lang="en-US"/>
          </a:p>
        </p:txBody>
      </p:sp>
    </p:spTree>
    <p:extLst>
      <p:ext uri="{BB962C8B-B14F-4D97-AF65-F5344CB8AC3E}">
        <p14:creationId xmlns:p14="http://schemas.microsoft.com/office/powerpoint/2010/main" val="910599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5D733-9A9D-0147-B472-6D2A34313119}"/>
              </a:ext>
            </a:extLst>
          </p:cNvPr>
          <p:cNvSpPr>
            <a:spLocks noGrp="1"/>
          </p:cNvSpPr>
          <p:nvPr>
            <p:ph type="title"/>
          </p:nvPr>
        </p:nvSpPr>
        <p:spPr/>
        <p:txBody>
          <a:bodyPr/>
          <a:lstStyle/>
          <a:p>
            <a:r>
              <a:rPr lang="en-US" dirty="0"/>
              <a:t>Last Time</a:t>
            </a:r>
          </a:p>
        </p:txBody>
      </p:sp>
      <p:sp>
        <p:nvSpPr>
          <p:cNvPr id="3" name="Content Placeholder 2">
            <a:extLst>
              <a:ext uri="{FF2B5EF4-FFF2-40B4-BE49-F238E27FC236}">
                <a16:creationId xmlns:a16="http://schemas.microsoft.com/office/drawing/2014/main" id="{357AA63C-5C44-4545-A937-4E8E5D379A5A}"/>
              </a:ext>
            </a:extLst>
          </p:cNvPr>
          <p:cNvSpPr>
            <a:spLocks noGrp="1"/>
          </p:cNvSpPr>
          <p:nvPr>
            <p:ph sz="half" idx="1"/>
          </p:nvPr>
        </p:nvSpPr>
        <p:spPr>
          <a:xfrm>
            <a:off x="609599" y="1968503"/>
            <a:ext cx="10972799" cy="4157663"/>
          </a:xfrm>
        </p:spPr>
        <p:txBody>
          <a:bodyPr/>
          <a:lstStyle/>
          <a:p>
            <a:r>
              <a:rPr lang="en-US" sz="2400" dirty="0"/>
              <a:t>Constituent redistribution in UZr</a:t>
            </a:r>
          </a:p>
          <a:p>
            <a:pPr lvl="1"/>
            <a:r>
              <a:rPr lang="en-US" sz="1867" dirty="0"/>
              <a:t>thermodynamic and </a:t>
            </a:r>
            <a:r>
              <a:rPr lang="en-US" sz="1867" dirty="0" err="1"/>
              <a:t>Soret</a:t>
            </a:r>
            <a:r>
              <a:rPr lang="en-US" sz="1867" dirty="0"/>
              <a:t> diffusion effects</a:t>
            </a:r>
          </a:p>
          <a:p>
            <a:r>
              <a:rPr lang="en-US" sz="2400" dirty="0"/>
              <a:t>Different porosities in different phases</a:t>
            </a:r>
          </a:p>
          <a:p>
            <a:r>
              <a:rPr lang="en-US" sz="2400" dirty="0"/>
              <a:t>Thermal conductivity degrades with porosity, but increases with sodium infiltration</a:t>
            </a:r>
          </a:p>
          <a:p>
            <a:r>
              <a:rPr lang="en-US" sz="2400" dirty="0"/>
              <a:t>Fuel cladding mechanical and chemical interaction</a:t>
            </a:r>
          </a:p>
          <a:p>
            <a:r>
              <a:rPr lang="en-US" sz="2400" dirty="0"/>
              <a:t>FCMI limited by low smear density and large plenum</a:t>
            </a:r>
          </a:p>
          <a:p>
            <a:pPr lvl="1"/>
            <a:r>
              <a:rPr lang="en-US" sz="1867" dirty="0"/>
              <a:t>swelling due to fission gas and solid fission products</a:t>
            </a:r>
          </a:p>
          <a:p>
            <a:r>
              <a:rPr lang="en-US" sz="2400" dirty="0"/>
              <a:t>FCCI is a complex thermodynamic and kinetic process</a:t>
            </a:r>
          </a:p>
          <a:p>
            <a:pPr lvl="1"/>
            <a:r>
              <a:rPr lang="en-US" sz="1867" dirty="0"/>
              <a:t>low melting phases can be studied with diffusion couples</a:t>
            </a:r>
          </a:p>
        </p:txBody>
      </p:sp>
      <p:sp>
        <p:nvSpPr>
          <p:cNvPr id="5" name="Slide Number Placeholder 4">
            <a:extLst>
              <a:ext uri="{FF2B5EF4-FFF2-40B4-BE49-F238E27FC236}">
                <a16:creationId xmlns:a16="http://schemas.microsoft.com/office/drawing/2014/main" id="{ED13D8C5-2625-944D-A346-88684E6316EC}"/>
              </a:ext>
            </a:extLst>
          </p:cNvPr>
          <p:cNvSpPr>
            <a:spLocks noGrp="1"/>
          </p:cNvSpPr>
          <p:nvPr>
            <p:ph type="sldNum" sz="quarter" idx="12"/>
          </p:nvPr>
        </p:nvSpPr>
        <p:spPr/>
        <p:txBody>
          <a:bodyPr/>
          <a:lstStyle/>
          <a:p>
            <a:pPr>
              <a:defRPr/>
            </a:pPr>
            <a:fld id="{EC35E9FC-F6D5-0349-BBED-EA7D7A9BC49B}" type="slidenum">
              <a:rPr lang="en-US" smtClean="0"/>
              <a:pPr>
                <a:defRPr/>
              </a:pPr>
              <a:t>5</a:t>
            </a:fld>
            <a:endParaRPr lang="en-US"/>
          </a:p>
        </p:txBody>
      </p:sp>
    </p:spTree>
    <p:extLst>
      <p:ext uri="{BB962C8B-B14F-4D97-AF65-F5344CB8AC3E}">
        <p14:creationId xmlns:p14="http://schemas.microsoft.com/office/powerpoint/2010/main" val="35933808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613070" cy="4157664"/>
          </a:xfrm>
        </p:spPr>
        <p:txBody>
          <a:bodyPr/>
          <a:lstStyle/>
          <a:p>
            <a:r>
              <a:rPr lang="en-US" sz="2400" dirty="0"/>
              <a:t>U-Zr has a very high thermal conductivity compared to oxide fuels</a:t>
            </a:r>
          </a:p>
          <a:p>
            <a:r>
              <a:rPr lang="en-US" sz="2400" dirty="0"/>
              <a:t>However, developing porosity will degrade the thermal conductivity </a:t>
            </a:r>
          </a:p>
          <a:p>
            <a:r>
              <a:rPr lang="en-US" sz="2400" dirty="0"/>
              <a:t>Understanding the temperature also governs how our porosity will develop and how redistribution will vary axially</a:t>
            </a:r>
          </a:p>
          <a:p>
            <a:r>
              <a:rPr lang="en-US" sz="2400" dirty="0"/>
              <a:t>This is a coupled problem that is complex, but critical for prediction of fuel evolution</a:t>
            </a:r>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a:defRPr/>
            </a:pPr>
            <a:fld id="{3FF2C605-4958-CF43-AA48-80339EFDB0AF}" type="slidenum">
              <a:rPr lang="en-US" smtClean="0"/>
              <a:pPr>
                <a:defRPr/>
              </a:pPr>
              <a:t>6</a:t>
            </a:fld>
            <a:endParaRPr lang="en-US"/>
          </a:p>
        </p:txBody>
      </p:sp>
      <p:pic>
        <p:nvPicPr>
          <p:cNvPr id="5" name="Picture 4">
            <a:extLst>
              <a:ext uri="{FF2B5EF4-FFF2-40B4-BE49-F238E27FC236}">
                <a16:creationId xmlns:a16="http://schemas.microsoft.com/office/drawing/2014/main" id="{E6D4B9D6-32AF-CE41-87D4-A6C48B2ED47C}"/>
              </a:ext>
            </a:extLst>
          </p:cNvPr>
          <p:cNvPicPr>
            <a:picLocks noChangeAspect="1"/>
          </p:cNvPicPr>
          <p:nvPr/>
        </p:nvPicPr>
        <p:blipFill>
          <a:blip r:embed="rId2"/>
          <a:stretch>
            <a:fillRect/>
          </a:stretch>
        </p:blipFill>
        <p:spPr>
          <a:xfrm>
            <a:off x="6353298" y="1968500"/>
            <a:ext cx="5379027" cy="3899430"/>
          </a:xfrm>
          <a:prstGeom prst="rect">
            <a:avLst/>
          </a:prstGeom>
        </p:spPr>
      </p:pic>
    </p:spTree>
    <p:extLst>
      <p:ext uri="{BB962C8B-B14F-4D97-AF65-F5344CB8AC3E}">
        <p14:creationId xmlns:p14="http://schemas.microsoft.com/office/powerpoint/2010/main" val="24665488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321465" cy="4157664"/>
          </a:xfrm>
        </p:spPr>
        <p:txBody>
          <a:bodyPr/>
          <a:lstStyle/>
          <a:p>
            <a:r>
              <a:rPr lang="en-US" sz="2300" dirty="0"/>
              <a:t>Bond sodium plays an important role on the thermal behavior of the fuel during irradiation</a:t>
            </a:r>
          </a:p>
          <a:p>
            <a:r>
              <a:rPr lang="en-US" sz="2300" dirty="0"/>
              <a:t>At the point where the fuel reaches its maximum swelling the porosity in most of the fuel interconnects and gas is vented to the plenum</a:t>
            </a:r>
          </a:p>
          <a:p>
            <a:r>
              <a:rPr lang="en-US" sz="2300" dirty="0"/>
              <a:t>This allows the bond sodium to infiltrate the fuel body and increase the fuel’s overall thermal conductivity</a:t>
            </a:r>
          </a:p>
          <a:p>
            <a:endParaRPr lang="en-US" sz="2300" dirty="0"/>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a:defRPr/>
            </a:pPr>
            <a:fld id="{3FF2C605-4958-CF43-AA48-80339EFDB0AF}" type="slidenum">
              <a:rPr lang="en-US" smtClean="0"/>
              <a:pPr>
                <a:defRPr/>
              </a:pPr>
              <a:t>7</a:t>
            </a:fld>
            <a:endParaRPr lang="en-US"/>
          </a:p>
        </p:txBody>
      </p:sp>
      <p:sp>
        <p:nvSpPr>
          <p:cNvPr id="8" name="Content Placeholder 2">
            <a:extLst>
              <a:ext uri="{FF2B5EF4-FFF2-40B4-BE49-F238E27FC236}">
                <a16:creationId xmlns:a16="http://schemas.microsoft.com/office/drawing/2014/main" id="{FAC3E5D0-A28C-0C44-BFD3-CC7A5D256DDD}"/>
              </a:ext>
            </a:extLst>
          </p:cNvPr>
          <p:cNvSpPr txBox="1">
            <a:spLocks/>
          </p:cNvSpPr>
          <p:nvPr/>
        </p:nvSpPr>
        <p:spPr bwMode="auto">
          <a:xfrm>
            <a:off x="5931065" y="1968500"/>
            <a:ext cx="5321465" cy="4157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FAA26D3D-D897-4be2-8F04-BA451C77F1D7}">
              <ma14:placeholderFlag xmlns:ma14="http://schemas.microsoft.com/office/mac/drawingml/2011/main" xmlns=""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1867"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1333"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667"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667"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667"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667" kern="1200">
                <a:solidFill>
                  <a:schemeClr val="tx1"/>
                </a:solidFill>
                <a:latin typeface="+mn-lt"/>
                <a:ea typeface="+mn-ea"/>
                <a:cs typeface="+mn-cs"/>
              </a:defRPr>
            </a:lvl9pPr>
          </a:lstStyle>
          <a:p>
            <a:r>
              <a:rPr lang="en-US" sz="2300" dirty="0"/>
              <a:t>Sodium infiltration is known because in PIE, the sodium level above the fuel elements, where the fuel has swelled out to the cladding, is always substantially lower than the total amount of preloaded sodium would indicate</a:t>
            </a:r>
          </a:p>
          <a:p>
            <a:r>
              <a:rPr lang="en-US" sz="2300" dirty="0"/>
              <a:t>Chemical analysis of irradiated fuel finds this “missing” sodium distributed throughout the fuel pin</a:t>
            </a:r>
          </a:p>
          <a:p>
            <a:endParaRPr lang="en-US" sz="2300" dirty="0"/>
          </a:p>
        </p:txBody>
      </p:sp>
    </p:spTree>
    <p:extLst>
      <p:ext uri="{BB962C8B-B14F-4D97-AF65-F5344CB8AC3E}">
        <p14:creationId xmlns:p14="http://schemas.microsoft.com/office/powerpoint/2010/main" val="11744095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9EC9CF-7FEB-D24B-930A-53B877FCFA70}"/>
              </a:ext>
            </a:extLst>
          </p:cNvPr>
          <p:cNvSpPr>
            <a:spLocks noGrp="1"/>
          </p:cNvSpPr>
          <p:nvPr>
            <p:ph type="title"/>
          </p:nvPr>
        </p:nvSpPr>
        <p:spPr/>
        <p:txBody>
          <a:bodyPr/>
          <a:lstStyle/>
          <a:p>
            <a:r>
              <a:rPr lang="en-US" dirty="0"/>
              <a:t>Changes in Thermal Conductivity</a:t>
            </a:r>
          </a:p>
        </p:txBody>
      </p:sp>
      <p:sp>
        <p:nvSpPr>
          <p:cNvPr id="3" name="Content Placeholder 2">
            <a:extLst>
              <a:ext uri="{FF2B5EF4-FFF2-40B4-BE49-F238E27FC236}">
                <a16:creationId xmlns:a16="http://schemas.microsoft.com/office/drawing/2014/main" id="{96A5DC05-A512-A747-9677-955A7FF3809F}"/>
              </a:ext>
            </a:extLst>
          </p:cNvPr>
          <p:cNvSpPr>
            <a:spLocks noGrp="1"/>
          </p:cNvSpPr>
          <p:nvPr>
            <p:ph idx="1"/>
          </p:nvPr>
        </p:nvSpPr>
        <p:spPr>
          <a:xfrm>
            <a:off x="609600" y="1968500"/>
            <a:ext cx="5613070" cy="4157664"/>
          </a:xfrm>
        </p:spPr>
        <p:txBody>
          <a:bodyPr/>
          <a:lstStyle/>
          <a:p>
            <a:r>
              <a:rPr lang="en-US" sz="2400" dirty="0"/>
              <a:t>On average, approximately 15–20% of the porosity is filled with sodium</a:t>
            </a:r>
          </a:p>
          <a:p>
            <a:r>
              <a:rPr lang="en-US" sz="2400" dirty="0"/>
              <a:t>The overall thermal conductivity of the fuel drops continuously during the early free-swelling stage, due to porosity development, but then increases rather suddenly with gas release and sodium logging</a:t>
            </a:r>
          </a:p>
          <a:p>
            <a:r>
              <a:rPr lang="en-US" sz="2400" dirty="0"/>
              <a:t>Experiments at right had thermocouples in the center of the fuel</a:t>
            </a:r>
          </a:p>
          <a:p>
            <a:endParaRPr lang="en-US" sz="2400" dirty="0"/>
          </a:p>
          <a:p>
            <a:endParaRPr lang="en-US" sz="1800" dirty="0"/>
          </a:p>
        </p:txBody>
      </p:sp>
      <p:sp>
        <p:nvSpPr>
          <p:cNvPr id="4" name="Slide Number Placeholder 3">
            <a:extLst>
              <a:ext uri="{FF2B5EF4-FFF2-40B4-BE49-F238E27FC236}">
                <a16:creationId xmlns:a16="http://schemas.microsoft.com/office/drawing/2014/main" id="{481B611E-B343-4144-B1A9-DFF1AD6A1F22}"/>
              </a:ext>
            </a:extLst>
          </p:cNvPr>
          <p:cNvSpPr>
            <a:spLocks noGrp="1"/>
          </p:cNvSpPr>
          <p:nvPr>
            <p:ph type="sldNum" sz="quarter" idx="12"/>
          </p:nvPr>
        </p:nvSpPr>
        <p:spPr/>
        <p:txBody>
          <a:bodyPr/>
          <a:lstStyle/>
          <a:p>
            <a:pPr>
              <a:defRPr/>
            </a:pPr>
            <a:fld id="{3FF2C605-4958-CF43-AA48-80339EFDB0AF}" type="slidenum">
              <a:rPr lang="en-US" smtClean="0"/>
              <a:pPr>
                <a:defRPr/>
              </a:pPr>
              <a:t>8</a:t>
            </a:fld>
            <a:endParaRPr lang="en-US"/>
          </a:p>
        </p:txBody>
      </p:sp>
      <p:pic>
        <p:nvPicPr>
          <p:cNvPr id="6" name="Picture 5">
            <a:extLst>
              <a:ext uri="{FF2B5EF4-FFF2-40B4-BE49-F238E27FC236}">
                <a16:creationId xmlns:a16="http://schemas.microsoft.com/office/drawing/2014/main" id="{E5542C1B-8E3A-094D-B6C8-95AAC8BD8EBD}"/>
              </a:ext>
            </a:extLst>
          </p:cNvPr>
          <p:cNvPicPr>
            <a:picLocks noChangeAspect="1"/>
          </p:cNvPicPr>
          <p:nvPr/>
        </p:nvPicPr>
        <p:blipFill>
          <a:blip r:embed="rId2"/>
          <a:stretch>
            <a:fillRect/>
          </a:stretch>
        </p:blipFill>
        <p:spPr>
          <a:xfrm>
            <a:off x="7253636" y="1889508"/>
            <a:ext cx="3297797" cy="4545836"/>
          </a:xfrm>
          <a:prstGeom prst="rect">
            <a:avLst/>
          </a:prstGeom>
        </p:spPr>
      </p:pic>
    </p:spTree>
    <p:extLst>
      <p:ext uri="{BB962C8B-B14F-4D97-AF65-F5344CB8AC3E}">
        <p14:creationId xmlns:p14="http://schemas.microsoft.com/office/powerpoint/2010/main" val="482840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1324-FBFC-2B46-BE7A-DF7C331580D6}"/>
              </a:ext>
            </a:extLst>
          </p:cNvPr>
          <p:cNvSpPr>
            <a:spLocks noGrp="1"/>
          </p:cNvSpPr>
          <p:nvPr>
            <p:ph type="title"/>
          </p:nvPr>
        </p:nvSpPr>
        <p:spPr/>
        <p:txBody>
          <a:bodyPr/>
          <a:lstStyle/>
          <a:p>
            <a:r>
              <a:rPr lang="en-US" dirty="0"/>
              <a:t>Fuel-Cladding Interaction</a:t>
            </a:r>
          </a:p>
        </p:txBody>
      </p:sp>
      <p:sp>
        <p:nvSpPr>
          <p:cNvPr id="3" name="Content Placeholder 2">
            <a:extLst>
              <a:ext uri="{FF2B5EF4-FFF2-40B4-BE49-F238E27FC236}">
                <a16:creationId xmlns:a16="http://schemas.microsoft.com/office/drawing/2014/main" id="{102BDC49-F166-254D-878A-9EABC96E79C9}"/>
              </a:ext>
            </a:extLst>
          </p:cNvPr>
          <p:cNvSpPr>
            <a:spLocks noGrp="1"/>
          </p:cNvSpPr>
          <p:nvPr>
            <p:ph sz="half" idx="1"/>
          </p:nvPr>
        </p:nvSpPr>
        <p:spPr/>
        <p:txBody>
          <a:bodyPr/>
          <a:lstStyle/>
          <a:p>
            <a:r>
              <a:rPr lang="en-US" sz="2300" dirty="0"/>
              <a:t>Fuel-Cladding interactions are both mechanical and chemical in nature (FCMI and FCCI)</a:t>
            </a:r>
          </a:p>
          <a:p>
            <a:r>
              <a:rPr lang="en-US" sz="2300" dirty="0"/>
              <a:t>FCMI results from when the fuel swells, comes into contact with the cladding, and exerts an outward force on the cladding</a:t>
            </a:r>
          </a:p>
          <a:p>
            <a:r>
              <a:rPr lang="en-US" sz="2300" dirty="0"/>
              <a:t>Early element designs did not allow the fuel sufficient free swelling, this gas bubble pressure was transmitted directly to the cladding</a:t>
            </a:r>
          </a:p>
        </p:txBody>
      </p:sp>
      <p:sp>
        <p:nvSpPr>
          <p:cNvPr id="4" name="Content Placeholder 3">
            <a:extLst>
              <a:ext uri="{FF2B5EF4-FFF2-40B4-BE49-F238E27FC236}">
                <a16:creationId xmlns:a16="http://schemas.microsoft.com/office/drawing/2014/main" id="{59E0C01A-F623-5141-BC8B-F700C65F7807}"/>
              </a:ext>
            </a:extLst>
          </p:cNvPr>
          <p:cNvSpPr>
            <a:spLocks noGrp="1"/>
          </p:cNvSpPr>
          <p:nvPr>
            <p:ph sz="half" idx="2"/>
          </p:nvPr>
        </p:nvSpPr>
        <p:spPr/>
        <p:txBody>
          <a:bodyPr/>
          <a:lstStyle/>
          <a:p>
            <a:r>
              <a:rPr lang="en-US" sz="2300" dirty="0"/>
              <a:t>Thus, all early designs suffered from cladding deformation and rupture at modest burnups</a:t>
            </a:r>
          </a:p>
          <a:p>
            <a:r>
              <a:rPr lang="en-US" sz="2300" dirty="0"/>
              <a:t>This was one of the primary reasons oxide fuels were pursued over metallic alloys</a:t>
            </a:r>
          </a:p>
          <a:p>
            <a:r>
              <a:rPr lang="en-US" sz="2300" dirty="0"/>
              <a:t>By the time the smear density solution had been implemented, metallic fuels had already been left behind</a:t>
            </a:r>
          </a:p>
          <a:p>
            <a:endParaRPr lang="en-US" sz="2300" dirty="0"/>
          </a:p>
        </p:txBody>
      </p:sp>
      <p:sp>
        <p:nvSpPr>
          <p:cNvPr id="5" name="Slide Number Placeholder 4">
            <a:extLst>
              <a:ext uri="{FF2B5EF4-FFF2-40B4-BE49-F238E27FC236}">
                <a16:creationId xmlns:a16="http://schemas.microsoft.com/office/drawing/2014/main" id="{2844C575-1846-B042-90B7-5E861B68A2F1}"/>
              </a:ext>
            </a:extLst>
          </p:cNvPr>
          <p:cNvSpPr>
            <a:spLocks noGrp="1"/>
          </p:cNvSpPr>
          <p:nvPr>
            <p:ph type="sldNum" sz="quarter" idx="12"/>
          </p:nvPr>
        </p:nvSpPr>
        <p:spPr/>
        <p:txBody>
          <a:bodyPr/>
          <a:lstStyle/>
          <a:p>
            <a:pPr>
              <a:defRPr/>
            </a:pPr>
            <a:fld id="{EC35E9FC-F6D5-0349-BBED-EA7D7A9BC49B}" type="slidenum">
              <a:rPr lang="en-US" smtClean="0"/>
              <a:pPr>
                <a:defRPr/>
              </a:pPr>
              <a:t>9</a:t>
            </a:fld>
            <a:endParaRPr lang="en-US"/>
          </a:p>
        </p:txBody>
      </p:sp>
    </p:spTree>
    <p:extLst>
      <p:ext uri="{BB962C8B-B14F-4D97-AF65-F5344CB8AC3E}">
        <p14:creationId xmlns:p14="http://schemas.microsoft.com/office/powerpoint/2010/main" val="41597619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51324-FBFC-2B46-BE7A-DF7C331580D6}"/>
              </a:ext>
            </a:extLst>
          </p:cNvPr>
          <p:cNvSpPr>
            <a:spLocks noGrp="1"/>
          </p:cNvSpPr>
          <p:nvPr>
            <p:ph type="title"/>
          </p:nvPr>
        </p:nvSpPr>
        <p:spPr/>
        <p:txBody>
          <a:bodyPr/>
          <a:lstStyle/>
          <a:p>
            <a:r>
              <a:rPr lang="en-US" dirty="0"/>
              <a:t>Fuel-Cladding Mechanical Interaction</a:t>
            </a:r>
          </a:p>
        </p:txBody>
      </p:sp>
      <p:sp>
        <p:nvSpPr>
          <p:cNvPr id="3" name="Content Placeholder 2">
            <a:extLst>
              <a:ext uri="{FF2B5EF4-FFF2-40B4-BE49-F238E27FC236}">
                <a16:creationId xmlns:a16="http://schemas.microsoft.com/office/drawing/2014/main" id="{102BDC49-F166-254D-878A-9EABC96E79C9}"/>
              </a:ext>
            </a:extLst>
          </p:cNvPr>
          <p:cNvSpPr>
            <a:spLocks noGrp="1"/>
          </p:cNvSpPr>
          <p:nvPr>
            <p:ph sz="half" idx="1"/>
          </p:nvPr>
        </p:nvSpPr>
        <p:spPr>
          <a:xfrm>
            <a:off x="609599" y="1968503"/>
            <a:ext cx="6390291" cy="4157663"/>
          </a:xfrm>
        </p:spPr>
        <p:txBody>
          <a:bodyPr/>
          <a:lstStyle/>
          <a:p>
            <a:r>
              <a:rPr lang="en-US" sz="2100" dirty="0"/>
              <a:t>The cladding strain of low smear density, small plenum fuel rod designs is primarily creep strain due to FCMI (MK-I)</a:t>
            </a:r>
          </a:p>
          <a:p>
            <a:r>
              <a:rPr lang="en-US" sz="2100" dirty="0"/>
              <a:t>The cladding strain of high smear density, large plenum rods is mainly irradiation-induced cladding swelling (MK-II)</a:t>
            </a:r>
          </a:p>
          <a:p>
            <a:r>
              <a:rPr lang="en-US" sz="2100" dirty="0"/>
              <a:t>The creep strain can be accounted for by the plenum pressure stress alone, which confirms that FCMI is virtually nonexistent in suitably designed metallic fuel elements</a:t>
            </a:r>
          </a:p>
          <a:p>
            <a:r>
              <a:rPr lang="en-US" sz="2100" dirty="0"/>
              <a:t>Significant FCMI can be avoided to high burnup if the as-built fuel smeared density is kept to 75%, and a sufficient gas plenum is employed</a:t>
            </a:r>
          </a:p>
          <a:p>
            <a:endParaRPr lang="en-US" sz="2100" dirty="0"/>
          </a:p>
          <a:p>
            <a:endParaRPr lang="en-US" sz="2100" dirty="0"/>
          </a:p>
          <a:p>
            <a:endParaRPr lang="en-US" sz="2100" dirty="0"/>
          </a:p>
          <a:p>
            <a:endParaRPr lang="en-US" sz="2100" dirty="0"/>
          </a:p>
          <a:p>
            <a:endParaRPr lang="en-US" sz="2100" dirty="0"/>
          </a:p>
        </p:txBody>
      </p:sp>
      <p:sp>
        <p:nvSpPr>
          <p:cNvPr id="5" name="Slide Number Placeholder 4">
            <a:extLst>
              <a:ext uri="{FF2B5EF4-FFF2-40B4-BE49-F238E27FC236}">
                <a16:creationId xmlns:a16="http://schemas.microsoft.com/office/drawing/2014/main" id="{2844C575-1846-B042-90B7-5E861B68A2F1}"/>
              </a:ext>
            </a:extLst>
          </p:cNvPr>
          <p:cNvSpPr>
            <a:spLocks noGrp="1"/>
          </p:cNvSpPr>
          <p:nvPr>
            <p:ph type="sldNum" sz="quarter" idx="12"/>
          </p:nvPr>
        </p:nvSpPr>
        <p:spPr/>
        <p:txBody>
          <a:bodyPr/>
          <a:lstStyle/>
          <a:p>
            <a:pPr>
              <a:defRPr/>
            </a:pPr>
            <a:fld id="{EC35E9FC-F6D5-0349-BBED-EA7D7A9BC49B}" type="slidenum">
              <a:rPr lang="en-US" smtClean="0"/>
              <a:pPr>
                <a:defRPr/>
              </a:pPr>
              <a:t>10</a:t>
            </a:fld>
            <a:endParaRPr lang="en-US"/>
          </a:p>
        </p:txBody>
      </p:sp>
      <p:pic>
        <p:nvPicPr>
          <p:cNvPr id="6" name="Picture 5">
            <a:extLst>
              <a:ext uri="{FF2B5EF4-FFF2-40B4-BE49-F238E27FC236}">
                <a16:creationId xmlns:a16="http://schemas.microsoft.com/office/drawing/2014/main" id="{233E5E04-7547-1C44-864D-564652F2B7D7}"/>
              </a:ext>
            </a:extLst>
          </p:cNvPr>
          <p:cNvPicPr>
            <a:picLocks noChangeAspect="1"/>
          </p:cNvPicPr>
          <p:nvPr/>
        </p:nvPicPr>
        <p:blipFill>
          <a:blip r:embed="rId2"/>
          <a:stretch>
            <a:fillRect/>
          </a:stretch>
        </p:blipFill>
        <p:spPr>
          <a:xfrm>
            <a:off x="6831687" y="1968500"/>
            <a:ext cx="5231853" cy="3815369"/>
          </a:xfrm>
          <a:prstGeom prst="rect">
            <a:avLst/>
          </a:prstGeom>
        </p:spPr>
      </p:pic>
    </p:spTree>
    <p:extLst>
      <p:ext uri="{BB962C8B-B14F-4D97-AF65-F5344CB8AC3E}">
        <p14:creationId xmlns:p14="http://schemas.microsoft.com/office/powerpoint/2010/main" val="11782763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3EC709-B88D-384A-8A02-9F07D005AB25}"/>
              </a:ext>
            </a:extLst>
          </p:cNvPr>
          <p:cNvSpPr>
            <a:spLocks noGrp="1"/>
          </p:cNvSpPr>
          <p:nvPr>
            <p:ph type="title"/>
          </p:nvPr>
        </p:nvSpPr>
        <p:spPr/>
        <p:txBody>
          <a:bodyPr/>
          <a:lstStyle/>
          <a:p>
            <a:r>
              <a:rPr lang="en-US" dirty="0"/>
              <a:t>Fission-Induced Creep</a:t>
            </a:r>
          </a:p>
        </p:txBody>
      </p:sp>
      <p:sp>
        <p:nvSpPr>
          <p:cNvPr id="3" name="Content Placeholder 2">
            <a:extLst>
              <a:ext uri="{FF2B5EF4-FFF2-40B4-BE49-F238E27FC236}">
                <a16:creationId xmlns:a16="http://schemas.microsoft.com/office/drawing/2014/main" id="{AC181A0A-8CAF-2E44-B702-AE87FB872D17}"/>
              </a:ext>
            </a:extLst>
          </p:cNvPr>
          <p:cNvSpPr>
            <a:spLocks noGrp="1"/>
          </p:cNvSpPr>
          <p:nvPr>
            <p:ph sz="half" idx="1"/>
          </p:nvPr>
        </p:nvSpPr>
        <p:spPr/>
        <p:txBody>
          <a:bodyPr/>
          <a:lstStyle/>
          <a:p>
            <a:r>
              <a:rPr lang="en-US" sz="2400" dirty="0"/>
              <a:t>Stress in the cladding due to fuel swelling will thus also depend on the effective creep rate of the fuel in-reactor</a:t>
            </a:r>
          </a:p>
          <a:p>
            <a:r>
              <a:rPr lang="en-US" sz="2400" dirty="0"/>
              <a:t>Measurable creep deformation of </a:t>
            </a:r>
            <a:r>
              <a:rPr lang="el-GR" sz="2400" dirty="0"/>
              <a:t>α-</a:t>
            </a:r>
            <a:r>
              <a:rPr lang="en-US" sz="2400" dirty="0"/>
              <a:t>U during fissioning at temperatures where classical creep does not exist has been experimentally identified</a:t>
            </a:r>
          </a:p>
          <a:p>
            <a:endParaRPr lang="en-US" sz="2400" dirty="0"/>
          </a:p>
          <a:p>
            <a:endParaRPr lang="en-US" sz="2400" dirty="0"/>
          </a:p>
        </p:txBody>
      </p:sp>
      <p:sp>
        <p:nvSpPr>
          <p:cNvPr id="4" name="Content Placeholder 3">
            <a:extLst>
              <a:ext uri="{FF2B5EF4-FFF2-40B4-BE49-F238E27FC236}">
                <a16:creationId xmlns:a16="http://schemas.microsoft.com/office/drawing/2014/main" id="{C36B2165-16A9-4B4A-AA01-B8F332DC360E}"/>
              </a:ext>
            </a:extLst>
          </p:cNvPr>
          <p:cNvSpPr>
            <a:spLocks noGrp="1"/>
          </p:cNvSpPr>
          <p:nvPr>
            <p:ph sz="half" idx="2"/>
          </p:nvPr>
        </p:nvSpPr>
        <p:spPr/>
        <p:txBody>
          <a:bodyPr/>
          <a:lstStyle/>
          <a:p>
            <a:r>
              <a:rPr lang="en-US" sz="2400" dirty="0"/>
              <a:t>These studies clearly established that at low temperature, the in-reactor creep rate of U is independent of temperature and linearly dependent on both stress</a:t>
            </a:r>
            <a:r>
              <a:rPr lang="el-GR" sz="2400" dirty="0"/>
              <a:t> </a:t>
            </a:r>
            <a:r>
              <a:rPr lang="en-US" sz="2400" dirty="0"/>
              <a:t>and fission rate</a:t>
            </a:r>
          </a:p>
          <a:p>
            <a:endParaRPr lang="en-US" sz="2400" dirty="0"/>
          </a:p>
          <a:p>
            <a:endParaRPr lang="en-US" sz="2400" dirty="0"/>
          </a:p>
        </p:txBody>
      </p:sp>
      <p:sp>
        <p:nvSpPr>
          <p:cNvPr id="5" name="Slide Number Placeholder 4">
            <a:extLst>
              <a:ext uri="{FF2B5EF4-FFF2-40B4-BE49-F238E27FC236}">
                <a16:creationId xmlns:a16="http://schemas.microsoft.com/office/drawing/2014/main" id="{465D38B1-F993-BA4E-AB05-8F02FA93A2AD}"/>
              </a:ext>
            </a:extLst>
          </p:cNvPr>
          <p:cNvSpPr>
            <a:spLocks noGrp="1"/>
          </p:cNvSpPr>
          <p:nvPr>
            <p:ph type="sldNum" sz="quarter" idx="12"/>
          </p:nvPr>
        </p:nvSpPr>
        <p:spPr/>
        <p:txBody>
          <a:bodyPr/>
          <a:lstStyle/>
          <a:p>
            <a:pPr>
              <a:defRPr/>
            </a:pPr>
            <a:fld id="{EC35E9FC-F6D5-0349-BBED-EA7D7A9BC49B}" type="slidenum">
              <a:rPr lang="en-US" smtClean="0"/>
              <a:pPr>
                <a:defRPr/>
              </a:pPr>
              <a:t>11</a:t>
            </a:fld>
            <a:endParaRPr lang="en-US"/>
          </a:p>
        </p:txBody>
      </p:sp>
      <p:pic>
        <p:nvPicPr>
          <p:cNvPr id="6" name="Picture 5">
            <a:extLst>
              <a:ext uri="{FF2B5EF4-FFF2-40B4-BE49-F238E27FC236}">
                <a16:creationId xmlns:a16="http://schemas.microsoft.com/office/drawing/2014/main" id="{14AF1C6E-A000-6F42-AE57-05203A39FF64}"/>
              </a:ext>
            </a:extLst>
          </p:cNvPr>
          <p:cNvPicPr>
            <a:picLocks noChangeAspect="1"/>
          </p:cNvPicPr>
          <p:nvPr/>
        </p:nvPicPr>
        <p:blipFill>
          <a:blip r:embed="rId2"/>
          <a:stretch>
            <a:fillRect/>
          </a:stretch>
        </p:blipFill>
        <p:spPr>
          <a:xfrm>
            <a:off x="5994400" y="4389403"/>
            <a:ext cx="5836526" cy="1736763"/>
          </a:xfrm>
          <a:prstGeom prst="rect">
            <a:avLst/>
          </a:prstGeom>
        </p:spPr>
      </p:pic>
    </p:spTree>
    <p:extLst>
      <p:ext uri="{BB962C8B-B14F-4D97-AF65-F5344CB8AC3E}">
        <p14:creationId xmlns:p14="http://schemas.microsoft.com/office/powerpoint/2010/main" val="1939695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98917-1978-0F4C-9A37-CB823DAAE584}"/>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0E649986-DBBE-4243-8269-517043303930}"/>
              </a:ext>
            </a:extLst>
          </p:cNvPr>
          <p:cNvSpPr>
            <a:spLocks noGrp="1"/>
          </p:cNvSpPr>
          <p:nvPr>
            <p:ph sz="half" idx="1"/>
          </p:nvPr>
        </p:nvSpPr>
        <p:spPr/>
        <p:txBody>
          <a:bodyPr/>
          <a:lstStyle/>
          <a:p>
            <a:r>
              <a:rPr lang="en-US" sz="2400" dirty="0"/>
              <a:t>Post-irradiation examinations of high burnup fuel appear largely to support both partitioning into subgroups and assumptions of fission product behavior</a:t>
            </a:r>
          </a:p>
          <a:p>
            <a:r>
              <a:rPr lang="en-US" sz="2400" dirty="0"/>
              <a:t>A reason for partitioning these fission products is their different migration behavior in the fuel; such grouping allows an evaluation of this migration on the properties of the various radial phasal zones</a:t>
            </a:r>
          </a:p>
          <a:p>
            <a:endParaRPr lang="en-US" sz="2400" dirty="0"/>
          </a:p>
          <a:p>
            <a:endParaRPr lang="en-US" sz="1400" dirty="0"/>
          </a:p>
        </p:txBody>
      </p:sp>
      <p:sp>
        <p:nvSpPr>
          <p:cNvPr id="4" name="Content Placeholder 3">
            <a:extLst>
              <a:ext uri="{FF2B5EF4-FFF2-40B4-BE49-F238E27FC236}">
                <a16:creationId xmlns:a16="http://schemas.microsoft.com/office/drawing/2014/main" id="{C11316B1-2D2D-354B-80BD-C406B4C413C3}"/>
              </a:ext>
            </a:extLst>
          </p:cNvPr>
          <p:cNvSpPr>
            <a:spLocks noGrp="1"/>
          </p:cNvSpPr>
          <p:nvPr>
            <p:ph sz="half" idx="2"/>
          </p:nvPr>
        </p:nvSpPr>
        <p:spPr/>
        <p:txBody>
          <a:bodyPr/>
          <a:lstStyle/>
          <a:p>
            <a:r>
              <a:rPr lang="en-US" sz="2400" dirty="0"/>
              <a:t>Zr, Nb, and Mo are all in solution in the fuel phases</a:t>
            </a:r>
          </a:p>
          <a:p>
            <a:r>
              <a:rPr lang="en-US" sz="2400" dirty="0"/>
              <a:t>Alkali elements (Cs) are dissolved to some extent in the bond sodium</a:t>
            </a:r>
          </a:p>
          <a:p>
            <a:r>
              <a:rPr lang="en-US" sz="2400" dirty="0"/>
              <a:t>The noble metals (Pt) precipitate as compounds</a:t>
            </a:r>
          </a:p>
          <a:p>
            <a:r>
              <a:rPr lang="en-US" sz="2400" dirty="0"/>
              <a:t>The rare earths (Nd) precipitate as a separate compound or alloy</a:t>
            </a:r>
          </a:p>
          <a:p>
            <a:r>
              <a:rPr lang="en-US" sz="2400" dirty="0"/>
              <a:t>The majority of the alkaline (Sr) earths precipitate separately</a:t>
            </a:r>
          </a:p>
          <a:p>
            <a:endParaRPr lang="en-US" sz="2400" dirty="0"/>
          </a:p>
        </p:txBody>
      </p:sp>
      <p:sp>
        <p:nvSpPr>
          <p:cNvPr id="5" name="Slide Number Placeholder 4">
            <a:extLst>
              <a:ext uri="{FF2B5EF4-FFF2-40B4-BE49-F238E27FC236}">
                <a16:creationId xmlns:a16="http://schemas.microsoft.com/office/drawing/2014/main" id="{AAEDBF11-6B55-2E4E-B9A0-E7884BEE0498}"/>
              </a:ext>
            </a:extLst>
          </p:cNvPr>
          <p:cNvSpPr>
            <a:spLocks noGrp="1"/>
          </p:cNvSpPr>
          <p:nvPr>
            <p:ph type="sldNum" sz="quarter" idx="12"/>
          </p:nvPr>
        </p:nvSpPr>
        <p:spPr/>
        <p:txBody>
          <a:bodyPr/>
          <a:lstStyle/>
          <a:p>
            <a:pPr>
              <a:defRPr/>
            </a:pPr>
            <a:fld id="{EC35E9FC-F6D5-0349-BBED-EA7D7A9BC49B}" type="slidenum">
              <a:rPr lang="en-US" smtClean="0"/>
              <a:pPr>
                <a:defRPr/>
              </a:pPr>
              <a:t>12</a:t>
            </a:fld>
            <a:endParaRPr lang="en-US"/>
          </a:p>
        </p:txBody>
      </p:sp>
    </p:spTree>
    <p:extLst>
      <p:ext uri="{BB962C8B-B14F-4D97-AF65-F5344CB8AC3E}">
        <p14:creationId xmlns:p14="http://schemas.microsoft.com/office/powerpoint/2010/main" val="2688883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p:txBody>
          <a:bodyPr/>
          <a:lstStyle/>
          <a:p>
            <a:r>
              <a:rPr lang="en-US" sz="2400" dirty="0"/>
              <a:t>The accommodation of the </a:t>
            </a:r>
            <a:r>
              <a:rPr lang="en-US" sz="2400" dirty="0" err="1"/>
              <a:t>nonsoluble</a:t>
            </a:r>
            <a:r>
              <a:rPr lang="en-US" sz="2400" dirty="0"/>
              <a:t> fission products predictably results in a volume expansion as a function of burnup</a:t>
            </a:r>
          </a:p>
          <a:p>
            <a:r>
              <a:rPr lang="en-US" sz="2400" dirty="0"/>
              <a:t>As U and Pu are removed from the lattice as they fission, this results in a volume decrease that partially offsets the volume expansion due to fission products</a:t>
            </a:r>
          </a:p>
          <a:p>
            <a:endParaRPr lang="en-US" sz="2400" dirty="0"/>
          </a:p>
        </p:txBody>
      </p:sp>
      <p:sp>
        <p:nvSpPr>
          <p:cNvPr id="4" name="Content Placeholder 3">
            <a:extLst>
              <a:ext uri="{FF2B5EF4-FFF2-40B4-BE49-F238E27FC236}">
                <a16:creationId xmlns:a16="http://schemas.microsoft.com/office/drawing/2014/main" id="{909DDA7D-BF65-F749-9A2E-F0AC83D330EB}"/>
              </a:ext>
            </a:extLst>
          </p:cNvPr>
          <p:cNvSpPr>
            <a:spLocks noGrp="1"/>
          </p:cNvSpPr>
          <p:nvPr>
            <p:ph sz="half" idx="2"/>
          </p:nvPr>
        </p:nvSpPr>
        <p:spPr/>
        <p:txBody>
          <a:bodyPr/>
          <a:lstStyle/>
          <a:p>
            <a:r>
              <a:rPr lang="en-US" sz="2400" dirty="0"/>
              <a:t>Since Zr, Nb and Mo are soluble in the matrix, this compensates for some of the volume decrease due to the disappearance of U and Pu</a:t>
            </a:r>
          </a:p>
          <a:p>
            <a:r>
              <a:rPr lang="en-US" sz="2400" dirty="0"/>
              <a:t>The result of these contributions is an associated volume change of 0.2 vol.% per percent burnup</a:t>
            </a:r>
          </a:p>
          <a:p>
            <a:endParaRPr lang="en-US" sz="2400" dirty="0"/>
          </a:p>
          <a:p>
            <a:endParaRPr lang="en-US" sz="2400" dirty="0"/>
          </a:p>
        </p:txBody>
      </p:sp>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a:defRPr/>
            </a:pPr>
            <a:fld id="{EC35E9FC-F6D5-0349-BBED-EA7D7A9BC49B}" type="slidenum">
              <a:rPr lang="en-US" smtClean="0"/>
              <a:pPr>
                <a:defRPr/>
              </a:pPr>
              <a:t>13</a:t>
            </a:fld>
            <a:endParaRPr lang="en-US"/>
          </a:p>
        </p:txBody>
      </p:sp>
    </p:spTree>
    <p:extLst>
      <p:ext uri="{BB962C8B-B14F-4D97-AF65-F5344CB8AC3E}">
        <p14:creationId xmlns:p14="http://schemas.microsoft.com/office/powerpoint/2010/main" val="24349260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p:txBody>
          <a:bodyPr/>
          <a:lstStyle/>
          <a:p>
            <a:r>
              <a:rPr lang="en-US" sz="2400" dirty="0"/>
              <a:t>The rare earths are found to collect in two separate phases in primarily large pores towards the periphery of the fuel and in gaps between the fuel and cladding</a:t>
            </a:r>
          </a:p>
          <a:p>
            <a:r>
              <a:rPr lang="en-US" sz="2400" dirty="0"/>
              <a:t>A chemical analysis of the bond sodium indicated that a major fraction of the alkali, and also some of the alkaline earth elements, can simply be added to the bond sodium volume</a:t>
            </a:r>
          </a:p>
          <a:p>
            <a:endParaRPr lang="en-US" sz="2400" dirty="0"/>
          </a:p>
          <a:p>
            <a:endParaRPr lang="en-US" sz="1400" dirty="0"/>
          </a:p>
        </p:txBody>
      </p:sp>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a:defRPr/>
            </a:pPr>
            <a:fld id="{EC35E9FC-F6D5-0349-BBED-EA7D7A9BC49B}" type="slidenum">
              <a:rPr lang="en-US" smtClean="0"/>
              <a:pPr>
                <a:defRPr/>
              </a:pPr>
              <a:t>14</a:t>
            </a:fld>
            <a:endParaRPr lang="en-US"/>
          </a:p>
        </p:txBody>
      </p:sp>
      <p:pic>
        <p:nvPicPr>
          <p:cNvPr id="8" name="Content Placeholder 7">
            <a:extLst>
              <a:ext uri="{FF2B5EF4-FFF2-40B4-BE49-F238E27FC236}">
                <a16:creationId xmlns:a16="http://schemas.microsoft.com/office/drawing/2014/main" id="{0852A4E0-7666-7E41-8B96-0DDD8452CE90}"/>
              </a:ext>
            </a:extLst>
          </p:cNvPr>
          <p:cNvPicPr>
            <a:picLocks noGrp="1" noChangeAspect="1"/>
          </p:cNvPicPr>
          <p:nvPr>
            <p:ph sz="half" idx="2"/>
          </p:nvPr>
        </p:nvPicPr>
        <p:blipFill>
          <a:blip r:embed="rId2"/>
          <a:stretch>
            <a:fillRect/>
          </a:stretch>
        </p:blipFill>
        <p:spPr>
          <a:xfrm>
            <a:off x="6197600" y="2448910"/>
            <a:ext cx="5935308" cy="2925499"/>
          </a:xfrm>
          <a:prstGeom prst="rect">
            <a:avLst/>
          </a:prstGeom>
        </p:spPr>
      </p:pic>
      <p:cxnSp>
        <p:nvCxnSpPr>
          <p:cNvPr id="10" name="Straight Arrow Connector 9">
            <a:extLst>
              <a:ext uri="{FF2B5EF4-FFF2-40B4-BE49-F238E27FC236}">
                <a16:creationId xmlns:a16="http://schemas.microsoft.com/office/drawing/2014/main" id="{0C931BCA-B38F-924A-A71E-0F6425DB15FF}"/>
              </a:ext>
            </a:extLst>
          </p:cNvPr>
          <p:cNvCxnSpPr/>
          <p:nvPr/>
        </p:nvCxnSpPr>
        <p:spPr>
          <a:xfrm flipH="1">
            <a:off x="9354207" y="2060028"/>
            <a:ext cx="662152" cy="1702675"/>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8028771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904FD-E3CB-7E4F-8EB9-6E9FECD5BF38}"/>
              </a:ext>
            </a:extLst>
          </p:cNvPr>
          <p:cNvSpPr>
            <a:spLocks noGrp="1"/>
          </p:cNvSpPr>
          <p:nvPr>
            <p:ph type="title"/>
          </p:nvPr>
        </p:nvSpPr>
        <p:spPr/>
        <p:txBody>
          <a:bodyPr/>
          <a:lstStyle/>
          <a:p>
            <a:r>
              <a:rPr lang="en-US" dirty="0"/>
              <a:t>Fission Product Swelling</a:t>
            </a:r>
          </a:p>
        </p:txBody>
      </p:sp>
      <p:sp>
        <p:nvSpPr>
          <p:cNvPr id="3" name="Content Placeholder 2">
            <a:extLst>
              <a:ext uri="{FF2B5EF4-FFF2-40B4-BE49-F238E27FC236}">
                <a16:creationId xmlns:a16="http://schemas.microsoft.com/office/drawing/2014/main" id="{589247F3-5457-6F4A-A0B0-65B0D369C5B7}"/>
              </a:ext>
            </a:extLst>
          </p:cNvPr>
          <p:cNvSpPr>
            <a:spLocks noGrp="1"/>
          </p:cNvSpPr>
          <p:nvPr>
            <p:ph sz="half" idx="1"/>
          </p:nvPr>
        </p:nvSpPr>
        <p:spPr>
          <a:xfrm>
            <a:off x="609599" y="1968503"/>
            <a:ext cx="10573407" cy="774697"/>
          </a:xfrm>
        </p:spPr>
        <p:txBody>
          <a:bodyPr/>
          <a:lstStyle/>
          <a:p>
            <a:r>
              <a:rPr lang="en-US" sz="2400" dirty="0"/>
              <a:t>The total volume of the </a:t>
            </a:r>
            <a:r>
              <a:rPr lang="en-US" sz="2400" dirty="0" err="1"/>
              <a:t>nonsoluble</a:t>
            </a:r>
            <a:r>
              <a:rPr lang="en-US" sz="2400" dirty="0"/>
              <a:t> fission products amounts to approximately 1.2% fuel volume increase per percent burnup</a:t>
            </a:r>
          </a:p>
          <a:p>
            <a:endParaRPr lang="en-US" sz="1400" dirty="0"/>
          </a:p>
        </p:txBody>
      </p:sp>
      <p:pic>
        <p:nvPicPr>
          <p:cNvPr id="6" name="Content Placeholder 5">
            <a:extLst>
              <a:ext uri="{FF2B5EF4-FFF2-40B4-BE49-F238E27FC236}">
                <a16:creationId xmlns:a16="http://schemas.microsoft.com/office/drawing/2014/main" id="{A4F568BD-746E-4443-9B1E-32126C19D69C}"/>
              </a:ext>
            </a:extLst>
          </p:cNvPr>
          <p:cNvPicPr>
            <a:picLocks noGrp="1" noChangeAspect="1"/>
          </p:cNvPicPr>
          <p:nvPr>
            <p:ph sz="half" idx="2"/>
          </p:nvPr>
        </p:nvPicPr>
        <p:blipFill>
          <a:blip r:embed="rId2"/>
          <a:stretch>
            <a:fillRect/>
          </a:stretch>
        </p:blipFill>
        <p:spPr>
          <a:xfrm>
            <a:off x="2189654" y="2824560"/>
            <a:ext cx="7413296" cy="3451749"/>
          </a:xfrm>
          <a:prstGeom prst="rect">
            <a:avLst/>
          </a:prstGeom>
        </p:spPr>
      </p:pic>
      <p:sp>
        <p:nvSpPr>
          <p:cNvPr id="5" name="Slide Number Placeholder 4">
            <a:extLst>
              <a:ext uri="{FF2B5EF4-FFF2-40B4-BE49-F238E27FC236}">
                <a16:creationId xmlns:a16="http://schemas.microsoft.com/office/drawing/2014/main" id="{46BDC99E-AEFF-E245-9AE6-701E0F5F8456}"/>
              </a:ext>
            </a:extLst>
          </p:cNvPr>
          <p:cNvSpPr>
            <a:spLocks noGrp="1"/>
          </p:cNvSpPr>
          <p:nvPr>
            <p:ph type="sldNum" sz="quarter" idx="12"/>
          </p:nvPr>
        </p:nvSpPr>
        <p:spPr/>
        <p:txBody>
          <a:bodyPr/>
          <a:lstStyle/>
          <a:p>
            <a:pPr>
              <a:defRPr/>
            </a:pPr>
            <a:fld id="{EC35E9FC-F6D5-0349-BBED-EA7D7A9BC49B}" type="slidenum">
              <a:rPr lang="en-US" smtClean="0"/>
              <a:pPr>
                <a:defRPr/>
              </a:pPr>
              <a:t>15</a:t>
            </a:fld>
            <a:endParaRPr lang="en-US"/>
          </a:p>
        </p:txBody>
      </p:sp>
    </p:spTree>
    <p:extLst>
      <p:ext uri="{BB962C8B-B14F-4D97-AF65-F5344CB8AC3E}">
        <p14:creationId xmlns:p14="http://schemas.microsoft.com/office/powerpoint/2010/main" val="35402248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968EF-2B93-5044-BCC3-14CB1500BD59}"/>
              </a:ext>
            </a:extLst>
          </p:cNvPr>
          <p:cNvSpPr>
            <a:spLocks noGrp="1"/>
          </p:cNvSpPr>
          <p:nvPr>
            <p:ph type="title"/>
          </p:nvPr>
        </p:nvSpPr>
        <p:spPr/>
        <p:txBody>
          <a:bodyPr/>
          <a:lstStyle/>
          <a:p>
            <a:r>
              <a:rPr lang="en-US" dirty="0"/>
              <a:t>Fuel-Cladding Chemical Interaction</a:t>
            </a:r>
          </a:p>
        </p:txBody>
      </p:sp>
      <p:sp>
        <p:nvSpPr>
          <p:cNvPr id="3" name="Content Placeholder 2">
            <a:extLst>
              <a:ext uri="{FF2B5EF4-FFF2-40B4-BE49-F238E27FC236}">
                <a16:creationId xmlns:a16="http://schemas.microsoft.com/office/drawing/2014/main" id="{54599477-A0FB-D449-AD1D-A2EA0D9F4FE1}"/>
              </a:ext>
            </a:extLst>
          </p:cNvPr>
          <p:cNvSpPr>
            <a:spLocks noGrp="1"/>
          </p:cNvSpPr>
          <p:nvPr>
            <p:ph sz="half" idx="1"/>
          </p:nvPr>
        </p:nvSpPr>
        <p:spPr/>
        <p:txBody>
          <a:bodyPr/>
          <a:lstStyle/>
          <a:p>
            <a:r>
              <a:rPr lang="en-US" sz="2400" dirty="0"/>
              <a:t>FCCI is a complex multicomponent diffusion and thermodynamic problem</a:t>
            </a:r>
          </a:p>
          <a:p>
            <a:r>
              <a:rPr lang="en-US" sz="2400" dirty="0"/>
              <a:t>The characterization of fuel-cladding interdiffusion is exceedingly difficult because of the number of alloy components involved</a:t>
            </a:r>
          </a:p>
          <a:p>
            <a:r>
              <a:rPr lang="en-US" sz="2400" dirty="0"/>
              <a:t>Fuel element species, minor alloy additions (C, N, O) and fission products all play a role in FCCI</a:t>
            </a:r>
          </a:p>
          <a:p>
            <a:endParaRPr lang="en-US" sz="2400" dirty="0"/>
          </a:p>
        </p:txBody>
      </p:sp>
      <p:sp>
        <p:nvSpPr>
          <p:cNvPr id="4" name="Content Placeholder 3">
            <a:extLst>
              <a:ext uri="{FF2B5EF4-FFF2-40B4-BE49-F238E27FC236}">
                <a16:creationId xmlns:a16="http://schemas.microsoft.com/office/drawing/2014/main" id="{3B21F27F-C8CF-4142-9500-1E8C86DFC004}"/>
              </a:ext>
            </a:extLst>
          </p:cNvPr>
          <p:cNvSpPr>
            <a:spLocks noGrp="1"/>
          </p:cNvSpPr>
          <p:nvPr>
            <p:ph sz="half" idx="2"/>
          </p:nvPr>
        </p:nvSpPr>
        <p:spPr/>
        <p:txBody>
          <a:bodyPr/>
          <a:lstStyle/>
          <a:p>
            <a:r>
              <a:rPr lang="en-US" sz="2400" dirty="0"/>
              <a:t>The potential problem of interdiffusion of fuel and cladding components is essentially twofold: (i) a weakening of the cladding’s mechanical properties; and (ii) the formation of relatively low melting point compositions in the fuel</a:t>
            </a:r>
          </a:p>
          <a:p>
            <a:r>
              <a:rPr lang="en-US" sz="2400" dirty="0"/>
              <a:t>Typically, diffusion couple experiments have been performed to try to evaluate these effects</a:t>
            </a:r>
          </a:p>
          <a:p>
            <a:endParaRPr lang="en-US" sz="2400" dirty="0"/>
          </a:p>
        </p:txBody>
      </p:sp>
      <p:sp>
        <p:nvSpPr>
          <p:cNvPr id="5" name="Slide Number Placeholder 4">
            <a:extLst>
              <a:ext uri="{FF2B5EF4-FFF2-40B4-BE49-F238E27FC236}">
                <a16:creationId xmlns:a16="http://schemas.microsoft.com/office/drawing/2014/main" id="{3309DF38-E84E-B240-A86A-E5A917786ECC}"/>
              </a:ext>
            </a:extLst>
          </p:cNvPr>
          <p:cNvSpPr>
            <a:spLocks noGrp="1"/>
          </p:cNvSpPr>
          <p:nvPr>
            <p:ph type="sldNum" sz="quarter" idx="12"/>
          </p:nvPr>
        </p:nvSpPr>
        <p:spPr/>
        <p:txBody>
          <a:bodyPr/>
          <a:lstStyle/>
          <a:p>
            <a:pPr>
              <a:defRPr/>
            </a:pPr>
            <a:fld id="{EC35E9FC-F6D5-0349-BBED-EA7D7A9BC49B}" type="slidenum">
              <a:rPr lang="en-US" smtClean="0"/>
              <a:pPr>
                <a:defRPr/>
              </a:pPr>
              <a:t>16</a:t>
            </a:fld>
            <a:endParaRPr lang="en-US"/>
          </a:p>
        </p:txBody>
      </p:sp>
    </p:spTree>
    <p:extLst>
      <p:ext uri="{BB962C8B-B14F-4D97-AF65-F5344CB8AC3E}">
        <p14:creationId xmlns:p14="http://schemas.microsoft.com/office/powerpoint/2010/main" val="998157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8968EF-2B93-5044-BCC3-14CB1500BD59}"/>
              </a:ext>
            </a:extLst>
          </p:cNvPr>
          <p:cNvSpPr>
            <a:spLocks noGrp="1"/>
          </p:cNvSpPr>
          <p:nvPr>
            <p:ph type="title"/>
          </p:nvPr>
        </p:nvSpPr>
        <p:spPr/>
        <p:txBody>
          <a:bodyPr/>
          <a:lstStyle/>
          <a:p>
            <a:r>
              <a:rPr lang="en-US" dirty="0"/>
              <a:t>Fuel-Cladding Chemical Interaction</a:t>
            </a:r>
          </a:p>
        </p:txBody>
      </p:sp>
      <p:sp>
        <p:nvSpPr>
          <p:cNvPr id="3" name="Content Placeholder 2">
            <a:extLst>
              <a:ext uri="{FF2B5EF4-FFF2-40B4-BE49-F238E27FC236}">
                <a16:creationId xmlns:a16="http://schemas.microsoft.com/office/drawing/2014/main" id="{54599477-A0FB-D449-AD1D-A2EA0D9F4FE1}"/>
              </a:ext>
            </a:extLst>
          </p:cNvPr>
          <p:cNvSpPr>
            <a:spLocks noGrp="1"/>
          </p:cNvSpPr>
          <p:nvPr>
            <p:ph sz="half" idx="1"/>
          </p:nvPr>
        </p:nvSpPr>
        <p:spPr>
          <a:xfrm>
            <a:off x="609599" y="1968503"/>
            <a:ext cx="5896303" cy="4157663"/>
          </a:xfrm>
        </p:spPr>
        <p:txBody>
          <a:bodyPr/>
          <a:lstStyle/>
          <a:p>
            <a:r>
              <a:rPr lang="en-US" sz="2400" dirty="0"/>
              <a:t>Experiments in the 1960s showed that the addition of Zr showed a decrease in diffusion rates and an increase minimum melting temperature</a:t>
            </a:r>
          </a:p>
          <a:p>
            <a:r>
              <a:rPr lang="en-US" sz="2400" dirty="0"/>
              <a:t>Additions of Pu accelerate the rate of attack and low possible melting points</a:t>
            </a:r>
          </a:p>
          <a:p>
            <a:r>
              <a:rPr lang="en-US" sz="2400" dirty="0"/>
              <a:t>This is one of the basis for which Zr was selected as the alloying element for “modern” metallic fuel</a:t>
            </a:r>
          </a:p>
        </p:txBody>
      </p:sp>
      <p:sp>
        <p:nvSpPr>
          <p:cNvPr id="5" name="Slide Number Placeholder 4">
            <a:extLst>
              <a:ext uri="{FF2B5EF4-FFF2-40B4-BE49-F238E27FC236}">
                <a16:creationId xmlns:a16="http://schemas.microsoft.com/office/drawing/2014/main" id="{3309DF38-E84E-B240-A86A-E5A917786ECC}"/>
              </a:ext>
            </a:extLst>
          </p:cNvPr>
          <p:cNvSpPr>
            <a:spLocks noGrp="1"/>
          </p:cNvSpPr>
          <p:nvPr>
            <p:ph type="sldNum" sz="quarter" idx="12"/>
          </p:nvPr>
        </p:nvSpPr>
        <p:spPr/>
        <p:txBody>
          <a:bodyPr/>
          <a:lstStyle/>
          <a:p>
            <a:pPr>
              <a:defRPr/>
            </a:pPr>
            <a:fld id="{EC35E9FC-F6D5-0349-BBED-EA7D7A9BC49B}" type="slidenum">
              <a:rPr lang="en-US" smtClean="0"/>
              <a:pPr>
                <a:defRPr/>
              </a:pPr>
              <a:t>17</a:t>
            </a:fld>
            <a:endParaRPr lang="en-US"/>
          </a:p>
        </p:txBody>
      </p:sp>
      <p:pic>
        <p:nvPicPr>
          <p:cNvPr id="7" name="Picture 6">
            <a:extLst>
              <a:ext uri="{FF2B5EF4-FFF2-40B4-BE49-F238E27FC236}">
                <a16:creationId xmlns:a16="http://schemas.microsoft.com/office/drawing/2014/main" id="{90835C8C-B675-7540-A2B1-73E00196D58A}"/>
              </a:ext>
            </a:extLst>
          </p:cNvPr>
          <p:cNvPicPr>
            <a:picLocks noChangeAspect="1"/>
          </p:cNvPicPr>
          <p:nvPr/>
        </p:nvPicPr>
        <p:blipFill>
          <a:blip r:embed="rId2"/>
          <a:stretch>
            <a:fillRect/>
          </a:stretch>
        </p:blipFill>
        <p:spPr>
          <a:xfrm>
            <a:off x="7790821" y="1837372"/>
            <a:ext cx="3065736" cy="1792006"/>
          </a:xfrm>
          <a:prstGeom prst="rect">
            <a:avLst/>
          </a:prstGeom>
        </p:spPr>
      </p:pic>
      <p:pic>
        <p:nvPicPr>
          <p:cNvPr id="11" name="Content Placeholder 10">
            <a:extLst>
              <a:ext uri="{FF2B5EF4-FFF2-40B4-BE49-F238E27FC236}">
                <a16:creationId xmlns:a16="http://schemas.microsoft.com/office/drawing/2014/main" id="{82CA9FB8-F1FA-D14D-AF0A-31383D37B788}"/>
              </a:ext>
            </a:extLst>
          </p:cNvPr>
          <p:cNvPicPr>
            <a:picLocks noGrp="1" noChangeAspect="1"/>
          </p:cNvPicPr>
          <p:nvPr>
            <p:ph sz="half" idx="2"/>
          </p:nvPr>
        </p:nvPicPr>
        <p:blipFill>
          <a:blip r:embed="rId3"/>
          <a:stretch>
            <a:fillRect/>
          </a:stretch>
        </p:blipFill>
        <p:spPr>
          <a:xfrm>
            <a:off x="8160087" y="3602668"/>
            <a:ext cx="2327203" cy="3118809"/>
          </a:xfrm>
          <a:prstGeom prst="rect">
            <a:avLst/>
          </a:prstGeom>
        </p:spPr>
      </p:pic>
    </p:spTree>
    <p:extLst>
      <p:ext uri="{BB962C8B-B14F-4D97-AF65-F5344CB8AC3E}">
        <p14:creationId xmlns:p14="http://schemas.microsoft.com/office/powerpoint/2010/main" val="250865306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p:txBody>
          <a:bodyPr/>
          <a:lstStyle/>
          <a:p>
            <a:r>
              <a:rPr lang="en-US" sz="2400" dirty="0"/>
              <a:t>To gain initial insight into the phases that may develop at the FC interface, one can look at available equilibrium phase diagrams, even though the irradiation process deviates from equilibrium</a:t>
            </a:r>
          </a:p>
          <a:p>
            <a:r>
              <a:rPr lang="en-US" sz="2400" dirty="0"/>
              <a:t>Phase diagrams can indicate the intermetallic phases present, the solid-solubility ranges in different phase regions, and the temperatures and compositions at which liquid phases develop</a:t>
            </a:r>
          </a:p>
          <a:p>
            <a:endParaRPr lang="en-US" sz="2400" dirty="0"/>
          </a:p>
          <a:p>
            <a:endParaRPr lang="en-US" sz="2400" dirty="0"/>
          </a:p>
        </p:txBody>
      </p:sp>
      <p:sp>
        <p:nvSpPr>
          <p:cNvPr id="4" name="Content Placeholder 3">
            <a:extLst>
              <a:ext uri="{FF2B5EF4-FFF2-40B4-BE49-F238E27FC236}">
                <a16:creationId xmlns:a16="http://schemas.microsoft.com/office/drawing/2014/main" id="{E047CC33-401D-1244-AE18-22642DA3FB1E}"/>
              </a:ext>
            </a:extLst>
          </p:cNvPr>
          <p:cNvSpPr>
            <a:spLocks noGrp="1"/>
          </p:cNvSpPr>
          <p:nvPr>
            <p:ph sz="half" idx="2"/>
          </p:nvPr>
        </p:nvSpPr>
        <p:spPr/>
        <p:txBody>
          <a:bodyPr/>
          <a:lstStyle/>
          <a:p>
            <a:r>
              <a:rPr lang="en-US" sz="2400" dirty="0"/>
              <a:t>The intermetallic phases that are present in phase diagrams can form in the interaction zones during the interdiffusion process; wide ranges of solubility in terminal alloys can be an indication that interdiffusion rates may be high; and knowing the compositions of the low-melting phases is beneficial provides knowledge of potentially limiting conditions</a:t>
            </a:r>
          </a:p>
          <a:p>
            <a:endParaRPr lang="en-US" sz="2400" dirty="0"/>
          </a:p>
        </p:txBody>
      </p:sp>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18</a:t>
            </a:fld>
            <a:endParaRPr lang="en-US"/>
          </a:p>
        </p:txBody>
      </p:sp>
    </p:spTree>
    <p:extLst>
      <p:ext uri="{BB962C8B-B14F-4D97-AF65-F5344CB8AC3E}">
        <p14:creationId xmlns:p14="http://schemas.microsoft.com/office/powerpoint/2010/main" val="319040126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a:xfrm>
            <a:off x="609599" y="1968503"/>
            <a:ext cx="6547945" cy="4157663"/>
          </a:xfrm>
        </p:spPr>
        <p:txBody>
          <a:bodyPr/>
          <a:lstStyle/>
          <a:p>
            <a:r>
              <a:rPr lang="en-US" sz="2400" dirty="0"/>
              <a:t>The U-Fe and Pu-Fe phase diagrams</a:t>
            </a:r>
          </a:p>
          <a:p>
            <a:r>
              <a:rPr lang="en-US" sz="2400" dirty="0"/>
              <a:t>Intermetallic UFe2 and U6Fe phases are present in the U–Fe phase diagram and PuFe2 and Pu6Fe phase are present in the Pu–Fe system</a:t>
            </a:r>
          </a:p>
          <a:p>
            <a:r>
              <a:rPr lang="en-US" sz="2400" dirty="0"/>
              <a:t>These are likely phases to form</a:t>
            </a:r>
          </a:p>
          <a:p>
            <a:r>
              <a:rPr lang="en-US" sz="2400" dirty="0"/>
              <a:t>These systems also undergo eutectic melting at temperatures as low as ~700K</a:t>
            </a:r>
          </a:p>
          <a:p>
            <a:endParaRPr lang="en-US" sz="2400" dirty="0"/>
          </a:p>
          <a:p>
            <a:endParaRPr lang="en-US" sz="2400" dirty="0"/>
          </a:p>
        </p:txBody>
      </p:sp>
      <p:pic>
        <p:nvPicPr>
          <p:cNvPr id="6" name="Content Placeholder 5">
            <a:extLst>
              <a:ext uri="{FF2B5EF4-FFF2-40B4-BE49-F238E27FC236}">
                <a16:creationId xmlns:a16="http://schemas.microsoft.com/office/drawing/2014/main" id="{948F6598-FB25-AA42-AE93-B58B450433F9}"/>
              </a:ext>
            </a:extLst>
          </p:cNvPr>
          <p:cNvPicPr>
            <a:picLocks noGrp="1" noChangeAspect="1"/>
          </p:cNvPicPr>
          <p:nvPr>
            <p:ph sz="half" idx="2"/>
          </p:nvPr>
        </p:nvPicPr>
        <p:blipFill>
          <a:blip r:embed="rId2"/>
          <a:stretch>
            <a:fillRect/>
          </a:stretch>
        </p:blipFill>
        <p:spPr>
          <a:xfrm>
            <a:off x="7505697" y="1639925"/>
            <a:ext cx="3060484" cy="2690337"/>
          </a:xfrm>
          <a:prstGeom prst="rect">
            <a:avLst/>
          </a:prstGeom>
        </p:spPr>
      </p:pic>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19</a:t>
            </a:fld>
            <a:endParaRPr lang="en-US"/>
          </a:p>
        </p:txBody>
      </p:sp>
      <p:pic>
        <p:nvPicPr>
          <p:cNvPr id="7" name="Picture 6">
            <a:extLst>
              <a:ext uri="{FF2B5EF4-FFF2-40B4-BE49-F238E27FC236}">
                <a16:creationId xmlns:a16="http://schemas.microsoft.com/office/drawing/2014/main" id="{0A4465F8-02DF-6E4F-AF20-AF38DEA45583}"/>
              </a:ext>
            </a:extLst>
          </p:cNvPr>
          <p:cNvPicPr>
            <a:picLocks noChangeAspect="1"/>
          </p:cNvPicPr>
          <p:nvPr/>
        </p:nvPicPr>
        <p:blipFill>
          <a:blip r:embed="rId3"/>
          <a:stretch>
            <a:fillRect/>
          </a:stretch>
        </p:blipFill>
        <p:spPr>
          <a:xfrm>
            <a:off x="7617153" y="4330262"/>
            <a:ext cx="2949028" cy="2527738"/>
          </a:xfrm>
          <a:prstGeom prst="rect">
            <a:avLst/>
          </a:prstGeom>
        </p:spPr>
      </p:pic>
    </p:spTree>
    <p:extLst>
      <p:ext uri="{BB962C8B-B14F-4D97-AF65-F5344CB8AC3E}">
        <p14:creationId xmlns:p14="http://schemas.microsoft.com/office/powerpoint/2010/main" val="32057852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D0006-132D-E744-8FC3-DBDD1B2A12E6}"/>
              </a:ext>
            </a:extLst>
          </p:cNvPr>
          <p:cNvSpPr>
            <a:spLocks noGrp="1"/>
          </p:cNvSpPr>
          <p:nvPr>
            <p:ph type="title"/>
          </p:nvPr>
        </p:nvSpPr>
        <p:spPr/>
        <p:txBody>
          <a:bodyPr/>
          <a:lstStyle/>
          <a:p>
            <a:r>
              <a:rPr lang="en-US" dirty="0"/>
              <a:t>Phase Diagrams for FCCI</a:t>
            </a:r>
          </a:p>
        </p:txBody>
      </p:sp>
      <p:sp>
        <p:nvSpPr>
          <p:cNvPr id="3" name="Content Placeholder 2">
            <a:extLst>
              <a:ext uri="{FF2B5EF4-FFF2-40B4-BE49-F238E27FC236}">
                <a16:creationId xmlns:a16="http://schemas.microsoft.com/office/drawing/2014/main" id="{B412042C-DA6F-5A4D-A51F-5CD4C188A7C3}"/>
              </a:ext>
            </a:extLst>
          </p:cNvPr>
          <p:cNvSpPr>
            <a:spLocks noGrp="1"/>
          </p:cNvSpPr>
          <p:nvPr>
            <p:ph sz="half" idx="1"/>
          </p:nvPr>
        </p:nvSpPr>
        <p:spPr>
          <a:xfrm>
            <a:off x="609599" y="1968503"/>
            <a:ext cx="6547945" cy="4157663"/>
          </a:xfrm>
        </p:spPr>
        <p:txBody>
          <a:bodyPr/>
          <a:lstStyle/>
          <a:p>
            <a:r>
              <a:rPr lang="en-US" sz="2400" dirty="0"/>
              <a:t>Addition of Zr towards U-Fe-Ze and U-Pu-Fe-Zr phase diagrams</a:t>
            </a:r>
          </a:p>
          <a:p>
            <a:r>
              <a:rPr lang="en-US" sz="2400" dirty="0"/>
              <a:t>Fe3Zr, Fe2Zr, FeZr2, and FeZr3 are intermetallic phases capable of forming in the FCCI zone</a:t>
            </a:r>
          </a:p>
          <a:p>
            <a:r>
              <a:rPr lang="en-US" sz="2400" dirty="0"/>
              <a:t>Continuous solid solutions have been reported between Pu6Fe and U6Fe and between PuFe2 and UFe2 2: (</a:t>
            </a:r>
            <a:r>
              <a:rPr lang="en-US" sz="2400" dirty="0" err="1"/>
              <a:t>U,Pu</a:t>
            </a:r>
            <a:r>
              <a:rPr lang="en-US" sz="2400" dirty="0"/>
              <a:t>)6Fe and (U, Pu)Fe2</a:t>
            </a:r>
          </a:p>
          <a:p>
            <a:endParaRPr lang="en-US" sz="2400" dirty="0"/>
          </a:p>
          <a:p>
            <a:endParaRPr lang="en-US" sz="2400" dirty="0"/>
          </a:p>
        </p:txBody>
      </p:sp>
      <p:sp>
        <p:nvSpPr>
          <p:cNvPr id="5" name="Slide Number Placeholder 4">
            <a:extLst>
              <a:ext uri="{FF2B5EF4-FFF2-40B4-BE49-F238E27FC236}">
                <a16:creationId xmlns:a16="http://schemas.microsoft.com/office/drawing/2014/main" id="{5589D56B-55C7-1D41-A192-ADEA30427E8D}"/>
              </a:ext>
            </a:extLst>
          </p:cNvPr>
          <p:cNvSpPr>
            <a:spLocks noGrp="1"/>
          </p:cNvSpPr>
          <p:nvPr>
            <p:ph type="sldNum" sz="quarter" idx="12"/>
          </p:nvPr>
        </p:nvSpPr>
        <p:spPr/>
        <p:txBody>
          <a:bodyPr/>
          <a:lstStyle/>
          <a:p>
            <a:pPr>
              <a:defRPr/>
            </a:pPr>
            <a:fld id="{EC35E9FC-F6D5-0349-BBED-EA7D7A9BC49B}" type="slidenum">
              <a:rPr lang="en-US" smtClean="0"/>
              <a:pPr>
                <a:defRPr/>
              </a:pPr>
              <a:t>20</a:t>
            </a:fld>
            <a:endParaRPr lang="en-US"/>
          </a:p>
        </p:txBody>
      </p:sp>
      <p:pic>
        <p:nvPicPr>
          <p:cNvPr id="9" name="Content Placeholder 8">
            <a:extLst>
              <a:ext uri="{FF2B5EF4-FFF2-40B4-BE49-F238E27FC236}">
                <a16:creationId xmlns:a16="http://schemas.microsoft.com/office/drawing/2014/main" id="{6205E83B-0B1F-1040-AD57-24B7D9D8C269}"/>
              </a:ext>
            </a:extLst>
          </p:cNvPr>
          <p:cNvPicPr>
            <a:picLocks noGrp="1" noChangeAspect="1"/>
          </p:cNvPicPr>
          <p:nvPr>
            <p:ph sz="half" idx="2"/>
          </p:nvPr>
        </p:nvPicPr>
        <p:blipFill>
          <a:blip r:embed="rId2"/>
          <a:stretch>
            <a:fillRect/>
          </a:stretch>
        </p:blipFill>
        <p:spPr>
          <a:xfrm>
            <a:off x="7567448" y="2122487"/>
            <a:ext cx="4035096" cy="3481711"/>
          </a:xfrm>
          <a:prstGeom prst="rect">
            <a:avLst/>
          </a:prstGeom>
        </p:spPr>
      </p:pic>
    </p:spTree>
    <p:extLst>
      <p:ext uri="{BB962C8B-B14F-4D97-AF65-F5344CB8AC3E}">
        <p14:creationId xmlns:p14="http://schemas.microsoft.com/office/powerpoint/2010/main" val="143341918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AE3A-B6F4-F348-B4D0-018C3B66CDE4}"/>
              </a:ext>
            </a:extLst>
          </p:cNvPr>
          <p:cNvSpPr>
            <a:spLocks noGrp="1"/>
          </p:cNvSpPr>
          <p:nvPr>
            <p:ph type="title"/>
          </p:nvPr>
        </p:nvSpPr>
        <p:spPr/>
        <p:txBody>
          <a:bodyPr/>
          <a:lstStyle/>
          <a:p>
            <a:r>
              <a:rPr lang="en-US" dirty="0"/>
              <a:t>Diffusion Couples</a:t>
            </a:r>
          </a:p>
        </p:txBody>
      </p:sp>
      <p:sp>
        <p:nvSpPr>
          <p:cNvPr id="3" name="Content Placeholder 2">
            <a:extLst>
              <a:ext uri="{FF2B5EF4-FFF2-40B4-BE49-F238E27FC236}">
                <a16:creationId xmlns:a16="http://schemas.microsoft.com/office/drawing/2014/main" id="{12759E40-9946-2540-BA2D-B51A91EE5180}"/>
              </a:ext>
            </a:extLst>
          </p:cNvPr>
          <p:cNvSpPr>
            <a:spLocks noGrp="1"/>
          </p:cNvSpPr>
          <p:nvPr>
            <p:ph sz="half" idx="1"/>
          </p:nvPr>
        </p:nvSpPr>
        <p:spPr>
          <a:xfrm>
            <a:off x="609600" y="1968500"/>
            <a:ext cx="6404303" cy="4157663"/>
          </a:xfrm>
        </p:spPr>
        <p:txBody>
          <a:bodyPr/>
          <a:lstStyle/>
          <a:p>
            <a:r>
              <a:rPr lang="en-US" sz="2400" dirty="0"/>
              <a:t>Out-of-pile diffusion couple experiments are typically conducted to determine the interdiffusion behavior of the various constituents at a temperature of interest</a:t>
            </a:r>
          </a:p>
          <a:p>
            <a:r>
              <a:rPr lang="en-US" sz="2400" dirty="0"/>
              <a:t>Test have been performed with U–Fs, U–Pu–Fs, U–Zr, and U–Pu–Zr and different cladding alloys</a:t>
            </a:r>
          </a:p>
          <a:p>
            <a:r>
              <a:rPr lang="en-US" sz="2400" dirty="0"/>
              <a:t>Diffusion couple experiments have indicated that a eutectic phase can form in FCCI zones at temperatures near 700C, and this phase is similar to U–Fe6</a:t>
            </a:r>
          </a:p>
          <a:p>
            <a:endParaRPr lang="en-US" sz="2400" dirty="0"/>
          </a:p>
        </p:txBody>
      </p:sp>
      <p:pic>
        <p:nvPicPr>
          <p:cNvPr id="6" name="Content Placeholder 5">
            <a:extLst>
              <a:ext uri="{FF2B5EF4-FFF2-40B4-BE49-F238E27FC236}">
                <a16:creationId xmlns:a16="http://schemas.microsoft.com/office/drawing/2014/main" id="{91112D4E-4FAA-F84A-855D-FF89E3609347}"/>
              </a:ext>
            </a:extLst>
          </p:cNvPr>
          <p:cNvPicPr>
            <a:picLocks noGrp="1" noChangeAspect="1"/>
          </p:cNvPicPr>
          <p:nvPr>
            <p:ph sz="half" idx="2"/>
          </p:nvPr>
        </p:nvPicPr>
        <p:blipFill>
          <a:blip r:embed="rId2"/>
          <a:stretch>
            <a:fillRect/>
          </a:stretch>
        </p:blipFill>
        <p:spPr>
          <a:xfrm>
            <a:off x="7013903" y="3574997"/>
            <a:ext cx="4284718" cy="2963917"/>
          </a:xfrm>
          <a:prstGeom prst="rect">
            <a:avLst/>
          </a:prstGeom>
        </p:spPr>
      </p:pic>
      <p:sp>
        <p:nvSpPr>
          <p:cNvPr id="5" name="Slide Number Placeholder 4">
            <a:extLst>
              <a:ext uri="{FF2B5EF4-FFF2-40B4-BE49-F238E27FC236}">
                <a16:creationId xmlns:a16="http://schemas.microsoft.com/office/drawing/2014/main" id="{EA727DBF-C7E4-C94E-9F50-4652FBA3B767}"/>
              </a:ext>
            </a:extLst>
          </p:cNvPr>
          <p:cNvSpPr>
            <a:spLocks noGrp="1"/>
          </p:cNvSpPr>
          <p:nvPr>
            <p:ph type="sldNum" sz="quarter" idx="12"/>
          </p:nvPr>
        </p:nvSpPr>
        <p:spPr/>
        <p:txBody>
          <a:bodyPr/>
          <a:lstStyle/>
          <a:p>
            <a:pPr>
              <a:defRPr/>
            </a:pPr>
            <a:fld id="{EC35E9FC-F6D5-0349-BBED-EA7D7A9BC49B}" type="slidenum">
              <a:rPr lang="en-US" smtClean="0"/>
              <a:pPr>
                <a:defRPr/>
              </a:pPr>
              <a:t>21</a:t>
            </a:fld>
            <a:endParaRPr lang="en-US"/>
          </a:p>
        </p:txBody>
      </p:sp>
      <p:pic>
        <p:nvPicPr>
          <p:cNvPr id="7" name="Picture 6">
            <a:extLst>
              <a:ext uri="{FF2B5EF4-FFF2-40B4-BE49-F238E27FC236}">
                <a16:creationId xmlns:a16="http://schemas.microsoft.com/office/drawing/2014/main" id="{4EE7C9B8-C93C-6847-8124-5ACCFF844C89}"/>
              </a:ext>
            </a:extLst>
          </p:cNvPr>
          <p:cNvPicPr>
            <a:picLocks noChangeAspect="1"/>
          </p:cNvPicPr>
          <p:nvPr/>
        </p:nvPicPr>
        <p:blipFill>
          <a:blip r:embed="rId3"/>
          <a:stretch>
            <a:fillRect/>
          </a:stretch>
        </p:blipFill>
        <p:spPr>
          <a:xfrm>
            <a:off x="9096220" y="611080"/>
            <a:ext cx="2486180" cy="2963917"/>
          </a:xfrm>
          <a:prstGeom prst="rect">
            <a:avLst/>
          </a:prstGeom>
        </p:spPr>
      </p:pic>
    </p:spTree>
    <p:extLst>
      <p:ext uri="{BB962C8B-B14F-4D97-AF65-F5344CB8AC3E}">
        <p14:creationId xmlns:p14="http://schemas.microsoft.com/office/powerpoint/2010/main" val="19865131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1FAE3A-B6F4-F348-B4D0-018C3B66CDE4}"/>
              </a:ext>
            </a:extLst>
          </p:cNvPr>
          <p:cNvSpPr>
            <a:spLocks noGrp="1"/>
          </p:cNvSpPr>
          <p:nvPr>
            <p:ph type="title"/>
          </p:nvPr>
        </p:nvSpPr>
        <p:spPr/>
        <p:txBody>
          <a:bodyPr/>
          <a:lstStyle/>
          <a:p>
            <a:r>
              <a:rPr lang="en-US" dirty="0"/>
              <a:t>Protective Rind</a:t>
            </a:r>
          </a:p>
        </p:txBody>
      </p:sp>
      <p:sp>
        <p:nvSpPr>
          <p:cNvPr id="3" name="Content Placeholder 2">
            <a:extLst>
              <a:ext uri="{FF2B5EF4-FFF2-40B4-BE49-F238E27FC236}">
                <a16:creationId xmlns:a16="http://schemas.microsoft.com/office/drawing/2014/main" id="{12759E40-9946-2540-BA2D-B51A91EE5180}"/>
              </a:ext>
            </a:extLst>
          </p:cNvPr>
          <p:cNvSpPr>
            <a:spLocks noGrp="1"/>
          </p:cNvSpPr>
          <p:nvPr>
            <p:ph sz="half" idx="1"/>
          </p:nvPr>
        </p:nvSpPr>
        <p:spPr>
          <a:xfrm>
            <a:off x="609601" y="1968500"/>
            <a:ext cx="5588000" cy="4157663"/>
          </a:xfrm>
        </p:spPr>
        <p:txBody>
          <a:bodyPr/>
          <a:lstStyle/>
          <a:p>
            <a:r>
              <a:rPr lang="en-US" sz="2400" dirty="0"/>
              <a:t>Impurities in the fuel or cladding alloys have been suggested to play a role in determining the FCCI behavior</a:t>
            </a:r>
          </a:p>
          <a:p>
            <a:r>
              <a:rPr lang="en-US" sz="2400" dirty="0"/>
              <a:t>If enough impurities are present (e.g., C, O, or N), then Zr-rich layers that are stabilized by impurities can develop at the interface and impede the interdiffusion process</a:t>
            </a:r>
          </a:p>
          <a:p>
            <a:r>
              <a:rPr lang="en-US" sz="2400" dirty="0"/>
              <a:t>The extent of the formation would depend on the oxygen activity in the cladding </a:t>
            </a:r>
          </a:p>
          <a:p>
            <a:endParaRPr lang="en-US" sz="2400" dirty="0"/>
          </a:p>
          <a:p>
            <a:endParaRPr lang="en-US" sz="2400" dirty="0"/>
          </a:p>
          <a:p>
            <a:endParaRPr lang="en-US" sz="2400" dirty="0"/>
          </a:p>
        </p:txBody>
      </p:sp>
      <p:sp>
        <p:nvSpPr>
          <p:cNvPr id="5" name="Slide Number Placeholder 4">
            <a:extLst>
              <a:ext uri="{FF2B5EF4-FFF2-40B4-BE49-F238E27FC236}">
                <a16:creationId xmlns:a16="http://schemas.microsoft.com/office/drawing/2014/main" id="{EA727DBF-C7E4-C94E-9F50-4652FBA3B767}"/>
              </a:ext>
            </a:extLst>
          </p:cNvPr>
          <p:cNvSpPr>
            <a:spLocks noGrp="1"/>
          </p:cNvSpPr>
          <p:nvPr>
            <p:ph type="sldNum" sz="quarter" idx="12"/>
          </p:nvPr>
        </p:nvSpPr>
        <p:spPr/>
        <p:txBody>
          <a:bodyPr/>
          <a:lstStyle/>
          <a:p>
            <a:pPr>
              <a:defRPr/>
            </a:pPr>
            <a:fld id="{EC35E9FC-F6D5-0349-BBED-EA7D7A9BC49B}" type="slidenum">
              <a:rPr lang="en-US" smtClean="0"/>
              <a:pPr>
                <a:defRPr/>
              </a:pPr>
              <a:t>22</a:t>
            </a:fld>
            <a:endParaRPr lang="en-US"/>
          </a:p>
        </p:txBody>
      </p:sp>
      <p:sp>
        <p:nvSpPr>
          <p:cNvPr id="8" name="Content Placeholder 7">
            <a:extLst>
              <a:ext uri="{FF2B5EF4-FFF2-40B4-BE49-F238E27FC236}">
                <a16:creationId xmlns:a16="http://schemas.microsoft.com/office/drawing/2014/main" id="{173B4ECF-85F5-8F42-888D-4ACA37F59C95}"/>
              </a:ext>
            </a:extLst>
          </p:cNvPr>
          <p:cNvSpPr>
            <a:spLocks noGrp="1"/>
          </p:cNvSpPr>
          <p:nvPr>
            <p:ph sz="half" idx="2"/>
          </p:nvPr>
        </p:nvSpPr>
        <p:spPr/>
        <p:txBody>
          <a:bodyPr/>
          <a:lstStyle/>
          <a:p>
            <a:r>
              <a:rPr lang="en-US" sz="2400" dirty="0"/>
              <a:t>Work has been performed on U–Zr alloys to investigate the development of nitride layers with a N2 cover gas</a:t>
            </a:r>
          </a:p>
          <a:p>
            <a:r>
              <a:rPr lang="en-US" sz="2400" dirty="0"/>
              <a:t>This has been related to the rind and rind interactions with FCCI</a:t>
            </a:r>
          </a:p>
          <a:p>
            <a:r>
              <a:rPr lang="en-US" sz="2400" dirty="0"/>
              <a:t>The rind can form during a casting process due to the atmosphere and crucible/mold</a:t>
            </a:r>
          </a:p>
          <a:p>
            <a:r>
              <a:rPr lang="en-US" sz="2400" dirty="0"/>
              <a:t>It form on the exterior of the fuel slug, almost like a coating</a:t>
            </a:r>
          </a:p>
          <a:p>
            <a:endParaRPr lang="en-US" sz="2400" dirty="0"/>
          </a:p>
          <a:p>
            <a:endParaRPr lang="en-US" sz="2400" dirty="0"/>
          </a:p>
        </p:txBody>
      </p:sp>
    </p:spTree>
    <p:extLst>
      <p:ext uri="{BB962C8B-B14F-4D97-AF65-F5344CB8AC3E}">
        <p14:creationId xmlns:p14="http://schemas.microsoft.com/office/powerpoint/2010/main" val="29323187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p:txBody>
          <a:bodyPr/>
          <a:lstStyle/>
          <a:p>
            <a:r>
              <a:rPr lang="en-US" sz="2400" dirty="0"/>
              <a:t>The interaction zone formation in irradiated metallic fuel elements is localized</a:t>
            </a:r>
          </a:p>
          <a:p>
            <a:r>
              <a:rPr lang="en-US" sz="2400" dirty="0"/>
              <a:t>Typically, the largest interaction zones in fuel elements are created when a wedge-shaped crack forms in the fuel adjacent to the inner surface of the cladding and a large fission product deposit (primarily Nd, Ce, and La) develops</a:t>
            </a:r>
          </a:p>
          <a:p>
            <a:endParaRPr lang="en-US" sz="2400" dirty="0"/>
          </a:p>
          <a:p>
            <a:endParaRPr lang="en-US" sz="2400" dirty="0"/>
          </a:p>
        </p:txBody>
      </p:sp>
      <p:pic>
        <p:nvPicPr>
          <p:cNvPr id="6" name="Content Placeholder 5">
            <a:extLst>
              <a:ext uri="{FF2B5EF4-FFF2-40B4-BE49-F238E27FC236}">
                <a16:creationId xmlns:a16="http://schemas.microsoft.com/office/drawing/2014/main" id="{361FEB28-1222-AD46-8A64-6177E9FA582B}"/>
              </a:ext>
            </a:extLst>
          </p:cNvPr>
          <p:cNvPicPr>
            <a:picLocks noGrp="1" noChangeAspect="1"/>
          </p:cNvPicPr>
          <p:nvPr>
            <p:ph sz="half" idx="2"/>
          </p:nvPr>
        </p:nvPicPr>
        <p:blipFill>
          <a:blip r:embed="rId2"/>
          <a:stretch>
            <a:fillRect/>
          </a:stretch>
        </p:blipFill>
        <p:spPr>
          <a:xfrm>
            <a:off x="6313216" y="1912833"/>
            <a:ext cx="5149629" cy="4213333"/>
          </a:xfrm>
          <a:prstGeom prst="rect">
            <a:avLst/>
          </a:prstGeom>
        </p:spPr>
      </p:pic>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23</a:t>
            </a:fld>
            <a:endParaRPr lang="en-US"/>
          </a:p>
        </p:txBody>
      </p:sp>
    </p:spTree>
    <p:extLst>
      <p:ext uri="{BB962C8B-B14F-4D97-AF65-F5344CB8AC3E}">
        <p14:creationId xmlns:p14="http://schemas.microsoft.com/office/powerpoint/2010/main" val="353946926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a:xfrm>
            <a:off x="609599" y="1968503"/>
            <a:ext cx="6169573" cy="4157663"/>
          </a:xfrm>
        </p:spPr>
        <p:txBody>
          <a:bodyPr/>
          <a:lstStyle/>
          <a:p>
            <a:r>
              <a:rPr lang="en-US" sz="2200" dirty="0"/>
              <a:t>In many of the analyzed fuel elements, fuel–cladding interaction can be linked to the integrity of the Zr-rind</a:t>
            </a:r>
          </a:p>
          <a:p>
            <a:r>
              <a:rPr lang="en-US" sz="2200" dirty="0"/>
              <a:t>In the image, arrows indicate areas where rind is no longer intact</a:t>
            </a:r>
          </a:p>
          <a:p>
            <a:r>
              <a:rPr lang="en-US" sz="2200" dirty="0"/>
              <a:t>Both temperature and power variations along the length of a fuel element appear to impact the amount of fuel–cladding interaction that will occur</a:t>
            </a:r>
          </a:p>
          <a:p>
            <a:r>
              <a:rPr lang="en-US" sz="2200" dirty="0"/>
              <a:t>The maximum fuel–cladding interaction is observed in the combined high-temperature and high-power region of a fuel element</a:t>
            </a:r>
          </a:p>
          <a:p>
            <a:endParaRPr lang="en-US" sz="2200" dirty="0"/>
          </a:p>
          <a:p>
            <a:endParaRPr lang="en-US" sz="2200" dirty="0"/>
          </a:p>
        </p:txBody>
      </p:sp>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24</a:t>
            </a:fld>
            <a:endParaRPr lang="en-US"/>
          </a:p>
        </p:txBody>
      </p:sp>
      <p:pic>
        <p:nvPicPr>
          <p:cNvPr id="8" name="Content Placeholder 7">
            <a:extLst>
              <a:ext uri="{FF2B5EF4-FFF2-40B4-BE49-F238E27FC236}">
                <a16:creationId xmlns:a16="http://schemas.microsoft.com/office/drawing/2014/main" id="{9FDCF733-E69A-3943-8B75-4DBA4A061222}"/>
              </a:ext>
            </a:extLst>
          </p:cNvPr>
          <p:cNvPicPr>
            <a:picLocks noGrp="1" noChangeAspect="1"/>
          </p:cNvPicPr>
          <p:nvPr>
            <p:ph sz="half" idx="2"/>
          </p:nvPr>
        </p:nvPicPr>
        <p:blipFill>
          <a:blip r:embed="rId2"/>
          <a:stretch>
            <a:fillRect/>
          </a:stretch>
        </p:blipFill>
        <p:spPr>
          <a:xfrm>
            <a:off x="6852745" y="1642214"/>
            <a:ext cx="4639441" cy="4639441"/>
          </a:xfrm>
          <a:prstGeom prst="rect">
            <a:avLst/>
          </a:prstGeom>
        </p:spPr>
      </p:pic>
    </p:spTree>
    <p:extLst>
      <p:ext uri="{BB962C8B-B14F-4D97-AF65-F5344CB8AC3E}">
        <p14:creationId xmlns:p14="http://schemas.microsoft.com/office/powerpoint/2010/main" val="22085927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a:xfrm>
            <a:off x="609599" y="1968503"/>
            <a:ext cx="5588001" cy="4157663"/>
          </a:xfrm>
        </p:spPr>
        <p:txBody>
          <a:bodyPr/>
          <a:lstStyle/>
          <a:p>
            <a:r>
              <a:rPr lang="en-US" sz="2400" dirty="0"/>
              <a:t>The burnup of a fuel pin is another parameter that impacts the size of the fuel–cladding interaction zone</a:t>
            </a:r>
          </a:p>
          <a:p>
            <a:r>
              <a:rPr lang="en-US" sz="2400" dirty="0"/>
              <a:t>Larger interaction zones are observed for higher burnup fuel elements</a:t>
            </a:r>
          </a:p>
          <a:p>
            <a:r>
              <a:rPr lang="en-US" sz="2400" dirty="0"/>
              <a:t>The larger inventories of fission products allow more lanthanides to diffuse down the temperature gradient, thereby increasing the inventory of fission products at the interface</a:t>
            </a:r>
          </a:p>
        </p:txBody>
      </p:sp>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25</a:t>
            </a:fld>
            <a:endParaRPr lang="en-US"/>
          </a:p>
        </p:txBody>
      </p:sp>
      <p:sp>
        <p:nvSpPr>
          <p:cNvPr id="6" name="Content Placeholder 5">
            <a:extLst>
              <a:ext uri="{FF2B5EF4-FFF2-40B4-BE49-F238E27FC236}">
                <a16:creationId xmlns:a16="http://schemas.microsoft.com/office/drawing/2014/main" id="{753EDF85-8C2A-BC41-A021-1E9097D92F7B}"/>
              </a:ext>
            </a:extLst>
          </p:cNvPr>
          <p:cNvSpPr>
            <a:spLocks noGrp="1"/>
          </p:cNvSpPr>
          <p:nvPr>
            <p:ph sz="half" idx="2"/>
          </p:nvPr>
        </p:nvSpPr>
        <p:spPr/>
        <p:txBody>
          <a:bodyPr/>
          <a:lstStyle/>
          <a:p>
            <a:r>
              <a:rPr lang="en-US" sz="2400" dirty="0"/>
              <a:t>For high burnup fuels, temperature effects also exacerbate FCCI due to thermal cond. degradation producing higher temperatures, and more rapid FP diffusion</a:t>
            </a:r>
          </a:p>
          <a:p>
            <a:r>
              <a:rPr lang="en-US" sz="2400" dirty="0"/>
              <a:t>Fuel elements at the hotter core positions can exhibit increased interdiffusion at the fuel–cladding interface over those at colder positions</a:t>
            </a:r>
          </a:p>
          <a:p>
            <a:endParaRPr lang="en-US" sz="2400" dirty="0"/>
          </a:p>
        </p:txBody>
      </p:sp>
    </p:spTree>
    <p:extLst>
      <p:ext uri="{BB962C8B-B14F-4D97-AF65-F5344CB8AC3E}">
        <p14:creationId xmlns:p14="http://schemas.microsoft.com/office/powerpoint/2010/main" val="260439767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15D733-9A9D-0147-B472-6D2A34313119}"/>
              </a:ext>
            </a:extLst>
          </p:cNvPr>
          <p:cNvSpPr>
            <a:spLocks noGrp="1"/>
          </p:cNvSpPr>
          <p:nvPr>
            <p:ph type="title"/>
          </p:nvPr>
        </p:nvSpPr>
        <p:spPr/>
        <p:txBody>
          <a:bodyPr/>
          <a:lstStyle/>
          <a:p>
            <a:r>
              <a:rPr lang="en-US" dirty="0"/>
              <a:t>Summary</a:t>
            </a:r>
          </a:p>
        </p:txBody>
      </p:sp>
      <p:sp>
        <p:nvSpPr>
          <p:cNvPr id="3" name="Content Placeholder 2">
            <a:extLst>
              <a:ext uri="{FF2B5EF4-FFF2-40B4-BE49-F238E27FC236}">
                <a16:creationId xmlns:a16="http://schemas.microsoft.com/office/drawing/2014/main" id="{357AA63C-5C44-4545-A937-4E8E5D379A5A}"/>
              </a:ext>
            </a:extLst>
          </p:cNvPr>
          <p:cNvSpPr>
            <a:spLocks noGrp="1"/>
          </p:cNvSpPr>
          <p:nvPr>
            <p:ph sz="half" idx="1"/>
          </p:nvPr>
        </p:nvSpPr>
        <p:spPr>
          <a:xfrm>
            <a:off x="609599" y="1968503"/>
            <a:ext cx="10972799" cy="4157663"/>
          </a:xfrm>
        </p:spPr>
        <p:txBody>
          <a:bodyPr/>
          <a:lstStyle/>
          <a:p>
            <a:r>
              <a:rPr lang="en-US" sz="2400" dirty="0"/>
              <a:t>Radial redistribution of chemical species driven by thermodynamics and </a:t>
            </a:r>
            <a:r>
              <a:rPr lang="en-US" sz="2400" dirty="0" err="1"/>
              <a:t>Soret</a:t>
            </a:r>
            <a:r>
              <a:rPr lang="en-US" sz="2400" dirty="0"/>
              <a:t> diffusion</a:t>
            </a:r>
          </a:p>
          <a:p>
            <a:r>
              <a:rPr lang="en-US" sz="2400" dirty="0"/>
              <a:t>Include large plenum to accommodate fission gas release</a:t>
            </a:r>
          </a:p>
          <a:p>
            <a:r>
              <a:rPr lang="en-US" sz="2400" dirty="0"/>
              <a:t>Thermal conductivity degradation</a:t>
            </a:r>
          </a:p>
          <a:p>
            <a:pPr lvl="1"/>
            <a:r>
              <a:rPr lang="en-US" sz="2400" dirty="0"/>
              <a:t>fission gas swelling/porosity, sodium infiltration</a:t>
            </a:r>
          </a:p>
          <a:p>
            <a:r>
              <a:rPr lang="en-US" sz="2400" dirty="0"/>
              <a:t>Fuel-cladding mechanical interaction</a:t>
            </a:r>
          </a:p>
          <a:p>
            <a:pPr lvl="1"/>
            <a:r>
              <a:rPr lang="en-US" sz="2400" dirty="0"/>
              <a:t>fuel swelling, creep, internal pressure, etc.</a:t>
            </a:r>
          </a:p>
          <a:p>
            <a:r>
              <a:rPr lang="en-US" sz="2400" dirty="0"/>
              <a:t>Fuel-cladding chemical interaction</a:t>
            </a:r>
          </a:p>
          <a:p>
            <a:pPr lvl="1"/>
            <a:r>
              <a:rPr lang="en-US" sz="2400" dirty="0"/>
              <a:t>phase diagrams and kinetics, low melting points, </a:t>
            </a:r>
            <a:r>
              <a:rPr lang="en-US" sz="2400" dirty="0" err="1"/>
              <a:t>intermetallics</a:t>
            </a:r>
            <a:r>
              <a:rPr lang="en-US" sz="2400" dirty="0"/>
              <a:t>, etc.</a:t>
            </a:r>
          </a:p>
          <a:p>
            <a:endParaRPr lang="en-US" sz="2400" dirty="0"/>
          </a:p>
        </p:txBody>
      </p:sp>
      <p:sp>
        <p:nvSpPr>
          <p:cNvPr id="5" name="Slide Number Placeholder 4">
            <a:extLst>
              <a:ext uri="{FF2B5EF4-FFF2-40B4-BE49-F238E27FC236}">
                <a16:creationId xmlns:a16="http://schemas.microsoft.com/office/drawing/2014/main" id="{ED13D8C5-2625-944D-A346-88684E6316EC}"/>
              </a:ext>
            </a:extLst>
          </p:cNvPr>
          <p:cNvSpPr>
            <a:spLocks noGrp="1"/>
          </p:cNvSpPr>
          <p:nvPr>
            <p:ph type="sldNum" sz="quarter" idx="12"/>
          </p:nvPr>
        </p:nvSpPr>
        <p:spPr/>
        <p:txBody>
          <a:bodyPr/>
          <a:lstStyle/>
          <a:p>
            <a:pPr>
              <a:defRPr/>
            </a:pPr>
            <a:fld id="{EC35E9FC-F6D5-0349-BBED-EA7D7A9BC49B}" type="slidenum">
              <a:rPr lang="en-US" smtClean="0"/>
              <a:pPr>
                <a:defRPr/>
              </a:pPr>
              <a:t>26</a:t>
            </a:fld>
            <a:endParaRPr lang="en-US"/>
          </a:p>
        </p:txBody>
      </p:sp>
    </p:spTree>
    <p:extLst>
      <p:ext uri="{BB962C8B-B14F-4D97-AF65-F5344CB8AC3E}">
        <p14:creationId xmlns:p14="http://schemas.microsoft.com/office/powerpoint/2010/main" val="73088901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2AA17-899A-A44C-8048-58AE6BB42659}"/>
              </a:ext>
            </a:extLst>
          </p:cNvPr>
          <p:cNvSpPr>
            <a:spLocks noGrp="1"/>
          </p:cNvSpPr>
          <p:nvPr>
            <p:ph type="title"/>
          </p:nvPr>
        </p:nvSpPr>
        <p:spPr/>
        <p:txBody>
          <a:bodyPr/>
          <a:lstStyle/>
          <a:p>
            <a:r>
              <a:rPr lang="en-US" dirty="0"/>
              <a:t>FCCI</a:t>
            </a:r>
          </a:p>
        </p:txBody>
      </p:sp>
      <p:sp>
        <p:nvSpPr>
          <p:cNvPr id="3" name="Content Placeholder 2">
            <a:extLst>
              <a:ext uri="{FF2B5EF4-FFF2-40B4-BE49-F238E27FC236}">
                <a16:creationId xmlns:a16="http://schemas.microsoft.com/office/drawing/2014/main" id="{7FFE68A5-A364-7347-974E-D10BC673CC53}"/>
              </a:ext>
            </a:extLst>
          </p:cNvPr>
          <p:cNvSpPr>
            <a:spLocks noGrp="1"/>
          </p:cNvSpPr>
          <p:nvPr>
            <p:ph sz="half" idx="1"/>
          </p:nvPr>
        </p:nvSpPr>
        <p:spPr>
          <a:xfrm>
            <a:off x="609599" y="1968503"/>
            <a:ext cx="5588001" cy="4157663"/>
          </a:xfrm>
        </p:spPr>
        <p:txBody>
          <a:bodyPr/>
          <a:lstStyle/>
          <a:p>
            <a:r>
              <a:rPr lang="en-US" sz="2400" dirty="0"/>
              <a:t>The burnup of a fuel pin is another parameter that impacts the size of the fuel–cladding interaction zone</a:t>
            </a:r>
          </a:p>
          <a:p>
            <a:r>
              <a:rPr lang="en-US" sz="2400" dirty="0"/>
              <a:t>Larger interaction zones are observed for higher burnup fuel elements</a:t>
            </a:r>
          </a:p>
          <a:p>
            <a:r>
              <a:rPr lang="en-US" sz="2400" dirty="0"/>
              <a:t>The larger inventories of fission products allow more lanthanides to diffuse down the temperature gradient, thereby increasing the inventory of fission products at the interface</a:t>
            </a:r>
          </a:p>
        </p:txBody>
      </p:sp>
      <p:sp>
        <p:nvSpPr>
          <p:cNvPr id="5" name="Slide Number Placeholder 4">
            <a:extLst>
              <a:ext uri="{FF2B5EF4-FFF2-40B4-BE49-F238E27FC236}">
                <a16:creationId xmlns:a16="http://schemas.microsoft.com/office/drawing/2014/main" id="{08DD1CA4-DFAD-8D4C-8793-8A9C9795C297}"/>
              </a:ext>
            </a:extLst>
          </p:cNvPr>
          <p:cNvSpPr>
            <a:spLocks noGrp="1"/>
          </p:cNvSpPr>
          <p:nvPr>
            <p:ph type="sldNum" sz="quarter" idx="12"/>
          </p:nvPr>
        </p:nvSpPr>
        <p:spPr/>
        <p:txBody>
          <a:bodyPr/>
          <a:lstStyle/>
          <a:p>
            <a:pPr>
              <a:defRPr/>
            </a:pPr>
            <a:fld id="{EC35E9FC-F6D5-0349-BBED-EA7D7A9BC49B}" type="slidenum">
              <a:rPr lang="en-US" smtClean="0"/>
              <a:pPr>
                <a:defRPr/>
              </a:pPr>
              <a:t>27</a:t>
            </a:fld>
            <a:endParaRPr lang="en-US"/>
          </a:p>
        </p:txBody>
      </p:sp>
      <p:sp>
        <p:nvSpPr>
          <p:cNvPr id="6" name="Content Placeholder 5">
            <a:extLst>
              <a:ext uri="{FF2B5EF4-FFF2-40B4-BE49-F238E27FC236}">
                <a16:creationId xmlns:a16="http://schemas.microsoft.com/office/drawing/2014/main" id="{753EDF85-8C2A-BC41-A021-1E9097D92F7B}"/>
              </a:ext>
            </a:extLst>
          </p:cNvPr>
          <p:cNvSpPr>
            <a:spLocks noGrp="1"/>
          </p:cNvSpPr>
          <p:nvPr>
            <p:ph sz="half" idx="2"/>
          </p:nvPr>
        </p:nvSpPr>
        <p:spPr/>
        <p:txBody>
          <a:bodyPr/>
          <a:lstStyle/>
          <a:p>
            <a:r>
              <a:rPr lang="en-US" sz="2400" dirty="0"/>
              <a:t>For high burnup fuels, temperature effects also exacerbate FCCI due to thermal cond. degradation producing higher temperatures, and more rapid FP diffusion</a:t>
            </a:r>
          </a:p>
          <a:p>
            <a:r>
              <a:rPr lang="en-US" sz="2400" dirty="0"/>
              <a:t>Fuel elements at the hotter core positions can exhibit increased interdiffusion at the fuel–cladding interface over those at colder positions</a:t>
            </a:r>
          </a:p>
          <a:p>
            <a:endParaRPr lang="en-US" sz="2400" dirty="0"/>
          </a:p>
        </p:txBody>
      </p:sp>
    </p:spTree>
    <p:extLst>
      <p:ext uri="{BB962C8B-B14F-4D97-AF65-F5344CB8AC3E}">
        <p14:creationId xmlns:p14="http://schemas.microsoft.com/office/powerpoint/2010/main" val="349280009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2CB7-6757-0A46-B980-78D171F06EE0}"/>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D31727EA-B72F-2F47-9CC9-01BF94551F77}"/>
              </a:ext>
            </a:extLst>
          </p:cNvPr>
          <p:cNvSpPr>
            <a:spLocks noGrp="1"/>
          </p:cNvSpPr>
          <p:nvPr>
            <p:ph sz="half" idx="1"/>
          </p:nvPr>
        </p:nvSpPr>
        <p:spPr>
          <a:xfrm>
            <a:off x="609600" y="1968503"/>
            <a:ext cx="7830207" cy="4157663"/>
          </a:xfrm>
        </p:spPr>
        <p:txBody>
          <a:bodyPr/>
          <a:lstStyle/>
          <a:p>
            <a:r>
              <a:rPr lang="en-US" sz="2200" dirty="0"/>
              <a:t>Fe and Cr are the major constituents in HT-9 cladding and should show up as major constituents in the FCCI zones of irradiated HT-9-clad fuel elements</a:t>
            </a:r>
          </a:p>
          <a:p>
            <a:r>
              <a:rPr lang="en-US" sz="2200" dirty="0"/>
              <a:t>For D9-clad fuel elements, Fe, Ni, and Cr are major constituents that should be present in FCCI zones</a:t>
            </a:r>
          </a:p>
          <a:p>
            <a:r>
              <a:rPr lang="en-US" sz="2200" dirty="0"/>
              <a:t>There have been some irradiated fuel samples that were specifically destructively analyzed to observe FCCI</a:t>
            </a:r>
          </a:p>
          <a:p>
            <a:r>
              <a:rPr lang="en-US" sz="2200" dirty="0"/>
              <a:t>The lowest and highest determined temperatures at the fuel–cladding interface were 540 and 660 C, respectively</a:t>
            </a:r>
          </a:p>
          <a:p>
            <a:r>
              <a:rPr lang="en-US" sz="2200" dirty="0"/>
              <a:t>The thickest interaction zone measured was 170 </a:t>
            </a:r>
            <a:r>
              <a:rPr lang="en-US" sz="2200" dirty="0">
                <a:latin typeface="Symbol" pitchFamily="2" charset="2"/>
              </a:rPr>
              <a:t>m</a:t>
            </a:r>
            <a:r>
              <a:rPr lang="en-US" sz="2200" dirty="0"/>
              <a:t>m, and the lanthanide fission products were the primary fuel constituents observed in the interaction layers</a:t>
            </a:r>
          </a:p>
          <a:p>
            <a:endParaRPr lang="en-US" sz="2200" dirty="0"/>
          </a:p>
        </p:txBody>
      </p:sp>
      <p:pic>
        <p:nvPicPr>
          <p:cNvPr id="6" name="Content Placeholder 5">
            <a:extLst>
              <a:ext uri="{FF2B5EF4-FFF2-40B4-BE49-F238E27FC236}">
                <a16:creationId xmlns:a16="http://schemas.microsoft.com/office/drawing/2014/main" id="{123AA60A-924B-9B4D-8A35-3C93BB503461}"/>
              </a:ext>
            </a:extLst>
          </p:cNvPr>
          <p:cNvPicPr>
            <a:picLocks noGrp="1" noChangeAspect="1"/>
          </p:cNvPicPr>
          <p:nvPr>
            <p:ph sz="half" idx="2"/>
          </p:nvPr>
        </p:nvPicPr>
        <p:blipFill>
          <a:blip r:embed="rId2"/>
          <a:stretch>
            <a:fillRect/>
          </a:stretch>
        </p:blipFill>
        <p:spPr>
          <a:xfrm>
            <a:off x="8545676" y="2727302"/>
            <a:ext cx="3228647" cy="2450878"/>
          </a:xfrm>
          <a:prstGeom prst="rect">
            <a:avLst/>
          </a:prstGeom>
        </p:spPr>
      </p:pic>
      <p:sp>
        <p:nvSpPr>
          <p:cNvPr id="5" name="Slide Number Placeholder 4">
            <a:extLst>
              <a:ext uri="{FF2B5EF4-FFF2-40B4-BE49-F238E27FC236}">
                <a16:creationId xmlns:a16="http://schemas.microsoft.com/office/drawing/2014/main" id="{93603850-C133-1B42-8F9D-DDA2FF39BC20}"/>
              </a:ext>
            </a:extLst>
          </p:cNvPr>
          <p:cNvSpPr>
            <a:spLocks noGrp="1"/>
          </p:cNvSpPr>
          <p:nvPr>
            <p:ph type="sldNum" sz="quarter" idx="12"/>
          </p:nvPr>
        </p:nvSpPr>
        <p:spPr/>
        <p:txBody>
          <a:bodyPr/>
          <a:lstStyle/>
          <a:p>
            <a:pPr>
              <a:defRPr/>
            </a:pPr>
            <a:fld id="{EC35E9FC-F6D5-0349-BBED-EA7D7A9BC49B}" type="slidenum">
              <a:rPr lang="en-US" smtClean="0"/>
              <a:pPr>
                <a:defRPr/>
              </a:pPr>
              <a:t>28</a:t>
            </a:fld>
            <a:endParaRPr lang="en-US" dirty="0"/>
          </a:p>
        </p:txBody>
      </p:sp>
    </p:spTree>
    <p:extLst>
      <p:ext uri="{BB962C8B-B14F-4D97-AF65-F5344CB8AC3E}">
        <p14:creationId xmlns:p14="http://schemas.microsoft.com/office/powerpoint/2010/main" val="366744848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A2CB7-6757-0A46-B980-78D171F06EE0}"/>
              </a:ext>
            </a:extLst>
          </p:cNvPr>
          <p:cNvSpPr>
            <a:spLocks noGrp="1"/>
          </p:cNvSpPr>
          <p:nvPr>
            <p:ph type="title"/>
          </p:nvPr>
        </p:nvSpPr>
        <p:spPr/>
        <p:txBody>
          <a:bodyPr/>
          <a:lstStyle/>
          <a:p>
            <a:r>
              <a:rPr lang="en-US" dirty="0"/>
              <a:t>FCCI Examinations</a:t>
            </a:r>
          </a:p>
        </p:txBody>
      </p:sp>
      <p:sp>
        <p:nvSpPr>
          <p:cNvPr id="5" name="Slide Number Placeholder 4">
            <a:extLst>
              <a:ext uri="{FF2B5EF4-FFF2-40B4-BE49-F238E27FC236}">
                <a16:creationId xmlns:a16="http://schemas.microsoft.com/office/drawing/2014/main" id="{93603850-C133-1B42-8F9D-DDA2FF39BC20}"/>
              </a:ext>
            </a:extLst>
          </p:cNvPr>
          <p:cNvSpPr>
            <a:spLocks noGrp="1"/>
          </p:cNvSpPr>
          <p:nvPr>
            <p:ph type="sldNum" sz="quarter" idx="12"/>
          </p:nvPr>
        </p:nvSpPr>
        <p:spPr/>
        <p:txBody>
          <a:bodyPr/>
          <a:lstStyle/>
          <a:p>
            <a:pPr>
              <a:defRPr/>
            </a:pPr>
            <a:fld id="{EC35E9FC-F6D5-0349-BBED-EA7D7A9BC49B}" type="slidenum">
              <a:rPr lang="en-US" smtClean="0"/>
              <a:pPr>
                <a:defRPr/>
              </a:pPr>
              <a:t>29</a:t>
            </a:fld>
            <a:endParaRPr lang="en-US"/>
          </a:p>
        </p:txBody>
      </p:sp>
      <p:pic>
        <p:nvPicPr>
          <p:cNvPr id="8" name="Picture 7">
            <a:extLst>
              <a:ext uri="{FF2B5EF4-FFF2-40B4-BE49-F238E27FC236}">
                <a16:creationId xmlns:a16="http://schemas.microsoft.com/office/drawing/2014/main" id="{03CC4FEE-5E4B-4648-BAD0-93AD88FDE83D}"/>
              </a:ext>
            </a:extLst>
          </p:cNvPr>
          <p:cNvPicPr>
            <a:picLocks noChangeAspect="1"/>
          </p:cNvPicPr>
          <p:nvPr/>
        </p:nvPicPr>
        <p:blipFill>
          <a:blip r:embed="rId2"/>
          <a:stretch>
            <a:fillRect/>
          </a:stretch>
        </p:blipFill>
        <p:spPr>
          <a:xfrm>
            <a:off x="2033887" y="1756041"/>
            <a:ext cx="8124226" cy="4965436"/>
          </a:xfrm>
          <a:prstGeom prst="rect">
            <a:avLst/>
          </a:prstGeom>
        </p:spPr>
      </p:pic>
    </p:spTree>
    <p:extLst>
      <p:ext uri="{BB962C8B-B14F-4D97-AF65-F5344CB8AC3E}">
        <p14:creationId xmlns:p14="http://schemas.microsoft.com/office/powerpoint/2010/main" val="213779515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1FC6E9-00C8-9843-9251-F723AE8FA04B}"/>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B7882736-56D1-444D-AC5D-65EA56DDB895}"/>
              </a:ext>
            </a:extLst>
          </p:cNvPr>
          <p:cNvSpPr>
            <a:spLocks noGrp="1"/>
          </p:cNvSpPr>
          <p:nvPr>
            <p:ph sz="half" idx="1"/>
          </p:nvPr>
        </p:nvSpPr>
        <p:spPr/>
        <p:txBody>
          <a:bodyPr/>
          <a:lstStyle/>
          <a:p>
            <a:r>
              <a:rPr lang="en-US" sz="2400" dirty="0"/>
              <a:t>Element DP-16 was the only fuel element in which a sample was generated for analysis using SEM/EDS, in addition to the more typical OM and EPMA analyses usually performed on fuel elements</a:t>
            </a:r>
          </a:p>
          <a:p>
            <a:r>
              <a:rPr lang="en-US" sz="2400" dirty="0"/>
              <a:t>U-16Pu-23Zr and HT-9 cladding</a:t>
            </a:r>
          </a:p>
          <a:p>
            <a:r>
              <a:rPr lang="en-US" sz="2400" dirty="0"/>
              <a:t>X-ray analysis maps at the right</a:t>
            </a:r>
          </a:p>
          <a:p>
            <a:endParaRPr lang="en-US" sz="2400" dirty="0"/>
          </a:p>
        </p:txBody>
      </p:sp>
      <p:sp>
        <p:nvSpPr>
          <p:cNvPr id="5" name="Slide Number Placeholder 4">
            <a:extLst>
              <a:ext uri="{FF2B5EF4-FFF2-40B4-BE49-F238E27FC236}">
                <a16:creationId xmlns:a16="http://schemas.microsoft.com/office/drawing/2014/main" id="{D2796F3F-B650-5D46-B2E8-8AA1D3A287BF}"/>
              </a:ext>
            </a:extLst>
          </p:cNvPr>
          <p:cNvSpPr>
            <a:spLocks noGrp="1"/>
          </p:cNvSpPr>
          <p:nvPr>
            <p:ph type="sldNum" sz="quarter" idx="12"/>
          </p:nvPr>
        </p:nvSpPr>
        <p:spPr/>
        <p:txBody>
          <a:bodyPr/>
          <a:lstStyle/>
          <a:p>
            <a:pPr>
              <a:defRPr/>
            </a:pPr>
            <a:fld id="{EC35E9FC-F6D5-0349-BBED-EA7D7A9BC49B}" type="slidenum">
              <a:rPr lang="en-US" smtClean="0"/>
              <a:pPr>
                <a:defRPr/>
              </a:pPr>
              <a:t>30</a:t>
            </a:fld>
            <a:endParaRPr lang="en-US"/>
          </a:p>
        </p:txBody>
      </p:sp>
      <p:pic>
        <p:nvPicPr>
          <p:cNvPr id="6" name="Picture 5">
            <a:extLst>
              <a:ext uri="{FF2B5EF4-FFF2-40B4-BE49-F238E27FC236}">
                <a16:creationId xmlns:a16="http://schemas.microsoft.com/office/drawing/2014/main" id="{D96BE436-DEAA-094F-A5E7-4F9B9DEB1BCE}"/>
              </a:ext>
            </a:extLst>
          </p:cNvPr>
          <p:cNvPicPr>
            <a:picLocks noChangeAspect="1"/>
          </p:cNvPicPr>
          <p:nvPr/>
        </p:nvPicPr>
        <p:blipFill>
          <a:blip r:embed="rId2"/>
          <a:stretch>
            <a:fillRect/>
          </a:stretch>
        </p:blipFill>
        <p:spPr>
          <a:xfrm>
            <a:off x="643104" y="5772600"/>
            <a:ext cx="5917483" cy="274320"/>
          </a:xfrm>
          <a:prstGeom prst="rect">
            <a:avLst/>
          </a:prstGeom>
        </p:spPr>
      </p:pic>
      <p:pic>
        <p:nvPicPr>
          <p:cNvPr id="10" name="Picture 9">
            <a:extLst>
              <a:ext uri="{FF2B5EF4-FFF2-40B4-BE49-F238E27FC236}">
                <a16:creationId xmlns:a16="http://schemas.microsoft.com/office/drawing/2014/main" id="{52902A3A-2A56-3046-B53F-CDE59145D7A7}"/>
              </a:ext>
            </a:extLst>
          </p:cNvPr>
          <p:cNvPicPr>
            <a:picLocks noChangeAspect="1"/>
          </p:cNvPicPr>
          <p:nvPr/>
        </p:nvPicPr>
        <p:blipFill>
          <a:blip r:embed="rId3"/>
          <a:stretch>
            <a:fillRect/>
          </a:stretch>
        </p:blipFill>
        <p:spPr>
          <a:xfrm>
            <a:off x="7238607" y="1778930"/>
            <a:ext cx="2997985" cy="4945229"/>
          </a:xfrm>
          <a:prstGeom prst="rect">
            <a:avLst/>
          </a:prstGeom>
        </p:spPr>
      </p:pic>
      <p:sp>
        <p:nvSpPr>
          <p:cNvPr id="11" name="Rectangle 10">
            <a:extLst>
              <a:ext uri="{FF2B5EF4-FFF2-40B4-BE49-F238E27FC236}">
                <a16:creationId xmlns:a16="http://schemas.microsoft.com/office/drawing/2014/main" id="{1329AAE4-FE33-4149-904E-20FA3B58B45E}"/>
              </a:ext>
            </a:extLst>
          </p:cNvPr>
          <p:cNvSpPr/>
          <p:nvPr/>
        </p:nvSpPr>
        <p:spPr>
          <a:xfrm>
            <a:off x="10379895" y="3423762"/>
            <a:ext cx="939746" cy="1477328"/>
          </a:xfrm>
          <a:prstGeom prst="rect">
            <a:avLst/>
          </a:prstGeom>
        </p:spPr>
        <p:txBody>
          <a:bodyPr wrap="square">
            <a:spAutoFit/>
          </a:bodyPr>
          <a:lstStyle/>
          <a:p>
            <a:r>
              <a:rPr lang="en-US" dirty="0">
                <a:latin typeface="Helvetica" pitchFamily="2" charset="0"/>
              </a:rPr>
              <a:t>(b) U, (c) Pu, (d) Zr, (e) Fe, (f) Cr</a:t>
            </a:r>
            <a:endParaRPr lang="en-US" dirty="0">
              <a:effectLst/>
              <a:latin typeface="Helvetica" pitchFamily="2" charset="0"/>
            </a:endParaRPr>
          </a:p>
        </p:txBody>
      </p:sp>
    </p:spTree>
    <p:extLst>
      <p:ext uri="{BB962C8B-B14F-4D97-AF65-F5344CB8AC3E}">
        <p14:creationId xmlns:p14="http://schemas.microsoft.com/office/powerpoint/2010/main" val="396167728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BCB6F7-DE44-A54E-850E-9A7F2F104817}"/>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439777E0-E28C-5749-96FE-4CB7D8E97031}"/>
              </a:ext>
            </a:extLst>
          </p:cNvPr>
          <p:cNvSpPr>
            <a:spLocks noGrp="1"/>
          </p:cNvSpPr>
          <p:nvPr>
            <p:ph sz="half" idx="1"/>
          </p:nvPr>
        </p:nvSpPr>
        <p:spPr>
          <a:xfrm>
            <a:off x="609600" y="1968503"/>
            <a:ext cx="4886972" cy="4157663"/>
          </a:xfrm>
        </p:spPr>
        <p:txBody>
          <a:bodyPr/>
          <a:lstStyle/>
          <a:p>
            <a:r>
              <a:rPr lang="en-US" sz="2400" dirty="0"/>
              <a:t>X-ray map for fission products</a:t>
            </a:r>
          </a:p>
          <a:p>
            <a:r>
              <a:rPr lang="en-US" sz="2400" dirty="0"/>
              <a:t>EPMA analysis for key species</a:t>
            </a:r>
          </a:p>
          <a:p>
            <a:r>
              <a:rPr lang="en-US" sz="2400" dirty="0"/>
              <a:t>Fe diffuses into the fuel, Ce and Nd diffuse into the cladding, and Pd enriches in localized areas of the fuel near the fuel–cladding interface</a:t>
            </a:r>
          </a:p>
          <a:p>
            <a:r>
              <a:rPr lang="en-US" sz="2400" dirty="0"/>
              <a:t>The lanthanides penetrated the farthest into the cladding (40 mm) of any components originating in the fuel</a:t>
            </a:r>
          </a:p>
          <a:p>
            <a:endParaRPr lang="en-US" sz="2400" dirty="0"/>
          </a:p>
          <a:p>
            <a:endParaRPr lang="en-US" sz="2400" dirty="0"/>
          </a:p>
        </p:txBody>
      </p:sp>
      <p:pic>
        <p:nvPicPr>
          <p:cNvPr id="7" name="Content Placeholder 6">
            <a:extLst>
              <a:ext uri="{FF2B5EF4-FFF2-40B4-BE49-F238E27FC236}">
                <a16:creationId xmlns:a16="http://schemas.microsoft.com/office/drawing/2014/main" id="{3CDFF704-A1CA-254F-9CDC-5F1D7A663285}"/>
              </a:ext>
            </a:extLst>
          </p:cNvPr>
          <p:cNvPicPr>
            <a:picLocks noGrp="1" noChangeAspect="1"/>
          </p:cNvPicPr>
          <p:nvPr>
            <p:ph sz="half" idx="2"/>
          </p:nvPr>
        </p:nvPicPr>
        <p:blipFill>
          <a:blip r:embed="rId2"/>
          <a:stretch>
            <a:fillRect/>
          </a:stretch>
        </p:blipFill>
        <p:spPr>
          <a:xfrm>
            <a:off x="8492341" y="1881984"/>
            <a:ext cx="3403589" cy="4075904"/>
          </a:xfrm>
          <a:prstGeom prst="rect">
            <a:avLst/>
          </a:prstGeom>
        </p:spPr>
      </p:pic>
      <p:sp>
        <p:nvSpPr>
          <p:cNvPr id="5" name="Slide Number Placeholder 4">
            <a:extLst>
              <a:ext uri="{FF2B5EF4-FFF2-40B4-BE49-F238E27FC236}">
                <a16:creationId xmlns:a16="http://schemas.microsoft.com/office/drawing/2014/main" id="{3176C519-A7C9-9942-B75A-71A7388C58E5}"/>
              </a:ext>
            </a:extLst>
          </p:cNvPr>
          <p:cNvSpPr>
            <a:spLocks noGrp="1"/>
          </p:cNvSpPr>
          <p:nvPr>
            <p:ph type="sldNum" sz="quarter" idx="12"/>
          </p:nvPr>
        </p:nvSpPr>
        <p:spPr/>
        <p:txBody>
          <a:bodyPr/>
          <a:lstStyle/>
          <a:p>
            <a:pPr>
              <a:defRPr/>
            </a:pPr>
            <a:fld id="{EC35E9FC-F6D5-0349-BBED-EA7D7A9BC49B}" type="slidenum">
              <a:rPr lang="en-US" smtClean="0"/>
              <a:pPr>
                <a:defRPr/>
              </a:pPr>
              <a:t>31</a:t>
            </a:fld>
            <a:endParaRPr lang="en-US"/>
          </a:p>
        </p:txBody>
      </p:sp>
      <p:pic>
        <p:nvPicPr>
          <p:cNvPr id="6" name="Picture 5">
            <a:extLst>
              <a:ext uri="{FF2B5EF4-FFF2-40B4-BE49-F238E27FC236}">
                <a16:creationId xmlns:a16="http://schemas.microsoft.com/office/drawing/2014/main" id="{7A831C1A-7686-994A-AC19-C311F395031E}"/>
              </a:ext>
            </a:extLst>
          </p:cNvPr>
          <p:cNvPicPr>
            <a:picLocks noChangeAspect="1"/>
          </p:cNvPicPr>
          <p:nvPr/>
        </p:nvPicPr>
        <p:blipFill>
          <a:blip r:embed="rId3"/>
          <a:stretch>
            <a:fillRect/>
          </a:stretch>
        </p:blipFill>
        <p:spPr>
          <a:xfrm>
            <a:off x="5496572" y="2371727"/>
            <a:ext cx="2927497" cy="3351214"/>
          </a:xfrm>
          <a:prstGeom prst="rect">
            <a:avLst/>
          </a:prstGeom>
        </p:spPr>
      </p:pic>
      <p:sp>
        <p:nvSpPr>
          <p:cNvPr id="8" name="Rectangle 7">
            <a:extLst>
              <a:ext uri="{FF2B5EF4-FFF2-40B4-BE49-F238E27FC236}">
                <a16:creationId xmlns:a16="http://schemas.microsoft.com/office/drawing/2014/main" id="{B77F493F-7369-9A49-8789-6E3F0D4B125F}"/>
              </a:ext>
            </a:extLst>
          </p:cNvPr>
          <p:cNvSpPr/>
          <p:nvPr/>
        </p:nvSpPr>
        <p:spPr>
          <a:xfrm>
            <a:off x="5394546" y="5755276"/>
            <a:ext cx="3063659" cy="338554"/>
          </a:xfrm>
          <a:prstGeom prst="rect">
            <a:avLst/>
          </a:prstGeom>
        </p:spPr>
        <p:txBody>
          <a:bodyPr wrap="none">
            <a:spAutoFit/>
          </a:bodyPr>
          <a:lstStyle/>
          <a:p>
            <a:r>
              <a:rPr lang="en-US" sz="1600" dirty="0">
                <a:latin typeface="Helvetica" pitchFamily="2" charset="0"/>
              </a:rPr>
              <a:t>(g) Ce, (h) Nd, (i) Ru, and (j) Pd</a:t>
            </a:r>
            <a:endParaRPr lang="en-US" sz="1600" dirty="0">
              <a:effectLst/>
              <a:latin typeface="Helvetica" pitchFamily="2" charset="0"/>
            </a:endParaRPr>
          </a:p>
        </p:txBody>
      </p:sp>
    </p:spTree>
    <p:extLst>
      <p:ext uri="{BB962C8B-B14F-4D97-AF65-F5344CB8AC3E}">
        <p14:creationId xmlns:p14="http://schemas.microsoft.com/office/powerpoint/2010/main" val="999475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626BC8-6FCB-704C-AC34-A78F5D1F01F2}"/>
              </a:ext>
            </a:extLst>
          </p:cNvPr>
          <p:cNvSpPr>
            <a:spLocks noGrp="1"/>
          </p:cNvSpPr>
          <p:nvPr>
            <p:ph type="title"/>
          </p:nvPr>
        </p:nvSpPr>
        <p:spPr/>
        <p:txBody>
          <a:bodyPr/>
          <a:lstStyle/>
          <a:p>
            <a:r>
              <a:rPr lang="en-US" dirty="0"/>
              <a:t>FCCI Compositions</a:t>
            </a:r>
          </a:p>
        </p:txBody>
      </p:sp>
      <p:sp>
        <p:nvSpPr>
          <p:cNvPr id="3" name="Content Placeholder 2">
            <a:extLst>
              <a:ext uri="{FF2B5EF4-FFF2-40B4-BE49-F238E27FC236}">
                <a16:creationId xmlns:a16="http://schemas.microsoft.com/office/drawing/2014/main" id="{6E857B11-BFC0-1741-B543-829D58113A2A}"/>
              </a:ext>
            </a:extLst>
          </p:cNvPr>
          <p:cNvSpPr>
            <a:spLocks noGrp="1"/>
          </p:cNvSpPr>
          <p:nvPr>
            <p:ph sz="half" idx="1"/>
          </p:nvPr>
        </p:nvSpPr>
        <p:spPr>
          <a:xfrm>
            <a:off x="609600" y="1968503"/>
            <a:ext cx="6579476" cy="4157663"/>
          </a:xfrm>
        </p:spPr>
        <p:txBody>
          <a:bodyPr/>
          <a:lstStyle/>
          <a:p>
            <a:r>
              <a:rPr lang="en-US" sz="2400" dirty="0"/>
              <a:t>The DP-11 fuel element was irradiated to about 10 at.% burnup at elevated cladding temperatures (630–660 C), binary U-Zr</a:t>
            </a:r>
          </a:p>
          <a:p>
            <a:r>
              <a:rPr lang="en-US" sz="2400" dirty="0"/>
              <a:t>There is a 50-</a:t>
            </a:r>
            <a:r>
              <a:rPr lang="en-US" sz="2400" dirty="0">
                <a:latin typeface="Symbol" pitchFamily="2" charset="2"/>
              </a:rPr>
              <a:t>m</a:t>
            </a:r>
            <a:r>
              <a:rPr lang="en-US" sz="2400" dirty="0"/>
              <a:t>m-wide zone of the cladding that is high in Cr and low in Fe and Ni</a:t>
            </a:r>
          </a:p>
          <a:p>
            <a:r>
              <a:rPr lang="en-US" sz="2400" dirty="0"/>
              <a:t>In the fuel, Fe has </a:t>
            </a:r>
            <a:r>
              <a:rPr lang="en-US" sz="2400" dirty="0" err="1"/>
              <a:t>interdiffused</a:t>
            </a:r>
            <a:r>
              <a:rPr lang="en-US" sz="2400" dirty="0"/>
              <a:t> around 250 </a:t>
            </a:r>
            <a:r>
              <a:rPr lang="en-US" sz="2400" dirty="0">
                <a:latin typeface="Symbol" pitchFamily="2" charset="2"/>
              </a:rPr>
              <a:t>m</a:t>
            </a:r>
            <a:r>
              <a:rPr lang="en-US" sz="2400" dirty="0"/>
              <a:t>m</a:t>
            </a:r>
          </a:p>
          <a:p>
            <a:r>
              <a:rPr lang="en-US" sz="2400" dirty="0"/>
              <a:t>In the cladding band containing high Cr and low Fe and Ni, lanthanide concentrations are elevated</a:t>
            </a:r>
          </a:p>
          <a:p>
            <a:endParaRPr lang="en-US" sz="2400" dirty="0"/>
          </a:p>
          <a:p>
            <a:endParaRPr lang="en-US" sz="2400" dirty="0"/>
          </a:p>
        </p:txBody>
      </p:sp>
      <p:pic>
        <p:nvPicPr>
          <p:cNvPr id="7" name="Content Placeholder 6">
            <a:extLst>
              <a:ext uri="{FF2B5EF4-FFF2-40B4-BE49-F238E27FC236}">
                <a16:creationId xmlns:a16="http://schemas.microsoft.com/office/drawing/2014/main" id="{A4EE7470-92D5-EC4F-BDA4-F4F360CC166A}"/>
              </a:ext>
            </a:extLst>
          </p:cNvPr>
          <p:cNvPicPr>
            <a:picLocks noGrp="1" noChangeAspect="1"/>
          </p:cNvPicPr>
          <p:nvPr>
            <p:ph sz="half" idx="2"/>
          </p:nvPr>
        </p:nvPicPr>
        <p:blipFill>
          <a:blip r:embed="rId2"/>
          <a:stretch>
            <a:fillRect/>
          </a:stretch>
        </p:blipFill>
        <p:spPr>
          <a:xfrm>
            <a:off x="7278900" y="1619790"/>
            <a:ext cx="3662369" cy="5238210"/>
          </a:xfrm>
          <a:prstGeom prst="rect">
            <a:avLst/>
          </a:prstGeom>
        </p:spPr>
      </p:pic>
      <p:sp>
        <p:nvSpPr>
          <p:cNvPr id="5" name="Slide Number Placeholder 4">
            <a:extLst>
              <a:ext uri="{FF2B5EF4-FFF2-40B4-BE49-F238E27FC236}">
                <a16:creationId xmlns:a16="http://schemas.microsoft.com/office/drawing/2014/main" id="{3112BB3F-F1DB-3249-B292-F86627819AD6}"/>
              </a:ext>
            </a:extLst>
          </p:cNvPr>
          <p:cNvSpPr>
            <a:spLocks noGrp="1"/>
          </p:cNvSpPr>
          <p:nvPr>
            <p:ph type="sldNum" sz="quarter" idx="12"/>
          </p:nvPr>
        </p:nvSpPr>
        <p:spPr/>
        <p:txBody>
          <a:bodyPr/>
          <a:lstStyle/>
          <a:p>
            <a:pPr>
              <a:defRPr/>
            </a:pPr>
            <a:fld id="{EC35E9FC-F6D5-0349-BBED-EA7D7A9BC49B}" type="slidenum">
              <a:rPr lang="en-US" smtClean="0"/>
              <a:pPr>
                <a:defRPr/>
              </a:pPr>
              <a:t>32</a:t>
            </a:fld>
            <a:endParaRPr lang="en-US"/>
          </a:p>
        </p:txBody>
      </p:sp>
      <p:pic>
        <p:nvPicPr>
          <p:cNvPr id="6" name="Picture 5">
            <a:extLst>
              <a:ext uri="{FF2B5EF4-FFF2-40B4-BE49-F238E27FC236}">
                <a16:creationId xmlns:a16="http://schemas.microsoft.com/office/drawing/2014/main" id="{FDA53B95-5FAB-3F46-BDFE-7B7F50B46E25}"/>
              </a:ext>
            </a:extLst>
          </p:cNvPr>
          <p:cNvPicPr>
            <a:picLocks noChangeAspect="1"/>
          </p:cNvPicPr>
          <p:nvPr/>
        </p:nvPicPr>
        <p:blipFill>
          <a:blip r:embed="rId3"/>
          <a:stretch>
            <a:fillRect/>
          </a:stretch>
        </p:blipFill>
        <p:spPr>
          <a:xfrm>
            <a:off x="187969" y="6173472"/>
            <a:ext cx="7382577" cy="182880"/>
          </a:xfrm>
          <a:prstGeom prst="rect">
            <a:avLst/>
          </a:prstGeom>
        </p:spPr>
      </p:pic>
    </p:spTree>
    <p:extLst>
      <p:ext uri="{BB962C8B-B14F-4D97-AF65-F5344CB8AC3E}">
        <p14:creationId xmlns:p14="http://schemas.microsoft.com/office/powerpoint/2010/main" val="5160225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DCB8-B46E-4C48-A5E8-127FC39B85C2}"/>
              </a:ext>
            </a:extLst>
          </p:cNvPr>
          <p:cNvSpPr>
            <a:spLocks noGrp="1"/>
          </p:cNvSpPr>
          <p:nvPr>
            <p:ph type="title"/>
          </p:nvPr>
        </p:nvSpPr>
        <p:spPr/>
        <p:txBody>
          <a:bodyPr/>
          <a:lstStyle/>
          <a:p>
            <a:r>
              <a:rPr lang="en-US" dirty="0"/>
              <a:t>FCCI </a:t>
            </a:r>
          </a:p>
        </p:txBody>
      </p:sp>
      <p:sp>
        <p:nvSpPr>
          <p:cNvPr id="3" name="Content Placeholder 2">
            <a:extLst>
              <a:ext uri="{FF2B5EF4-FFF2-40B4-BE49-F238E27FC236}">
                <a16:creationId xmlns:a16="http://schemas.microsoft.com/office/drawing/2014/main" id="{08C8C4A5-FB2E-6E48-9205-484356B68440}"/>
              </a:ext>
            </a:extLst>
          </p:cNvPr>
          <p:cNvSpPr>
            <a:spLocks noGrp="1"/>
          </p:cNvSpPr>
          <p:nvPr>
            <p:ph sz="half" idx="1"/>
          </p:nvPr>
        </p:nvSpPr>
        <p:spPr/>
        <p:txBody>
          <a:bodyPr/>
          <a:lstStyle/>
          <a:p>
            <a:r>
              <a:rPr lang="en-US" sz="2400" dirty="0"/>
              <a:t>A variety of phases have been observed to form locally where swelled fuel has contacted the cladding</a:t>
            </a:r>
          </a:p>
          <a:p>
            <a:r>
              <a:rPr lang="en-US" sz="2400" dirty="0"/>
              <a:t>At the interface between the fuel and the cladding, the observed phases on both sides combine the cladding elements Fe, Ni, and Cr with the fuel components U, Zr, and Pu and the lanthanide fission products</a:t>
            </a:r>
          </a:p>
          <a:p>
            <a:endParaRPr lang="en-US" sz="2400" dirty="0"/>
          </a:p>
          <a:p>
            <a:endParaRPr lang="en-US" sz="2400" dirty="0"/>
          </a:p>
        </p:txBody>
      </p:sp>
      <p:sp>
        <p:nvSpPr>
          <p:cNvPr id="4" name="Content Placeholder 3">
            <a:extLst>
              <a:ext uri="{FF2B5EF4-FFF2-40B4-BE49-F238E27FC236}">
                <a16:creationId xmlns:a16="http://schemas.microsoft.com/office/drawing/2014/main" id="{DDDACF29-A588-494D-8F73-C1F16A4D4F99}"/>
              </a:ext>
            </a:extLst>
          </p:cNvPr>
          <p:cNvSpPr>
            <a:spLocks noGrp="1"/>
          </p:cNvSpPr>
          <p:nvPr>
            <p:ph sz="half" idx="2"/>
          </p:nvPr>
        </p:nvSpPr>
        <p:spPr/>
        <p:txBody>
          <a:bodyPr/>
          <a:lstStyle/>
          <a:p>
            <a:r>
              <a:rPr lang="en-US" sz="2400" dirty="0"/>
              <a:t>In the cladding, the developed phases are enriched with cladding components, and they contain differing amounts of the primary fuel components and fission product components</a:t>
            </a:r>
          </a:p>
          <a:p>
            <a:r>
              <a:rPr lang="en-US" sz="2400" dirty="0"/>
              <a:t>Lanthanides penetrate farthest into the cladding, specifically Ce and Nd</a:t>
            </a:r>
          </a:p>
          <a:p>
            <a:r>
              <a:rPr lang="en-US" sz="2400" dirty="0"/>
              <a:t>Fe and Ni depletion zones are observed in all the fuel elements</a:t>
            </a:r>
          </a:p>
          <a:p>
            <a:endParaRPr lang="en-US" sz="2400" dirty="0"/>
          </a:p>
          <a:p>
            <a:endParaRPr lang="en-US" sz="2400" dirty="0"/>
          </a:p>
          <a:p>
            <a:endParaRPr lang="en-US" sz="2400" dirty="0"/>
          </a:p>
        </p:txBody>
      </p:sp>
      <p:sp>
        <p:nvSpPr>
          <p:cNvPr id="5" name="Slide Number Placeholder 4">
            <a:extLst>
              <a:ext uri="{FF2B5EF4-FFF2-40B4-BE49-F238E27FC236}">
                <a16:creationId xmlns:a16="http://schemas.microsoft.com/office/drawing/2014/main" id="{303B83D5-54D0-8A49-A37A-C02A42F037E1}"/>
              </a:ext>
            </a:extLst>
          </p:cNvPr>
          <p:cNvSpPr>
            <a:spLocks noGrp="1"/>
          </p:cNvSpPr>
          <p:nvPr>
            <p:ph type="sldNum" sz="quarter" idx="12"/>
          </p:nvPr>
        </p:nvSpPr>
        <p:spPr/>
        <p:txBody>
          <a:bodyPr/>
          <a:lstStyle/>
          <a:p>
            <a:pPr>
              <a:defRPr/>
            </a:pPr>
            <a:fld id="{EC35E9FC-F6D5-0349-BBED-EA7D7A9BC49B}" type="slidenum">
              <a:rPr lang="en-US" smtClean="0"/>
              <a:pPr>
                <a:defRPr/>
              </a:pPr>
              <a:t>33</a:t>
            </a:fld>
            <a:endParaRPr lang="en-US"/>
          </a:p>
        </p:txBody>
      </p:sp>
    </p:spTree>
    <p:extLst>
      <p:ext uri="{BB962C8B-B14F-4D97-AF65-F5344CB8AC3E}">
        <p14:creationId xmlns:p14="http://schemas.microsoft.com/office/powerpoint/2010/main" val="334128106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AEDCB8-B46E-4C48-A5E8-127FC39B85C2}"/>
              </a:ext>
            </a:extLst>
          </p:cNvPr>
          <p:cNvSpPr>
            <a:spLocks noGrp="1"/>
          </p:cNvSpPr>
          <p:nvPr>
            <p:ph type="title"/>
          </p:nvPr>
        </p:nvSpPr>
        <p:spPr/>
        <p:txBody>
          <a:bodyPr/>
          <a:lstStyle/>
          <a:p>
            <a:r>
              <a:rPr lang="en-US" dirty="0"/>
              <a:t>FCCI </a:t>
            </a:r>
          </a:p>
        </p:txBody>
      </p:sp>
      <p:sp>
        <p:nvSpPr>
          <p:cNvPr id="3" name="Content Placeholder 2">
            <a:extLst>
              <a:ext uri="{FF2B5EF4-FFF2-40B4-BE49-F238E27FC236}">
                <a16:creationId xmlns:a16="http://schemas.microsoft.com/office/drawing/2014/main" id="{08C8C4A5-FB2E-6E48-9205-484356B68440}"/>
              </a:ext>
            </a:extLst>
          </p:cNvPr>
          <p:cNvSpPr>
            <a:spLocks noGrp="1"/>
          </p:cNvSpPr>
          <p:nvPr>
            <p:ph sz="half" idx="1"/>
          </p:nvPr>
        </p:nvSpPr>
        <p:spPr>
          <a:xfrm>
            <a:off x="609599" y="1968503"/>
            <a:ext cx="6011917" cy="4157663"/>
          </a:xfrm>
        </p:spPr>
        <p:txBody>
          <a:bodyPr/>
          <a:lstStyle/>
          <a:p>
            <a:r>
              <a:rPr lang="en-US" sz="2400" dirty="0"/>
              <a:t>In the fuel, some phases are observed that are enriched with the fuel constituents and contain Fe or Ni as the major nonfuel or components</a:t>
            </a:r>
          </a:p>
          <a:p>
            <a:r>
              <a:rPr lang="en-US" sz="2400" dirty="0"/>
              <a:t>Other phases are observed that primarily contain lanthanides</a:t>
            </a:r>
          </a:p>
          <a:p>
            <a:r>
              <a:rPr lang="en-US" sz="2400" dirty="0"/>
              <a:t>The interaction zone formation is localized</a:t>
            </a:r>
          </a:p>
          <a:p>
            <a:r>
              <a:rPr lang="en-US" sz="2400" dirty="0"/>
              <a:t>Temperature and power variations along the length of a fuel element appear to impact the amount of FCCI that occurs</a:t>
            </a:r>
          </a:p>
          <a:p>
            <a:endParaRPr lang="en-US" sz="2400" dirty="0"/>
          </a:p>
          <a:p>
            <a:endParaRPr lang="en-US" sz="2400" dirty="0"/>
          </a:p>
          <a:p>
            <a:endParaRPr lang="en-US" sz="2400" dirty="0"/>
          </a:p>
          <a:p>
            <a:endParaRPr lang="en-US" sz="2400" dirty="0"/>
          </a:p>
          <a:p>
            <a:endParaRPr lang="en-US" sz="2400" dirty="0"/>
          </a:p>
          <a:p>
            <a:endParaRPr lang="en-US" sz="2400" dirty="0"/>
          </a:p>
        </p:txBody>
      </p:sp>
      <p:pic>
        <p:nvPicPr>
          <p:cNvPr id="6" name="Content Placeholder 5">
            <a:extLst>
              <a:ext uri="{FF2B5EF4-FFF2-40B4-BE49-F238E27FC236}">
                <a16:creationId xmlns:a16="http://schemas.microsoft.com/office/drawing/2014/main" id="{47AF267C-60BA-664A-8071-C54C3BE46979}"/>
              </a:ext>
            </a:extLst>
          </p:cNvPr>
          <p:cNvPicPr>
            <a:picLocks noGrp="1" noChangeAspect="1"/>
          </p:cNvPicPr>
          <p:nvPr>
            <p:ph sz="half" idx="2"/>
          </p:nvPr>
        </p:nvPicPr>
        <p:blipFill>
          <a:blip r:embed="rId2"/>
          <a:stretch>
            <a:fillRect/>
          </a:stretch>
        </p:blipFill>
        <p:spPr>
          <a:xfrm>
            <a:off x="6758152" y="2756262"/>
            <a:ext cx="5041462" cy="1635642"/>
          </a:xfrm>
          <a:prstGeom prst="rect">
            <a:avLst/>
          </a:prstGeom>
        </p:spPr>
      </p:pic>
      <p:sp>
        <p:nvSpPr>
          <p:cNvPr id="5" name="Slide Number Placeholder 4">
            <a:extLst>
              <a:ext uri="{FF2B5EF4-FFF2-40B4-BE49-F238E27FC236}">
                <a16:creationId xmlns:a16="http://schemas.microsoft.com/office/drawing/2014/main" id="{303B83D5-54D0-8A49-A37A-C02A42F037E1}"/>
              </a:ext>
            </a:extLst>
          </p:cNvPr>
          <p:cNvSpPr>
            <a:spLocks noGrp="1"/>
          </p:cNvSpPr>
          <p:nvPr>
            <p:ph type="sldNum" sz="quarter" idx="12"/>
          </p:nvPr>
        </p:nvSpPr>
        <p:spPr/>
        <p:txBody>
          <a:bodyPr/>
          <a:lstStyle/>
          <a:p>
            <a:pPr>
              <a:defRPr/>
            </a:pPr>
            <a:fld id="{EC35E9FC-F6D5-0349-BBED-EA7D7A9BC49B}" type="slidenum">
              <a:rPr lang="en-US" smtClean="0"/>
              <a:pPr>
                <a:defRPr/>
              </a:pPr>
              <a:t>34</a:t>
            </a:fld>
            <a:endParaRPr lang="en-US"/>
          </a:p>
        </p:txBody>
      </p:sp>
      <p:pic>
        <p:nvPicPr>
          <p:cNvPr id="7" name="Picture 6">
            <a:extLst>
              <a:ext uri="{FF2B5EF4-FFF2-40B4-BE49-F238E27FC236}">
                <a16:creationId xmlns:a16="http://schemas.microsoft.com/office/drawing/2014/main" id="{582067B8-6F05-FE43-B91C-028BCFDC7C21}"/>
              </a:ext>
            </a:extLst>
          </p:cNvPr>
          <p:cNvPicPr>
            <a:picLocks noChangeAspect="1"/>
          </p:cNvPicPr>
          <p:nvPr/>
        </p:nvPicPr>
        <p:blipFill>
          <a:blip r:embed="rId3"/>
          <a:stretch>
            <a:fillRect/>
          </a:stretch>
        </p:blipFill>
        <p:spPr>
          <a:xfrm>
            <a:off x="6758152" y="4766601"/>
            <a:ext cx="5141310" cy="1075920"/>
          </a:xfrm>
          <a:prstGeom prst="rect">
            <a:avLst/>
          </a:prstGeom>
        </p:spPr>
      </p:pic>
      <p:sp>
        <p:nvSpPr>
          <p:cNvPr id="8" name="TextBox 7">
            <a:extLst>
              <a:ext uri="{FF2B5EF4-FFF2-40B4-BE49-F238E27FC236}">
                <a16:creationId xmlns:a16="http://schemas.microsoft.com/office/drawing/2014/main" id="{3E662D8C-89B5-B24E-A044-0B4CB09E4F86}"/>
              </a:ext>
            </a:extLst>
          </p:cNvPr>
          <p:cNvSpPr txBox="1"/>
          <p:nvPr/>
        </p:nvSpPr>
        <p:spPr>
          <a:xfrm>
            <a:off x="7028793" y="2231921"/>
            <a:ext cx="4593021" cy="378372"/>
          </a:xfrm>
          <a:prstGeom prst="rect">
            <a:avLst/>
          </a:prstGeom>
          <a:noFill/>
        </p:spPr>
        <p:txBody>
          <a:bodyPr wrap="square" rtlCol="0">
            <a:spAutoFit/>
          </a:bodyPr>
          <a:lstStyle/>
          <a:p>
            <a:pPr algn="ctr"/>
            <a:r>
              <a:rPr lang="en-US" dirty="0"/>
              <a:t>Two different locations in DP-16</a:t>
            </a:r>
          </a:p>
        </p:txBody>
      </p:sp>
    </p:spTree>
    <p:extLst>
      <p:ext uri="{BB962C8B-B14F-4D97-AF65-F5344CB8AC3E}">
        <p14:creationId xmlns:p14="http://schemas.microsoft.com/office/powerpoint/2010/main" val="41066973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E33240-0CB0-E249-A883-8A772C21EC02}"/>
              </a:ext>
            </a:extLst>
          </p:cNvPr>
          <p:cNvSpPr>
            <a:spLocks noGrp="1"/>
          </p:cNvSpPr>
          <p:nvPr>
            <p:ph type="title"/>
          </p:nvPr>
        </p:nvSpPr>
        <p:spPr/>
        <p:txBody>
          <a:bodyPr/>
          <a:lstStyle/>
          <a:p>
            <a:r>
              <a:rPr lang="en-US" dirty="0"/>
              <a:t>Melting Experiments</a:t>
            </a:r>
          </a:p>
        </p:txBody>
      </p:sp>
      <p:sp>
        <p:nvSpPr>
          <p:cNvPr id="3" name="Content Placeholder 2">
            <a:extLst>
              <a:ext uri="{FF2B5EF4-FFF2-40B4-BE49-F238E27FC236}">
                <a16:creationId xmlns:a16="http://schemas.microsoft.com/office/drawing/2014/main" id="{9623DC57-DCE3-AF4D-9490-6DE57B5D8ED2}"/>
              </a:ext>
            </a:extLst>
          </p:cNvPr>
          <p:cNvSpPr>
            <a:spLocks noGrp="1"/>
          </p:cNvSpPr>
          <p:nvPr>
            <p:ph sz="half" idx="1"/>
          </p:nvPr>
        </p:nvSpPr>
        <p:spPr>
          <a:xfrm>
            <a:off x="609600" y="1968503"/>
            <a:ext cx="6936828" cy="4157663"/>
          </a:xfrm>
        </p:spPr>
        <p:txBody>
          <a:bodyPr/>
          <a:lstStyle/>
          <a:p>
            <a:r>
              <a:rPr lang="en-US" sz="2200" dirty="0"/>
              <a:t>One potentially significant impact that the presence of FCCI zones is the melting of phases inside the cladding</a:t>
            </a:r>
          </a:p>
          <a:p>
            <a:r>
              <a:rPr lang="en-US" sz="2200" dirty="0"/>
              <a:t>This will limit the allowable coolant temperature that can be used for the reactor, but it can become more important when considering transients and accidents</a:t>
            </a:r>
          </a:p>
          <a:p>
            <a:r>
              <a:rPr lang="en-US" sz="2200" dirty="0"/>
              <a:t>This illustrates the effect of the relatively low quantities of Fe required to cause melting on the uranium-rich side of the U–Fe phase diagram</a:t>
            </a:r>
          </a:p>
          <a:p>
            <a:r>
              <a:rPr lang="en-US" sz="2200" dirty="0"/>
              <a:t>In general, no liquid phase formation is observed below heating at 700C</a:t>
            </a:r>
          </a:p>
          <a:p>
            <a:endParaRPr lang="en-US" sz="2200" dirty="0"/>
          </a:p>
          <a:p>
            <a:endParaRPr lang="en-US" sz="2200" dirty="0"/>
          </a:p>
        </p:txBody>
      </p:sp>
      <p:pic>
        <p:nvPicPr>
          <p:cNvPr id="6" name="Content Placeholder 5">
            <a:extLst>
              <a:ext uri="{FF2B5EF4-FFF2-40B4-BE49-F238E27FC236}">
                <a16:creationId xmlns:a16="http://schemas.microsoft.com/office/drawing/2014/main" id="{DDD21B83-3F3A-B34D-9E79-DE8B6F09854A}"/>
              </a:ext>
            </a:extLst>
          </p:cNvPr>
          <p:cNvPicPr>
            <a:picLocks noGrp="1" noChangeAspect="1"/>
          </p:cNvPicPr>
          <p:nvPr>
            <p:ph sz="half" idx="2"/>
          </p:nvPr>
        </p:nvPicPr>
        <p:blipFill>
          <a:blip r:embed="rId2"/>
          <a:stretch>
            <a:fillRect/>
          </a:stretch>
        </p:blipFill>
        <p:spPr>
          <a:xfrm>
            <a:off x="7854710" y="1789472"/>
            <a:ext cx="2729207" cy="5068528"/>
          </a:xfrm>
          <a:prstGeom prst="rect">
            <a:avLst/>
          </a:prstGeom>
        </p:spPr>
      </p:pic>
      <p:sp>
        <p:nvSpPr>
          <p:cNvPr id="5" name="Slide Number Placeholder 4">
            <a:extLst>
              <a:ext uri="{FF2B5EF4-FFF2-40B4-BE49-F238E27FC236}">
                <a16:creationId xmlns:a16="http://schemas.microsoft.com/office/drawing/2014/main" id="{E058E98D-8D96-8541-A62B-5D0B329EE0F1}"/>
              </a:ext>
            </a:extLst>
          </p:cNvPr>
          <p:cNvSpPr>
            <a:spLocks noGrp="1"/>
          </p:cNvSpPr>
          <p:nvPr>
            <p:ph type="sldNum" sz="quarter" idx="12"/>
          </p:nvPr>
        </p:nvSpPr>
        <p:spPr/>
        <p:txBody>
          <a:bodyPr/>
          <a:lstStyle/>
          <a:p>
            <a:pPr>
              <a:defRPr/>
            </a:pPr>
            <a:fld id="{EC35E9FC-F6D5-0349-BBED-EA7D7A9BC49B}" type="slidenum">
              <a:rPr lang="en-US" smtClean="0"/>
              <a:pPr>
                <a:defRPr/>
              </a:pPr>
              <a:t>35</a:t>
            </a:fld>
            <a:endParaRPr lang="en-US"/>
          </a:p>
        </p:txBody>
      </p:sp>
    </p:spTree>
    <p:extLst>
      <p:ext uri="{BB962C8B-B14F-4D97-AF65-F5344CB8AC3E}">
        <p14:creationId xmlns:p14="http://schemas.microsoft.com/office/powerpoint/2010/main" val="24032853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Metal fuel fabrication</a:t>
            </a:r>
          </a:p>
        </p:txBody>
      </p:sp>
      <p:sp>
        <p:nvSpPr>
          <p:cNvPr id="3" name="Slide Number Placeholder 2">
            <a:extLst>
              <a:ext uri="{FF2B5EF4-FFF2-40B4-BE49-F238E27FC236}">
                <a16:creationId xmlns:a16="http://schemas.microsoft.com/office/drawing/2014/main" id="{AB3C08B6-1600-4947-B6F4-BC6C06F3B322}"/>
              </a:ext>
            </a:extLst>
          </p:cNvPr>
          <p:cNvSpPr>
            <a:spLocks noGrp="1"/>
          </p:cNvSpPr>
          <p:nvPr>
            <p:ph type="sldNum" sz="quarter" idx="12"/>
          </p:nvPr>
        </p:nvSpPr>
        <p:spPr/>
        <p:txBody>
          <a:bodyPr/>
          <a:lstStyle/>
          <a:p>
            <a:pPr>
              <a:defRPr/>
            </a:pPr>
            <a:fld id="{0DA6BD0F-ABBC-C14D-BC96-77BE126A748B}" type="slidenum">
              <a:rPr lang="en-US" smtClean="0"/>
              <a:pPr>
                <a:defRPr/>
              </a:pPr>
              <a:t>36</a:t>
            </a:fld>
            <a:endParaRPr lang="en-US"/>
          </a:p>
        </p:txBody>
      </p:sp>
    </p:spTree>
    <p:extLst>
      <p:ext uri="{BB962C8B-B14F-4D97-AF65-F5344CB8AC3E}">
        <p14:creationId xmlns:p14="http://schemas.microsoft.com/office/powerpoint/2010/main" val="11600385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Metal Fuel 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a:xfrm>
            <a:off x="609600" y="1968503"/>
            <a:ext cx="3888828" cy="4157663"/>
          </a:xfrm>
        </p:spPr>
        <p:txBody>
          <a:bodyPr/>
          <a:lstStyle/>
          <a:p>
            <a:r>
              <a:rPr lang="en-US" sz="2400" dirty="0"/>
              <a:t>Injection casting has been utilized for fuel slug fabrication</a:t>
            </a:r>
          </a:p>
          <a:p>
            <a:r>
              <a:rPr lang="en-US" sz="2400" dirty="0"/>
              <a:t>Remote fabrication has been performed inside a hot cell on recovered uranium</a:t>
            </a:r>
          </a:p>
          <a:p>
            <a:r>
              <a:rPr lang="en-US" sz="2400" dirty="0"/>
              <a:t>Fuel slugs for EBR II and FFTF were fabrication via injection casting</a:t>
            </a:r>
          </a:p>
        </p:txBody>
      </p:sp>
      <p:pic>
        <p:nvPicPr>
          <p:cNvPr id="6" name="Content Placeholder 5">
            <a:extLst>
              <a:ext uri="{FF2B5EF4-FFF2-40B4-BE49-F238E27FC236}">
                <a16:creationId xmlns:a16="http://schemas.microsoft.com/office/drawing/2014/main" id="{CFF54ABE-B410-0642-A653-583E0EDA6257}"/>
              </a:ext>
            </a:extLst>
          </p:cNvPr>
          <p:cNvPicPr>
            <a:picLocks noGrp="1" noChangeAspect="1"/>
          </p:cNvPicPr>
          <p:nvPr>
            <p:ph sz="half" idx="2"/>
          </p:nvPr>
        </p:nvPicPr>
        <p:blipFill>
          <a:blip r:embed="rId3"/>
          <a:stretch>
            <a:fillRect/>
          </a:stretch>
        </p:blipFill>
        <p:spPr>
          <a:xfrm>
            <a:off x="4820535" y="1968500"/>
            <a:ext cx="7205077" cy="3989387"/>
          </a:xfrm>
          <a:prstGeom prst="rect">
            <a:avLst/>
          </a:prstGeom>
        </p:spPr>
      </p:pic>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37</a:t>
            </a:fld>
            <a:endParaRPr lang="en-US"/>
          </a:p>
        </p:txBody>
      </p:sp>
    </p:spTree>
    <p:extLst>
      <p:ext uri="{BB962C8B-B14F-4D97-AF65-F5344CB8AC3E}">
        <p14:creationId xmlns:p14="http://schemas.microsoft.com/office/powerpoint/2010/main" val="15989333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Metal Fuel 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a:xfrm>
            <a:off x="609600" y="1968503"/>
            <a:ext cx="3888828" cy="4157663"/>
          </a:xfrm>
        </p:spPr>
        <p:txBody>
          <a:bodyPr/>
          <a:lstStyle/>
          <a:p>
            <a:r>
              <a:rPr lang="en-US" sz="2400" dirty="0"/>
              <a:t>Starting materials are charged into the graphite crucible in the furnace</a:t>
            </a:r>
          </a:p>
          <a:p>
            <a:r>
              <a:rPr lang="en-US" sz="2400" dirty="0"/>
              <a:t>Silica molds with tops closed are set above the crucible</a:t>
            </a:r>
          </a:p>
          <a:p>
            <a:r>
              <a:rPr lang="en-US" sz="2400" dirty="0"/>
              <a:t>Crucible is coated with yttria</a:t>
            </a:r>
          </a:p>
          <a:p>
            <a:r>
              <a:rPr lang="en-US" sz="2400" dirty="0"/>
              <a:t>Molds coated with zirconia</a:t>
            </a:r>
          </a:p>
        </p:txBody>
      </p:sp>
      <p:pic>
        <p:nvPicPr>
          <p:cNvPr id="6" name="Content Placeholder 5">
            <a:extLst>
              <a:ext uri="{FF2B5EF4-FFF2-40B4-BE49-F238E27FC236}">
                <a16:creationId xmlns:a16="http://schemas.microsoft.com/office/drawing/2014/main" id="{CFF54ABE-B410-0642-A653-583E0EDA6257}"/>
              </a:ext>
            </a:extLst>
          </p:cNvPr>
          <p:cNvPicPr>
            <a:picLocks noGrp="1" noChangeAspect="1"/>
          </p:cNvPicPr>
          <p:nvPr>
            <p:ph sz="half" idx="2"/>
          </p:nvPr>
        </p:nvPicPr>
        <p:blipFill>
          <a:blip r:embed="rId3"/>
          <a:stretch>
            <a:fillRect/>
          </a:stretch>
        </p:blipFill>
        <p:spPr>
          <a:xfrm>
            <a:off x="4820535" y="1968500"/>
            <a:ext cx="7205077" cy="3989387"/>
          </a:xfrm>
          <a:prstGeom prst="rect">
            <a:avLst/>
          </a:prstGeom>
        </p:spPr>
      </p:pic>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38</a:t>
            </a:fld>
            <a:endParaRPr lang="en-US"/>
          </a:p>
        </p:txBody>
      </p:sp>
    </p:spTree>
    <p:extLst>
      <p:ext uri="{BB962C8B-B14F-4D97-AF65-F5344CB8AC3E}">
        <p14:creationId xmlns:p14="http://schemas.microsoft.com/office/powerpoint/2010/main" val="2982652374"/>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Metal Fuel 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a:xfrm>
            <a:off x="609599" y="1968503"/>
            <a:ext cx="4210935" cy="4157663"/>
          </a:xfrm>
        </p:spPr>
        <p:txBody>
          <a:bodyPr/>
          <a:lstStyle/>
          <a:p>
            <a:r>
              <a:rPr lang="en-US" sz="2400" dirty="0"/>
              <a:t>Furnace closed and filled with </a:t>
            </a:r>
            <a:r>
              <a:rPr lang="en-US" sz="2400" dirty="0" err="1"/>
              <a:t>Ar</a:t>
            </a:r>
            <a:r>
              <a:rPr lang="en-US" sz="2400" dirty="0"/>
              <a:t> gas</a:t>
            </a:r>
          </a:p>
          <a:p>
            <a:r>
              <a:rPr lang="en-US" sz="2400" dirty="0"/>
              <a:t>Crucible is inductively heated to 1830K, and stirred electromagnetically</a:t>
            </a:r>
          </a:p>
          <a:p>
            <a:r>
              <a:rPr lang="en-US" sz="2400" dirty="0" err="1"/>
              <a:t>Ar</a:t>
            </a:r>
            <a:r>
              <a:rPr lang="en-US" sz="2400" dirty="0"/>
              <a:t> gas removed, molds are lowered, then </a:t>
            </a:r>
            <a:r>
              <a:rPr lang="en-US" sz="2400" dirty="0" err="1"/>
              <a:t>Ar</a:t>
            </a:r>
            <a:r>
              <a:rPr lang="en-US" sz="2400" dirty="0"/>
              <a:t> gas returned</a:t>
            </a:r>
          </a:p>
          <a:p>
            <a:r>
              <a:rPr lang="en-US" sz="2400" dirty="0"/>
              <a:t>Pressure difference injects the melt into the molds</a:t>
            </a:r>
          </a:p>
        </p:txBody>
      </p:sp>
      <p:pic>
        <p:nvPicPr>
          <p:cNvPr id="6" name="Content Placeholder 5">
            <a:extLst>
              <a:ext uri="{FF2B5EF4-FFF2-40B4-BE49-F238E27FC236}">
                <a16:creationId xmlns:a16="http://schemas.microsoft.com/office/drawing/2014/main" id="{CFF54ABE-B410-0642-A653-583E0EDA6257}"/>
              </a:ext>
            </a:extLst>
          </p:cNvPr>
          <p:cNvPicPr>
            <a:picLocks noGrp="1" noChangeAspect="1"/>
          </p:cNvPicPr>
          <p:nvPr>
            <p:ph sz="half" idx="2"/>
          </p:nvPr>
        </p:nvPicPr>
        <p:blipFill>
          <a:blip r:embed="rId3"/>
          <a:stretch>
            <a:fillRect/>
          </a:stretch>
        </p:blipFill>
        <p:spPr>
          <a:xfrm>
            <a:off x="4820535" y="1968500"/>
            <a:ext cx="7205077" cy="3989387"/>
          </a:xfrm>
          <a:prstGeom prst="rect">
            <a:avLst/>
          </a:prstGeom>
        </p:spPr>
      </p:pic>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39</a:t>
            </a:fld>
            <a:endParaRPr lang="en-US"/>
          </a:p>
        </p:txBody>
      </p:sp>
    </p:spTree>
    <p:extLst>
      <p:ext uri="{BB962C8B-B14F-4D97-AF65-F5344CB8AC3E}">
        <p14:creationId xmlns:p14="http://schemas.microsoft.com/office/powerpoint/2010/main" val="167727546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709E19-C1C9-7443-AF93-E2E066E639BA}"/>
              </a:ext>
            </a:extLst>
          </p:cNvPr>
          <p:cNvSpPr>
            <a:spLocks noGrp="1"/>
          </p:cNvSpPr>
          <p:nvPr>
            <p:ph type="title"/>
          </p:nvPr>
        </p:nvSpPr>
        <p:spPr/>
        <p:txBody>
          <a:bodyPr/>
          <a:lstStyle/>
          <a:p>
            <a:r>
              <a:rPr lang="en-US" dirty="0"/>
              <a:t>Closing the Fuel Cycle</a:t>
            </a:r>
          </a:p>
        </p:txBody>
      </p:sp>
      <p:sp>
        <p:nvSpPr>
          <p:cNvPr id="3" name="Content Placeholder 2">
            <a:extLst>
              <a:ext uri="{FF2B5EF4-FFF2-40B4-BE49-F238E27FC236}">
                <a16:creationId xmlns:a16="http://schemas.microsoft.com/office/drawing/2014/main" id="{D40D69A8-4E00-F24E-AB61-197E90D2FF1B}"/>
              </a:ext>
            </a:extLst>
          </p:cNvPr>
          <p:cNvSpPr>
            <a:spLocks noGrp="1"/>
          </p:cNvSpPr>
          <p:nvPr>
            <p:ph sz="half" idx="1"/>
          </p:nvPr>
        </p:nvSpPr>
        <p:spPr/>
        <p:txBody>
          <a:bodyPr/>
          <a:lstStyle/>
          <a:p>
            <a:r>
              <a:rPr lang="en-US" sz="2400" dirty="0"/>
              <a:t>An important factor in selecting a fuel form for fast reactors is ease of fuel recycling, including reprocessing and fuel refabrication</a:t>
            </a:r>
          </a:p>
          <a:p>
            <a:r>
              <a:rPr lang="en-US" sz="2400" dirty="0"/>
              <a:t>Pyrometallurgical processing, called ‘melt refining,’ can be combined with refining techniques to recycle spent metallic fuel</a:t>
            </a:r>
          </a:p>
          <a:p>
            <a:endParaRPr lang="en-US" sz="2400" dirty="0"/>
          </a:p>
          <a:p>
            <a:endParaRPr lang="en-US" sz="2400" dirty="0"/>
          </a:p>
        </p:txBody>
      </p:sp>
      <p:sp>
        <p:nvSpPr>
          <p:cNvPr id="4" name="Content Placeholder 3">
            <a:extLst>
              <a:ext uri="{FF2B5EF4-FFF2-40B4-BE49-F238E27FC236}">
                <a16:creationId xmlns:a16="http://schemas.microsoft.com/office/drawing/2014/main" id="{5EC804BA-81DE-1B42-92F0-1B2C0467510F}"/>
              </a:ext>
            </a:extLst>
          </p:cNvPr>
          <p:cNvSpPr>
            <a:spLocks noGrp="1"/>
          </p:cNvSpPr>
          <p:nvPr>
            <p:ph sz="half" idx="2"/>
          </p:nvPr>
        </p:nvSpPr>
        <p:spPr/>
        <p:txBody>
          <a:bodyPr/>
          <a:lstStyle/>
          <a:p>
            <a:r>
              <a:rPr lang="en-US" sz="2400" dirty="0"/>
              <a:t>This recycling process has been demonstrated for uranium alloy fuels in the 1960s, where fuel alloys were recycled as many as four times, and the fuel was returned to the reactor within 4–6 weeks of its removal from the reactor core</a:t>
            </a:r>
          </a:p>
          <a:p>
            <a:endParaRPr lang="en-US" sz="2400" dirty="0"/>
          </a:p>
        </p:txBody>
      </p:sp>
      <p:sp>
        <p:nvSpPr>
          <p:cNvPr id="5" name="Slide Number Placeholder 4">
            <a:extLst>
              <a:ext uri="{FF2B5EF4-FFF2-40B4-BE49-F238E27FC236}">
                <a16:creationId xmlns:a16="http://schemas.microsoft.com/office/drawing/2014/main" id="{964CFBE6-1DA7-D449-9FF3-3E279AA490A3}"/>
              </a:ext>
            </a:extLst>
          </p:cNvPr>
          <p:cNvSpPr>
            <a:spLocks noGrp="1"/>
          </p:cNvSpPr>
          <p:nvPr>
            <p:ph type="sldNum" sz="quarter" idx="12"/>
          </p:nvPr>
        </p:nvSpPr>
        <p:spPr/>
        <p:txBody>
          <a:bodyPr/>
          <a:lstStyle/>
          <a:p>
            <a:pPr>
              <a:defRPr/>
            </a:pPr>
            <a:fld id="{EC35E9FC-F6D5-0349-BBED-EA7D7A9BC49B}" type="slidenum">
              <a:rPr lang="en-US" smtClean="0"/>
              <a:pPr>
                <a:defRPr/>
              </a:pPr>
              <a:t>40</a:t>
            </a:fld>
            <a:endParaRPr lang="en-US"/>
          </a:p>
        </p:txBody>
      </p:sp>
    </p:spTree>
    <p:extLst>
      <p:ext uri="{BB962C8B-B14F-4D97-AF65-F5344CB8AC3E}">
        <p14:creationId xmlns:p14="http://schemas.microsoft.com/office/powerpoint/2010/main" val="340893381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Reprocessing</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p:txBody>
          <a:bodyPr/>
          <a:lstStyle/>
          <a:p>
            <a:r>
              <a:rPr lang="en-US" sz="2200" dirty="0"/>
              <a:t>Pyroprocessing</a:t>
            </a:r>
          </a:p>
          <a:p>
            <a:endParaRPr lang="en-US" sz="2200" dirty="0"/>
          </a:p>
          <a:p>
            <a:r>
              <a:rPr lang="en-US" sz="2200" dirty="0"/>
              <a:t>For more than 50 years, pyrometallurgy has been studied as an alternative strategy in the reprocessing of used fuel</a:t>
            </a:r>
          </a:p>
          <a:p>
            <a:r>
              <a:rPr lang="en-US" sz="2200" dirty="0"/>
              <a:t>Pyrochemical processes rely on refining techniques at high temperature (500–900 C) depending on the molten salt eutectic used</a:t>
            </a:r>
          </a:p>
          <a:p>
            <a:endParaRPr lang="en-US" sz="2200" dirty="0"/>
          </a:p>
          <a:p>
            <a:endParaRPr lang="en-US" sz="2200" dirty="0"/>
          </a:p>
          <a:p>
            <a:endParaRPr lang="en-US" sz="2200" dirty="0"/>
          </a:p>
        </p:txBody>
      </p:sp>
      <p:sp>
        <p:nvSpPr>
          <p:cNvPr id="4" name="Content Placeholder 3">
            <a:extLst>
              <a:ext uri="{FF2B5EF4-FFF2-40B4-BE49-F238E27FC236}">
                <a16:creationId xmlns:a16="http://schemas.microsoft.com/office/drawing/2014/main" id="{C3F700C4-0FFA-D147-ADAB-03DAB0B785D7}"/>
              </a:ext>
            </a:extLst>
          </p:cNvPr>
          <p:cNvSpPr>
            <a:spLocks noGrp="1"/>
          </p:cNvSpPr>
          <p:nvPr>
            <p:ph sz="half" idx="2"/>
          </p:nvPr>
        </p:nvSpPr>
        <p:spPr/>
        <p:txBody>
          <a:bodyPr/>
          <a:lstStyle/>
          <a:p>
            <a:r>
              <a:rPr lang="en-US" sz="2200" dirty="0"/>
              <a:t>Typically, chloride systems operate at lower temperature compared to fluoride systems, and are preferred in processing</a:t>
            </a:r>
          </a:p>
          <a:p>
            <a:r>
              <a:rPr lang="en-US" sz="2200" dirty="0"/>
              <a:t>These processes are mainly based on electrorefining or on extraction from the molten salt phase into liquid metal</a:t>
            </a:r>
          </a:p>
          <a:p>
            <a:r>
              <a:rPr lang="en-US" sz="2200" dirty="0"/>
              <a:t>Two processes-one for oxide fuel and one for metallic fuel-have been developed to near industrial scale</a:t>
            </a:r>
          </a:p>
          <a:p>
            <a:endParaRPr lang="en-US" sz="2200" dirty="0"/>
          </a:p>
          <a:p>
            <a:endParaRPr lang="en-US" sz="2200" dirty="0"/>
          </a:p>
        </p:txBody>
      </p:sp>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41</a:t>
            </a:fld>
            <a:endParaRPr lang="en-US"/>
          </a:p>
        </p:txBody>
      </p:sp>
    </p:spTree>
    <p:extLst>
      <p:ext uri="{BB962C8B-B14F-4D97-AF65-F5344CB8AC3E}">
        <p14:creationId xmlns:p14="http://schemas.microsoft.com/office/powerpoint/2010/main" val="24603857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C72D-B3DD-3049-A22B-F37C257A4E56}"/>
              </a:ext>
            </a:extLst>
          </p:cNvPr>
          <p:cNvSpPr>
            <a:spLocks noGrp="1"/>
          </p:cNvSpPr>
          <p:nvPr>
            <p:ph type="title"/>
          </p:nvPr>
        </p:nvSpPr>
        <p:spPr/>
        <p:txBody>
          <a:bodyPr/>
          <a:lstStyle/>
          <a:p>
            <a:r>
              <a:rPr lang="en-US" dirty="0"/>
              <a:t>IFR </a:t>
            </a:r>
            <a:r>
              <a:rPr lang="en-US" dirty="0" err="1"/>
              <a:t>Pyroprocess</a:t>
            </a:r>
            <a:endParaRPr lang="en-US" dirty="0"/>
          </a:p>
        </p:txBody>
      </p:sp>
      <p:sp>
        <p:nvSpPr>
          <p:cNvPr id="3" name="Content Placeholder 2">
            <a:extLst>
              <a:ext uri="{FF2B5EF4-FFF2-40B4-BE49-F238E27FC236}">
                <a16:creationId xmlns:a16="http://schemas.microsoft.com/office/drawing/2014/main" id="{FE3F92C1-C673-B346-BED3-52D24C6EAA35}"/>
              </a:ext>
            </a:extLst>
          </p:cNvPr>
          <p:cNvSpPr>
            <a:spLocks noGrp="1"/>
          </p:cNvSpPr>
          <p:nvPr>
            <p:ph sz="half" idx="1"/>
          </p:nvPr>
        </p:nvSpPr>
        <p:spPr>
          <a:xfrm>
            <a:off x="609600" y="1968503"/>
            <a:ext cx="5588000" cy="4157663"/>
          </a:xfrm>
        </p:spPr>
        <p:txBody>
          <a:bodyPr/>
          <a:lstStyle/>
          <a:p>
            <a:r>
              <a:rPr lang="en-US" sz="2200" dirty="0"/>
              <a:t>This process was developed in the US to be part of the IFR project, and can handle the treatment of </a:t>
            </a:r>
            <a:r>
              <a:rPr lang="en-US" sz="2200" dirty="0" err="1"/>
              <a:t>transuranics</a:t>
            </a:r>
            <a:endParaRPr lang="en-US" sz="2200" dirty="0"/>
          </a:p>
          <a:p>
            <a:r>
              <a:rPr lang="en-US" sz="2200" dirty="0"/>
              <a:t>The fuel is recycled using an electrochemical process based on molten chloride salts and liquid metals</a:t>
            </a:r>
          </a:p>
          <a:p>
            <a:r>
              <a:rPr lang="en-US" sz="2200" dirty="0"/>
              <a:t>The molten salt medium for electrorefining is a solution of a certain amount of UCl3 dissolved in a LiCl–</a:t>
            </a:r>
            <a:r>
              <a:rPr lang="en-US" sz="2200" dirty="0" err="1"/>
              <a:t>KCl</a:t>
            </a:r>
            <a:r>
              <a:rPr lang="en-US" sz="2200" dirty="0"/>
              <a:t> eutectic</a:t>
            </a:r>
          </a:p>
          <a:p>
            <a:endParaRPr lang="en-US" sz="2200" dirty="0"/>
          </a:p>
          <a:p>
            <a:endParaRPr lang="en-US" sz="2200" dirty="0"/>
          </a:p>
        </p:txBody>
      </p:sp>
      <p:pic>
        <p:nvPicPr>
          <p:cNvPr id="6" name="Content Placeholder 5">
            <a:extLst>
              <a:ext uri="{FF2B5EF4-FFF2-40B4-BE49-F238E27FC236}">
                <a16:creationId xmlns:a16="http://schemas.microsoft.com/office/drawing/2014/main" id="{093AC7C9-9F7C-8F4E-82BA-4B27743A84FE}"/>
              </a:ext>
            </a:extLst>
          </p:cNvPr>
          <p:cNvPicPr>
            <a:picLocks noGrp="1" noChangeAspect="1"/>
          </p:cNvPicPr>
          <p:nvPr>
            <p:ph sz="half" idx="2"/>
          </p:nvPr>
        </p:nvPicPr>
        <p:blipFill>
          <a:blip r:embed="rId2"/>
          <a:stretch>
            <a:fillRect/>
          </a:stretch>
        </p:blipFill>
        <p:spPr>
          <a:xfrm>
            <a:off x="6197600" y="2222057"/>
            <a:ext cx="5384800" cy="3650549"/>
          </a:xfrm>
          <a:prstGeom prst="rect">
            <a:avLst/>
          </a:prstGeom>
        </p:spPr>
      </p:pic>
      <p:sp>
        <p:nvSpPr>
          <p:cNvPr id="5" name="Slide Number Placeholder 4">
            <a:extLst>
              <a:ext uri="{FF2B5EF4-FFF2-40B4-BE49-F238E27FC236}">
                <a16:creationId xmlns:a16="http://schemas.microsoft.com/office/drawing/2014/main" id="{3D5AD5B2-0EFB-D14B-ABE8-E0AEFEF8AC8C}"/>
              </a:ext>
            </a:extLst>
          </p:cNvPr>
          <p:cNvSpPr>
            <a:spLocks noGrp="1"/>
          </p:cNvSpPr>
          <p:nvPr>
            <p:ph type="sldNum" sz="quarter" idx="12"/>
          </p:nvPr>
        </p:nvSpPr>
        <p:spPr/>
        <p:txBody>
          <a:bodyPr/>
          <a:lstStyle/>
          <a:p>
            <a:pPr>
              <a:defRPr/>
            </a:pPr>
            <a:fld id="{EC35E9FC-F6D5-0349-BBED-EA7D7A9BC49B}" type="slidenum">
              <a:rPr lang="en-US" smtClean="0"/>
              <a:pPr>
                <a:defRPr/>
              </a:pPr>
              <a:t>42</a:t>
            </a:fld>
            <a:endParaRPr lang="en-US"/>
          </a:p>
        </p:txBody>
      </p:sp>
    </p:spTree>
    <p:extLst>
      <p:ext uri="{BB962C8B-B14F-4D97-AF65-F5344CB8AC3E}">
        <p14:creationId xmlns:p14="http://schemas.microsoft.com/office/powerpoint/2010/main" val="93309973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C72D-B3DD-3049-A22B-F37C257A4E56}"/>
              </a:ext>
            </a:extLst>
          </p:cNvPr>
          <p:cNvSpPr>
            <a:spLocks noGrp="1"/>
          </p:cNvSpPr>
          <p:nvPr>
            <p:ph type="title"/>
          </p:nvPr>
        </p:nvSpPr>
        <p:spPr/>
        <p:txBody>
          <a:bodyPr/>
          <a:lstStyle/>
          <a:p>
            <a:r>
              <a:rPr lang="en-US" dirty="0"/>
              <a:t>IFR </a:t>
            </a:r>
            <a:r>
              <a:rPr lang="en-US" dirty="0" err="1"/>
              <a:t>Pyroprocess</a:t>
            </a:r>
            <a:endParaRPr lang="en-US" dirty="0"/>
          </a:p>
        </p:txBody>
      </p:sp>
      <p:sp>
        <p:nvSpPr>
          <p:cNvPr id="3" name="Content Placeholder 2">
            <a:extLst>
              <a:ext uri="{FF2B5EF4-FFF2-40B4-BE49-F238E27FC236}">
                <a16:creationId xmlns:a16="http://schemas.microsoft.com/office/drawing/2014/main" id="{FE3F92C1-C673-B346-BED3-52D24C6EAA35}"/>
              </a:ext>
            </a:extLst>
          </p:cNvPr>
          <p:cNvSpPr>
            <a:spLocks noGrp="1"/>
          </p:cNvSpPr>
          <p:nvPr>
            <p:ph sz="half" idx="1"/>
          </p:nvPr>
        </p:nvSpPr>
        <p:spPr>
          <a:xfrm>
            <a:off x="609599" y="1968503"/>
            <a:ext cx="6117021" cy="4157663"/>
          </a:xfrm>
        </p:spPr>
        <p:txBody>
          <a:bodyPr/>
          <a:lstStyle/>
          <a:p>
            <a:r>
              <a:rPr lang="en-US" sz="2200" dirty="0"/>
              <a:t>The fuel is electrochemically dissolved using a potential between the basket (loaded with used fuel) as anode and a stainless steel electrode in the salt as the cathode</a:t>
            </a:r>
          </a:p>
          <a:p>
            <a:r>
              <a:rPr lang="en-US" sz="2200" dirty="0"/>
              <a:t>Uranium and TRU are deposited on the cathodes</a:t>
            </a:r>
          </a:p>
          <a:p>
            <a:r>
              <a:rPr lang="en-US" sz="2200" dirty="0"/>
              <a:t>Once the fuel is dissolved and most of the uranium is deposited on the solid steel, this cathode is replaced by a liquid cadmium cathode, and the remaining TRUs can be co-deposited with the remaining uranium</a:t>
            </a:r>
          </a:p>
          <a:p>
            <a:endParaRPr lang="en-US" sz="2200" dirty="0"/>
          </a:p>
          <a:p>
            <a:endParaRPr lang="en-US" sz="2200" dirty="0"/>
          </a:p>
        </p:txBody>
      </p:sp>
      <p:pic>
        <p:nvPicPr>
          <p:cNvPr id="6" name="Content Placeholder 5">
            <a:extLst>
              <a:ext uri="{FF2B5EF4-FFF2-40B4-BE49-F238E27FC236}">
                <a16:creationId xmlns:a16="http://schemas.microsoft.com/office/drawing/2014/main" id="{093AC7C9-9F7C-8F4E-82BA-4B27743A84FE}"/>
              </a:ext>
            </a:extLst>
          </p:cNvPr>
          <p:cNvPicPr>
            <a:picLocks noGrp="1" noChangeAspect="1"/>
          </p:cNvPicPr>
          <p:nvPr>
            <p:ph sz="half" idx="2"/>
          </p:nvPr>
        </p:nvPicPr>
        <p:blipFill>
          <a:blip r:embed="rId2"/>
          <a:stretch>
            <a:fillRect/>
          </a:stretch>
        </p:blipFill>
        <p:spPr>
          <a:xfrm>
            <a:off x="6565462" y="2222059"/>
            <a:ext cx="5384800" cy="3650549"/>
          </a:xfrm>
          <a:prstGeom prst="rect">
            <a:avLst/>
          </a:prstGeom>
        </p:spPr>
      </p:pic>
      <p:sp>
        <p:nvSpPr>
          <p:cNvPr id="5" name="Slide Number Placeholder 4">
            <a:extLst>
              <a:ext uri="{FF2B5EF4-FFF2-40B4-BE49-F238E27FC236}">
                <a16:creationId xmlns:a16="http://schemas.microsoft.com/office/drawing/2014/main" id="{3D5AD5B2-0EFB-D14B-ABE8-E0AEFEF8AC8C}"/>
              </a:ext>
            </a:extLst>
          </p:cNvPr>
          <p:cNvSpPr>
            <a:spLocks noGrp="1"/>
          </p:cNvSpPr>
          <p:nvPr>
            <p:ph type="sldNum" sz="quarter" idx="12"/>
          </p:nvPr>
        </p:nvSpPr>
        <p:spPr/>
        <p:txBody>
          <a:bodyPr/>
          <a:lstStyle/>
          <a:p>
            <a:pPr>
              <a:defRPr/>
            </a:pPr>
            <a:fld id="{EC35E9FC-F6D5-0349-BBED-EA7D7A9BC49B}" type="slidenum">
              <a:rPr lang="en-US" smtClean="0"/>
              <a:pPr>
                <a:defRPr/>
              </a:pPr>
              <a:t>43</a:t>
            </a:fld>
            <a:endParaRPr lang="en-US"/>
          </a:p>
        </p:txBody>
      </p:sp>
    </p:spTree>
    <p:extLst>
      <p:ext uri="{BB962C8B-B14F-4D97-AF65-F5344CB8AC3E}">
        <p14:creationId xmlns:p14="http://schemas.microsoft.com/office/powerpoint/2010/main" val="2738623256"/>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6EC72D-B3DD-3049-A22B-F37C257A4E56}"/>
              </a:ext>
            </a:extLst>
          </p:cNvPr>
          <p:cNvSpPr>
            <a:spLocks noGrp="1"/>
          </p:cNvSpPr>
          <p:nvPr>
            <p:ph type="title"/>
          </p:nvPr>
        </p:nvSpPr>
        <p:spPr/>
        <p:txBody>
          <a:bodyPr/>
          <a:lstStyle/>
          <a:p>
            <a:r>
              <a:rPr lang="en-US" dirty="0"/>
              <a:t>IFR </a:t>
            </a:r>
            <a:r>
              <a:rPr lang="en-US" dirty="0" err="1"/>
              <a:t>Pyroprocess</a:t>
            </a:r>
            <a:endParaRPr lang="en-US" dirty="0"/>
          </a:p>
        </p:txBody>
      </p:sp>
      <p:sp>
        <p:nvSpPr>
          <p:cNvPr id="3" name="Content Placeholder 2">
            <a:extLst>
              <a:ext uri="{FF2B5EF4-FFF2-40B4-BE49-F238E27FC236}">
                <a16:creationId xmlns:a16="http://schemas.microsoft.com/office/drawing/2014/main" id="{FE3F92C1-C673-B346-BED3-52D24C6EAA35}"/>
              </a:ext>
            </a:extLst>
          </p:cNvPr>
          <p:cNvSpPr>
            <a:spLocks noGrp="1"/>
          </p:cNvSpPr>
          <p:nvPr>
            <p:ph sz="half" idx="1"/>
          </p:nvPr>
        </p:nvSpPr>
        <p:spPr>
          <a:xfrm>
            <a:off x="609599" y="1968503"/>
            <a:ext cx="6117021" cy="4157663"/>
          </a:xfrm>
        </p:spPr>
        <p:txBody>
          <a:bodyPr/>
          <a:lstStyle/>
          <a:p>
            <a:r>
              <a:rPr lang="en-US" sz="2200" dirty="0"/>
              <a:t>The alkali, alkaline earth, rare earth, and halide FPs remain primarily dissolved in the salt phase</a:t>
            </a:r>
          </a:p>
          <a:p>
            <a:r>
              <a:rPr lang="en-US" sz="2200" dirty="0"/>
              <a:t>More than 90% of the noble metal FPs and fuel alloy material are retained in the chopped fuel cladding segments in the anode baskets</a:t>
            </a:r>
          </a:p>
          <a:p>
            <a:r>
              <a:rPr lang="en-US" sz="2200" dirty="0"/>
              <a:t>Can reduce the repository burden of radioactive waste by separating long-lived MA from spent light-water reactor fuel, burning MA in fast reactors, and decreasing the long-term radioactivity of nuclear waste</a:t>
            </a:r>
          </a:p>
          <a:p>
            <a:endParaRPr lang="en-US" sz="2200" dirty="0"/>
          </a:p>
          <a:p>
            <a:endParaRPr lang="en-US" sz="2200" dirty="0"/>
          </a:p>
          <a:p>
            <a:endParaRPr lang="en-US" sz="2200" dirty="0"/>
          </a:p>
        </p:txBody>
      </p:sp>
      <p:pic>
        <p:nvPicPr>
          <p:cNvPr id="6" name="Content Placeholder 5">
            <a:extLst>
              <a:ext uri="{FF2B5EF4-FFF2-40B4-BE49-F238E27FC236}">
                <a16:creationId xmlns:a16="http://schemas.microsoft.com/office/drawing/2014/main" id="{093AC7C9-9F7C-8F4E-82BA-4B27743A84FE}"/>
              </a:ext>
            </a:extLst>
          </p:cNvPr>
          <p:cNvPicPr>
            <a:picLocks noGrp="1" noChangeAspect="1"/>
          </p:cNvPicPr>
          <p:nvPr>
            <p:ph sz="half" idx="2"/>
          </p:nvPr>
        </p:nvPicPr>
        <p:blipFill>
          <a:blip r:embed="rId2"/>
          <a:stretch>
            <a:fillRect/>
          </a:stretch>
        </p:blipFill>
        <p:spPr>
          <a:xfrm>
            <a:off x="6565462" y="2222059"/>
            <a:ext cx="5384800" cy="3650549"/>
          </a:xfrm>
          <a:prstGeom prst="rect">
            <a:avLst/>
          </a:prstGeom>
        </p:spPr>
      </p:pic>
      <p:sp>
        <p:nvSpPr>
          <p:cNvPr id="5" name="Slide Number Placeholder 4">
            <a:extLst>
              <a:ext uri="{FF2B5EF4-FFF2-40B4-BE49-F238E27FC236}">
                <a16:creationId xmlns:a16="http://schemas.microsoft.com/office/drawing/2014/main" id="{3D5AD5B2-0EFB-D14B-ABE8-E0AEFEF8AC8C}"/>
              </a:ext>
            </a:extLst>
          </p:cNvPr>
          <p:cNvSpPr>
            <a:spLocks noGrp="1"/>
          </p:cNvSpPr>
          <p:nvPr>
            <p:ph type="sldNum" sz="quarter" idx="12"/>
          </p:nvPr>
        </p:nvSpPr>
        <p:spPr/>
        <p:txBody>
          <a:bodyPr/>
          <a:lstStyle/>
          <a:p>
            <a:pPr>
              <a:defRPr/>
            </a:pPr>
            <a:fld id="{EC35E9FC-F6D5-0349-BBED-EA7D7A9BC49B}" type="slidenum">
              <a:rPr lang="en-US" smtClean="0"/>
              <a:pPr>
                <a:defRPr/>
              </a:pPr>
              <a:t>44</a:t>
            </a:fld>
            <a:endParaRPr lang="en-US"/>
          </a:p>
        </p:txBody>
      </p:sp>
    </p:spTree>
    <p:extLst>
      <p:ext uri="{BB962C8B-B14F-4D97-AF65-F5344CB8AC3E}">
        <p14:creationId xmlns:p14="http://schemas.microsoft.com/office/powerpoint/2010/main" val="40329067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CE851-9CAA-904E-B87E-EDA6E1A4863B}"/>
              </a:ext>
            </a:extLst>
          </p:cNvPr>
          <p:cNvSpPr>
            <a:spLocks noGrp="1"/>
          </p:cNvSpPr>
          <p:nvPr>
            <p:ph type="title"/>
          </p:nvPr>
        </p:nvSpPr>
        <p:spPr/>
        <p:txBody>
          <a:bodyPr/>
          <a:lstStyle/>
          <a:p>
            <a:r>
              <a:rPr lang="en-US" dirty="0"/>
              <a:t>Refabrication</a:t>
            </a:r>
          </a:p>
        </p:txBody>
      </p:sp>
      <p:sp>
        <p:nvSpPr>
          <p:cNvPr id="3" name="Content Placeholder 2">
            <a:extLst>
              <a:ext uri="{FF2B5EF4-FFF2-40B4-BE49-F238E27FC236}">
                <a16:creationId xmlns:a16="http://schemas.microsoft.com/office/drawing/2014/main" id="{DA5AC39C-F1A3-CA4D-8276-0BBA3895B9A8}"/>
              </a:ext>
            </a:extLst>
          </p:cNvPr>
          <p:cNvSpPr>
            <a:spLocks noGrp="1"/>
          </p:cNvSpPr>
          <p:nvPr>
            <p:ph sz="half" idx="1"/>
          </p:nvPr>
        </p:nvSpPr>
        <p:spPr/>
        <p:txBody>
          <a:bodyPr/>
          <a:lstStyle/>
          <a:p>
            <a:r>
              <a:rPr lang="en-US" sz="2200" dirty="0"/>
              <a:t>Metal-fueled fast reactors facilitate the effective transmutation of MA because of the high-energy neutron spectrum</a:t>
            </a:r>
          </a:p>
          <a:p>
            <a:r>
              <a:rPr lang="en-US" sz="2200" dirty="0"/>
              <a:t>One of the measures to load MA into the reactor core is to add MA to the fuel alloy homogeneously</a:t>
            </a:r>
          </a:p>
          <a:p>
            <a:r>
              <a:rPr lang="en-US" sz="2200" dirty="0"/>
              <a:t>Can perform injection casting in the same manner as the fresh fuel, to form MA-bearing fuel alloys</a:t>
            </a:r>
          </a:p>
        </p:txBody>
      </p:sp>
      <p:sp>
        <p:nvSpPr>
          <p:cNvPr id="4" name="Content Placeholder 3">
            <a:extLst>
              <a:ext uri="{FF2B5EF4-FFF2-40B4-BE49-F238E27FC236}">
                <a16:creationId xmlns:a16="http://schemas.microsoft.com/office/drawing/2014/main" id="{C3F700C4-0FFA-D147-ADAB-03DAB0B785D7}"/>
              </a:ext>
            </a:extLst>
          </p:cNvPr>
          <p:cNvSpPr>
            <a:spLocks noGrp="1"/>
          </p:cNvSpPr>
          <p:nvPr>
            <p:ph sz="half" idx="2"/>
          </p:nvPr>
        </p:nvSpPr>
        <p:spPr/>
        <p:txBody>
          <a:bodyPr/>
          <a:lstStyle/>
          <a:p>
            <a:r>
              <a:rPr lang="en-US" sz="2200" dirty="0"/>
              <a:t>These technologies are expected to reduce the fuel cycle cost even for small-scale fuel cycle plants because of the simplicity of the process and the compactness of the equipment</a:t>
            </a:r>
          </a:p>
          <a:p>
            <a:r>
              <a:rPr lang="en-US" sz="2200" dirty="0"/>
              <a:t>For example, in the injection casting process, composition adjustment, melting (alloying), and casting of the fuel slug can be done in a single injection-casting furnace</a:t>
            </a:r>
          </a:p>
          <a:p>
            <a:endParaRPr lang="en-US" sz="2200" dirty="0"/>
          </a:p>
          <a:p>
            <a:endParaRPr lang="en-US" sz="2200" dirty="0"/>
          </a:p>
        </p:txBody>
      </p:sp>
      <p:sp>
        <p:nvSpPr>
          <p:cNvPr id="5" name="Slide Number Placeholder 4">
            <a:extLst>
              <a:ext uri="{FF2B5EF4-FFF2-40B4-BE49-F238E27FC236}">
                <a16:creationId xmlns:a16="http://schemas.microsoft.com/office/drawing/2014/main" id="{000C07CA-C85C-0E46-83B0-05559C6298A2}"/>
              </a:ext>
            </a:extLst>
          </p:cNvPr>
          <p:cNvSpPr>
            <a:spLocks noGrp="1"/>
          </p:cNvSpPr>
          <p:nvPr>
            <p:ph type="sldNum" sz="quarter" idx="12"/>
          </p:nvPr>
        </p:nvSpPr>
        <p:spPr/>
        <p:txBody>
          <a:bodyPr/>
          <a:lstStyle/>
          <a:p>
            <a:pPr>
              <a:defRPr/>
            </a:pPr>
            <a:fld id="{EC35E9FC-F6D5-0349-BBED-EA7D7A9BC49B}" type="slidenum">
              <a:rPr lang="en-US" smtClean="0"/>
              <a:pPr>
                <a:defRPr/>
              </a:pPr>
              <a:t>45</a:t>
            </a:fld>
            <a:endParaRPr lang="en-US"/>
          </a:p>
        </p:txBody>
      </p:sp>
    </p:spTree>
    <p:extLst>
      <p:ext uri="{BB962C8B-B14F-4D97-AF65-F5344CB8AC3E}">
        <p14:creationId xmlns:p14="http://schemas.microsoft.com/office/powerpoint/2010/main" val="28326999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7947CF-EAEA-5F40-93E5-30922295C42A}"/>
              </a:ext>
            </a:extLst>
          </p:cNvPr>
          <p:cNvSpPr>
            <a:spLocks noGrp="1"/>
          </p:cNvSpPr>
          <p:nvPr>
            <p:ph type="title"/>
          </p:nvPr>
        </p:nvSpPr>
        <p:spPr/>
        <p:txBody>
          <a:bodyPr/>
          <a:lstStyle/>
          <a:p>
            <a:r>
              <a:rPr lang="en-US" dirty="0"/>
              <a:t>Metallic fuel performance modeling</a:t>
            </a:r>
          </a:p>
        </p:txBody>
      </p:sp>
      <p:sp>
        <p:nvSpPr>
          <p:cNvPr id="3" name="Slide Number Placeholder 2">
            <a:extLst>
              <a:ext uri="{FF2B5EF4-FFF2-40B4-BE49-F238E27FC236}">
                <a16:creationId xmlns:a16="http://schemas.microsoft.com/office/drawing/2014/main" id="{5B3532C3-93BE-7043-BD18-1B055D494CE7}"/>
              </a:ext>
            </a:extLst>
          </p:cNvPr>
          <p:cNvSpPr>
            <a:spLocks noGrp="1"/>
          </p:cNvSpPr>
          <p:nvPr>
            <p:ph type="sldNum" sz="quarter" idx="12"/>
          </p:nvPr>
        </p:nvSpPr>
        <p:spPr/>
        <p:txBody>
          <a:bodyPr/>
          <a:lstStyle/>
          <a:p>
            <a:pPr>
              <a:defRPr/>
            </a:pPr>
            <a:fld id="{0DA6BD0F-ABBC-C14D-BC96-77BE126A748B}" type="slidenum">
              <a:rPr lang="en-US" smtClean="0"/>
              <a:pPr>
                <a:defRPr/>
              </a:pPr>
              <a:t>46</a:t>
            </a:fld>
            <a:endParaRPr lang="en-US"/>
          </a:p>
        </p:txBody>
      </p:sp>
    </p:spTree>
    <p:extLst>
      <p:ext uri="{BB962C8B-B14F-4D97-AF65-F5344CB8AC3E}">
        <p14:creationId xmlns:p14="http://schemas.microsoft.com/office/powerpoint/2010/main" val="363215279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C907-5EBC-1E44-B3D7-2D72CA801E9C}"/>
              </a:ext>
            </a:extLst>
          </p:cNvPr>
          <p:cNvSpPr>
            <a:spLocks noGrp="1"/>
          </p:cNvSpPr>
          <p:nvPr>
            <p:ph type="title"/>
          </p:nvPr>
        </p:nvSpPr>
        <p:spPr/>
        <p:txBody>
          <a:bodyPr/>
          <a:lstStyle/>
          <a:p>
            <a:r>
              <a:rPr lang="en-US" dirty="0"/>
              <a:t>Metallic Fuel Phenomena</a:t>
            </a:r>
          </a:p>
        </p:txBody>
      </p:sp>
      <p:pic>
        <p:nvPicPr>
          <p:cNvPr id="6" name="Content Placeholder 5">
            <a:extLst>
              <a:ext uri="{FF2B5EF4-FFF2-40B4-BE49-F238E27FC236}">
                <a16:creationId xmlns:a16="http://schemas.microsoft.com/office/drawing/2014/main" id="{B6474A18-6EB3-6D44-9E95-EBFF662756F8}"/>
              </a:ext>
            </a:extLst>
          </p:cNvPr>
          <p:cNvPicPr>
            <a:picLocks noGrp="1" noChangeAspect="1"/>
          </p:cNvPicPr>
          <p:nvPr>
            <p:ph sz="half" idx="2"/>
          </p:nvPr>
        </p:nvPicPr>
        <p:blipFill>
          <a:blip r:embed="rId2"/>
          <a:stretch>
            <a:fillRect/>
          </a:stretch>
        </p:blipFill>
        <p:spPr>
          <a:xfrm>
            <a:off x="2117834" y="1749428"/>
            <a:ext cx="7956331" cy="5108572"/>
          </a:xfrm>
          <a:prstGeom prst="rect">
            <a:avLst/>
          </a:prstGeom>
        </p:spPr>
      </p:pic>
      <p:sp>
        <p:nvSpPr>
          <p:cNvPr id="5" name="Slide Number Placeholder 4">
            <a:extLst>
              <a:ext uri="{FF2B5EF4-FFF2-40B4-BE49-F238E27FC236}">
                <a16:creationId xmlns:a16="http://schemas.microsoft.com/office/drawing/2014/main" id="{18E45DC0-B5C2-B845-B439-31D7A1A9239D}"/>
              </a:ext>
            </a:extLst>
          </p:cNvPr>
          <p:cNvSpPr>
            <a:spLocks noGrp="1"/>
          </p:cNvSpPr>
          <p:nvPr>
            <p:ph type="sldNum" sz="quarter" idx="12"/>
          </p:nvPr>
        </p:nvSpPr>
        <p:spPr/>
        <p:txBody>
          <a:bodyPr/>
          <a:lstStyle/>
          <a:p>
            <a:pPr>
              <a:defRPr/>
            </a:pPr>
            <a:fld id="{EC35E9FC-F6D5-0349-BBED-EA7D7A9BC49B}" type="slidenum">
              <a:rPr lang="en-US" smtClean="0"/>
              <a:pPr>
                <a:defRPr/>
              </a:pPr>
              <a:t>47</a:t>
            </a:fld>
            <a:endParaRPr lang="en-US"/>
          </a:p>
        </p:txBody>
      </p:sp>
    </p:spTree>
    <p:extLst>
      <p:ext uri="{BB962C8B-B14F-4D97-AF65-F5344CB8AC3E}">
        <p14:creationId xmlns:p14="http://schemas.microsoft.com/office/powerpoint/2010/main" val="234755034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FCC907-5EBC-1E44-B3D7-2D72CA801E9C}"/>
              </a:ext>
            </a:extLst>
          </p:cNvPr>
          <p:cNvSpPr>
            <a:spLocks noGrp="1"/>
          </p:cNvSpPr>
          <p:nvPr>
            <p:ph type="title"/>
          </p:nvPr>
        </p:nvSpPr>
        <p:spPr/>
        <p:txBody>
          <a:bodyPr/>
          <a:lstStyle/>
          <a:p>
            <a:r>
              <a:rPr lang="en-US" dirty="0"/>
              <a:t>Constituent Redistribution Models</a:t>
            </a:r>
          </a:p>
        </p:txBody>
      </p:sp>
      <p:sp>
        <p:nvSpPr>
          <p:cNvPr id="5" name="Slide Number Placeholder 4">
            <a:extLst>
              <a:ext uri="{FF2B5EF4-FFF2-40B4-BE49-F238E27FC236}">
                <a16:creationId xmlns:a16="http://schemas.microsoft.com/office/drawing/2014/main" id="{18E45DC0-B5C2-B845-B439-31D7A1A9239D}"/>
              </a:ext>
            </a:extLst>
          </p:cNvPr>
          <p:cNvSpPr>
            <a:spLocks noGrp="1"/>
          </p:cNvSpPr>
          <p:nvPr>
            <p:ph type="sldNum" sz="quarter" idx="12"/>
          </p:nvPr>
        </p:nvSpPr>
        <p:spPr/>
        <p:txBody>
          <a:bodyPr/>
          <a:lstStyle/>
          <a:p>
            <a:pPr>
              <a:defRPr/>
            </a:pPr>
            <a:fld id="{EC35E9FC-F6D5-0349-BBED-EA7D7A9BC49B}" type="slidenum">
              <a:rPr lang="en-US" smtClean="0"/>
              <a:pPr>
                <a:defRPr/>
              </a:pPr>
              <a:t>48</a:t>
            </a:fld>
            <a:endParaRPr lang="en-US"/>
          </a:p>
        </p:txBody>
      </p:sp>
      <p:sp>
        <p:nvSpPr>
          <p:cNvPr id="4" name="Content Placeholder 3">
            <a:extLst>
              <a:ext uri="{FF2B5EF4-FFF2-40B4-BE49-F238E27FC236}">
                <a16:creationId xmlns:a16="http://schemas.microsoft.com/office/drawing/2014/main" id="{490984F8-AFC9-6E45-A1D6-302CF703FDD0}"/>
              </a:ext>
            </a:extLst>
          </p:cNvPr>
          <p:cNvSpPr>
            <a:spLocks noGrp="1"/>
          </p:cNvSpPr>
          <p:nvPr>
            <p:ph sz="half" idx="2"/>
          </p:nvPr>
        </p:nvSpPr>
        <p:spPr>
          <a:xfrm>
            <a:off x="711200" y="1968500"/>
            <a:ext cx="6880372" cy="4157663"/>
          </a:xfrm>
        </p:spPr>
        <p:txBody>
          <a:bodyPr/>
          <a:lstStyle/>
          <a:p>
            <a:r>
              <a:rPr lang="en-US" sz="2200" dirty="0"/>
              <a:t>Constituent redistribution is driven by:</a:t>
            </a:r>
          </a:p>
          <a:p>
            <a:pPr lvl="1"/>
            <a:r>
              <a:rPr lang="en-US" sz="2200" dirty="0"/>
              <a:t>temperature gradients in the fuel,</a:t>
            </a:r>
          </a:p>
          <a:p>
            <a:pPr lvl="1"/>
            <a:r>
              <a:rPr lang="en-US" sz="2200" dirty="0"/>
              <a:t>solubility gradients in a phase and phase boundaries,</a:t>
            </a:r>
          </a:p>
          <a:p>
            <a:pPr lvl="1"/>
            <a:r>
              <a:rPr lang="en-US" sz="2200" dirty="0"/>
              <a:t>additional chemical potentials applied by fuel– cladding gap and cladding</a:t>
            </a:r>
          </a:p>
          <a:p>
            <a:r>
              <a:rPr lang="en-US" sz="2200" dirty="0"/>
              <a:t>Results in three concentric zones, namely, a Zr-enriched central zone, a Zr-depleted and U-enriched intermediate zone, and a slightly Zr-enriched zone on the outer periphery</a:t>
            </a:r>
          </a:p>
          <a:p>
            <a:r>
              <a:rPr lang="en-US" sz="2200" dirty="0"/>
              <a:t>Migration quickly levels off early in life after a new distribution settles</a:t>
            </a:r>
          </a:p>
          <a:p>
            <a:endParaRPr lang="en-US" sz="2200" dirty="0"/>
          </a:p>
          <a:p>
            <a:endParaRPr lang="en-US" sz="2200" dirty="0"/>
          </a:p>
          <a:p>
            <a:endParaRPr lang="en-US" sz="2200" dirty="0"/>
          </a:p>
          <a:p>
            <a:pPr lvl="1"/>
            <a:endParaRPr lang="en-US" sz="2200" dirty="0"/>
          </a:p>
          <a:p>
            <a:endParaRPr lang="en-US" sz="2200" dirty="0"/>
          </a:p>
        </p:txBody>
      </p:sp>
      <p:sp>
        <p:nvSpPr>
          <p:cNvPr id="7" name="Content Placeholder 3">
            <a:extLst>
              <a:ext uri="{FF2B5EF4-FFF2-40B4-BE49-F238E27FC236}">
                <a16:creationId xmlns:a16="http://schemas.microsoft.com/office/drawing/2014/main" id="{D796C92A-7407-414F-8D08-051D040CCDFD}"/>
              </a:ext>
            </a:extLst>
          </p:cNvPr>
          <p:cNvSpPr txBox="1">
            <a:spLocks/>
          </p:cNvSpPr>
          <p:nvPr/>
        </p:nvSpPr>
        <p:spPr bwMode="auto">
          <a:xfrm>
            <a:off x="6096000" y="1968500"/>
            <a:ext cx="5384800" cy="4157663"/>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 uri="{FAA26D3D-D897-4be2-8F04-BA451C77F1D7}">
              <ma14:placeholderFlag xmlns="" xmlns:ma14="http://schemas.microsoft.com/office/mac/drawingml/2011/main" val="1"/>
            </a:ext>
          </a:extLst>
        </p:spPr>
        <p:txBody>
          <a:bodyPr vert="horz" wrap="square" lIns="91440" tIns="45720" rIns="91440" bIns="45720" numCol="1" anchor="t" anchorCtr="0" compatLnSpc="1">
            <a:prstTxWarp prst="textNoShape">
              <a:avLst/>
            </a:prstTxWarp>
          </a:bodyPr>
          <a:lstStyle>
            <a:lvl1pPr marL="457189" indent="-457189" algn="l" defTabSz="609585" rtl="0" eaLnBrk="1" fontAlgn="base" hangingPunct="1">
              <a:spcBef>
                <a:spcPct val="20000"/>
              </a:spcBef>
              <a:spcAft>
                <a:spcPct val="0"/>
              </a:spcAft>
              <a:buFont typeface="Arial" charset="0"/>
              <a:buChar char="•"/>
              <a:defRPr sz="3733" kern="1200">
                <a:solidFill>
                  <a:schemeClr val="tx1"/>
                </a:solidFill>
                <a:latin typeface="Arial"/>
                <a:ea typeface="ＭＳ Ｐゴシック" charset="0"/>
                <a:cs typeface="Arial"/>
              </a:defRPr>
            </a:lvl1pPr>
            <a:lvl2pPr marL="990575" indent="-380990" algn="l" defTabSz="609585" rtl="0" eaLnBrk="1" fontAlgn="base" hangingPunct="1">
              <a:spcBef>
                <a:spcPct val="20000"/>
              </a:spcBef>
              <a:spcAft>
                <a:spcPct val="0"/>
              </a:spcAft>
              <a:buFont typeface="Arial" charset="0"/>
              <a:buChar char="–"/>
              <a:defRPr sz="3200" kern="1200">
                <a:solidFill>
                  <a:schemeClr val="tx1"/>
                </a:solidFill>
                <a:latin typeface="Arial"/>
                <a:ea typeface="ＭＳ Ｐゴシック" charset="0"/>
                <a:cs typeface="Arial"/>
              </a:defRPr>
            </a:lvl2pPr>
            <a:lvl3pPr marL="1523962" indent="-304792" algn="l" defTabSz="609585" rtl="0" eaLnBrk="1" fontAlgn="base" hangingPunct="1">
              <a:spcBef>
                <a:spcPct val="20000"/>
              </a:spcBef>
              <a:spcAft>
                <a:spcPct val="0"/>
              </a:spcAft>
              <a:buFont typeface="Arial" charset="0"/>
              <a:buChar char="•"/>
              <a:defRPr sz="2667" kern="1200">
                <a:solidFill>
                  <a:schemeClr val="tx1"/>
                </a:solidFill>
                <a:latin typeface="Arial"/>
                <a:ea typeface="ＭＳ Ｐゴシック" charset="0"/>
                <a:cs typeface="Arial"/>
              </a:defRPr>
            </a:lvl3pPr>
            <a:lvl4pPr marL="2133547"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4pPr>
            <a:lvl5pPr marL="2743131" indent="-304792" algn="l" defTabSz="609585" rtl="0" eaLnBrk="1" fontAlgn="base" hangingPunct="1">
              <a:spcBef>
                <a:spcPct val="20000"/>
              </a:spcBef>
              <a:spcAft>
                <a:spcPct val="0"/>
              </a:spcAft>
              <a:buFont typeface="Arial" charset="0"/>
              <a:buChar char="»"/>
              <a:defRPr sz="2400" kern="1200">
                <a:solidFill>
                  <a:schemeClr val="tx1"/>
                </a:solidFill>
                <a:latin typeface="Arial"/>
                <a:ea typeface="ＭＳ Ｐゴシック" charset="0"/>
                <a:cs typeface="Arial"/>
              </a:defRPr>
            </a:lvl5pPr>
            <a:lvl6pPr marL="3352716" indent="-304792" algn="l" defTabSz="609585" rtl="0" eaLnBrk="1" latinLnBrk="0" hangingPunct="1">
              <a:spcBef>
                <a:spcPct val="20000"/>
              </a:spcBef>
              <a:buFont typeface="Arial"/>
              <a:buChar char="•"/>
              <a:defRPr sz="2400" kern="1200">
                <a:solidFill>
                  <a:schemeClr val="tx1"/>
                </a:solidFill>
                <a:latin typeface="+mn-lt"/>
                <a:ea typeface="+mn-ea"/>
                <a:cs typeface="+mn-cs"/>
              </a:defRPr>
            </a:lvl6pPr>
            <a:lvl7pPr marL="3962301" indent="-304792" algn="l" defTabSz="609585" rtl="0" eaLnBrk="1" latinLnBrk="0" hangingPunct="1">
              <a:spcBef>
                <a:spcPct val="20000"/>
              </a:spcBef>
              <a:buFont typeface="Arial"/>
              <a:buChar char="•"/>
              <a:defRPr sz="2400" kern="1200">
                <a:solidFill>
                  <a:schemeClr val="tx1"/>
                </a:solidFill>
                <a:latin typeface="+mn-lt"/>
                <a:ea typeface="+mn-ea"/>
                <a:cs typeface="+mn-cs"/>
              </a:defRPr>
            </a:lvl7pPr>
            <a:lvl8pPr marL="4571886" indent="-304792" algn="l" defTabSz="609585" rtl="0" eaLnBrk="1" latinLnBrk="0" hangingPunct="1">
              <a:spcBef>
                <a:spcPct val="20000"/>
              </a:spcBef>
              <a:buFont typeface="Arial"/>
              <a:buChar char="•"/>
              <a:defRPr sz="2400" kern="1200">
                <a:solidFill>
                  <a:schemeClr val="tx1"/>
                </a:solidFill>
                <a:latin typeface="+mn-lt"/>
                <a:ea typeface="+mn-ea"/>
                <a:cs typeface="+mn-cs"/>
              </a:defRPr>
            </a:lvl8pPr>
            <a:lvl9pPr marL="5181470" indent="-304792" algn="l" defTabSz="609585" rtl="0" eaLnBrk="1" latinLnBrk="0" hangingPunct="1">
              <a:spcBef>
                <a:spcPct val="20000"/>
              </a:spcBef>
              <a:buFont typeface="Arial"/>
              <a:buChar char="•"/>
              <a:defRPr sz="2400" kern="1200">
                <a:solidFill>
                  <a:schemeClr val="tx1"/>
                </a:solidFill>
                <a:latin typeface="+mn-lt"/>
                <a:ea typeface="+mn-ea"/>
                <a:cs typeface="+mn-cs"/>
              </a:defRPr>
            </a:lvl9pPr>
          </a:lstStyle>
          <a:p>
            <a:endParaRPr lang="en-US" dirty="0"/>
          </a:p>
        </p:txBody>
      </p:sp>
      <p:pic>
        <p:nvPicPr>
          <p:cNvPr id="8" name="Picture 7">
            <a:extLst>
              <a:ext uri="{FF2B5EF4-FFF2-40B4-BE49-F238E27FC236}">
                <a16:creationId xmlns:a16="http://schemas.microsoft.com/office/drawing/2014/main" id="{74883A55-769E-F848-97B3-CA4E4DC74466}"/>
              </a:ext>
            </a:extLst>
          </p:cNvPr>
          <p:cNvPicPr>
            <a:picLocks noChangeAspect="1"/>
          </p:cNvPicPr>
          <p:nvPr/>
        </p:nvPicPr>
        <p:blipFill>
          <a:blip r:embed="rId2"/>
          <a:stretch>
            <a:fillRect/>
          </a:stretch>
        </p:blipFill>
        <p:spPr>
          <a:xfrm>
            <a:off x="8162634" y="1696199"/>
            <a:ext cx="2747104" cy="5069155"/>
          </a:xfrm>
          <a:prstGeom prst="rect">
            <a:avLst/>
          </a:prstGeom>
        </p:spPr>
      </p:pic>
    </p:spTree>
    <p:extLst>
      <p:ext uri="{BB962C8B-B14F-4D97-AF65-F5344CB8AC3E}">
        <p14:creationId xmlns:p14="http://schemas.microsoft.com/office/powerpoint/2010/main" val="157569353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E8B8-E62A-CD4E-BA04-FE59678573CE}"/>
              </a:ext>
            </a:extLst>
          </p:cNvPr>
          <p:cNvSpPr>
            <a:spLocks noGrp="1"/>
          </p:cNvSpPr>
          <p:nvPr>
            <p:ph type="title"/>
          </p:nvPr>
        </p:nvSpPr>
        <p:spPr/>
        <p:txBody>
          <a:bodyPr/>
          <a:lstStyle/>
          <a:p>
            <a:r>
              <a:rPr lang="en-US" dirty="0"/>
              <a:t>Constituent Redistribution Models</a:t>
            </a:r>
          </a:p>
        </p:txBody>
      </p:sp>
      <p:sp>
        <p:nvSpPr>
          <p:cNvPr id="3" name="Content Placeholder 2">
            <a:extLst>
              <a:ext uri="{FF2B5EF4-FFF2-40B4-BE49-F238E27FC236}">
                <a16:creationId xmlns:a16="http://schemas.microsoft.com/office/drawing/2014/main" id="{6E19742A-5B76-654D-988D-4CA69B089395}"/>
              </a:ext>
            </a:extLst>
          </p:cNvPr>
          <p:cNvSpPr>
            <a:spLocks noGrp="1"/>
          </p:cNvSpPr>
          <p:nvPr>
            <p:ph sz="half" idx="1"/>
          </p:nvPr>
        </p:nvSpPr>
        <p:spPr>
          <a:xfrm>
            <a:off x="609600" y="1968503"/>
            <a:ext cx="5013434" cy="4157663"/>
          </a:xfrm>
        </p:spPr>
        <p:txBody>
          <a:bodyPr/>
          <a:lstStyle/>
          <a:p>
            <a:r>
              <a:rPr lang="en-US" sz="2200" dirty="0"/>
              <a:t>While ternary phase diagrams exist, their accuracy is suspect, and simplified pseudo-binary phase diagrams can be more easily implemented, and removes complexities associated with largely unknown phases</a:t>
            </a:r>
          </a:p>
          <a:p>
            <a:r>
              <a:rPr lang="en-US" sz="2200" dirty="0"/>
              <a:t>When applied to a fuel with different Pu content, the phase diagram must be modified accordingly</a:t>
            </a:r>
          </a:p>
          <a:p>
            <a:endParaRPr lang="en-US" sz="2200" dirty="0"/>
          </a:p>
          <a:p>
            <a:endParaRPr lang="en-US" sz="2200" dirty="0"/>
          </a:p>
        </p:txBody>
      </p:sp>
      <p:pic>
        <p:nvPicPr>
          <p:cNvPr id="6" name="Content Placeholder 5">
            <a:extLst>
              <a:ext uri="{FF2B5EF4-FFF2-40B4-BE49-F238E27FC236}">
                <a16:creationId xmlns:a16="http://schemas.microsoft.com/office/drawing/2014/main" id="{C7E4539C-3CD6-E642-B535-3607691E27F3}"/>
              </a:ext>
            </a:extLst>
          </p:cNvPr>
          <p:cNvPicPr>
            <a:picLocks noGrp="1" noChangeAspect="1"/>
          </p:cNvPicPr>
          <p:nvPr>
            <p:ph sz="half" idx="2"/>
          </p:nvPr>
        </p:nvPicPr>
        <p:blipFill>
          <a:blip r:embed="rId2"/>
          <a:stretch>
            <a:fillRect/>
          </a:stretch>
        </p:blipFill>
        <p:spPr>
          <a:xfrm>
            <a:off x="9129912" y="2477148"/>
            <a:ext cx="3017651" cy="3118519"/>
          </a:xfrm>
          <a:prstGeom prst="rect">
            <a:avLst/>
          </a:prstGeom>
        </p:spPr>
      </p:pic>
      <p:sp>
        <p:nvSpPr>
          <p:cNvPr id="5" name="Slide Number Placeholder 4">
            <a:extLst>
              <a:ext uri="{FF2B5EF4-FFF2-40B4-BE49-F238E27FC236}">
                <a16:creationId xmlns:a16="http://schemas.microsoft.com/office/drawing/2014/main" id="{975B3768-FEF4-F34D-94D1-752ED8712FCB}"/>
              </a:ext>
            </a:extLst>
          </p:cNvPr>
          <p:cNvSpPr>
            <a:spLocks noGrp="1"/>
          </p:cNvSpPr>
          <p:nvPr>
            <p:ph type="sldNum" sz="quarter" idx="12"/>
          </p:nvPr>
        </p:nvSpPr>
        <p:spPr/>
        <p:txBody>
          <a:bodyPr/>
          <a:lstStyle/>
          <a:p>
            <a:pPr>
              <a:defRPr/>
            </a:pPr>
            <a:fld id="{EC35E9FC-F6D5-0349-BBED-EA7D7A9BC49B}" type="slidenum">
              <a:rPr lang="en-US" smtClean="0"/>
              <a:pPr>
                <a:defRPr/>
              </a:pPr>
              <a:t>49</a:t>
            </a:fld>
            <a:endParaRPr lang="en-US"/>
          </a:p>
        </p:txBody>
      </p:sp>
      <p:pic>
        <p:nvPicPr>
          <p:cNvPr id="7" name="Picture 6">
            <a:extLst>
              <a:ext uri="{FF2B5EF4-FFF2-40B4-BE49-F238E27FC236}">
                <a16:creationId xmlns:a16="http://schemas.microsoft.com/office/drawing/2014/main" id="{F5BFADAE-4E8A-6946-BD59-A173921B0086}"/>
              </a:ext>
            </a:extLst>
          </p:cNvPr>
          <p:cNvPicPr>
            <a:picLocks noChangeAspect="1"/>
          </p:cNvPicPr>
          <p:nvPr/>
        </p:nvPicPr>
        <p:blipFill>
          <a:blip r:embed="rId3"/>
          <a:stretch>
            <a:fillRect/>
          </a:stretch>
        </p:blipFill>
        <p:spPr>
          <a:xfrm>
            <a:off x="5707385" y="2477148"/>
            <a:ext cx="3422527" cy="3040783"/>
          </a:xfrm>
          <a:prstGeom prst="rect">
            <a:avLst/>
          </a:prstGeom>
        </p:spPr>
      </p:pic>
    </p:spTree>
    <p:extLst>
      <p:ext uri="{BB962C8B-B14F-4D97-AF65-F5344CB8AC3E}">
        <p14:creationId xmlns:p14="http://schemas.microsoft.com/office/powerpoint/2010/main" val="279278871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DE8B8-E62A-CD4E-BA04-FE59678573CE}"/>
              </a:ext>
            </a:extLst>
          </p:cNvPr>
          <p:cNvSpPr>
            <a:spLocks noGrp="1"/>
          </p:cNvSpPr>
          <p:nvPr>
            <p:ph type="title"/>
          </p:nvPr>
        </p:nvSpPr>
        <p:spPr/>
        <p:txBody>
          <a:bodyPr/>
          <a:lstStyle/>
          <a:p>
            <a:r>
              <a:rPr lang="en-US" dirty="0"/>
              <a:t>Constituent Redistribution Models</a:t>
            </a:r>
          </a:p>
        </p:txBody>
      </p:sp>
      <p:sp>
        <p:nvSpPr>
          <p:cNvPr id="3" name="Content Placeholder 2">
            <a:extLst>
              <a:ext uri="{FF2B5EF4-FFF2-40B4-BE49-F238E27FC236}">
                <a16:creationId xmlns:a16="http://schemas.microsoft.com/office/drawing/2014/main" id="{6E19742A-5B76-654D-988D-4CA69B089395}"/>
              </a:ext>
            </a:extLst>
          </p:cNvPr>
          <p:cNvSpPr>
            <a:spLocks noGrp="1"/>
          </p:cNvSpPr>
          <p:nvPr>
            <p:ph sz="half" idx="1"/>
          </p:nvPr>
        </p:nvSpPr>
        <p:spPr>
          <a:xfrm>
            <a:off x="609600" y="1968503"/>
            <a:ext cx="5013434" cy="4157663"/>
          </a:xfrm>
        </p:spPr>
        <p:txBody>
          <a:bodyPr/>
          <a:lstStyle/>
          <a:p>
            <a:r>
              <a:rPr lang="en-US" sz="2200" dirty="0"/>
              <a:t>Using the calculated phase fractions, the </a:t>
            </a:r>
            <a:r>
              <a:rPr lang="en-US" sz="2200" dirty="0" err="1"/>
              <a:t>Fickian</a:t>
            </a:r>
            <a:r>
              <a:rPr lang="en-US" sz="2200" dirty="0"/>
              <a:t> and </a:t>
            </a:r>
            <a:r>
              <a:rPr lang="en-US" sz="2200" dirty="0" err="1"/>
              <a:t>Soret</a:t>
            </a:r>
            <a:r>
              <a:rPr lang="en-US" sz="2200" dirty="0"/>
              <a:t> diffusion coefficient are determined</a:t>
            </a:r>
          </a:p>
          <a:p>
            <a:r>
              <a:rPr lang="en-US" sz="2200" dirty="0"/>
              <a:t>Artificial factors are used to set the diffusivity in two-phase regions and to scale diffusivities in each phase</a:t>
            </a:r>
          </a:p>
          <a:p>
            <a:r>
              <a:rPr lang="en-US" sz="2200" dirty="0"/>
              <a:t>The magnitudes of diffusivities in each phase are largely unknown, and effectively wholly unknown in two-phase regions</a:t>
            </a:r>
          </a:p>
        </p:txBody>
      </p:sp>
      <p:sp>
        <p:nvSpPr>
          <p:cNvPr id="5" name="Slide Number Placeholder 4">
            <a:extLst>
              <a:ext uri="{FF2B5EF4-FFF2-40B4-BE49-F238E27FC236}">
                <a16:creationId xmlns:a16="http://schemas.microsoft.com/office/drawing/2014/main" id="{975B3768-FEF4-F34D-94D1-752ED8712FCB}"/>
              </a:ext>
            </a:extLst>
          </p:cNvPr>
          <p:cNvSpPr>
            <a:spLocks noGrp="1"/>
          </p:cNvSpPr>
          <p:nvPr>
            <p:ph type="sldNum" sz="quarter" idx="12"/>
          </p:nvPr>
        </p:nvSpPr>
        <p:spPr/>
        <p:txBody>
          <a:bodyPr/>
          <a:lstStyle/>
          <a:p>
            <a:pPr>
              <a:defRPr/>
            </a:pPr>
            <a:fld id="{EC35E9FC-F6D5-0349-BBED-EA7D7A9BC49B}" type="slidenum">
              <a:rPr lang="en-US" smtClean="0"/>
              <a:pPr>
                <a:defRPr/>
              </a:pPr>
              <a:t>50</a:t>
            </a:fld>
            <a:endParaRPr lang="en-US"/>
          </a:p>
        </p:txBody>
      </p:sp>
      <p:pic>
        <p:nvPicPr>
          <p:cNvPr id="9" name="Content Placeholder 8">
            <a:extLst>
              <a:ext uri="{FF2B5EF4-FFF2-40B4-BE49-F238E27FC236}">
                <a16:creationId xmlns:a16="http://schemas.microsoft.com/office/drawing/2014/main" id="{6FE11CB8-7B65-0C4F-90AC-FF8957479E68}"/>
              </a:ext>
            </a:extLst>
          </p:cNvPr>
          <p:cNvPicPr>
            <a:picLocks noGrp="1" noChangeAspect="1"/>
          </p:cNvPicPr>
          <p:nvPr>
            <p:ph sz="half" idx="2"/>
          </p:nvPr>
        </p:nvPicPr>
        <p:blipFill>
          <a:blip r:embed="rId2"/>
          <a:stretch>
            <a:fillRect/>
          </a:stretch>
        </p:blipFill>
        <p:spPr>
          <a:xfrm>
            <a:off x="6197600" y="3073840"/>
            <a:ext cx="5384800" cy="1946983"/>
          </a:xfrm>
          <a:prstGeom prst="rect">
            <a:avLst/>
          </a:prstGeom>
        </p:spPr>
      </p:pic>
      <p:sp>
        <p:nvSpPr>
          <p:cNvPr id="10" name="TextBox 9">
            <a:extLst>
              <a:ext uri="{FF2B5EF4-FFF2-40B4-BE49-F238E27FC236}">
                <a16:creationId xmlns:a16="http://schemas.microsoft.com/office/drawing/2014/main" id="{75053B03-A773-6946-BA43-3CD4F89104E8}"/>
              </a:ext>
            </a:extLst>
          </p:cNvPr>
          <p:cNvSpPr txBox="1"/>
          <p:nvPr/>
        </p:nvSpPr>
        <p:spPr>
          <a:xfrm>
            <a:off x="7020910" y="2333297"/>
            <a:ext cx="3668111" cy="369332"/>
          </a:xfrm>
          <a:prstGeom prst="rect">
            <a:avLst/>
          </a:prstGeom>
          <a:noFill/>
        </p:spPr>
        <p:txBody>
          <a:bodyPr wrap="square" rtlCol="0">
            <a:spAutoFit/>
          </a:bodyPr>
          <a:lstStyle/>
          <a:p>
            <a:pPr algn="ctr"/>
            <a:r>
              <a:rPr lang="en-US" dirty="0"/>
              <a:t>BISON Zr Diffusion Model</a:t>
            </a:r>
          </a:p>
        </p:txBody>
      </p:sp>
    </p:spTree>
    <p:extLst>
      <p:ext uri="{BB962C8B-B14F-4D97-AF65-F5344CB8AC3E}">
        <p14:creationId xmlns:p14="http://schemas.microsoft.com/office/powerpoint/2010/main" val="342756631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7470B-A497-7C4F-9BE2-9222549B47D5}"/>
              </a:ext>
            </a:extLst>
          </p:cNvPr>
          <p:cNvSpPr>
            <a:spLocks noGrp="1"/>
          </p:cNvSpPr>
          <p:nvPr>
            <p:ph type="title"/>
          </p:nvPr>
        </p:nvSpPr>
        <p:spPr/>
        <p:txBody>
          <a:bodyPr/>
          <a:lstStyle/>
          <a:p>
            <a:r>
              <a:rPr lang="en-US" dirty="0"/>
              <a:t>Temperature Predictions</a:t>
            </a:r>
          </a:p>
        </p:txBody>
      </p:sp>
      <p:sp>
        <p:nvSpPr>
          <p:cNvPr id="3" name="Content Placeholder 2">
            <a:extLst>
              <a:ext uri="{FF2B5EF4-FFF2-40B4-BE49-F238E27FC236}">
                <a16:creationId xmlns:a16="http://schemas.microsoft.com/office/drawing/2014/main" id="{A4A86595-5C9E-D346-8400-1BBFC116FE13}"/>
              </a:ext>
            </a:extLst>
          </p:cNvPr>
          <p:cNvSpPr>
            <a:spLocks noGrp="1"/>
          </p:cNvSpPr>
          <p:nvPr>
            <p:ph sz="half" idx="1"/>
          </p:nvPr>
        </p:nvSpPr>
        <p:spPr/>
        <p:txBody>
          <a:bodyPr/>
          <a:lstStyle/>
          <a:p>
            <a:r>
              <a:rPr lang="en-US" sz="2200" dirty="0"/>
              <a:t>Constituent redistribution relies on accurate temperature profiles</a:t>
            </a:r>
          </a:p>
          <a:p>
            <a:r>
              <a:rPr lang="en-US" sz="2200" dirty="0"/>
              <a:t>Fuel temperature is affected by the thermal conductivity of the fuel, which in turn is changed by porosity evolution and sodium infiltration, in addition to changes in Zr concentration</a:t>
            </a:r>
          </a:p>
          <a:p>
            <a:r>
              <a:rPr lang="en-US" sz="2200" dirty="0"/>
              <a:t>BISON thermal conductivity models exist for the distinct phases/species, and account for degradation of thermal conductivity</a:t>
            </a:r>
          </a:p>
          <a:p>
            <a:endParaRPr lang="en-US" sz="2200" dirty="0"/>
          </a:p>
          <a:p>
            <a:endParaRPr lang="en-US" sz="2200" dirty="0"/>
          </a:p>
        </p:txBody>
      </p:sp>
      <p:pic>
        <p:nvPicPr>
          <p:cNvPr id="6" name="Content Placeholder 5">
            <a:extLst>
              <a:ext uri="{FF2B5EF4-FFF2-40B4-BE49-F238E27FC236}">
                <a16:creationId xmlns:a16="http://schemas.microsoft.com/office/drawing/2014/main" id="{683AE261-14AB-224B-9646-FF43777FC8A5}"/>
              </a:ext>
            </a:extLst>
          </p:cNvPr>
          <p:cNvPicPr>
            <a:picLocks noGrp="1" noChangeAspect="1"/>
          </p:cNvPicPr>
          <p:nvPr>
            <p:ph sz="half" idx="2"/>
          </p:nvPr>
        </p:nvPicPr>
        <p:blipFill>
          <a:blip r:embed="rId2"/>
          <a:stretch>
            <a:fillRect/>
          </a:stretch>
        </p:blipFill>
        <p:spPr>
          <a:xfrm>
            <a:off x="6403372" y="2717216"/>
            <a:ext cx="5384800" cy="1423567"/>
          </a:xfrm>
          <a:prstGeom prst="rect">
            <a:avLst/>
          </a:prstGeom>
        </p:spPr>
      </p:pic>
      <p:sp>
        <p:nvSpPr>
          <p:cNvPr id="5" name="Slide Number Placeholder 4">
            <a:extLst>
              <a:ext uri="{FF2B5EF4-FFF2-40B4-BE49-F238E27FC236}">
                <a16:creationId xmlns:a16="http://schemas.microsoft.com/office/drawing/2014/main" id="{B97BB72B-A6DE-AA4D-B916-AF29534AFA66}"/>
              </a:ext>
            </a:extLst>
          </p:cNvPr>
          <p:cNvSpPr>
            <a:spLocks noGrp="1"/>
          </p:cNvSpPr>
          <p:nvPr>
            <p:ph type="sldNum" sz="quarter" idx="12"/>
          </p:nvPr>
        </p:nvSpPr>
        <p:spPr/>
        <p:txBody>
          <a:bodyPr/>
          <a:lstStyle/>
          <a:p>
            <a:pPr>
              <a:defRPr/>
            </a:pPr>
            <a:fld id="{EC35E9FC-F6D5-0349-BBED-EA7D7A9BC49B}" type="slidenum">
              <a:rPr lang="en-US" smtClean="0"/>
              <a:pPr>
                <a:defRPr/>
              </a:pPr>
              <a:t>51</a:t>
            </a:fld>
            <a:endParaRPr lang="en-US"/>
          </a:p>
        </p:txBody>
      </p:sp>
      <p:pic>
        <p:nvPicPr>
          <p:cNvPr id="7" name="Picture 6">
            <a:extLst>
              <a:ext uri="{FF2B5EF4-FFF2-40B4-BE49-F238E27FC236}">
                <a16:creationId xmlns:a16="http://schemas.microsoft.com/office/drawing/2014/main" id="{F88386A5-B620-AB42-AF26-92E29D3F7098}"/>
              </a:ext>
            </a:extLst>
          </p:cNvPr>
          <p:cNvPicPr>
            <a:picLocks noChangeAspect="1"/>
          </p:cNvPicPr>
          <p:nvPr/>
        </p:nvPicPr>
        <p:blipFill>
          <a:blip r:embed="rId3"/>
          <a:stretch>
            <a:fillRect/>
          </a:stretch>
        </p:blipFill>
        <p:spPr>
          <a:xfrm>
            <a:off x="7419372" y="4279899"/>
            <a:ext cx="1676400" cy="1219200"/>
          </a:xfrm>
          <a:prstGeom prst="rect">
            <a:avLst/>
          </a:prstGeom>
        </p:spPr>
      </p:pic>
      <p:pic>
        <p:nvPicPr>
          <p:cNvPr id="8" name="Picture 7">
            <a:extLst>
              <a:ext uri="{FF2B5EF4-FFF2-40B4-BE49-F238E27FC236}">
                <a16:creationId xmlns:a16="http://schemas.microsoft.com/office/drawing/2014/main" id="{EDA6426D-9EFE-F046-BE3A-7CD1517D7EDD}"/>
              </a:ext>
            </a:extLst>
          </p:cNvPr>
          <p:cNvPicPr>
            <a:picLocks noChangeAspect="1"/>
          </p:cNvPicPr>
          <p:nvPr/>
        </p:nvPicPr>
        <p:blipFill>
          <a:blip r:embed="rId4"/>
          <a:stretch>
            <a:fillRect/>
          </a:stretch>
        </p:blipFill>
        <p:spPr>
          <a:xfrm>
            <a:off x="6197602" y="5485196"/>
            <a:ext cx="4191000" cy="850900"/>
          </a:xfrm>
          <a:prstGeom prst="rect">
            <a:avLst/>
          </a:prstGeom>
        </p:spPr>
      </p:pic>
    </p:spTree>
    <p:extLst>
      <p:ext uri="{BB962C8B-B14F-4D97-AF65-F5344CB8AC3E}">
        <p14:creationId xmlns:p14="http://schemas.microsoft.com/office/powerpoint/2010/main" val="3486750440"/>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0CC706-43A7-8A4D-8E0A-84021D4626C3}"/>
              </a:ext>
            </a:extLst>
          </p:cNvPr>
          <p:cNvSpPr>
            <a:spLocks noGrp="1"/>
          </p:cNvSpPr>
          <p:nvPr>
            <p:ph type="title"/>
          </p:nvPr>
        </p:nvSpPr>
        <p:spPr/>
        <p:txBody>
          <a:bodyPr/>
          <a:lstStyle/>
          <a:p>
            <a:r>
              <a:rPr lang="en-US" dirty="0"/>
              <a:t>Porosity Predictions</a:t>
            </a:r>
          </a:p>
        </p:txBody>
      </p:sp>
      <p:sp>
        <p:nvSpPr>
          <p:cNvPr id="3" name="Content Placeholder 2">
            <a:extLst>
              <a:ext uri="{FF2B5EF4-FFF2-40B4-BE49-F238E27FC236}">
                <a16:creationId xmlns:a16="http://schemas.microsoft.com/office/drawing/2014/main" id="{1F22C7F1-7839-8E46-8812-8D1681A0D574}"/>
              </a:ext>
            </a:extLst>
          </p:cNvPr>
          <p:cNvSpPr>
            <a:spLocks noGrp="1"/>
          </p:cNvSpPr>
          <p:nvPr>
            <p:ph sz="half" idx="1"/>
          </p:nvPr>
        </p:nvSpPr>
        <p:spPr/>
        <p:txBody>
          <a:bodyPr/>
          <a:lstStyle/>
          <a:p>
            <a:r>
              <a:rPr lang="en-US" sz="2200" dirty="0"/>
              <a:t>BISON utilizes a simplified model for porosity</a:t>
            </a:r>
          </a:p>
          <a:p>
            <a:r>
              <a:rPr lang="en-US" sz="2200" dirty="0"/>
              <a:t>The mechanical force balance on an equilibrium bubble can be expressed by the Young-Laplace equation</a:t>
            </a:r>
          </a:p>
          <a:p>
            <a:r>
              <a:rPr lang="en-US" sz="2200" dirty="0"/>
              <a:t>Making assumptions for creep stress, bubble size, can calculate swelling due to fission gas</a:t>
            </a:r>
          </a:p>
          <a:p>
            <a:r>
              <a:rPr lang="en-US" sz="2200" dirty="0"/>
              <a:t>Finally, can determine porosity from the swelling</a:t>
            </a:r>
          </a:p>
          <a:p>
            <a:r>
              <a:rPr lang="en-US" sz="2200" dirty="0"/>
              <a:t>Solid fission products are a function of fission density</a:t>
            </a:r>
          </a:p>
          <a:p>
            <a:endParaRPr lang="en-US" sz="2200" dirty="0"/>
          </a:p>
          <a:p>
            <a:endParaRPr lang="en-US" sz="2200" dirty="0"/>
          </a:p>
        </p:txBody>
      </p:sp>
      <p:pic>
        <p:nvPicPr>
          <p:cNvPr id="6" name="Content Placeholder 5">
            <a:extLst>
              <a:ext uri="{FF2B5EF4-FFF2-40B4-BE49-F238E27FC236}">
                <a16:creationId xmlns:a16="http://schemas.microsoft.com/office/drawing/2014/main" id="{978F5F9C-EB50-CF4E-BAA3-2184EAE05049}"/>
              </a:ext>
            </a:extLst>
          </p:cNvPr>
          <p:cNvPicPr>
            <a:picLocks noGrp="1" noChangeAspect="1"/>
          </p:cNvPicPr>
          <p:nvPr>
            <p:ph sz="half" idx="2"/>
          </p:nvPr>
        </p:nvPicPr>
        <p:blipFill>
          <a:blip r:embed="rId2"/>
          <a:stretch>
            <a:fillRect/>
          </a:stretch>
        </p:blipFill>
        <p:spPr>
          <a:xfrm>
            <a:off x="6962775" y="2142662"/>
            <a:ext cx="1663700" cy="685800"/>
          </a:xfrm>
          <a:prstGeom prst="rect">
            <a:avLst/>
          </a:prstGeom>
        </p:spPr>
      </p:pic>
      <p:sp>
        <p:nvSpPr>
          <p:cNvPr id="5" name="Slide Number Placeholder 4">
            <a:extLst>
              <a:ext uri="{FF2B5EF4-FFF2-40B4-BE49-F238E27FC236}">
                <a16:creationId xmlns:a16="http://schemas.microsoft.com/office/drawing/2014/main" id="{27CB9C28-5E98-104F-B337-32FECBE0E91A}"/>
              </a:ext>
            </a:extLst>
          </p:cNvPr>
          <p:cNvSpPr>
            <a:spLocks noGrp="1"/>
          </p:cNvSpPr>
          <p:nvPr>
            <p:ph type="sldNum" sz="quarter" idx="12"/>
          </p:nvPr>
        </p:nvSpPr>
        <p:spPr/>
        <p:txBody>
          <a:bodyPr/>
          <a:lstStyle/>
          <a:p>
            <a:pPr>
              <a:defRPr/>
            </a:pPr>
            <a:fld id="{EC35E9FC-F6D5-0349-BBED-EA7D7A9BC49B}" type="slidenum">
              <a:rPr lang="en-US" smtClean="0"/>
              <a:pPr>
                <a:defRPr/>
              </a:pPr>
              <a:t>52</a:t>
            </a:fld>
            <a:endParaRPr lang="en-US"/>
          </a:p>
        </p:txBody>
      </p:sp>
      <p:pic>
        <p:nvPicPr>
          <p:cNvPr id="7" name="Picture 6">
            <a:extLst>
              <a:ext uri="{FF2B5EF4-FFF2-40B4-BE49-F238E27FC236}">
                <a16:creationId xmlns:a16="http://schemas.microsoft.com/office/drawing/2014/main" id="{F1D8E115-9814-2B4A-A4E5-9F91AF327512}"/>
              </a:ext>
            </a:extLst>
          </p:cNvPr>
          <p:cNvPicPr>
            <a:picLocks noChangeAspect="1"/>
          </p:cNvPicPr>
          <p:nvPr/>
        </p:nvPicPr>
        <p:blipFill>
          <a:blip r:embed="rId3"/>
          <a:stretch>
            <a:fillRect/>
          </a:stretch>
        </p:blipFill>
        <p:spPr>
          <a:xfrm>
            <a:off x="7345745" y="2828462"/>
            <a:ext cx="1066800" cy="393700"/>
          </a:xfrm>
          <a:prstGeom prst="rect">
            <a:avLst/>
          </a:prstGeom>
        </p:spPr>
      </p:pic>
      <p:pic>
        <p:nvPicPr>
          <p:cNvPr id="8" name="Picture 7">
            <a:extLst>
              <a:ext uri="{FF2B5EF4-FFF2-40B4-BE49-F238E27FC236}">
                <a16:creationId xmlns:a16="http://schemas.microsoft.com/office/drawing/2014/main" id="{E7FD4180-6263-544A-9309-98CC553977E4}"/>
              </a:ext>
            </a:extLst>
          </p:cNvPr>
          <p:cNvPicPr>
            <a:picLocks noChangeAspect="1"/>
          </p:cNvPicPr>
          <p:nvPr/>
        </p:nvPicPr>
        <p:blipFill>
          <a:blip r:embed="rId4"/>
          <a:stretch>
            <a:fillRect/>
          </a:stretch>
        </p:blipFill>
        <p:spPr>
          <a:xfrm>
            <a:off x="9048750" y="2212512"/>
            <a:ext cx="1727200" cy="812800"/>
          </a:xfrm>
          <a:prstGeom prst="rect">
            <a:avLst/>
          </a:prstGeom>
        </p:spPr>
      </p:pic>
      <p:pic>
        <p:nvPicPr>
          <p:cNvPr id="9" name="Picture 8">
            <a:extLst>
              <a:ext uri="{FF2B5EF4-FFF2-40B4-BE49-F238E27FC236}">
                <a16:creationId xmlns:a16="http://schemas.microsoft.com/office/drawing/2014/main" id="{8F34534F-586B-2646-9A55-A1D2EB899D21}"/>
              </a:ext>
            </a:extLst>
          </p:cNvPr>
          <p:cNvPicPr>
            <a:picLocks noChangeAspect="1"/>
          </p:cNvPicPr>
          <p:nvPr/>
        </p:nvPicPr>
        <p:blipFill>
          <a:blip r:embed="rId5"/>
          <a:stretch>
            <a:fillRect/>
          </a:stretch>
        </p:blipFill>
        <p:spPr>
          <a:xfrm>
            <a:off x="7439025" y="3832689"/>
            <a:ext cx="2374900" cy="787400"/>
          </a:xfrm>
          <a:prstGeom prst="rect">
            <a:avLst/>
          </a:prstGeom>
        </p:spPr>
      </p:pic>
      <p:cxnSp>
        <p:nvCxnSpPr>
          <p:cNvPr id="11" name="Straight Arrow Connector 10">
            <a:extLst>
              <a:ext uri="{FF2B5EF4-FFF2-40B4-BE49-F238E27FC236}">
                <a16:creationId xmlns:a16="http://schemas.microsoft.com/office/drawing/2014/main" id="{1FC1671F-FD09-4242-9C3D-BF71E0417973}"/>
              </a:ext>
            </a:extLst>
          </p:cNvPr>
          <p:cNvCxnSpPr>
            <a:stCxn id="6" idx="3"/>
            <a:endCxn id="8" idx="1"/>
          </p:cNvCxnSpPr>
          <p:nvPr/>
        </p:nvCxnSpPr>
        <p:spPr>
          <a:xfrm>
            <a:off x="8626475" y="2485562"/>
            <a:ext cx="422275" cy="13335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2" name="Straight Arrow Connector 11">
            <a:extLst>
              <a:ext uri="{FF2B5EF4-FFF2-40B4-BE49-F238E27FC236}">
                <a16:creationId xmlns:a16="http://schemas.microsoft.com/office/drawing/2014/main" id="{1523B2F9-552F-084A-9C09-237FF7EC4F6A}"/>
              </a:ext>
            </a:extLst>
          </p:cNvPr>
          <p:cNvCxnSpPr>
            <a:cxnSpLocks/>
          </p:cNvCxnSpPr>
          <p:nvPr/>
        </p:nvCxnSpPr>
        <p:spPr>
          <a:xfrm flipV="1">
            <a:off x="8550275" y="2670175"/>
            <a:ext cx="470502" cy="291637"/>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15" name="Straight Arrow Connector 14">
            <a:extLst>
              <a:ext uri="{FF2B5EF4-FFF2-40B4-BE49-F238E27FC236}">
                <a16:creationId xmlns:a16="http://schemas.microsoft.com/office/drawing/2014/main" id="{5E0C185D-90D9-BA48-9BC9-5AC848C7296B}"/>
              </a:ext>
            </a:extLst>
          </p:cNvPr>
          <p:cNvCxnSpPr>
            <a:cxnSpLocks/>
            <a:endCxn id="9" idx="1"/>
          </p:cNvCxnSpPr>
          <p:nvPr/>
        </p:nvCxnSpPr>
        <p:spPr>
          <a:xfrm flipV="1">
            <a:off x="5970287" y="4226389"/>
            <a:ext cx="1468738" cy="1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1E06EA37-8F1A-3E4F-99D8-7737194C4152}"/>
              </a:ext>
            </a:extLst>
          </p:cNvPr>
          <p:cNvPicPr>
            <a:picLocks noChangeAspect="1"/>
          </p:cNvPicPr>
          <p:nvPr/>
        </p:nvPicPr>
        <p:blipFill>
          <a:blip r:embed="rId6"/>
          <a:stretch>
            <a:fillRect/>
          </a:stretch>
        </p:blipFill>
        <p:spPr>
          <a:xfrm>
            <a:off x="7550150" y="4797890"/>
            <a:ext cx="1498600" cy="1003300"/>
          </a:xfrm>
          <a:prstGeom prst="rect">
            <a:avLst/>
          </a:prstGeom>
        </p:spPr>
      </p:pic>
      <p:cxnSp>
        <p:nvCxnSpPr>
          <p:cNvPr id="19" name="Straight Arrow Connector 18">
            <a:extLst>
              <a:ext uri="{FF2B5EF4-FFF2-40B4-BE49-F238E27FC236}">
                <a16:creationId xmlns:a16="http://schemas.microsoft.com/office/drawing/2014/main" id="{2128E5EF-3AC5-2144-B5AA-BAB1AC8A9EF7}"/>
              </a:ext>
            </a:extLst>
          </p:cNvPr>
          <p:cNvCxnSpPr>
            <a:cxnSpLocks/>
          </p:cNvCxnSpPr>
          <p:nvPr/>
        </p:nvCxnSpPr>
        <p:spPr>
          <a:xfrm flipV="1">
            <a:off x="5935704" y="5306478"/>
            <a:ext cx="1468738" cy="1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pic>
        <p:nvPicPr>
          <p:cNvPr id="20" name="Picture 19">
            <a:extLst>
              <a:ext uri="{FF2B5EF4-FFF2-40B4-BE49-F238E27FC236}">
                <a16:creationId xmlns:a16="http://schemas.microsoft.com/office/drawing/2014/main" id="{E7820B72-CC71-C742-A338-E733A9F6FC41}"/>
              </a:ext>
            </a:extLst>
          </p:cNvPr>
          <p:cNvPicPr>
            <a:picLocks noChangeAspect="1"/>
          </p:cNvPicPr>
          <p:nvPr/>
        </p:nvPicPr>
        <p:blipFill>
          <a:blip r:embed="rId7"/>
          <a:stretch>
            <a:fillRect/>
          </a:stretch>
        </p:blipFill>
        <p:spPr>
          <a:xfrm>
            <a:off x="7466273" y="5764216"/>
            <a:ext cx="2146300" cy="723900"/>
          </a:xfrm>
          <a:prstGeom prst="rect">
            <a:avLst/>
          </a:prstGeom>
        </p:spPr>
      </p:pic>
      <p:cxnSp>
        <p:nvCxnSpPr>
          <p:cNvPr id="21" name="Straight Arrow Connector 20">
            <a:extLst>
              <a:ext uri="{FF2B5EF4-FFF2-40B4-BE49-F238E27FC236}">
                <a16:creationId xmlns:a16="http://schemas.microsoft.com/office/drawing/2014/main" id="{0A1A7033-3F6D-C54F-88BA-88E3F03A4293}"/>
              </a:ext>
            </a:extLst>
          </p:cNvPr>
          <p:cNvCxnSpPr>
            <a:cxnSpLocks/>
          </p:cNvCxnSpPr>
          <p:nvPr/>
        </p:nvCxnSpPr>
        <p:spPr>
          <a:xfrm flipV="1">
            <a:off x="5961909" y="6119815"/>
            <a:ext cx="1468738" cy="1270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7378393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9977BC-B242-CB47-A094-6E5E6B46051C}"/>
              </a:ext>
            </a:extLst>
          </p:cNvPr>
          <p:cNvSpPr>
            <a:spLocks noGrp="1"/>
          </p:cNvSpPr>
          <p:nvPr>
            <p:ph type="title"/>
          </p:nvPr>
        </p:nvSpPr>
        <p:spPr/>
        <p:txBody>
          <a:bodyPr/>
          <a:lstStyle/>
          <a:p>
            <a:r>
              <a:rPr lang="en-US" dirty="0"/>
              <a:t>Porosity Predictions</a:t>
            </a:r>
          </a:p>
        </p:txBody>
      </p:sp>
      <p:sp>
        <p:nvSpPr>
          <p:cNvPr id="3" name="Content Placeholder 2">
            <a:extLst>
              <a:ext uri="{FF2B5EF4-FFF2-40B4-BE49-F238E27FC236}">
                <a16:creationId xmlns:a16="http://schemas.microsoft.com/office/drawing/2014/main" id="{FBA92812-498B-434E-B943-FD5D4EC611BD}"/>
              </a:ext>
            </a:extLst>
          </p:cNvPr>
          <p:cNvSpPr>
            <a:spLocks noGrp="1"/>
          </p:cNvSpPr>
          <p:nvPr>
            <p:ph sz="half" idx="1"/>
          </p:nvPr>
        </p:nvSpPr>
        <p:spPr>
          <a:xfrm>
            <a:off x="609600" y="1968503"/>
            <a:ext cx="5159894" cy="4157663"/>
          </a:xfrm>
        </p:spPr>
        <p:txBody>
          <a:bodyPr/>
          <a:lstStyle/>
          <a:p>
            <a:r>
              <a:rPr lang="en-US" sz="2400" dirty="0"/>
              <a:t>These porosity models don’t incorporate different phases, initial porosity, axial/radial swelling, etc.</a:t>
            </a:r>
          </a:p>
          <a:p>
            <a:r>
              <a:rPr lang="en-US" sz="2400" dirty="0"/>
              <a:t>These models have been updated slightly to improve code robustness, but still don’t incorporate these critical microstructural phenomena</a:t>
            </a:r>
          </a:p>
        </p:txBody>
      </p:sp>
      <p:sp>
        <p:nvSpPr>
          <p:cNvPr id="5" name="Slide Number Placeholder 4">
            <a:extLst>
              <a:ext uri="{FF2B5EF4-FFF2-40B4-BE49-F238E27FC236}">
                <a16:creationId xmlns:a16="http://schemas.microsoft.com/office/drawing/2014/main" id="{A3C106D1-EEEB-A841-B008-4E024B97EE27}"/>
              </a:ext>
            </a:extLst>
          </p:cNvPr>
          <p:cNvSpPr>
            <a:spLocks noGrp="1"/>
          </p:cNvSpPr>
          <p:nvPr>
            <p:ph type="sldNum" sz="quarter" idx="12"/>
          </p:nvPr>
        </p:nvSpPr>
        <p:spPr/>
        <p:txBody>
          <a:bodyPr/>
          <a:lstStyle/>
          <a:p>
            <a:pPr>
              <a:defRPr/>
            </a:pPr>
            <a:fld id="{EC35E9FC-F6D5-0349-BBED-EA7D7A9BC49B}" type="slidenum">
              <a:rPr lang="en-US" smtClean="0"/>
              <a:pPr>
                <a:defRPr/>
              </a:pPr>
              <a:t>53</a:t>
            </a:fld>
            <a:endParaRPr lang="en-US"/>
          </a:p>
        </p:txBody>
      </p:sp>
      <p:pic>
        <p:nvPicPr>
          <p:cNvPr id="6" name="Content Placeholder 5">
            <a:extLst>
              <a:ext uri="{FF2B5EF4-FFF2-40B4-BE49-F238E27FC236}">
                <a16:creationId xmlns:a16="http://schemas.microsoft.com/office/drawing/2014/main" id="{8085DA03-EA26-B244-AEF6-4F6CC0AA07A4}"/>
              </a:ext>
            </a:extLst>
          </p:cNvPr>
          <p:cNvPicPr>
            <a:picLocks noGrp="1" noChangeAspect="1"/>
          </p:cNvPicPr>
          <p:nvPr>
            <p:ph sz="half" idx="2"/>
          </p:nvPr>
        </p:nvPicPr>
        <p:blipFill>
          <a:blip r:embed="rId2"/>
          <a:stretch>
            <a:fillRect/>
          </a:stretch>
        </p:blipFill>
        <p:spPr>
          <a:xfrm>
            <a:off x="5994400" y="2544798"/>
            <a:ext cx="2844800" cy="3005071"/>
          </a:xfrm>
          <a:prstGeom prst="rect">
            <a:avLst/>
          </a:prstGeom>
        </p:spPr>
      </p:pic>
      <p:pic>
        <p:nvPicPr>
          <p:cNvPr id="7" name="Picture 6">
            <a:extLst>
              <a:ext uri="{FF2B5EF4-FFF2-40B4-BE49-F238E27FC236}">
                <a16:creationId xmlns:a16="http://schemas.microsoft.com/office/drawing/2014/main" id="{0A210E6B-DD3D-E340-9AF1-16E49E394451}"/>
              </a:ext>
            </a:extLst>
          </p:cNvPr>
          <p:cNvPicPr>
            <a:picLocks noChangeAspect="1"/>
          </p:cNvPicPr>
          <p:nvPr/>
        </p:nvPicPr>
        <p:blipFill>
          <a:blip r:embed="rId3"/>
          <a:stretch>
            <a:fillRect/>
          </a:stretch>
        </p:blipFill>
        <p:spPr>
          <a:xfrm>
            <a:off x="9064106" y="2544798"/>
            <a:ext cx="2885448" cy="2865127"/>
          </a:xfrm>
          <a:prstGeom prst="rect">
            <a:avLst/>
          </a:prstGeom>
        </p:spPr>
      </p:pic>
    </p:spTree>
    <p:extLst>
      <p:ext uri="{BB962C8B-B14F-4D97-AF65-F5344CB8AC3E}">
        <p14:creationId xmlns:p14="http://schemas.microsoft.com/office/powerpoint/2010/main" val="395019959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89281C-9EB7-9F4D-BE82-BFCBEDA33AE5}"/>
              </a:ext>
            </a:extLst>
          </p:cNvPr>
          <p:cNvSpPr>
            <a:spLocks noGrp="1"/>
          </p:cNvSpPr>
          <p:nvPr>
            <p:ph type="title"/>
          </p:nvPr>
        </p:nvSpPr>
        <p:spPr/>
        <p:txBody>
          <a:bodyPr/>
          <a:lstStyle/>
          <a:p>
            <a:r>
              <a:rPr lang="en-US" dirty="0"/>
              <a:t>Mechanical Properties</a:t>
            </a:r>
          </a:p>
        </p:txBody>
      </p:sp>
      <p:sp>
        <p:nvSpPr>
          <p:cNvPr id="3" name="Content Placeholder 2">
            <a:extLst>
              <a:ext uri="{FF2B5EF4-FFF2-40B4-BE49-F238E27FC236}">
                <a16:creationId xmlns:a16="http://schemas.microsoft.com/office/drawing/2014/main" id="{6115AC0A-B93D-9C49-94E3-44261FC46B22}"/>
              </a:ext>
            </a:extLst>
          </p:cNvPr>
          <p:cNvSpPr>
            <a:spLocks noGrp="1"/>
          </p:cNvSpPr>
          <p:nvPr>
            <p:ph sz="half" idx="1"/>
          </p:nvPr>
        </p:nvSpPr>
        <p:spPr>
          <a:xfrm>
            <a:off x="609600" y="2210765"/>
            <a:ext cx="5384800" cy="3915401"/>
          </a:xfrm>
        </p:spPr>
        <p:txBody>
          <a:bodyPr/>
          <a:lstStyle/>
          <a:p>
            <a:r>
              <a:rPr lang="en-US" sz="2200" dirty="0"/>
              <a:t>Young’s Modulus</a:t>
            </a:r>
          </a:p>
          <a:p>
            <a:endParaRPr lang="en-US" sz="2200" dirty="0"/>
          </a:p>
          <a:p>
            <a:r>
              <a:rPr lang="en-US" sz="2200" dirty="0"/>
              <a:t>Poisson’s ratio</a:t>
            </a:r>
          </a:p>
          <a:p>
            <a:endParaRPr lang="en-US" sz="2200" dirty="0"/>
          </a:p>
          <a:p>
            <a:r>
              <a:rPr lang="en-US" sz="2200" dirty="0"/>
              <a:t>Creep</a:t>
            </a:r>
          </a:p>
          <a:p>
            <a:endParaRPr lang="en-US" sz="2200" dirty="0"/>
          </a:p>
          <a:p>
            <a:endParaRPr lang="en-US" sz="2200" dirty="0"/>
          </a:p>
          <a:p>
            <a:r>
              <a:rPr lang="en-US" sz="2200" dirty="0"/>
              <a:t>Cladding models for HT-9 creep and k</a:t>
            </a:r>
            <a:r>
              <a:rPr lang="en-US" sz="2200" baseline="-25000" dirty="0"/>
              <a:t>th</a:t>
            </a:r>
            <a:endParaRPr lang="en-US" sz="2200" dirty="0"/>
          </a:p>
        </p:txBody>
      </p:sp>
      <p:pic>
        <p:nvPicPr>
          <p:cNvPr id="6" name="Content Placeholder 5">
            <a:extLst>
              <a:ext uri="{FF2B5EF4-FFF2-40B4-BE49-F238E27FC236}">
                <a16:creationId xmlns:a16="http://schemas.microsoft.com/office/drawing/2014/main" id="{BDC51DC2-AA66-8440-BBC2-9953B33593CC}"/>
              </a:ext>
            </a:extLst>
          </p:cNvPr>
          <p:cNvPicPr>
            <a:picLocks noGrp="1" noChangeAspect="1"/>
          </p:cNvPicPr>
          <p:nvPr>
            <p:ph sz="half" idx="2"/>
          </p:nvPr>
        </p:nvPicPr>
        <p:blipFill>
          <a:blip r:embed="rId2"/>
          <a:stretch>
            <a:fillRect/>
          </a:stretch>
        </p:blipFill>
        <p:spPr>
          <a:xfrm>
            <a:off x="6492272" y="2103749"/>
            <a:ext cx="5003800" cy="762000"/>
          </a:xfrm>
          <a:prstGeom prst="rect">
            <a:avLst/>
          </a:prstGeom>
        </p:spPr>
      </p:pic>
      <p:sp>
        <p:nvSpPr>
          <p:cNvPr id="5" name="Slide Number Placeholder 4">
            <a:extLst>
              <a:ext uri="{FF2B5EF4-FFF2-40B4-BE49-F238E27FC236}">
                <a16:creationId xmlns:a16="http://schemas.microsoft.com/office/drawing/2014/main" id="{78BBE50D-632C-484A-B203-ACD5DA04A8DC}"/>
              </a:ext>
            </a:extLst>
          </p:cNvPr>
          <p:cNvSpPr>
            <a:spLocks noGrp="1"/>
          </p:cNvSpPr>
          <p:nvPr>
            <p:ph type="sldNum" sz="quarter" idx="12"/>
          </p:nvPr>
        </p:nvSpPr>
        <p:spPr/>
        <p:txBody>
          <a:bodyPr/>
          <a:lstStyle/>
          <a:p>
            <a:pPr>
              <a:defRPr/>
            </a:pPr>
            <a:fld id="{EC35E9FC-F6D5-0349-BBED-EA7D7A9BC49B}" type="slidenum">
              <a:rPr lang="en-US" smtClean="0"/>
              <a:pPr>
                <a:defRPr/>
              </a:pPr>
              <a:t>54</a:t>
            </a:fld>
            <a:endParaRPr lang="en-US"/>
          </a:p>
        </p:txBody>
      </p:sp>
      <p:pic>
        <p:nvPicPr>
          <p:cNvPr id="7" name="Picture 6">
            <a:extLst>
              <a:ext uri="{FF2B5EF4-FFF2-40B4-BE49-F238E27FC236}">
                <a16:creationId xmlns:a16="http://schemas.microsoft.com/office/drawing/2014/main" id="{D3286CDB-2E38-9A46-B5F7-683CC075ABE6}"/>
              </a:ext>
            </a:extLst>
          </p:cNvPr>
          <p:cNvPicPr>
            <a:picLocks noChangeAspect="1"/>
          </p:cNvPicPr>
          <p:nvPr/>
        </p:nvPicPr>
        <p:blipFill>
          <a:blip r:embed="rId3"/>
          <a:stretch>
            <a:fillRect/>
          </a:stretch>
        </p:blipFill>
        <p:spPr>
          <a:xfrm>
            <a:off x="7145438" y="3000998"/>
            <a:ext cx="4267200" cy="685800"/>
          </a:xfrm>
          <a:prstGeom prst="rect">
            <a:avLst/>
          </a:prstGeom>
        </p:spPr>
      </p:pic>
      <p:pic>
        <p:nvPicPr>
          <p:cNvPr id="8" name="Picture 7">
            <a:extLst>
              <a:ext uri="{FF2B5EF4-FFF2-40B4-BE49-F238E27FC236}">
                <a16:creationId xmlns:a16="http://schemas.microsoft.com/office/drawing/2014/main" id="{70E212EA-26EB-CF4D-AEB6-73B18E0BBB4E}"/>
              </a:ext>
            </a:extLst>
          </p:cNvPr>
          <p:cNvPicPr>
            <a:picLocks noChangeAspect="1"/>
          </p:cNvPicPr>
          <p:nvPr/>
        </p:nvPicPr>
        <p:blipFill>
          <a:blip r:embed="rId4"/>
          <a:stretch>
            <a:fillRect/>
          </a:stretch>
        </p:blipFill>
        <p:spPr>
          <a:xfrm>
            <a:off x="6902450" y="3912550"/>
            <a:ext cx="3670300" cy="698500"/>
          </a:xfrm>
          <a:prstGeom prst="rect">
            <a:avLst/>
          </a:prstGeom>
        </p:spPr>
      </p:pic>
      <p:pic>
        <p:nvPicPr>
          <p:cNvPr id="9" name="Picture 8">
            <a:extLst>
              <a:ext uri="{FF2B5EF4-FFF2-40B4-BE49-F238E27FC236}">
                <a16:creationId xmlns:a16="http://schemas.microsoft.com/office/drawing/2014/main" id="{780D863A-3EAD-C94B-8483-81793E077DF1}"/>
              </a:ext>
            </a:extLst>
          </p:cNvPr>
          <p:cNvPicPr>
            <a:picLocks noChangeAspect="1"/>
          </p:cNvPicPr>
          <p:nvPr/>
        </p:nvPicPr>
        <p:blipFill>
          <a:blip r:embed="rId5"/>
          <a:stretch>
            <a:fillRect/>
          </a:stretch>
        </p:blipFill>
        <p:spPr>
          <a:xfrm>
            <a:off x="6492272" y="5597689"/>
            <a:ext cx="4953000" cy="546100"/>
          </a:xfrm>
          <a:prstGeom prst="rect">
            <a:avLst/>
          </a:prstGeom>
        </p:spPr>
      </p:pic>
      <p:pic>
        <p:nvPicPr>
          <p:cNvPr id="10" name="Picture 9">
            <a:extLst>
              <a:ext uri="{FF2B5EF4-FFF2-40B4-BE49-F238E27FC236}">
                <a16:creationId xmlns:a16="http://schemas.microsoft.com/office/drawing/2014/main" id="{19DB0AE1-C483-EA45-82A9-DB22FCD5C80E}"/>
              </a:ext>
            </a:extLst>
          </p:cNvPr>
          <p:cNvPicPr>
            <a:picLocks noChangeAspect="1"/>
          </p:cNvPicPr>
          <p:nvPr/>
        </p:nvPicPr>
        <p:blipFill>
          <a:blip r:embed="rId6"/>
          <a:stretch>
            <a:fillRect/>
          </a:stretch>
        </p:blipFill>
        <p:spPr>
          <a:xfrm>
            <a:off x="6327172" y="4894508"/>
            <a:ext cx="5334000" cy="596900"/>
          </a:xfrm>
          <a:prstGeom prst="rect">
            <a:avLst/>
          </a:prstGeom>
        </p:spPr>
      </p:pic>
    </p:spTree>
    <p:extLst>
      <p:ext uri="{BB962C8B-B14F-4D97-AF65-F5344CB8AC3E}">
        <p14:creationId xmlns:p14="http://schemas.microsoft.com/office/powerpoint/2010/main" val="327398333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830D8-4046-0D42-AF5C-B434D559B6B8}"/>
              </a:ext>
            </a:extLst>
          </p:cNvPr>
          <p:cNvSpPr>
            <a:spLocks noGrp="1"/>
          </p:cNvSpPr>
          <p:nvPr>
            <p:ph type="title"/>
          </p:nvPr>
        </p:nvSpPr>
        <p:spPr/>
        <p:txBody>
          <a:bodyPr/>
          <a:lstStyle/>
          <a:p>
            <a:r>
              <a:rPr lang="en-US" dirty="0"/>
              <a:t>BISON Testing</a:t>
            </a:r>
          </a:p>
        </p:txBody>
      </p:sp>
      <p:sp>
        <p:nvSpPr>
          <p:cNvPr id="3" name="Content Placeholder 2">
            <a:extLst>
              <a:ext uri="{FF2B5EF4-FFF2-40B4-BE49-F238E27FC236}">
                <a16:creationId xmlns:a16="http://schemas.microsoft.com/office/drawing/2014/main" id="{F310A712-B774-3A47-9C6B-F4633A288CF2}"/>
              </a:ext>
            </a:extLst>
          </p:cNvPr>
          <p:cNvSpPr>
            <a:spLocks noGrp="1"/>
          </p:cNvSpPr>
          <p:nvPr>
            <p:ph sz="half" idx="1"/>
          </p:nvPr>
        </p:nvSpPr>
        <p:spPr>
          <a:xfrm>
            <a:off x="609600" y="1968503"/>
            <a:ext cx="4749478" cy="4157663"/>
          </a:xfrm>
        </p:spPr>
        <p:txBody>
          <a:bodyPr/>
          <a:lstStyle/>
          <a:p>
            <a:r>
              <a:rPr lang="en-US" sz="2200" dirty="0"/>
              <a:t>BISON can handle binary and ternary fuel and compare reasonably well with EBR-II data</a:t>
            </a:r>
          </a:p>
          <a:p>
            <a:r>
              <a:rPr lang="en-US" sz="2200" dirty="0"/>
              <a:t>Discrepancies are due to inadequate knowledge of materials models, and underlying issues with material descriptions, and code robustness</a:t>
            </a:r>
          </a:p>
          <a:p>
            <a:r>
              <a:rPr lang="en-US" sz="2200" dirty="0"/>
              <a:t>Development is ongoing, and improvements to swelling models, for example, have been made</a:t>
            </a:r>
          </a:p>
        </p:txBody>
      </p:sp>
      <p:pic>
        <p:nvPicPr>
          <p:cNvPr id="6" name="Content Placeholder 5">
            <a:extLst>
              <a:ext uri="{FF2B5EF4-FFF2-40B4-BE49-F238E27FC236}">
                <a16:creationId xmlns:a16="http://schemas.microsoft.com/office/drawing/2014/main" id="{15C841D7-202C-4E4E-87C2-BDC7994F6256}"/>
              </a:ext>
            </a:extLst>
          </p:cNvPr>
          <p:cNvPicPr>
            <a:picLocks noGrp="1" noChangeAspect="1"/>
          </p:cNvPicPr>
          <p:nvPr>
            <p:ph sz="half" idx="2"/>
          </p:nvPr>
        </p:nvPicPr>
        <p:blipFill>
          <a:blip r:embed="rId2"/>
          <a:stretch>
            <a:fillRect/>
          </a:stretch>
        </p:blipFill>
        <p:spPr>
          <a:xfrm>
            <a:off x="5476111" y="1739261"/>
            <a:ext cx="3261489" cy="2486086"/>
          </a:xfrm>
          <a:prstGeom prst="rect">
            <a:avLst/>
          </a:prstGeom>
        </p:spPr>
      </p:pic>
      <p:sp>
        <p:nvSpPr>
          <p:cNvPr id="5" name="Slide Number Placeholder 4">
            <a:extLst>
              <a:ext uri="{FF2B5EF4-FFF2-40B4-BE49-F238E27FC236}">
                <a16:creationId xmlns:a16="http://schemas.microsoft.com/office/drawing/2014/main" id="{2CA3A285-9F46-F44D-8B48-3DFC273A57D2}"/>
              </a:ext>
            </a:extLst>
          </p:cNvPr>
          <p:cNvSpPr>
            <a:spLocks noGrp="1"/>
          </p:cNvSpPr>
          <p:nvPr>
            <p:ph type="sldNum" sz="quarter" idx="12"/>
          </p:nvPr>
        </p:nvSpPr>
        <p:spPr/>
        <p:txBody>
          <a:bodyPr/>
          <a:lstStyle/>
          <a:p>
            <a:pPr>
              <a:defRPr/>
            </a:pPr>
            <a:fld id="{EC35E9FC-F6D5-0349-BBED-EA7D7A9BC49B}" type="slidenum">
              <a:rPr lang="en-US" smtClean="0"/>
              <a:pPr>
                <a:defRPr/>
              </a:pPr>
              <a:t>55</a:t>
            </a:fld>
            <a:endParaRPr lang="en-US"/>
          </a:p>
        </p:txBody>
      </p:sp>
      <p:pic>
        <p:nvPicPr>
          <p:cNvPr id="7" name="Picture 6">
            <a:extLst>
              <a:ext uri="{FF2B5EF4-FFF2-40B4-BE49-F238E27FC236}">
                <a16:creationId xmlns:a16="http://schemas.microsoft.com/office/drawing/2014/main" id="{B4B28F29-7E40-464C-A564-B22A874D185B}"/>
              </a:ext>
            </a:extLst>
          </p:cNvPr>
          <p:cNvPicPr>
            <a:picLocks noChangeAspect="1"/>
          </p:cNvPicPr>
          <p:nvPr/>
        </p:nvPicPr>
        <p:blipFill>
          <a:blip r:embed="rId3"/>
          <a:stretch>
            <a:fillRect/>
          </a:stretch>
        </p:blipFill>
        <p:spPr>
          <a:xfrm>
            <a:off x="5310279" y="4095186"/>
            <a:ext cx="3439873" cy="2632649"/>
          </a:xfrm>
          <a:prstGeom prst="rect">
            <a:avLst/>
          </a:prstGeom>
        </p:spPr>
      </p:pic>
      <p:pic>
        <p:nvPicPr>
          <p:cNvPr id="8" name="Picture 7">
            <a:extLst>
              <a:ext uri="{FF2B5EF4-FFF2-40B4-BE49-F238E27FC236}">
                <a16:creationId xmlns:a16="http://schemas.microsoft.com/office/drawing/2014/main" id="{567E08A7-E209-D445-8FEB-C9323859FCE9}"/>
              </a:ext>
            </a:extLst>
          </p:cNvPr>
          <p:cNvPicPr>
            <a:picLocks noChangeAspect="1"/>
          </p:cNvPicPr>
          <p:nvPr/>
        </p:nvPicPr>
        <p:blipFill>
          <a:blip r:embed="rId4"/>
          <a:stretch>
            <a:fillRect/>
          </a:stretch>
        </p:blipFill>
        <p:spPr>
          <a:xfrm>
            <a:off x="8654331" y="1602738"/>
            <a:ext cx="3261488" cy="2673502"/>
          </a:xfrm>
          <a:prstGeom prst="rect">
            <a:avLst/>
          </a:prstGeom>
        </p:spPr>
      </p:pic>
      <p:pic>
        <p:nvPicPr>
          <p:cNvPr id="9" name="Picture 8">
            <a:extLst>
              <a:ext uri="{FF2B5EF4-FFF2-40B4-BE49-F238E27FC236}">
                <a16:creationId xmlns:a16="http://schemas.microsoft.com/office/drawing/2014/main" id="{4545CFA0-B918-D147-847D-3A2D88AE5145}"/>
              </a:ext>
            </a:extLst>
          </p:cNvPr>
          <p:cNvPicPr>
            <a:picLocks noChangeAspect="1"/>
          </p:cNvPicPr>
          <p:nvPr/>
        </p:nvPicPr>
        <p:blipFill>
          <a:blip r:embed="rId5"/>
          <a:stretch>
            <a:fillRect/>
          </a:stretch>
        </p:blipFill>
        <p:spPr>
          <a:xfrm>
            <a:off x="8584320" y="4095183"/>
            <a:ext cx="3261488" cy="2599622"/>
          </a:xfrm>
          <a:prstGeom prst="rect">
            <a:avLst/>
          </a:prstGeom>
        </p:spPr>
      </p:pic>
    </p:spTree>
    <p:extLst>
      <p:ext uri="{BB962C8B-B14F-4D97-AF65-F5344CB8AC3E}">
        <p14:creationId xmlns:p14="http://schemas.microsoft.com/office/powerpoint/2010/main" val="160250872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5ACA-79FB-0E4B-A0B2-25968942F952}"/>
              </a:ext>
            </a:extLst>
          </p:cNvPr>
          <p:cNvSpPr>
            <a:spLocks noGrp="1"/>
          </p:cNvSpPr>
          <p:nvPr>
            <p:ph type="title"/>
          </p:nvPr>
        </p:nvSpPr>
        <p:spPr/>
        <p:txBody>
          <a:bodyPr/>
          <a:lstStyle/>
          <a:p>
            <a:r>
              <a:rPr lang="en-US" dirty="0"/>
              <a:t>Other Codes</a:t>
            </a:r>
          </a:p>
        </p:txBody>
      </p:sp>
      <p:sp>
        <p:nvSpPr>
          <p:cNvPr id="3" name="Content Placeholder 2">
            <a:extLst>
              <a:ext uri="{FF2B5EF4-FFF2-40B4-BE49-F238E27FC236}">
                <a16:creationId xmlns:a16="http://schemas.microsoft.com/office/drawing/2014/main" id="{68B4AC97-5854-D748-951F-02D652746B70}"/>
              </a:ext>
            </a:extLst>
          </p:cNvPr>
          <p:cNvSpPr>
            <a:spLocks noGrp="1"/>
          </p:cNvSpPr>
          <p:nvPr>
            <p:ph sz="half" idx="1"/>
          </p:nvPr>
        </p:nvSpPr>
        <p:spPr/>
        <p:txBody>
          <a:bodyPr/>
          <a:lstStyle/>
          <a:p>
            <a:r>
              <a:rPr lang="en-US" sz="2200" dirty="0"/>
              <a:t>LIFEMETAL</a:t>
            </a:r>
          </a:p>
          <a:p>
            <a:r>
              <a:rPr lang="en-US" sz="2200" dirty="0"/>
              <a:t>The code has evolved from the LIFE series of codes from ANL that perform steady-state and transient analyses for nuclear fuel</a:t>
            </a:r>
          </a:p>
          <a:p>
            <a:r>
              <a:rPr lang="en-US" sz="2200" dirty="0"/>
              <a:t>The original code was developed for UO2 and mixed oxide fuels for use in fast reactor systems</a:t>
            </a:r>
          </a:p>
          <a:p>
            <a:r>
              <a:rPr lang="en-US" sz="2200" dirty="0"/>
              <a:t>The code was developed in association with the IFR and has been extensively used for planning steady state and transient experiments at EBR-II</a:t>
            </a:r>
          </a:p>
          <a:p>
            <a:endParaRPr lang="en-US" sz="2200" dirty="0"/>
          </a:p>
          <a:p>
            <a:endParaRPr lang="en-US" sz="2200" dirty="0"/>
          </a:p>
        </p:txBody>
      </p:sp>
      <p:pic>
        <p:nvPicPr>
          <p:cNvPr id="6" name="Content Placeholder 5">
            <a:extLst>
              <a:ext uri="{FF2B5EF4-FFF2-40B4-BE49-F238E27FC236}">
                <a16:creationId xmlns:a16="http://schemas.microsoft.com/office/drawing/2014/main" id="{3FDDF2FC-4F43-5845-9530-62D3235B29D3}"/>
              </a:ext>
            </a:extLst>
          </p:cNvPr>
          <p:cNvPicPr>
            <a:picLocks noGrp="1" noChangeAspect="1"/>
          </p:cNvPicPr>
          <p:nvPr>
            <p:ph sz="half" idx="2"/>
          </p:nvPr>
        </p:nvPicPr>
        <p:blipFill>
          <a:blip r:embed="rId2"/>
          <a:stretch>
            <a:fillRect/>
          </a:stretch>
        </p:blipFill>
        <p:spPr>
          <a:xfrm>
            <a:off x="6273428" y="1817875"/>
            <a:ext cx="2631822" cy="4954885"/>
          </a:xfrm>
          <a:prstGeom prst="rect">
            <a:avLst/>
          </a:prstGeom>
        </p:spPr>
      </p:pic>
      <p:sp>
        <p:nvSpPr>
          <p:cNvPr id="5" name="Slide Number Placeholder 4">
            <a:extLst>
              <a:ext uri="{FF2B5EF4-FFF2-40B4-BE49-F238E27FC236}">
                <a16:creationId xmlns:a16="http://schemas.microsoft.com/office/drawing/2014/main" id="{63875A79-A3F2-8640-9FDA-967C03F5FD01}"/>
              </a:ext>
            </a:extLst>
          </p:cNvPr>
          <p:cNvSpPr>
            <a:spLocks noGrp="1"/>
          </p:cNvSpPr>
          <p:nvPr>
            <p:ph type="sldNum" sz="quarter" idx="12"/>
          </p:nvPr>
        </p:nvSpPr>
        <p:spPr/>
        <p:txBody>
          <a:bodyPr/>
          <a:lstStyle/>
          <a:p>
            <a:pPr>
              <a:defRPr/>
            </a:pPr>
            <a:fld id="{EC35E9FC-F6D5-0349-BBED-EA7D7A9BC49B}" type="slidenum">
              <a:rPr lang="en-US" smtClean="0"/>
              <a:pPr>
                <a:defRPr/>
              </a:pPr>
              <a:t>56</a:t>
            </a:fld>
            <a:endParaRPr lang="en-US"/>
          </a:p>
        </p:txBody>
      </p:sp>
      <p:pic>
        <p:nvPicPr>
          <p:cNvPr id="7" name="Picture 6">
            <a:extLst>
              <a:ext uri="{FF2B5EF4-FFF2-40B4-BE49-F238E27FC236}">
                <a16:creationId xmlns:a16="http://schemas.microsoft.com/office/drawing/2014/main" id="{6F601C3E-CC1C-674F-ADCB-9406DEBAF6BA}"/>
              </a:ext>
            </a:extLst>
          </p:cNvPr>
          <p:cNvPicPr>
            <a:picLocks noChangeAspect="1"/>
          </p:cNvPicPr>
          <p:nvPr/>
        </p:nvPicPr>
        <p:blipFill>
          <a:blip r:embed="rId3"/>
          <a:stretch>
            <a:fillRect/>
          </a:stretch>
        </p:blipFill>
        <p:spPr>
          <a:xfrm>
            <a:off x="9072900" y="1255057"/>
            <a:ext cx="2847849" cy="2511867"/>
          </a:xfrm>
          <a:prstGeom prst="rect">
            <a:avLst/>
          </a:prstGeom>
        </p:spPr>
      </p:pic>
      <p:pic>
        <p:nvPicPr>
          <p:cNvPr id="8" name="Picture 7">
            <a:extLst>
              <a:ext uri="{FF2B5EF4-FFF2-40B4-BE49-F238E27FC236}">
                <a16:creationId xmlns:a16="http://schemas.microsoft.com/office/drawing/2014/main" id="{95B04D0B-5914-A244-92D8-0DB8938A66B9}"/>
              </a:ext>
            </a:extLst>
          </p:cNvPr>
          <p:cNvPicPr>
            <a:picLocks noChangeAspect="1"/>
          </p:cNvPicPr>
          <p:nvPr/>
        </p:nvPicPr>
        <p:blipFill>
          <a:blip r:embed="rId4"/>
          <a:stretch>
            <a:fillRect/>
          </a:stretch>
        </p:blipFill>
        <p:spPr>
          <a:xfrm>
            <a:off x="9072900" y="3725044"/>
            <a:ext cx="3030248" cy="2631308"/>
          </a:xfrm>
          <a:prstGeom prst="rect">
            <a:avLst/>
          </a:prstGeom>
        </p:spPr>
      </p:pic>
    </p:spTree>
    <p:extLst>
      <p:ext uri="{BB962C8B-B14F-4D97-AF65-F5344CB8AC3E}">
        <p14:creationId xmlns:p14="http://schemas.microsoft.com/office/powerpoint/2010/main" val="131682162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F25ACA-79FB-0E4B-A0B2-25968942F952}"/>
              </a:ext>
            </a:extLst>
          </p:cNvPr>
          <p:cNvSpPr>
            <a:spLocks noGrp="1"/>
          </p:cNvSpPr>
          <p:nvPr>
            <p:ph type="title"/>
          </p:nvPr>
        </p:nvSpPr>
        <p:spPr/>
        <p:txBody>
          <a:bodyPr/>
          <a:lstStyle/>
          <a:p>
            <a:r>
              <a:rPr lang="en-US" dirty="0"/>
              <a:t>Other Codes</a:t>
            </a:r>
          </a:p>
        </p:txBody>
      </p:sp>
      <p:sp>
        <p:nvSpPr>
          <p:cNvPr id="3" name="Content Placeholder 2">
            <a:extLst>
              <a:ext uri="{FF2B5EF4-FFF2-40B4-BE49-F238E27FC236}">
                <a16:creationId xmlns:a16="http://schemas.microsoft.com/office/drawing/2014/main" id="{68B4AC97-5854-D748-951F-02D652746B70}"/>
              </a:ext>
            </a:extLst>
          </p:cNvPr>
          <p:cNvSpPr>
            <a:spLocks noGrp="1"/>
          </p:cNvSpPr>
          <p:nvPr>
            <p:ph sz="half" idx="1"/>
          </p:nvPr>
        </p:nvSpPr>
        <p:spPr/>
        <p:txBody>
          <a:bodyPr/>
          <a:lstStyle/>
          <a:p>
            <a:r>
              <a:rPr lang="en-US" sz="2200" dirty="0"/>
              <a:t>ALFUS</a:t>
            </a:r>
          </a:p>
          <a:p>
            <a:r>
              <a:rPr lang="en-US" sz="2200" dirty="0"/>
              <a:t>JAEA code that is multiphysics in nature and focuses on the mechanical behavior of the fuel under irradiation</a:t>
            </a:r>
          </a:p>
          <a:p>
            <a:r>
              <a:rPr lang="en-US" sz="2200" dirty="0"/>
              <a:t>Both LIFE-METAL and ALFUS are capable of simulating metal fuel irradiation behavior to some extent</a:t>
            </a:r>
          </a:p>
          <a:p>
            <a:r>
              <a:rPr lang="en-US" sz="2200" dirty="0"/>
              <a:t>Both lack different swelling in different radial zone, coupling of redistribution, realistic predictions of FCCI</a:t>
            </a:r>
          </a:p>
          <a:p>
            <a:endParaRPr lang="en-US" sz="2200" dirty="0"/>
          </a:p>
        </p:txBody>
      </p:sp>
      <p:pic>
        <p:nvPicPr>
          <p:cNvPr id="6" name="Content Placeholder 5">
            <a:extLst>
              <a:ext uri="{FF2B5EF4-FFF2-40B4-BE49-F238E27FC236}">
                <a16:creationId xmlns:a16="http://schemas.microsoft.com/office/drawing/2014/main" id="{2359EACA-B41F-0B44-876D-BEB53E8F4AEC}"/>
              </a:ext>
            </a:extLst>
          </p:cNvPr>
          <p:cNvPicPr>
            <a:picLocks noGrp="1" noChangeAspect="1"/>
          </p:cNvPicPr>
          <p:nvPr>
            <p:ph sz="half" idx="2"/>
          </p:nvPr>
        </p:nvPicPr>
        <p:blipFill>
          <a:blip r:embed="rId2"/>
          <a:stretch>
            <a:fillRect/>
          </a:stretch>
        </p:blipFill>
        <p:spPr>
          <a:xfrm>
            <a:off x="6197602" y="1798438"/>
            <a:ext cx="2844800" cy="4923039"/>
          </a:xfrm>
          <a:prstGeom prst="rect">
            <a:avLst/>
          </a:prstGeom>
        </p:spPr>
      </p:pic>
      <p:sp>
        <p:nvSpPr>
          <p:cNvPr id="5" name="Slide Number Placeholder 4">
            <a:extLst>
              <a:ext uri="{FF2B5EF4-FFF2-40B4-BE49-F238E27FC236}">
                <a16:creationId xmlns:a16="http://schemas.microsoft.com/office/drawing/2014/main" id="{63875A79-A3F2-8640-9FDA-967C03F5FD01}"/>
              </a:ext>
            </a:extLst>
          </p:cNvPr>
          <p:cNvSpPr>
            <a:spLocks noGrp="1"/>
          </p:cNvSpPr>
          <p:nvPr>
            <p:ph type="sldNum" sz="quarter" idx="12"/>
          </p:nvPr>
        </p:nvSpPr>
        <p:spPr/>
        <p:txBody>
          <a:bodyPr/>
          <a:lstStyle/>
          <a:p>
            <a:pPr>
              <a:defRPr/>
            </a:pPr>
            <a:fld id="{EC35E9FC-F6D5-0349-BBED-EA7D7A9BC49B}" type="slidenum">
              <a:rPr lang="en-US" smtClean="0"/>
              <a:pPr>
                <a:defRPr/>
              </a:pPr>
              <a:t>57</a:t>
            </a:fld>
            <a:endParaRPr lang="en-US"/>
          </a:p>
        </p:txBody>
      </p:sp>
      <p:pic>
        <p:nvPicPr>
          <p:cNvPr id="7" name="Picture 6">
            <a:extLst>
              <a:ext uri="{FF2B5EF4-FFF2-40B4-BE49-F238E27FC236}">
                <a16:creationId xmlns:a16="http://schemas.microsoft.com/office/drawing/2014/main" id="{8D712EA4-8113-7A44-81A7-7B4CCC4E2B61}"/>
              </a:ext>
            </a:extLst>
          </p:cNvPr>
          <p:cNvPicPr>
            <a:picLocks noChangeAspect="1"/>
          </p:cNvPicPr>
          <p:nvPr/>
        </p:nvPicPr>
        <p:blipFill>
          <a:blip r:embed="rId3"/>
          <a:stretch>
            <a:fillRect/>
          </a:stretch>
        </p:blipFill>
        <p:spPr>
          <a:xfrm>
            <a:off x="8750024" y="1202155"/>
            <a:ext cx="3047153" cy="2523819"/>
          </a:xfrm>
          <a:prstGeom prst="rect">
            <a:avLst/>
          </a:prstGeom>
        </p:spPr>
      </p:pic>
      <p:pic>
        <p:nvPicPr>
          <p:cNvPr id="8" name="Picture 7">
            <a:extLst>
              <a:ext uri="{FF2B5EF4-FFF2-40B4-BE49-F238E27FC236}">
                <a16:creationId xmlns:a16="http://schemas.microsoft.com/office/drawing/2014/main" id="{E4276B0B-2B06-7340-B660-EC468AF1188E}"/>
              </a:ext>
            </a:extLst>
          </p:cNvPr>
          <p:cNvPicPr>
            <a:picLocks noChangeAspect="1"/>
          </p:cNvPicPr>
          <p:nvPr/>
        </p:nvPicPr>
        <p:blipFill>
          <a:blip r:embed="rId4"/>
          <a:stretch>
            <a:fillRect/>
          </a:stretch>
        </p:blipFill>
        <p:spPr>
          <a:xfrm>
            <a:off x="9074029" y="3779253"/>
            <a:ext cx="2171941" cy="2523819"/>
          </a:xfrm>
          <a:prstGeom prst="rect">
            <a:avLst/>
          </a:prstGeom>
        </p:spPr>
      </p:pic>
    </p:spTree>
    <p:extLst>
      <p:ext uri="{BB962C8B-B14F-4D97-AF65-F5344CB8AC3E}">
        <p14:creationId xmlns:p14="http://schemas.microsoft.com/office/powerpoint/2010/main" val="339276188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BFF56A-496A-2047-ADE5-CCF8BA98C8AD}"/>
              </a:ext>
            </a:extLst>
          </p:cNvPr>
          <p:cNvSpPr>
            <a:spLocks noGrp="1"/>
          </p:cNvSpPr>
          <p:nvPr>
            <p:ph type="title"/>
          </p:nvPr>
        </p:nvSpPr>
        <p:spPr/>
        <p:txBody>
          <a:bodyPr/>
          <a:lstStyle/>
          <a:p>
            <a:r>
              <a:rPr lang="en-US" dirty="0"/>
              <a:t>Questions?</a:t>
            </a:r>
          </a:p>
        </p:txBody>
      </p:sp>
      <p:sp>
        <p:nvSpPr>
          <p:cNvPr id="3" name="Slide Number Placeholder 2">
            <a:extLst>
              <a:ext uri="{FF2B5EF4-FFF2-40B4-BE49-F238E27FC236}">
                <a16:creationId xmlns:a16="http://schemas.microsoft.com/office/drawing/2014/main" id="{AB3C08B6-1600-4947-B6F4-BC6C06F3B322}"/>
              </a:ext>
            </a:extLst>
          </p:cNvPr>
          <p:cNvSpPr>
            <a:spLocks noGrp="1"/>
          </p:cNvSpPr>
          <p:nvPr>
            <p:ph type="sldNum" sz="quarter" idx="12"/>
          </p:nvPr>
        </p:nvSpPr>
        <p:spPr/>
        <p:txBody>
          <a:bodyPr/>
          <a:lstStyle/>
          <a:p>
            <a:pPr>
              <a:defRPr/>
            </a:pPr>
            <a:fld id="{0DA6BD0F-ABBC-C14D-BC96-77BE126A748B}" type="slidenum">
              <a:rPr lang="en-US" smtClean="0"/>
              <a:pPr>
                <a:defRPr/>
              </a:pPr>
              <a:t>58</a:t>
            </a:fld>
            <a:endParaRPr lang="en-US"/>
          </a:p>
        </p:txBody>
      </p:sp>
    </p:spTree>
    <p:extLst>
      <p:ext uri="{BB962C8B-B14F-4D97-AF65-F5344CB8AC3E}">
        <p14:creationId xmlns:p14="http://schemas.microsoft.com/office/powerpoint/2010/main" val="2867231162"/>
      </p:ext>
    </p:extLst>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NCStateU-horizontal-left-logo">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35221</TotalTime>
  <Words>3874</Words>
  <Application>Microsoft Macintosh PowerPoint</Application>
  <PresentationFormat>Widescreen</PresentationFormat>
  <Paragraphs>356</Paragraphs>
  <Slides>58</Slides>
  <Notes>3</Notes>
  <HiddenSlides>0</HiddenSlides>
  <MMClips>0</MMClips>
  <ScaleCrop>false</ScaleCrop>
  <HeadingPairs>
    <vt:vector size="6" baseType="variant">
      <vt:variant>
        <vt:lpstr>Fonts Used</vt:lpstr>
      </vt:variant>
      <vt:variant>
        <vt:i4>5</vt:i4>
      </vt:variant>
      <vt:variant>
        <vt:lpstr>Theme</vt:lpstr>
      </vt:variant>
      <vt:variant>
        <vt:i4>2</vt:i4>
      </vt:variant>
      <vt:variant>
        <vt:lpstr>Slide Titles</vt:lpstr>
      </vt:variant>
      <vt:variant>
        <vt:i4>58</vt:i4>
      </vt:variant>
    </vt:vector>
  </HeadingPairs>
  <TitlesOfParts>
    <vt:vector size="65" baseType="lpstr">
      <vt:lpstr>Arial</vt:lpstr>
      <vt:lpstr>Calibri</vt:lpstr>
      <vt:lpstr>Calibri Light</vt:lpstr>
      <vt:lpstr>Helvetica</vt:lpstr>
      <vt:lpstr>Symbol</vt:lpstr>
      <vt:lpstr>Custom Design</vt:lpstr>
      <vt:lpstr>1_NCStateU-horizontal-left-logo</vt:lpstr>
      <vt:lpstr>NE 763: Advanced Reactor Materials</vt:lpstr>
      <vt:lpstr>Exam Results</vt:lpstr>
      <vt:lpstr>Paper Presentation Assignment</vt:lpstr>
      <vt:lpstr>Presentation topic assignments:</vt:lpstr>
      <vt:lpstr>Last Time</vt:lpstr>
      <vt:lpstr>Changes in Thermal Conductivity</vt:lpstr>
      <vt:lpstr>Changes in Thermal Conductivity</vt:lpstr>
      <vt:lpstr>Changes in Thermal Conductivity</vt:lpstr>
      <vt:lpstr>Fuel-Cladding Interaction</vt:lpstr>
      <vt:lpstr>Fuel-Cladding Mechanical Interaction</vt:lpstr>
      <vt:lpstr>Fission-Induced Creep</vt:lpstr>
      <vt:lpstr>Fission Product Swelling</vt:lpstr>
      <vt:lpstr>Fission Product Swelling</vt:lpstr>
      <vt:lpstr>Fission Product Swelling</vt:lpstr>
      <vt:lpstr>Fission Product Swelling</vt:lpstr>
      <vt:lpstr>Fuel-Cladding Chemical Interaction</vt:lpstr>
      <vt:lpstr>Fuel-Cladding Chemical Interaction</vt:lpstr>
      <vt:lpstr>Phase Diagrams for FCCI</vt:lpstr>
      <vt:lpstr>Phase Diagrams for FCCI</vt:lpstr>
      <vt:lpstr>Phase Diagrams for FCCI</vt:lpstr>
      <vt:lpstr>Diffusion Couples</vt:lpstr>
      <vt:lpstr>Protective Rind</vt:lpstr>
      <vt:lpstr>FCCI</vt:lpstr>
      <vt:lpstr>FCCI</vt:lpstr>
      <vt:lpstr>FCCI</vt:lpstr>
      <vt:lpstr>Summary</vt:lpstr>
      <vt:lpstr>FCCI</vt:lpstr>
      <vt:lpstr>FCCI Compositions</vt:lpstr>
      <vt:lpstr>FCCI Examinations</vt:lpstr>
      <vt:lpstr>FCCI Compositions</vt:lpstr>
      <vt:lpstr>FCCI Compositions</vt:lpstr>
      <vt:lpstr>FCCI Compositions</vt:lpstr>
      <vt:lpstr>FCCI </vt:lpstr>
      <vt:lpstr>FCCI </vt:lpstr>
      <vt:lpstr>Melting Experiments</vt:lpstr>
      <vt:lpstr>Metal fuel fabrication</vt:lpstr>
      <vt:lpstr>Metal Fuel Fabrication</vt:lpstr>
      <vt:lpstr>Metal Fuel Fabrication</vt:lpstr>
      <vt:lpstr>Metal Fuel Fabrication</vt:lpstr>
      <vt:lpstr>Closing the Fuel Cycle</vt:lpstr>
      <vt:lpstr>Reprocessing</vt:lpstr>
      <vt:lpstr>IFR Pyroprocess</vt:lpstr>
      <vt:lpstr>IFR Pyroprocess</vt:lpstr>
      <vt:lpstr>IFR Pyroprocess</vt:lpstr>
      <vt:lpstr>Refabrication</vt:lpstr>
      <vt:lpstr>Metallic fuel performance modeling</vt:lpstr>
      <vt:lpstr>Metallic Fuel Phenomena</vt:lpstr>
      <vt:lpstr>Constituent Redistribution Models</vt:lpstr>
      <vt:lpstr>Constituent Redistribution Models</vt:lpstr>
      <vt:lpstr>Constituent Redistribution Models</vt:lpstr>
      <vt:lpstr>Temperature Predictions</vt:lpstr>
      <vt:lpstr>Porosity Predictions</vt:lpstr>
      <vt:lpstr>Porosity Predictions</vt:lpstr>
      <vt:lpstr>Mechanical Properties</vt:lpstr>
      <vt:lpstr>BISON Testing</vt:lpstr>
      <vt:lpstr>Other Codes</vt:lpstr>
      <vt:lpstr>Other Codes</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Fuel Fabrication</dc:title>
  <dc:creator>Ben Beeler</dc:creator>
  <cp:lastModifiedBy>Benjamin Beeler</cp:lastModifiedBy>
  <cp:revision>103</cp:revision>
  <dcterms:created xsi:type="dcterms:W3CDTF">2019-12-09T16:44:02Z</dcterms:created>
  <dcterms:modified xsi:type="dcterms:W3CDTF">2025-09-11T20:20:59Z</dcterms:modified>
</cp:coreProperties>
</file>
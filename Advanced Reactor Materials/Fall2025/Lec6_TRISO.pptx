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84" r:id="rId2"/>
  </p:sldMasterIdLst>
  <p:notesMasterIdLst>
    <p:notesMasterId r:id="rId32"/>
  </p:notesMasterIdLst>
  <p:sldIdLst>
    <p:sldId id="256" r:id="rId3"/>
    <p:sldId id="507" r:id="rId4"/>
    <p:sldId id="538" r:id="rId5"/>
    <p:sldId id="537" r:id="rId6"/>
    <p:sldId id="539" r:id="rId7"/>
    <p:sldId id="541" r:id="rId8"/>
    <p:sldId id="542" r:id="rId9"/>
    <p:sldId id="543" r:id="rId10"/>
    <p:sldId id="508" r:id="rId11"/>
    <p:sldId id="431" r:id="rId12"/>
    <p:sldId id="523" r:id="rId13"/>
    <p:sldId id="521" r:id="rId14"/>
    <p:sldId id="432" r:id="rId15"/>
    <p:sldId id="445" r:id="rId16"/>
    <p:sldId id="522" r:id="rId17"/>
    <p:sldId id="520" r:id="rId18"/>
    <p:sldId id="510" r:id="rId19"/>
    <p:sldId id="509" r:id="rId20"/>
    <p:sldId id="513" r:id="rId21"/>
    <p:sldId id="514" r:id="rId22"/>
    <p:sldId id="515" r:id="rId23"/>
    <p:sldId id="511" r:id="rId24"/>
    <p:sldId id="516" r:id="rId25"/>
    <p:sldId id="512" r:id="rId26"/>
    <p:sldId id="517" r:id="rId27"/>
    <p:sldId id="518" r:id="rId28"/>
    <p:sldId id="526" r:id="rId29"/>
    <p:sldId id="395" r:id="rId30"/>
    <p:sldId id="52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02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2802D-2D03-BE49-97AF-DE25499D6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C79BB-C53F-454F-8922-2B2739189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4EF80-FE65-ED4F-9FE0-B09E92D1E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0305F-1CC5-D743-8B75-9BFF4558415F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F942A-634C-BB40-9910-CBFA4406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42F66-DE68-D245-97C8-9A6FA1D0A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865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5C586-3F5F-8148-BB1F-499EF949B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E2D30-D2E4-C24D-96F5-10BF4E042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C657D-8EE5-CB48-9FCB-F9F368C27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7BDF0-33EE-ED4E-A1A1-446990BE89AC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A4680-2FCD-2C45-88DD-58DC3F094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3DDA8-E64C-534E-9966-09CB65200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647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0776C-1D59-8049-88C7-A9CF31D46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B2CAF-2FC3-CE40-AFEE-BB0B1776B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7856D-91AF-CD4F-BBB9-BB22C9E86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32A8C-C50B-B849-A938-8B60F015CF8A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E3E7E-C490-8847-8BD6-E8FF92724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48B10A-A8F3-4D47-8A42-C63FD91ED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15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6C5A-058F-7443-BE51-F3484A7E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365D3-EC68-114D-9B11-DAB294D6F0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729DA-5D8F-0D4A-9476-2A4B456533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E80497-C1FE-D547-B571-D69E57419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BFC86-2DCE-084F-ADD8-86F8DD5E1B99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521-7F13-C445-8751-4E87C9A27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E37EE6-7CA7-0E41-9D14-89950249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133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1FEF4-0D8E-DE46-AA71-05EE50ED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D346F-A12C-C142-8A93-08AF8CD4F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45F87-A4D7-9343-A334-BB0CFE4C1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5EE44D-0A72-974F-A950-E6793FBEAC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D733BD-E3C6-644A-BFEA-4784978800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82D901-6AD6-4A49-BB2B-6B6114E8D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BB686-0587-F442-BC2B-85E37441C678}" type="datetime1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E8327C-C108-2948-9F3B-C5B7A290D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E731F0-A30E-CD44-8DE4-E48337563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18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B4FD0-E6C0-4B4E-9F81-15DB20837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13ED28-8A5F-F64A-8A93-8A03DD77C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B71C4-A8DD-5E42-9033-4B9437130A45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B56722-EB54-8141-9FFB-B883395C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2943BF-772C-0847-97EA-D301AA577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816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AB0981-B3E8-BA40-99FE-EA2C2AD95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96FEB-57AA-5E42-B42B-29A49C56821B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22584C-B9F3-5C46-B605-B2FB47395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55008-FE08-E24B-9B3C-0A16B2CE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198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7EC03-3651-D14B-AEAB-3A7133F5A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6D8CA-8B8C-944F-8C90-AE9CC8AC0A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4B7D9-B6E8-714F-A4A5-B28D20D3F8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B4357-3269-4248-AEAA-3609D1B55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A8F8B-64C0-644D-B977-5D899210463C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07DF4-EB73-9348-BA24-2E62ACB5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FC95E-AF76-2F40-8E6E-10EEB82B0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787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6BE1-1070-164D-B226-7BEB3337B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FE752A-35DB-4244-957A-47F0C249B8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5A8CC6-3E86-9E4C-B828-E55B4933B0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05BC1C-7B9D-C646-8E67-4C98CDDA9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7087-1FFB-5B45-AE46-3C879ADBCD86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79295E-F278-8441-AA89-1F2F8EB28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BFDEB5-4B8E-1143-AC2B-DDB5F2941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445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A86B8-FDC8-A24B-A420-9A352903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A81A36-D120-B846-BA83-5C4BFEA36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F6F14-E9DD-E146-A94A-4A7CA228F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6C2A9-6253-154B-B733-037751386140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70E94-9F94-1649-8FE1-5341BF85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F5164-23F2-A840-AE31-9813D2137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377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027D83-6F99-5343-9159-1F2E060A4D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F7CEDD-89DF-CC43-9E60-8FC65D4CF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E88CF-EA17-6D4E-A676-D0DD2AEEE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85E70-01A0-F346-BD96-C71A4405ABF1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857EE-AA9E-7744-B121-837829395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5FA26-DD53-CA43-B54B-89E91BCDA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6188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280746"/>
            <a:ext cx="10972800" cy="384541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12B010-5E9E-E240-BC91-7846D2B2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63D9EB-2FC9-1848-BCB3-4904198DC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44448-0A7D-184E-908E-72ADAF04E2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BBF69-BE89-6841-9243-2F9C2E854C58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86183-444C-E749-AEE5-FEA7D7D6E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18D00-42C1-B442-BC2B-ECBBCB647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24F7F-1103-A749-AA35-91DD36B89A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51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tiff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3DC84-0091-574A-9F80-9BA14DB5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9696-DAB3-3B49-B4C8-AEDA11EF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280746"/>
            <a:ext cx="11183007" cy="3845418"/>
          </a:xfrm>
        </p:spPr>
        <p:txBody>
          <a:bodyPr/>
          <a:lstStyle/>
          <a:p>
            <a:r>
              <a:rPr lang="en-US" sz="2200" dirty="0"/>
              <a:t>Graphite radiation damage: point defects and Mrozowski cracks lead to shrinkage</a:t>
            </a:r>
          </a:p>
          <a:p>
            <a:r>
              <a:rPr lang="en-US" sz="2200" dirty="0"/>
              <a:t>Shrinkage and creep are dependent upon stress state</a:t>
            </a:r>
          </a:p>
          <a:p>
            <a:r>
              <a:rPr lang="en-US" sz="2200" dirty="0"/>
              <a:t>Large temperature and stress gradients in graphite structural components</a:t>
            </a:r>
          </a:p>
          <a:p>
            <a:r>
              <a:rPr lang="en-US" sz="2200" dirty="0"/>
              <a:t>Irradiation creep is very important in graphite and relieves large induced stresses</a:t>
            </a:r>
          </a:p>
          <a:p>
            <a:r>
              <a:rPr lang="en-US" sz="2200" dirty="0"/>
              <a:t>Fuel fabrication processes for particles and pebbles/compacts</a:t>
            </a:r>
          </a:p>
          <a:p>
            <a:r>
              <a:rPr lang="en-US" sz="2200" dirty="0"/>
              <a:t>Covered key fuel failure mechanisms</a:t>
            </a:r>
          </a:p>
          <a:p>
            <a:pPr lvl="1"/>
            <a:r>
              <a:rPr lang="en-US" sz="2000" dirty="0"/>
              <a:t>Overpressure; </a:t>
            </a:r>
            <a:r>
              <a:rPr lang="en-US" sz="2000" dirty="0" err="1"/>
              <a:t>IPyC</a:t>
            </a:r>
            <a:r>
              <a:rPr lang="en-US" sz="2000" dirty="0"/>
              <a:t> cracking; </a:t>
            </a:r>
            <a:r>
              <a:rPr lang="en-US" sz="2000" dirty="0" err="1"/>
              <a:t>IPyC</a:t>
            </a:r>
            <a:r>
              <a:rPr lang="en-US" sz="2000" dirty="0"/>
              <a:t> and </a:t>
            </a:r>
            <a:r>
              <a:rPr lang="en-US" sz="2000" dirty="0" err="1"/>
              <a:t>SiC</a:t>
            </a:r>
            <a:r>
              <a:rPr lang="en-US" sz="2000" dirty="0"/>
              <a:t> debonding; Kernel migration; Fission product attack; Creep failure of </a:t>
            </a:r>
            <a:r>
              <a:rPr lang="en-US" sz="2000" dirty="0" err="1"/>
              <a:t>PyC</a:t>
            </a:r>
            <a:r>
              <a:rPr lang="en-US" sz="2000" dirty="0"/>
              <a:t>; </a:t>
            </a:r>
            <a:r>
              <a:rPr lang="en-US" sz="2000" dirty="0" err="1"/>
              <a:t>SiC</a:t>
            </a:r>
            <a:r>
              <a:rPr lang="en-US" sz="2000" dirty="0"/>
              <a:t> decomposition; KCMI</a:t>
            </a:r>
          </a:p>
          <a:p>
            <a:r>
              <a:rPr lang="en-US" sz="2000" dirty="0"/>
              <a:t>TRISO-coated fuel is usually designed such that none of the fuel failure mechanisms are expected to be significant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0608-22D0-4848-AAC2-5EDF7821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103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Material Performance in He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A4ECEC-16B6-6141-B1AF-F3EA008DF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64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0768-B3BB-3497-0C5E-0AE390B4C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Temperatures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DF61A-9542-039A-13FA-BE026D4543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Current designs target 750 C coolant outlet temperatures</a:t>
            </a:r>
          </a:p>
          <a:p>
            <a:r>
              <a:rPr lang="en-US" sz="2200" dirty="0"/>
              <a:t>Process heat requirements may require outlet temperatures up to 950C</a:t>
            </a:r>
          </a:p>
          <a:p>
            <a:r>
              <a:rPr lang="en-US" sz="2200" dirty="0"/>
              <a:t>The most critical metallic component in the VHTR system is the intermediate heat exchanger (IHX)</a:t>
            </a:r>
          </a:p>
          <a:p>
            <a:r>
              <a:rPr lang="en-US" sz="2200" dirty="0"/>
              <a:t>The high temperatures and long duration of operation restrict IHX material selection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A76A75-4A4F-9404-66BC-F56F7E02E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D168A4-EE58-E1C1-F260-B0B426E8F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517" y="2353550"/>
            <a:ext cx="5999905" cy="315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611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51BEE-3769-C666-CA99-3063DF861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and Impurities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C277E-C142-9E98-336F-1F5CA04305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583772" cy="4190437"/>
          </a:xfrm>
        </p:spPr>
        <p:txBody>
          <a:bodyPr/>
          <a:lstStyle/>
          <a:p>
            <a:r>
              <a:rPr lang="en-US" sz="2200" dirty="0"/>
              <a:t>In the reactors under consideration, the gas pressure is typically between 5 and 7 MPa</a:t>
            </a:r>
          </a:p>
          <a:p>
            <a:r>
              <a:rPr lang="en-US" sz="2200" dirty="0"/>
              <a:t>The coolant is circulated at high velocity, sometimes over 100 m/s</a:t>
            </a:r>
          </a:p>
          <a:p>
            <a:r>
              <a:rPr lang="en-US" sz="2200" dirty="0"/>
              <a:t>Operating experience has shown that the primary He coolant tends to contain H2O, H2, N2, CO, CO2, and CH4 at concentrations of a few parts per million</a:t>
            </a:r>
          </a:p>
          <a:p>
            <a:r>
              <a:rPr lang="en-US" sz="2200" dirty="0"/>
              <a:t>These are the primary drivers of corrosion in He-cooled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4DCA6-5DD1-D4E5-3713-F325C340E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3372" y="1935726"/>
            <a:ext cx="5389033" cy="4190437"/>
          </a:xfrm>
        </p:spPr>
        <p:txBody>
          <a:bodyPr/>
          <a:lstStyle/>
          <a:p>
            <a:r>
              <a:rPr lang="en-US" sz="2200" dirty="0"/>
              <a:t>Reactor systems need to have extensive gas cleanup systems associated with the helium coolant flow to keep the total impurity levels in the helium below typically 10 ppm</a:t>
            </a:r>
          </a:p>
          <a:p>
            <a:r>
              <a:rPr lang="en-US" sz="2200" dirty="0"/>
              <a:t>Active control should be maintained on the H2O and CO concentrations to reduce oxidation of the graphite</a:t>
            </a:r>
          </a:p>
          <a:p>
            <a:r>
              <a:rPr lang="en-US" sz="2200" dirty="0"/>
              <a:t>Molecular sieves are effective in capturing most of the gaseous impurities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0A1E51-1FAC-FE5C-9A56-333C5CE0D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751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97DB-225E-4F72-1CF7-4D77D0E3A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IHX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F17F7-5928-51A7-F778-288E51E32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92326"/>
            <a:ext cx="10972800" cy="2690800"/>
          </a:xfrm>
        </p:spPr>
        <p:txBody>
          <a:bodyPr/>
          <a:lstStyle/>
          <a:p>
            <a:r>
              <a:rPr lang="en-US" sz="2200" dirty="0"/>
              <a:t>The desire for higher temperature operation led to selection of nickel-based alloys</a:t>
            </a:r>
          </a:p>
          <a:p>
            <a:r>
              <a:rPr lang="en-US" sz="2200" dirty="0"/>
              <a:t>These alloys rely on the formation of a chromia layer for long-term protection from environmental degradation</a:t>
            </a:r>
          </a:p>
          <a:p>
            <a:r>
              <a:rPr lang="en-US" sz="2200" dirty="0"/>
              <a:t>The alloys are primarily solid-solution strengthened with carbides on the grain boundaries to improve creep resistance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AA34B6-F3BB-BF1E-B80B-F38C433F7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8ECA8D-E27D-33C5-384E-24AE6D744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776" y="4477871"/>
            <a:ext cx="9976447" cy="17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75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9BE0-5E04-B36A-9649-114C470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IHX Corrosion in VHTR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C42B3-90A3-1D1A-1C61-DE27C50310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Interplay between the alloy surface, temperature, and gas composition determines whether corrosive oxidation, carburization, or decarburization occur</a:t>
            </a:r>
          </a:p>
          <a:p>
            <a:r>
              <a:rPr lang="en-US" sz="2400" dirty="0"/>
              <a:t>Carburization is associated with low-temperature embrittlement, and decarburization is linked to reduced creep rupture strength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F0F03-97C4-CC7A-98CA-51F2D8AE371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sz="2400" dirty="0"/>
              <a:t>Ideally, a continuous self-healing, impermeable passivating oxide layer is needed to establish the most corrosion resistant alloy</a:t>
            </a:r>
          </a:p>
          <a:p>
            <a:r>
              <a:rPr lang="en-US" sz="2400" dirty="0"/>
              <a:t>There is a critical temperature above which the oxide layer is unstable and CO evolution will occur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72DC3-15EC-C3D7-91A8-B85B2F5B2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EEBC78-E707-1BD1-22DA-2116127DF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350" y="5332132"/>
            <a:ext cx="37465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65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26944-4171-0AE3-0F95-EB623E95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Alloy 617 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2B45C-6011-0BA6-8B12-20929BCDC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966711"/>
            <a:ext cx="5386917" cy="3951288"/>
          </a:xfrm>
        </p:spPr>
        <p:txBody>
          <a:bodyPr/>
          <a:lstStyle/>
          <a:p>
            <a:r>
              <a:rPr lang="en-US" sz="2200" dirty="0"/>
              <a:t>Alloy 617 is the leading candidate for use in the VHTR heat exchangers because it has the highest creep strength of the solid-solution alloys under consideration for temperatures above 850C</a:t>
            </a:r>
          </a:p>
          <a:p>
            <a:r>
              <a:rPr lang="en-US" sz="2200" dirty="0"/>
              <a:t>Five conditions: I – strong reduction; II – decarburization; III – stable external oxide; IV – mixed surface oxide and carbide; and V – strong internal and external carburization</a:t>
            </a:r>
          </a:p>
          <a:p>
            <a:r>
              <a:rPr lang="en-US" sz="2200" dirty="0"/>
              <a:t>Zone 3 is optimal for stability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2DDA221-C466-4ECD-76C3-06285E3F956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192838" y="2209409"/>
            <a:ext cx="5389562" cy="388221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C4B35-D535-71C7-AE36-5A4A549F7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5B94E0-5E06-6D42-A41D-50D581B40900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299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Fuel Performance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A4ECEC-16B6-6141-B1AF-F3EA008DF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00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780B-4F37-014A-B881-332E6FE53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Fuel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E90B5-3B3E-6D4E-9A88-F35D4AD801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Fuel performance models need to be able to account for numerous inter-related phenomena that affect temperatures, stresses, and failure of the material systems</a:t>
            </a:r>
          </a:p>
          <a:p>
            <a:r>
              <a:rPr lang="en-US" sz="2400" dirty="0"/>
              <a:t>Must be multiphysics, incorporating thermodynamics, chemistry, kinetics, microstructure, mechanics, etc.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932237-2A23-254D-AC64-88F6B1FEDB9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Solid fission product swelling</a:t>
            </a:r>
          </a:p>
          <a:p>
            <a:r>
              <a:rPr lang="en-US" sz="2000" dirty="0"/>
              <a:t>Gaseous fission product swelling</a:t>
            </a:r>
          </a:p>
          <a:p>
            <a:r>
              <a:rPr lang="en-US" sz="2000" dirty="0"/>
              <a:t>Densification</a:t>
            </a:r>
          </a:p>
          <a:p>
            <a:r>
              <a:rPr lang="en-US" sz="2000" dirty="0"/>
              <a:t>Thermal conductivity</a:t>
            </a:r>
          </a:p>
          <a:p>
            <a:r>
              <a:rPr lang="en-US" sz="2000" dirty="0"/>
              <a:t>Fission gas release</a:t>
            </a:r>
          </a:p>
          <a:p>
            <a:r>
              <a:rPr lang="en-US" sz="2000" dirty="0"/>
              <a:t>CO production</a:t>
            </a:r>
          </a:p>
          <a:p>
            <a:r>
              <a:rPr lang="en-US" sz="2000" dirty="0"/>
              <a:t>Oxygen transport</a:t>
            </a:r>
          </a:p>
          <a:p>
            <a:r>
              <a:rPr lang="en-US" sz="2000" dirty="0" err="1"/>
              <a:t>PyC</a:t>
            </a:r>
            <a:r>
              <a:rPr lang="en-US" sz="2000" dirty="0"/>
              <a:t> layer dimensional change</a:t>
            </a:r>
          </a:p>
          <a:p>
            <a:r>
              <a:rPr lang="en-US" sz="2000" dirty="0"/>
              <a:t>Kernel migration</a:t>
            </a:r>
          </a:p>
          <a:p>
            <a:r>
              <a:rPr lang="en-US" sz="2000" dirty="0" err="1"/>
              <a:t>SiC</a:t>
            </a:r>
            <a:r>
              <a:rPr lang="en-US" sz="2000" dirty="0"/>
              <a:t> failure</a:t>
            </a:r>
          </a:p>
          <a:p>
            <a:r>
              <a:rPr lang="en-US" sz="2000" dirty="0"/>
              <a:t>Fission product attack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D5651-C604-B749-AE17-A8D94D40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24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0B719-A91C-8A4B-A08A-DC5E07720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Performance Codes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75D6F6-6132-0B44-9370-097CE1EBF88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9600" y="1716847"/>
            <a:ext cx="7018116" cy="514404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65951D-83E5-154F-8498-7422E658D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25BB7B-DBDA-6D4F-87A3-B02F2A17B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992" y="1775244"/>
            <a:ext cx="2952107" cy="25465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F65EDD-991E-6347-BACF-FC8B93A2D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300" y="4321789"/>
            <a:ext cx="2844800" cy="253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48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11702-9239-3547-8D04-A2E911AC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Failure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811CC-2C44-EB44-8E77-AF78A5AB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55129" cy="4157663"/>
          </a:xfrm>
        </p:spPr>
        <p:txBody>
          <a:bodyPr/>
          <a:lstStyle/>
          <a:p>
            <a:r>
              <a:rPr lang="en-US" sz="2400" dirty="0"/>
              <a:t>The dominant 1D failure mechanism for TRISO fuel particles involves pressure vessel failure, where the </a:t>
            </a:r>
            <a:r>
              <a:rPr lang="en-US" sz="2400" dirty="0" err="1"/>
              <a:t>SiC</a:t>
            </a:r>
            <a:r>
              <a:rPr lang="en-US" sz="2400" dirty="0"/>
              <a:t> layer develops a through-thickness crack resulting from a tensile stress that exceeds the fracture strength of the material</a:t>
            </a:r>
          </a:p>
          <a:p>
            <a:r>
              <a:rPr lang="en-US" sz="2400" dirty="0"/>
              <a:t>Modern approaches to pressure vessel failure explicitly calculate separate stresses and through-layer crack probabilities for the </a:t>
            </a:r>
            <a:r>
              <a:rPr lang="en-US" sz="2400" dirty="0" err="1"/>
              <a:t>SiC</a:t>
            </a:r>
            <a:r>
              <a:rPr lang="en-US" sz="2400" dirty="0"/>
              <a:t> layer and each </a:t>
            </a:r>
            <a:r>
              <a:rPr lang="en-US" sz="2400" dirty="0" err="1"/>
              <a:t>PyC</a:t>
            </a:r>
            <a:r>
              <a:rPr lang="en-US" sz="2400" dirty="0"/>
              <a:t> layer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50C5F5-30E2-C542-BE86-D0E81B6880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73314" y="3017882"/>
            <a:ext cx="4000500" cy="18923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B060A3-A068-EC47-97C2-649D4BE21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476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2A897-E5C3-3B47-A99D-C61297471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Stresses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BCACA-CE4D-A846-9BF1-2E0659021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7598485" cy="4157663"/>
          </a:xfrm>
        </p:spPr>
        <p:txBody>
          <a:bodyPr/>
          <a:lstStyle/>
          <a:p>
            <a:r>
              <a:rPr lang="en-US" sz="2000" dirty="0"/>
              <a:t>The irradiation causes the kernel to swell and the buffer layer to shrink, thereby modifying the internal void volume available to the fission and reaction gases</a:t>
            </a:r>
          </a:p>
          <a:p>
            <a:r>
              <a:rPr lang="en-US" sz="2000" dirty="0"/>
              <a:t>The porosity of the buffer leads to the gas pressure being the only force on the load-bearing layers</a:t>
            </a:r>
          </a:p>
          <a:p>
            <a:r>
              <a:rPr lang="en-US" sz="2000" dirty="0"/>
              <a:t>If the </a:t>
            </a:r>
            <a:r>
              <a:rPr lang="en-US" sz="2000" dirty="0" err="1"/>
              <a:t>IPyC</a:t>
            </a:r>
            <a:r>
              <a:rPr lang="en-US" sz="2000" dirty="0"/>
              <a:t> and </a:t>
            </a:r>
            <a:r>
              <a:rPr lang="en-US" sz="2000" dirty="0" err="1"/>
              <a:t>OPyC</a:t>
            </a:r>
            <a:r>
              <a:rPr lang="en-US" sz="2000" dirty="0"/>
              <a:t> were absent, the gases produced in the fission process would simply stress the </a:t>
            </a:r>
            <a:r>
              <a:rPr lang="en-US" sz="2000" dirty="0" err="1"/>
              <a:t>SiC</a:t>
            </a:r>
            <a:r>
              <a:rPr lang="en-US" sz="2000" dirty="0"/>
              <a:t> layer and, if the pressure were high enough, cause it to fail</a:t>
            </a:r>
          </a:p>
          <a:p>
            <a:r>
              <a:rPr lang="en-US" sz="2000" dirty="0"/>
              <a:t>However, these tangential stresses are reduced by the presence of the two </a:t>
            </a:r>
            <a:r>
              <a:rPr lang="en-US" sz="2000" dirty="0" err="1"/>
              <a:t>PyC</a:t>
            </a:r>
            <a:r>
              <a:rPr lang="en-US" sz="2000" dirty="0"/>
              <a:t> layers because; under unrestrained conditions they would shrink during irradiation</a:t>
            </a:r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3DDFB2-9F22-C143-9533-98CC137911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91142" y="1791346"/>
            <a:ext cx="2350600" cy="464679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203A0-02D3-2544-AC73-C1B898EC4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159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Stresses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4386" cy="4157663"/>
          </a:xfrm>
        </p:spPr>
        <p:txBody>
          <a:bodyPr/>
          <a:lstStyle/>
          <a:p>
            <a:r>
              <a:rPr lang="en-US" sz="2000" dirty="0" err="1"/>
              <a:t>PyC</a:t>
            </a:r>
            <a:r>
              <a:rPr lang="en-US" sz="2000" dirty="0"/>
              <a:t> shrinkage will be largely restrained by the </a:t>
            </a:r>
            <a:r>
              <a:rPr lang="en-US" sz="2000" dirty="0" err="1"/>
              <a:t>SiC</a:t>
            </a:r>
            <a:r>
              <a:rPr lang="en-US" sz="2000" dirty="0"/>
              <a:t> layer, and tangential stresses will be generated in both </a:t>
            </a:r>
            <a:r>
              <a:rPr lang="en-US" sz="2000" dirty="0" err="1"/>
              <a:t>PyC</a:t>
            </a:r>
            <a:r>
              <a:rPr lang="en-US" sz="2000" dirty="0"/>
              <a:t> layers, with radial (inward) acting forces imposed on the two surfaces of the </a:t>
            </a:r>
            <a:r>
              <a:rPr lang="en-US" sz="2000" dirty="0" err="1"/>
              <a:t>SiC</a:t>
            </a:r>
            <a:r>
              <a:rPr lang="en-US" sz="2000" dirty="0"/>
              <a:t> layer</a:t>
            </a:r>
          </a:p>
          <a:p>
            <a:r>
              <a:rPr lang="en-US" sz="2000" dirty="0"/>
              <a:t>In practice, these tangential stresses in the two </a:t>
            </a:r>
            <a:r>
              <a:rPr lang="en-US" sz="2000" dirty="0" err="1"/>
              <a:t>PyC</a:t>
            </a:r>
            <a:r>
              <a:rPr lang="en-US" sz="2000" dirty="0"/>
              <a:t> layers will attain a quasi-equilibrium stress state because their shrinkage is counter-balanced by irradiation creep</a:t>
            </a:r>
          </a:p>
          <a:p>
            <a:r>
              <a:rPr lang="en-US" sz="2000" dirty="0"/>
              <a:t>The </a:t>
            </a:r>
            <a:r>
              <a:rPr lang="en-US" sz="2000" dirty="0" err="1"/>
              <a:t>SiC</a:t>
            </a:r>
            <a:r>
              <a:rPr lang="en-US" sz="2000" dirty="0"/>
              <a:t> elastic modulus is at least an order of magnitude greater than that of </a:t>
            </a:r>
            <a:r>
              <a:rPr lang="en-US" sz="2000" dirty="0" err="1"/>
              <a:t>PyC</a:t>
            </a:r>
            <a:r>
              <a:rPr lang="en-US" sz="2000" dirty="0"/>
              <a:t> and thus, the dimensional changes and creep strains of </a:t>
            </a:r>
            <a:r>
              <a:rPr lang="en-US" sz="2000" dirty="0" err="1"/>
              <a:t>SiC</a:t>
            </a:r>
            <a:r>
              <a:rPr lang="en-US" sz="2000" dirty="0"/>
              <a:t> are comparatively much smaller than for </a:t>
            </a:r>
            <a:r>
              <a:rPr lang="en-US" sz="2000" dirty="0" err="1"/>
              <a:t>PyC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8CE449D-A1DE-D242-A748-A03542D74F8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34574" y="1102471"/>
            <a:ext cx="2902772" cy="25981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C61976-536B-4D48-BE6C-7DA7497985B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3210" y="3700631"/>
            <a:ext cx="2950328" cy="31573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82D7B-9D19-4241-AA4F-39DB89599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63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63EB93-8FA0-A9FE-A3C9-0FAC390E5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191" y="2167905"/>
            <a:ext cx="2259000" cy="4371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610916-646C-414F-90D0-19B6FDCA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9FE5-6844-D649-992C-C937AE14B4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Ideally, would be able to model and describe 3D modes of failure</a:t>
            </a:r>
          </a:p>
          <a:p>
            <a:pPr lvl="1"/>
            <a:r>
              <a:rPr lang="en-US" sz="2400" dirty="0"/>
              <a:t>Shrinkage cracks within the </a:t>
            </a:r>
            <a:r>
              <a:rPr lang="en-US" sz="2400" dirty="0" err="1"/>
              <a:t>IPyC</a:t>
            </a:r>
            <a:r>
              <a:rPr lang="en-US" sz="2400" dirty="0"/>
              <a:t> layer</a:t>
            </a:r>
          </a:p>
          <a:p>
            <a:pPr lvl="1"/>
            <a:r>
              <a:rPr lang="en-US" sz="2400" dirty="0" err="1"/>
              <a:t>IPyC</a:t>
            </a:r>
            <a:r>
              <a:rPr lang="en-US" sz="2400" dirty="0"/>
              <a:t>/</a:t>
            </a:r>
            <a:r>
              <a:rPr lang="en-US" sz="2400" dirty="0" err="1"/>
              <a:t>SiC</a:t>
            </a:r>
            <a:r>
              <a:rPr lang="en-US" sz="2400" dirty="0"/>
              <a:t> debonding</a:t>
            </a:r>
          </a:p>
          <a:p>
            <a:pPr lvl="1"/>
            <a:r>
              <a:rPr lang="en-US" sz="2400" dirty="0"/>
              <a:t>Particle </a:t>
            </a:r>
            <a:r>
              <a:rPr lang="en-US" sz="2400" dirty="0" err="1"/>
              <a:t>asphericity</a:t>
            </a:r>
            <a:endParaRPr lang="en-US" sz="2400" dirty="0"/>
          </a:p>
          <a:p>
            <a:pPr lvl="1"/>
            <a:r>
              <a:rPr lang="en-US" sz="2400" dirty="0"/>
              <a:t>Kernel migration</a:t>
            </a:r>
          </a:p>
          <a:p>
            <a:pPr lvl="1"/>
            <a:r>
              <a:rPr lang="en-US" sz="2400" dirty="0" err="1"/>
              <a:t>SiC</a:t>
            </a:r>
            <a:r>
              <a:rPr lang="en-US" sz="2400" dirty="0"/>
              <a:t> coating thinning</a:t>
            </a:r>
          </a:p>
          <a:p>
            <a:pPr lvl="1"/>
            <a:r>
              <a:rPr lang="en-US" sz="2400" dirty="0"/>
              <a:t>Fission product attack</a:t>
            </a:r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DD4B38D-DCF4-8145-A600-A954E567C7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9256031" y="2007454"/>
            <a:ext cx="1875221" cy="24936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CB2CE3-A0AA-6D41-9060-FA02DDE21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6BD47-B631-9242-BDEC-A019BEEE5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0552" y="4291136"/>
            <a:ext cx="2673187" cy="4588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C7416B-FC44-1D42-94BA-AFF2A062DE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777" y="4837142"/>
            <a:ext cx="4237685" cy="2889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B6E9C0-D8DE-5E49-8893-FF1703632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1597" y="2405821"/>
            <a:ext cx="3836805" cy="18118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2098D0-AD4D-FF4E-8946-D4AB223959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421" y="5224313"/>
            <a:ext cx="3851448" cy="46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91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DCB0-59AC-C146-837C-E3CF7623F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69A94-E052-3847-9CA7-EA64A1E32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1945" y="1968503"/>
            <a:ext cx="6074977" cy="4157663"/>
          </a:xfrm>
        </p:spPr>
        <p:txBody>
          <a:bodyPr/>
          <a:lstStyle/>
          <a:p>
            <a:r>
              <a:rPr lang="en-US" sz="2000" dirty="0"/>
              <a:t>There are a number of areas where we lack requisite data, either behavioral or fundamental properties, in order to accurately describe TRISO particle evolution</a:t>
            </a:r>
          </a:p>
          <a:p>
            <a:r>
              <a:rPr lang="en-US" sz="2000" dirty="0"/>
              <a:t>High-quality high burnup data on TRISO particles is generally lacking, which would enable benchmarking of fuel performance models</a:t>
            </a:r>
          </a:p>
          <a:p>
            <a:r>
              <a:rPr lang="en-US" sz="2000" dirty="0"/>
              <a:t>Uncertainties and unknowns in fundamental material properties are also abundant, especially with regard to how properties vary as functions of temperature, fast fluence, and burnup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2D5413-5D6E-8940-9D59-28F0761BD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26922" y="1968503"/>
            <a:ext cx="5412829" cy="4157663"/>
          </a:xfrm>
        </p:spPr>
        <p:txBody>
          <a:bodyPr/>
          <a:lstStyle/>
          <a:p>
            <a:r>
              <a:rPr lang="en-US" sz="2000" dirty="0"/>
              <a:t>There is significant uncertainty in the irradiation creep constant, the value of Poisson’s ratio in irradiation creep models, and the thermal conductivity of </a:t>
            </a:r>
            <a:r>
              <a:rPr lang="en-US" sz="2000" dirty="0" err="1"/>
              <a:t>PyC</a:t>
            </a:r>
            <a:endParaRPr lang="en-US" sz="2000" dirty="0"/>
          </a:p>
          <a:p>
            <a:r>
              <a:rPr lang="en-US" sz="2000" dirty="0"/>
              <a:t>Predictions for the chemical attack of </a:t>
            </a:r>
            <a:r>
              <a:rPr lang="en-US" sz="2000" dirty="0" err="1"/>
              <a:t>SiC</a:t>
            </a:r>
            <a:r>
              <a:rPr lang="en-US" sz="2000" dirty="0"/>
              <a:t> require effective diffusion coefficients of key fission products in various fuel materials, which are unknown</a:t>
            </a:r>
          </a:p>
          <a:p>
            <a:r>
              <a:rPr lang="en-US" sz="2000" dirty="0"/>
              <a:t>Fuel properties are the least well understood, especially as the fuel evolves during operation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E5F44C-7C57-2442-A95A-C8936B36A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056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concepts in TRISO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992943-4CCC-3543-8C54-A7CCD52C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68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877723" cy="4157663"/>
          </a:xfrm>
        </p:spPr>
        <p:txBody>
          <a:bodyPr/>
          <a:lstStyle/>
          <a:p>
            <a:r>
              <a:rPr lang="en-US" sz="2400" dirty="0"/>
              <a:t>Zirconium carbide (ZrC) is a refractory and chemically stable compound, which melts </a:t>
            </a:r>
            <a:r>
              <a:rPr lang="en-US" sz="2400" dirty="0" err="1"/>
              <a:t>eutectically</a:t>
            </a:r>
            <a:r>
              <a:rPr lang="en-US" sz="2400" dirty="0"/>
              <a:t> with carbon at 3123 K</a:t>
            </a:r>
          </a:p>
          <a:p>
            <a:r>
              <a:rPr lang="en-US" sz="2400" dirty="0"/>
              <a:t>ZrC can potentially improve the high-temperature stability, the resistance to chemical attack by fission products, and the retention of fission products</a:t>
            </a:r>
          </a:p>
          <a:p>
            <a:r>
              <a:rPr lang="en-US" sz="2400" dirty="0"/>
              <a:t>However, ZrC is significantly less oxidation resistant than </a:t>
            </a:r>
            <a:r>
              <a:rPr lang="en-US" sz="2400" dirty="0" err="1"/>
              <a:t>SiC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D6AE4B-F138-E54E-8D47-B01535B590A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l="49632"/>
          <a:stretch/>
        </p:blipFill>
        <p:spPr>
          <a:xfrm>
            <a:off x="7519531" y="2577089"/>
            <a:ext cx="4062869" cy="282324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CC533-9CFF-4E47-9B18-FD5587763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96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8001" cy="4157663"/>
          </a:xfrm>
        </p:spPr>
        <p:txBody>
          <a:bodyPr/>
          <a:lstStyle/>
          <a:p>
            <a:r>
              <a:rPr lang="en-US" sz="2400" dirty="0"/>
              <a:t>Four types of ZrC inclusions have been studied (1) ZrC-TRISO coated particles, (2) ZrC-TRISO type coated particles without </a:t>
            </a:r>
            <a:r>
              <a:rPr lang="en-US" sz="2400" dirty="0" err="1"/>
              <a:t>OPyC</a:t>
            </a:r>
            <a:r>
              <a:rPr lang="en-US" sz="2400" dirty="0"/>
              <a:t> layer, (3) ZrC-coated particles with ZrC-doped </a:t>
            </a:r>
            <a:r>
              <a:rPr lang="en-US" sz="2400" dirty="0" err="1"/>
              <a:t>OPyC</a:t>
            </a:r>
            <a:r>
              <a:rPr lang="en-US" sz="2400" dirty="0"/>
              <a:t> layer, and (4) ZrC coated particles with graded C–ZrC layer(s)</a:t>
            </a:r>
          </a:p>
          <a:p>
            <a:r>
              <a:rPr lang="en-US" sz="2400" dirty="0"/>
              <a:t>All four types have been fabricated and irradiated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690218-C1C6-7C46-9566-467DF3B2E12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Primary focus has been on option 1, however usage of ZrC started from option 2 in the 1970s</a:t>
            </a:r>
          </a:p>
          <a:p>
            <a:r>
              <a:rPr lang="en-US" sz="2400" dirty="0"/>
              <a:t>ZrC-TRISO-coated UO2 particle after irradiation at 1673–1923K to 4.5% FIMA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E35011-00A8-1047-A40A-C6D2BBBC0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711" y="3949550"/>
            <a:ext cx="2806849" cy="280684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19574-F9A9-EE4D-8926-162E283E7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321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61545" cy="4157663"/>
          </a:xfrm>
        </p:spPr>
        <p:txBody>
          <a:bodyPr/>
          <a:lstStyle/>
          <a:p>
            <a:r>
              <a:rPr lang="en-US" sz="2400" dirty="0"/>
              <a:t>The improved performance of the ZrC coating layer against chemical attack by </a:t>
            </a:r>
            <a:r>
              <a:rPr lang="en-US" sz="2400" dirty="0" err="1"/>
              <a:t>Pd</a:t>
            </a:r>
            <a:r>
              <a:rPr lang="en-US" sz="2400" dirty="0"/>
              <a:t> has been demonstrated in both out-of-reactor experiments and irradiation tests</a:t>
            </a:r>
          </a:p>
          <a:p>
            <a:r>
              <a:rPr lang="en-US" sz="2400" dirty="0"/>
              <a:t>ZrPd3 can form in lab conditions, but insufficient </a:t>
            </a:r>
            <a:r>
              <a:rPr lang="en-US" sz="2400" dirty="0" err="1"/>
              <a:t>Pd</a:t>
            </a:r>
            <a:r>
              <a:rPr lang="en-US" sz="2400" dirty="0"/>
              <a:t> exists in fuel particles to cause formation and thus degradation</a:t>
            </a:r>
          </a:p>
          <a:p>
            <a:r>
              <a:rPr lang="en-US" sz="2400" dirty="0"/>
              <a:t>ZrC does not seem to solve the silver problem</a:t>
            </a:r>
          </a:p>
          <a:p>
            <a:r>
              <a:rPr lang="en-US" sz="2400" dirty="0"/>
              <a:t>Ruthenium release might be an issue, which it is not for </a:t>
            </a:r>
            <a:r>
              <a:rPr lang="en-US" sz="2400" dirty="0" err="1"/>
              <a:t>SiC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9723978-41F1-0D4B-8B49-F88263D227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699079" y="1968500"/>
            <a:ext cx="3155386" cy="473762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C7C75-4464-F345-999A-58CC3E74F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05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35BB5-BB39-4D45-885E-277E4016E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D9773-1ABE-5244-8DF6-687740B63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89987" cy="4157663"/>
          </a:xfrm>
        </p:spPr>
        <p:txBody>
          <a:bodyPr/>
          <a:lstStyle/>
          <a:p>
            <a:r>
              <a:rPr lang="en-US" sz="2100" dirty="0"/>
              <a:t>High-temperature behavior of ZrC is superior to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Right is a heating experiment on irradiated TRISO particles</a:t>
            </a:r>
          </a:p>
          <a:p>
            <a:r>
              <a:rPr lang="en-US" sz="2100" dirty="0"/>
              <a:t>No ZrC failures up to 2400C, where an extended hold produced a failure</a:t>
            </a:r>
          </a:p>
          <a:p>
            <a:r>
              <a:rPr lang="en-US" sz="2100" dirty="0"/>
              <a:t>At temperatures above 2000C, </a:t>
            </a:r>
            <a:r>
              <a:rPr lang="en-US" sz="2100" dirty="0" err="1"/>
              <a:t>SiC</a:t>
            </a:r>
            <a:r>
              <a:rPr lang="en-US" sz="2100" dirty="0"/>
              <a:t> will decompose into its constituents</a:t>
            </a:r>
          </a:p>
          <a:p>
            <a:r>
              <a:rPr lang="en-US" sz="2100" dirty="0"/>
              <a:t>Thus, better stability during fabrication, ability to operate at higher temperatures, better stability in off-normal temperature spikes, better fission gas retention at high temperature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E1ECF7-4E20-9D4C-AB1D-3ECD1F94A6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433973" y="1968503"/>
            <a:ext cx="444656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FC78A-1799-B546-B9B5-3055232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9411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665076" cy="4157663"/>
          </a:xfrm>
        </p:spPr>
        <p:txBody>
          <a:bodyPr/>
          <a:lstStyle/>
          <a:p>
            <a:r>
              <a:rPr lang="en-US" sz="2400" dirty="0"/>
              <a:t>To inhibit the buildup of CO gas in UO2 fuel kernels, UC2 is often added to getter oxygen and reduce the oxygen potential</a:t>
            </a:r>
          </a:p>
          <a:p>
            <a:r>
              <a:rPr lang="en-US" sz="2400" dirty="0"/>
              <a:t>Similar results can be achieved by the addition of </a:t>
            </a:r>
            <a:r>
              <a:rPr lang="en-US" sz="2400" dirty="0" err="1"/>
              <a:t>nonfissionable</a:t>
            </a:r>
            <a:r>
              <a:rPr lang="en-US" sz="2400" dirty="0"/>
              <a:t> carbides, such as </a:t>
            </a:r>
            <a:r>
              <a:rPr lang="en-US" sz="2400" dirty="0" err="1"/>
              <a:t>SiC</a:t>
            </a:r>
            <a:r>
              <a:rPr lang="en-US" sz="2400" dirty="0"/>
              <a:t> or ZrC around fuel kernel</a:t>
            </a:r>
          </a:p>
          <a:p>
            <a:r>
              <a:rPr lang="en-US" sz="2400" dirty="0"/>
              <a:t>Added as a layer around UO2 fuel kernels and/or dispersed within the buffer</a:t>
            </a:r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A9F9AC-9BFD-8F40-8144-D245ECA6BC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91300" y="2224881"/>
            <a:ext cx="4597400" cy="36449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336A81-4AFB-B24A-A31B-BE4B39714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BE600C-34C1-1B05-7049-A90FE3510171}"/>
              </a:ext>
            </a:extLst>
          </p:cNvPr>
          <p:cNvSpPr txBox="1"/>
          <p:nvPr/>
        </p:nvSpPr>
        <p:spPr>
          <a:xfrm>
            <a:off x="6947338" y="1897084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As-fabricated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2E13CC-0638-9EA9-A7DB-92FB185C4114}"/>
              </a:ext>
            </a:extLst>
          </p:cNvPr>
          <p:cNvSpPr txBox="1"/>
          <p:nvPr/>
        </p:nvSpPr>
        <p:spPr>
          <a:xfrm>
            <a:off x="9264869" y="1900762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Irradiated</a:t>
            </a:r>
          </a:p>
        </p:txBody>
      </p:sp>
    </p:spTree>
    <p:extLst>
      <p:ext uri="{BB962C8B-B14F-4D97-AF65-F5344CB8AC3E}">
        <p14:creationId xmlns:p14="http://schemas.microsoft.com/office/powerpoint/2010/main" val="38533094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CC066-BDD1-7249-A990-408260FD9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C9421-E1A3-3C4A-8162-3C73D4A4F1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Introduction of ZrC around fuel kernel getters released oxygen</a:t>
            </a:r>
          </a:p>
          <a:p>
            <a:r>
              <a:rPr lang="en-US" sz="2400" dirty="0"/>
              <a:t>This seems to inhibit fuel kernel migration</a:t>
            </a:r>
          </a:p>
          <a:p>
            <a:r>
              <a:rPr lang="en-US" sz="2400" dirty="0"/>
              <a:t>If the layered ZrC is intact, can inhibit fuel swelling as well, potentially reduced stresses on outer layers</a:t>
            </a:r>
          </a:p>
          <a:p>
            <a:r>
              <a:rPr lang="en-US" sz="2400" dirty="0"/>
              <a:t>Have performed limited irradiation experiments with no failures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866AF-09CE-8240-AE16-B18819E19E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If the layered ZrC is intact, no release occurs for Ag and Eu</a:t>
            </a:r>
          </a:p>
          <a:p>
            <a:r>
              <a:rPr lang="en-US" sz="2400" dirty="0"/>
              <a:t>Release occurs for both species under same conditions for nominal TRISO and for ZrC dispersed in buffer</a:t>
            </a:r>
          </a:p>
          <a:p>
            <a:r>
              <a:rPr lang="en-US" sz="2400" dirty="0"/>
              <a:t>An intact ZrC layer seems to be necessary for explaining the outstanding retention of these particles, in addition to the benefits of O gettering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A88D2A-8E5C-FE40-83E8-B5C1CD06F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595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400" dirty="0"/>
              <a:t>Two methods are available to prevent the corrosion of the </a:t>
            </a:r>
            <a:r>
              <a:rPr lang="en-US" sz="2400" dirty="0" err="1"/>
              <a:t>SiC</a:t>
            </a:r>
            <a:r>
              <a:rPr lang="en-US" sz="2400" dirty="0"/>
              <a:t> layer: (1) to keep the fission products within the fuel kernel and (2) to make a barrier to the diffusion of the fission products to the </a:t>
            </a:r>
            <a:r>
              <a:rPr lang="en-US" sz="2400" dirty="0" err="1"/>
              <a:t>SiC</a:t>
            </a:r>
            <a:r>
              <a:rPr lang="en-US" sz="2400" dirty="0"/>
              <a:t> layer</a:t>
            </a:r>
          </a:p>
          <a:p>
            <a:r>
              <a:rPr lang="en-US" sz="2400" dirty="0"/>
              <a:t>Can potentially add a layer that traps palladium by chemical reaction inside the </a:t>
            </a:r>
            <a:r>
              <a:rPr lang="en-US" sz="2400" dirty="0" err="1"/>
              <a:t>SiC</a:t>
            </a:r>
            <a:r>
              <a:rPr lang="en-US" sz="2400" dirty="0"/>
              <a:t> layer of the TRISO coating</a:t>
            </a:r>
          </a:p>
          <a:p>
            <a:r>
              <a:rPr lang="en-US" sz="2400" dirty="0"/>
              <a:t>Can add either an additional </a:t>
            </a:r>
            <a:r>
              <a:rPr lang="en-US" sz="2400" dirty="0" err="1"/>
              <a:t>SiC</a:t>
            </a:r>
            <a:r>
              <a:rPr lang="en-US" sz="2400" dirty="0"/>
              <a:t> layer, or a </a:t>
            </a:r>
            <a:r>
              <a:rPr lang="en-US" sz="2400" dirty="0" err="1"/>
              <a:t>SiC</a:t>
            </a:r>
            <a:r>
              <a:rPr lang="en-US" sz="2400" dirty="0"/>
              <a:t>/</a:t>
            </a:r>
            <a:r>
              <a:rPr lang="en-US" sz="2400" dirty="0" err="1"/>
              <a:t>PyC</a:t>
            </a:r>
            <a:r>
              <a:rPr lang="en-US" sz="2400" dirty="0"/>
              <a:t> composite layer</a:t>
            </a:r>
          </a:p>
          <a:p>
            <a:endParaRPr lang="en-US" sz="2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772794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6DC2B-4EB5-334B-9A39-272B716E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263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200" dirty="0"/>
              <a:t>The type-A coating has an additional layer of </a:t>
            </a:r>
            <a:r>
              <a:rPr lang="en-US" sz="2200" dirty="0" err="1"/>
              <a:t>SiC+PyC</a:t>
            </a:r>
            <a:r>
              <a:rPr lang="en-US" sz="2200" dirty="0"/>
              <a:t> adjacent to the inside of the </a:t>
            </a:r>
            <a:r>
              <a:rPr lang="en-US" sz="2200" dirty="0" err="1"/>
              <a:t>SiC</a:t>
            </a:r>
            <a:r>
              <a:rPr lang="en-US" sz="2200" dirty="0"/>
              <a:t> layer; the thickness of the </a:t>
            </a:r>
            <a:r>
              <a:rPr lang="en-US" sz="2200" dirty="0" err="1"/>
              <a:t>IPyC</a:t>
            </a:r>
            <a:r>
              <a:rPr lang="en-US" sz="2200" dirty="0"/>
              <a:t> layer can be reduced</a:t>
            </a:r>
          </a:p>
          <a:p>
            <a:r>
              <a:rPr lang="en-US" sz="2200" dirty="0"/>
              <a:t>The type-B coating has the dense </a:t>
            </a:r>
            <a:r>
              <a:rPr lang="en-US" sz="2200" dirty="0" err="1"/>
              <a:t>PyC</a:t>
            </a:r>
            <a:r>
              <a:rPr lang="en-US" sz="2200" dirty="0"/>
              <a:t> layer between the </a:t>
            </a:r>
            <a:r>
              <a:rPr lang="en-US" sz="2200" dirty="0" err="1"/>
              <a:t>SiC+PyC</a:t>
            </a:r>
            <a:r>
              <a:rPr lang="en-US" sz="2200" dirty="0"/>
              <a:t> and </a:t>
            </a:r>
            <a:r>
              <a:rPr lang="en-US" sz="2200" dirty="0" err="1"/>
              <a:t>SiC</a:t>
            </a:r>
            <a:r>
              <a:rPr lang="en-US" sz="2200" dirty="0"/>
              <a:t> layers; the intermediate dense </a:t>
            </a:r>
            <a:r>
              <a:rPr lang="en-US" sz="2200" dirty="0" err="1"/>
              <a:t>PyC</a:t>
            </a:r>
            <a:r>
              <a:rPr lang="en-US" sz="2200" dirty="0"/>
              <a:t> layer will interrupt extension of the corrosion zone from the </a:t>
            </a:r>
            <a:r>
              <a:rPr lang="en-US" sz="2200" dirty="0" err="1"/>
              <a:t>SiC+PyC</a:t>
            </a:r>
            <a:r>
              <a:rPr lang="en-US" sz="2200" dirty="0"/>
              <a:t> layer to the </a:t>
            </a:r>
            <a:r>
              <a:rPr lang="en-US" sz="2200" dirty="0" err="1"/>
              <a:t>SiC</a:t>
            </a:r>
            <a:r>
              <a:rPr lang="en-US" sz="2200" dirty="0"/>
              <a:t> layer</a:t>
            </a:r>
          </a:p>
          <a:p>
            <a:r>
              <a:rPr lang="en-US" sz="2200" dirty="0"/>
              <a:t>In the type-C coating, </a:t>
            </a:r>
            <a:r>
              <a:rPr lang="en-US" sz="2200" dirty="0" err="1"/>
              <a:t>SiC</a:t>
            </a:r>
            <a:r>
              <a:rPr lang="en-US" sz="2200" dirty="0"/>
              <a:t> is used for an additional layer; </a:t>
            </a:r>
            <a:r>
              <a:rPr lang="en-US" sz="2200" dirty="0" err="1"/>
              <a:t>SiC</a:t>
            </a:r>
            <a:r>
              <a:rPr lang="en-US" sz="2200" dirty="0"/>
              <a:t> layer will react with fission products and </a:t>
            </a:r>
            <a:r>
              <a:rPr lang="en-US" sz="2200" dirty="0" err="1"/>
              <a:t>PyC</a:t>
            </a:r>
            <a:r>
              <a:rPr lang="en-US" sz="2200" dirty="0"/>
              <a:t> will interrupt corrosion of outer </a:t>
            </a:r>
            <a:r>
              <a:rPr lang="en-US" sz="2200" dirty="0" err="1"/>
              <a:t>SiC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772794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B75321-1D35-EA44-8A28-98D18EB42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2670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788166" cy="4157663"/>
          </a:xfrm>
        </p:spPr>
        <p:txBody>
          <a:bodyPr/>
          <a:lstStyle/>
          <a:p>
            <a:r>
              <a:rPr lang="en-US" sz="2200" dirty="0"/>
              <a:t>Irradiation of these advanced coatings was performed in the JRR-2 reactor</a:t>
            </a:r>
          </a:p>
          <a:p>
            <a:r>
              <a:rPr lang="en-US" sz="2200" dirty="0" err="1"/>
              <a:t>Ceramography</a:t>
            </a:r>
            <a:r>
              <a:rPr lang="en-US" sz="2200" dirty="0"/>
              <a:t> revealed no crack in the advanced coating layers or in the TRISO coating layers</a:t>
            </a:r>
          </a:p>
          <a:p>
            <a:r>
              <a:rPr lang="en-US" sz="2200" dirty="0"/>
              <a:t>All three types trapped Pd at the inner </a:t>
            </a:r>
            <a:r>
              <a:rPr lang="en-US" sz="2200" dirty="0" err="1"/>
              <a:t>SiC</a:t>
            </a:r>
            <a:r>
              <a:rPr lang="en-US" sz="2200" dirty="0"/>
              <a:t>-based barrier, preventing corrosion of the outer </a:t>
            </a:r>
            <a:r>
              <a:rPr lang="en-US" sz="2200" dirty="0" err="1"/>
              <a:t>SiC</a:t>
            </a:r>
            <a:endParaRPr lang="en-US" sz="2200" dirty="0"/>
          </a:p>
          <a:p>
            <a:r>
              <a:rPr lang="en-US" sz="2200" dirty="0"/>
              <a:t>At high heating, a </a:t>
            </a:r>
            <a:r>
              <a:rPr lang="en-US" sz="2200" dirty="0" err="1"/>
              <a:t>PyC</a:t>
            </a:r>
            <a:r>
              <a:rPr lang="en-US" sz="2200" dirty="0"/>
              <a:t> layer between the outer </a:t>
            </a:r>
            <a:r>
              <a:rPr lang="en-US" sz="2200" dirty="0" err="1"/>
              <a:t>SiC</a:t>
            </a:r>
            <a:r>
              <a:rPr lang="en-US" sz="2200" dirty="0"/>
              <a:t> and the inner </a:t>
            </a:r>
            <a:r>
              <a:rPr lang="en-US" sz="2200" dirty="0" err="1"/>
              <a:t>SiC</a:t>
            </a:r>
            <a:r>
              <a:rPr lang="en-US" sz="2200" dirty="0"/>
              <a:t>-based layer proved more effective at fission product retention</a:t>
            </a:r>
          </a:p>
          <a:p>
            <a:r>
              <a:rPr lang="en-US" sz="2200" dirty="0"/>
              <a:t>Also, the </a:t>
            </a:r>
            <a:r>
              <a:rPr lang="en-US" sz="2200" dirty="0" err="1"/>
              <a:t>SiC</a:t>
            </a:r>
            <a:r>
              <a:rPr lang="en-US" sz="2200" dirty="0"/>
              <a:t>/</a:t>
            </a:r>
            <a:r>
              <a:rPr lang="en-US" sz="2200" dirty="0" err="1"/>
              <a:t>PyC</a:t>
            </a:r>
            <a:r>
              <a:rPr lang="en-US" sz="2200" dirty="0"/>
              <a:t> layer proved more effective than pure </a:t>
            </a:r>
            <a:r>
              <a:rPr lang="en-US" sz="2200" dirty="0" err="1"/>
              <a:t>SiC</a:t>
            </a:r>
            <a:endParaRPr lang="en-US" sz="2200" dirty="0"/>
          </a:p>
          <a:p>
            <a:r>
              <a:rPr lang="en-US" sz="2200" dirty="0"/>
              <a:t>No new technology needed to fabricate these particles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08686E8-5240-5942-B580-B3496C626E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891060" y="1434306"/>
            <a:ext cx="2584485" cy="506627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7403760-6632-CC44-B283-9C7B5DD8A215}"/>
              </a:ext>
            </a:extLst>
          </p:cNvPr>
          <p:cNvSpPr txBox="1"/>
          <p:nvPr/>
        </p:nvSpPr>
        <p:spPr>
          <a:xfrm>
            <a:off x="9396248" y="6430861"/>
            <a:ext cx="1776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Type B Coating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B576288-7100-D745-B4C9-DFCD299DC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0000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D686E-04BD-5440-87A8-E66158E7D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B9BF7-9CEF-9C43-836D-CE9BF12900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800" cy="4157663"/>
          </a:xfrm>
        </p:spPr>
        <p:txBody>
          <a:bodyPr/>
          <a:lstStyle/>
          <a:p>
            <a:r>
              <a:rPr lang="en-US" sz="2200" dirty="0"/>
              <a:t>He environment corrosion</a:t>
            </a:r>
          </a:p>
          <a:p>
            <a:pPr lvl="1"/>
            <a:r>
              <a:rPr lang="en-US" sz="2200" dirty="0"/>
              <a:t>impurity driven; primary concern is IHX</a:t>
            </a:r>
          </a:p>
          <a:p>
            <a:pPr lvl="1"/>
            <a:r>
              <a:rPr lang="en-US" sz="2200" dirty="0"/>
              <a:t>can control with cleanup systems, tailoring pO2 and carbon activity</a:t>
            </a:r>
          </a:p>
          <a:p>
            <a:r>
              <a:rPr lang="en-US" sz="2200" dirty="0"/>
              <a:t>TRISO Fuel performance</a:t>
            </a:r>
          </a:p>
          <a:p>
            <a:pPr lvl="1"/>
            <a:r>
              <a:rPr lang="en-US" sz="2200" dirty="0"/>
              <a:t>there are a number of fuel performance codes</a:t>
            </a:r>
          </a:p>
          <a:p>
            <a:pPr lvl="1"/>
            <a:r>
              <a:rPr lang="en-US" sz="2200" dirty="0"/>
              <a:t>data needs, and the evolutionary complexity of particles hold back more sophisticated modelling</a:t>
            </a:r>
          </a:p>
          <a:p>
            <a:r>
              <a:rPr lang="en-US" sz="2200" dirty="0"/>
              <a:t>Advanced concepts in TRISO particles</a:t>
            </a:r>
          </a:p>
          <a:p>
            <a:pPr lvl="1"/>
            <a:r>
              <a:rPr lang="en-US" sz="2200" dirty="0"/>
              <a:t>ZrC instead of </a:t>
            </a:r>
            <a:r>
              <a:rPr lang="en-US" sz="2200" dirty="0" err="1"/>
              <a:t>SiC</a:t>
            </a:r>
            <a:endParaRPr lang="en-US" sz="2200" dirty="0"/>
          </a:p>
          <a:p>
            <a:pPr lvl="1"/>
            <a:r>
              <a:rPr lang="en-US" sz="2200" dirty="0"/>
              <a:t>ZrC/</a:t>
            </a:r>
            <a:r>
              <a:rPr lang="en-US" sz="2200" dirty="0" err="1"/>
              <a:t>SiC</a:t>
            </a:r>
            <a:r>
              <a:rPr lang="en-US" sz="2200" dirty="0"/>
              <a:t> as a layer around kernel</a:t>
            </a:r>
          </a:p>
          <a:p>
            <a:pPr lvl="1"/>
            <a:r>
              <a:rPr lang="en-US" sz="2200" dirty="0"/>
              <a:t>alternate layering of </a:t>
            </a:r>
            <a:r>
              <a:rPr lang="en-US" sz="2200" dirty="0" err="1"/>
              <a:t>SiC</a:t>
            </a:r>
            <a:r>
              <a:rPr lang="en-US" sz="2200" dirty="0"/>
              <a:t>/</a:t>
            </a:r>
            <a:r>
              <a:rPr lang="en-US" sz="2200" dirty="0" err="1"/>
              <a:t>PyC</a:t>
            </a:r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2688A-5D6C-0F43-A75A-3B4ED0E2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2919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FF56A-496A-2047-ADE5-CCF8BA98C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034AB7-E67D-9247-9D8B-2ACF7BA34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231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9831C-2508-9D4A-A7D5-7B962726E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Upcoming!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53258-661B-B74F-816D-CEC5B6E52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cover TRISO particle-based fuels</a:t>
            </a:r>
          </a:p>
          <a:p>
            <a:r>
              <a:rPr lang="en-US" dirty="0"/>
              <a:t>Quiz will be on Sept 12</a:t>
            </a:r>
          </a:p>
          <a:p>
            <a:r>
              <a:rPr lang="en-US" dirty="0"/>
              <a:t>Open ended questions covering the concepts presented in class</a:t>
            </a:r>
          </a:p>
          <a:p>
            <a:r>
              <a:rPr lang="en-US" dirty="0"/>
              <a:t>Closed book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4FF8B-7B28-5141-AB2A-3DF172787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30802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87333</TotalTime>
  <Words>1871</Words>
  <Application>Microsoft Macintosh PowerPoint</Application>
  <PresentationFormat>Widescreen</PresentationFormat>
  <Paragraphs>183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Custom Design</vt:lpstr>
      <vt:lpstr>1_NCStateU-horizontal-left-logo</vt:lpstr>
      <vt:lpstr>NE 763: Advanced Reactor Materials</vt:lpstr>
      <vt:lpstr>Last Time</vt:lpstr>
      <vt:lpstr>Material Performance in He</vt:lpstr>
      <vt:lpstr>High Temperatures</vt:lpstr>
      <vt:lpstr>Flow and Impurities</vt:lpstr>
      <vt:lpstr>IHX Materials</vt:lpstr>
      <vt:lpstr>IHX Corrosion in VHTR</vt:lpstr>
      <vt:lpstr>Alloy 617 Stability</vt:lpstr>
      <vt:lpstr>TRISO Fuel Performance</vt:lpstr>
      <vt:lpstr>TRISO Fuel Performance</vt:lpstr>
      <vt:lpstr>Fuel Performance Codes</vt:lpstr>
      <vt:lpstr>SiC Failure</vt:lpstr>
      <vt:lpstr>TRISO Stresses</vt:lpstr>
      <vt:lpstr>TRISO Stresses</vt:lpstr>
      <vt:lpstr>Material Evolution</vt:lpstr>
      <vt:lpstr>Data needs</vt:lpstr>
      <vt:lpstr>Advanced concepts in TRISO</vt:lpstr>
      <vt:lpstr>ZrC replacing SiC </vt:lpstr>
      <vt:lpstr>ZrC replacing SiC </vt:lpstr>
      <vt:lpstr>ZrC replacing SiC </vt:lpstr>
      <vt:lpstr>ZrC replacing SiC </vt:lpstr>
      <vt:lpstr>Non-fissile Carbides in Fuel</vt:lpstr>
      <vt:lpstr>Non-fissile Carbides in Fuel</vt:lpstr>
      <vt:lpstr>Alternate Layering</vt:lpstr>
      <vt:lpstr>Alternate Layering</vt:lpstr>
      <vt:lpstr>Alternate Layering</vt:lpstr>
      <vt:lpstr>Summary</vt:lpstr>
      <vt:lpstr>Questions?</vt:lpstr>
      <vt:lpstr>Quiz Upcoming!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184</cp:revision>
  <dcterms:created xsi:type="dcterms:W3CDTF">2019-12-09T16:44:02Z</dcterms:created>
  <dcterms:modified xsi:type="dcterms:W3CDTF">2025-08-21T19:09:18Z</dcterms:modified>
</cp:coreProperties>
</file>
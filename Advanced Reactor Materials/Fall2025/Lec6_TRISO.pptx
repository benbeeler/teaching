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40"/>
  </p:notesMasterIdLst>
  <p:sldIdLst>
    <p:sldId id="256" r:id="rId2"/>
    <p:sldId id="507" r:id="rId3"/>
    <p:sldId id="464" r:id="rId4"/>
    <p:sldId id="472" r:id="rId5"/>
    <p:sldId id="473" r:id="rId6"/>
    <p:sldId id="471" r:id="rId7"/>
    <p:sldId id="418" r:id="rId8"/>
    <p:sldId id="474" r:id="rId9"/>
    <p:sldId id="476" r:id="rId10"/>
    <p:sldId id="544" r:id="rId11"/>
    <p:sldId id="508" r:id="rId12"/>
    <p:sldId id="431" r:id="rId13"/>
    <p:sldId id="523" r:id="rId14"/>
    <p:sldId id="521" r:id="rId15"/>
    <p:sldId id="432" r:id="rId16"/>
    <p:sldId id="445" r:id="rId17"/>
    <p:sldId id="522" r:id="rId18"/>
    <p:sldId id="520" r:id="rId19"/>
    <p:sldId id="510" r:id="rId20"/>
    <p:sldId id="509" r:id="rId21"/>
    <p:sldId id="513" r:id="rId22"/>
    <p:sldId id="444" r:id="rId23"/>
    <p:sldId id="514" r:id="rId24"/>
    <p:sldId id="515" r:id="rId25"/>
    <p:sldId id="511" r:id="rId26"/>
    <p:sldId id="516" r:id="rId27"/>
    <p:sldId id="512" r:id="rId28"/>
    <p:sldId id="517" r:id="rId29"/>
    <p:sldId id="518" r:id="rId30"/>
    <p:sldId id="526" r:id="rId31"/>
    <p:sldId id="395" r:id="rId32"/>
    <p:sldId id="525" r:id="rId33"/>
    <p:sldId id="538" r:id="rId34"/>
    <p:sldId id="537" r:id="rId35"/>
    <p:sldId id="539" r:id="rId36"/>
    <p:sldId id="541" r:id="rId37"/>
    <p:sldId id="542" r:id="rId38"/>
    <p:sldId id="543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502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4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2B0241-1142-C84C-9EE2-42E44ABD8DAA}" type="datetimeFigureOut">
              <a:rPr lang="en-US" smtClean="0"/>
              <a:t>8/28/25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137FF6-46D6-B849-A6CD-85860317B6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13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EF8CCA7-042D-4344-9F38-A30A24316FF0}" type="datetime1">
              <a:rPr lang="en-US" smtClean="0"/>
              <a:t>8/28/25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E82176-A547-F94B-AC51-D6E9C882CB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085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2280746"/>
            <a:ext cx="10972800" cy="3845418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1600"/>
            </a:lvl3pPr>
            <a:lvl4pPr>
              <a:defRPr sz="18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5CAF1B-B7C8-8347-AE4A-EC343217B68C}" type="datetime1">
              <a:rPr lang="en-US" smtClean="0"/>
              <a:t>8/28/25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C605-4958-CF43-AA48-80339EFDB0A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198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138075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4FF136D-307A-4941-889F-E9EB8268902E}" type="datetime1">
              <a:rPr lang="en-US" smtClean="0"/>
              <a:t>8/28/25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A6BD0F-ABBC-C14D-BC96-77BE126A748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894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384800" cy="4157663"/>
          </a:xfrm>
        </p:spPr>
        <p:txBody>
          <a:bodyPr/>
          <a:lstStyle>
            <a:lvl1pPr>
              <a:defRPr sz="32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968503"/>
            <a:ext cx="5384800" cy="41576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1F76C3-E96E-A54F-A122-6303A871D871}" type="datetime1">
              <a:rPr lang="en-US" smtClean="0"/>
              <a:t>8/28/25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35E9FC-F6D5-0349-BBED-EA7D7A9BC49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657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4" y="867339"/>
            <a:ext cx="10972800" cy="106838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4040392-1101-8A42-BEB5-9592F30E3A91}" type="datetime1">
              <a:rPr lang="en-US" smtClean="0"/>
              <a:t>8/28/25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1839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5C72F20-AC2E-6D46-8A6B-0183BC6D49D1}" type="datetime1">
              <a:rPr lang="en-US" smtClean="0"/>
              <a:t>8/28/25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AB7D4D-4E81-5B40-91F6-CF14C25F862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825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6FEA4AC-8DBD-3E4B-B61C-36A721F07D61}" type="datetime1">
              <a:rPr lang="en-US" smtClean="0"/>
              <a:t>8/28/25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5B2FA7-4FDB-5643-811E-7991DEE50B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831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5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5" y="1435103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1BFB7E-23D3-E748-98B9-B9A8C558BBAC}" type="datetime1">
              <a:rPr lang="en-US" smtClean="0"/>
              <a:t>8/28/25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DD8B14-AE1E-054C-8668-93D0F0400A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280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1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9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90E0F4-A999-A54E-B545-67F2F70C10FB}" type="datetime1">
              <a:rPr lang="en-US" smtClean="0"/>
              <a:t>8/28/25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EF0004-A563-C64B-9FAD-6198662E1BD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5682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1013E56-4916-404E-AAB2-B4BA03F90FC2}" type="datetime1">
              <a:rPr lang="en-US" smtClean="0"/>
              <a:t>8/28/25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9610A8-B29A-B34A-A0B5-3DF26A2EB85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4201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0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0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713883-51E5-FD4C-BFE2-284CCAA85938}" type="datetime1">
              <a:rPr lang="en-US" smtClean="0"/>
              <a:t>8/28/25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2D0221-73D0-6245-9CCD-73A1D8FCB5E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2822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900113"/>
            <a:ext cx="10972800" cy="1068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Headline Line One</a:t>
            </a:r>
            <a:br>
              <a:rPr lang="en-US" dirty="0"/>
            </a:br>
            <a:r>
              <a:rPr lang="en-US" dirty="0"/>
              <a:t>Headline Line Two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3022600"/>
            <a:ext cx="10972800" cy="310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50A6D047-5534-0641-AA46-5C16F49FBEAF}" type="datetime1">
              <a:rPr lang="en-US" smtClean="0"/>
              <a:t>8/28/25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2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6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EF7D53D-272A-624E-BE3D-99D13E2B4193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0"/>
            <a:ext cx="12202925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032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ctr" defTabSz="609585" rtl="0" eaLnBrk="1" fontAlgn="base" hangingPunct="1">
        <a:spcBef>
          <a:spcPct val="0"/>
        </a:spcBef>
        <a:spcAft>
          <a:spcPct val="0"/>
        </a:spcAft>
        <a:defRPr sz="4267" b="1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2pPr>
      <a:lvl3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3pPr>
      <a:lvl4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4pPr>
      <a:lvl5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5pPr>
      <a:lvl6pPr marL="609585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6pPr>
      <a:lvl7pPr marL="1219170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7pPr>
      <a:lvl8pPr marL="1828754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8pPr>
      <a:lvl9pPr marL="2438339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9pPr>
    </p:titleStyle>
    <p:bodyStyle>
      <a:lvl1pPr marL="457189" indent="-457189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marL="990575" indent="-380990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3200" kern="1200">
          <a:solidFill>
            <a:schemeClr val="tx1"/>
          </a:solidFill>
          <a:latin typeface="Arial"/>
          <a:ea typeface="ＭＳ Ｐゴシック" charset="0"/>
          <a:cs typeface="Arial"/>
        </a:defRPr>
      </a:lvl2pPr>
      <a:lvl3pPr marL="1523962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Arial"/>
          <a:ea typeface="ＭＳ Ｐゴシック" charset="0"/>
          <a:cs typeface="Arial"/>
        </a:defRPr>
      </a:lvl3pPr>
      <a:lvl4pPr marL="2133547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867" kern="1200">
          <a:solidFill>
            <a:schemeClr val="tx1"/>
          </a:solidFill>
          <a:latin typeface="Arial"/>
          <a:ea typeface="ＭＳ Ｐゴシック" charset="0"/>
          <a:cs typeface="Arial"/>
        </a:defRPr>
      </a:lvl4pPr>
      <a:lvl5pPr marL="2743131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333" kern="1200">
          <a:solidFill>
            <a:schemeClr val="tx1"/>
          </a:solidFill>
          <a:latin typeface="Arial"/>
          <a:ea typeface="ＭＳ Ｐゴシック" charset="0"/>
          <a:cs typeface="Arial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tiff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tiff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tiff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tiff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98C24-8575-8644-833E-593D27AC50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dirty="0"/>
              <a:t>NE 763: Advanced Reactor Materials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187F49-5DA5-4E46-B793-DAB018625C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  <a:p>
            <a:r>
              <a:rPr lang="en-US" dirty="0"/>
              <a:t>Dr. Benjamin Beeler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E015E-2E6F-6B40-94AC-A2FDB6C7B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1E82176-A547-F94B-AC51-D6E9C882CB88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064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3DC84-0091-574A-9F80-9BA14DB58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249696-DAB3-3B49-B4C8-AEDA11EFD9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2280746"/>
            <a:ext cx="11183007" cy="3845418"/>
          </a:xfrm>
        </p:spPr>
        <p:txBody>
          <a:bodyPr/>
          <a:lstStyle/>
          <a:p>
            <a:r>
              <a:rPr lang="en-US" sz="2200" dirty="0"/>
              <a:t>Graphite radiation damage: point defects and Mrozowski cracks lead to shrinkage</a:t>
            </a:r>
          </a:p>
          <a:p>
            <a:r>
              <a:rPr lang="en-US" sz="2200" dirty="0"/>
              <a:t>Shrinkage and creep are dependent upon stress state</a:t>
            </a:r>
          </a:p>
          <a:p>
            <a:r>
              <a:rPr lang="en-US" sz="2200" dirty="0"/>
              <a:t>Large temperature and stress gradients in graphite structural components</a:t>
            </a:r>
          </a:p>
          <a:p>
            <a:r>
              <a:rPr lang="en-US" sz="2200" dirty="0"/>
              <a:t>Irradiation creep is very important in graphite and relieves large induced stresses</a:t>
            </a:r>
          </a:p>
          <a:p>
            <a:r>
              <a:rPr lang="en-US" sz="2200" dirty="0"/>
              <a:t>Fuel fabrication processes for particles and pebbles/compacts</a:t>
            </a:r>
          </a:p>
          <a:p>
            <a:r>
              <a:rPr lang="en-US" sz="2200" dirty="0"/>
              <a:t>Covered key fuel failure mechanisms</a:t>
            </a:r>
          </a:p>
          <a:p>
            <a:pPr lvl="1"/>
            <a:r>
              <a:rPr lang="en-US" sz="2000" dirty="0"/>
              <a:t>Overpressure; </a:t>
            </a:r>
            <a:r>
              <a:rPr lang="en-US" sz="2000" dirty="0" err="1"/>
              <a:t>IPyC</a:t>
            </a:r>
            <a:r>
              <a:rPr lang="en-US" sz="2000" dirty="0"/>
              <a:t> cracking; </a:t>
            </a:r>
            <a:r>
              <a:rPr lang="en-US" sz="2000" dirty="0" err="1"/>
              <a:t>IPyC</a:t>
            </a:r>
            <a:r>
              <a:rPr lang="en-US" sz="2000" dirty="0"/>
              <a:t> and </a:t>
            </a:r>
            <a:r>
              <a:rPr lang="en-US" sz="2000" dirty="0" err="1"/>
              <a:t>SiC</a:t>
            </a:r>
            <a:r>
              <a:rPr lang="en-US" sz="2000" dirty="0"/>
              <a:t> debonding; Kernel migration; Fission product attack; Creep failure of </a:t>
            </a:r>
            <a:r>
              <a:rPr lang="en-US" sz="2000" dirty="0" err="1"/>
              <a:t>PyC</a:t>
            </a:r>
            <a:r>
              <a:rPr lang="en-US" sz="2000" dirty="0"/>
              <a:t>; </a:t>
            </a:r>
            <a:r>
              <a:rPr lang="en-US" sz="2000" dirty="0" err="1"/>
              <a:t>SiC</a:t>
            </a:r>
            <a:r>
              <a:rPr lang="en-US" sz="2000" dirty="0"/>
              <a:t> decomposition; KCMI</a:t>
            </a:r>
          </a:p>
          <a:p>
            <a:r>
              <a:rPr lang="en-US" sz="2000" dirty="0"/>
              <a:t>TRISO-coated fuel is usually designed such that none of the fuel failure mechanisms are expected to be significant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3D0608-22D0-4848-AAC2-5EDF78214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1038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947CF-EAEA-5F40-93E5-30922295C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Fabrication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2DAA01-5B2D-5545-A184-0A99F36A4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A6BD0F-ABBC-C14D-BC96-77BE126A748B}" type="slidenum">
              <a:rPr kumimoji="0" 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57629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DC18E-21BC-424E-A832-578210A88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Fuel Kernel Fabrication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048BD-3114-A840-9F80-2E776DC158D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The sol–gel technique for kernel microsphere preparation is based on the following two chemical reactions starting from U3O8 powder</a:t>
            </a:r>
          </a:p>
          <a:p>
            <a:endParaRPr lang="en-US" sz="2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237FFF-9AF3-C348-961F-60C68AC49FE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400" dirty="0"/>
              <a:t>The (NH4)2U2O7 (ammonium di-</a:t>
            </a:r>
            <a:r>
              <a:rPr lang="en-US" sz="2400" dirty="0" err="1"/>
              <a:t>uranate</a:t>
            </a:r>
            <a:r>
              <a:rPr lang="en-US" sz="2400" dirty="0"/>
              <a:t> – ADU) is converted to UO2 by sintering in hydrogen gas</a:t>
            </a:r>
          </a:p>
          <a:p>
            <a:r>
              <a:rPr lang="en-US" sz="2400" dirty="0"/>
              <a:t>For the production of UCO kernels, carbon black is added to the broth and the sintering is performed in CO gas to ensure adequate C/O stoichiometry</a:t>
            </a:r>
          </a:p>
          <a:p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D9D937-1F47-1840-B3B3-87CEC0F96718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1494" y="4047334"/>
            <a:ext cx="4481012" cy="1641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375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5BB59-82B3-CD4F-8B17-4D6E6CBC7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Fuel Kernel Fabrication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F2271-FB6C-1A41-8552-BBD956A8F4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7275755" cy="4157663"/>
          </a:xfrm>
        </p:spPr>
        <p:txBody>
          <a:bodyPr/>
          <a:lstStyle/>
          <a:p>
            <a:r>
              <a:rPr lang="en-US" sz="2400" dirty="0"/>
              <a:t>The mechanical strength of the coated layers depends on their thickness and sphericity, and thus strongly depend on the diameter and sphericity of the kernels</a:t>
            </a:r>
          </a:p>
          <a:p>
            <a:r>
              <a:rPr lang="en-US" sz="2400" dirty="0"/>
              <a:t>Vibrating nozzles from which droplets are emitted with high speed were developed for uniform and spherical  kernel fabrication</a:t>
            </a:r>
          </a:p>
          <a:p>
            <a:r>
              <a:rPr lang="en-US" sz="2400" dirty="0"/>
              <a:t>A process is applied to prevent the deformation of droplets while they are landing on the ammonia water, where droplets are solidified while falling in ammonia gas blown against them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39A2651-D3FB-4649-BBDB-04B5C455ABF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22098" y="1968503"/>
            <a:ext cx="3360302" cy="415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1509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DCE1C-A406-4245-BF8B-390439F71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SiC</a:t>
            </a:r>
            <a:r>
              <a:rPr lang="en-US" dirty="0"/>
              <a:t> (and </a:t>
            </a:r>
            <a:r>
              <a:rPr lang="en-US" dirty="0" err="1"/>
              <a:t>PyC</a:t>
            </a:r>
            <a:r>
              <a:rPr lang="en-US" dirty="0"/>
              <a:t>) Fabrication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9A5BE6-EFC3-FA4A-98A4-32E3501863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7329544" cy="4157663"/>
          </a:xfrm>
        </p:spPr>
        <p:txBody>
          <a:bodyPr/>
          <a:lstStyle/>
          <a:p>
            <a:r>
              <a:rPr lang="en-US" sz="2400" dirty="0"/>
              <a:t>The coating technology of both the </a:t>
            </a:r>
            <a:r>
              <a:rPr lang="en-US" sz="2400" dirty="0" err="1"/>
              <a:t>SiC</a:t>
            </a:r>
            <a:r>
              <a:rPr lang="en-US" sz="2400" dirty="0"/>
              <a:t> and </a:t>
            </a:r>
            <a:r>
              <a:rPr lang="en-US" sz="2400" dirty="0" err="1"/>
              <a:t>PyC</a:t>
            </a:r>
            <a:r>
              <a:rPr lang="en-US" sz="2400" dirty="0"/>
              <a:t> layers involves a fluidization of the kernel microsphere bed and chemical vapor deposition (CVD) coating</a:t>
            </a:r>
          </a:p>
          <a:p>
            <a:r>
              <a:rPr lang="en-US" sz="2400" dirty="0"/>
              <a:t>TRISO coating process is divided into four coating processes for the buffer, </a:t>
            </a:r>
            <a:r>
              <a:rPr lang="en-US" sz="2400" dirty="0" err="1"/>
              <a:t>IPyC</a:t>
            </a:r>
            <a:r>
              <a:rPr lang="en-US" sz="2400" dirty="0"/>
              <a:t>, </a:t>
            </a:r>
            <a:r>
              <a:rPr lang="en-US" sz="2400" dirty="0" err="1"/>
              <a:t>SiC</a:t>
            </a:r>
            <a:r>
              <a:rPr lang="en-US" sz="2400" dirty="0"/>
              <a:t>, and final </a:t>
            </a:r>
            <a:r>
              <a:rPr lang="en-US" sz="2400" dirty="0" err="1"/>
              <a:t>OPyC</a:t>
            </a:r>
            <a:r>
              <a:rPr lang="en-US" sz="2400" dirty="0"/>
              <a:t> layers</a:t>
            </a:r>
          </a:p>
          <a:p>
            <a:r>
              <a:rPr lang="en-US" sz="2400" dirty="0"/>
              <a:t>A specific mixture of gases is used for the deposition of each layer</a:t>
            </a:r>
          </a:p>
          <a:p>
            <a:pPr lvl="1"/>
            <a:r>
              <a:rPr lang="en-US" sz="2000" dirty="0"/>
              <a:t>buffer: C2H2+Ar; </a:t>
            </a:r>
            <a:r>
              <a:rPr lang="en-US" sz="2000" dirty="0" err="1"/>
              <a:t>IPyC</a:t>
            </a:r>
            <a:r>
              <a:rPr lang="en-US" sz="2000" dirty="0"/>
              <a:t>/</a:t>
            </a:r>
            <a:r>
              <a:rPr lang="en-US" sz="2000" dirty="0" err="1"/>
              <a:t>OPyC</a:t>
            </a:r>
            <a:r>
              <a:rPr lang="en-US" sz="2000" dirty="0"/>
              <a:t>: C3H6+Ar; </a:t>
            </a:r>
            <a:r>
              <a:rPr lang="en-US" sz="2000" dirty="0" err="1"/>
              <a:t>SiC</a:t>
            </a:r>
            <a:r>
              <a:rPr lang="en-US" sz="2000" dirty="0"/>
              <a:t>: CH3SiCl3+H2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CA1D77F-CB51-D340-9468-D00A134974A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24189" y="2054561"/>
            <a:ext cx="3558211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059559-0D12-6544-B186-154731A95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35E9FC-F6D5-0349-BBED-EA7D7A9BC49B}" type="slidenum">
              <a:rPr kumimoji="0" 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68313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F6149-D560-9341-9E9D-1597DEE93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TRISO Fabrication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03FF7C-E468-A24E-B8F4-B3167610921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Rigorous control is applied at every step of the fabrication process to produce high-quality, very low-defect fuel</a:t>
            </a:r>
          </a:p>
          <a:p>
            <a:r>
              <a:rPr lang="en-US" dirty="0"/>
              <a:t>Defect levels are typically on the order of one defect per 100,000 particles</a:t>
            </a:r>
          </a:p>
          <a:p>
            <a:r>
              <a:rPr lang="en-US" dirty="0"/>
              <a:t>Specifications are placed on the diameters, thicknesses, and densities of the kernel and layers; the sphericity of the particle; the stoichiometry of the kernel; the isotropy of the carbon; and the acceptable defect levels for each layer</a:t>
            </a:r>
          </a:p>
          <a:p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1C67E40-61A7-8F43-908B-B9A88B33AD72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69741" y="1935726"/>
            <a:ext cx="4105534" cy="47125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E093C0-4309-8140-AF1D-BE379E134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B5B94E0-5E06-6D42-A41D-50D581B40900}" type="slidenum">
              <a:rPr kumimoji="0" 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58529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CFFBD-4B43-B646-8BBE-43187C0F0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Pebble and Compact Fabrication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972A14-F34A-D44F-9A74-2171B578CD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156961" cy="4157663"/>
          </a:xfrm>
        </p:spPr>
        <p:txBody>
          <a:bodyPr/>
          <a:lstStyle/>
          <a:p>
            <a:r>
              <a:rPr lang="en-US" sz="2200" dirty="0"/>
              <a:t>The fuel element of the pebble bed type HTGR is a spherical fuel element</a:t>
            </a:r>
          </a:p>
          <a:p>
            <a:r>
              <a:rPr lang="en-US" sz="2200" dirty="0"/>
              <a:t>The coated particles are overcoated with a layer of matrix graphite powder (MGP) and pressed to the core of a fuel sphere</a:t>
            </a:r>
          </a:p>
          <a:p>
            <a:r>
              <a:rPr lang="en-US" sz="2200" dirty="0"/>
              <a:t>Then, an additional 5-mm layer of matrix graphite material is added to form a ‘nonfuel’ zone</a:t>
            </a:r>
          </a:p>
          <a:p>
            <a:r>
              <a:rPr lang="en-US" sz="2200" dirty="0"/>
              <a:t>The resulting fuel sphere gets its final diameter by a machining process and is then carbonized and annealed at 2000C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98F8BF5-6560-6F49-B4BA-58E7B5BE3A6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66254" y="1968500"/>
            <a:ext cx="5002956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160499-D93C-FD48-BC71-083872726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35E9FC-F6D5-0349-BBED-EA7D7A9BC49B}" type="slidenum">
              <a:rPr kumimoji="0" 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167603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CFFBD-4B43-B646-8BBE-43187C0F0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Pebble and Compact Fabrication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972A14-F34A-D44F-9A74-2171B578CD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7372575" cy="4157663"/>
          </a:xfrm>
        </p:spPr>
        <p:txBody>
          <a:bodyPr/>
          <a:lstStyle/>
          <a:p>
            <a:r>
              <a:rPr lang="en-US" sz="2200" dirty="0"/>
              <a:t>HTGR fuel elements are graphite compacts stacked into a graphite core</a:t>
            </a:r>
          </a:p>
          <a:p>
            <a:r>
              <a:rPr lang="en-US" sz="2200" dirty="0"/>
              <a:t>To form compacts, coated fuel particles are overcoated with the MGP and warm-pressed to make the annular cylinder of green compacts</a:t>
            </a:r>
          </a:p>
          <a:p>
            <a:r>
              <a:rPr lang="en-US" sz="2200" dirty="0"/>
              <a:t>Green compacts are heat treated for carbonization at 800C and then sintered at 1800C to make fuel compacts</a:t>
            </a:r>
          </a:p>
          <a:p>
            <a:r>
              <a:rPr lang="en-US" sz="2200" dirty="0"/>
              <a:t>In order to decrease the failure fraction of coating layers, it is necessary to disperse coated fuel particles in a green compact as uniformly as possible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CABB868-CDDE-2445-A0A3-4C4E80D0DF8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99312" y="2054564"/>
            <a:ext cx="3283088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BCB7AC-2C96-A04F-A537-F84535378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35E9FC-F6D5-0349-BBED-EA7D7A9BC49B}" type="slidenum">
              <a:rPr kumimoji="0" 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995364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63302-3FDA-3D43-3AC5-7F4DC5D7C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AA140-9D49-7C3D-F8B7-B00ED361C5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10972800" cy="4157663"/>
          </a:xfrm>
        </p:spPr>
        <p:txBody>
          <a:bodyPr/>
          <a:lstStyle/>
          <a:p>
            <a:r>
              <a:rPr lang="en-US" sz="2400" dirty="0"/>
              <a:t>Sol-gel fabrication of fuel kernels</a:t>
            </a:r>
          </a:p>
          <a:p>
            <a:r>
              <a:rPr lang="en-US" sz="2400" dirty="0"/>
              <a:t>CVD for buffer, </a:t>
            </a:r>
            <a:r>
              <a:rPr lang="en-US" sz="2400" dirty="0" err="1"/>
              <a:t>IPyC</a:t>
            </a:r>
            <a:r>
              <a:rPr lang="en-US" sz="2400" dirty="0"/>
              <a:t>, </a:t>
            </a:r>
            <a:r>
              <a:rPr lang="en-US" sz="2400" dirty="0" err="1"/>
              <a:t>SiC</a:t>
            </a:r>
            <a:r>
              <a:rPr lang="en-US" sz="2400" dirty="0"/>
              <a:t>, and </a:t>
            </a:r>
            <a:r>
              <a:rPr lang="en-US" sz="2400" dirty="0" err="1"/>
              <a:t>OPyC</a:t>
            </a:r>
            <a:endParaRPr lang="en-US" sz="2400" dirty="0"/>
          </a:p>
          <a:p>
            <a:r>
              <a:rPr lang="en-US" sz="2400" dirty="0"/>
              <a:t>Combine particles into compacts/pebbles with carbon matrix powder</a:t>
            </a:r>
          </a:p>
          <a:p>
            <a:r>
              <a:rPr lang="en-US" sz="2400" dirty="0"/>
              <a:t>Compacts/pebbles are then sintered to reach final state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F08985-E12E-3C91-3402-81BCD592F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35E9FC-F6D5-0349-BBED-EA7D7A9BC49B}" type="slidenum">
              <a:rPr kumimoji="0" 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878706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947CF-EAEA-5F40-93E5-30922295C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TRISO Fuel Performance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A4ECEC-16B6-6141-B1AF-F3EA008DF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6004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E780B-4F37-014A-B881-332E6FE53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TRISO Fuel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DE90B5-3B3E-6D4E-9A88-F35D4AD801C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Fuel performance models need to be able to account for numerous inter-related phenomena that affect temperatures, stresses, and failure of the material systems</a:t>
            </a:r>
          </a:p>
          <a:p>
            <a:r>
              <a:rPr lang="en-US" sz="2400" dirty="0"/>
              <a:t>Must be multiphysics, incorporating thermodynamics, chemistry, kinetics, microstructure, mechanics, etc.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932237-2A23-254D-AC64-88F6B1FEDB9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000" dirty="0"/>
              <a:t>Solid fission product swelling</a:t>
            </a:r>
          </a:p>
          <a:p>
            <a:r>
              <a:rPr lang="en-US" sz="2000" dirty="0"/>
              <a:t>Gaseous fission product swelling</a:t>
            </a:r>
          </a:p>
          <a:p>
            <a:r>
              <a:rPr lang="en-US" sz="2000" dirty="0"/>
              <a:t>Densification</a:t>
            </a:r>
          </a:p>
          <a:p>
            <a:r>
              <a:rPr lang="en-US" sz="2000" dirty="0"/>
              <a:t>Thermal conductivity</a:t>
            </a:r>
          </a:p>
          <a:p>
            <a:r>
              <a:rPr lang="en-US" sz="2000" dirty="0"/>
              <a:t>Fission gas release</a:t>
            </a:r>
          </a:p>
          <a:p>
            <a:r>
              <a:rPr lang="en-US" sz="2000" dirty="0"/>
              <a:t>CO production</a:t>
            </a:r>
          </a:p>
          <a:p>
            <a:r>
              <a:rPr lang="en-US" sz="2000" dirty="0"/>
              <a:t>Oxygen transport</a:t>
            </a:r>
          </a:p>
          <a:p>
            <a:r>
              <a:rPr lang="en-US" sz="2000" dirty="0" err="1"/>
              <a:t>PyC</a:t>
            </a:r>
            <a:r>
              <a:rPr lang="en-US" sz="2000" dirty="0"/>
              <a:t> layer dimensional change</a:t>
            </a:r>
          </a:p>
          <a:p>
            <a:r>
              <a:rPr lang="en-US" sz="2000" dirty="0"/>
              <a:t>Kernel migration</a:t>
            </a:r>
          </a:p>
          <a:p>
            <a:r>
              <a:rPr lang="en-US" sz="2000" dirty="0" err="1"/>
              <a:t>SiC</a:t>
            </a:r>
            <a:r>
              <a:rPr lang="en-US" sz="2000" dirty="0"/>
              <a:t> failure</a:t>
            </a:r>
          </a:p>
          <a:p>
            <a:r>
              <a:rPr lang="en-US" sz="2000" dirty="0"/>
              <a:t>Fission product attack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5D5651-C604-B749-AE17-A8D94D40E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248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0B719-A91C-8A4B-A08A-DC5E07720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Fuel Performance Codes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D75D6F6-6132-0B44-9370-097CE1EBF88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09600" y="1716847"/>
            <a:ext cx="7018116" cy="5144047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65951D-83E5-154F-8498-7422E658D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25BB7B-DBDA-6D4F-87A3-B02F2A17B9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6992" y="1775244"/>
            <a:ext cx="2952107" cy="25465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1F65EDD-991E-6347-BACF-FC8B93A2D3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4300" y="4321789"/>
            <a:ext cx="2844800" cy="253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6489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11702-9239-3547-8D04-A2E911AC6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SiC</a:t>
            </a:r>
            <a:r>
              <a:rPr lang="en-US" dirty="0"/>
              <a:t> Failure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811CC-2C44-EB44-8E77-AF78A5AB75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555129" cy="4157663"/>
          </a:xfrm>
        </p:spPr>
        <p:txBody>
          <a:bodyPr/>
          <a:lstStyle/>
          <a:p>
            <a:r>
              <a:rPr lang="en-US" sz="2400" dirty="0"/>
              <a:t>The dominant 1D failure mechanism for TRISO fuel particles involves pressure vessel failure, where the </a:t>
            </a:r>
            <a:r>
              <a:rPr lang="en-US" sz="2400" dirty="0" err="1"/>
              <a:t>SiC</a:t>
            </a:r>
            <a:r>
              <a:rPr lang="en-US" sz="2400" dirty="0"/>
              <a:t> layer develops a through-thickness crack resulting from a tensile stress that exceeds the fracture strength of the material</a:t>
            </a:r>
          </a:p>
          <a:p>
            <a:r>
              <a:rPr lang="en-US" sz="2400" dirty="0"/>
              <a:t>Modern approaches to pressure vessel failure explicitly calculate separate stresses and through-layer crack probabilities for the </a:t>
            </a:r>
            <a:r>
              <a:rPr lang="en-US" sz="2400" dirty="0" err="1"/>
              <a:t>SiC</a:t>
            </a:r>
            <a:r>
              <a:rPr lang="en-US" sz="2400" dirty="0"/>
              <a:t> layer and each </a:t>
            </a:r>
            <a:r>
              <a:rPr lang="en-US" sz="2400" dirty="0" err="1"/>
              <a:t>PyC</a:t>
            </a:r>
            <a:r>
              <a:rPr lang="en-US" sz="2400" dirty="0"/>
              <a:t> layer</a:t>
            </a:r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250C5F5-30E2-C542-BE86-D0E81B6880D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373314" y="3017882"/>
            <a:ext cx="4000500" cy="189230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B060A3-A068-EC47-97C2-649D4BE21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4761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2A897-E5C3-3B47-A99D-C61297471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TRISO Stresses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DBCACA-CE4D-A846-9BF1-2E06590219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7598485" cy="4157663"/>
          </a:xfrm>
        </p:spPr>
        <p:txBody>
          <a:bodyPr/>
          <a:lstStyle/>
          <a:p>
            <a:r>
              <a:rPr lang="en-US" sz="2000" dirty="0"/>
              <a:t>The irradiation causes the kernel to swell and the buffer layer to shrink, thereby modifying the internal void volume available to the fission and reaction gases</a:t>
            </a:r>
          </a:p>
          <a:p>
            <a:r>
              <a:rPr lang="en-US" sz="2000" dirty="0"/>
              <a:t>The porosity of the buffer leads to the gas pressure being the only force on the load-bearing layers</a:t>
            </a:r>
          </a:p>
          <a:p>
            <a:r>
              <a:rPr lang="en-US" sz="2000" dirty="0"/>
              <a:t>If the </a:t>
            </a:r>
            <a:r>
              <a:rPr lang="en-US" sz="2000" dirty="0" err="1"/>
              <a:t>IPyC</a:t>
            </a:r>
            <a:r>
              <a:rPr lang="en-US" sz="2000" dirty="0"/>
              <a:t> and </a:t>
            </a:r>
            <a:r>
              <a:rPr lang="en-US" sz="2000" dirty="0" err="1"/>
              <a:t>OPyC</a:t>
            </a:r>
            <a:r>
              <a:rPr lang="en-US" sz="2000" dirty="0"/>
              <a:t> were absent, the gases produced in the fission process would simply stress the </a:t>
            </a:r>
            <a:r>
              <a:rPr lang="en-US" sz="2000" dirty="0" err="1"/>
              <a:t>SiC</a:t>
            </a:r>
            <a:r>
              <a:rPr lang="en-US" sz="2000" dirty="0"/>
              <a:t> layer and, if the pressure were high enough, cause it to fail</a:t>
            </a:r>
          </a:p>
          <a:p>
            <a:r>
              <a:rPr lang="en-US" sz="2000" dirty="0"/>
              <a:t>However, these tangential stresses are reduced by the presence of the two </a:t>
            </a:r>
            <a:r>
              <a:rPr lang="en-US" sz="2000" dirty="0" err="1"/>
              <a:t>PyC</a:t>
            </a:r>
            <a:r>
              <a:rPr lang="en-US" sz="2000" dirty="0"/>
              <a:t> layers because; under unrestrained conditions they would shrink during irradiation</a:t>
            </a:r>
          </a:p>
          <a:p>
            <a:endParaRPr lang="en-US" sz="2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13DDFB2-9F22-C143-9533-98CC137911B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891142" y="1791346"/>
            <a:ext cx="2350600" cy="464679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A203A0-02D3-2544-AC73-C1B898EC4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1599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2EDF0-99C9-A74B-9FB0-4F65ED39B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TRISO Stresses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03294-2E35-604D-B71F-DBB1DC21AD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404386" cy="4157663"/>
          </a:xfrm>
        </p:spPr>
        <p:txBody>
          <a:bodyPr/>
          <a:lstStyle/>
          <a:p>
            <a:r>
              <a:rPr lang="en-US" sz="2000" dirty="0" err="1"/>
              <a:t>PyC</a:t>
            </a:r>
            <a:r>
              <a:rPr lang="en-US" sz="2000" dirty="0"/>
              <a:t> shrinkage will be largely restrained by the </a:t>
            </a:r>
            <a:r>
              <a:rPr lang="en-US" sz="2000" dirty="0" err="1"/>
              <a:t>SiC</a:t>
            </a:r>
            <a:r>
              <a:rPr lang="en-US" sz="2000" dirty="0"/>
              <a:t> layer, and tangential stresses will be generated in both </a:t>
            </a:r>
            <a:r>
              <a:rPr lang="en-US" sz="2000" dirty="0" err="1"/>
              <a:t>PyC</a:t>
            </a:r>
            <a:r>
              <a:rPr lang="en-US" sz="2000" dirty="0"/>
              <a:t> layers, with radial (inward) acting forces imposed on the two surfaces of the </a:t>
            </a:r>
            <a:r>
              <a:rPr lang="en-US" sz="2000" dirty="0" err="1"/>
              <a:t>SiC</a:t>
            </a:r>
            <a:r>
              <a:rPr lang="en-US" sz="2000" dirty="0"/>
              <a:t> layer</a:t>
            </a:r>
          </a:p>
          <a:p>
            <a:r>
              <a:rPr lang="en-US" sz="2000" dirty="0"/>
              <a:t>In practice, these tangential stresses in the two </a:t>
            </a:r>
            <a:r>
              <a:rPr lang="en-US" sz="2000" dirty="0" err="1"/>
              <a:t>PyC</a:t>
            </a:r>
            <a:r>
              <a:rPr lang="en-US" sz="2000" dirty="0"/>
              <a:t> layers will attain a quasi-equilibrium stress state because their shrinkage is counter-balanced by irradiation creep</a:t>
            </a:r>
          </a:p>
          <a:p>
            <a:r>
              <a:rPr lang="en-US" sz="2000" dirty="0"/>
              <a:t>The </a:t>
            </a:r>
            <a:r>
              <a:rPr lang="en-US" sz="2000" dirty="0" err="1"/>
              <a:t>SiC</a:t>
            </a:r>
            <a:r>
              <a:rPr lang="en-US" sz="2000" dirty="0"/>
              <a:t> elastic modulus is at least an order of magnitude greater than that of </a:t>
            </a:r>
            <a:r>
              <a:rPr lang="en-US" sz="2000" dirty="0" err="1"/>
              <a:t>PyC</a:t>
            </a:r>
            <a:r>
              <a:rPr lang="en-US" sz="2000" dirty="0"/>
              <a:t> and thus, the dimensional changes and creep strains of </a:t>
            </a:r>
            <a:r>
              <a:rPr lang="en-US" sz="2000" dirty="0" err="1"/>
              <a:t>SiC</a:t>
            </a:r>
            <a:r>
              <a:rPr lang="en-US" sz="2000" dirty="0"/>
              <a:t> are comparatively much smaller than for </a:t>
            </a:r>
            <a:r>
              <a:rPr lang="en-US" sz="2000" dirty="0" err="1"/>
              <a:t>PyC</a:t>
            </a:r>
            <a:endParaRPr lang="en-US" sz="2000" dirty="0"/>
          </a:p>
          <a:p>
            <a:endParaRPr lang="en-US" sz="20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8CE449D-A1DE-D242-A748-A03542D74F8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34574" y="1102471"/>
            <a:ext cx="2902772" cy="259816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C61976-536B-4D48-BE6C-7DA7497985B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73210" y="3700631"/>
            <a:ext cx="2950328" cy="3157369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682D7B-9D19-4241-AA4F-39DB89599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3638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C63EB93-8FA0-A9FE-A3C9-0FAC390E52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5191" y="2167905"/>
            <a:ext cx="2259000" cy="437100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1610916-646C-414F-90D0-19B6FDCA3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Material Evolution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759FE5-6844-D649-992C-C937AE14B42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Ideally, would be able to model and describe 3D modes of failure</a:t>
            </a:r>
          </a:p>
          <a:p>
            <a:pPr lvl="1"/>
            <a:r>
              <a:rPr lang="en-US" sz="2400" dirty="0"/>
              <a:t>Shrinkage cracks within the </a:t>
            </a:r>
            <a:r>
              <a:rPr lang="en-US" sz="2400" dirty="0" err="1"/>
              <a:t>IPyC</a:t>
            </a:r>
            <a:r>
              <a:rPr lang="en-US" sz="2400" dirty="0"/>
              <a:t> layer</a:t>
            </a:r>
          </a:p>
          <a:p>
            <a:pPr lvl="1"/>
            <a:r>
              <a:rPr lang="en-US" sz="2400" dirty="0" err="1"/>
              <a:t>IPyC</a:t>
            </a:r>
            <a:r>
              <a:rPr lang="en-US" sz="2400" dirty="0"/>
              <a:t>/</a:t>
            </a:r>
            <a:r>
              <a:rPr lang="en-US" sz="2400" dirty="0" err="1"/>
              <a:t>SiC</a:t>
            </a:r>
            <a:r>
              <a:rPr lang="en-US" sz="2400" dirty="0"/>
              <a:t> debonding</a:t>
            </a:r>
          </a:p>
          <a:p>
            <a:pPr lvl="1"/>
            <a:r>
              <a:rPr lang="en-US" sz="2400" dirty="0"/>
              <a:t>Particle </a:t>
            </a:r>
            <a:r>
              <a:rPr lang="en-US" sz="2400" dirty="0" err="1"/>
              <a:t>asphericity</a:t>
            </a:r>
            <a:endParaRPr lang="en-US" sz="2400" dirty="0"/>
          </a:p>
          <a:p>
            <a:pPr lvl="1"/>
            <a:r>
              <a:rPr lang="en-US" sz="2400" dirty="0"/>
              <a:t>Kernel migration</a:t>
            </a:r>
          </a:p>
          <a:p>
            <a:pPr lvl="1"/>
            <a:r>
              <a:rPr lang="en-US" sz="2400" dirty="0" err="1"/>
              <a:t>SiC</a:t>
            </a:r>
            <a:r>
              <a:rPr lang="en-US" sz="2400" dirty="0"/>
              <a:t> coating thinning</a:t>
            </a:r>
          </a:p>
          <a:p>
            <a:pPr lvl="1"/>
            <a:r>
              <a:rPr lang="en-US" sz="2400" dirty="0"/>
              <a:t>Fission product attack</a:t>
            </a:r>
          </a:p>
          <a:p>
            <a:endParaRPr lang="en-US" sz="24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DD4B38D-DCF4-8145-A600-A954E567C71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9256031" y="2007454"/>
            <a:ext cx="1875221" cy="249364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CB2CE3-A0AA-6D41-9060-FA02DDE21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6BD47-B631-9242-BDEC-A019BEEE5B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0552" y="4291136"/>
            <a:ext cx="2673187" cy="4588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7C7416B-FC44-1D42-94BA-AFF2A062DE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3777" y="4837142"/>
            <a:ext cx="4237685" cy="28893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DB6E9C0-D8DE-5E49-8893-FF17036325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41597" y="2405821"/>
            <a:ext cx="3836805" cy="181182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D2098D0-AD4D-FF4E-8946-D4AB2239598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1421" y="5224313"/>
            <a:ext cx="3851448" cy="468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22911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8DCB0-59AC-C146-837C-E3CF7623F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needs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F69A94-E052-3847-9CA7-EA64A1E323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1945" y="1968503"/>
            <a:ext cx="6074977" cy="4157663"/>
          </a:xfrm>
        </p:spPr>
        <p:txBody>
          <a:bodyPr/>
          <a:lstStyle/>
          <a:p>
            <a:r>
              <a:rPr lang="en-US" sz="2000" dirty="0"/>
              <a:t>There are a number of areas where we lack requisite data, either behavioral or fundamental properties, in order to accurately describe TRISO particle evolution</a:t>
            </a:r>
          </a:p>
          <a:p>
            <a:r>
              <a:rPr lang="en-US" sz="2000" dirty="0"/>
              <a:t>High-quality high burnup data on TRISO particles is generally lacking, which would enable benchmarking of fuel performance models</a:t>
            </a:r>
          </a:p>
          <a:p>
            <a:r>
              <a:rPr lang="en-US" sz="2000" dirty="0"/>
              <a:t>Uncertainties and unknowns in fundamental material properties are also abundant, especially with regard to how properties vary as functions of temperature, fast fluence, and burnup</a:t>
            </a:r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2D5413-5D6E-8940-9D59-28F0761BD1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26922" y="1968503"/>
            <a:ext cx="5412829" cy="4157663"/>
          </a:xfrm>
        </p:spPr>
        <p:txBody>
          <a:bodyPr/>
          <a:lstStyle/>
          <a:p>
            <a:r>
              <a:rPr lang="en-US" sz="2000" dirty="0"/>
              <a:t>There is significant uncertainty in the irradiation creep constant, the value of Poisson’s ratio in irradiation creep models, and the thermal conductivity of </a:t>
            </a:r>
            <a:r>
              <a:rPr lang="en-US" sz="2000" dirty="0" err="1"/>
              <a:t>PyC</a:t>
            </a:r>
            <a:endParaRPr lang="en-US" sz="2000" dirty="0"/>
          </a:p>
          <a:p>
            <a:r>
              <a:rPr lang="en-US" sz="2000" dirty="0"/>
              <a:t>Predictions for the chemical attack of </a:t>
            </a:r>
            <a:r>
              <a:rPr lang="en-US" sz="2000" dirty="0" err="1"/>
              <a:t>SiC</a:t>
            </a:r>
            <a:r>
              <a:rPr lang="en-US" sz="2000" dirty="0"/>
              <a:t> require effective diffusion coefficients of key fission products in various fuel materials, which are unknown</a:t>
            </a:r>
          </a:p>
          <a:p>
            <a:r>
              <a:rPr lang="en-US" sz="2000" dirty="0"/>
              <a:t>Fuel properties are the least well understood, especially as the fuel evolves during operation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E5F44C-7C57-2442-A95A-C8936B36A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0564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947CF-EAEA-5F40-93E5-30922295C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concepts in TRISO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992943-4CCC-3543-8C54-A7CCD52C2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8680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848FC-FEFA-8E42-84D0-39C4F96CA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ZrC replacing </a:t>
            </a:r>
            <a:r>
              <a:rPr lang="en-US" dirty="0" err="1"/>
              <a:t>SiC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ADC0-F5B5-3A4E-802B-4D28FBDC1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877723" cy="4157663"/>
          </a:xfrm>
        </p:spPr>
        <p:txBody>
          <a:bodyPr/>
          <a:lstStyle/>
          <a:p>
            <a:r>
              <a:rPr lang="en-US" sz="2400" dirty="0"/>
              <a:t>Zirconium carbide (ZrC) is a refractory and chemically stable compound, which melts </a:t>
            </a:r>
            <a:r>
              <a:rPr lang="en-US" sz="2400" dirty="0" err="1"/>
              <a:t>eutectically</a:t>
            </a:r>
            <a:r>
              <a:rPr lang="en-US" sz="2400" dirty="0"/>
              <a:t> with carbon at 3123 K</a:t>
            </a:r>
          </a:p>
          <a:p>
            <a:r>
              <a:rPr lang="en-US" sz="2400" dirty="0"/>
              <a:t>ZrC can potentially improve the high-temperature stability, the resistance to chemical attack by fission products, and the retention of fission products</a:t>
            </a:r>
          </a:p>
          <a:p>
            <a:r>
              <a:rPr lang="en-US" sz="2400" dirty="0"/>
              <a:t>However, ZrC is significantly less oxidation resistant than </a:t>
            </a:r>
            <a:r>
              <a:rPr lang="en-US" sz="2400" dirty="0" err="1"/>
              <a:t>SiC</a:t>
            </a:r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DD6AE4B-F138-E54E-8D47-B01535B590A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/>
          <a:srcRect l="49632"/>
          <a:stretch/>
        </p:blipFill>
        <p:spPr>
          <a:xfrm>
            <a:off x="7519531" y="2577089"/>
            <a:ext cx="4062869" cy="282324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7CC533-9CFF-4E47-9B18-FD5587763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6965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848FC-FEFA-8E42-84D0-39C4F96CA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ZrC replacing </a:t>
            </a:r>
            <a:r>
              <a:rPr lang="en-US" dirty="0" err="1"/>
              <a:t>SiC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ADC0-F5B5-3A4E-802B-4D28FBDC1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588001" cy="4157663"/>
          </a:xfrm>
        </p:spPr>
        <p:txBody>
          <a:bodyPr/>
          <a:lstStyle/>
          <a:p>
            <a:r>
              <a:rPr lang="en-US" sz="2400" dirty="0"/>
              <a:t>Four types of ZrC inclusions have been studied (1) ZrC-TRISO coated particles, (2) ZrC-TRISO type coated particles without </a:t>
            </a:r>
            <a:r>
              <a:rPr lang="en-US" sz="2400" dirty="0" err="1"/>
              <a:t>OPyC</a:t>
            </a:r>
            <a:r>
              <a:rPr lang="en-US" sz="2400" dirty="0"/>
              <a:t> layer, (3) ZrC-coated particles with ZrC-doped </a:t>
            </a:r>
            <a:r>
              <a:rPr lang="en-US" sz="2400" dirty="0" err="1"/>
              <a:t>OPyC</a:t>
            </a:r>
            <a:r>
              <a:rPr lang="en-US" sz="2400" dirty="0"/>
              <a:t> layer, and (4) ZrC coated particles with graded C–ZrC layer(s)</a:t>
            </a:r>
          </a:p>
          <a:p>
            <a:r>
              <a:rPr lang="en-US" sz="2400" dirty="0"/>
              <a:t>All four types have been fabricated and irradiated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690218-C1C6-7C46-9566-467DF3B2E12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400" dirty="0"/>
              <a:t>Primary focus has been on option 1, however usage of ZrC started from option 2 in the 1970s</a:t>
            </a:r>
          </a:p>
          <a:p>
            <a:r>
              <a:rPr lang="en-US" sz="2400" dirty="0"/>
              <a:t>ZrC-TRISO-coated UO2 particle after irradiation at 1673–1923K to 4.5% FIMA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E35011-00A8-1047-A40A-C6D2BBBC0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1711" y="3949550"/>
            <a:ext cx="2806849" cy="280684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D19574-F9A9-EE4D-8926-162E283E7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3216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2EDF0-99C9-A74B-9FB0-4F65ED39B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SiC</a:t>
            </a:r>
            <a:r>
              <a:rPr lang="en-US" dirty="0"/>
              <a:t> vs ZrC Corrosion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03294-2E35-604D-B71F-DBB1DC21AD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318325" cy="4157663"/>
          </a:xfrm>
        </p:spPr>
        <p:txBody>
          <a:bodyPr/>
          <a:lstStyle/>
          <a:p>
            <a:r>
              <a:rPr lang="en-US" sz="2000" dirty="0"/>
              <a:t>An approach to counteract </a:t>
            </a:r>
            <a:r>
              <a:rPr lang="en-US" sz="2000" dirty="0" err="1"/>
              <a:t>SiC</a:t>
            </a:r>
            <a:r>
              <a:rPr lang="en-US" sz="2000" dirty="0"/>
              <a:t> fission product corrosion is to replace the </a:t>
            </a:r>
            <a:r>
              <a:rPr lang="en-US" sz="2000" dirty="0" err="1"/>
              <a:t>SiC</a:t>
            </a:r>
            <a:r>
              <a:rPr lang="en-US" sz="2000" dirty="0"/>
              <a:t> coating by a ZrC layer</a:t>
            </a:r>
          </a:p>
          <a:p>
            <a:r>
              <a:rPr lang="en-US" sz="2000" dirty="0"/>
              <a:t>Experimental observations showed neither </a:t>
            </a:r>
            <a:r>
              <a:rPr lang="en-US" sz="2000" dirty="0" err="1"/>
              <a:t>Pd</a:t>
            </a:r>
            <a:r>
              <a:rPr lang="en-US" sz="2000" dirty="0"/>
              <a:t> attack nor thermal degradation of ZrC up to 1600C</a:t>
            </a:r>
          </a:p>
          <a:p>
            <a:r>
              <a:rPr lang="en-US" sz="2000" dirty="0"/>
              <a:t>ZrC was also shown to have a high capacity to retain Cs, but poor retention of Ru</a:t>
            </a:r>
          </a:p>
          <a:p>
            <a:r>
              <a:rPr lang="en-US" sz="2000" dirty="0"/>
              <a:t>At higher T, the deterioration of the ZrC particle is caused by failure of the </a:t>
            </a:r>
            <a:r>
              <a:rPr lang="en-US" sz="2000" dirty="0" err="1"/>
              <a:t>IPyC</a:t>
            </a:r>
            <a:endParaRPr lang="en-US" sz="2000" dirty="0"/>
          </a:p>
          <a:p>
            <a:r>
              <a:rPr lang="en-US" sz="2000" dirty="0"/>
              <a:t>The development of TRISO with ZrC-coating is at an early stage compared to the </a:t>
            </a:r>
            <a:r>
              <a:rPr lang="en-US" sz="2000" dirty="0" err="1"/>
              <a:t>SiC</a:t>
            </a:r>
            <a:r>
              <a:rPr lang="en-US" sz="2000" dirty="0"/>
              <a:t>-coated design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8BF9C7E-1100-B942-AC45-7E8B19338DE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14976" y="1968500"/>
            <a:ext cx="3750048" cy="415766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097030-9E94-3345-8763-EAA4A31C7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4643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848FC-FEFA-8E42-84D0-39C4F96CA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ZrC replacing </a:t>
            </a:r>
            <a:r>
              <a:rPr lang="en-US" dirty="0" err="1"/>
              <a:t>SiC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ADC0-F5B5-3A4E-802B-4D28FBDC1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361545" cy="4157663"/>
          </a:xfrm>
        </p:spPr>
        <p:txBody>
          <a:bodyPr/>
          <a:lstStyle/>
          <a:p>
            <a:r>
              <a:rPr lang="en-US" sz="2400" dirty="0"/>
              <a:t>The improved performance of the ZrC coating layer against chemical attack by </a:t>
            </a:r>
            <a:r>
              <a:rPr lang="en-US" sz="2400" dirty="0" err="1"/>
              <a:t>Pd</a:t>
            </a:r>
            <a:r>
              <a:rPr lang="en-US" sz="2400" dirty="0"/>
              <a:t> has been demonstrated in both out-of-reactor experiments and irradiation tests</a:t>
            </a:r>
          </a:p>
          <a:p>
            <a:r>
              <a:rPr lang="en-US" sz="2400" dirty="0"/>
              <a:t>ZrPd3 can form in lab conditions, but insufficient </a:t>
            </a:r>
            <a:r>
              <a:rPr lang="en-US" sz="2400" dirty="0" err="1"/>
              <a:t>Pd</a:t>
            </a:r>
            <a:r>
              <a:rPr lang="en-US" sz="2400" dirty="0"/>
              <a:t> exists in fuel particles to cause formation and thus degradation</a:t>
            </a:r>
          </a:p>
          <a:p>
            <a:r>
              <a:rPr lang="en-US" sz="2400" dirty="0"/>
              <a:t>ZrC does not seem to solve the silver problem</a:t>
            </a:r>
          </a:p>
          <a:p>
            <a:r>
              <a:rPr lang="en-US" sz="2400" dirty="0"/>
              <a:t>Ruthenium release might be an issue, which it is not for </a:t>
            </a:r>
            <a:r>
              <a:rPr lang="en-US" sz="2400" dirty="0" err="1"/>
              <a:t>SiC</a:t>
            </a:r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19723978-41F1-0D4B-8B49-F88263D227B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699079" y="1968500"/>
            <a:ext cx="3155386" cy="473762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8C7C75-4464-F345-999A-58CC3E74F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057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35BB5-BB39-4D45-885E-277E4016E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ZrC replacing </a:t>
            </a:r>
            <a:r>
              <a:rPr lang="en-US" dirty="0" err="1"/>
              <a:t>SiC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9D9773-1ABE-5244-8DF6-687740B63D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589987" cy="4157663"/>
          </a:xfrm>
        </p:spPr>
        <p:txBody>
          <a:bodyPr/>
          <a:lstStyle/>
          <a:p>
            <a:r>
              <a:rPr lang="en-US" sz="2100" dirty="0"/>
              <a:t>High-temperature behavior of ZrC is superior to </a:t>
            </a:r>
            <a:r>
              <a:rPr lang="en-US" sz="2100" dirty="0" err="1"/>
              <a:t>SiC</a:t>
            </a:r>
            <a:endParaRPr lang="en-US" sz="2100" dirty="0"/>
          </a:p>
          <a:p>
            <a:r>
              <a:rPr lang="en-US" sz="2100" dirty="0"/>
              <a:t>Right is a heating experiment on irradiated TRISO particles</a:t>
            </a:r>
          </a:p>
          <a:p>
            <a:r>
              <a:rPr lang="en-US" sz="2100" dirty="0"/>
              <a:t>No ZrC failures up to 2400C, where an extended hold produced a failure</a:t>
            </a:r>
          </a:p>
          <a:p>
            <a:r>
              <a:rPr lang="en-US" sz="2100" dirty="0"/>
              <a:t>At temperatures above 2000C, </a:t>
            </a:r>
            <a:r>
              <a:rPr lang="en-US" sz="2100" dirty="0" err="1"/>
              <a:t>SiC</a:t>
            </a:r>
            <a:r>
              <a:rPr lang="en-US" sz="2100" dirty="0"/>
              <a:t> will decompose into its constituents</a:t>
            </a:r>
          </a:p>
          <a:p>
            <a:r>
              <a:rPr lang="en-US" sz="2100" dirty="0"/>
              <a:t>Thus, better stability during fabrication, ability to operate at higher temperatures, better stability in off-normal temperature spikes, better fission gas retention at high temperature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0E1ECF7-4E20-9D4C-AB1D-3ECD1F94A64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433973" y="1968503"/>
            <a:ext cx="4446564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FC78A-1799-B546-B9B5-3055232F0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99411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848FC-FEFA-8E42-84D0-39C4F96CA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Non-fissile Carbides in Fuel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ADC0-F5B5-3A4E-802B-4D28FBDC1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665076" cy="4157663"/>
          </a:xfrm>
        </p:spPr>
        <p:txBody>
          <a:bodyPr/>
          <a:lstStyle/>
          <a:p>
            <a:r>
              <a:rPr lang="en-US" sz="2400" dirty="0"/>
              <a:t>To inhibit the buildup of CO gas in UO2 fuel kernels, UC2 is often added to getter oxygen and reduce the oxygen potential</a:t>
            </a:r>
          </a:p>
          <a:p>
            <a:r>
              <a:rPr lang="en-US" sz="2400" dirty="0"/>
              <a:t>Similar results can be achieved by the addition of </a:t>
            </a:r>
            <a:r>
              <a:rPr lang="en-US" sz="2400" dirty="0" err="1"/>
              <a:t>nonfissionable</a:t>
            </a:r>
            <a:r>
              <a:rPr lang="en-US" sz="2400" dirty="0"/>
              <a:t> carbides, such as </a:t>
            </a:r>
            <a:r>
              <a:rPr lang="en-US" sz="2400" dirty="0" err="1"/>
              <a:t>SiC</a:t>
            </a:r>
            <a:r>
              <a:rPr lang="en-US" sz="2400" dirty="0"/>
              <a:t> or ZrC around fuel kernel</a:t>
            </a:r>
          </a:p>
          <a:p>
            <a:r>
              <a:rPr lang="en-US" sz="2400" dirty="0"/>
              <a:t>Added as a layer around UO2 fuel kernels and/or dispersed within the buffer</a:t>
            </a:r>
          </a:p>
          <a:p>
            <a:endParaRPr lang="en-US" sz="24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2A9F9AC-9BFD-8F40-8144-D245ECA6BC2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91300" y="2224881"/>
            <a:ext cx="4597400" cy="364490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336A81-4AFB-B24A-A31B-BE4B39714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BE600C-34C1-1B05-7049-A90FE3510171}"/>
              </a:ext>
            </a:extLst>
          </p:cNvPr>
          <p:cNvSpPr txBox="1"/>
          <p:nvPr/>
        </p:nvSpPr>
        <p:spPr>
          <a:xfrm>
            <a:off x="6947338" y="1897084"/>
            <a:ext cx="15134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As-fabricated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2E13CC-0638-9EA9-A7DB-92FB185C4114}"/>
              </a:ext>
            </a:extLst>
          </p:cNvPr>
          <p:cNvSpPr txBox="1"/>
          <p:nvPr/>
        </p:nvSpPr>
        <p:spPr>
          <a:xfrm>
            <a:off x="9264869" y="1900762"/>
            <a:ext cx="15134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Irradiated</a:t>
            </a:r>
          </a:p>
        </p:txBody>
      </p:sp>
    </p:spTree>
    <p:extLst>
      <p:ext uri="{BB962C8B-B14F-4D97-AF65-F5344CB8AC3E}">
        <p14:creationId xmlns:p14="http://schemas.microsoft.com/office/powerpoint/2010/main" val="38533094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CC066-BDD1-7249-A990-408260FD9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Non-fissile Carbides in Fuel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FC9421-E1A3-3C4A-8162-3C73D4A4F10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Introduction of ZrC around fuel kernel getters released oxygen</a:t>
            </a:r>
          </a:p>
          <a:p>
            <a:r>
              <a:rPr lang="en-US" sz="2400" dirty="0"/>
              <a:t>This seems to inhibit fuel kernel migration</a:t>
            </a:r>
          </a:p>
          <a:p>
            <a:r>
              <a:rPr lang="en-US" sz="2400" dirty="0"/>
              <a:t>If the layered ZrC is intact, can inhibit fuel swelling as well, potentially reduced stresses on outer layers</a:t>
            </a:r>
          </a:p>
          <a:p>
            <a:r>
              <a:rPr lang="en-US" sz="2400" dirty="0"/>
              <a:t>Have performed limited irradiation experiments with no failures</a:t>
            </a:r>
          </a:p>
          <a:p>
            <a:endParaRPr lang="en-US" sz="2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E866AF-09CE-8240-AE16-B18819E19EE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400" dirty="0"/>
              <a:t>If the layered ZrC is intact, no release occurs for Ag and Eu</a:t>
            </a:r>
          </a:p>
          <a:p>
            <a:r>
              <a:rPr lang="en-US" sz="2400" dirty="0"/>
              <a:t>Release occurs for both species under same conditions for nominal TRISO and for ZrC dispersed in buffer</a:t>
            </a:r>
          </a:p>
          <a:p>
            <a:r>
              <a:rPr lang="en-US" sz="2400" dirty="0"/>
              <a:t>An intact ZrC layer seems to be necessary for explaining the outstanding retention of these particles, in addition to the benefits of O gettering</a:t>
            </a:r>
          </a:p>
          <a:p>
            <a:endParaRPr lang="en-US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A88D2A-8E5C-FE40-83E8-B5C1CD06F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5952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848FC-FEFA-8E42-84D0-39C4F96CA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Alternate Layering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ADC0-F5B5-3A4E-802B-4D28FBDC1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400800" cy="4157663"/>
          </a:xfrm>
        </p:spPr>
        <p:txBody>
          <a:bodyPr/>
          <a:lstStyle/>
          <a:p>
            <a:r>
              <a:rPr lang="en-US" sz="2400" dirty="0"/>
              <a:t>Two methods are available to prevent the corrosion of the </a:t>
            </a:r>
            <a:r>
              <a:rPr lang="en-US" sz="2400" dirty="0" err="1"/>
              <a:t>SiC</a:t>
            </a:r>
            <a:r>
              <a:rPr lang="en-US" sz="2400" dirty="0"/>
              <a:t> layer: (1) to keep the fission products within the fuel kernel and (2) to make a barrier to the diffusion of the fission products to the </a:t>
            </a:r>
            <a:r>
              <a:rPr lang="en-US" sz="2400" dirty="0" err="1"/>
              <a:t>SiC</a:t>
            </a:r>
            <a:r>
              <a:rPr lang="en-US" sz="2400" dirty="0"/>
              <a:t> layer</a:t>
            </a:r>
          </a:p>
          <a:p>
            <a:r>
              <a:rPr lang="en-US" sz="2400" dirty="0"/>
              <a:t>Can potentially add a layer that traps palladium by chemical reaction inside the </a:t>
            </a:r>
            <a:r>
              <a:rPr lang="en-US" sz="2400" dirty="0" err="1"/>
              <a:t>SiC</a:t>
            </a:r>
            <a:r>
              <a:rPr lang="en-US" sz="2400" dirty="0"/>
              <a:t> layer of the TRISO coating</a:t>
            </a:r>
          </a:p>
          <a:p>
            <a:r>
              <a:rPr lang="en-US" sz="2400" dirty="0"/>
              <a:t>Can add either an additional </a:t>
            </a:r>
            <a:r>
              <a:rPr lang="en-US" sz="2400" dirty="0" err="1"/>
              <a:t>SiC</a:t>
            </a:r>
            <a:r>
              <a:rPr lang="en-US" sz="2400" dirty="0"/>
              <a:t> layer, or a </a:t>
            </a:r>
            <a:r>
              <a:rPr lang="en-US" sz="2400" dirty="0" err="1"/>
              <a:t>SiC</a:t>
            </a:r>
            <a:r>
              <a:rPr lang="en-US" sz="2400" dirty="0"/>
              <a:t>/</a:t>
            </a:r>
            <a:r>
              <a:rPr lang="en-US" sz="2400" dirty="0" err="1"/>
              <a:t>PyC</a:t>
            </a:r>
            <a:r>
              <a:rPr lang="en-US" sz="2400" dirty="0"/>
              <a:t> composite layer</a:t>
            </a:r>
          </a:p>
          <a:p>
            <a:endParaRPr lang="en-US" sz="2400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8930912B-644F-5B43-A829-F8C5C3E64E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121410" y="1772794"/>
            <a:ext cx="4460990" cy="500990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46DC2B-4EB5-334B-9A39-272B716E1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2630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848FC-FEFA-8E42-84D0-39C4F96CA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Alternate Layering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ADC0-F5B5-3A4E-802B-4D28FBDC1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400800" cy="4157663"/>
          </a:xfrm>
        </p:spPr>
        <p:txBody>
          <a:bodyPr/>
          <a:lstStyle/>
          <a:p>
            <a:r>
              <a:rPr lang="en-US" sz="2200" dirty="0"/>
              <a:t>The type-A coating has an additional layer of </a:t>
            </a:r>
            <a:r>
              <a:rPr lang="en-US" sz="2200" dirty="0" err="1"/>
              <a:t>SiC+PyC</a:t>
            </a:r>
            <a:r>
              <a:rPr lang="en-US" sz="2200" dirty="0"/>
              <a:t> adjacent to the inside of the </a:t>
            </a:r>
            <a:r>
              <a:rPr lang="en-US" sz="2200" dirty="0" err="1"/>
              <a:t>SiC</a:t>
            </a:r>
            <a:r>
              <a:rPr lang="en-US" sz="2200" dirty="0"/>
              <a:t> layer; the thickness of the </a:t>
            </a:r>
            <a:r>
              <a:rPr lang="en-US" sz="2200" dirty="0" err="1"/>
              <a:t>IPyC</a:t>
            </a:r>
            <a:r>
              <a:rPr lang="en-US" sz="2200" dirty="0"/>
              <a:t> layer can be reduced</a:t>
            </a:r>
          </a:p>
          <a:p>
            <a:r>
              <a:rPr lang="en-US" sz="2200" dirty="0"/>
              <a:t>The type-B coating has the dense </a:t>
            </a:r>
            <a:r>
              <a:rPr lang="en-US" sz="2200" dirty="0" err="1"/>
              <a:t>PyC</a:t>
            </a:r>
            <a:r>
              <a:rPr lang="en-US" sz="2200" dirty="0"/>
              <a:t> layer between the </a:t>
            </a:r>
            <a:r>
              <a:rPr lang="en-US" sz="2200" dirty="0" err="1"/>
              <a:t>SiC+PyC</a:t>
            </a:r>
            <a:r>
              <a:rPr lang="en-US" sz="2200" dirty="0"/>
              <a:t> and </a:t>
            </a:r>
            <a:r>
              <a:rPr lang="en-US" sz="2200" dirty="0" err="1"/>
              <a:t>SiC</a:t>
            </a:r>
            <a:r>
              <a:rPr lang="en-US" sz="2200" dirty="0"/>
              <a:t> layers; the intermediate dense </a:t>
            </a:r>
            <a:r>
              <a:rPr lang="en-US" sz="2200" dirty="0" err="1"/>
              <a:t>PyC</a:t>
            </a:r>
            <a:r>
              <a:rPr lang="en-US" sz="2200" dirty="0"/>
              <a:t> layer will interrupt extension of the corrosion zone from the </a:t>
            </a:r>
            <a:r>
              <a:rPr lang="en-US" sz="2200" dirty="0" err="1"/>
              <a:t>SiC+PyC</a:t>
            </a:r>
            <a:r>
              <a:rPr lang="en-US" sz="2200" dirty="0"/>
              <a:t> layer to the </a:t>
            </a:r>
            <a:r>
              <a:rPr lang="en-US" sz="2200" dirty="0" err="1"/>
              <a:t>SiC</a:t>
            </a:r>
            <a:r>
              <a:rPr lang="en-US" sz="2200" dirty="0"/>
              <a:t> layer</a:t>
            </a:r>
          </a:p>
          <a:p>
            <a:r>
              <a:rPr lang="en-US" sz="2200" dirty="0"/>
              <a:t>In the type-C coating, </a:t>
            </a:r>
            <a:r>
              <a:rPr lang="en-US" sz="2200" dirty="0" err="1"/>
              <a:t>SiC</a:t>
            </a:r>
            <a:r>
              <a:rPr lang="en-US" sz="2200" dirty="0"/>
              <a:t> is used for an additional layer; </a:t>
            </a:r>
            <a:r>
              <a:rPr lang="en-US" sz="2200" dirty="0" err="1"/>
              <a:t>SiC</a:t>
            </a:r>
            <a:r>
              <a:rPr lang="en-US" sz="2200" dirty="0"/>
              <a:t> layer will react with fission products and </a:t>
            </a:r>
            <a:r>
              <a:rPr lang="en-US" sz="2200" dirty="0" err="1"/>
              <a:t>PyC</a:t>
            </a:r>
            <a:r>
              <a:rPr lang="en-US" sz="2200" dirty="0"/>
              <a:t> will interrupt corrosion of outer </a:t>
            </a:r>
            <a:r>
              <a:rPr lang="en-US" sz="2200" dirty="0" err="1"/>
              <a:t>SiC</a:t>
            </a:r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8930912B-644F-5B43-A829-F8C5C3E64E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121410" y="1772794"/>
            <a:ext cx="4460990" cy="500990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B75321-1D35-EA44-8A28-98D18EB42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2670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848FC-FEFA-8E42-84D0-39C4F96CA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Alternate Layering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ADC0-F5B5-3A4E-802B-4D28FBDC1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7788166" cy="4157663"/>
          </a:xfrm>
        </p:spPr>
        <p:txBody>
          <a:bodyPr/>
          <a:lstStyle/>
          <a:p>
            <a:r>
              <a:rPr lang="en-US" sz="2200" dirty="0"/>
              <a:t>Irradiation of these advanced coatings was performed in the JRR-2 reactor</a:t>
            </a:r>
          </a:p>
          <a:p>
            <a:r>
              <a:rPr lang="en-US" sz="2200" dirty="0" err="1"/>
              <a:t>Ceramography</a:t>
            </a:r>
            <a:r>
              <a:rPr lang="en-US" sz="2200" dirty="0"/>
              <a:t> revealed no crack in the advanced coating layers or in the TRISO coating layers</a:t>
            </a:r>
          </a:p>
          <a:p>
            <a:r>
              <a:rPr lang="en-US" sz="2200" dirty="0"/>
              <a:t>All three types trapped Pd at the inner </a:t>
            </a:r>
            <a:r>
              <a:rPr lang="en-US" sz="2200" dirty="0" err="1"/>
              <a:t>SiC</a:t>
            </a:r>
            <a:r>
              <a:rPr lang="en-US" sz="2200" dirty="0"/>
              <a:t>-based barrier, preventing corrosion of the outer </a:t>
            </a:r>
            <a:r>
              <a:rPr lang="en-US" sz="2200" dirty="0" err="1"/>
              <a:t>SiC</a:t>
            </a:r>
            <a:endParaRPr lang="en-US" sz="2200" dirty="0"/>
          </a:p>
          <a:p>
            <a:r>
              <a:rPr lang="en-US" sz="2200" dirty="0"/>
              <a:t>At high heating, a </a:t>
            </a:r>
            <a:r>
              <a:rPr lang="en-US" sz="2200" dirty="0" err="1"/>
              <a:t>PyC</a:t>
            </a:r>
            <a:r>
              <a:rPr lang="en-US" sz="2200" dirty="0"/>
              <a:t> layer between the outer </a:t>
            </a:r>
            <a:r>
              <a:rPr lang="en-US" sz="2200" dirty="0" err="1"/>
              <a:t>SiC</a:t>
            </a:r>
            <a:r>
              <a:rPr lang="en-US" sz="2200" dirty="0"/>
              <a:t> and the inner </a:t>
            </a:r>
            <a:r>
              <a:rPr lang="en-US" sz="2200" dirty="0" err="1"/>
              <a:t>SiC</a:t>
            </a:r>
            <a:r>
              <a:rPr lang="en-US" sz="2200" dirty="0"/>
              <a:t>-based layer proved more effective at fission product retention</a:t>
            </a:r>
          </a:p>
          <a:p>
            <a:r>
              <a:rPr lang="en-US" sz="2200" dirty="0"/>
              <a:t>Also, the </a:t>
            </a:r>
            <a:r>
              <a:rPr lang="en-US" sz="2200" dirty="0" err="1"/>
              <a:t>SiC</a:t>
            </a:r>
            <a:r>
              <a:rPr lang="en-US" sz="2200" dirty="0"/>
              <a:t>/</a:t>
            </a:r>
            <a:r>
              <a:rPr lang="en-US" sz="2200" dirty="0" err="1"/>
              <a:t>PyC</a:t>
            </a:r>
            <a:r>
              <a:rPr lang="en-US" sz="2200" dirty="0"/>
              <a:t> layer proved more effective than pure </a:t>
            </a:r>
            <a:r>
              <a:rPr lang="en-US" sz="2200" dirty="0" err="1"/>
              <a:t>SiC</a:t>
            </a:r>
            <a:endParaRPr lang="en-US" sz="2200" dirty="0"/>
          </a:p>
          <a:p>
            <a:r>
              <a:rPr lang="en-US" sz="2200" dirty="0"/>
              <a:t>No new technology needed to fabricate these particles</a:t>
            </a:r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08686E8-5240-5942-B580-B3496C626EC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8891060" y="1434306"/>
            <a:ext cx="2584485" cy="506627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7403760-6632-CC44-B283-9C7B5DD8A215}"/>
              </a:ext>
            </a:extLst>
          </p:cNvPr>
          <p:cNvSpPr txBox="1"/>
          <p:nvPr/>
        </p:nvSpPr>
        <p:spPr>
          <a:xfrm>
            <a:off x="9396248" y="6430861"/>
            <a:ext cx="1776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Type B Coating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8B576288-7100-D745-B4C9-DFCD299DC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0000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D686E-04BD-5440-87A8-E66158E7D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9B9BF7-9CEF-9C43-836D-CE9BF12900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10972800" cy="4157663"/>
          </a:xfrm>
        </p:spPr>
        <p:txBody>
          <a:bodyPr/>
          <a:lstStyle/>
          <a:p>
            <a:r>
              <a:rPr lang="en-US" sz="2200" dirty="0"/>
              <a:t>He environment corrosion</a:t>
            </a:r>
          </a:p>
          <a:p>
            <a:pPr lvl="1"/>
            <a:r>
              <a:rPr lang="en-US" sz="2200" dirty="0"/>
              <a:t>impurity driven; primary concern is IHX</a:t>
            </a:r>
          </a:p>
          <a:p>
            <a:pPr lvl="1"/>
            <a:r>
              <a:rPr lang="en-US" sz="2200" dirty="0"/>
              <a:t>can control with cleanup systems, tailoring pO2 and carbon activity</a:t>
            </a:r>
          </a:p>
          <a:p>
            <a:r>
              <a:rPr lang="en-US" sz="2200" dirty="0"/>
              <a:t>TRISO Fuel performance</a:t>
            </a:r>
          </a:p>
          <a:p>
            <a:pPr lvl="1"/>
            <a:r>
              <a:rPr lang="en-US" sz="2200" dirty="0"/>
              <a:t>there are a number of fuel performance codes</a:t>
            </a:r>
          </a:p>
          <a:p>
            <a:pPr lvl="1"/>
            <a:r>
              <a:rPr lang="en-US" sz="2200" dirty="0"/>
              <a:t>data needs, and the evolutionary complexity of particles hold back more sophisticated modelling</a:t>
            </a:r>
          </a:p>
          <a:p>
            <a:r>
              <a:rPr lang="en-US" sz="2200" dirty="0"/>
              <a:t>Advanced concepts in TRISO particles</a:t>
            </a:r>
          </a:p>
          <a:p>
            <a:pPr lvl="1"/>
            <a:r>
              <a:rPr lang="en-US" sz="2200" dirty="0"/>
              <a:t>ZrC instead of </a:t>
            </a:r>
            <a:r>
              <a:rPr lang="en-US" sz="2200" dirty="0" err="1"/>
              <a:t>SiC</a:t>
            </a:r>
            <a:endParaRPr lang="en-US" sz="2200" dirty="0"/>
          </a:p>
          <a:p>
            <a:pPr lvl="1"/>
            <a:r>
              <a:rPr lang="en-US" sz="2200" dirty="0"/>
              <a:t>ZrC/</a:t>
            </a:r>
            <a:r>
              <a:rPr lang="en-US" sz="2200" dirty="0" err="1"/>
              <a:t>SiC</a:t>
            </a:r>
            <a:r>
              <a:rPr lang="en-US" sz="2200" dirty="0"/>
              <a:t> as a layer around kernel</a:t>
            </a:r>
          </a:p>
          <a:p>
            <a:pPr lvl="1"/>
            <a:r>
              <a:rPr lang="en-US" sz="2200" dirty="0"/>
              <a:t>alternate layering of </a:t>
            </a:r>
            <a:r>
              <a:rPr lang="en-US" sz="2200" dirty="0" err="1"/>
              <a:t>SiC</a:t>
            </a:r>
            <a:r>
              <a:rPr lang="en-US" sz="2200" dirty="0"/>
              <a:t>/</a:t>
            </a:r>
            <a:r>
              <a:rPr lang="en-US" sz="2200" dirty="0" err="1"/>
              <a:t>PyC</a:t>
            </a:r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52688A-5D6C-0F43-A75A-3B4ED0E29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2919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FF56A-496A-2047-ADE5-CCF8BA98C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4034AB7-E67D-9247-9D8B-2ACF7BA34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2311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9831C-2508-9D4A-A7D5-7B962726E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 Upcoming!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53258-661B-B74F-816D-CEC5B6E52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Will cover TRISO particle-based fuels</a:t>
            </a:r>
          </a:p>
          <a:p>
            <a:r>
              <a:rPr lang="en-US" dirty="0"/>
              <a:t>Quiz will be on Sept 12</a:t>
            </a:r>
          </a:p>
          <a:p>
            <a:r>
              <a:rPr lang="en-US" dirty="0"/>
              <a:t>Open ended questions covering the concepts presented in class</a:t>
            </a:r>
          </a:p>
          <a:p>
            <a:r>
              <a:rPr lang="en-US" dirty="0"/>
              <a:t>Closed book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74FF8B-7B28-5141-AB2A-3DF172787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3080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947CF-EAEA-5F40-93E5-30922295C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dirty="0"/>
              <a:t>Material Performance in He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A4ECEC-16B6-6141-B1AF-F3EA008DF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2978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C0768-B3BB-3497-0C5E-0AE390B4C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Temperatures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9DF61A-9542-039A-13FA-BE026D4543F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Current designs target 750 C coolant outlet temperatures</a:t>
            </a:r>
          </a:p>
          <a:p>
            <a:r>
              <a:rPr lang="en-US" sz="2200" dirty="0"/>
              <a:t>Process heat requirements may require outlet temperatures up to 950C</a:t>
            </a:r>
          </a:p>
          <a:p>
            <a:r>
              <a:rPr lang="en-US" sz="2200" dirty="0"/>
              <a:t>The most critical metallic component in the VHTR system is the intermediate heat exchanger (IHX)</a:t>
            </a:r>
          </a:p>
          <a:p>
            <a:r>
              <a:rPr lang="en-US" sz="2200" dirty="0"/>
              <a:t>The high temperatures and long duration of operation restrict IHX material selection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A76A75-4A4F-9404-66BC-F56F7E02E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B5B94E0-5E06-6D42-A41D-50D581B40900}" type="slidenum">
              <a:rPr lang="en-US" smtClean="0"/>
              <a:pPr>
                <a:defRPr/>
              </a:pPr>
              <a:t>34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0D168A4-EE58-E1C1-F260-B0B426E8F0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6517" y="2353550"/>
            <a:ext cx="5999905" cy="3152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0643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51BEE-3769-C666-CA99-3063DF861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 and Impurities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C277E-C142-9E98-336F-1F5CA04305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1935726"/>
            <a:ext cx="5583772" cy="4190437"/>
          </a:xfrm>
        </p:spPr>
        <p:txBody>
          <a:bodyPr/>
          <a:lstStyle/>
          <a:p>
            <a:r>
              <a:rPr lang="en-US" sz="2200" dirty="0"/>
              <a:t>In the reactors under consideration, the gas pressure is typically between 5 and 7 MPa</a:t>
            </a:r>
          </a:p>
          <a:p>
            <a:r>
              <a:rPr lang="en-US" sz="2200" dirty="0"/>
              <a:t>The coolant is circulated at high velocity, sometimes over 100 m/s</a:t>
            </a:r>
          </a:p>
          <a:p>
            <a:r>
              <a:rPr lang="en-US" sz="2200" dirty="0"/>
              <a:t>Operating experience has shown that the primary He coolant tends to contain H2O, H2, N2, CO, CO2, and CH4 at concentrations of a few parts per million</a:t>
            </a:r>
          </a:p>
          <a:p>
            <a:r>
              <a:rPr lang="en-US" sz="2200" dirty="0"/>
              <a:t>These are the primary drivers of corrosion in He-cooled systems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74DCA6-5DD1-D4E5-3713-F325C340E5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93372" y="1935726"/>
            <a:ext cx="5389033" cy="4190437"/>
          </a:xfrm>
        </p:spPr>
        <p:txBody>
          <a:bodyPr/>
          <a:lstStyle/>
          <a:p>
            <a:r>
              <a:rPr lang="en-US" sz="2200" dirty="0"/>
              <a:t>Reactor systems need to have extensive gas cleanup systems associated with the helium coolant flow to keep the total impurity levels in the helium below typically 10 ppm</a:t>
            </a:r>
          </a:p>
          <a:p>
            <a:r>
              <a:rPr lang="en-US" sz="2200" dirty="0"/>
              <a:t>Active control should be maintained on the H2O and CO concentrations to reduce oxidation of the graphite</a:t>
            </a:r>
          </a:p>
          <a:p>
            <a:r>
              <a:rPr lang="en-US" sz="2200" dirty="0"/>
              <a:t>Molecular sieves are effective in capturing most of the gaseous impurities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0A1E51-1FAC-FE5C-9A56-333C5CE0D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B5B94E0-5E06-6D42-A41D-50D581B40900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3505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597DB-225E-4F72-1CF7-4D77D0E3A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IHX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F17F7-5928-51A7-F778-288E51E32E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1992326"/>
            <a:ext cx="10972800" cy="2690800"/>
          </a:xfrm>
        </p:spPr>
        <p:txBody>
          <a:bodyPr/>
          <a:lstStyle/>
          <a:p>
            <a:r>
              <a:rPr lang="en-US" sz="2200" dirty="0"/>
              <a:t>The desire for higher temperature operation led to selection of nickel-based alloys</a:t>
            </a:r>
          </a:p>
          <a:p>
            <a:r>
              <a:rPr lang="en-US" sz="2200" dirty="0"/>
              <a:t>These alloys rely on the formation of a chromia layer for long-term protection from environmental degradation</a:t>
            </a:r>
          </a:p>
          <a:p>
            <a:r>
              <a:rPr lang="en-US" sz="2200" dirty="0"/>
              <a:t>The alloys are primarily solid-solution strengthened with carbides on the grain boundaries to improve creep resistance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AA34B6-F3BB-BF1E-B80B-F38C433F7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B5B94E0-5E06-6D42-A41D-50D581B40900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8ECA8D-E27D-33C5-384E-24AE6D744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776" y="4477871"/>
            <a:ext cx="9976447" cy="1768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8508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D9BE0-5E04-B36A-9649-114C47079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IHX Corrosion in VHTR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8C42B3-90A3-1D1A-1C61-DE27C503100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400" dirty="0"/>
              <a:t>Interplay between the alloy surface, temperature, and gas composition determines whether corrosive oxidation, carburization, or decarburization occur</a:t>
            </a:r>
          </a:p>
          <a:p>
            <a:r>
              <a:rPr lang="en-US" sz="2400" dirty="0"/>
              <a:t>Carburization is associated with low-temperature embrittlement, and decarburization is linked to reduced creep rupture strength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BF0F03-97C4-CC7A-98CA-51F2D8AE371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sz="2400" dirty="0"/>
              <a:t>Ideally, a continuous self-healing, impermeable passivating oxide layer is needed to establish the most corrosion resistant alloy</a:t>
            </a:r>
          </a:p>
          <a:p>
            <a:r>
              <a:rPr lang="en-US" sz="2400" dirty="0"/>
              <a:t>There is a critical temperature above which the oxide layer is unstable and CO evolution will occur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072DC3-15EC-C3D7-91A8-B85B2F5B2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B5B94E0-5E06-6D42-A41D-50D581B40900}" type="slidenum">
              <a:rPr lang="en-US" smtClean="0"/>
              <a:pPr>
                <a:defRPr/>
              </a:pPr>
              <a:t>37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EEBC78-E707-1BD1-22DA-2116127DF2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4350" y="5332132"/>
            <a:ext cx="37465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22742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26944-4171-0AE3-0F95-EB623E95C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Alloy 617 Stability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72B45C-6011-0BA6-8B12-20929BCDC9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1966711"/>
            <a:ext cx="5386917" cy="3951288"/>
          </a:xfrm>
        </p:spPr>
        <p:txBody>
          <a:bodyPr/>
          <a:lstStyle/>
          <a:p>
            <a:r>
              <a:rPr lang="en-US" sz="2200" dirty="0"/>
              <a:t>Alloy 617 is the leading candidate for use in the VHTR heat exchangers because it has the highest creep strength of the solid-solution alloys under consideration for temperatures above 850C</a:t>
            </a:r>
          </a:p>
          <a:p>
            <a:r>
              <a:rPr lang="en-US" sz="2200" dirty="0"/>
              <a:t>Five conditions: I – strong reduction; II – decarburization; III – stable external oxide; IV – mixed surface oxide and carbide; and V – strong internal and external carburization</a:t>
            </a:r>
          </a:p>
          <a:p>
            <a:r>
              <a:rPr lang="en-US" sz="2200" dirty="0"/>
              <a:t>Zone 3 is optimal for stability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2DDA221-C466-4ECD-76C3-06285E3F956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6192838" y="2209409"/>
            <a:ext cx="5389562" cy="3882219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9C4B35-D535-71C7-AE36-5A4A549F7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B5B94E0-5E06-6D42-A41D-50D581B40900}" type="slidenum">
              <a:rPr lang="en-US" smtClean="0"/>
              <a:pPr>
                <a:defRPr/>
              </a:pPr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985078"/>
      </p:ext>
    </p:extLst>
  </p:cSld>
  <p:clrMapOvr>
    <a:masterClrMapping/>
  </p:clrMapOvr>
</p:sld>
</file>

<file path=ppt/theme/theme1.xml><?xml version="1.0" encoding="utf-8"?>
<a:theme xmlns:a="http://schemas.openxmlformats.org/drawingml/2006/main" name="1_NCStateU-horizontal-left-lo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87484</TotalTime>
  <Words>2475</Words>
  <Application>Microsoft Macintosh PowerPoint</Application>
  <PresentationFormat>Widescreen</PresentationFormat>
  <Paragraphs>235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1_NCStateU-horizontal-left-logo</vt:lpstr>
      <vt:lpstr>NE 763: Advanced Reactor Materials</vt:lpstr>
      <vt:lpstr>Last Time</vt:lpstr>
      <vt:lpstr>Fabrication</vt:lpstr>
      <vt:lpstr>Fuel Kernel Fabrication</vt:lpstr>
      <vt:lpstr>Fuel Kernel Fabrication</vt:lpstr>
      <vt:lpstr>SiC (and PyC) Fabrication</vt:lpstr>
      <vt:lpstr>TRISO Fabrication</vt:lpstr>
      <vt:lpstr>Pebble and Compact Fabrication</vt:lpstr>
      <vt:lpstr>Pebble and Compact Fabrication</vt:lpstr>
      <vt:lpstr>Summary</vt:lpstr>
      <vt:lpstr>TRISO Fuel Performance</vt:lpstr>
      <vt:lpstr>TRISO Fuel Performance</vt:lpstr>
      <vt:lpstr>Fuel Performance Codes</vt:lpstr>
      <vt:lpstr>SiC Failure</vt:lpstr>
      <vt:lpstr>TRISO Stresses</vt:lpstr>
      <vt:lpstr>TRISO Stresses</vt:lpstr>
      <vt:lpstr>Material Evolution</vt:lpstr>
      <vt:lpstr>Data needs</vt:lpstr>
      <vt:lpstr>Advanced concepts in TRISO</vt:lpstr>
      <vt:lpstr>ZrC replacing SiC </vt:lpstr>
      <vt:lpstr>ZrC replacing SiC </vt:lpstr>
      <vt:lpstr>SiC vs ZrC Corrosion</vt:lpstr>
      <vt:lpstr>ZrC replacing SiC </vt:lpstr>
      <vt:lpstr>ZrC replacing SiC </vt:lpstr>
      <vt:lpstr>Non-fissile Carbides in Fuel</vt:lpstr>
      <vt:lpstr>Non-fissile Carbides in Fuel</vt:lpstr>
      <vt:lpstr>Alternate Layering</vt:lpstr>
      <vt:lpstr>Alternate Layering</vt:lpstr>
      <vt:lpstr>Alternate Layering</vt:lpstr>
      <vt:lpstr>Summary</vt:lpstr>
      <vt:lpstr>Questions?</vt:lpstr>
      <vt:lpstr>Quiz Upcoming!</vt:lpstr>
      <vt:lpstr>Material Performance in He</vt:lpstr>
      <vt:lpstr>High Temperatures</vt:lpstr>
      <vt:lpstr>Flow and Impurities</vt:lpstr>
      <vt:lpstr>IHX Materials</vt:lpstr>
      <vt:lpstr>IHX Corrosion in VHTR</vt:lpstr>
      <vt:lpstr>Alloy 617 Stability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Fuel Fabrication</dc:title>
  <dc:creator>Ben Beeler</dc:creator>
  <cp:lastModifiedBy>Benjamin Beeler</cp:lastModifiedBy>
  <cp:revision>188</cp:revision>
  <dcterms:created xsi:type="dcterms:W3CDTF">2019-12-09T16:44:02Z</dcterms:created>
  <dcterms:modified xsi:type="dcterms:W3CDTF">2025-08-28T19:10:40Z</dcterms:modified>
</cp:coreProperties>
</file>
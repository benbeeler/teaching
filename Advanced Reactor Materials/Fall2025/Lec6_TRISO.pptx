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7"/>
  </p:notesMasterIdLst>
  <p:sldIdLst>
    <p:sldId id="256" r:id="rId2"/>
    <p:sldId id="507" r:id="rId3"/>
    <p:sldId id="508" r:id="rId4"/>
    <p:sldId id="431" r:id="rId5"/>
    <p:sldId id="523" r:id="rId6"/>
    <p:sldId id="521" r:id="rId7"/>
    <p:sldId id="432" r:id="rId8"/>
    <p:sldId id="445" r:id="rId9"/>
    <p:sldId id="522" r:id="rId10"/>
    <p:sldId id="520" r:id="rId11"/>
    <p:sldId id="465" r:id="rId12"/>
    <p:sldId id="419" r:id="rId13"/>
    <p:sldId id="420" r:id="rId14"/>
    <p:sldId id="421" r:id="rId15"/>
    <p:sldId id="422" r:id="rId16"/>
    <p:sldId id="423" r:id="rId17"/>
    <p:sldId id="424" r:id="rId18"/>
    <p:sldId id="426" r:id="rId19"/>
    <p:sldId id="427" r:id="rId20"/>
    <p:sldId id="428" r:id="rId21"/>
    <p:sldId id="466" r:id="rId22"/>
    <p:sldId id="538" r:id="rId23"/>
    <p:sldId id="537" r:id="rId24"/>
    <p:sldId id="539" r:id="rId25"/>
    <p:sldId id="541" r:id="rId26"/>
    <p:sldId id="542" r:id="rId27"/>
    <p:sldId id="543" r:id="rId28"/>
    <p:sldId id="464" r:id="rId29"/>
    <p:sldId id="472" r:id="rId30"/>
    <p:sldId id="473" r:id="rId31"/>
    <p:sldId id="471" r:id="rId32"/>
    <p:sldId id="418" r:id="rId33"/>
    <p:sldId id="474" r:id="rId34"/>
    <p:sldId id="476" r:id="rId35"/>
    <p:sldId id="54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502"/>
    <p:restoredTop sz="94694"/>
  </p:normalViewPr>
  <p:slideViewPr>
    <p:cSldViewPr snapToGrid="0" snapToObjects="1">
      <p:cViewPr varScale="1">
        <p:scale>
          <a:sx n="121" d="100"/>
          <a:sy n="121" d="100"/>
        </p:scale>
        <p:origin x="4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9/2/25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0137FF6-46D6-B849-A6CD-85860317B6E6}" type="slidenum">
              <a:rPr lang="en-US" smtClean="0"/>
              <a:t>14</a:t>
            </a:fld>
            <a:endParaRPr lang="en-US"/>
          </a:p>
        </p:txBody>
      </p:sp>
    </p:spTree>
    <p:extLst>
      <p:ext uri="{BB962C8B-B14F-4D97-AF65-F5344CB8AC3E}">
        <p14:creationId xmlns:p14="http://schemas.microsoft.com/office/powerpoint/2010/main" val="1726749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7EF8CCA7-042D-4344-9F38-A30A24316FF0}" type="datetime1">
              <a:rPr lang="en-US" smtClean="0"/>
              <a:t>9/2/25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lvl1pPr>
              <a:defRPr sz="2800"/>
            </a:lvl1pPr>
            <a:lvl2pPr>
              <a:defRPr sz="2800"/>
            </a:lvl2pPr>
            <a:lvl3pPr>
              <a:defRPr sz="1600"/>
            </a:lvl3pPr>
            <a:lvl4pPr>
              <a:defRPr sz="1800"/>
            </a:lvl4pPr>
            <a:lvl5pPr>
              <a:defRPr sz="12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F85CAF1B-B7C8-8347-AE4A-EC343217B68C}" type="datetime1">
              <a:rPr lang="en-US" smtClean="0"/>
              <a:t>9/2/25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44FF136D-307A-4941-889F-E9EB8268902E}" type="datetime1">
              <a:rPr lang="en-US" smtClean="0"/>
              <a:t>9/2/25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200"/>
            </a:lvl1pPr>
            <a:lvl2pPr>
              <a:defRPr sz="2400"/>
            </a:lvl2pPr>
            <a:lvl3pPr>
              <a:defRPr sz="2000"/>
            </a:lvl3pPr>
            <a:lvl4pPr>
              <a:defRPr sz="1800"/>
            </a:lvl4pPr>
            <a:lvl5pPr>
              <a:defRPr sz="18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B51F76C3-E96E-A54F-A122-6303A871D871}" type="datetime1">
              <a:rPr lang="en-US" smtClean="0"/>
              <a:t>9/2/25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800"/>
            </a:lvl4pPr>
            <a:lvl5pPr>
              <a:defRPr sz="18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4040392-1101-8A42-BEB5-9592F30E3A91}" type="datetime1">
              <a:rPr lang="en-US" smtClean="0"/>
              <a:t>9/2/25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65C72F20-AC2E-6D46-8A6B-0183BC6D49D1}" type="datetime1">
              <a:rPr lang="en-US" smtClean="0"/>
              <a:t>9/2/25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6FEA4AC-8DBD-3E4B-B61C-36A721F07D61}" type="datetime1">
              <a:rPr lang="en-US" smtClean="0"/>
              <a:t>9/2/25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71BFB7E-23D3-E748-98B9-B9A8C558BBAC}" type="datetime1">
              <a:rPr lang="en-US" smtClean="0"/>
              <a:t>9/2/25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C690E0F4-A999-A54E-B545-67F2F70C10FB}" type="datetime1">
              <a:rPr lang="en-US" smtClean="0"/>
              <a:t>9/2/25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1013E56-4916-404E-AAB2-B4BA03F90FC2}" type="datetime1">
              <a:rPr lang="en-US" smtClean="0"/>
              <a:t>9/2/25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81713883-51E5-FD4C-BFE2-284CCAA85938}" type="datetime1">
              <a:rPr lang="en-US" smtClean="0"/>
              <a:t>9/2/25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50A6D047-5534-0641-AA46-5C16F49FBEAF}" type="datetime1">
              <a:rPr lang="en-US" smtClean="0"/>
              <a:t>9/2/25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5.tif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image" Target="../media/image16.tiff"/><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0.tiff"/><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BF1E015E-2E6F-6B40-94AC-A2FDB6C7B9A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3DC84-0091-574A-9F80-9BA14DB58A53}"/>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C5249696-DAB3-3B49-B4C8-AEDA11EFD906}"/>
              </a:ext>
            </a:extLst>
          </p:cNvPr>
          <p:cNvSpPr>
            <a:spLocks noGrp="1"/>
          </p:cNvSpPr>
          <p:nvPr>
            <p:ph idx="1"/>
          </p:nvPr>
        </p:nvSpPr>
        <p:spPr>
          <a:xfrm>
            <a:off x="609599" y="2280746"/>
            <a:ext cx="11183007" cy="3845418"/>
          </a:xfrm>
        </p:spPr>
        <p:txBody>
          <a:bodyPr/>
          <a:lstStyle/>
          <a:p>
            <a:r>
              <a:rPr lang="en-US" sz="2000" dirty="0"/>
              <a:t>Graphite has lots of texture and porosity</a:t>
            </a:r>
          </a:p>
          <a:p>
            <a:r>
              <a:rPr lang="en-US" sz="2000" dirty="0"/>
              <a:t>Thermal stress cracks form…</a:t>
            </a:r>
          </a:p>
          <a:p>
            <a:pPr lvl="1"/>
            <a:r>
              <a:rPr lang="en-US" sz="2000" dirty="0"/>
              <a:t>anisotropic CTE, Mrozowski cracks</a:t>
            </a:r>
          </a:p>
          <a:p>
            <a:r>
              <a:rPr lang="en-US" sz="2000" dirty="0"/>
              <a:t>Radiation induced shrinkage and turnaround… </a:t>
            </a:r>
          </a:p>
          <a:p>
            <a:pPr lvl="1"/>
            <a:r>
              <a:rPr lang="en-US" sz="2000" dirty="0"/>
              <a:t>interstitials cause </a:t>
            </a:r>
            <a:r>
              <a:rPr lang="en-US" sz="2000" i="1" dirty="0"/>
              <a:t>c</a:t>
            </a:r>
            <a:r>
              <a:rPr lang="en-US" sz="2000" dirty="0"/>
              <a:t> expansion and </a:t>
            </a:r>
            <a:r>
              <a:rPr lang="en-US" sz="2000" i="1" dirty="0"/>
              <a:t>a</a:t>
            </a:r>
            <a:r>
              <a:rPr lang="en-US" sz="2000" dirty="0"/>
              <a:t> contraction, vacancies cause </a:t>
            </a:r>
            <a:r>
              <a:rPr lang="en-US" sz="2000" i="1" dirty="0"/>
              <a:t>a</a:t>
            </a:r>
            <a:r>
              <a:rPr lang="en-US" sz="2000" dirty="0"/>
              <a:t> contraction</a:t>
            </a:r>
          </a:p>
          <a:p>
            <a:pPr lvl="1"/>
            <a:r>
              <a:rPr lang="en-US" sz="2000" dirty="0"/>
              <a:t>aligned porosity closes due to lattice expansion, results in net contraction</a:t>
            </a:r>
          </a:p>
          <a:p>
            <a:pPr lvl="1"/>
            <a:r>
              <a:rPr lang="en-US" sz="2000" dirty="0"/>
              <a:t>once porosity is closed, leads to net expansion (faster expansion in </a:t>
            </a:r>
            <a:r>
              <a:rPr lang="en-US" sz="2000" i="1" dirty="0"/>
              <a:t>c </a:t>
            </a:r>
            <a:r>
              <a:rPr lang="en-US" sz="2000" dirty="0"/>
              <a:t>than contraction in </a:t>
            </a:r>
            <a:r>
              <a:rPr lang="en-US" sz="2000" i="1" dirty="0"/>
              <a:t>a</a:t>
            </a:r>
            <a:r>
              <a:rPr lang="en-US" sz="2000" dirty="0"/>
              <a:t>)</a:t>
            </a:r>
          </a:p>
          <a:p>
            <a:r>
              <a:rPr lang="en-US" sz="2000" dirty="0"/>
              <a:t>Graphite thermal conductivity…</a:t>
            </a:r>
          </a:p>
          <a:p>
            <a:r>
              <a:rPr lang="en-US" sz="2000" dirty="0"/>
              <a:t>Irradiation creep is fundamentally important, allows stress relaxation of graphite</a:t>
            </a:r>
          </a:p>
          <a:p>
            <a:endParaRPr lang="en-US" sz="2000" dirty="0"/>
          </a:p>
        </p:txBody>
      </p:sp>
      <p:sp>
        <p:nvSpPr>
          <p:cNvPr id="4" name="Slide Number Placeholder 3">
            <a:extLst>
              <a:ext uri="{FF2B5EF4-FFF2-40B4-BE49-F238E27FC236}">
                <a16:creationId xmlns:a16="http://schemas.microsoft.com/office/drawing/2014/main" id="{E63D0608-22D0-4848-AAC2-5EDF7821481A}"/>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08810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TRISO Fuel Performance</a:t>
            </a:r>
          </a:p>
        </p:txBody>
      </p:sp>
      <p:sp>
        <p:nvSpPr>
          <p:cNvPr id="3" name="Slide Number Placeholder 2">
            <a:extLst>
              <a:ext uri="{FF2B5EF4-FFF2-40B4-BE49-F238E27FC236}">
                <a16:creationId xmlns:a16="http://schemas.microsoft.com/office/drawing/2014/main" id="{48A4ECEC-16B6-6141-B1AF-F3EA008DFACD}"/>
              </a:ext>
            </a:extLst>
          </p:cNvPr>
          <p:cNvSpPr>
            <a:spLocks noGrp="1"/>
          </p:cNvSpPr>
          <p:nvPr>
            <p:ph type="sldNum" sz="quarter" idx="12"/>
          </p:nvPr>
        </p:nvSpPr>
        <p:spPr/>
        <p:txBody>
          <a:bodyPr/>
          <a:lstStyle/>
          <a:p>
            <a:pPr>
              <a:defRPr/>
            </a:pPr>
            <a:fld id="{0DA6BD0F-ABBC-C14D-BC96-77BE126A748B}" type="slidenum">
              <a:rPr lang="en-US" smtClean="0"/>
              <a:pPr>
                <a:defRPr/>
              </a:pPr>
              <a:t>3</a:t>
            </a:fld>
            <a:endParaRPr lang="en-US"/>
          </a:p>
        </p:txBody>
      </p:sp>
    </p:spTree>
    <p:extLst>
      <p:ext uri="{BB962C8B-B14F-4D97-AF65-F5344CB8AC3E}">
        <p14:creationId xmlns:p14="http://schemas.microsoft.com/office/powerpoint/2010/main" val="41376004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E780B-4F37-014A-B881-332E6FE53E5F}"/>
              </a:ext>
            </a:extLst>
          </p:cNvPr>
          <p:cNvSpPr>
            <a:spLocks noGrp="1"/>
          </p:cNvSpPr>
          <p:nvPr>
            <p:ph type="title"/>
          </p:nvPr>
        </p:nvSpPr>
        <p:spPr/>
        <p:txBody>
          <a:bodyPr/>
          <a:lstStyle/>
          <a:p>
            <a:r>
              <a:rPr lang="en-US" dirty="0"/>
              <a:t>TRISO Fuel Performance</a:t>
            </a:r>
          </a:p>
        </p:txBody>
      </p:sp>
      <p:sp>
        <p:nvSpPr>
          <p:cNvPr id="3" name="Content Placeholder 2">
            <a:extLst>
              <a:ext uri="{FF2B5EF4-FFF2-40B4-BE49-F238E27FC236}">
                <a16:creationId xmlns:a16="http://schemas.microsoft.com/office/drawing/2014/main" id="{95DE90B5-3B3E-6D4E-9A88-F35D4AD801C2}"/>
              </a:ext>
            </a:extLst>
          </p:cNvPr>
          <p:cNvSpPr>
            <a:spLocks noGrp="1"/>
          </p:cNvSpPr>
          <p:nvPr>
            <p:ph sz="half" idx="1"/>
          </p:nvPr>
        </p:nvSpPr>
        <p:spPr/>
        <p:txBody>
          <a:bodyPr/>
          <a:lstStyle/>
          <a:p>
            <a:r>
              <a:rPr lang="en-US" sz="2400" dirty="0"/>
              <a:t>Fuel performance models need to be able to account for numerous inter-related phenomena that affect temperatures, stresses, and failure of the material systems</a:t>
            </a:r>
          </a:p>
          <a:p>
            <a:r>
              <a:rPr lang="en-US" sz="2400" dirty="0"/>
              <a:t>Must be multiphysics, incorporating thermodynamics, chemistry, kinetics, microstructure, mechanics, etc. </a:t>
            </a:r>
          </a:p>
        </p:txBody>
      </p:sp>
      <p:sp>
        <p:nvSpPr>
          <p:cNvPr id="4" name="Content Placeholder 3">
            <a:extLst>
              <a:ext uri="{FF2B5EF4-FFF2-40B4-BE49-F238E27FC236}">
                <a16:creationId xmlns:a16="http://schemas.microsoft.com/office/drawing/2014/main" id="{45932237-2A23-254D-AC64-88F6B1FEDB94}"/>
              </a:ext>
            </a:extLst>
          </p:cNvPr>
          <p:cNvSpPr>
            <a:spLocks noGrp="1"/>
          </p:cNvSpPr>
          <p:nvPr>
            <p:ph sz="half" idx="2"/>
          </p:nvPr>
        </p:nvSpPr>
        <p:spPr/>
        <p:txBody>
          <a:bodyPr/>
          <a:lstStyle/>
          <a:p>
            <a:r>
              <a:rPr lang="en-US" sz="2000" dirty="0"/>
              <a:t>Solid fission product swelling</a:t>
            </a:r>
          </a:p>
          <a:p>
            <a:r>
              <a:rPr lang="en-US" sz="2000" dirty="0"/>
              <a:t>Gaseous fission product swelling</a:t>
            </a:r>
          </a:p>
          <a:p>
            <a:r>
              <a:rPr lang="en-US" sz="2000" dirty="0"/>
              <a:t>Densification</a:t>
            </a:r>
          </a:p>
          <a:p>
            <a:r>
              <a:rPr lang="en-US" sz="2000" dirty="0"/>
              <a:t>Thermal conductivity</a:t>
            </a:r>
          </a:p>
          <a:p>
            <a:r>
              <a:rPr lang="en-US" sz="2000" dirty="0"/>
              <a:t>Fission gas release</a:t>
            </a:r>
          </a:p>
          <a:p>
            <a:r>
              <a:rPr lang="en-US" sz="2000" dirty="0"/>
              <a:t>CO production</a:t>
            </a:r>
          </a:p>
          <a:p>
            <a:r>
              <a:rPr lang="en-US" sz="2000" dirty="0"/>
              <a:t>Oxygen transport</a:t>
            </a:r>
          </a:p>
          <a:p>
            <a:r>
              <a:rPr lang="en-US" sz="2000" dirty="0" err="1"/>
              <a:t>PyC</a:t>
            </a:r>
            <a:r>
              <a:rPr lang="en-US" sz="2000" dirty="0"/>
              <a:t> layer dimensional change</a:t>
            </a:r>
          </a:p>
          <a:p>
            <a:r>
              <a:rPr lang="en-US" sz="2000" dirty="0"/>
              <a:t>Kernel migration</a:t>
            </a:r>
          </a:p>
          <a:p>
            <a:r>
              <a:rPr lang="en-US" sz="2000" dirty="0" err="1"/>
              <a:t>SiC</a:t>
            </a:r>
            <a:r>
              <a:rPr lang="en-US" sz="2000" dirty="0"/>
              <a:t> failure</a:t>
            </a:r>
          </a:p>
          <a:p>
            <a:r>
              <a:rPr lang="en-US" sz="2000" dirty="0"/>
              <a:t>Fission product attack</a:t>
            </a:r>
          </a:p>
        </p:txBody>
      </p:sp>
      <p:sp>
        <p:nvSpPr>
          <p:cNvPr id="7" name="Slide Number Placeholder 6">
            <a:extLst>
              <a:ext uri="{FF2B5EF4-FFF2-40B4-BE49-F238E27FC236}">
                <a16:creationId xmlns:a16="http://schemas.microsoft.com/office/drawing/2014/main" id="{A75D5651-C604-B749-AE17-A8D94D40E26C}"/>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59524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0B719-A91C-8A4B-A08A-DC5E07720E92}"/>
              </a:ext>
            </a:extLst>
          </p:cNvPr>
          <p:cNvSpPr>
            <a:spLocks noGrp="1"/>
          </p:cNvSpPr>
          <p:nvPr>
            <p:ph type="title"/>
          </p:nvPr>
        </p:nvSpPr>
        <p:spPr/>
        <p:txBody>
          <a:bodyPr/>
          <a:lstStyle/>
          <a:p>
            <a:r>
              <a:rPr lang="en-US" dirty="0"/>
              <a:t>Fuel Performance Codes</a:t>
            </a:r>
          </a:p>
        </p:txBody>
      </p:sp>
      <p:pic>
        <p:nvPicPr>
          <p:cNvPr id="6" name="Content Placeholder 5">
            <a:extLst>
              <a:ext uri="{FF2B5EF4-FFF2-40B4-BE49-F238E27FC236}">
                <a16:creationId xmlns:a16="http://schemas.microsoft.com/office/drawing/2014/main" id="{5D75D6F6-6132-0B44-9370-097CE1EBF88B}"/>
              </a:ext>
            </a:extLst>
          </p:cNvPr>
          <p:cNvPicPr>
            <a:picLocks noGrp="1" noChangeAspect="1"/>
          </p:cNvPicPr>
          <p:nvPr>
            <p:ph sz="half" idx="1"/>
          </p:nvPr>
        </p:nvPicPr>
        <p:blipFill>
          <a:blip r:embed="rId2"/>
          <a:stretch>
            <a:fillRect/>
          </a:stretch>
        </p:blipFill>
        <p:spPr>
          <a:xfrm>
            <a:off x="609600" y="1716847"/>
            <a:ext cx="7018116" cy="5144047"/>
          </a:xfrm>
          <a:prstGeom prst="rect">
            <a:avLst/>
          </a:prstGeom>
        </p:spPr>
      </p:pic>
      <p:sp>
        <p:nvSpPr>
          <p:cNvPr id="5" name="Slide Number Placeholder 4">
            <a:extLst>
              <a:ext uri="{FF2B5EF4-FFF2-40B4-BE49-F238E27FC236}">
                <a16:creationId xmlns:a16="http://schemas.microsoft.com/office/drawing/2014/main" id="{8165951D-83E5-154F-8498-7422E658DAD3}"/>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pic>
        <p:nvPicPr>
          <p:cNvPr id="7" name="Picture 6">
            <a:extLst>
              <a:ext uri="{FF2B5EF4-FFF2-40B4-BE49-F238E27FC236}">
                <a16:creationId xmlns:a16="http://schemas.microsoft.com/office/drawing/2014/main" id="{DC25BB7B-DBDA-6D4F-87A3-B02F2A17B939}"/>
              </a:ext>
            </a:extLst>
          </p:cNvPr>
          <p:cNvPicPr>
            <a:picLocks noChangeAspect="1"/>
          </p:cNvPicPr>
          <p:nvPr/>
        </p:nvPicPr>
        <p:blipFill>
          <a:blip r:embed="rId3"/>
          <a:stretch>
            <a:fillRect/>
          </a:stretch>
        </p:blipFill>
        <p:spPr>
          <a:xfrm>
            <a:off x="8066992" y="1775244"/>
            <a:ext cx="2952107" cy="2546546"/>
          </a:xfrm>
          <a:prstGeom prst="rect">
            <a:avLst/>
          </a:prstGeom>
        </p:spPr>
      </p:pic>
      <p:pic>
        <p:nvPicPr>
          <p:cNvPr id="8" name="Picture 7">
            <a:extLst>
              <a:ext uri="{FF2B5EF4-FFF2-40B4-BE49-F238E27FC236}">
                <a16:creationId xmlns:a16="http://schemas.microsoft.com/office/drawing/2014/main" id="{41F65EDD-991E-6347-BACF-FC8B93A2D386}"/>
              </a:ext>
            </a:extLst>
          </p:cNvPr>
          <p:cNvPicPr>
            <a:picLocks noChangeAspect="1"/>
          </p:cNvPicPr>
          <p:nvPr/>
        </p:nvPicPr>
        <p:blipFill>
          <a:blip r:embed="rId4"/>
          <a:stretch>
            <a:fillRect/>
          </a:stretch>
        </p:blipFill>
        <p:spPr>
          <a:xfrm>
            <a:off x="8174300" y="4321789"/>
            <a:ext cx="2844800" cy="2536211"/>
          </a:xfrm>
          <a:prstGeom prst="rect">
            <a:avLst/>
          </a:prstGeom>
        </p:spPr>
      </p:pic>
    </p:spTree>
    <p:extLst>
      <p:ext uri="{BB962C8B-B14F-4D97-AF65-F5344CB8AC3E}">
        <p14:creationId xmlns:p14="http://schemas.microsoft.com/office/powerpoint/2010/main" val="1270648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11702-9239-3547-8D04-A2E911AC6F67}"/>
              </a:ext>
            </a:extLst>
          </p:cNvPr>
          <p:cNvSpPr>
            <a:spLocks noGrp="1"/>
          </p:cNvSpPr>
          <p:nvPr>
            <p:ph type="title"/>
          </p:nvPr>
        </p:nvSpPr>
        <p:spPr/>
        <p:txBody>
          <a:bodyPr/>
          <a:lstStyle/>
          <a:p>
            <a:r>
              <a:rPr lang="en-US" dirty="0" err="1"/>
              <a:t>SiC</a:t>
            </a:r>
            <a:r>
              <a:rPr lang="en-US" dirty="0"/>
              <a:t> Failure</a:t>
            </a:r>
          </a:p>
        </p:txBody>
      </p:sp>
      <p:sp>
        <p:nvSpPr>
          <p:cNvPr id="3" name="Content Placeholder 2">
            <a:extLst>
              <a:ext uri="{FF2B5EF4-FFF2-40B4-BE49-F238E27FC236}">
                <a16:creationId xmlns:a16="http://schemas.microsoft.com/office/drawing/2014/main" id="{FB5811CC-2C44-EB44-8E77-AF78A5AB75C2}"/>
              </a:ext>
            </a:extLst>
          </p:cNvPr>
          <p:cNvSpPr>
            <a:spLocks noGrp="1"/>
          </p:cNvSpPr>
          <p:nvPr>
            <p:ph sz="half" idx="1"/>
          </p:nvPr>
        </p:nvSpPr>
        <p:spPr>
          <a:xfrm>
            <a:off x="609599" y="1968503"/>
            <a:ext cx="6555129" cy="4157663"/>
          </a:xfrm>
        </p:spPr>
        <p:txBody>
          <a:bodyPr/>
          <a:lstStyle/>
          <a:p>
            <a:r>
              <a:rPr lang="en-US" sz="2400" dirty="0"/>
              <a:t>The dominant 1D failure mechanism for TRISO fuel particles involves pressure vessel failure, where the </a:t>
            </a:r>
            <a:r>
              <a:rPr lang="en-US" sz="2400" dirty="0" err="1"/>
              <a:t>SiC</a:t>
            </a:r>
            <a:r>
              <a:rPr lang="en-US" sz="2400" dirty="0"/>
              <a:t> layer develops a through-thickness crack resulting from a tensile stress that exceeds the fracture strength of the material</a:t>
            </a:r>
          </a:p>
          <a:p>
            <a:r>
              <a:rPr lang="en-US" sz="2400" dirty="0"/>
              <a:t>Modern approaches to pressure vessel failure explicitly calculate separate stresses and through-layer crack probabilities for the </a:t>
            </a:r>
            <a:r>
              <a:rPr lang="en-US" sz="2400" dirty="0" err="1"/>
              <a:t>SiC</a:t>
            </a:r>
            <a:r>
              <a:rPr lang="en-US" sz="2400" dirty="0"/>
              <a:t> layer and each </a:t>
            </a:r>
            <a:r>
              <a:rPr lang="en-US" sz="2400" dirty="0" err="1"/>
              <a:t>PyC</a:t>
            </a:r>
            <a:r>
              <a:rPr lang="en-US" sz="2400" dirty="0"/>
              <a:t> layer</a:t>
            </a:r>
          </a:p>
          <a:p>
            <a:endParaRPr lang="en-US" sz="2400" dirty="0"/>
          </a:p>
          <a:p>
            <a:endParaRPr lang="en-US" sz="2400" dirty="0"/>
          </a:p>
        </p:txBody>
      </p:sp>
      <p:pic>
        <p:nvPicPr>
          <p:cNvPr id="6" name="Content Placeholder 5">
            <a:extLst>
              <a:ext uri="{FF2B5EF4-FFF2-40B4-BE49-F238E27FC236}">
                <a16:creationId xmlns:a16="http://schemas.microsoft.com/office/drawing/2014/main" id="{6250C5F5-30E2-C542-BE86-D0E81B6880D9}"/>
              </a:ext>
            </a:extLst>
          </p:cNvPr>
          <p:cNvPicPr>
            <a:picLocks noGrp="1" noChangeAspect="1"/>
          </p:cNvPicPr>
          <p:nvPr>
            <p:ph sz="half" idx="2"/>
          </p:nvPr>
        </p:nvPicPr>
        <p:blipFill>
          <a:blip r:embed="rId2"/>
          <a:stretch>
            <a:fillRect/>
          </a:stretch>
        </p:blipFill>
        <p:spPr>
          <a:xfrm>
            <a:off x="7373314" y="3017882"/>
            <a:ext cx="4000500" cy="1892300"/>
          </a:xfrm>
          <a:prstGeom prst="rect">
            <a:avLst/>
          </a:prstGeom>
        </p:spPr>
      </p:pic>
      <p:sp>
        <p:nvSpPr>
          <p:cNvPr id="5" name="Slide Number Placeholder 4">
            <a:extLst>
              <a:ext uri="{FF2B5EF4-FFF2-40B4-BE49-F238E27FC236}">
                <a16:creationId xmlns:a16="http://schemas.microsoft.com/office/drawing/2014/main" id="{28B060A3-A068-EC47-97C2-649D4BE21CEA}"/>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28574761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2A897-E5C3-3B47-A99D-C61297471C0D}"/>
              </a:ext>
            </a:extLst>
          </p:cNvPr>
          <p:cNvSpPr>
            <a:spLocks noGrp="1"/>
          </p:cNvSpPr>
          <p:nvPr>
            <p:ph type="title"/>
          </p:nvPr>
        </p:nvSpPr>
        <p:spPr/>
        <p:txBody>
          <a:bodyPr/>
          <a:lstStyle/>
          <a:p>
            <a:r>
              <a:rPr lang="en-US" dirty="0"/>
              <a:t>TRISO Stresses</a:t>
            </a:r>
          </a:p>
        </p:txBody>
      </p:sp>
      <p:sp>
        <p:nvSpPr>
          <p:cNvPr id="3" name="Content Placeholder 2">
            <a:extLst>
              <a:ext uri="{FF2B5EF4-FFF2-40B4-BE49-F238E27FC236}">
                <a16:creationId xmlns:a16="http://schemas.microsoft.com/office/drawing/2014/main" id="{DFDBCACA-CE4D-A846-9BF1-2E06590219B4}"/>
              </a:ext>
            </a:extLst>
          </p:cNvPr>
          <p:cNvSpPr>
            <a:spLocks noGrp="1"/>
          </p:cNvSpPr>
          <p:nvPr>
            <p:ph sz="half" idx="1"/>
          </p:nvPr>
        </p:nvSpPr>
        <p:spPr>
          <a:xfrm>
            <a:off x="609599" y="1968503"/>
            <a:ext cx="7598485" cy="4157663"/>
          </a:xfrm>
        </p:spPr>
        <p:txBody>
          <a:bodyPr/>
          <a:lstStyle/>
          <a:p>
            <a:r>
              <a:rPr lang="en-US" sz="2000" dirty="0"/>
              <a:t>The irradiation causes the kernel to swell and the buffer layer to shrink, thereby modifying the internal void volume available to the fission and reaction gases</a:t>
            </a:r>
          </a:p>
          <a:p>
            <a:r>
              <a:rPr lang="en-US" sz="2000" dirty="0"/>
              <a:t>The porosity of the buffer leads to the gas pressure being the only force on the load-bearing layers</a:t>
            </a:r>
          </a:p>
          <a:p>
            <a:r>
              <a:rPr lang="en-US" sz="2000" dirty="0"/>
              <a:t>If the </a:t>
            </a:r>
            <a:r>
              <a:rPr lang="en-US" sz="2000" dirty="0" err="1"/>
              <a:t>IPyC</a:t>
            </a:r>
            <a:r>
              <a:rPr lang="en-US" sz="2000" dirty="0"/>
              <a:t> and </a:t>
            </a:r>
            <a:r>
              <a:rPr lang="en-US" sz="2000" dirty="0" err="1"/>
              <a:t>OPyC</a:t>
            </a:r>
            <a:r>
              <a:rPr lang="en-US" sz="2000" dirty="0"/>
              <a:t> were absent, the gases produced in the fission process would simply stress the </a:t>
            </a:r>
            <a:r>
              <a:rPr lang="en-US" sz="2000" dirty="0" err="1"/>
              <a:t>SiC</a:t>
            </a:r>
            <a:r>
              <a:rPr lang="en-US" sz="2000" dirty="0"/>
              <a:t> layer and, if the pressure were high enough, cause it to fail</a:t>
            </a:r>
          </a:p>
          <a:p>
            <a:r>
              <a:rPr lang="en-US" sz="2000" dirty="0"/>
              <a:t>However, these tangential stresses are reduced by the presence of the two </a:t>
            </a:r>
            <a:r>
              <a:rPr lang="en-US" sz="2000" dirty="0" err="1"/>
              <a:t>PyC</a:t>
            </a:r>
            <a:r>
              <a:rPr lang="en-US" sz="2000" dirty="0"/>
              <a:t> layers because; under unrestrained conditions they would shrink during irradiation</a:t>
            </a:r>
          </a:p>
          <a:p>
            <a:endParaRPr lang="en-US" sz="2000" dirty="0"/>
          </a:p>
        </p:txBody>
      </p:sp>
      <p:pic>
        <p:nvPicPr>
          <p:cNvPr id="5" name="Content Placeholder 4">
            <a:extLst>
              <a:ext uri="{FF2B5EF4-FFF2-40B4-BE49-F238E27FC236}">
                <a16:creationId xmlns:a16="http://schemas.microsoft.com/office/drawing/2014/main" id="{913DDFB2-9F22-C143-9533-98CC137911B0}"/>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8891142" y="1791346"/>
            <a:ext cx="2350600" cy="4646790"/>
          </a:xfrm>
          <a:prstGeom prst="rect">
            <a:avLst/>
          </a:prstGeom>
        </p:spPr>
      </p:pic>
      <p:sp>
        <p:nvSpPr>
          <p:cNvPr id="4" name="Slide Number Placeholder 3">
            <a:extLst>
              <a:ext uri="{FF2B5EF4-FFF2-40B4-BE49-F238E27FC236}">
                <a16:creationId xmlns:a16="http://schemas.microsoft.com/office/drawing/2014/main" id="{61A203A0-02D3-2544-AC73-C1B898EC42B1}"/>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12621599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TRISO Stresses</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6404386" cy="4157663"/>
          </a:xfrm>
        </p:spPr>
        <p:txBody>
          <a:bodyPr/>
          <a:lstStyle/>
          <a:p>
            <a:r>
              <a:rPr lang="en-US" sz="2000" dirty="0" err="1"/>
              <a:t>PyC</a:t>
            </a:r>
            <a:r>
              <a:rPr lang="en-US" sz="2000" dirty="0"/>
              <a:t> shrinkage will be largely restrained by the </a:t>
            </a:r>
            <a:r>
              <a:rPr lang="en-US" sz="2000" dirty="0" err="1"/>
              <a:t>SiC</a:t>
            </a:r>
            <a:r>
              <a:rPr lang="en-US" sz="2000" dirty="0"/>
              <a:t> layer, and tangential stresses will be generated in both </a:t>
            </a:r>
            <a:r>
              <a:rPr lang="en-US" sz="2000" dirty="0" err="1"/>
              <a:t>PyC</a:t>
            </a:r>
            <a:r>
              <a:rPr lang="en-US" sz="2000" dirty="0"/>
              <a:t> layers, with radial (inward) acting forces imposed on the two surfaces of the </a:t>
            </a:r>
            <a:r>
              <a:rPr lang="en-US" sz="2000" dirty="0" err="1"/>
              <a:t>SiC</a:t>
            </a:r>
            <a:r>
              <a:rPr lang="en-US" sz="2000" dirty="0"/>
              <a:t> layer</a:t>
            </a:r>
          </a:p>
          <a:p>
            <a:r>
              <a:rPr lang="en-US" sz="2000" dirty="0"/>
              <a:t>In practice, these tangential stresses in the two </a:t>
            </a:r>
            <a:r>
              <a:rPr lang="en-US" sz="2000" dirty="0" err="1"/>
              <a:t>PyC</a:t>
            </a:r>
            <a:r>
              <a:rPr lang="en-US" sz="2000" dirty="0"/>
              <a:t> layers will attain a quasi-equilibrium stress state because their shrinkage is counter-balanced by irradiation creep</a:t>
            </a:r>
          </a:p>
          <a:p>
            <a:r>
              <a:rPr lang="en-US" sz="2000" dirty="0"/>
              <a:t>The </a:t>
            </a:r>
            <a:r>
              <a:rPr lang="en-US" sz="2000" dirty="0" err="1"/>
              <a:t>SiC</a:t>
            </a:r>
            <a:r>
              <a:rPr lang="en-US" sz="2000" dirty="0"/>
              <a:t> elastic modulus is at least an order of magnitude greater than that of </a:t>
            </a:r>
            <a:r>
              <a:rPr lang="en-US" sz="2000" dirty="0" err="1"/>
              <a:t>PyC</a:t>
            </a:r>
            <a:r>
              <a:rPr lang="en-US" sz="2000" dirty="0"/>
              <a:t> and thus, the dimensional changes and creep strains of </a:t>
            </a:r>
            <a:r>
              <a:rPr lang="en-US" sz="2000" dirty="0" err="1"/>
              <a:t>SiC</a:t>
            </a:r>
            <a:r>
              <a:rPr lang="en-US" sz="2000" dirty="0"/>
              <a:t> are comparatively much smaller than for </a:t>
            </a:r>
            <a:r>
              <a:rPr lang="en-US" sz="2000" dirty="0" err="1"/>
              <a:t>PyC</a:t>
            </a:r>
            <a:endParaRPr lang="en-US" sz="2000" dirty="0"/>
          </a:p>
          <a:p>
            <a:endParaRPr lang="en-US" sz="2000" dirty="0"/>
          </a:p>
        </p:txBody>
      </p:sp>
      <p:pic>
        <p:nvPicPr>
          <p:cNvPr id="4" name="Content Placeholder 3">
            <a:extLst>
              <a:ext uri="{FF2B5EF4-FFF2-40B4-BE49-F238E27FC236}">
                <a16:creationId xmlns:a16="http://schemas.microsoft.com/office/drawing/2014/main" id="{68CE449D-A1DE-D242-A748-A03542D74F8B}"/>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134574" y="1102471"/>
            <a:ext cx="2902772" cy="2598160"/>
          </a:xfrm>
          <a:prstGeom prst="rect">
            <a:avLst/>
          </a:prstGeom>
        </p:spPr>
      </p:pic>
      <p:pic>
        <p:nvPicPr>
          <p:cNvPr id="5" name="Picture 4">
            <a:extLst>
              <a:ext uri="{FF2B5EF4-FFF2-40B4-BE49-F238E27FC236}">
                <a16:creationId xmlns:a16="http://schemas.microsoft.com/office/drawing/2014/main" id="{69C61976-536B-4D48-BE6C-7DA7497985B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73210" y="3700631"/>
            <a:ext cx="2950328" cy="3157369"/>
          </a:xfrm>
          <a:prstGeom prst="rect">
            <a:avLst/>
          </a:prstGeom>
        </p:spPr>
      </p:pic>
      <p:sp>
        <p:nvSpPr>
          <p:cNvPr id="6" name="Slide Number Placeholder 5">
            <a:extLst>
              <a:ext uri="{FF2B5EF4-FFF2-40B4-BE49-F238E27FC236}">
                <a16:creationId xmlns:a16="http://schemas.microsoft.com/office/drawing/2014/main" id="{07682D7B-9D19-4241-AA4F-39DB89599809}"/>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1723363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63EB93-8FA0-A9FE-A3C9-0FAC390E524F}"/>
              </a:ext>
            </a:extLst>
          </p:cNvPr>
          <p:cNvPicPr>
            <a:picLocks noChangeAspect="1"/>
          </p:cNvPicPr>
          <p:nvPr/>
        </p:nvPicPr>
        <p:blipFill>
          <a:blip r:embed="rId2"/>
          <a:stretch>
            <a:fillRect/>
          </a:stretch>
        </p:blipFill>
        <p:spPr>
          <a:xfrm>
            <a:off x="5855191" y="2167905"/>
            <a:ext cx="2259000" cy="4371009"/>
          </a:xfrm>
          <a:prstGeom prst="rect">
            <a:avLst/>
          </a:prstGeom>
        </p:spPr>
      </p:pic>
      <p:sp>
        <p:nvSpPr>
          <p:cNvPr id="2" name="Title 1">
            <a:extLst>
              <a:ext uri="{FF2B5EF4-FFF2-40B4-BE49-F238E27FC236}">
                <a16:creationId xmlns:a16="http://schemas.microsoft.com/office/drawing/2014/main" id="{D1610916-646C-414F-90D0-19B6FDCA34C7}"/>
              </a:ext>
            </a:extLst>
          </p:cNvPr>
          <p:cNvSpPr>
            <a:spLocks noGrp="1"/>
          </p:cNvSpPr>
          <p:nvPr>
            <p:ph type="title"/>
          </p:nvPr>
        </p:nvSpPr>
        <p:spPr/>
        <p:txBody>
          <a:bodyPr/>
          <a:lstStyle/>
          <a:p>
            <a:r>
              <a:rPr lang="en-US" dirty="0"/>
              <a:t>Material Evolution</a:t>
            </a:r>
          </a:p>
        </p:txBody>
      </p:sp>
      <p:sp>
        <p:nvSpPr>
          <p:cNvPr id="3" name="Content Placeholder 2">
            <a:extLst>
              <a:ext uri="{FF2B5EF4-FFF2-40B4-BE49-F238E27FC236}">
                <a16:creationId xmlns:a16="http://schemas.microsoft.com/office/drawing/2014/main" id="{3A759FE5-6844-D649-992C-C937AE14B423}"/>
              </a:ext>
            </a:extLst>
          </p:cNvPr>
          <p:cNvSpPr>
            <a:spLocks noGrp="1"/>
          </p:cNvSpPr>
          <p:nvPr>
            <p:ph sz="half" idx="1"/>
          </p:nvPr>
        </p:nvSpPr>
        <p:spPr/>
        <p:txBody>
          <a:bodyPr/>
          <a:lstStyle/>
          <a:p>
            <a:r>
              <a:rPr lang="en-US" sz="2400" dirty="0"/>
              <a:t>Ideally, would be able to model and describe 3D modes of failure</a:t>
            </a:r>
          </a:p>
          <a:p>
            <a:pPr lvl="1"/>
            <a:r>
              <a:rPr lang="en-US" sz="2400" dirty="0"/>
              <a:t>Shrinkage cracks within the </a:t>
            </a:r>
            <a:r>
              <a:rPr lang="en-US" sz="2400" dirty="0" err="1"/>
              <a:t>IPyC</a:t>
            </a:r>
            <a:r>
              <a:rPr lang="en-US" sz="2400" dirty="0"/>
              <a:t> layer</a:t>
            </a:r>
          </a:p>
          <a:p>
            <a:pPr lvl="1"/>
            <a:r>
              <a:rPr lang="en-US" sz="2400" dirty="0" err="1"/>
              <a:t>IPyC</a:t>
            </a:r>
            <a:r>
              <a:rPr lang="en-US" sz="2400" dirty="0"/>
              <a:t>/</a:t>
            </a:r>
            <a:r>
              <a:rPr lang="en-US" sz="2400" dirty="0" err="1"/>
              <a:t>SiC</a:t>
            </a:r>
            <a:r>
              <a:rPr lang="en-US" sz="2400" dirty="0"/>
              <a:t> debonding</a:t>
            </a:r>
          </a:p>
          <a:p>
            <a:pPr lvl="1"/>
            <a:r>
              <a:rPr lang="en-US" sz="2400" dirty="0"/>
              <a:t>Particle </a:t>
            </a:r>
            <a:r>
              <a:rPr lang="en-US" sz="2400" dirty="0" err="1"/>
              <a:t>asphericity</a:t>
            </a:r>
            <a:endParaRPr lang="en-US" sz="2400" dirty="0"/>
          </a:p>
          <a:p>
            <a:pPr lvl="1"/>
            <a:r>
              <a:rPr lang="en-US" sz="2400" dirty="0"/>
              <a:t>Kernel migration</a:t>
            </a:r>
          </a:p>
          <a:p>
            <a:pPr lvl="1"/>
            <a:r>
              <a:rPr lang="en-US" sz="2400" dirty="0" err="1"/>
              <a:t>SiC</a:t>
            </a:r>
            <a:r>
              <a:rPr lang="en-US" sz="2400" dirty="0"/>
              <a:t> coating thinning</a:t>
            </a:r>
          </a:p>
          <a:p>
            <a:pPr lvl="1"/>
            <a:r>
              <a:rPr lang="en-US" sz="2400" dirty="0"/>
              <a:t>Fission product attack</a:t>
            </a:r>
          </a:p>
          <a:p>
            <a:endParaRPr lang="en-US" sz="2400" dirty="0"/>
          </a:p>
        </p:txBody>
      </p:sp>
      <p:pic>
        <p:nvPicPr>
          <p:cNvPr id="6" name="Content Placeholder 5">
            <a:extLst>
              <a:ext uri="{FF2B5EF4-FFF2-40B4-BE49-F238E27FC236}">
                <a16:creationId xmlns:a16="http://schemas.microsoft.com/office/drawing/2014/main" id="{8DD4B38D-DCF4-8145-A600-A954E567C71C}"/>
              </a:ext>
            </a:extLst>
          </p:cNvPr>
          <p:cNvPicPr>
            <a:picLocks noGrp="1" noChangeAspect="1"/>
          </p:cNvPicPr>
          <p:nvPr>
            <p:ph sz="half" idx="2"/>
          </p:nvPr>
        </p:nvPicPr>
        <p:blipFill>
          <a:blip r:embed="rId3"/>
          <a:stretch>
            <a:fillRect/>
          </a:stretch>
        </p:blipFill>
        <p:spPr>
          <a:xfrm>
            <a:off x="9256031" y="2007454"/>
            <a:ext cx="1875221" cy="249364"/>
          </a:xfrm>
          <a:prstGeom prst="rect">
            <a:avLst/>
          </a:prstGeom>
        </p:spPr>
      </p:pic>
      <p:sp>
        <p:nvSpPr>
          <p:cNvPr id="5" name="Slide Number Placeholder 4">
            <a:extLst>
              <a:ext uri="{FF2B5EF4-FFF2-40B4-BE49-F238E27FC236}">
                <a16:creationId xmlns:a16="http://schemas.microsoft.com/office/drawing/2014/main" id="{5DCB2CE3-A0AA-6D41-9060-FA02DDE217EF}"/>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7" name="Picture 6">
            <a:extLst>
              <a:ext uri="{FF2B5EF4-FFF2-40B4-BE49-F238E27FC236}">
                <a16:creationId xmlns:a16="http://schemas.microsoft.com/office/drawing/2014/main" id="{19F6BD47-B631-9242-BDEC-A019BEEE5BE4}"/>
              </a:ext>
            </a:extLst>
          </p:cNvPr>
          <p:cNvPicPr>
            <a:picLocks noChangeAspect="1"/>
          </p:cNvPicPr>
          <p:nvPr/>
        </p:nvPicPr>
        <p:blipFill>
          <a:blip r:embed="rId4"/>
          <a:stretch>
            <a:fillRect/>
          </a:stretch>
        </p:blipFill>
        <p:spPr>
          <a:xfrm>
            <a:off x="8800552" y="4291136"/>
            <a:ext cx="2673187" cy="458831"/>
          </a:xfrm>
          <a:prstGeom prst="rect">
            <a:avLst/>
          </a:prstGeom>
        </p:spPr>
      </p:pic>
      <p:pic>
        <p:nvPicPr>
          <p:cNvPr id="8" name="Picture 7">
            <a:extLst>
              <a:ext uri="{FF2B5EF4-FFF2-40B4-BE49-F238E27FC236}">
                <a16:creationId xmlns:a16="http://schemas.microsoft.com/office/drawing/2014/main" id="{47C7416B-FC44-1D42-94BA-AFF2A062DE7A}"/>
              </a:ext>
            </a:extLst>
          </p:cNvPr>
          <p:cNvPicPr>
            <a:picLocks noChangeAspect="1"/>
          </p:cNvPicPr>
          <p:nvPr/>
        </p:nvPicPr>
        <p:blipFill>
          <a:blip r:embed="rId5"/>
          <a:stretch>
            <a:fillRect/>
          </a:stretch>
        </p:blipFill>
        <p:spPr>
          <a:xfrm>
            <a:off x="7903777" y="4837142"/>
            <a:ext cx="4237685" cy="288933"/>
          </a:xfrm>
          <a:prstGeom prst="rect">
            <a:avLst/>
          </a:prstGeom>
        </p:spPr>
      </p:pic>
      <p:pic>
        <p:nvPicPr>
          <p:cNvPr id="9" name="Picture 8">
            <a:extLst>
              <a:ext uri="{FF2B5EF4-FFF2-40B4-BE49-F238E27FC236}">
                <a16:creationId xmlns:a16="http://schemas.microsoft.com/office/drawing/2014/main" id="{FDB6E9C0-D8DE-5E49-8893-FF1703632595}"/>
              </a:ext>
            </a:extLst>
          </p:cNvPr>
          <p:cNvPicPr>
            <a:picLocks noChangeAspect="1"/>
          </p:cNvPicPr>
          <p:nvPr/>
        </p:nvPicPr>
        <p:blipFill>
          <a:blip r:embed="rId6"/>
          <a:stretch>
            <a:fillRect/>
          </a:stretch>
        </p:blipFill>
        <p:spPr>
          <a:xfrm>
            <a:off x="8241597" y="2405821"/>
            <a:ext cx="3836805" cy="1811824"/>
          </a:xfrm>
          <a:prstGeom prst="rect">
            <a:avLst/>
          </a:prstGeom>
        </p:spPr>
      </p:pic>
      <p:pic>
        <p:nvPicPr>
          <p:cNvPr id="10" name="Picture 9">
            <a:extLst>
              <a:ext uri="{FF2B5EF4-FFF2-40B4-BE49-F238E27FC236}">
                <a16:creationId xmlns:a16="http://schemas.microsoft.com/office/drawing/2014/main" id="{FD2098D0-AD4D-FF4E-8946-D4AB2239598B}"/>
              </a:ext>
            </a:extLst>
          </p:cNvPr>
          <p:cNvPicPr>
            <a:picLocks noChangeAspect="1"/>
          </p:cNvPicPr>
          <p:nvPr/>
        </p:nvPicPr>
        <p:blipFill>
          <a:blip r:embed="rId7"/>
          <a:stretch>
            <a:fillRect/>
          </a:stretch>
        </p:blipFill>
        <p:spPr>
          <a:xfrm>
            <a:off x="8211421" y="5224313"/>
            <a:ext cx="3851448" cy="468650"/>
          </a:xfrm>
          <a:prstGeom prst="rect">
            <a:avLst/>
          </a:prstGeom>
        </p:spPr>
      </p:pic>
    </p:spTree>
    <p:extLst>
      <p:ext uri="{BB962C8B-B14F-4D97-AF65-F5344CB8AC3E}">
        <p14:creationId xmlns:p14="http://schemas.microsoft.com/office/powerpoint/2010/main" val="40322911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8DCB0-59AC-C146-837C-E3CF7623FDCF}"/>
              </a:ext>
            </a:extLst>
          </p:cNvPr>
          <p:cNvSpPr>
            <a:spLocks noGrp="1"/>
          </p:cNvSpPr>
          <p:nvPr>
            <p:ph type="title"/>
          </p:nvPr>
        </p:nvSpPr>
        <p:spPr/>
        <p:txBody>
          <a:bodyPr/>
          <a:lstStyle/>
          <a:p>
            <a:r>
              <a:rPr lang="en-US" dirty="0"/>
              <a:t>Data needs</a:t>
            </a:r>
          </a:p>
        </p:txBody>
      </p:sp>
      <p:sp>
        <p:nvSpPr>
          <p:cNvPr id="3" name="Content Placeholder 2">
            <a:extLst>
              <a:ext uri="{FF2B5EF4-FFF2-40B4-BE49-F238E27FC236}">
                <a16:creationId xmlns:a16="http://schemas.microsoft.com/office/drawing/2014/main" id="{77F69A94-E052-3847-9CA7-EA64A1E32317}"/>
              </a:ext>
            </a:extLst>
          </p:cNvPr>
          <p:cNvSpPr>
            <a:spLocks noGrp="1"/>
          </p:cNvSpPr>
          <p:nvPr>
            <p:ph sz="half" idx="1"/>
          </p:nvPr>
        </p:nvSpPr>
        <p:spPr>
          <a:xfrm>
            <a:off x="451945" y="1968503"/>
            <a:ext cx="6074977" cy="4157663"/>
          </a:xfrm>
        </p:spPr>
        <p:txBody>
          <a:bodyPr/>
          <a:lstStyle/>
          <a:p>
            <a:r>
              <a:rPr lang="en-US" sz="2000" dirty="0"/>
              <a:t>There are a number of areas where we lack requisite data, either behavioral or fundamental properties, in order to accurately describe TRISO particle evolution</a:t>
            </a:r>
          </a:p>
          <a:p>
            <a:r>
              <a:rPr lang="en-US" sz="2000" dirty="0"/>
              <a:t>High-quality high burnup data on TRISO particles is generally lacking, which would enable benchmarking of fuel performance models</a:t>
            </a:r>
          </a:p>
          <a:p>
            <a:r>
              <a:rPr lang="en-US" sz="2000" dirty="0"/>
              <a:t>Uncertainties and unknowns in fundamental material properties are also abundant, especially with regard to how properties vary as functions of temperature, fast fluence, and burnup</a:t>
            </a:r>
          </a:p>
          <a:p>
            <a:endParaRPr lang="en-US" sz="2000" dirty="0"/>
          </a:p>
          <a:p>
            <a:endParaRPr lang="en-US" sz="2000" dirty="0"/>
          </a:p>
        </p:txBody>
      </p:sp>
      <p:sp>
        <p:nvSpPr>
          <p:cNvPr id="4" name="Content Placeholder 3">
            <a:extLst>
              <a:ext uri="{FF2B5EF4-FFF2-40B4-BE49-F238E27FC236}">
                <a16:creationId xmlns:a16="http://schemas.microsoft.com/office/drawing/2014/main" id="{102D5413-5D6E-8940-9D59-28F0761BD124}"/>
              </a:ext>
            </a:extLst>
          </p:cNvPr>
          <p:cNvSpPr>
            <a:spLocks noGrp="1"/>
          </p:cNvSpPr>
          <p:nvPr>
            <p:ph sz="half" idx="2"/>
          </p:nvPr>
        </p:nvSpPr>
        <p:spPr>
          <a:xfrm>
            <a:off x="6526922" y="1968503"/>
            <a:ext cx="5412829" cy="4157663"/>
          </a:xfrm>
        </p:spPr>
        <p:txBody>
          <a:bodyPr/>
          <a:lstStyle/>
          <a:p>
            <a:r>
              <a:rPr lang="en-US" sz="2000" dirty="0"/>
              <a:t>There is significant uncertainty in the irradiation creep constant, the value of Poisson’s ratio in irradiation creep models, and the thermal conductivity of </a:t>
            </a:r>
            <a:r>
              <a:rPr lang="en-US" sz="2000" dirty="0" err="1"/>
              <a:t>PyC</a:t>
            </a:r>
            <a:endParaRPr lang="en-US" sz="2000" dirty="0"/>
          </a:p>
          <a:p>
            <a:r>
              <a:rPr lang="en-US" sz="2000" dirty="0"/>
              <a:t>Predictions for the chemical attack of </a:t>
            </a:r>
            <a:r>
              <a:rPr lang="en-US" sz="2000" dirty="0" err="1"/>
              <a:t>SiC</a:t>
            </a:r>
            <a:r>
              <a:rPr lang="en-US" sz="2000" dirty="0"/>
              <a:t> require effective diffusion coefficients of key fission products in various fuel materials, which are unknown</a:t>
            </a:r>
          </a:p>
          <a:p>
            <a:r>
              <a:rPr lang="en-US" sz="2000" dirty="0"/>
              <a:t>Fuel properties are the least well understood, especially as the fuel evolves during operation</a:t>
            </a:r>
          </a:p>
          <a:p>
            <a:endParaRPr lang="en-US" sz="2000" dirty="0"/>
          </a:p>
          <a:p>
            <a:endParaRPr lang="en-US" sz="2000" dirty="0"/>
          </a:p>
          <a:p>
            <a:endParaRPr lang="en-US" sz="2000" dirty="0"/>
          </a:p>
        </p:txBody>
      </p:sp>
      <p:sp>
        <p:nvSpPr>
          <p:cNvPr id="5" name="Slide Number Placeholder 4">
            <a:extLst>
              <a:ext uri="{FF2B5EF4-FFF2-40B4-BE49-F238E27FC236}">
                <a16:creationId xmlns:a16="http://schemas.microsoft.com/office/drawing/2014/main" id="{DDE5F44C-7C57-2442-A95A-C8936B36AC82}"/>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12560564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TRISO Fuel Failures</a:t>
            </a:r>
          </a:p>
        </p:txBody>
      </p:sp>
      <p:sp>
        <p:nvSpPr>
          <p:cNvPr id="3" name="Slide Number Placeholder 2">
            <a:extLst>
              <a:ext uri="{FF2B5EF4-FFF2-40B4-BE49-F238E27FC236}">
                <a16:creationId xmlns:a16="http://schemas.microsoft.com/office/drawing/2014/main" id="{AF4598DB-1407-8640-B13B-690B5237DB73}"/>
              </a:ext>
            </a:extLst>
          </p:cNvPr>
          <p:cNvSpPr>
            <a:spLocks noGrp="1"/>
          </p:cNvSpPr>
          <p:nvPr>
            <p:ph type="sldNum" sz="quarter" idx="12"/>
          </p:nvPr>
        </p:nvSpPr>
        <p:spPr/>
        <p:txBody>
          <a:bodyPr/>
          <a:lstStyle/>
          <a:p>
            <a:pPr>
              <a:defRPr/>
            </a:pPr>
            <a:fld id="{0DA6BD0F-ABBC-C14D-BC96-77BE126A748B}" type="slidenum">
              <a:rPr lang="en-US" smtClean="0"/>
              <a:pPr>
                <a:defRPr/>
              </a:pPr>
              <a:t>11</a:t>
            </a:fld>
            <a:endParaRPr lang="en-US"/>
          </a:p>
        </p:txBody>
      </p:sp>
    </p:spTree>
    <p:extLst>
      <p:ext uri="{BB962C8B-B14F-4D97-AF65-F5344CB8AC3E}">
        <p14:creationId xmlns:p14="http://schemas.microsoft.com/office/powerpoint/2010/main" val="1910983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EA379-D690-2E4A-9155-20E7796106FD}"/>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8B779A79-1903-484D-A7AD-65C349CDD8A3}"/>
              </a:ext>
            </a:extLst>
          </p:cNvPr>
          <p:cNvSpPr>
            <a:spLocks noGrp="1"/>
          </p:cNvSpPr>
          <p:nvPr>
            <p:ph sz="half" idx="2"/>
          </p:nvPr>
        </p:nvSpPr>
        <p:spPr>
          <a:xfrm>
            <a:off x="609596" y="1935726"/>
            <a:ext cx="6390290" cy="3951288"/>
          </a:xfrm>
        </p:spPr>
        <p:txBody>
          <a:bodyPr>
            <a:noAutofit/>
          </a:bodyPr>
          <a:lstStyle/>
          <a:p>
            <a:r>
              <a:rPr lang="en-US" sz="1800" b="1" dirty="0"/>
              <a:t>Overpressure</a:t>
            </a:r>
          </a:p>
          <a:p>
            <a:endParaRPr lang="en-US" sz="1800" dirty="0"/>
          </a:p>
          <a:p>
            <a:r>
              <a:rPr lang="en-US" sz="1800" dirty="0"/>
              <a:t>During irradiation, fission gases are released from the kernel into the porous buffer layer. The pressure that is generated exerts tensile forces on the </a:t>
            </a:r>
            <a:r>
              <a:rPr lang="en-US" sz="1800" dirty="0" err="1"/>
              <a:t>SiC</a:t>
            </a:r>
            <a:r>
              <a:rPr lang="en-US" sz="1800" dirty="0"/>
              <a:t> layer of the particle</a:t>
            </a:r>
          </a:p>
          <a:p>
            <a:r>
              <a:rPr lang="en-US" sz="1800" dirty="0"/>
              <a:t>For UO2 kernels, there is also excess oxygen released during fission which will react with carbon from the buffer to form CO and CO2 gas</a:t>
            </a:r>
          </a:p>
          <a:p>
            <a:r>
              <a:rPr lang="en-US" sz="1800" dirty="0"/>
              <a:t>Particles are generally sized with a large enough buffer void volume to ensure that they do not fail by overpressure during irradiation</a:t>
            </a:r>
          </a:p>
          <a:p>
            <a:r>
              <a:rPr lang="en-US" sz="1800" dirty="0"/>
              <a:t>Particle failure is postulated to occur as a result of an insufficient or missing buffer layer that occurs during the coating process</a:t>
            </a:r>
          </a:p>
        </p:txBody>
      </p:sp>
      <p:pic>
        <p:nvPicPr>
          <p:cNvPr id="6" name="Content Placeholder 5">
            <a:extLst>
              <a:ext uri="{FF2B5EF4-FFF2-40B4-BE49-F238E27FC236}">
                <a16:creationId xmlns:a16="http://schemas.microsoft.com/office/drawing/2014/main" id="{5047C185-7858-2A44-8587-F6AE0F314EEB}"/>
              </a:ext>
            </a:extLst>
          </p:cNvPr>
          <p:cNvPicPr>
            <a:picLocks noGrp="1" noChangeAspect="1"/>
          </p:cNvPicPr>
          <p:nvPr>
            <p:ph sz="quarter" idx="4"/>
          </p:nvPr>
        </p:nvPicPr>
        <p:blipFill>
          <a:blip r:embed="rId2"/>
          <a:stretch>
            <a:fillRect/>
          </a:stretch>
        </p:blipFill>
        <p:spPr>
          <a:xfrm>
            <a:off x="7325957" y="2097741"/>
            <a:ext cx="3066470" cy="3504538"/>
          </a:xfrm>
          <a:prstGeom prst="rect">
            <a:avLst/>
          </a:prstGeom>
        </p:spPr>
      </p:pic>
      <p:sp>
        <p:nvSpPr>
          <p:cNvPr id="4" name="Slide Number Placeholder 3">
            <a:extLst>
              <a:ext uri="{FF2B5EF4-FFF2-40B4-BE49-F238E27FC236}">
                <a16:creationId xmlns:a16="http://schemas.microsoft.com/office/drawing/2014/main" id="{3964328A-2E9C-F045-8697-CE0204F1335C}"/>
              </a:ext>
            </a:extLst>
          </p:cNvPr>
          <p:cNvSpPr>
            <a:spLocks noGrp="1"/>
          </p:cNvSpPr>
          <p:nvPr>
            <p:ph type="sldNum" sz="quarter" idx="12"/>
          </p:nvPr>
        </p:nvSpPr>
        <p:spPr/>
        <p:txBody>
          <a:bodyPr/>
          <a:lstStyle/>
          <a:p>
            <a:pPr>
              <a:defRPr/>
            </a:pPr>
            <a:fld id="{BB5B94E0-5E06-6D42-A41D-50D581B40900}" type="slidenum">
              <a:rPr lang="en-US" smtClean="0"/>
              <a:pPr>
                <a:defRPr/>
              </a:pPr>
              <a:t>12</a:t>
            </a:fld>
            <a:endParaRPr lang="en-US"/>
          </a:p>
        </p:txBody>
      </p:sp>
    </p:spTree>
    <p:extLst>
      <p:ext uri="{BB962C8B-B14F-4D97-AF65-F5344CB8AC3E}">
        <p14:creationId xmlns:p14="http://schemas.microsoft.com/office/powerpoint/2010/main" val="42017929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A802F-574F-BD47-B6BC-E37CA402EE2D}"/>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A74BC48-27D6-1341-9229-7CD696CC4FA5}"/>
              </a:ext>
            </a:extLst>
          </p:cNvPr>
          <p:cNvSpPr>
            <a:spLocks noGrp="1"/>
          </p:cNvSpPr>
          <p:nvPr>
            <p:ph sz="half" idx="2"/>
          </p:nvPr>
        </p:nvSpPr>
        <p:spPr>
          <a:xfrm>
            <a:off x="609600" y="2174875"/>
            <a:ext cx="6243145" cy="3951288"/>
          </a:xfrm>
        </p:spPr>
        <p:txBody>
          <a:bodyPr>
            <a:noAutofit/>
          </a:bodyPr>
          <a:lstStyle/>
          <a:p>
            <a:r>
              <a:rPr lang="en-US" sz="1800" b="1" dirty="0"/>
              <a:t>Irradiation-induced </a:t>
            </a:r>
            <a:r>
              <a:rPr lang="en-US" sz="1800" b="1" dirty="0" err="1"/>
              <a:t>IPyC</a:t>
            </a:r>
            <a:r>
              <a:rPr lang="en-US" sz="1800" b="1" dirty="0"/>
              <a:t> cracking</a:t>
            </a:r>
          </a:p>
          <a:p>
            <a:pPr lvl="1"/>
            <a:endParaRPr lang="en-US" sz="1800" dirty="0"/>
          </a:p>
          <a:p>
            <a:r>
              <a:rPr lang="en-US" sz="1800" dirty="0"/>
              <a:t>Under irradiation, </a:t>
            </a:r>
            <a:r>
              <a:rPr lang="en-US" sz="1800" dirty="0" err="1"/>
              <a:t>pyrocarbon</a:t>
            </a:r>
            <a:r>
              <a:rPr lang="en-US" sz="1800" dirty="0"/>
              <a:t> (</a:t>
            </a:r>
            <a:r>
              <a:rPr lang="en-US" sz="1800" dirty="0" err="1"/>
              <a:t>PyC</a:t>
            </a:r>
            <a:r>
              <a:rPr lang="en-US" sz="1800" dirty="0"/>
              <a:t>) shrinks in both the radial and tangential directions</a:t>
            </a:r>
          </a:p>
          <a:p>
            <a:r>
              <a:rPr lang="en-US" sz="1800" dirty="0"/>
              <a:t>This behavior puts the PyC layers into tension in the tangential direction</a:t>
            </a:r>
          </a:p>
          <a:p>
            <a:r>
              <a:rPr lang="en-US" sz="1800" dirty="0"/>
              <a:t>However, irradiation-induced creep works to relieve the tensile stress in the </a:t>
            </a:r>
            <a:r>
              <a:rPr lang="en-US" sz="1800" dirty="0" err="1"/>
              <a:t>PyC</a:t>
            </a:r>
            <a:r>
              <a:rPr lang="en-US" sz="1800" dirty="0"/>
              <a:t> layer</a:t>
            </a:r>
          </a:p>
          <a:p>
            <a:r>
              <a:rPr lang="en-US" sz="1800" dirty="0"/>
              <a:t>If the PyC is strongly attached to the </a:t>
            </a:r>
            <a:r>
              <a:rPr lang="en-US" sz="1800" dirty="0" err="1"/>
              <a:t>SiC</a:t>
            </a:r>
            <a:r>
              <a:rPr lang="en-US" sz="1800" dirty="0"/>
              <a:t> layer, the PyC shrinkage provides a strong compressive stress that offsets the tensile stresses generated by gas production in the kernel</a:t>
            </a:r>
          </a:p>
          <a:p>
            <a:r>
              <a:rPr lang="en-US" sz="1800" dirty="0"/>
              <a:t>High tensile loads, or insufficient creep, can lead to cracking of the </a:t>
            </a:r>
            <a:r>
              <a:rPr lang="en-US" sz="1800" dirty="0" err="1"/>
              <a:t>IPyC</a:t>
            </a:r>
            <a:endParaRPr lang="en-US" sz="1800" dirty="0"/>
          </a:p>
          <a:p>
            <a:pPr lvl="1"/>
            <a:endParaRPr lang="en-US" sz="1800" dirty="0"/>
          </a:p>
          <a:p>
            <a:endParaRPr lang="en-US" sz="1800" dirty="0"/>
          </a:p>
        </p:txBody>
      </p:sp>
      <p:pic>
        <p:nvPicPr>
          <p:cNvPr id="5" name="Content Placeholder 4">
            <a:extLst>
              <a:ext uri="{FF2B5EF4-FFF2-40B4-BE49-F238E27FC236}">
                <a16:creationId xmlns:a16="http://schemas.microsoft.com/office/drawing/2014/main" id="{CC2A1FB1-7994-D34B-98B0-299D22A86B87}"/>
              </a:ext>
            </a:extLst>
          </p:cNvPr>
          <p:cNvPicPr>
            <a:picLocks noGrp="1" noChangeAspect="1"/>
          </p:cNvPicPr>
          <p:nvPr>
            <p:ph sz="quarter" idx="4"/>
          </p:nvPr>
        </p:nvPicPr>
        <p:blipFill>
          <a:blip r:embed="rId2"/>
          <a:stretch>
            <a:fillRect/>
          </a:stretch>
        </p:blipFill>
        <p:spPr>
          <a:xfrm>
            <a:off x="7842324" y="4210846"/>
            <a:ext cx="2097743" cy="2333739"/>
          </a:xfrm>
          <a:prstGeom prst="rect">
            <a:avLst/>
          </a:prstGeom>
        </p:spPr>
      </p:pic>
      <p:pic>
        <p:nvPicPr>
          <p:cNvPr id="6" name="Picture 5">
            <a:extLst>
              <a:ext uri="{FF2B5EF4-FFF2-40B4-BE49-F238E27FC236}">
                <a16:creationId xmlns:a16="http://schemas.microsoft.com/office/drawing/2014/main" id="{DB38ED9C-D72C-A546-8F2F-26B2F1A243A0}"/>
              </a:ext>
            </a:extLst>
          </p:cNvPr>
          <p:cNvPicPr>
            <a:picLocks noChangeAspect="1"/>
          </p:cNvPicPr>
          <p:nvPr/>
        </p:nvPicPr>
        <p:blipFill>
          <a:blip r:embed="rId3"/>
          <a:stretch>
            <a:fillRect/>
          </a:stretch>
        </p:blipFill>
        <p:spPr>
          <a:xfrm>
            <a:off x="7842324" y="1935726"/>
            <a:ext cx="2102277" cy="2126167"/>
          </a:xfrm>
          <a:prstGeom prst="rect">
            <a:avLst/>
          </a:prstGeom>
        </p:spPr>
      </p:pic>
      <p:sp>
        <p:nvSpPr>
          <p:cNvPr id="4" name="Slide Number Placeholder 3">
            <a:extLst>
              <a:ext uri="{FF2B5EF4-FFF2-40B4-BE49-F238E27FC236}">
                <a16:creationId xmlns:a16="http://schemas.microsoft.com/office/drawing/2014/main" id="{0A7D6A03-CA85-BA49-BAA7-99EB5D13307D}"/>
              </a:ext>
            </a:extLst>
          </p:cNvPr>
          <p:cNvSpPr>
            <a:spLocks noGrp="1"/>
          </p:cNvSpPr>
          <p:nvPr>
            <p:ph type="sldNum" sz="quarter" idx="12"/>
          </p:nvPr>
        </p:nvSpPr>
        <p:spPr/>
        <p:txBody>
          <a:bodyPr/>
          <a:lstStyle/>
          <a:p>
            <a:pPr>
              <a:defRPr/>
            </a:pPr>
            <a:fld id="{BB5B94E0-5E06-6D42-A41D-50D581B40900}" type="slidenum">
              <a:rPr lang="en-US" smtClean="0"/>
              <a:pPr>
                <a:defRPr/>
              </a:pPr>
              <a:t>13</a:t>
            </a:fld>
            <a:endParaRPr lang="en-US"/>
          </a:p>
        </p:txBody>
      </p:sp>
    </p:spTree>
    <p:extLst>
      <p:ext uri="{BB962C8B-B14F-4D97-AF65-F5344CB8AC3E}">
        <p14:creationId xmlns:p14="http://schemas.microsoft.com/office/powerpoint/2010/main" val="3479042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b="1" dirty="0"/>
              <a:t>Debonding between </a:t>
            </a:r>
            <a:r>
              <a:rPr lang="en-US" sz="1800" b="1" dirty="0" err="1"/>
              <a:t>IPyC</a:t>
            </a:r>
            <a:r>
              <a:rPr lang="en-US" sz="1800" b="1" dirty="0"/>
              <a:t> and </a:t>
            </a:r>
            <a:r>
              <a:rPr lang="en-US" sz="1800" b="1" dirty="0" err="1"/>
              <a:t>SiC</a:t>
            </a:r>
            <a:endParaRPr lang="en-US" sz="1800" b="1" dirty="0"/>
          </a:p>
          <a:p>
            <a:endParaRPr lang="en-US" sz="1800" dirty="0"/>
          </a:p>
          <a:p>
            <a:r>
              <a:rPr lang="en-US" sz="1800" dirty="0"/>
              <a:t>The debonding is related to the strength of the </a:t>
            </a:r>
            <a:r>
              <a:rPr lang="en-US" sz="1800" dirty="0" err="1"/>
              <a:t>IPyC</a:t>
            </a:r>
            <a:r>
              <a:rPr lang="en-US" sz="1800" dirty="0"/>
              <a:t>/</a:t>
            </a:r>
            <a:r>
              <a:rPr lang="en-US" sz="1800" dirty="0" err="1"/>
              <a:t>SiC</a:t>
            </a:r>
            <a:r>
              <a:rPr lang="en-US" sz="1800" dirty="0"/>
              <a:t> interface</a:t>
            </a:r>
          </a:p>
          <a:p>
            <a:r>
              <a:rPr lang="en-US" sz="1800" dirty="0"/>
              <a:t>Weakly bonded coating layers can partially detach because of the tensile stresses generated by the </a:t>
            </a:r>
            <a:r>
              <a:rPr lang="en-US" sz="1800" dirty="0" err="1"/>
              <a:t>IPyC</a:t>
            </a:r>
            <a:r>
              <a:rPr lang="en-US" sz="1800" dirty="0"/>
              <a:t> shrinkage under irradiation</a:t>
            </a:r>
          </a:p>
          <a:p>
            <a:r>
              <a:rPr lang="en-US" sz="1800" dirty="0"/>
              <a:t>A particle for which partial debonding of the </a:t>
            </a:r>
            <a:r>
              <a:rPr lang="en-US" sz="1800" dirty="0" err="1"/>
              <a:t>IPyC</a:t>
            </a:r>
            <a:r>
              <a:rPr lang="en-US" sz="1800" dirty="0"/>
              <a:t> from the </a:t>
            </a:r>
            <a:r>
              <a:rPr lang="en-US" sz="1800" dirty="0" err="1"/>
              <a:t>SiC</a:t>
            </a:r>
            <a:r>
              <a:rPr lang="en-US" sz="1800" dirty="0"/>
              <a:t> has occurred can develop relatively large tensile stresses in the </a:t>
            </a:r>
            <a:r>
              <a:rPr lang="en-US" sz="1800" dirty="0" err="1"/>
              <a:t>SiC</a:t>
            </a:r>
            <a:endParaRPr lang="en-US" sz="1800" dirty="0"/>
          </a:p>
          <a:p>
            <a:r>
              <a:rPr lang="en-US" sz="1800" dirty="0"/>
              <a:t>Irradiation induced creep relieves the stress at longer times</a:t>
            </a:r>
          </a:p>
          <a:p>
            <a:endParaRPr lang="en-US" sz="1800" dirty="0"/>
          </a:p>
          <a:p>
            <a:endParaRPr lang="en-US" sz="1800" dirty="0"/>
          </a:p>
          <a:p>
            <a:endParaRPr lang="en-US" sz="1800" dirty="0"/>
          </a:p>
        </p:txBody>
      </p:sp>
      <p:pic>
        <p:nvPicPr>
          <p:cNvPr id="5" name="Content Placeholder 4">
            <a:extLst>
              <a:ext uri="{FF2B5EF4-FFF2-40B4-BE49-F238E27FC236}">
                <a16:creationId xmlns:a16="http://schemas.microsoft.com/office/drawing/2014/main" id="{B5883F4F-B0F5-8745-A771-99513B518678}"/>
              </a:ext>
            </a:extLst>
          </p:cNvPr>
          <p:cNvPicPr>
            <a:picLocks noGrp="1" noChangeAspect="1"/>
          </p:cNvPicPr>
          <p:nvPr>
            <p:ph sz="quarter" idx="4"/>
          </p:nvPr>
        </p:nvPicPr>
        <p:blipFill>
          <a:blip r:embed="rId3" cstate="email">
            <a:extLst>
              <a:ext uri="{28A0092B-C50C-407E-A947-70E740481C1C}">
                <a14:useLocalDpi xmlns:a14="http://schemas.microsoft.com/office/drawing/2010/main"/>
              </a:ext>
            </a:extLst>
          </a:blip>
          <a:stretch>
            <a:fillRect/>
          </a:stretch>
        </p:blipFill>
        <p:spPr>
          <a:xfrm>
            <a:off x="7184259" y="2174875"/>
            <a:ext cx="3406719" cy="3951288"/>
          </a:xfrm>
          <a:prstGeom prst="rect">
            <a:avLst/>
          </a:prstGeom>
        </p:spPr>
      </p:pic>
      <p:sp>
        <p:nvSpPr>
          <p:cNvPr id="4" name="Slide Number Placeholder 3">
            <a:extLst>
              <a:ext uri="{FF2B5EF4-FFF2-40B4-BE49-F238E27FC236}">
                <a16:creationId xmlns:a16="http://schemas.microsoft.com/office/drawing/2014/main" id="{D2EB628F-36CD-534E-8483-8D8150E2C138}"/>
              </a:ext>
            </a:extLst>
          </p:cNvPr>
          <p:cNvSpPr>
            <a:spLocks noGrp="1"/>
          </p:cNvSpPr>
          <p:nvPr>
            <p:ph type="sldNum" sz="quarter" idx="12"/>
          </p:nvPr>
        </p:nvSpPr>
        <p:spPr/>
        <p:txBody>
          <a:bodyPr/>
          <a:lstStyle/>
          <a:p>
            <a:pPr>
              <a:defRPr/>
            </a:pPr>
            <a:fld id="{BB5B94E0-5E06-6D42-A41D-50D581B40900}" type="slidenum">
              <a:rPr lang="en-US" smtClean="0"/>
              <a:pPr>
                <a:defRPr/>
              </a:pPr>
              <a:t>14</a:t>
            </a:fld>
            <a:endParaRPr lang="en-US"/>
          </a:p>
        </p:txBody>
      </p:sp>
    </p:spTree>
    <p:extLst>
      <p:ext uri="{BB962C8B-B14F-4D97-AF65-F5344CB8AC3E}">
        <p14:creationId xmlns:p14="http://schemas.microsoft.com/office/powerpoint/2010/main" val="2364180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a:xfrm>
            <a:off x="609600" y="2174875"/>
            <a:ext cx="6232264" cy="3951288"/>
          </a:xfrm>
        </p:spPr>
        <p:txBody>
          <a:bodyPr/>
          <a:lstStyle/>
          <a:p>
            <a:r>
              <a:rPr lang="en-US" sz="1800" b="1" dirty="0"/>
              <a:t>Kernel migration (amoeba effect)</a:t>
            </a:r>
          </a:p>
          <a:p>
            <a:endParaRPr lang="en-US" sz="1800" dirty="0"/>
          </a:p>
          <a:p>
            <a:r>
              <a:rPr lang="en-US" sz="1800" dirty="0"/>
              <a:t>Kernel migration is defined simply as movement of the kernel toward the TRISO-coating, which can lead to the kernel penetrating the TRISO-coating</a:t>
            </a:r>
          </a:p>
          <a:p>
            <a:r>
              <a:rPr lang="en-US" sz="1800" dirty="0"/>
              <a:t>Kernel migration is associated with carbon transport in the particle in the presence of a temperature gradient</a:t>
            </a:r>
          </a:p>
          <a:p>
            <a:r>
              <a:rPr lang="en-US" sz="1800" dirty="0"/>
              <a:t>A thermal gradient generates different equilibrium conditions for C, UO2, CO and CO2 at either side of the particle</a:t>
            </a:r>
          </a:p>
          <a:p>
            <a:r>
              <a:rPr lang="en-US" sz="1800" dirty="0"/>
              <a:t>Carbon diffuses up the temperature gradient, the kernel diffuses down</a:t>
            </a:r>
          </a:p>
          <a:p>
            <a:endParaRPr lang="en-US" sz="1800" dirty="0"/>
          </a:p>
          <a:p>
            <a:endParaRPr lang="en-US" sz="1800" dirty="0"/>
          </a:p>
        </p:txBody>
      </p:sp>
      <p:pic>
        <p:nvPicPr>
          <p:cNvPr id="5" name="Content Placeholder 4">
            <a:extLst>
              <a:ext uri="{FF2B5EF4-FFF2-40B4-BE49-F238E27FC236}">
                <a16:creationId xmlns:a16="http://schemas.microsoft.com/office/drawing/2014/main" id="{F8E672AF-DC63-D44E-A834-EB1FEAAC3A8D}"/>
              </a:ext>
            </a:extLst>
          </p:cNvPr>
          <p:cNvPicPr>
            <a:picLocks noGrp="1" noChangeAspect="1"/>
          </p:cNvPicPr>
          <p:nvPr>
            <p:ph sz="quarter" idx="4"/>
          </p:nvPr>
        </p:nvPicPr>
        <p:blipFill>
          <a:blip r:embed="rId2"/>
          <a:stretch>
            <a:fillRect/>
          </a:stretch>
        </p:blipFill>
        <p:spPr>
          <a:xfrm>
            <a:off x="7210696" y="2454296"/>
            <a:ext cx="3030584" cy="2872467"/>
          </a:xfrm>
          <a:prstGeom prst="rect">
            <a:avLst/>
          </a:prstGeom>
        </p:spPr>
      </p:pic>
      <p:sp>
        <p:nvSpPr>
          <p:cNvPr id="4" name="Slide Number Placeholder 3">
            <a:extLst>
              <a:ext uri="{FF2B5EF4-FFF2-40B4-BE49-F238E27FC236}">
                <a16:creationId xmlns:a16="http://schemas.microsoft.com/office/drawing/2014/main" id="{1BB0FCF3-4B4C-D542-83B1-C5E74F43A3AE}"/>
              </a:ext>
            </a:extLst>
          </p:cNvPr>
          <p:cNvSpPr>
            <a:spLocks noGrp="1"/>
          </p:cNvSpPr>
          <p:nvPr>
            <p:ph type="sldNum" sz="quarter" idx="12"/>
          </p:nvPr>
        </p:nvSpPr>
        <p:spPr/>
        <p:txBody>
          <a:bodyPr/>
          <a:lstStyle/>
          <a:p>
            <a:pPr>
              <a:defRPr/>
            </a:pPr>
            <a:fld id="{BB5B94E0-5E06-6D42-A41D-50D581B40900}" type="slidenum">
              <a:rPr lang="en-US" smtClean="0"/>
              <a:pPr>
                <a:defRPr/>
              </a:pPr>
              <a:t>15</a:t>
            </a:fld>
            <a:endParaRPr lang="en-US"/>
          </a:p>
        </p:txBody>
      </p:sp>
    </p:spTree>
    <p:extLst>
      <p:ext uri="{BB962C8B-B14F-4D97-AF65-F5344CB8AC3E}">
        <p14:creationId xmlns:p14="http://schemas.microsoft.com/office/powerpoint/2010/main" val="35491016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a:xfrm>
            <a:off x="609600" y="2174875"/>
            <a:ext cx="5770179" cy="3951288"/>
          </a:xfrm>
        </p:spPr>
        <p:txBody>
          <a:bodyPr/>
          <a:lstStyle/>
          <a:p>
            <a:r>
              <a:rPr lang="en-US" sz="1800" b="1" dirty="0"/>
              <a:t>Fission product attack</a:t>
            </a:r>
          </a:p>
          <a:p>
            <a:endParaRPr lang="en-US" sz="1800" dirty="0"/>
          </a:p>
          <a:p>
            <a:r>
              <a:rPr lang="en-US" sz="1800" dirty="0"/>
              <a:t>Fission products can be transported from the kernel to the inner surface of the </a:t>
            </a:r>
            <a:r>
              <a:rPr lang="en-US" sz="1800" dirty="0" err="1"/>
              <a:t>SiC</a:t>
            </a:r>
            <a:r>
              <a:rPr lang="en-US" sz="1800" dirty="0"/>
              <a:t> where they interact and can damage and potentially fail the </a:t>
            </a:r>
            <a:r>
              <a:rPr lang="en-US" sz="1800" dirty="0" err="1"/>
              <a:t>SiC</a:t>
            </a:r>
            <a:r>
              <a:rPr lang="en-US" sz="1800" dirty="0"/>
              <a:t> layer</a:t>
            </a:r>
          </a:p>
          <a:p>
            <a:r>
              <a:rPr lang="en-US" sz="1800" dirty="0"/>
              <a:t>Bigger issue in UC kernels</a:t>
            </a:r>
          </a:p>
          <a:p>
            <a:r>
              <a:rPr lang="en-US" sz="1800" dirty="0"/>
              <a:t>In UCO kernels, the </a:t>
            </a:r>
            <a:r>
              <a:rPr lang="en-US" sz="1800" dirty="0" err="1"/>
              <a:t>oxycarbide</a:t>
            </a:r>
            <a:r>
              <a:rPr lang="en-US" sz="1800" dirty="0"/>
              <a:t> form of the kernel generally ties up all but the noble fission products (e.g., </a:t>
            </a:r>
            <a:r>
              <a:rPr lang="en-US" sz="1800" dirty="0" err="1"/>
              <a:t>Pd</a:t>
            </a:r>
            <a:r>
              <a:rPr lang="en-US" sz="1800" dirty="0"/>
              <a:t>) as either carbides or oxides, which tend to limit their mobility in the UCO system</a:t>
            </a:r>
          </a:p>
          <a:p>
            <a:r>
              <a:rPr lang="en-US" sz="1800" dirty="0"/>
              <a:t>However, </a:t>
            </a:r>
            <a:r>
              <a:rPr lang="en-US" sz="1800" dirty="0" err="1"/>
              <a:t>Pd</a:t>
            </a:r>
            <a:r>
              <a:rPr lang="en-US" sz="1800" dirty="0"/>
              <a:t> and Ag transport have still been observed in UCO coated particle fuel</a:t>
            </a:r>
          </a:p>
          <a:p>
            <a:endParaRPr lang="en-US" sz="1800" dirty="0"/>
          </a:p>
        </p:txBody>
      </p:sp>
      <p:pic>
        <p:nvPicPr>
          <p:cNvPr id="5" name="Content Placeholder 4">
            <a:extLst>
              <a:ext uri="{FF2B5EF4-FFF2-40B4-BE49-F238E27FC236}">
                <a16:creationId xmlns:a16="http://schemas.microsoft.com/office/drawing/2014/main" id="{B8260C2C-8161-EA44-A946-BF441B273DBD}"/>
              </a:ext>
            </a:extLst>
          </p:cNvPr>
          <p:cNvPicPr>
            <a:picLocks noGrp="1" noChangeAspect="1"/>
          </p:cNvPicPr>
          <p:nvPr>
            <p:ph sz="quarter" idx="4"/>
          </p:nvPr>
        </p:nvPicPr>
        <p:blipFill>
          <a:blip r:embed="rId2"/>
          <a:stretch>
            <a:fillRect/>
          </a:stretch>
        </p:blipFill>
        <p:spPr>
          <a:xfrm>
            <a:off x="7281964" y="2527974"/>
            <a:ext cx="2690373" cy="3245089"/>
          </a:xfrm>
          <a:prstGeom prst="rect">
            <a:avLst/>
          </a:prstGeom>
        </p:spPr>
      </p:pic>
      <p:sp>
        <p:nvSpPr>
          <p:cNvPr id="4" name="Slide Number Placeholder 3">
            <a:extLst>
              <a:ext uri="{FF2B5EF4-FFF2-40B4-BE49-F238E27FC236}">
                <a16:creationId xmlns:a16="http://schemas.microsoft.com/office/drawing/2014/main" id="{DF451ABA-EFF5-9E42-B712-2213D210CB35}"/>
              </a:ext>
            </a:extLst>
          </p:cNvPr>
          <p:cNvSpPr>
            <a:spLocks noGrp="1"/>
          </p:cNvSpPr>
          <p:nvPr>
            <p:ph type="sldNum" sz="quarter" idx="12"/>
          </p:nvPr>
        </p:nvSpPr>
        <p:spPr/>
        <p:txBody>
          <a:bodyPr/>
          <a:lstStyle/>
          <a:p>
            <a:pPr>
              <a:defRPr/>
            </a:pPr>
            <a:fld id="{BB5B94E0-5E06-6D42-A41D-50D581B40900}" type="slidenum">
              <a:rPr lang="en-US" smtClean="0"/>
              <a:pPr>
                <a:defRPr/>
              </a:pPr>
              <a:t>16</a:t>
            </a:fld>
            <a:endParaRPr lang="en-US"/>
          </a:p>
        </p:txBody>
      </p:sp>
    </p:spTree>
    <p:extLst>
      <p:ext uri="{BB962C8B-B14F-4D97-AF65-F5344CB8AC3E}">
        <p14:creationId xmlns:p14="http://schemas.microsoft.com/office/powerpoint/2010/main" val="1571386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b="1" dirty="0"/>
              <a:t>Matrix-</a:t>
            </a:r>
            <a:r>
              <a:rPr lang="en-US" sz="1800" b="1" dirty="0" err="1"/>
              <a:t>OPyC</a:t>
            </a:r>
            <a:r>
              <a:rPr lang="en-US" sz="1800" b="1" dirty="0"/>
              <a:t> interactions and </a:t>
            </a:r>
            <a:r>
              <a:rPr lang="en-US" sz="1800" b="1" dirty="0" err="1"/>
              <a:t>OPyC</a:t>
            </a:r>
            <a:r>
              <a:rPr lang="en-US" sz="1800" b="1" dirty="0"/>
              <a:t> irradiation-induced cracking</a:t>
            </a:r>
          </a:p>
          <a:p>
            <a:endParaRPr lang="en-US" sz="1800" dirty="0"/>
          </a:p>
          <a:p>
            <a:r>
              <a:rPr lang="en-US" sz="1800" dirty="0"/>
              <a:t>During manufacture, infiltration of the liquid graphitic matrix into the porosity of </a:t>
            </a:r>
            <a:r>
              <a:rPr lang="en-US" sz="1800" dirty="0" err="1"/>
              <a:t>OPyC</a:t>
            </a:r>
            <a:r>
              <a:rPr lang="en-US" sz="1800" dirty="0"/>
              <a:t> caused mechanical weakening </a:t>
            </a:r>
          </a:p>
          <a:p>
            <a:r>
              <a:rPr lang="en-US" sz="1800" dirty="0"/>
              <a:t>During subsequent dimensional change under irradiation this caused </a:t>
            </a:r>
            <a:r>
              <a:rPr lang="en-US" sz="1800" dirty="0" err="1"/>
              <a:t>OPyC</a:t>
            </a:r>
            <a:r>
              <a:rPr lang="en-US" sz="1800" dirty="0"/>
              <a:t> layer to fail by cracking and debonding from the </a:t>
            </a:r>
            <a:r>
              <a:rPr lang="en-US" sz="1800" dirty="0" err="1"/>
              <a:t>SiC</a:t>
            </a:r>
            <a:r>
              <a:rPr lang="en-US" sz="1800" dirty="0"/>
              <a:t> layer</a:t>
            </a:r>
          </a:p>
          <a:p>
            <a:r>
              <a:rPr lang="en-US" sz="1800" dirty="0"/>
              <a:t>This has largely been addressed through specifications on the matrix material and on the microstructure of the </a:t>
            </a:r>
            <a:r>
              <a:rPr lang="en-US" sz="1800" dirty="0" err="1"/>
              <a:t>OPyC</a:t>
            </a:r>
            <a:endParaRPr lang="en-US" sz="1800" dirty="0"/>
          </a:p>
          <a:p>
            <a:endParaRPr lang="en-US" sz="1800" dirty="0"/>
          </a:p>
        </p:txBody>
      </p:sp>
      <p:sp>
        <p:nvSpPr>
          <p:cNvPr id="4" name="Content Placeholder 3">
            <a:extLst>
              <a:ext uri="{FF2B5EF4-FFF2-40B4-BE49-F238E27FC236}">
                <a16:creationId xmlns:a16="http://schemas.microsoft.com/office/drawing/2014/main" id="{F621EDB2-9AF0-7940-A227-F302492C2605}"/>
              </a:ext>
            </a:extLst>
          </p:cNvPr>
          <p:cNvSpPr>
            <a:spLocks noGrp="1"/>
          </p:cNvSpPr>
          <p:nvPr>
            <p:ph sz="quarter" idx="4"/>
          </p:nvPr>
        </p:nvSpPr>
        <p:spPr/>
        <p:txBody>
          <a:bodyPr/>
          <a:lstStyle/>
          <a:p>
            <a:r>
              <a:rPr lang="en-US" sz="1800" b="1" dirty="0"/>
              <a:t>Non-retentive </a:t>
            </a:r>
            <a:r>
              <a:rPr lang="en-US" sz="1800" b="1" dirty="0" err="1"/>
              <a:t>SiC</a:t>
            </a:r>
            <a:endParaRPr lang="en-US" sz="1800" b="1" dirty="0"/>
          </a:p>
          <a:p>
            <a:endParaRPr lang="en-US" sz="1800" dirty="0"/>
          </a:p>
          <a:p>
            <a:r>
              <a:rPr lang="en-US" sz="1800" dirty="0"/>
              <a:t>There are situations where the </a:t>
            </a:r>
            <a:r>
              <a:rPr lang="en-US" sz="1800" dirty="0" err="1"/>
              <a:t>SiC</a:t>
            </a:r>
            <a:r>
              <a:rPr lang="en-US" sz="1800" dirty="0"/>
              <a:t> layer becomes functionally failed or degraded in some way and is no longer retentive of fission products</a:t>
            </a:r>
          </a:p>
          <a:p>
            <a:r>
              <a:rPr lang="en-US" sz="1800" dirty="0"/>
              <a:t>Diffusive release through intact layers</a:t>
            </a:r>
          </a:p>
          <a:p>
            <a:pPr lvl="1"/>
            <a:r>
              <a:rPr lang="en-US" sz="1300" dirty="0"/>
              <a:t>If fuel temperatures during normal operation approach 1300C, then some of the fission products that are usually retained by the TRISO coating (e.g., cesium) will be able to diffuse out of the particle during normal operation</a:t>
            </a:r>
          </a:p>
          <a:p>
            <a:r>
              <a:rPr lang="en-US" sz="1800" dirty="0" err="1"/>
              <a:t>SiC</a:t>
            </a:r>
            <a:r>
              <a:rPr lang="en-US" sz="1800" dirty="0"/>
              <a:t> degradation resulting in permeability</a:t>
            </a:r>
          </a:p>
          <a:p>
            <a:pPr lvl="1"/>
            <a:r>
              <a:rPr lang="en-US" sz="1300" dirty="0"/>
              <a:t>Cesium attack of the </a:t>
            </a:r>
            <a:r>
              <a:rPr lang="en-US" sz="1300" dirty="0" err="1"/>
              <a:t>SiC</a:t>
            </a:r>
            <a:r>
              <a:rPr lang="en-US" sz="1300" dirty="0"/>
              <a:t> and/or CO corrosion of the </a:t>
            </a:r>
            <a:r>
              <a:rPr lang="en-US" sz="1300" dirty="0" err="1"/>
              <a:t>SiC</a:t>
            </a:r>
            <a:r>
              <a:rPr lang="en-US" sz="1300" dirty="0"/>
              <a:t> can allow fission products to be released at high burnup</a:t>
            </a:r>
          </a:p>
          <a:p>
            <a:pPr lvl="1"/>
            <a:endParaRPr lang="en-US" sz="1267" dirty="0"/>
          </a:p>
          <a:p>
            <a:endParaRPr lang="en-US" sz="1800" dirty="0"/>
          </a:p>
        </p:txBody>
      </p:sp>
      <p:sp>
        <p:nvSpPr>
          <p:cNvPr id="5" name="Slide Number Placeholder 4">
            <a:extLst>
              <a:ext uri="{FF2B5EF4-FFF2-40B4-BE49-F238E27FC236}">
                <a16:creationId xmlns:a16="http://schemas.microsoft.com/office/drawing/2014/main" id="{E696E9B5-B51E-1041-8557-2FAEE88F01DE}"/>
              </a:ext>
            </a:extLst>
          </p:cNvPr>
          <p:cNvSpPr>
            <a:spLocks noGrp="1"/>
          </p:cNvSpPr>
          <p:nvPr>
            <p:ph type="sldNum" sz="quarter" idx="12"/>
          </p:nvPr>
        </p:nvSpPr>
        <p:spPr/>
        <p:txBody>
          <a:bodyPr/>
          <a:lstStyle/>
          <a:p>
            <a:pPr>
              <a:defRPr/>
            </a:pPr>
            <a:fld id="{BB5B94E0-5E06-6D42-A41D-50D581B40900}" type="slidenum">
              <a:rPr lang="en-US" smtClean="0"/>
              <a:pPr>
                <a:defRPr/>
              </a:pPr>
              <a:t>17</a:t>
            </a:fld>
            <a:endParaRPr lang="en-US"/>
          </a:p>
        </p:txBody>
      </p:sp>
    </p:spTree>
    <p:extLst>
      <p:ext uri="{BB962C8B-B14F-4D97-AF65-F5344CB8AC3E}">
        <p14:creationId xmlns:p14="http://schemas.microsoft.com/office/powerpoint/2010/main" val="17537777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b="1" dirty="0"/>
              <a:t>Creep failure of </a:t>
            </a:r>
            <a:r>
              <a:rPr lang="en-US" sz="1800" b="1" dirty="0" err="1"/>
              <a:t>PyC</a:t>
            </a:r>
            <a:endParaRPr lang="en-US" sz="1800" b="1" dirty="0"/>
          </a:p>
          <a:p>
            <a:endParaRPr lang="en-US" sz="1800" dirty="0"/>
          </a:p>
          <a:p>
            <a:r>
              <a:rPr lang="en-US" sz="1800" dirty="0"/>
              <a:t>Under stress, thermal creep of the </a:t>
            </a:r>
            <a:r>
              <a:rPr lang="en-US" sz="1800" dirty="0" err="1"/>
              <a:t>PyC</a:t>
            </a:r>
            <a:r>
              <a:rPr lang="en-US" sz="1800" dirty="0"/>
              <a:t> will occur</a:t>
            </a:r>
          </a:p>
          <a:p>
            <a:r>
              <a:rPr lang="en-US" sz="1800" dirty="0"/>
              <a:t>In some post-irradiation heating tests, photomicrographs reveal a thinning and failure of the </a:t>
            </a:r>
            <a:r>
              <a:rPr lang="en-US" sz="1800" dirty="0" err="1"/>
              <a:t>PyC</a:t>
            </a:r>
            <a:endParaRPr lang="en-US" sz="1800" dirty="0"/>
          </a:p>
          <a:p>
            <a:r>
              <a:rPr lang="en-US" sz="1800" dirty="0"/>
              <a:t>Such failure has not led to failure of the </a:t>
            </a:r>
            <a:r>
              <a:rPr lang="en-US" sz="1800" dirty="0" err="1"/>
              <a:t>SiC</a:t>
            </a:r>
            <a:r>
              <a:rPr lang="en-US" sz="1800" dirty="0"/>
              <a:t> layer</a:t>
            </a:r>
          </a:p>
          <a:p>
            <a:endParaRPr lang="en-US" sz="1800" dirty="0"/>
          </a:p>
          <a:p>
            <a:endParaRPr lang="en-US" sz="1800" dirty="0"/>
          </a:p>
        </p:txBody>
      </p:sp>
      <p:sp>
        <p:nvSpPr>
          <p:cNvPr id="4" name="Content Placeholder 3">
            <a:extLst>
              <a:ext uri="{FF2B5EF4-FFF2-40B4-BE49-F238E27FC236}">
                <a16:creationId xmlns:a16="http://schemas.microsoft.com/office/drawing/2014/main" id="{F621EDB2-9AF0-7940-A227-F302492C2605}"/>
              </a:ext>
            </a:extLst>
          </p:cNvPr>
          <p:cNvSpPr>
            <a:spLocks noGrp="1"/>
          </p:cNvSpPr>
          <p:nvPr>
            <p:ph sz="quarter" idx="4"/>
          </p:nvPr>
        </p:nvSpPr>
        <p:spPr/>
        <p:txBody>
          <a:bodyPr/>
          <a:lstStyle/>
          <a:p>
            <a:r>
              <a:rPr lang="en-US" sz="1800" b="1" dirty="0" err="1"/>
              <a:t>SiC</a:t>
            </a:r>
            <a:r>
              <a:rPr lang="en-US" sz="1800" b="1" dirty="0"/>
              <a:t> thermal decomposition</a:t>
            </a:r>
          </a:p>
          <a:p>
            <a:endParaRPr lang="en-US" sz="1800" dirty="0"/>
          </a:p>
          <a:p>
            <a:r>
              <a:rPr lang="en-US" sz="1800" dirty="0"/>
              <a:t>At very high temperatures (&gt; 2000C) the </a:t>
            </a:r>
            <a:r>
              <a:rPr lang="en-US" sz="1800" dirty="0" err="1"/>
              <a:t>SiC</a:t>
            </a:r>
            <a:r>
              <a:rPr lang="en-US" sz="1800" dirty="0"/>
              <a:t> layer undergoes thermal decomposition</a:t>
            </a:r>
          </a:p>
          <a:p>
            <a:r>
              <a:rPr lang="en-US" sz="1800" dirty="0"/>
              <a:t>The phenomenon is primarily a function of temperature and time and has not played a major role in fuel failure at lower accident temperatures</a:t>
            </a:r>
          </a:p>
          <a:p>
            <a:endParaRPr lang="en-US" sz="1800" dirty="0"/>
          </a:p>
          <a:p>
            <a:endParaRPr lang="en-US" sz="1800" dirty="0"/>
          </a:p>
        </p:txBody>
      </p:sp>
      <p:sp>
        <p:nvSpPr>
          <p:cNvPr id="5" name="Slide Number Placeholder 4">
            <a:extLst>
              <a:ext uri="{FF2B5EF4-FFF2-40B4-BE49-F238E27FC236}">
                <a16:creationId xmlns:a16="http://schemas.microsoft.com/office/drawing/2014/main" id="{4BEF67DF-7159-4E47-BFBB-A4948B4228A5}"/>
              </a:ext>
            </a:extLst>
          </p:cNvPr>
          <p:cNvSpPr>
            <a:spLocks noGrp="1"/>
          </p:cNvSpPr>
          <p:nvPr>
            <p:ph type="sldNum" sz="quarter" idx="12"/>
          </p:nvPr>
        </p:nvSpPr>
        <p:spPr/>
        <p:txBody>
          <a:bodyPr/>
          <a:lstStyle/>
          <a:p>
            <a:pPr>
              <a:defRPr/>
            </a:pPr>
            <a:fld id="{BB5B94E0-5E06-6D42-A41D-50D581B40900}" type="slidenum">
              <a:rPr lang="en-US" smtClean="0"/>
              <a:pPr>
                <a:defRPr/>
              </a:pPr>
              <a:t>18</a:t>
            </a:fld>
            <a:endParaRPr lang="en-US"/>
          </a:p>
        </p:txBody>
      </p:sp>
    </p:spTree>
    <p:extLst>
      <p:ext uri="{BB962C8B-B14F-4D97-AF65-F5344CB8AC3E}">
        <p14:creationId xmlns:p14="http://schemas.microsoft.com/office/powerpoint/2010/main" val="2813300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a:xfrm>
            <a:off x="609600" y="2174875"/>
            <a:ext cx="5906814" cy="3951288"/>
          </a:xfrm>
        </p:spPr>
        <p:txBody>
          <a:bodyPr/>
          <a:lstStyle/>
          <a:p>
            <a:r>
              <a:rPr lang="en-US" sz="1800" b="1" dirty="0"/>
              <a:t>Kernel-coating mechanical interaction (KCMI)</a:t>
            </a:r>
          </a:p>
          <a:p>
            <a:endParaRPr lang="en-US" sz="1800" dirty="0"/>
          </a:p>
          <a:p>
            <a:r>
              <a:rPr lang="en-US" sz="1800" dirty="0"/>
              <a:t>At sufficiently high burn-up values, it is inevitable that all gas gaps between the kernel and coatings will close, thereby resulting in a mechanical interaction between the two</a:t>
            </a:r>
          </a:p>
          <a:p>
            <a:r>
              <a:rPr lang="en-US" sz="1800" dirty="0"/>
              <a:t>Modelling studies predict that the </a:t>
            </a:r>
            <a:r>
              <a:rPr lang="en-US" sz="1800" dirty="0" err="1"/>
              <a:t>SiC</a:t>
            </a:r>
            <a:r>
              <a:rPr lang="en-US" sz="1800" dirty="0"/>
              <a:t> layer will fail shortly after the onset of KCMI</a:t>
            </a:r>
          </a:p>
          <a:p>
            <a:r>
              <a:rPr lang="en-US" sz="1800" dirty="0"/>
              <a:t>This failure mechanism could be of increasing importance as attempts are made to achieve higher burn-up values</a:t>
            </a:r>
          </a:p>
          <a:p>
            <a:endParaRPr lang="en-US" sz="1800" dirty="0"/>
          </a:p>
          <a:p>
            <a:endParaRPr lang="en-US" sz="1800" dirty="0"/>
          </a:p>
          <a:p>
            <a:endParaRPr lang="en-US" sz="1800" dirty="0"/>
          </a:p>
          <a:p>
            <a:endParaRPr lang="en-US" sz="1800" dirty="0"/>
          </a:p>
        </p:txBody>
      </p:sp>
      <p:sp>
        <p:nvSpPr>
          <p:cNvPr id="5" name="Slide Number Placeholder 4">
            <a:extLst>
              <a:ext uri="{FF2B5EF4-FFF2-40B4-BE49-F238E27FC236}">
                <a16:creationId xmlns:a16="http://schemas.microsoft.com/office/drawing/2014/main" id="{1BB65A53-065E-644F-91A0-FC11F0AABD73}"/>
              </a:ext>
            </a:extLst>
          </p:cNvPr>
          <p:cNvSpPr>
            <a:spLocks noGrp="1"/>
          </p:cNvSpPr>
          <p:nvPr>
            <p:ph type="sldNum" sz="quarter" idx="12"/>
          </p:nvPr>
        </p:nvSpPr>
        <p:spPr/>
        <p:txBody>
          <a:bodyPr/>
          <a:lstStyle/>
          <a:p>
            <a:pPr>
              <a:defRPr/>
            </a:pPr>
            <a:fld id="{BB5B94E0-5E06-6D42-A41D-50D581B40900}" type="slidenum">
              <a:rPr lang="en-US" smtClean="0"/>
              <a:pPr>
                <a:defRPr/>
              </a:pPr>
              <a:t>19</a:t>
            </a:fld>
            <a:endParaRPr lang="en-US"/>
          </a:p>
        </p:txBody>
      </p:sp>
    </p:spTree>
    <p:extLst>
      <p:ext uri="{BB962C8B-B14F-4D97-AF65-F5344CB8AC3E}">
        <p14:creationId xmlns:p14="http://schemas.microsoft.com/office/powerpoint/2010/main" val="1772908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endParaRPr lang="en-US" dirty="0"/>
          </a:p>
          <a:p>
            <a:endParaRPr lang="en-US" dirty="0"/>
          </a:p>
        </p:txBody>
      </p:sp>
      <p:pic>
        <p:nvPicPr>
          <p:cNvPr id="5" name="Picture 4">
            <a:extLst>
              <a:ext uri="{FF2B5EF4-FFF2-40B4-BE49-F238E27FC236}">
                <a16:creationId xmlns:a16="http://schemas.microsoft.com/office/drawing/2014/main" id="{57706E55-AE55-D84C-961F-7CBFE6D61E0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241637" y="1796527"/>
            <a:ext cx="4754880" cy="4967348"/>
          </a:xfrm>
          <a:prstGeom prst="rect">
            <a:avLst/>
          </a:prstGeom>
        </p:spPr>
      </p:pic>
      <p:pic>
        <p:nvPicPr>
          <p:cNvPr id="6" name="Picture 5">
            <a:extLst>
              <a:ext uri="{FF2B5EF4-FFF2-40B4-BE49-F238E27FC236}">
                <a16:creationId xmlns:a16="http://schemas.microsoft.com/office/drawing/2014/main" id="{920591A5-F9DF-FF42-B634-D88D95C2F7D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12020" y="2174875"/>
            <a:ext cx="4754880" cy="2990626"/>
          </a:xfrm>
          <a:prstGeom prst="rect">
            <a:avLst/>
          </a:prstGeom>
        </p:spPr>
      </p:pic>
      <p:sp>
        <p:nvSpPr>
          <p:cNvPr id="4" name="Slide Number Placeholder 3">
            <a:extLst>
              <a:ext uri="{FF2B5EF4-FFF2-40B4-BE49-F238E27FC236}">
                <a16:creationId xmlns:a16="http://schemas.microsoft.com/office/drawing/2014/main" id="{1A3003A0-2E30-CF44-9A30-3AF5FD187DD5}"/>
              </a:ext>
            </a:extLst>
          </p:cNvPr>
          <p:cNvSpPr>
            <a:spLocks noGrp="1"/>
          </p:cNvSpPr>
          <p:nvPr>
            <p:ph type="sldNum" sz="quarter" idx="12"/>
          </p:nvPr>
        </p:nvSpPr>
        <p:spPr/>
        <p:txBody>
          <a:bodyPr/>
          <a:lstStyle/>
          <a:p>
            <a:pPr>
              <a:defRPr/>
            </a:pPr>
            <a:fld id="{BB5B94E0-5E06-6D42-A41D-50D581B40900}" type="slidenum">
              <a:rPr lang="en-US" smtClean="0"/>
              <a:pPr>
                <a:defRPr/>
              </a:pPr>
              <a:t>20</a:t>
            </a:fld>
            <a:endParaRPr lang="en-US"/>
          </a:p>
        </p:txBody>
      </p:sp>
    </p:spTree>
    <p:extLst>
      <p:ext uri="{BB962C8B-B14F-4D97-AF65-F5344CB8AC3E}">
        <p14:creationId xmlns:p14="http://schemas.microsoft.com/office/powerpoint/2010/main" val="3608418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Summary</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endParaRPr lang="en-US" dirty="0"/>
          </a:p>
          <a:p>
            <a:endParaRPr lang="en-US" dirty="0"/>
          </a:p>
        </p:txBody>
      </p:sp>
      <p:sp>
        <p:nvSpPr>
          <p:cNvPr id="7" name="Content Placeholder 2">
            <a:extLst>
              <a:ext uri="{FF2B5EF4-FFF2-40B4-BE49-F238E27FC236}">
                <a16:creationId xmlns:a16="http://schemas.microsoft.com/office/drawing/2014/main" id="{FBD07ADF-ED5D-0940-BB31-36EB711D49BF}"/>
              </a:ext>
            </a:extLst>
          </p:cNvPr>
          <p:cNvSpPr txBox="1">
            <a:spLocks/>
          </p:cNvSpPr>
          <p:nvPr/>
        </p:nvSpPr>
        <p:spPr bwMode="auto">
          <a:xfrm>
            <a:off x="762000" y="2327275"/>
            <a:ext cx="5386917" cy="3951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133"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133"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133"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133" kern="1200">
                <a:solidFill>
                  <a:schemeClr val="tx1"/>
                </a:solidFill>
                <a:latin typeface="+mn-lt"/>
                <a:ea typeface="+mn-ea"/>
                <a:cs typeface="+mn-cs"/>
              </a:defRPr>
            </a:lvl9pPr>
          </a:lstStyle>
          <a:p>
            <a:r>
              <a:rPr lang="en-US" sz="2400" dirty="0"/>
              <a:t>Overpressure</a:t>
            </a:r>
          </a:p>
          <a:p>
            <a:r>
              <a:rPr lang="en-US" sz="2400" dirty="0" err="1"/>
              <a:t>IPyC</a:t>
            </a:r>
            <a:r>
              <a:rPr lang="en-US" sz="2400" dirty="0"/>
              <a:t> cracking</a:t>
            </a:r>
          </a:p>
          <a:p>
            <a:r>
              <a:rPr lang="en-US" sz="2400" dirty="0" err="1"/>
              <a:t>IPyC</a:t>
            </a:r>
            <a:r>
              <a:rPr lang="en-US" sz="2400" dirty="0"/>
              <a:t> and </a:t>
            </a:r>
            <a:r>
              <a:rPr lang="en-US" sz="2400" dirty="0" err="1"/>
              <a:t>SiC</a:t>
            </a:r>
            <a:r>
              <a:rPr lang="en-US" sz="2400" dirty="0"/>
              <a:t> debonding</a:t>
            </a:r>
          </a:p>
          <a:p>
            <a:r>
              <a:rPr lang="en-US" sz="2400" dirty="0"/>
              <a:t>Kernel migration</a:t>
            </a:r>
          </a:p>
          <a:p>
            <a:r>
              <a:rPr lang="en-US" sz="2400" dirty="0"/>
              <a:t>Fission product attack</a:t>
            </a:r>
          </a:p>
          <a:p>
            <a:r>
              <a:rPr lang="en-US" sz="2400" dirty="0"/>
              <a:t>Creep failure of </a:t>
            </a:r>
            <a:r>
              <a:rPr lang="en-US" sz="2400" dirty="0" err="1"/>
              <a:t>PyC</a:t>
            </a:r>
            <a:endParaRPr lang="en-US" sz="2400" dirty="0"/>
          </a:p>
          <a:p>
            <a:r>
              <a:rPr lang="en-US" sz="2400" dirty="0" err="1"/>
              <a:t>SiC</a:t>
            </a:r>
            <a:r>
              <a:rPr lang="en-US" sz="2400" dirty="0"/>
              <a:t> decomposition</a:t>
            </a:r>
          </a:p>
          <a:p>
            <a:r>
              <a:rPr lang="en-US" sz="2400" dirty="0"/>
              <a:t>KCMI</a:t>
            </a:r>
          </a:p>
          <a:p>
            <a:endParaRPr lang="en-US" sz="2400" dirty="0"/>
          </a:p>
          <a:p>
            <a:endParaRPr lang="en-US" sz="2400" dirty="0"/>
          </a:p>
        </p:txBody>
      </p:sp>
      <p:sp>
        <p:nvSpPr>
          <p:cNvPr id="4" name="Slide Number Placeholder 3">
            <a:extLst>
              <a:ext uri="{FF2B5EF4-FFF2-40B4-BE49-F238E27FC236}">
                <a16:creationId xmlns:a16="http://schemas.microsoft.com/office/drawing/2014/main" id="{BB353308-2869-2742-B4D5-E119763B794B}"/>
              </a:ext>
            </a:extLst>
          </p:cNvPr>
          <p:cNvSpPr>
            <a:spLocks noGrp="1"/>
          </p:cNvSpPr>
          <p:nvPr>
            <p:ph type="sldNum" sz="quarter" idx="12"/>
          </p:nvPr>
        </p:nvSpPr>
        <p:spPr/>
        <p:txBody>
          <a:bodyPr/>
          <a:lstStyle/>
          <a:p>
            <a:pPr>
              <a:defRPr/>
            </a:pPr>
            <a:fld id="{BB5B94E0-5E06-6D42-A41D-50D581B40900}" type="slidenum">
              <a:rPr lang="en-US" smtClean="0"/>
              <a:pPr>
                <a:defRPr/>
              </a:pPr>
              <a:t>21</a:t>
            </a:fld>
            <a:endParaRPr lang="en-US" dirty="0"/>
          </a:p>
        </p:txBody>
      </p:sp>
      <p:sp>
        <p:nvSpPr>
          <p:cNvPr id="6" name="Content Placeholder 2">
            <a:extLst>
              <a:ext uri="{FF2B5EF4-FFF2-40B4-BE49-F238E27FC236}">
                <a16:creationId xmlns:a16="http://schemas.microsoft.com/office/drawing/2014/main" id="{1CEBC24E-B62D-4B42-AF31-FA4801FD4B54}"/>
              </a:ext>
            </a:extLst>
          </p:cNvPr>
          <p:cNvSpPr txBox="1">
            <a:spLocks/>
          </p:cNvSpPr>
          <p:nvPr/>
        </p:nvSpPr>
        <p:spPr bwMode="auto">
          <a:xfrm>
            <a:off x="4803494" y="2327275"/>
            <a:ext cx="6991109" cy="3951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133"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133"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133"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133" kern="1200">
                <a:solidFill>
                  <a:schemeClr val="tx1"/>
                </a:solidFill>
                <a:latin typeface="+mn-lt"/>
                <a:ea typeface="+mn-ea"/>
                <a:cs typeface="+mn-cs"/>
              </a:defRPr>
            </a:lvl9pPr>
          </a:lstStyle>
          <a:p>
            <a:r>
              <a:rPr lang="en-US" sz="2400" dirty="0"/>
              <a:t>These failure mechanisms have been observed to some extent in TRISO-coated fuel testing activities conducted around the world</a:t>
            </a:r>
          </a:p>
          <a:p>
            <a:r>
              <a:rPr lang="en-US" sz="2400" dirty="0"/>
              <a:t>They are in general functions of temperature, burnup, fluence, and temperature (gradient) in the particle and details of the particle design</a:t>
            </a:r>
          </a:p>
          <a:p>
            <a:r>
              <a:rPr lang="en-US" sz="2400" dirty="0"/>
              <a:t>TRISO-coated fuel is usually designed such that none of the fuel failure mechanisms are expected to be significant</a:t>
            </a:r>
          </a:p>
          <a:p>
            <a:endParaRPr lang="en-US" sz="2400" dirty="0"/>
          </a:p>
        </p:txBody>
      </p:sp>
    </p:spTree>
    <p:extLst>
      <p:ext uri="{BB962C8B-B14F-4D97-AF65-F5344CB8AC3E}">
        <p14:creationId xmlns:p14="http://schemas.microsoft.com/office/powerpoint/2010/main" val="34396518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sz="4800" dirty="0"/>
              <a:t>Material Performance in He</a:t>
            </a:r>
          </a:p>
        </p:txBody>
      </p:sp>
      <p:sp>
        <p:nvSpPr>
          <p:cNvPr id="3" name="Slide Number Placeholder 2">
            <a:extLst>
              <a:ext uri="{FF2B5EF4-FFF2-40B4-BE49-F238E27FC236}">
                <a16:creationId xmlns:a16="http://schemas.microsoft.com/office/drawing/2014/main" id="{48A4ECEC-16B6-6141-B1AF-F3EA008DFACD}"/>
              </a:ext>
            </a:extLst>
          </p:cNvPr>
          <p:cNvSpPr>
            <a:spLocks noGrp="1"/>
          </p:cNvSpPr>
          <p:nvPr>
            <p:ph type="sldNum" sz="quarter" idx="12"/>
          </p:nvPr>
        </p:nvSpPr>
        <p:spPr/>
        <p:txBody>
          <a:bodyPr/>
          <a:lstStyle/>
          <a:p>
            <a:pPr>
              <a:defRPr/>
            </a:pPr>
            <a:fld id="{0DA6BD0F-ABBC-C14D-BC96-77BE126A748B}" type="slidenum">
              <a:rPr lang="en-US" smtClean="0"/>
              <a:pPr>
                <a:defRPr/>
              </a:pPr>
              <a:t>22</a:t>
            </a:fld>
            <a:endParaRPr lang="en-US"/>
          </a:p>
        </p:txBody>
      </p:sp>
    </p:spTree>
    <p:extLst>
      <p:ext uri="{BB962C8B-B14F-4D97-AF65-F5344CB8AC3E}">
        <p14:creationId xmlns:p14="http://schemas.microsoft.com/office/powerpoint/2010/main" val="522619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C0768-B3BB-3497-0C5E-0AE390B4CACC}"/>
              </a:ext>
            </a:extLst>
          </p:cNvPr>
          <p:cNvSpPr>
            <a:spLocks noGrp="1"/>
          </p:cNvSpPr>
          <p:nvPr>
            <p:ph type="title"/>
          </p:nvPr>
        </p:nvSpPr>
        <p:spPr/>
        <p:txBody>
          <a:bodyPr/>
          <a:lstStyle/>
          <a:p>
            <a:r>
              <a:rPr lang="en-US" dirty="0"/>
              <a:t>High Temperatures</a:t>
            </a:r>
          </a:p>
        </p:txBody>
      </p:sp>
      <p:sp>
        <p:nvSpPr>
          <p:cNvPr id="3" name="Content Placeholder 2">
            <a:extLst>
              <a:ext uri="{FF2B5EF4-FFF2-40B4-BE49-F238E27FC236}">
                <a16:creationId xmlns:a16="http://schemas.microsoft.com/office/drawing/2014/main" id="{D99DF61A-9542-039A-13FA-BE026D4543FF}"/>
              </a:ext>
            </a:extLst>
          </p:cNvPr>
          <p:cNvSpPr>
            <a:spLocks noGrp="1"/>
          </p:cNvSpPr>
          <p:nvPr>
            <p:ph sz="half" idx="2"/>
          </p:nvPr>
        </p:nvSpPr>
        <p:spPr/>
        <p:txBody>
          <a:bodyPr/>
          <a:lstStyle/>
          <a:p>
            <a:r>
              <a:rPr lang="en-US" sz="2200" dirty="0"/>
              <a:t>Current designs target 750 C coolant outlet temperatures</a:t>
            </a:r>
          </a:p>
          <a:p>
            <a:r>
              <a:rPr lang="en-US" sz="2200" dirty="0"/>
              <a:t>Process heat requirements may require outlet temperatures up to 950C</a:t>
            </a:r>
          </a:p>
          <a:p>
            <a:r>
              <a:rPr lang="en-US" sz="2200" dirty="0"/>
              <a:t>The most critical metallic component in the VHTR system is the intermediate heat exchanger (IHX)</a:t>
            </a:r>
          </a:p>
          <a:p>
            <a:r>
              <a:rPr lang="en-US" sz="2200" dirty="0"/>
              <a:t>The high temperatures and long duration of operation restrict IHX material selection</a:t>
            </a:r>
          </a:p>
          <a:p>
            <a:endParaRPr lang="en-US" sz="2200" dirty="0"/>
          </a:p>
        </p:txBody>
      </p:sp>
      <p:sp>
        <p:nvSpPr>
          <p:cNvPr id="5" name="Slide Number Placeholder 4">
            <a:extLst>
              <a:ext uri="{FF2B5EF4-FFF2-40B4-BE49-F238E27FC236}">
                <a16:creationId xmlns:a16="http://schemas.microsoft.com/office/drawing/2014/main" id="{7AA76A75-4A4F-9404-66BC-F56F7E02EA84}"/>
              </a:ext>
            </a:extLst>
          </p:cNvPr>
          <p:cNvSpPr>
            <a:spLocks noGrp="1"/>
          </p:cNvSpPr>
          <p:nvPr>
            <p:ph type="sldNum" sz="quarter" idx="12"/>
          </p:nvPr>
        </p:nvSpPr>
        <p:spPr/>
        <p:txBody>
          <a:bodyPr/>
          <a:lstStyle/>
          <a:p>
            <a:pPr>
              <a:defRPr/>
            </a:pPr>
            <a:fld id="{BB5B94E0-5E06-6D42-A41D-50D581B40900}" type="slidenum">
              <a:rPr lang="en-US" smtClean="0"/>
              <a:pPr>
                <a:defRPr/>
              </a:pPr>
              <a:t>23</a:t>
            </a:fld>
            <a:endParaRPr lang="en-US"/>
          </a:p>
        </p:txBody>
      </p:sp>
      <p:pic>
        <p:nvPicPr>
          <p:cNvPr id="6" name="Picture 5">
            <a:extLst>
              <a:ext uri="{FF2B5EF4-FFF2-40B4-BE49-F238E27FC236}">
                <a16:creationId xmlns:a16="http://schemas.microsoft.com/office/drawing/2014/main" id="{20D168A4-EE58-E1C1-F260-B0B426E8F035}"/>
              </a:ext>
            </a:extLst>
          </p:cNvPr>
          <p:cNvPicPr>
            <a:picLocks noChangeAspect="1"/>
          </p:cNvPicPr>
          <p:nvPr/>
        </p:nvPicPr>
        <p:blipFill>
          <a:blip r:embed="rId2"/>
          <a:stretch>
            <a:fillRect/>
          </a:stretch>
        </p:blipFill>
        <p:spPr>
          <a:xfrm>
            <a:off x="5996517" y="2353550"/>
            <a:ext cx="5999905" cy="3152492"/>
          </a:xfrm>
          <a:prstGeom prst="rect">
            <a:avLst/>
          </a:prstGeom>
        </p:spPr>
      </p:pic>
    </p:spTree>
    <p:extLst>
      <p:ext uri="{BB962C8B-B14F-4D97-AF65-F5344CB8AC3E}">
        <p14:creationId xmlns:p14="http://schemas.microsoft.com/office/powerpoint/2010/main" val="4428310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751BEE-3769-C666-CA99-3063DF861AA5}"/>
              </a:ext>
            </a:extLst>
          </p:cNvPr>
          <p:cNvSpPr>
            <a:spLocks noGrp="1"/>
          </p:cNvSpPr>
          <p:nvPr>
            <p:ph type="title"/>
          </p:nvPr>
        </p:nvSpPr>
        <p:spPr/>
        <p:txBody>
          <a:bodyPr/>
          <a:lstStyle/>
          <a:p>
            <a:r>
              <a:rPr lang="en-US" dirty="0"/>
              <a:t>Flow and Impurities</a:t>
            </a:r>
          </a:p>
        </p:txBody>
      </p:sp>
      <p:sp>
        <p:nvSpPr>
          <p:cNvPr id="3" name="Content Placeholder 2">
            <a:extLst>
              <a:ext uri="{FF2B5EF4-FFF2-40B4-BE49-F238E27FC236}">
                <a16:creationId xmlns:a16="http://schemas.microsoft.com/office/drawing/2014/main" id="{F73C277E-C142-9E98-336F-1F5CA0430536}"/>
              </a:ext>
            </a:extLst>
          </p:cNvPr>
          <p:cNvSpPr>
            <a:spLocks noGrp="1"/>
          </p:cNvSpPr>
          <p:nvPr>
            <p:ph sz="half" idx="2"/>
          </p:nvPr>
        </p:nvSpPr>
        <p:spPr>
          <a:xfrm>
            <a:off x="609600" y="1935726"/>
            <a:ext cx="5583772" cy="4190437"/>
          </a:xfrm>
        </p:spPr>
        <p:txBody>
          <a:bodyPr/>
          <a:lstStyle/>
          <a:p>
            <a:r>
              <a:rPr lang="en-US" sz="2200" dirty="0"/>
              <a:t>In the reactors under consideration, the gas pressure is typically between 5 and 7 MPa</a:t>
            </a:r>
          </a:p>
          <a:p>
            <a:r>
              <a:rPr lang="en-US" sz="2200" dirty="0"/>
              <a:t>The coolant is circulated at high velocity, sometimes over 100 m/s</a:t>
            </a:r>
          </a:p>
          <a:p>
            <a:r>
              <a:rPr lang="en-US" sz="2200" dirty="0"/>
              <a:t>Operating experience has shown that the primary He coolant tends to contain H2O, H2, N2, CO, CO2, and CH4 at concentrations of a few parts per million</a:t>
            </a:r>
          </a:p>
          <a:p>
            <a:r>
              <a:rPr lang="en-US" sz="2200" dirty="0"/>
              <a:t>These are the primary drivers of corrosion in He-cooled systems</a:t>
            </a:r>
          </a:p>
        </p:txBody>
      </p:sp>
      <p:sp>
        <p:nvSpPr>
          <p:cNvPr id="4" name="Content Placeholder 3">
            <a:extLst>
              <a:ext uri="{FF2B5EF4-FFF2-40B4-BE49-F238E27FC236}">
                <a16:creationId xmlns:a16="http://schemas.microsoft.com/office/drawing/2014/main" id="{DA74DCA6-5DD1-D4E5-3713-F325C340E5D5}"/>
              </a:ext>
            </a:extLst>
          </p:cNvPr>
          <p:cNvSpPr>
            <a:spLocks noGrp="1"/>
          </p:cNvSpPr>
          <p:nvPr>
            <p:ph sz="quarter" idx="4"/>
          </p:nvPr>
        </p:nvSpPr>
        <p:spPr>
          <a:xfrm>
            <a:off x="6193372" y="1935726"/>
            <a:ext cx="5389033" cy="4190437"/>
          </a:xfrm>
        </p:spPr>
        <p:txBody>
          <a:bodyPr/>
          <a:lstStyle/>
          <a:p>
            <a:r>
              <a:rPr lang="en-US" sz="2200" dirty="0"/>
              <a:t>Reactor systems need to have extensive gas cleanup systems associated with the helium coolant flow to keep the total impurity levels in the helium below typically 10 ppm</a:t>
            </a:r>
          </a:p>
          <a:p>
            <a:r>
              <a:rPr lang="en-US" sz="2200" dirty="0"/>
              <a:t>Active control should be maintained on the H2O and CO concentrations to reduce oxidation of the graphite</a:t>
            </a:r>
          </a:p>
          <a:p>
            <a:r>
              <a:rPr lang="en-US" sz="2200" dirty="0"/>
              <a:t>Molecular sieves are effective in capturing most of the gaseous impurities</a:t>
            </a:r>
          </a:p>
          <a:p>
            <a:endParaRPr lang="en-US" sz="2200" dirty="0"/>
          </a:p>
        </p:txBody>
      </p:sp>
      <p:sp>
        <p:nvSpPr>
          <p:cNvPr id="5" name="Slide Number Placeholder 4">
            <a:extLst>
              <a:ext uri="{FF2B5EF4-FFF2-40B4-BE49-F238E27FC236}">
                <a16:creationId xmlns:a16="http://schemas.microsoft.com/office/drawing/2014/main" id="{460A1E51-1FAC-FE5C-9A56-333C5CE0D9CF}"/>
              </a:ext>
            </a:extLst>
          </p:cNvPr>
          <p:cNvSpPr>
            <a:spLocks noGrp="1"/>
          </p:cNvSpPr>
          <p:nvPr>
            <p:ph type="sldNum" sz="quarter" idx="12"/>
          </p:nvPr>
        </p:nvSpPr>
        <p:spPr/>
        <p:txBody>
          <a:bodyPr/>
          <a:lstStyle/>
          <a:p>
            <a:pPr>
              <a:defRPr/>
            </a:pPr>
            <a:fld id="{BB5B94E0-5E06-6D42-A41D-50D581B40900}" type="slidenum">
              <a:rPr lang="en-US" smtClean="0"/>
              <a:pPr>
                <a:defRPr/>
              </a:pPr>
              <a:t>24</a:t>
            </a:fld>
            <a:endParaRPr lang="en-US"/>
          </a:p>
        </p:txBody>
      </p:sp>
    </p:spTree>
    <p:extLst>
      <p:ext uri="{BB962C8B-B14F-4D97-AF65-F5344CB8AC3E}">
        <p14:creationId xmlns:p14="http://schemas.microsoft.com/office/powerpoint/2010/main" val="3342838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597DB-225E-4F72-1CF7-4D77D0E3A96D}"/>
              </a:ext>
            </a:extLst>
          </p:cNvPr>
          <p:cNvSpPr>
            <a:spLocks noGrp="1"/>
          </p:cNvSpPr>
          <p:nvPr>
            <p:ph type="title"/>
          </p:nvPr>
        </p:nvSpPr>
        <p:spPr/>
        <p:txBody>
          <a:bodyPr/>
          <a:lstStyle/>
          <a:p>
            <a:r>
              <a:rPr lang="en-US" dirty="0"/>
              <a:t>IHX Materials</a:t>
            </a:r>
          </a:p>
        </p:txBody>
      </p:sp>
      <p:sp>
        <p:nvSpPr>
          <p:cNvPr id="3" name="Content Placeholder 2">
            <a:extLst>
              <a:ext uri="{FF2B5EF4-FFF2-40B4-BE49-F238E27FC236}">
                <a16:creationId xmlns:a16="http://schemas.microsoft.com/office/drawing/2014/main" id="{50CF17F7-5928-51A7-F778-288E51E32EE0}"/>
              </a:ext>
            </a:extLst>
          </p:cNvPr>
          <p:cNvSpPr>
            <a:spLocks noGrp="1"/>
          </p:cNvSpPr>
          <p:nvPr>
            <p:ph sz="half" idx="2"/>
          </p:nvPr>
        </p:nvSpPr>
        <p:spPr>
          <a:xfrm>
            <a:off x="609600" y="1992326"/>
            <a:ext cx="10972800" cy="2690800"/>
          </a:xfrm>
        </p:spPr>
        <p:txBody>
          <a:bodyPr/>
          <a:lstStyle/>
          <a:p>
            <a:r>
              <a:rPr lang="en-US" sz="2200" dirty="0"/>
              <a:t>The desire for higher temperature operation led to selection of nickel-based alloys</a:t>
            </a:r>
          </a:p>
          <a:p>
            <a:r>
              <a:rPr lang="en-US" sz="2200" dirty="0"/>
              <a:t>These alloys rely on the formation of a chromia layer for long-term protection from environmental degradation</a:t>
            </a:r>
          </a:p>
          <a:p>
            <a:r>
              <a:rPr lang="en-US" sz="2200" dirty="0"/>
              <a:t>The alloys are primarily solid-solution strengthened with carbides on the grain boundaries to improve creep resistance</a:t>
            </a:r>
          </a:p>
        </p:txBody>
      </p:sp>
      <p:sp>
        <p:nvSpPr>
          <p:cNvPr id="5" name="Slide Number Placeholder 4">
            <a:extLst>
              <a:ext uri="{FF2B5EF4-FFF2-40B4-BE49-F238E27FC236}">
                <a16:creationId xmlns:a16="http://schemas.microsoft.com/office/drawing/2014/main" id="{4BAA34B6-F3BB-BF1E-B80B-F38C433F7FA5}"/>
              </a:ext>
            </a:extLst>
          </p:cNvPr>
          <p:cNvSpPr>
            <a:spLocks noGrp="1"/>
          </p:cNvSpPr>
          <p:nvPr>
            <p:ph type="sldNum" sz="quarter" idx="12"/>
          </p:nvPr>
        </p:nvSpPr>
        <p:spPr/>
        <p:txBody>
          <a:bodyPr/>
          <a:lstStyle/>
          <a:p>
            <a:pPr>
              <a:defRPr/>
            </a:pPr>
            <a:fld id="{BB5B94E0-5E06-6D42-A41D-50D581B40900}" type="slidenum">
              <a:rPr lang="en-US" smtClean="0"/>
              <a:pPr>
                <a:defRPr/>
              </a:pPr>
              <a:t>25</a:t>
            </a:fld>
            <a:endParaRPr lang="en-US"/>
          </a:p>
        </p:txBody>
      </p:sp>
      <p:pic>
        <p:nvPicPr>
          <p:cNvPr id="6" name="Picture 5">
            <a:extLst>
              <a:ext uri="{FF2B5EF4-FFF2-40B4-BE49-F238E27FC236}">
                <a16:creationId xmlns:a16="http://schemas.microsoft.com/office/drawing/2014/main" id="{938ECA8D-E27D-33C5-384E-24AE6D744A37}"/>
              </a:ext>
            </a:extLst>
          </p:cNvPr>
          <p:cNvPicPr>
            <a:picLocks noChangeAspect="1"/>
          </p:cNvPicPr>
          <p:nvPr/>
        </p:nvPicPr>
        <p:blipFill>
          <a:blip r:embed="rId2"/>
          <a:stretch>
            <a:fillRect/>
          </a:stretch>
        </p:blipFill>
        <p:spPr>
          <a:xfrm>
            <a:off x="1107776" y="4477871"/>
            <a:ext cx="9976447" cy="1768093"/>
          </a:xfrm>
          <a:prstGeom prst="rect">
            <a:avLst/>
          </a:prstGeom>
        </p:spPr>
      </p:pic>
    </p:spTree>
    <p:extLst>
      <p:ext uri="{BB962C8B-B14F-4D97-AF65-F5344CB8AC3E}">
        <p14:creationId xmlns:p14="http://schemas.microsoft.com/office/powerpoint/2010/main" val="3230816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D9BE0-5E04-B36A-9649-114C4707950C}"/>
              </a:ext>
            </a:extLst>
          </p:cNvPr>
          <p:cNvSpPr>
            <a:spLocks noGrp="1"/>
          </p:cNvSpPr>
          <p:nvPr>
            <p:ph type="title"/>
          </p:nvPr>
        </p:nvSpPr>
        <p:spPr/>
        <p:txBody>
          <a:bodyPr/>
          <a:lstStyle/>
          <a:p>
            <a:r>
              <a:rPr lang="en-US" dirty="0"/>
              <a:t>IHX Corrosion in VHTR</a:t>
            </a:r>
          </a:p>
        </p:txBody>
      </p:sp>
      <p:sp>
        <p:nvSpPr>
          <p:cNvPr id="3" name="Content Placeholder 2">
            <a:extLst>
              <a:ext uri="{FF2B5EF4-FFF2-40B4-BE49-F238E27FC236}">
                <a16:creationId xmlns:a16="http://schemas.microsoft.com/office/drawing/2014/main" id="{6D8C42B3-90A3-1D1A-1C61-DE27C5031004}"/>
              </a:ext>
            </a:extLst>
          </p:cNvPr>
          <p:cNvSpPr>
            <a:spLocks noGrp="1"/>
          </p:cNvSpPr>
          <p:nvPr>
            <p:ph sz="half" idx="2"/>
          </p:nvPr>
        </p:nvSpPr>
        <p:spPr/>
        <p:txBody>
          <a:bodyPr/>
          <a:lstStyle/>
          <a:p>
            <a:r>
              <a:rPr lang="en-US" sz="2400" dirty="0"/>
              <a:t>Interplay between the alloy surface, temperature, and gas composition determines whether corrosive oxidation, carburization, or decarburization occur</a:t>
            </a:r>
          </a:p>
          <a:p>
            <a:r>
              <a:rPr lang="en-US" sz="2400" dirty="0"/>
              <a:t>Carburization is associated with low-temperature embrittlement, and decarburization is linked to reduced creep rupture strength</a:t>
            </a:r>
          </a:p>
        </p:txBody>
      </p:sp>
      <p:sp>
        <p:nvSpPr>
          <p:cNvPr id="4" name="Content Placeholder 3">
            <a:extLst>
              <a:ext uri="{FF2B5EF4-FFF2-40B4-BE49-F238E27FC236}">
                <a16:creationId xmlns:a16="http://schemas.microsoft.com/office/drawing/2014/main" id="{73BF0F03-97C4-CC7A-98CA-51F2D8AE3712}"/>
              </a:ext>
            </a:extLst>
          </p:cNvPr>
          <p:cNvSpPr>
            <a:spLocks noGrp="1"/>
          </p:cNvSpPr>
          <p:nvPr>
            <p:ph sz="quarter" idx="4"/>
          </p:nvPr>
        </p:nvSpPr>
        <p:spPr/>
        <p:txBody>
          <a:bodyPr/>
          <a:lstStyle/>
          <a:p>
            <a:r>
              <a:rPr lang="en-US" sz="2400" dirty="0"/>
              <a:t>Ideally, a continuous self-healing, impermeable passivating oxide layer is needed to establish the most corrosion resistant alloy</a:t>
            </a:r>
          </a:p>
          <a:p>
            <a:r>
              <a:rPr lang="en-US" sz="2400" dirty="0"/>
              <a:t>There is a critical temperature above which the oxide layer is unstable, and CO production will occur</a:t>
            </a:r>
          </a:p>
        </p:txBody>
      </p:sp>
      <p:sp>
        <p:nvSpPr>
          <p:cNvPr id="5" name="Slide Number Placeholder 4">
            <a:extLst>
              <a:ext uri="{FF2B5EF4-FFF2-40B4-BE49-F238E27FC236}">
                <a16:creationId xmlns:a16="http://schemas.microsoft.com/office/drawing/2014/main" id="{07072DC3-15EC-C3D7-91A8-B85B2F5B2144}"/>
              </a:ext>
            </a:extLst>
          </p:cNvPr>
          <p:cNvSpPr>
            <a:spLocks noGrp="1"/>
          </p:cNvSpPr>
          <p:nvPr>
            <p:ph type="sldNum" sz="quarter" idx="12"/>
          </p:nvPr>
        </p:nvSpPr>
        <p:spPr/>
        <p:txBody>
          <a:bodyPr/>
          <a:lstStyle/>
          <a:p>
            <a:pPr>
              <a:defRPr/>
            </a:pPr>
            <a:fld id="{BB5B94E0-5E06-6D42-A41D-50D581B40900}" type="slidenum">
              <a:rPr lang="en-US" smtClean="0"/>
              <a:pPr>
                <a:defRPr/>
              </a:pPr>
              <a:t>26</a:t>
            </a:fld>
            <a:endParaRPr lang="en-US"/>
          </a:p>
        </p:txBody>
      </p:sp>
      <p:pic>
        <p:nvPicPr>
          <p:cNvPr id="6" name="Picture 5">
            <a:extLst>
              <a:ext uri="{FF2B5EF4-FFF2-40B4-BE49-F238E27FC236}">
                <a16:creationId xmlns:a16="http://schemas.microsoft.com/office/drawing/2014/main" id="{FEEEBC78-E707-1BD1-22DA-2116127DF275}"/>
              </a:ext>
            </a:extLst>
          </p:cNvPr>
          <p:cNvPicPr>
            <a:picLocks noChangeAspect="1"/>
          </p:cNvPicPr>
          <p:nvPr/>
        </p:nvPicPr>
        <p:blipFill>
          <a:blip r:embed="rId2"/>
          <a:stretch>
            <a:fillRect/>
          </a:stretch>
        </p:blipFill>
        <p:spPr>
          <a:xfrm>
            <a:off x="6864350" y="5332132"/>
            <a:ext cx="3746500" cy="469900"/>
          </a:xfrm>
          <a:prstGeom prst="rect">
            <a:avLst/>
          </a:prstGeom>
        </p:spPr>
      </p:pic>
    </p:spTree>
    <p:extLst>
      <p:ext uri="{BB962C8B-B14F-4D97-AF65-F5344CB8AC3E}">
        <p14:creationId xmlns:p14="http://schemas.microsoft.com/office/powerpoint/2010/main" val="38945317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26944-4171-0AE3-0F95-EB623E95C0FA}"/>
              </a:ext>
            </a:extLst>
          </p:cNvPr>
          <p:cNvSpPr>
            <a:spLocks noGrp="1"/>
          </p:cNvSpPr>
          <p:nvPr>
            <p:ph type="title"/>
          </p:nvPr>
        </p:nvSpPr>
        <p:spPr/>
        <p:txBody>
          <a:bodyPr/>
          <a:lstStyle/>
          <a:p>
            <a:r>
              <a:rPr lang="en-US" dirty="0"/>
              <a:t>Alloy 617 Stability</a:t>
            </a:r>
          </a:p>
        </p:txBody>
      </p:sp>
      <p:sp>
        <p:nvSpPr>
          <p:cNvPr id="3" name="Content Placeholder 2">
            <a:extLst>
              <a:ext uri="{FF2B5EF4-FFF2-40B4-BE49-F238E27FC236}">
                <a16:creationId xmlns:a16="http://schemas.microsoft.com/office/drawing/2014/main" id="{FE72B45C-6011-0BA6-8B12-20929BCDC951}"/>
              </a:ext>
            </a:extLst>
          </p:cNvPr>
          <p:cNvSpPr>
            <a:spLocks noGrp="1"/>
          </p:cNvSpPr>
          <p:nvPr>
            <p:ph sz="half" idx="2"/>
          </p:nvPr>
        </p:nvSpPr>
        <p:spPr>
          <a:xfrm>
            <a:off x="609600" y="1966711"/>
            <a:ext cx="5386917" cy="3951288"/>
          </a:xfrm>
        </p:spPr>
        <p:txBody>
          <a:bodyPr/>
          <a:lstStyle/>
          <a:p>
            <a:r>
              <a:rPr lang="en-US" sz="2200" dirty="0"/>
              <a:t>Alloy 617 is the leading candidate for use in the VHTR heat exchangers because it has the highest creep strength of the solid-solution alloys under consideration for temperatures above 850C</a:t>
            </a:r>
          </a:p>
          <a:p>
            <a:r>
              <a:rPr lang="en-US" sz="2200" dirty="0"/>
              <a:t>Five conditions: I – strong reduction; II – decarburization; III – stable external oxide; IV – mixed surface oxide and carbide; and V – strong internal and external carburization</a:t>
            </a:r>
          </a:p>
          <a:p>
            <a:r>
              <a:rPr lang="en-US" sz="2200" dirty="0"/>
              <a:t>Zone 3 is optimal for stability</a:t>
            </a:r>
          </a:p>
        </p:txBody>
      </p:sp>
      <p:pic>
        <p:nvPicPr>
          <p:cNvPr id="6" name="Content Placeholder 5">
            <a:extLst>
              <a:ext uri="{FF2B5EF4-FFF2-40B4-BE49-F238E27FC236}">
                <a16:creationId xmlns:a16="http://schemas.microsoft.com/office/drawing/2014/main" id="{42DDA221-C466-4ECD-76C3-06285E3F956E}"/>
              </a:ext>
            </a:extLst>
          </p:cNvPr>
          <p:cNvPicPr>
            <a:picLocks noGrp="1" noChangeAspect="1"/>
          </p:cNvPicPr>
          <p:nvPr>
            <p:ph sz="quarter" idx="4"/>
          </p:nvPr>
        </p:nvPicPr>
        <p:blipFill>
          <a:blip r:embed="rId2"/>
          <a:stretch>
            <a:fillRect/>
          </a:stretch>
        </p:blipFill>
        <p:spPr>
          <a:xfrm>
            <a:off x="6192838" y="2209409"/>
            <a:ext cx="5389562" cy="3882219"/>
          </a:xfrm>
          <a:prstGeom prst="rect">
            <a:avLst/>
          </a:prstGeom>
        </p:spPr>
      </p:pic>
      <p:sp>
        <p:nvSpPr>
          <p:cNvPr id="5" name="Slide Number Placeholder 4">
            <a:extLst>
              <a:ext uri="{FF2B5EF4-FFF2-40B4-BE49-F238E27FC236}">
                <a16:creationId xmlns:a16="http://schemas.microsoft.com/office/drawing/2014/main" id="{6C9C4B35-D535-71C7-AE36-5A4A549F7844}"/>
              </a:ext>
            </a:extLst>
          </p:cNvPr>
          <p:cNvSpPr>
            <a:spLocks noGrp="1"/>
          </p:cNvSpPr>
          <p:nvPr>
            <p:ph type="sldNum" sz="quarter" idx="12"/>
          </p:nvPr>
        </p:nvSpPr>
        <p:spPr/>
        <p:txBody>
          <a:bodyPr/>
          <a:lstStyle/>
          <a:p>
            <a:pPr>
              <a:defRPr/>
            </a:pPr>
            <a:fld id="{BB5B94E0-5E06-6D42-A41D-50D581B40900}" type="slidenum">
              <a:rPr lang="en-US" smtClean="0"/>
              <a:pPr>
                <a:defRPr/>
              </a:pPr>
              <a:t>27</a:t>
            </a:fld>
            <a:endParaRPr lang="en-US"/>
          </a:p>
        </p:txBody>
      </p:sp>
    </p:spTree>
    <p:extLst>
      <p:ext uri="{BB962C8B-B14F-4D97-AF65-F5344CB8AC3E}">
        <p14:creationId xmlns:p14="http://schemas.microsoft.com/office/powerpoint/2010/main" val="15180820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Fabrication</a:t>
            </a:r>
          </a:p>
        </p:txBody>
      </p:sp>
      <p:sp>
        <p:nvSpPr>
          <p:cNvPr id="3" name="Slide Number Placeholder 2">
            <a:extLst>
              <a:ext uri="{FF2B5EF4-FFF2-40B4-BE49-F238E27FC236}">
                <a16:creationId xmlns:a16="http://schemas.microsoft.com/office/drawing/2014/main" id="{342DAA01-5B2D-5545-A184-0A99F36A4B0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DA6BD0F-ABBC-C14D-BC96-77BE126A748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958551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C18E-21BC-424E-A832-578210A8841A}"/>
              </a:ext>
            </a:extLst>
          </p:cNvPr>
          <p:cNvSpPr>
            <a:spLocks noGrp="1"/>
          </p:cNvSpPr>
          <p:nvPr>
            <p:ph type="title"/>
          </p:nvPr>
        </p:nvSpPr>
        <p:spPr/>
        <p:txBody>
          <a:bodyPr/>
          <a:lstStyle/>
          <a:p>
            <a:r>
              <a:rPr lang="en-US" dirty="0"/>
              <a:t>Fuel Kernel Fabrication</a:t>
            </a:r>
          </a:p>
        </p:txBody>
      </p:sp>
      <p:sp>
        <p:nvSpPr>
          <p:cNvPr id="3" name="Content Placeholder 2">
            <a:extLst>
              <a:ext uri="{FF2B5EF4-FFF2-40B4-BE49-F238E27FC236}">
                <a16:creationId xmlns:a16="http://schemas.microsoft.com/office/drawing/2014/main" id="{5B6048BD-3114-A840-9F80-2E776DC158D1}"/>
              </a:ext>
            </a:extLst>
          </p:cNvPr>
          <p:cNvSpPr>
            <a:spLocks noGrp="1"/>
          </p:cNvSpPr>
          <p:nvPr>
            <p:ph sz="half" idx="1"/>
          </p:nvPr>
        </p:nvSpPr>
        <p:spPr/>
        <p:txBody>
          <a:bodyPr/>
          <a:lstStyle/>
          <a:p>
            <a:r>
              <a:rPr lang="en-US" sz="2400" dirty="0"/>
              <a:t>The sol–gel technique for kernel microsphere preparation is based on the following two chemical reactions starting from U3O8 powder</a:t>
            </a:r>
          </a:p>
          <a:p>
            <a:endParaRPr lang="en-US" sz="2400" dirty="0"/>
          </a:p>
        </p:txBody>
      </p:sp>
      <p:sp>
        <p:nvSpPr>
          <p:cNvPr id="4" name="Content Placeholder 3">
            <a:extLst>
              <a:ext uri="{FF2B5EF4-FFF2-40B4-BE49-F238E27FC236}">
                <a16:creationId xmlns:a16="http://schemas.microsoft.com/office/drawing/2014/main" id="{D8237FFF-9AF3-C348-961F-60C68AC49FE8}"/>
              </a:ext>
            </a:extLst>
          </p:cNvPr>
          <p:cNvSpPr>
            <a:spLocks noGrp="1"/>
          </p:cNvSpPr>
          <p:nvPr>
            <p:ph sz="half" idx="2"/>
          </p:nvPr>
        </p:nvSpPr>
        <p:spPr/>
        <p:txBody>
          <a:bodyPr/>
          <a:lstStyle/>
          <a:p>
            <a:r>
              <a:rPr lang="en-US" sz="2400" dirty="0"/>
              <a:t>The (NH4)2U2O7 (ammonium di-</a:t>
            </a:r>
            <a:r>
              <a:rPr lang="en-US" sz="2400" dirty="0" err="1"/>
              <a:t>uranate</a:t>
            </a:r>
            <a:r>
              <a:rPr lang="en-US" sz="2400" dirty="0"/>
              <a:t> – ADU) is converted to UO2 by sintering in hydrogen gas</a:t>
            </a:r>
          </a:p>
          <a:p>
            <a:r>
              <a:rPr lang="en-US" sz="2400" dirty="0"/>
              <a:t>For the production of UCO kernels, carbon black is added to the broth and the sintering is performed in CO gas to ensure adequate C/O stoichiometry</a:t>
            </a:r>
          </a:p>
          <a:p>
            <a:endParaRPr lang="en-US" sz="2400" dirty="0"/>
          </a:p>
        </p:txBody>
      </p:sp>
      <p:pic>
        <p:nvPicPr>
          <p:cNvPr id="5" name="Picture 4">
            <a:extLst>
              <a:ext uri="{FF2B5EF4-FFF2-40B4-BE49-F238E27FC236}">
                <a16:creationId xmlns:a16="http://schemas.microsoft.com/office/drawing/2014/main" id="{48D9D937-1F47-1840-B3B3-87CEC0F967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61494" y="4047334"/>
            <a:ext cx="4481012" cy="1641661"/>
          </a:xfrm>
          <a:prstGeom prst="rect">
            <a:avLst/>
          </a:prstGeom>
        </p:spPr>
      </p:pic>
    </p:spTree>
    <p:extLst>
      <p:ext uri="{BB962C8B-B14F-4D97-AF65-F5344CB8AC3E}">
        <p14:creationId xmlns:p14="http://schemas.microsoft.com/office/powerpoint/2010/main" val="11497708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5BB59-82B3-CD4F-8B17-4D6E6CBC748E}"/>
              </a:ext>
            </a:extLst>
          </p:cNvPr>
          <p:cNvSpPr>
            <a:spLocks noGrp="1"/>
          </p:cNvSpPr>
          <p:nvPr>
            <p:ph type="title"/>
          </p:nvPr>
        </p:nvSpPr>
        <p:spPr/>
        <p:txBody>
          <a:bodyPr/>
          <a:lstStyle/>
          <a:p>
            <a:r>
              <a:rPr lang="en-US" dirty="0"/>
              <a:t>Fuel Kernel Fabrication</a:t>
            </a:r>
          </a:p>
        </p:txBody>
      </p:sp>
      <p:sp>
        <p:nvSpPr>
          <p:cNvPr id="3" name="Content Placeholder 2">
            <a:extLst>
              <a:ext uri="{FF2B5EF4-FFF2-40B4-BE49-F238E27FC236}">
                <a16:creationId xmlns:a16="http://schemas.microsoft.com/office/drawing/2014/main" id="{A60F2271-FB6C-1A41-8552-BBD956A8F445}"/>
              </a:ext>
            </a:extLst>
          </p:cNvPr>
          <p:cNvSpPr>
            <a:spLocks noGrp="1"/>
          </p:cNvSpPr>
          <p:nvPr>
            <p:ph sz="half" idx="1"/>
          </p:nvPr>
        </p:nvSpPr>
        <p:spPr>
          <a:xfrm>
            <a:off x="609599" y="1968503"/>
            <a:ext cx="7275755" cy="4157663"/>
          </a:xfrm>
        </p:spPr>
        <p:txBody>
          <a:bodyPr/>
          <a:lstStyle/>
          <a:p>
            <a:r>
              <a:rPr lang="en-US" sz="2400" dirty="0"/>
              <a:t>The mechanical strength of the coated layers depends on their thickness and sphericity, and thus strongly depend on the diameter and sphericity of the kernels</a:t>
            </a:r>
          </a:p>
          <a:p>
            <a:r>
              <a:rPr lang="en-US" sz="2400" dirty="0"/>
              <a:t>Vibrating nozzles from which droplets are emitted with high speed were developed for uniform and spherical  kernel fabrication</a:t>
            </a:r>
          </a:p>
          <a:p>
            <a:r>
              <a:rPr lang="en-US" sz="2400" dirty="0"/>
              <a:t>A process is applied to prevent the deformation of droplets while they are landing on the ammonia water, where droplets are solidified while falling in ammonia gas blown against them</a:t>
            </a:r>
          </a:p>
          <a:p>
            <a:endParaRPr lang="en-US" sz="2400" dirty="0"/>
          </a:p>
          <a:p>
            <a:endParaRPr lang="en-US" sz="2400" dirty="0"/>
          </a:p>
          <a:p>
            <a:endParaRPr lang="en-US" sz="2400" dirty="0"/>
          </a:p>
          <a:p>
            <a:endParaRPr lang="en-US" sz="2400" dirty="0"/>
          </a:p>
        </p:txBody>
      </p:sp>
      <p:pic>
        <p:nvPicPr>
          <p:cNvPr id="5" name="Content Placeholder 4">
            <a:extLst>
              <a:ext uri="{FF2B5EF4-FFF2-40B4-BE49-F238E27FC236}">
                <a16:creationId xmlns:a16="http://schemas.microsoft.com/office/drawing/2014/main" id="{539A2651-D3FB-4649-BBDB-04B5C455ABF9}"/>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222098" y="1968503"/>
            <a:ext cx="3360302" cy="4157663"/>
          </a:xfrm>
          <a:prstGeom prst="rect">
            <a:avLst/>
          </a:prstGeom>
        </p:spPr>
      </p:pic>
    </p:spTree>
    <p:extLst>
      <p:ext uri="{BB962C8B-B14F-4D97-AF65-F5344CB8AC3E}">
        <p14:creationId xmlns:p14="http://schemas.microsoft.com/office/powerpoint/2010/main" val="10477647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DCE1C-A406-4245-BF8B-390439F716C4}"/>
              </a:ext>
            </a:extLst>
          </p:cNvPr>
          <p:cNvSpPr>
            <a:spLocks noGrp="1"/>
          </p:cNvSpPr>
          <p:nvPr>
            <p:ph type="title"/>
          </p:nvPr>
        </p:nvSpPr>
        <p:spPr/>
        <p:txBody>
          <a:bodyPr/>
          <a:lstStyle/>
          <a:p>
            <a:r>
              <a:rPr lang="en-US" dirty="0" err="1"/>
              <a:t>SiC</a:t>
            </a:r>
            <a:r>
              <a:rPr lang="en-US" dirty="0"/>
              <a:t> (and </a:t>
            </a:r>
            <a:r>
              <a:rPr lang="en-US" dirty="0" err="1"/>
              <a:t>PyC</a:t>
            </a:r>
            <a:r>
              <a:rPr lang="en-US" dirty="0"/>
              <a:t>) Fabrication</a:t>
            </a:r>
          </a:p>
        </p:txBody>
      </p:sp>
      <p:sp>
        <p:nvSpPr>
          <p:cNvPr id="3" name="Content Placeholder 2">
            <a:extLst>
              <a:ext uri="{FF2B5EF4-FFF2-40B4-BE49-F238E27FC236}">
                <a16:creationId xmlns:a16="http://schemas.microsoft.com/office/drawing/2014/main" id="{C79A5BE6-EFC3-FA4A-98A4-32E35018637A}"/>
              </a:ext>
            </a:extLst>
          </p:cNvPr>
          <p:cNvSpPr>
            <a:spLocks noGrp="1"/>
          </p:cNvSpPr>
          <p:nvPr>
            <p:ph sz="half" idx="1"/>
          </p:nvPr>
        </p:nvSpPr>
        <p:spPr>
          <a:xfrm>
            <a:off x="609600" y="1968503"/>
            <a:ext cx="7329544" cy="4157663"/>
          </a:xfrm>
        </p:spPr>
        <p:txBody>
          <a:bodyPr/>
          <a:lstStyle/>
          <a:p>
            <a:r>
              <a:rPr lang="en-US" sz="2400" dirty="0"/>
              <a:t>The coating technology of both the </a:t>
            </a:r>
            <a:r>
              <a:rPr lang="en-US" sz="2400" dirty="0" err="1"/>
              <a:t>SiC</a:t>
            </a:r>
            <a:r>
              <a:rPr lang="en-US" sz="2400" dirty="0"/>
              <a:t> and </a:t>
            </a:r>
            <a:r>
              <a:rPr lang="en-US" sz="2400" dirty="0" err="1"/>
              <a:t>PyC</a:t>
            </a:r>
            <a:r>
              <a:rPr lang="en-US" sz="2400" dirty="0"/>
              <a:t> layers involves a fluidization of the kernel microsphere bed and chemical vapor deposition (CVD) coating</a:t>
            </a:r>
          </a:p>
          <a:p>
            <a:r>
              <a:rPr lang="en-US" sz="2400" dirty="0"/>
              <a:t>TRISO coating process is divided into four coating processes for the buffer, </a:t>
            </a:r>
            <a:r>
              <a:rPr lang="en-US" sz="2400" dirty="0" err="1"/>
              <a:t>IPyC</a:t>
            </a:r>
            <a:r>
              <a:rPr lang="en-US" sz="2400" dirty="0"/>
              <a:t>, </a:t>
            </a:r>
            <a:r>
              <a:rPr lang="en-US" sz="2400" dirty="0" err="1"/>
              <a:t>SiC</a:t>
            </a:r>
            <a:r>
              <a:rPr lang="en-US" sz="2400" dirty="0"/>
              <a:t>, and final </a:t>
            </a:r>
            <a:r>
              <a:rPr lang="en-US" sz="2400" dirty="0" err="1"/>
              <a:t>OPyC</a:t>
            </a:r>
            <a:r>
              <a:rPr lang="en-US" sz="2400" dirty="0"/>
              <a:t> layers</a:t>
            </a:r>
          </a:p>
          <a:p>
            <a:r>
              <a:rPr lang="en-US" sz="2400" dirty="0"/>
              <a:t>A specific mixture of gases is used for the deposition of each layer</a:t>
            </a:r>
          </a:p>
          <a:p>
            <a:pPr lvl="1"/>
            <a:r>
              <a:rPr lang="en-US" sz="2000" dirty="0"/>
              <a:t>buffer: C2H2+Ar; </a:t>
            </a:r>
            <a:r>
              <a:rPr lang="en-US" sz="2000" dirty="0" err="1"/>
              <a:t>IPyC</a:t>
            </a:r>
            <a:r>
              <a:rPr lang="en-US" sz="2000" dirty="0"/>
              <a:t>/</a:t>
            </a:r>
            <a:r>
              <a:rPr lang="en-US" sz="2000" dirty="0" err="1"/>
              <a:t>OPyC</a:t>
            </a:r>
            <a:r>
              <a:rPr lang="en-US" sz="2000" dirty="0"/>
              <a:t>: C3H6+Ar; </a:t>
            </a:r>
            <a:r>
              <a:rPr lang="en-US" sz="2000" dirty="0" err="1"/>
              <a:t>SiC</a:t>
            </a:r>
            <a:r>
              <a:rPr lang="en-US" sz="2000" dirty="0"/>
              <a:t>: CH3SiCl3+H2</a:t>
            </a:r>
          </a:p>
        </p:txBody>
      </p:sp>
      <p:pic>
        <p:nvPicPr>
          <p:cNvPr id="5" name="Content Placeholder 4">
            <a:extLst>
              <a:ext uri="{FF2B5EF4-FFF2-40B4-BE49-F238E27FC236}">
                <a16:creationId xmlns:a16="http://schemas.microsoft.com/office/drawing/2014/main" id="{1CA1D77F-CB51-D340-9468-D00A134974A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024189" y="2054561"/>
            <a:ext cx="3558211" cy="4157663"/>
          </a:xfrm>
          <a:prstGeom prst="rect">
            <a:avLst/>
          </a:prstGeom>
        </p:spPr>
      </p:pic>
      <p:sp>
        <p:nvSpPr>
          <p:cNvPr id="4" name="Slide Number Placeholder 3">
            <a:extLst>
              <a:ext uri="{FF2B5EF4-FFF2-40B4-BE49-F238E27FC236}">
                <a16:creationId xmlns:a16="http://schemas.microsoft.com/office/drawing/2014/main" id="{04059559-0D12-6544-B186-154731A9530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949617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F6149-D560-9341-9E9D-1597DEE93904}"/>
              </a:ext>
            </a:extLst>
          </p:cNvPr>
          <p:cNvSpPr>
            <a:spLocks noGrp="1"/>
          </p:cNvSpPr>
          <p:nvPr>
            <p:ph type="title"/>
          </p:nvPr>
        </p:nvSpPr>
        <p:spPr/>
        <p:txBody>
          <a:bodyPr/>
          <a:lstStyle/>
          <a:p>
            <a:r>
              <a:rPr lang="en-US" dirty="0"/>
              <a:t>TRISO Fabrication</a:t>
            </a:r>
          </a:p>
        </p:txBody>
      </p:sp>
      <p:sp>
        <p:nvSpPr>
          <p:cNvPr id="3" name="Content Placeholder 2">
            <a:extLst>
              <a:ext uri="{FF2B5EF4-FFF2-40B4-BE49-F238E27FC236}">
                <a16:creationId xmlns:a16="http://schemas.microsoft.com/office/drawing/2014/main" id="{3D03FF7C-E468-A24E-B8F4-B31676109211}"/>
              </a:ext>
            </a:extLst>
          </p:cNvPr>
          <p:cNvSpPr>
            <a:spLocks noGrp="1"/>
          </p:cNvSpPr>
          <p:nvPr>
            <p:ph sz="half" idx="2"/>
          </p:nvPr>
        </p:nvSpPr>
        <p:spPr/>
        <p:txBody>
          <a:bodyPr>
            <a:normAutofit fontScale="92500" lnSpcReduction="20000"/>
          </a:bodyPr>
          <a:lstStyle/>
          <a:p>
            <a:r>
              <a:rPr lang="en-US" dirty="0"/>
              <a:t>Rigorous control is applied at every step of the fabrication process to produce high-quality, very low-defect fuel</a:t>
            </a:r>
          </a:p>
          <a:p>
            <a:r>
              <a:rPr lang="en-US" dirty="0"/>
              <a:t>Defect levels are typically on the order of one defect per 100,000 particles</a:t>
            </a:r>
          </a:p>
          <a:p>
            <a:r>
              <a:rPr lang="en-US" dirty="0"/>
              <a:t>Specifications are placed on the diameters, thicknesses, and densities of the kernel and layers; the sphericity of the particle; the stoichiometry of the kernel; the isotropy of the carbon; and the acceptable defect levels for each layer</a:t>
            </a:r>
          </a:p>
          <a:p>
            <a:endParaRPr lang="en-US" dirty="0"/>
          </a:p>
        </p:txBody>
      </p:sp>
      <p:pic>
        <p:nvPicPr>
          <p:cNvPr id="5" name="Content Placeholder 4">
            <a:extLst>
              <a:ext uri="{FF2B5EF4-FFF2-40B4-BE49-F238E27FC236}">
                <a16:creationId xmlns:a16="http://schemas.microsoft.com/office/drawing/2014/main" id="{41C67E40-61A7-8F43-908B-B9A88B33AD72}"/>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6669741" y="1935726"/>
            <a:ext cx="4105534" cy="4712500"/>
          </a:xfrm>
          <a:prstGeom prst="rect">
            <a:avLst/>
          </a:prstGeom>
        </p:spPr>
      </p:pic>
      <p:sp>
        <p:nvSpPr>
          <p:cNvPr id="4" name="Slide Number Placeholder 3">
            <a:extLst>
              <a:ext uri="{FF2B5EF4-FFF2-40B4-BE49-F238E27FC236}">
                <a16:creationId xmlns:a16="http://schemas.microsoft.com/office/drawing/2014/main" id="{69E093C0-4309-8140-AF1D-BE379E134F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5B94E0-5E06-6D42-A41D-50D581B40900}"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208944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CFFBD-4B43-B646-8BBE-43187C0F0F29}"/>
              </a:ext>
            </a:extLst>
          </p:cNvPr>
          <p:cNvSpPr>
            <a:spLocks noGrp="1"/>
          </p:cNvSpPr>
          <p:nvPr>
            <p:ph type="title"/>
          </p:nvPr>
        </p:nvSpPr>
        <p:spPr/>
        <p:txBody>
          <a:bodyPr/>
          <a:lstStyle/>
          <a:p>
            <a:r>
              <a:rPr lang="en-US" dirty="0"/>
              <a:t>Pebble Fabrication</a:t>
            </a:r>
          </a:p>
        </p:txBody>
      </p:sp>
      <p:sp>
        <p:nvSpPr>
          <p:cNvPr id="3" name="Content Placeholder 2">
            <a:extLst>
              <a:ext uri="{FF2B5EF4-FFF2-40B4-BE49-F238E27FC236}">
                <a16:creationId xmlns:a16="http://schemas.microsoft.com/office/drawing/2014/main" id="{9B972A14-F34A-D44F-9A74-2171B578CD43}"/>
              </a:ext>
            </a:extLst>
          </p:cNvPr>
          <p:cNvSpPr>
            <a:spLocks noGrp="1"/>
          </p:cNvSpPr>
          <p:nvPr>
            <p:ph sz="half" idx="1"/>
          </p:nvPr>
        </p:nvSpPr>
        <p:spPr>
          <a:xfrm>
            <a:off x="609599" y="1968503"/>
            <a:ext cx="6156961" cy="4157663"/>
          </a:xfrm>
        </p:spPr>
        <p:txBody>
          <a:bodyPr/>
          <a:lstStyle/>
          <a:p>
            <a:r>
              <a:rPr lang="en-US" sz="2200" dirty="0"/>
              <a:t>The fuel element of the pebble bed type HTGR is a spherical fuel element</a:t>
            </a:r>
          </a:p>
          <a:p>
            <a:r>
              <a:rPr lang="en-US" sz="2200" dirty="0"/>
              <a:t>The coated particles are overcoated with a layer of matrix graphite powder (MGP) and pressed to the core of a fuel sphere</a:t>
            </a:r>
          </a:p>
          <a:p>
            <a:r>
              <a:rPr lang="en-US" sz="2200" dirty="0"/>
              <a:t>Then, an additional 5-mm layer of matrix graphite material is added to form a ‘nonfuel’ zone</a:t>
            </a:r>
          </a:p>
          <a:p>
            <a:r>
              <a:rPr lang="en-US" sz="2200" dirty="0"/>
              <a:t>The resulting fuel sphere gets its final diameter by a machining process and is then carbonized and annealed at 2000C</a:t>
            </a:r>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798F8BF5-6560-6F49-B4BA-58E7B5BE3A60}"/>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066254" y="1968500"/>
            <a:ext cx="5002956" cy="4157663"/>
          </a:xfrm>
          <a:prstGeom prst="rect">
            <a:avLst/>
          </a:prstGeom>
        </p:spPr>
      </p:pic>
      <p:sp>
        <p:nvSpPr>
          <p:cNvPr id="4" name="Slide Number Placeholder 3">
            <a:extLst>
              <a:ext uri="{FF2B5EF4-FFF2-40B4-BE49-F238E27FC236}">
                <a16:creationId xmlns:a16="http://schemas.microsoft.com/office/drawing/2014/main" id="{25160499-D93C-FD48-BC71-083872726B0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179377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CFFBD-4B43-B646-8BBE-43187C0F0F29}"/>
              </a:ext>
            </a:extLst>
          </p:cNvPr>
          <p:cNvSpPr>
            <a:spLocks noGrp="1"/>
          </p:cNvSpPr>
          <p:nvPr>
            <p:ph type="title"/>
          </p:nvPr>
        </p:nvSpPr>
        <p:spPr/>
        <p:txBody>
          <a:bodyPr/>
          <a:lstStyle/>
          <a:p>
            <a:r>
              <a:rPr lang="en-US" dirty="0"/>
              <a:t>Compact Fabrication</a:t>
            </a:r>
          </a:p>
        </p:txBody>
      </p:sp>
      <p:sp>
        <p:nvSpPr>
          <p:cNvPr id="3" name="Content Placeholder 2">
            <a:extLst>
              <a:ext uri="{FF2B5EF4-FFF2-40B4-BE49-F238E27FC236}">
                <a16:creationId xmlns:a16="http://schemas.microsoft.com/office/drawing/2014/main" id="{9B972A14-F34A-D44F-9A74-2171B578CD43}"/>
              </a:ext>
            </a:extLst>
          </p:cNvPr>
          <p:cNvSpPr>
            <a:spLocks noGrp="1"/>
          </p:cNvSpPr>
          <p:nvPr>
            <p:ph sz="half" idx="1"/>
          </p:nvPr>
        </p:nvSpPr>
        <p:spPr>
          <a:xfrm>
            <a:off x="609599" y="1968503"/>
            <a:ext cx="7372575" cy="4157663"/>
          </a:xfrm>
        </p:spPr>
        <p:txBody>
          <a:bodyPr/>
          <a:lstStyle/>
          <a:p>
            <a:r>
              <a:rPr lang="en-US" sz="2200" dirty="0"/>
              <a:t>HTGR fuel elements are graphite compacts stacked into a graphite core</a:t>
            </a:r>
          </a:p>
          <a:p>
            <a:r>
              <a:rPr lang="en-US" sz="2200" dirty="0"/>
              <a:t>To form compacts, coated fuel particles are overcoated with the MGP and warm-pressed to make the annular cylinder of green compacts</a:t>
            </a:r>
          </a:p>
          <a:p>
            <a:r>
              <a:rPr lang="en-US" sz="2200" dirty="0"/>
              <a:t>Green compacts are heat treated for carbonization at 800C and then sintered at 1800C to make fuel compacts</a:t>
            </a:r>
          </a:p>
          <a:p>
            <a:r>
              <a:rPr lang="en-US" sz="2200" dirty="0"/>
              <a:t>In order to decrease the failure fraction of coating layers, it is necessary to disperse coated fuel particles in a green compact as uniformly as possible</a:t>
            </a:r>
          </a:p>
          <a:p>
            <a:endParaRPr lang="en-US" sz="2200" dirty="0"/>
          </a:p>
          <a:p>
            <a:endParaRPr lang="en-US" sz="2200" dirty="0"/>
          </a:p>
          <a:p>
            <a:endParaRPr lang="en-US" sz="2200" dirty="0"/>
          </a:p>
          <a:p>
            <a:endParaRPr lang="en-US" sz="2200" dirty="0"/>
          </a:p>
          <a:p>
            <a:endParaRPr lang="en-US" sz="2200" dirty="0"/>
          </a:p>
        </p:txBody>
      </p:sp>
      <p:pic>
        <p:nvPicPr>
          <p:cNvPr id="7" name="Content Placeholder 6">
            <a:extLst>
              <a:ext uri="{FF2B5EF4-FFF2-40B4-BE49-F238E27FC236}">
                <a16:creationId xmlns:a16="http://schemas.microsoft.com/office/drawing/2014/main" id="{0CABB868-CDDE-2445-A0A3-4C4E80D0DF8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299312" y="2054564"/>
            <a:ext cx="3283088" cy="4157663"/>
          </a:xfrm>
          <a:prstGeom prst="rect">
            <a:avLst/>
          </a:prstGeom>
        </p:spPr>
      </p:pic>
      <p:sp>
        <p:nvSpPr>
          <p:cNvPr id="4" name="Slide Number Placeholder 3">
            <a:extLst>
              <a:ext uri="{FF2B5EF4-FFF2-40B4-BE49-F238E27FC236}">
                <a16:creationId xmlns:a16="http://schemas.microsoft.com/office/drawing/2014/main" id="{84BCB7AC-2C96-A04F-A537-F84535378B8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886017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63302-3FDA-3D43-3AC5-7F4DC5D7CDDB}"/>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CD6AA140-9D49-7C3D-F8B7-B00ED361C5C9}"/>
              </a:ext>
            </a:extLst>
          </p:cNvPr>
          <p:cNvSpPr>
            <a:spLocks noGrp="1"/>
          </p:cNvSpPr>
          <p:nvPr>
            <p:ph sz="half" idx="1"/>
          </p:nvPr>
        </p:nvSpPr>
        <p:spPr>
          <a:xfrm>
            <a:off x="609600" y="1968503"/>
            <a:ext cx="10972800" cy="4157663"/>
          </a:xfrm>
        </p:spPr>
        <p:txBody>
          <a:bodyPr/>
          <a:lstStyle/>
          <a:p>
            <a:r>
              <a:rPr lang="en-US" sz="2400" dirty="0"/>
              <a:t>Sol-gel fabrication of fuel kernels</a:t>
            </a:r>
          </a:p>
          <a:p>
            <a:r>
              <a:rPr lang="en-US" sz="2400" dirty="0"/>
              <a:t>CVD for buffer, </a:t>
            </a:r>
            <a:r>
              <a:rPr lang="en-US" sz="2400" dirty="0" err="1"/>
              <a:t>IPyC</a:t>
            </a:r>
            <a:r>
              <a:rPr lang="en-US" sz="2400" dirty="0"/>
              <a:t>, </a:t>
            </a:r>
            <a:r>
              <a:rPr lang="en-US" sz="2400" dirty="0" err="1"/>
              <a:t>SiC</a:t>
            </a:r>
            <a:r>
              <a:rPr lang="en-US" sz="2400" dirty="0"/>
              <a:t>, and </a:t>
            </a:r>
            <a:r>
              <a:rPr lang="en-US" sz="2400" dirty="0" err="1"/>
              <a:t>OPyC</a:t>
            </a:r>
            <a:endParaRPr lang="en-US" sz="2400" dirty="0"/>
          </a:p>
          <a:p>
            <a:r>
              <a:rPr lang="en-US" sz="2400" dirty="0"/>
              <a:t>Combine particles into compacts/pebbles with carbon matrix powder</a:t>
            </a:r>
          </a:p>
          <a:p>
            <a:r>
              <a:rPr lang="en-US" sz="2400" dirty="0"/>
              <a:t>Compacts/pebbles are then sintered to reach final state</a:t>
            </a:r>
          </a:p>
        </p:txBody>
      </p:sp>
      <p:sp>
        <p:nvSpPr>
          <p:cNvPr id="5" name="Slide Number Placeholder 4">
            <a:extLst>
              <a:ext uri="{FF2B5EF4-FFF2-40B4-BE49-F238E27FC236}">
                <a16:creationId xmlns:a16="http://schemas.microsoft.com/office/drawing/2014/main" id="{1FF08985-E12E-3C91-3402-81BCD592F5F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0279339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87725</TotalTime>
  <Words>2388</Words>
  <Application>Microsoft Macintosh PowerPoint</Application>
  <PresentationFormat>Widescreen</PresentationFormat>
  <Paragraphs>239</Paragraphs>
  <Slides>35</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1_NCStateU-horizontal-left-logo</vt:lpstr>
      <vt:lpstr>NE 763: Advanced Reactor Materials</vt:lpstr>
      <vt:lpstr>Last Time</vt:lpstr>
      <vt:lpstr>TRISO Fuel Performance</vt:lpstr>
      <vt:lpstr>TRISO Fuel Performance</vt:lpstr>
      <vt:lpstr>Fuel Performance Codes</vt:lpstr>
      <vt:lpstr>SiC Failure</vt:lpstr>
      <vt:lpstr>TRISO Stresses</vt:lpstr>
      <vt:lpstr>TRISO Stresses</vt:lpstr>
      <vt:lpstr>Material Evolution</vt:lpstr>
      <vt:lpstr>Data needs</vt:lpstr>
      <vt:lpstr>TRISO Fuel Failures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Summary</vt:lpstr>
      <vt:lpstr>Material Performance in He</vt:lpstr>
      <vt:lpstr>High Temperatures</vt:lpstr>
      <vt:lpstr>Flow and Impurities</vt:lpstr>
      <vt:lpstr>IHX Materials</vt:lpstr>
      <vt:lpstr>IHX Corrosion in VHTR</vt:lpstr>
      <vt:lpstr>Alloy 617 Stability</vt:lpstr>
      <vt:lpstr>Fabrication</vt:lpstr>
      <vt:lpstr>Fuel Kernel Fabrication</vt:lpstr>
      <vt:lpstr>Fuel Kernel Fabrication</vt:lpstr>
      <vt:lpstr>SiC (and PyC) Fabrication</vt:lpstr>
      <vt:lpstr>TRISO Fabrication</vt:lpstr>
      <vt:lpstr>Pebble Fabrication</vt:lpstr>
      <vt:lpstr>Compact Fabrication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193</cp:revision>
  <dcterms:created xsi:type="dcterms:W3CDTF">2019-12-09T16:44:02Z</dcterms:created>
  <dcterms:modified xsi:type="dcterms:W3CDTF">2025-09-02T20:59:18Z</dcterms:modified>
</cp:coreProperties>
</file>
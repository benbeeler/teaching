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0"/>
  </p:notesMasterIdLst>
  <p:sldIdLst>
    <p:sldId id="257" r:id="rId2"/>
    <p:sldId id="431" r:id="rId3"/>
    <p:sldId id="465" r:id="rId4"/>
    <p:sldId id="463" r:id="rId5"/>
    <p:sldId id="464" r:id="rId6"/>
    <p:sldId id="466" r:id="rId7"/>
    <p:sldId id="486" r:id="rId8"/>
    <p:sldId id="407" r:id="rId9"/>
    <p:sldId id="408" r:id="rId10"/>
    <p:sldId id="409" r:id="rId11"/>
    <p:sldId id="410" r:id="rId12"/>
    <p:sldId id="411" r:id="rId13"/>
    <p:sldId id="412" r:id="rId14"/>
    <p:sldId id="413" r:id="rId15"/>
    <p:sldId id="474" r:id="rId16"/>
    <p:sldId id="487" r:id="rId17"/>
    <p:sldId id="473" r:id="rId18"/>
    <p:sldId id="418" r:id="rId19"/>
    <p:sldId id="419" r:id="rId20"/>
    <p:sldId id="415" r:id="rId21"/>
    <p:sldId id="420" r:id="rId22"/>
    <p:sldId id="414" r:id="rId23"/>
    <p:sldId id="416" r:id="rId24"/>
    <p:sldId id="422" r:id="rId25"/>
    <p:sldId id="426" r:id="rId26"/>
    <p:sldId id="427" r:id="rId27"/>
    <p:sldId id="428" r:id="rId28"/>
    <p:sldId id="425" r:id="rId29"/>
    <p:sldId id="476" r:id="rId30"/>
    <p:sldId id="429" r:id="rId31"/>
    <p:sldId id="477" r:id="rId32"/>
    <p:sldId id="435" r:id="rId33"/>
    <p:sldId id="436" r:id="rId34"/>
    <p:sldId id="479" r:id="rId35"/>
    <p:sldId id="481" r:id="rId36"/>
    <p:sldId id="482" r:id="rId37"/>
    <p:sldId id="483" r:id="rId38"/>
    <p:sldId id="484" r:id="rId39"/>
    <p:sldId id="485" r:id="rId40"/>
    <p:sldId id="456" r:id="rId41"/>
    <p:sldId id="457" r:id="rId42"/>
    <p:sldId id="458" r:id="rId43"/>
    <p:sldId id="421" r:id="rId44"/>
    <p:sldId id="423" r:id="rId45"/>
    <p:sldId id="459" r:id="rId46"/>
    <p:sldId id="460" r:id="rId47"/>
    <p:sldId id="461" r:id="rId48"/>
    <p:sldId id="47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7"/>
    <p:restoredTop sz="96654"/>
  </p:normalViewPr>
  <p:slideViewPr>
    <p:cSldViewPr snapToGrid="0" snapToObjects="1">
      <p:cViewPr varScale="1">
        <p:scale>
          <a:sx n="128" d="100"/>
          <a:sy n="128"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79591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68580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90733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118292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10/21/25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922424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10/21/25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302245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10/21/25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85304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4874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4270643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01630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443566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10/21/25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10/21/25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351021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a:xfrm>
            <a:off x="609600" y="1769165"/>
            <a:ext cx="10972800" cy="4188722"/>
          </a:xfrm>
        </p:spPr>
        <p:txBody>
          <a:bodyPr/>
          <a:lstStyle/>
          <a:p>
            <a:r>
              <a:rPr lang="en-US" dirty="0"/>
              <a:t>Oxidizing conditions generated with fission:</a:t>
            </a:r>
          </a:p>
          <a:p>
            <a:pPr lvl="1"/>
            <a:r>
              <a:rPr lang="en-US" sz="1800" dirty="0"/>
              <a:t>Excess fluorine generated due to fission, yielding oxidizing conditions</a:t>
            </a:r>
          </a:p>
          <a:p>
            <a:pPr lvl="1"/>
            <a:r>
              <a:rPr lang="en-US" sz="1800" dirty="0"/>
              <a:t>Fission products take different forms (gaseous, precipitates, soluble salts)</a:t>
            </a:r>
          </a:p>
          <a:p>
            <a:pPr lvl="1"/>
            <a:r>
              <a:rPr lang="en-US" sz="1800" dirty="0"/>
              <a:t>UF4/UF3 ratio is an indicator of redox potential</a:t>
            </a:r>
          </a:p>
          <a:p>
            <a:pPr lvl="1"/>
            <a:r>
              <a:rPr lang="en-US" sz="1800" dirty="0"/>
              <a:t>Cover gas helps to remove fission products and control redox potential</a:t>
            </a:r>
          </a:p>
          <a:p>
            <a:r>
              <a:rPr lang="en-US" dirty="0"/>
              <a:t>Three principal corrosion processes: </a:t>
            </a:r>
          </a:p>
          <a:p>
            <a:pPr lvl="1"/>
            <a:r>
              <a:rPr lang="en-US" sz="1800" dirty="0"/>
              <a:t>Reactions due to oxides on the metal; Reactions with dissolved impurities; Reactions with necessary constituents of the melt</a:t>
            </a:r>
          </a:p>
          <a:p>
            <a:pPr lvl="1"/>
            <a:r>
              <a:rPr lang="en-US" sz="1800" dirty="0"/>
              <a:t>Rapid initial corrosion from impurities on surface or in salt; followed by Cr-diffusion-controlled corrosion</a:t>
            </a:r>
          </a:p>
          <a:p>
            <a:r>
              <a:rPr lang="en-US" dirty="0"/>
              <a:t>Different materials required for different systems, depending upon irradiation, temperature, salt exposure, etc. </a:t>
            </a:r>
          </a:p>
          <a:p>
            <a:r>
              <a:rPr lang="en-US" dirty="0"/>
              <a:t>Recent corrosion summary showed:</a:t>
            </a:r>
          </a:p>
          <a:p>
            <a:pPr lvl="1"/>
            <a:r>
              <a:rPr lang="en-US" sz="1800" dirty="0"/>
              <a:t>purity of the salts is the primary factor impacting corrosion rates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4A71-5BB4-A11A-36A4-A225B5DE447F}"/>
              </a:ext>
            </a:extLst>
          </p:cNvPr>
          <p:cNvSpPr>
            <a:spLocks noGrp="1"/>
          </p:cNvSpPr>
          <p:nvPr>
            <p:ph type="title"/>
          </p:nvPr>
        </p:nvSpPr>
        <p:spPr/>
        <p:txBody>
          <a:bodyPr/>
          <a:lstStyle/>
          <a:p>
            <a:r>
              <a:rPr lang="en-US" dirty="0"/>
              <a:t>Need for molten salt data</a:t>
            </a:r>
          </a:p>
        </p:txBody>
      </p:sp>
      <p:sp>
        <p:nvSpPr>
          <p:cNvPr id="3" name="Content Placeholder 2">
            <a:extLst>
              <a:ext uri="{FF2B5EF4-FFF2-40B4-BE49-F238E27FC236}">
                <a16:creationId xmlns:a16="http://schemas.microsoft.com/office/drawing/2014/main" id="{118E785B-48D9-CA6F-0E7A-CC6FCB6831F3}"/>
              </a:ext>
            </a:extLst>
          </p:cNvPr>
          <p:cNvSpPr>
            <a:spLocks noGrp="1"/>
          </p:cNvSpPr>
          <p:nvPr>
            <p:ph sz="half" idx="1"/>
          </p:nvPr>
        </p:nvSpPr>
        <p:spPr/>
        <p:txBody>
          <a:bodyPr/>
          <a:lstStyle/>
          <a:p>
            <a:r>
              <a:rPr lang="en-US" dirty="0"/>
              <a:t>The thermophysical properties of many of these salts are not well known for many of the fluoride salt systems of interest because of a lack of thermophysical property measurement data</a:t>
            </a:r>
          </a:p>
          <a:p>
            <a:r>
              <a:rPr lang="en-US" dirty="0"/>
              <a:t>If data are available for higher order systems, they are typically for only one (often the eutectic) or a handful of compositions of a particular system, providing little knowledge of how the thermophysical properties may change as functions of component concentrations and temperature</a:t>
            </a:r>
          </a:p>
        </p:txBody>
      </p:sp>
      <p:sp>
        <p:nvSpPr>
          <p:cNvPr id="4" name="Content Placeholder 3">
            <a:extLst>
              <a:ext uri="{FF2B5EF4-FFF2-40B4-BE49-F238E27FC236}">
                <a16:creationId xmlns:a16="http://schemas.microsoft.com/office/drawing/2014/main" id="{3AEAAA78-D567-8273-9AA5-FA6BBDD9B6F9}"/>
              </a:ext>
            </a:extLst>
          </p:cNvPr>
          <p:cNvSpPr>
            <a:spLocks noGrp="1"/>
          </p:cNvSpPr>
          <p:nvPr>
            <p:ph sz="half" idx="2"/>
          </p:nvPr>
        </p:nvSpPr>
        <p:spPr/>
        <p:txBody>
          <a:bodyPr/>
          <a:lstStyle/>
          <a:p>
            <a:r>
              <a:rPr lang="en-US" dirty="0"/>
              <a:t>A primary reason for the lack of these thermophysical property data is the inherent difficulty in taking experimental measurements with fluoride salts, which tend to have high melting points, high corrosivity, and reactivity with oxygen and moisture</a:t>
            </a:r>
          </a:p>
          <a:p>
            <a:r>
              <a:rPr lang="en-US" dirty="0"/>
              <a:t>Because of these gaps, accurate thermal modeling of molten salt reactor designs is challenging, and safety evaluations may come with too high a degree of uncertainty</a:t>
            </a:r>
          </a:p>
        </p:txBody>
      </p:sp>
      <p:sp>
        <p:nvSpPr>
          <p:cNvPr id="5" name="Slide Number Placeholder 4">
            <a:extLst>
              <a:ext uri="{FF2B5EF4-FFF2-40B4-BE49-F238E27FC236}">
                <a16:creationId xmlns:a16="http://schemas.microsoft.com/office/drawing/2014/main" id="{8A486CC1-868B-DE2A-AA94-A7A9D4B3F2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3229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4EF1-7474-EDB7-ECA5-EAC8E886D9BE}"/>
              </a:ext>
            </a:extLst>
          </p:cNvPr>
          <p:cNvSpPr>
            <a:spLocks noGrp="1"/>
          </p:cNvSpPr>
          <p:nvPr>
            <p:ph type="title"/>
          </p:nvPr>
        </p:nvSpPr>
        <p:spPr/>
        <p:txBody>
          <a:bodyPr/>
          <a:lstStyle/>
          <a:p>
            <a:r>
              <a:rPr lang="en-US" dirty="0"/>
              <a:t>Molten Salt Thermal Properties Database</a:t>
            </a:r>
          </a:p>
        </p:txBody>
      </p:sp>
      <p:sp>
        <p:nvSpPr>
          <p:cNvPr id="3" name="Content Placeholder 2">
            <a:extLst>
              <a:ext uri="{FF2B5EF4-FFF2-40B4-BE49-F238E27FC236}">
                <a16:creationId xmlns:a16="http://schemas.microsoft.com/office/drawing/2014/main" id="{83D7E986-8C60-EDDB-C810-B9911BDA50B9}"/>
              </a:ext>
            </a:extLst>
          </p:cNvPr>
          <p:cNvSpPr>
            <a:spLocks noGrp="1"/>
          </p:cNvSpPr>
          <p:nvPr>
            <p:ph sz="half" idx="1"/>
          </p:nvPr>
        </p:nvSpPr>
        <p:spPr>
          <a:xfrm>
            <a:off x="609600" y="1968503"/>
            <a:ext cx="5811078" cy="4157663"/>
          </a:xfrm>
        </p:spPr>
        <p:txBody>
          <a:bodyPr/>
          <a:lstStyle/>
          <a:p>
            <a:r>
              <a:rPr lang="en-US" dirty="0"/>
              <a:t>Fundamental thermodynamic salt properties are pivotal in facilitating the development of multiscale and multiphysics reactor models for molten salt reactors</a:t>
            </a:r>
          </a:p>
          <a:p>
            <a:r>
              <a:rPr lang="en-US" dirty="0"/>
              <a:t>The MSTDB is a collection of thermal properties of molten salts relevant to the nuclear industry</a:t>
            </a:r>
          </a:p>
          <a:p>
            <a:r>
              <a:rPr lang="en-US" dirty="0"/>
              <a:t>Currently includes data for: Melting and boiling point, Density, Viscosity, Thermal conductivity, and Heat capacity</a:t>
            </a:r>
          </a:p>
          <a:p>
            <a:r>
              <a:rPr lang="en-US" dirty="0"/>
              <a:t>The current MSTDB-TP contains data for 811 different salt compositions</a:t>
            </a:r>
          </a:p>
          <a:p>
            <a:r>
              <a:rPr lang="en-US" dirty="0"/>
              <a:t>There is also a MSTDB-TC which includes phase diagrams</a:t>
            </a:r>
          </a:p>
        </p:txBody>
      </p:sp>
      <p:sp>
        <p:nvSpPr>
          <p:cNvPr id="5" name="Slide Number Placeholder 4">
            <a:extLst>
              <a:ext uri="{FF2B5EF4-FFF2-40B4-BE49-F238E27FC236}">
                <a16:creationId xmlns:a16="http://schemas.microsoft.com/office/drawing/2014/main" id="{A60447E5-0ABB-F728-6AB7-1C8F921D54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BC6E718F-0DA9-94EC-30B7-DE985F78E338}"/>
              </a:ext>
            </a:extLst>
          </p:cNvPr>
          <p:cNvPicPr>
            <a:picLocks noChangeAspect="1"/>
          </p:cNvPicPr>
          <p:nvPr/>
        </p:nvPicPr>
        <p:blipFill>
          <a:blip r:embed="rId2"/>
          <a:stretch>
            <a:fillRect/>
          </a:stretch>
        </p:blipFill>
        <p:spPr>
          <a:xfrm>
            <a:off x="6420678" y="1819156"/>
            <a:ext cx="2520122" cy="3219687"/>
          </a:xfrm>
          <a:prstGeom prst="rect">
            <a:avLst/>
          </a:prstGeom>
        </p:spPr>
      </p:pic>
      <p:pic>
        <p:nvPicPr>
          <p:cNvPr id="8" name="Picture 7">
            <a:extLst>
              <a:ext uri="{FF2B5EF4-FFF2-40B4-BE49-F238E27FC236}">
                <a16:creationId xmlns:a16="http://schemas.microsoft.com/office/drawing/2014/main" id="{931B74CE-7FDB-1A79-EBDE-D66EA2D9F215}"/>
              </a:ext>
            </a:extLst>
          </p:cNvPr>
          <p:cNvPicPr>
            <a:picLocks noChangeAspect="1"/>
          </p:cNvPicPr>
          <p:nvPr/>
        </p:nvPicPr>
        <p:blipFill>
          <a:blip r:embed="rId3"/>
          <a:srcRect l="6135" t="6165" r="9605"/>
          <a:stretch>
            <a:fillRect/>
          </a:stretch>
        </p:blipFill>
        <p:spPr>
          <a:xfrm>
            <a:off x="8871225" y="2759657"/>
            <a:ext cx="3224107" cy="2872409"/>
          </a:xfrm>
          <a:prstGeom prst="rect">
            <a:avLst/>
          </a:prstGeom>
        </p:spPr>
      </p:pic>
      <p:pic>
        <p:nvPicPr>
          <p:cNvPr id="9" name="Picture 8">
            <a:extLst>
              <a:ext uri="{FF2B5EF4-FFF2-40B4-BE49-F238E27FC236}">
                <a16:creationId xmlns:a16="http://schemas.microsoft.com/office/drawing/2014/main" id="{0C41F1E3-4715-5156-40AB-EA592ABC3561}"/>
              </a:ext>
            </a:extLst>
          </p:cNvPr>
          <p:cNvPicPr>
            <a:picLocks noChangeAspect="1"/>
          </p:cNvPicPr>
          <p:nvPr/>
        </p:nvPicPr>
        <p:blipFill>
          <a:blip r:embed="rId4"/>
          <a:stretch>
            <a:fillRect/>
          </a:stretch>
        </p:blipFill>
        <p:spPr>
          <a:xfrm>
            <a:off x="6420678" y="5208621"/>
            <a:ext cx="2520122" cy="1330294"/>
          </a:xfrm>
          <a:prstGeom prst="rect">
            <a:avLst/>
          </a:prstGeom>
        </p:spPr>
      </p:pic>
    </p:spTree>
    <p:extLst>
      <p:ext uri="{BB962C8B-B14F-4D97-AF65-F5344CB8AC3E}">
        <p14:creationId xmlns:p14="http://schemas.microsoft.com/office/powerpoint/2010/main" val="29113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6974F1F-5F04-F5B3-A86B-8EFFBC5DC849}"/>
              </a:ext>
            </a:extLst>
          </p:cNvPr>
          <p:cNvSpPr txBox="1">
            <a:spLocks/>
          </p:cNvSpPr>
          <p:nvPr/>
        </p:nvSpPr>
        <p:spPr bwMode="auto">
          <a:xfrm>
            <a:off x="6177723" y="1968503"/>
            <a:ext cx="5384800"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ＭＳ Ｐゴシック" charset="0"/>
                <a:cs typeface="Arial"/>
              </a:rPr>
              <a:t>The RK expansion can account for deviation from ideal mixing with the addition of an excess term</a:t>
            </a:r>
          </a:p>
        </p:txBody>
      </p:sp>
      <p:sp>
        <p:nvSpPr>
          <p:cNvPr id="2" name="Title 1">
            <a:extLst>
              <a:ext uri="{FF2B5EF4-FFF2-40B4-BE49-F238E27FC236}">
                <a16:creationId xmlns:a16="http://schemas.microsoft.com/office/drawing/2014/main" id="{EFC8BA78-2D2A-D9CC-2AEE-43E28BBF7FBF}"/>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CB89110-826B-7FB0-CC64-CDE0B36AF47F}"/>
              </a:ext>
            </a:extLst>
          </p:cNvPr>
          <p:cNvSpPr>
            <a:spLocks noGrp="1"/>
          </p:cNvSpPr>
          <p:nvPr>
            <p:ph sz="half" idx="1"/>
          </p:nvPr>
        </p:nvSpPr>
        <p:spPr/>
        <p:txBody>
          <a:bodyPr/>
          <a:lstStyle/>
          <a:p>
            <a:r>
              <a:rPr lang="en-US" dirty="0"/>
              <a:t>One way to increase the thermophysical understanding of these salt systems is by using estimation techniques</a:t>
            </a:r>
          </a:p>
          <a:p>
            <a:r>
              <a:rPr lang="en-US" dirty="0"/>
              <a:t>One method to quantify the pseudo-binary system interaction as it relates to salt density (and other properties) is use of a Redlich-Kister (RK) expansion</a:t>
            </a:r>
          </a:p>
          <a:p>
            <a:r>
              <a:rPr lang="en-US" dirty="0"/>
              <a:t>The choice to use an RK formalism for density estimation of molten salts has basis because excess molar volumes, which are directly related to density, have been commonly modeled using RK expansions</a:t>
            </a:r>
          </a:p>
        </p:txBody>
      </p:sp>
      <p:sp>
        <p:nvSpPr>
          <p:cNvPr id="5" name="Slide Number Placeholder 4">
            <a:extLst>
              <a:ext uri="{FF2B5EF4-FFF2-40B4-BE49-F238E27FC236}">
                <a16:creationId xmlns:a16="http://schemas.microsoft.com/office/drawing/2014/main" id="{556373A4-2A01-EF5E-FDEC-F933DD940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D5ACF2E3-2EB1-8121-0D88-FD080BD4E431}"/>
              </a:ext>
            </a:extLst>
          </p:cNvPr>
          <p:cNvPicPr>
            <a:picLocks noChangeAspect="1"/>
          </p:cNvPicPr>
          <p:nvPr/>
        </p:nvPicPr>
        <p:blipFill>
          <a:blip r:embed="rId2"/>
          <a:stretch>
            <a:fillRect/>
          </a:stretch>
        </p:blipFill>
        <p:spPr>
          <a:xfrm>
            <a:off x="7943850" y="3061499"/>
            <a:ext cx="1587500" cy="406400"/>
          </a:xfrm>
          <a:prstGeom prst="rect">
            <a:avLst/>
          </a:prstGeom>
        </p:spPr>
      </p:pic>
      <p:pic>
        <p:nvPicPr>
          <p:cNvPr id="7" name="Picture 6">
            <a:extLst>
              <a:ext uri="{FF2B5EF4-FFF2-40B4-BE49-F238E27FC236}">
                <a16:creationId xmlns:a16="http://schemas.microsoft.com/office/drawing/2014/main" id="{04BAB5A5-38B6-1F48-CE47-D5AD8F401B25}"/>
              </a:ext>
            </a:extLst>
          </p:cNvPr>
          <p:cNvPicPr>
            <a:picLocks noChangeAspect="1"/>
          </p:cNvPicPr>
          <p:nvPr/>
        </p:nvPicPr>
        <p:blipFill>
          <a:blip r:embed="rId3"/>
          <a:stretch>
            <a:fillRect/>
          </a:stretch>
        </p:blipFill>
        <p:spPr>
          <a:xfrm>
            <a:off x="8991600" y="3499646"/>
            <a:ext cx="2667000" cy="749300"/>
          </a:xfrm>
          <a:prstGeom prst="rect">
            <a:avLst/>
          </a:prstGeom>
        </p:spPr>
      </p:pic>
      <p:pic>
        <p:nvPicPr>
          <p:cNvPr id="8" name="Picture 7">
            <a:extLst>
              <a:ext uri="{FF2B5EF4-FFF2-40B4-BE49-F238E27FC236}">
                <a16:creationId xmlns:a16="http://schemas.microsoft.com/office/drawing/2014/main" id="{883DD54B-7AD2-9D86-EBDE-94FA23751DFC}"/>
              </a:ext>
            </a:extLst>
          </p:cNvPr>
          <p:cNvPicPr>
            <a:picLocks noChangeAspect="1"/>
          </p:cNvPicPr>
          <p:nvPr/>
        </p:nvPicPr>
        <p:blipFill>
          <a:blip r:embed="rId4"/>
          <a:stretch>
            <a:fillRect/>
          </a:stretch>
        </p:blipFill>
        <p:spPr>
          <a:xfrm>
            <a:off x="7899400" y="4464092"/>
            <a:ext cx="1676400" cy="520700"/>
          </a:xfrm>
          <a:prstGeom prst="rect">
            <a:avLst/>
          </a:prstGeom>
        </p:spPr>
      </p:pic>
      <p:pic>
        <p:nvPicPr>
          <p:cNvPr id="9" name="Picture 8">
            <a:extLst>
              <a:ext uri="{FF2B5EF4-FFF2-40B4-BE49-F238E27FC236}">
                <a16:creationId xmlns:a16="http://schemas.microsoft.com/office/drawing/2014/main" id="{FFF3B41C-EFF9-7B05-1512-251C27345CA4}"/>
              </a:ext>
            </a:extLst>
          </p:cNvPr>
          <p:cNvPicPr>
            <a:picLocks noChangeAspect="1"/>
          </p:cNvPicPr>
          <p:nvPr/>
        </p:nvPicPr>
        <p:blipFill>
          <a:blip r:embed="rId5"/>
          <a:stretch>
            <a:fillRect/>
          </a:stretch>
        </p:blipFill>
        <p:spPr>
          <a:xfrm>
            <a:off x="6888923" y="5214978"/>
            <a:ext cx="3962400" cy="812800"/>
          </a:xfrm>
          <a:prstGeom prst="rect">
            <a:avLst/>
          </a:prstGeom>
        </p:spPr>
      </p:pic>
      <p:pic>
        <p:nvPicPr>
          <p:cNvPr id="10" name="Picture 9">
            <a:extLst>
              <a:ext uri="{FF2B5EF4-FFF2-40B4-BE49-F238E27FC236}">
                <a16:creationId xmlns:a16="http://schemas.microsoft.com/office/drawing/2014/main" id="{49FC16DB-E36E-C6DA-3428-D117337C53E9}"/>
              </a:ext>
            </a:extLst>
          </p:cNvPr>
          <p:cNvPicPr>
            <a:picLocks noChangeAspect="1"/>
          </p:cNvPicPr>
          <p:nvPr/>
        </p:nvPicPr>
        <p:blipFill>
          <a:blip r:embed="rId6"/>
          <a:stretch>
            <a:fillRect/>
          </a:stretch>
        </p:blipFill>
        <p:spPr>
          <a:xfrm>
            <a:off x="6273800" y="3511314"/>
            <a:ext cx="2463800" cy="787400"/>
          </a:xfrm>
          <a:prstGeom prst="rect">
            <a:avLst/>
          </a:prstGeom>
        </p:spPr>
      </p:pic>
    </p:spTree>
    <p:extLst>
      <p:ext uri="{BB962C8B-B14F-4D97-AF65-F5344CB8AC3E}">
        <p14:creationId xmlns:p14="http://schemas.microsoft.com/office/powerpoint/2010/main" val="115379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8A39-12D5-9997-0931-206615C16ABD}"/>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BB1E503-0B77-9943-4DF9-77ACC144EB15}"/>
              </a:ext>
            </a:extLst>
          </p:cNvPr>
          <p:cNvSpPr>
            <a:spLocks noGrp="1"/>
          </p:cNvSpPr>
          <p:nvPr>
            <p:ph idx="1"/>
          </p:nvPr>
        </p:nvSpPr>
        <p:spPr>
          <a:xfrm>
            <a:off x="609600" y="1968500"/>
            <a:ext cx="5084587" cy="4157664"/>
          </a:xfrm>
        </p:spPr>
        <p:txBody>
          <a:bodyPr/>
          <a:lstStyle/>
          <a:p>
            <a:r>
              <a:rPr lang="en-US" dirty="0"/>
              <a:t>The R-K approach shows improved predictions over assuming ideal mixing for both pseudo-binary and pseudo-ternary systems</a:t>
            </a:r>
          </a:p>
          <a:p>
            <a:r>
              <a:rPr lang="en-US" dirty="0"/>
              <a:t>Some systems can still present large errors, and need to be investigated through experiments or modeling to supplement the knowledge base</a:t>
            </a:r>
          </a:p>
          <a:p>
            <a:r>
              <a:rPr lang="en-US" dirty="0"/>
              <a:t>R-K models have also been extended to heat capacity and viscosity, and show similar improvements compared to ideal mixing </a:t>
            </a:r>
          </a:p>
        </p:txBody>
      </p:sp>
      <p:sp>
        <p:nvSpPr>
          <p:cNvPr id="4" name="Slide Number Placeholder 3">
            <a:extLst>
              <a:ext uri="{FF2B5EF4-FFF2-40B4-BE49-F238E27FC236}">
                <a16:creationId xmlns:a16="http://schemas.microsoft.com/office/drawing/2014/main" id="{2BC4D052-992F-4D2C-990C-D1A1B6451A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C082969-1708-8439-6D8A-6B6664BEB211}"/>
              </a:ext>
            </a:extLst>
          </p:cNvPr>
          <p:cNvPicPr>
            <a:picLocks noChangeAspect="1"/>
          </p:cNvPicPr>
          <p:nvPr/>
        </p:nvPicPr>
        <p:blipFill>
          <a:blip r:embed="rId2"/>
          <a:stretch>
            <a:fillRect/>
          </a:stretch>
        </p:blipFill>
        <p:spPr>
          <a:xfrm>
            <a:off x="6094597" y="1679714"/>
            <a:ext cx="5951780" cy="1830172"/>
          </a:xfrm>
          <a:prstGeom prst="rect">
            <a:avLst/>
          </a:prstGeom>
        </p:spPr>
      </p:pic>
      <p:pic>
        <p:nvPicPr>
          <p:cNvPr id="6" name="Picture 5">
            <a:extLst>
              <a:ext uri="{FF2B5EF4-FFF2-40B4-BE49-F238E27FC236}">
                <a16:creationId xmlns:a16="http://schemas.microsoft.com/office/drawing/2014/main" id="{A18A8938-6677-1837-22EC-4842EA01CBB9}"/>
              </a:ext>
            </a:extLst>
          </p:cNvPr>
          <p:cNvPicPr>
            <a:picLocks noChangeAspect="1"/>
          </p:cNvPicPr>
          <p:nvPr/>
        </p:nvPicPr>
        <p:blipFill>
          <a:blip r:embed="rId3"/>
          <a:stretch>
            <a:fillRect/>
          </a:stretch>
        </p:blipFill>
        <p:spPr>
          <a:xfrm>
            <a:off x="6889642" y="3606762"/>
            <a:ext cx="4182549" cy="3001991"/>
          </a:xfrm>
          <a:prstGeom prst="rect">
            <a:avLst/>
          </a:prstGeom>
        </p:spPr>
      </p:pic>
      <p:sp>
        <p:nvSpPr>
          <p:cNvPr id="8" name="TextBox 7">
            <a:extLst>
              <a:ext uri="{FF2B5EF4-FFF2-40B4-BE49-F238E27FC236}">
                <a16:creationId xmlns:a16="http://schemas.microsoft.com/office/drawing/2014/main" id="{01884CE8-E57B-3D24-A865-3C5AD8DDA7E5}"/>
              </a:ext>
            </a:extLst>
          </p:cNvPr>
          <p:cNvSpPr txBox="1"/>
          <p:nvPr/>
        </p:nvSpPr>
        <p:spPr>
          <a:xfrm>
            <a:off x="7553739" y="5879062"/>
            <a:ext cx="191825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a:ea typeface="+mn-ea"/>
                <a:cs typeface="+mn-cs"/>
              </a:rPr>
              <a:t>Density of NaF-LiFZrF4</a:t>
            </a:r>
          </a:p>
        </p:txBody>
      </p:sp>
    </p:spTree>
    <p:extLst>
      <p:ext uri="{BB962C8B-B14F-4D97-AF65-F5344CB8AC3E}">
        <p14:creationId xmlns:p14="http://schemas.microsoft.com/office/powerpoint/2010/main" val="90301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94FA3-8437-78AC-49B0-DA340BAA38E5}"/>
              </a:ext>
            </a:extLst>
          </p:cNvPr>
          <p:cNvSpPr>
            <a:spLocks noGrp="1"/>
          </p:cNvSpPr>
          <p:nvPr>
            <p:ph type="title"/>
          </p:nvPr>
        </p:nvSpPr>
        <p:spPr/>
        <p:txBody>
          <a:bodyPr/>
          <a:lstStyle/>
          <a:p>
            <a:r>
              <a:rPr lang="en-US" dirty="0"/>
              <a:t>End of Molten Salts</a:t>
            </a:r>
          </a:p>
        </p:txBody>
      </p:sp>
      <p:sp>
        <p:nvSpPr>
          <p:cNvPr id="3" name="Content Placeholder 2">
            <a:extLst>
              <a:ext uri="{FF2B5EF4-FFF2-40B4-BE49-F238E27FC236}">
                <a16:creationId xmlns:a16="http://schemas.microsoft.com/office/drawing/2014/main" id="{75266A45-77B8-FBC0-4A2C-2882C729F5FB}"/>
              </a:ext>
            </a:extLst>
          </p:cNvPr>
          <p:cNvSpPr>
            <a:spLocks noGrp="1"/>
          </p:cNvSpPr>
          <p:nvPr>
            <p:ph idx="1"/>
          </p:nvPr>
        </p:nvSpPr>
        <p:spPr/>
        <p:txBody>
          <a:bodyPr/>
          <a:lstStyle/>
          <a:p>
            <a:r>
              <a:rPr lang="en-US" dirty="0"/>
              <a:t>Questions?</a:t>
            </a:r>
          </a:p>
        </p:txBody>
      </p:sp>
      <p:sp>
        <p:nvSpPr>
          <p:cNvPr id="4" name="Slide Number Placeholder 3">
            <a:extLst>
              <a:ext uri="{FF2B5EF4-FFF2-40B4-BE49-F238E27FC236}">
                <a16:creationId xmlns:a16="http://schemas.microsoft.com/office/drawing/2014/main" id="{6F53B52F-98BA-AE3A-E635-FA0FE0482DB3}"/>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3440980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Non-oxide ceramic fuels:</a:t>
            </a:r>
            <a:br>
              <a:rPr lang="en-US" dirty="0"/>
            </a:br>
            <a:r>
              <a:rPr lang="en-US" dirty="0"/>
              <a:t>Carbides and nitrides</a:t>
            </a:r>
          </a:p>
        </p:txBody>
      </p:sp>
      <p:sp>
        <p:nvSpPr>
          <p:cNvPr id="3" name="Slide Number Placeholder 2">
            <a:extLst>
              <a:ext uri="{FF2B5EF4-FFF2-40B4-BE49-F238E27FC236}">
                <a16:creationId xmlns:a16="http://schemas.microsoft.com/office/drawing/2014/main" id="{5AF24BB4-C5F0-CF45-96CF-0C1214D571AD}"/>
              </a:ext>
            </a:extLst>
          </p:cNvPr>
          <p:cNvSpPr>
            <a:spLocks noGrp="1"/>
          </p:cNvSpPr>
          <p:nvPr>
            <p:ph type="sldNum" sz="quarter" idx="12"/>
          </p:nvPr>
        </p:nvSpPr>
        <p:spPr/>
        <p:txBody>
          <a:bodyPr/>
          <a:lstStyle/>
          <a:p>
            <a:pPr>
              <a:defRPr/>
            </a:pPr>
            <a:fld id="{0DA6BD0F-ABBC-C14D-BC96-77BE126A748B}" type="slidenum">
              <a:rPr lang="en-US" smtClean="0"/>
              <a:pPr>
                <a:defRPr/>
              </a:pPr>
              <a:t>8</a:t>
            </a:fld>
            <a:endParaRPr lang="en-US"/>
          </a:p>
        </p:txBody>
      </p:sp>
    </p:spTree>
    <p:extLst>
      <p:ext uri="{BB962C8B-B14F-4D97-AF65-F5344CB8AC3E}">
        <p14:creationId xmlns:p14="http://schemas.microsoft.com/office/powerpoint/2010/main" val="406366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3667-D7F3-C040-9ACE-7257404B6EED}"/>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77B3B284-5863-EF40-8BE8-7546A06A329B}"/>
              </a:ext>
            </a:extLst>
          </p:cNvPr>
          <p:cNvSpPr>
            <a:spLocks noGrp="1"/>
          </p:cNvSpPr>
          <p:nvPr>
            <p:ph sz="half" idx="1"/>
          </p:nvPr>
        </p:nvSpPr>
        <p:spPr/>
        <p:txBody>
          <a:bodyPr/>
          <a:lstStyle/>
          <a:p>
            <a:r>
              <a:rPr lang="en-US" sz="2200" dirty="0"/>
              <a:t>Possible fuel compositions with higher fissile atom density are non-oxide ceramics, for example, uranium–plutonium-mixed carbide or nitride</a:t>
            </a:r>
          </a:p>
          <a:p>
            <a:r>
              <a:rPr lang="en-US" sz="2200" dirty="0"/>
              <a:t>These fuels have higher thermal conductivity, high fissile heavy-atom density, and a high melting point compared to metallic fuel</a:t>
            </a:r>
          </a:p>
          <a:p>
            <a:r>
              <a:rPr lang="en-US" sz="2200" dirty="0"/>
              <a:t>The higher thermal conductivity of carbide fuel and high melting point makes carbide fuel suitable for operation at high power</a:t>
            </a:r>
          </a:p>
          <a:p>
            <a:endParaRPr lang="en-US" sz="2200" dirty="0"/>
          </a:p>
        </p:txBody>
      </p:sp>
      <p:pic>
        <p:nvPicPr>
          <p:cNvPr id="5" name="Content Placeholder 4">
            <a:extLst>
              <a:ext uri="{FF2B5EF4-FFF2-40B4-BE49-F238E27FC236}">
                <a16:creationId xmlns:a16="http://schemas.microsoft.com/office/drawing/2014/main" id="{BB56616C-BF45-FA4A-9C7F-93C80D42975F}"/>
              </a:ext>
            </a:extLst>
          </p:cNvPr>
          <p:cNvPicPr>
            <a:picLocks noGrp="1" noChangeAspect="1"/>
          </p:cNvPicPr>
          <p:nvPr>
            <p:ph sz="half" idx="2"/>
          </p:nvPr>
        </p:nvPicPr>
        <p:blipFill>
          <a:blip r:embed="rId2"/>
          <a:stretch>
            <a:fillRect/>
          </a:stretch>
        </p:blipFill>
        <p:spPr>
          <a:xfrm>
            <a:off x="6270103" y="1968500"/>
            <a:ext cx="5239794" cy="4157663"/>
          </a:xfrm>
          <a:prstGeom prst="rect">
            <a:avLst/>
          </a:prstGeom>
        </p:spPr>
      </p:pic>
      <p:sp>
        <p:nvSpPr>
          <p:cNvPr id="6" name="Slide Number Placeholder 5">
            <a:extLst>
              <a:ext uri="{FF2B5EF4-FFF2-40B4-BE49-F238E27FC236}">
                <a16:creationId xmlns:a16="http://schemas.microsoft.com/office/drawing/2014/main" id="{5F2E4374-5441-0444-8A37-078B5B6F7E68}"/>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1671211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1C43-9B9D-B349-B9F3-F022D59E5819}"/>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9120415F-8417-444E-8975-5B73728626B9}"/>
              </a:ext>
            </a:extLst>
          </p:cNvPr>
          <p:cNvSpPr>
            <a:spLocks noGrp="1"/>
          </p:cNvSpPr>
          <p:nvPr>
            <p:ph sz="half" idx="1"/>
          </p:nvPr>
        </p:nvSpPr>
        <p:spPr/>
        <p:txBody>
          <a:bodyPr/>
          <a:lstStyle/>
          <a:p>
            <a:r>
              <a:rPr lang="en-US" sz="2200" dirty="0"/>
              <a:t>The more efficient heat transfer also allows for the possibility of large diameter fuel pins, with more fissile material per pin, and more power generation</a:t>
            </a:r>
          </a:p>
          <a:p>
            <a:r>
              <a:rPr lang="en-US" sz="2200" dirty="0"/>
              <a:t>High-specific-power operation permits fewer pins, compared to oxide, and a more compact core, which can reduce plant costs</a:t>
            </a:r>
          </a:p>
          <a:p>
            <a:pPr marL="0" indent="0">
              <a:buNone/>
            </a:pPr>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6A3C5400-516A-5A49-8D03-57F249E204BE}"/>
              </a:ext>
            </a:extLst>
          </p:cNvPr>
          <p:cNvSpPr>
            <a:spLocks noGrp="1"/>
          </p:cNvSpPr>
          <p:nvPr>
            <p:ph sz="half" idx="2"/>
          </p:nvPr>
        </p:nvSpPr>
        <p:spPr/>
        <p:txBody>
          <a:bodyPr/>
          <a:lstStyle/>
          <a:p>
            <a:r>
              <a:rPr lang="en-US" sz="2200" dirty="0"/>
              <a:t>A large amount of development work on carbide and nitride fuels was performed from 1960 to 1970, and more than 5000 advanced fuel pins have been fabricated and irradiated</a:t>
            </a:r>
          </a:p>
          <a:p>
            <a:r>
              <a:rPr lang="en-US" sz="2200" dirty="0"/>
              <a:t>The practical difficulty of fabrication of carbide fuel hampered carbide development</a:t>
            </a:r>
          </a:p>
          <a:p>
            <a:r>
              <a:rPr lang="en-US" sz="2200" dirty="0"/>
              <a:t>The high-purity inert cover gas required for fuel fabrication was expensive and maintenance of C/M ratio was difficult</a:t>
            </a:r>
          </a:p>
          <a:p>
            <a:endParaRPr lang="en-US" sz="2200" dirty="0"/>
          </a:p>
          <a:p>
            <a:endParaRPr lang="en-US" sz="2200" dirty="0"/>
          </a:p>
        </p:txBody>
      </p:sp>
      <p:sp>
        <p:nvSpPr>
          <p:cNvPr id="5" name="Slide Number Placeholder 4">
            <a:extLst>
              <a:ext uri="{FF2B5EF4-FFF2-40B4-BE49-F238E27FC236}">
                <a16:creationId xmlns:a16="http://schemas.microsoft.com/office/drawing/2014/main" id="{16A94781-3047-BF4E-96EB-456108115511}"/>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2872551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48EB-B970-7540-9C98-F56A26072C83}"/>
              </a:ext>
            </a:extLst>
          </p:cNvPr>
          <p:cNvSpPr>
            <a:spLocks noGrp="1"/>
          </p:cNvSpPr>
          <p:nvPr>
            <p:ph type="title"/>
          </p:nvPr>
        </p:nvSpPr>
        <p:spPr/>
        <p:txBody>
          <a:bodyPr/>
          <a:lstStyle/>
          <a:p>
            <a:r>
              <a:rPr lang="en-US" dirty="0"/>
              <a:t>Carbide Reactor</a:t>
            </a:r>
          </a:p>
        </p:txBody>
      </p:sp>
      <p:sp>
        <p:nvSpPr>
          <p:cNvPr id="3" name="Content Placeholder 2">
            <a:extLst>
              <a:ext uri="{FF2B5EF4-FFF2-40B4-BE49-F238E27FC236}">
                <a16:creationId xmlns:a16="http://schemas.microsoft.com/office/drawing/2014/main" id="{1848EA96-5F71-BE41-8073-08E85643FDE0}"/>
              </a:ext>
            </a:extLst>
          </p:cNvPr>
          <p:cNvSpPr>
            <a:spLocks noGrp="1"/>
          </p:cNvSpPr>
          <p:nvPr>
            <p:ph sz="half" idx="1"/>
          </p:nvPr>
        </p:nvSpPr>
        <p:spPr/>
        <p:txBody>
          <a:bodyPr/>
          <a:lstStyle/>
          <a:p>
            <a:r>
              <a:rPr lang="en-US" sz="2200" dirty="0"/>
              <a:t>The Indian FBR program started with the introduction of plutonium-rich mixed uranium–plutonium carbide as the driver fuel for a small loop-type fast breeder test reactor</a:t>
            </a:r>
          </a:p>
          <a:p>
            <a:r>
              <a:rPr lang="en-US" sz="2200" dirty="0"/>
              <a:t>The reactor became critical in the year 1985, is still in service, and it is the only reactor operating on a full core of carbide fuel</a:t>
            </a:r>
          </a:p>
          <a:p>
            <a:r>
              <a:rPr lang="en-US" sz="2200" dirty="0"/>
              <a:t>A larger reactor is being constructed in India based on this design</a:t>
            </a:r>
          </a:p>
          <a:p>
            <a:endParaRPr lang="en-US" sz="2200" dirty="0"/>
          </a:p>
        </p:txBody>
      </p:sp>
      <p:sp>
        <p:nvSpPr>
          <p:cNvPr id="4" name="Content Placeholder 3">
            <a:extLst>
              <a:ext uri="{FF2B5EF4-FFF2-40B4-BE49-F238E27FC236}">
                <a16:creationId xmlns:a16="http://schemas.microsoft.com/office/drawing/2014/main" id="{6F1EB0E7-79E6-1345-9EAF-432537458809}"/>
              </a:ext>
            </a:extLst>
          </p:cNvPr>
          <p:cNvSpPr>
            <a:spLocks noGrp="1"/>
          </p:cNvSpPr>
          <p:nvPr>
            <p:ph sz="half" idx="2"/>
          </p:nvPr>
        </p:nvSpPr>
        <p:spPr/>
        <p:txBody>
          <a:bodyPr/>
          <a:lstStyle/>
          <a:p>
            <a:r>
              <a:rPr lang="en-US" sz="2200" dirty="0"/>
              <a:t>Carbide fuel cannot be used in LWR because of its incompatibility with the coolant</a:t>
            </a:r>
          </a:p>
          <a:p>
            <a:r>
              <a:rPr lang="en-US" sz="2200" dirty="0"/>
              <a:t>However, it can be safely used with liquid metal (Na or Pb) or gas (CO2 or He) coolants in Gen-IV reactors</a:t>
            </a:r>
          </a:p>
          <a:p>
            <a:r>
              <a:rPr lang="en-US" sz="2200" dirty="0"/>
              <a:t>Carbide fuel has a breeding ratio of at least 1.30, a doubling time of 15 years or less, and a burnup limit of more than 15 at.%</a:t>
            </a:r>
          </a:p>
          <a:p>
            <a:endParaRPr lang="en-US" sz="2200" dirty="0"/>
          </a:p>
        </p:txBody>
      </p:sp>
      <p:sp>
        <p:nvSpPr>
          <p:cNvPr id="5" name="Slide Number Placeholder 4">
            <a:extLst>
              <a:ext uri="{FF2B5EF4-FFF2-40B4-BE49-F238E27FC236}">
                <a16:creationId xmlns:a16="http://schemas.microsoft.com/office/drawing/2014/main" id="{D7C05031-D919-E242-AD67-369898A922E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58138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25E-C08D-864C-A111-8FD31D8758D5}"/>
              </a:ext>
            </a:extLst>
          </p:cNvPr>
          <p:cNvSpPr>
            <a:spLocks noGrp="1"/>
          </p:cNvSpPr>
          <p:nvPr>
            <p:ph type="title"/>
          </p:nvPr>
        </p:nvSpPr>
        <p:spPr/>
        <p:txBody>
          <a:bodyPr/>
          <a:lstStyle/>
          <a:p>
            <a:r>
              <a:rPr lang="en-US" dirty="0"/>
              <a:t>US Interest in Carbide Fuels</a:t>
            </a:r>
          </a:p>
        </p:txBody>
      </p:sp>
      <p:sp>
        <p:nvSpPr>
          <p:cNvPr id="3" name="Content Placeholder 2">
            <a:extLst>
              <a:ext uri="{FF2B5EF4-FFF2-40B4-BE49-F238E27FC236}">
                <a16:creationId xmlns:a16="http://schemas.microsoft.com/office/drawing/2014/main" id="{B05D22D5-C79B-564E-B875-7D713E6981FF}"/>
              </a:ext>
            </a:extLst>
          </p:cNvPr>
          <p:cNvSpPr>
            <a:spLocks noGrp="1"/>
          </p:cNvSpPr>
          <p:nvPr>
            <p:ph sz="half" idx="1"/>
          </p:nvPr>
        </p:nvSpPr>
        <p:spPr>
          <a:xfrm>
            <a:off x="609599" y="1853515"/>
            <a:ext cx="5890055" cy="4272652"/>
          </a:xfrm>
        </p:spPr>
        <p:txBody>
          <a:bodyPr/>
          <a:lstStyle/>
          <a:p>
            <a:r>
              <a:rPr lang="en-US" sz="2000" dirty="0"/>
              <a:t>Many laboratories in the world were engaged in studies on the development of carbide fuels based on uranium and plutonium and thorium</a:t>
            </a:r>
          </a:p>
          <a:p>
            <a:r>
              <a:rPr lang="en-US" sz="2000" dirty="0"/>
              <a:t>After the oil crisis in 1974, a national advanced liquid-metal-cooled FBR fuels development program was initiated that built upon early years of carbide fuel development</a:t>
            </a:r>
          </a:p>
          <a:p>
            <a:r>
              <a:rPr lang="en-US" sz="2000" dirty="0"/>
              <a:t>Both carbide and nitride fuels offer a middle ground for LMFBR performance because of their higher thermal conductivity, fissile-atom density, and chemical compatibility with liquid sodium, and much higher melting point than metallic fuels</a:t>
            </a:r>
          </a:p>
          <a:p>
            <a:endParaRPr lang="en-US" sz="2000" dirty="0"/>
          </a:p>
        </p:txBody>
      </p:sp>
      <p:pic>
        <p:nvPicPr>
          <p:cNvPr id="5" name="Content Placeholder 4">
            <a:extLst>
              <a:ext uri="{FF2B5EF4-FFF2-40B4-BE49-F238E27FC236}">
                <a16:creationId xmlns:a16="http://schemas.microsoft.com/office/drawing/2014/main" id="{34C5B275-8917-7643-A743-A6A4050A95F4}"/>
              </a:ext>
            </a:extLst>
          </p:cNvPr>
          <p:cNvPicPr>
            <a:picLocks noGrp="1" noChangeAspect="1"/>
          </p:cNvPicPr>
          <p:nvPr>
            <p:ph sz="half" idx="2"/>
          </p:nvPr>
        </p:nvPicPr>
        <p:blipFill>
          <a:blip r:embed="rId2"/>
          <a:stretch>
            <a:fillRect/>
          </a:stretch>
        </p:blipFill>
        <p:spPr>
          <a:xfrm>
            <a:off x="6605104" y="3363124"/>
            <a:ext cx="5384800" cy="3052753"/>
          </a:xfrm>
          <a:prstGeom prst="rect">
            <a:avLst/>
          </a:prstGeom>
        </p:spPr>
      </p:pic>
      <p:sp>
        <p:nvSpPr>
          <p:cNvPr id="6" name="Slide Number Placeholder 5">
            <a:extLst>
              <a:ext uri="{FF2B5EF4-FFF2-40B4-BE49-F238E27FC236}">
                <a16:creationId xmlns:a16="http://schemas.microsoft.com/office/drawing/2014/main" id="{A71476E2-4575-6B4B-AB78-2768A20691EE}"/>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4" name="Picture 3">
            <a:extLst>
              <a:ext uri="{FF2B5EF4-FFF2-40B4-BE49-F238E27FC236}">
                <a16:creationId xmlns:a16="http://schemas.microsoft.com/office/drawing/2014/main" id="{79BA0BCC-41FB-4B6B-1EE8-BC607A8A152D}"/>
              </a:ext>
            </a:extLst>
          </p:cNvPr>
          <p:cNvPicPr>
            <a:picLocks noChangeAspect="1"/>
          </p:cNvPicPr>
          <p:nvPr/>
        </p:nvPicPr>
        <p:blipFill>
          <a:blip r:embed="rId3"/>
          <a:stretch>
            <a:fillRect/>
          </a:stretch>
        </p:blipFill>
        <p:spPr>
          <a:xfrm>
            <a:off x="6918247" y="1360673"/>
            <a:ext cx="4758513" cy="2002451"/>
          </a:xfrm>
          <a:prstGeom prst="rect">
            <a:avLst/>
          </a:prstGeom>
        </p:spPr>
      </p:pic>
    </p:spTree>
    <p:extLst>
      <p:ext uri="{BB962C8B-B14F-4D97-AF65-F5344CB8AC3E}">
        <p14:creationId xmlns:p14="http://schemas.microsoft.com/office/powerpoint/2010/main" val="129096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C2F7-ECEA-1C46-B945-9B4A42DFD0E8}"/>
              </a:ext>
            </a:extLst>
          </p:cNvPr>
          <p:cNvSpPr>
            <a:spLocks noGrp="1"/>
          </p:cNvSpPr>
          <p:nvPr>
            <p:ph type="title"/>
          </p:nvPr>
        </p:nvSpPr>
        <p:spPr/>
        <p:txBody>
          <a:bodyPr/>
          <a:lstStyle/>
          <a:p>
            <a:r>
              <a:rPr lang="en-US" dirty="0"/>
              <a:t>Carbide Pin Designs</a:t>
            </a:r>
          </a:p>
        </p:txBody>
      </p:sp>
      <p:sp>
        <p:nvSpPr>
          <p:cNvPr id="3" name="Content Placeholder 2">
            <a:extLst>
              <a:ext uri="{FF2B5EF4-FFF2-40B4-BE49-F238E27FC236}">
                <a16:creationId xmlns:a16="http://schemas.microsoft.com/office/drawing/2014/main" id="{D83C09B7-9821-2E48-817A-5ACA221C60AF}"/>
              </a:ext>
            </a:extLst>
          </p:cNvPr>
          <p:cNvSpPr>
            <a:spLocks noGrp="1"/>
          </p:cNvSpPr>
          <p:nvPr>
            <p:ph sz="half" idx="1"/>
          </p:nvPr>
        </p:nvSpPr>
        <p:spPr/>
        <p:txBody>
          <a:bodyPr/>
          <a:lstStyle/>
          <a:p>
            <a:r>
              <a:rPr lang="en-US" sz="2200" dirty="0"/>
              <a:t>There are two concepts available for the carbide fuel pin depending upon the type of bond between the fuel pellet and the cladding material: He-bonded and Na-bonded carbide fuels</a:t>
            </a:r>
          </a:p>
          <a:p>
            <a:r>
              <a:rPr lang="en-US" sz="2200" dirty="0"/>
              <a:t>The average operating fuel temperature of the He-bonded pin is high because of low thermal conductivity of the He bond compared to the Na bond</a:t>
            </a:r>
          </a:p>
          <a:p>
            <a:r>
              <a:rPr lang="en-US" sz="2200" dirty="0"/>
              <a:t>This design requires a larger fuel–clad gap and 85% smear density to accommodate the swelling of the fuel</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AC0BD468-0FF3-AF49-A6B5-57D5753C066E}"/>
              </a:ext>
            </a:extLst>
          </p:cNvPr>
          <p:cNvSpPr>
            <a:spLocks noGrp="1"/>
          </p:cNvSpPr>
          <p:nvPr>
            <p:ph sz="half" idx="2"/>
          </p:nvPr>
        </p:nvSpPr>
        <p:spPr/>
        <p:txBody>
          <a:bodyPr/>
          <a:lstStyle/>
          <a:p>
            <a:r>
              <a:rPr lang="en-US" sz="2200" dirty="0"/>
              <a:t>The fission gas release in a He-bonded pin will be higher compared to that from a sodium-bonded pin, due to the higher temperatures</a:t>
            </a:r>
          </a:p>
          <a:p>
            <a:r>
              <a:rPr lang="en-US" sz="2200" dirty="0"/>
              <a:t>Na-bonded carbide fuel pins also require a reduced smear density compared to oxide fuels to account for fuel swelling</a:t>
            </a:r>
          </a:p>
          <a:p>
            <a:r>
              <a:rPr lang="en-US" sz="2200" dirty="0"/>
              <a:t>The purity of the Na bond is very important, requiring strict tolerances on O content</a:t>
            </a:r>
          </a:p>
          <a:p>
            <a:endParaRPr lang="en-US" sz="2200" dirty="0"/>
          </a:p>
          <a:p>
            <a:endParaRPr lang="en-US" sz="2200" dirty="0"/>
          </a:p>
        </p:txBody>
      </p:sp>
      <p:sp>
        <p:nvSpPr>
          <p:cNvPr id="5" name="Slide Number Placeholder 4">
            <a:extLst>
              <a:ext uri="{FF2B5EF4-FFF2-40B4-BE49-F238E27FC236}">
                <a16:creationId xmlns:a16="http://schemas.microsoft.com/office/drawing/2014/main" id="{AFE4DD2B-241E-3F45-A29F-08A759C66858}"/>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383872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B9F1-8657-D945-BCB0-236F08579EA0}"/>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61FDEF9C-306C-EE44-9778-68E9B5064630}"/>
              </a:ext>
            </a:extLst>
          </p:cNvPr>
          <p:cNvSpPr>
            <a:spLocks noGrp="1"/>
          </p:cNvSpPr>
          <p:nvPr>
            <p:ph sz="half" idx="1"/>
          </p:nvPr>
        </p:nvSpPr>
        <p:spPr>
          <a:xfrm>
            <a:off x="609600" y="1968503"/>
            <a:ext cx="5588000" cy="4157663"/>
          </a:xfrm>
        </p:spPr>
        <p:txBody>
          <a:bodyPr/>
          <a:lstStyle/>
          <a:p>
            <a:r>
              <a:rPr lang="en-US" sz="2000" dirty="0"/>
              <a:t>A </a:t>
            </a:r>
            <a:r>
              <a:rPr lang="en-US" sz="2000" dirty="0" err="1"/>
              <a:t>hyperstoichiometric</a:t>
            </a:r>
            <a:r>
              <a:rPr lang="en-US" sz="2000" dirty="0"/>
              <a:t> (C/M&gt;1, carbon to metal ratio) fuel composition is chosen so that it contains some amount of </a:t>
            </a:r>
            <a:r>
              <a:rPr lang="en-US" sz="2000" dirty="0" err="1"/>
              <a:t>sesquicarbide</a:t>
            </a:r>
            <a:r>
              <a:rPr lang="en-US" sz="2000" dirty="0"/>
              <a:t> M2C3 phase (M=</a:t>
            </a:r>
            <a:r>
              <a:rPr lang="en-US" sz="2000" dirty="0" err="1"/>
              <a:t>U+Pu</a:t>
            </a:r>
            <a:r>
              <a:rPr lang="en-US" sz="2000" dirty="0"/>
              <a:t>), which accounts for the decrease in (C/M) ratio with burnup</a:t>
            </a:r>
          </a:p>
          <a:p>
            <a:r>
              <a:rPr lang="en-US" sz="2000" dirty="0"/>
              <a:t>A low C/M ratio may result in the formation of actinide metal phases, which may form low-melting eutectics with the cladding and limit the life of the fuel pin</a:t>
            </a:r>
          </a:p>
          <a:p>
            <a:r>
              <a:rPr lang="en-US" sz="2000" dirty="0"/>
              <a:t>FCMI can potentially exist, depending upon the operating temperature of the fuel</a:t>
            </a:r>
          </a:p>
          <a:p>
            <a:endParaRPr lang="en-US" sz="2000" dirty="0"/>
          </a:p>
        </p:txBody>
      </p:sp>
      <p:sp>
        <p:nvSpPr>
          <p:cNvPr id="4" name="Content Placeholder 3">
            <a:extLst>
              <a:ext uri="{FF2B5EF4-FFF2-40B4-BE49-F238E27FC236}">
                <a16:creationId xmlns:a16="http://schemas.microsoft.com/office/drawing/2014/main" id="{2EA0D0FD-D89A-C544-A6F9-1ED4AB392FBE}"/>
              </a:ext>
            </a:extLst>
          </p:cNvPr>
          <p:cNvSpPr>
            <a:spLocks noGrp="1"/>
          </p:cNvSpPr>
          <p:nvPr>
            <p:ph sz="half" idx="2"/>
          </p:nvPr>
        </p:nvSpPr>
        <p:spPr/>
        <p:txBody>
          <a:bodyPr/>
          <a:lstStyle/>
          <a:p>
            <a:r>
              <a:rPr lang="en-US" sz="2000" dirty="0"/>
              <a:t>O and N impurities play important roles, as they act as ‘carbon equivalent’, which affect the carbon potential of the fuel</a:t>
            </a:r>
          </a:p>
          <a:p>
            <a:r>
              <a:rPr lang="en-US" sz="2000" dirty="0"/>
              <a:t>Also have high Pu and low Pu designs, which impact properties and impurity sensitivity</a:t>
            </a:r>
          </a:p>
          <a:p>
            <a:endParaRPr lang="en-US" sz="2000" dirty="0"/>
          </a:p>
        </p:txBody>
      </p:sp>
      <p:sp>
        <p:nvSpPr>
          <p:cNvPr id="6" name="Slide Number Placeholder 5">
            <a:extLst>
              <a:ext uri="{FF2B5EF4-FFF2-40B4-BE49-F238E27FC236}">
                <a16:creationId xmlns:a16="http://schemas.microsoft.com/office/drawing/2014/main" id="{3EA86367-26E1-E346-97CE-8311FC1FD947}"/>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5" name="Picture 4">
            <a:extLst>
              <a:ext uri="{FF2B5EF4-FFF2-40B4-BE49-F238E27FC236}">
                <a16:creationId xmlns:a16="http://schemas.microsoft.com/office/drawing/2014/main" id="{C986DF4E-5487-084A-8406-3D3F07D022A2}"/>
              </a:ext>
            </a:extLst>
          </p:cNvPr>
          <p:cNvPicPr>
            <a:picLocks noChangeAspect="1"/>
          </p:cNvPicPr>
          <p:nvPr/>
        </p:nvPicPr>
        <p:blipFill>
          <a:blip r:embed="rId2"/>
          <a:stretch>
            <a:fillRect/>
          </a:stretch>
        </p:blipFill>
        <p:spPr>
          <a:xfrm>
            <a:off x="6381156" y="4047334"/>
            <a:ext cx="4712887" cy="2244232"/>
          </a:xfrm>
          <a:prstGeom prst="rect">
            <a:avLst/>
          </a:prstGeom>
        </p:spPr>
      </p:pic>
    </p:spTree>
    <p:extLst>
      <p:ext uri="{BB962C8B-B14F-4D97-AF65-F5344CB8AC3E}">
        <p14:creationId xmlns:p14="http://schemas.microsoft.com/office/powerpoint/2010/main" val="86682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5704-BA08-874E-B583-4A36194720BE}"/>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B93E3DD4-CA29-8E93-8A98-181D904F2F0B}"/>
              </a:ext>
            </a:extLst>
          </p:cNvPr>
          <p:cNvSpPr>
            <a:spLocks noGrp="1"/>
          </p:cNvSpPr>
          <p:nvPr>
            <p:ph sz="half" idx="1"/>
          </p:nvPr>
        </p:nvSpPr>
        <p:spPr/>
        <p:txBody>
          <a:bodyPr/>
          <a:lstStyle/>
          <a:p>
            <a:r>
              <a:rPr lang="en-US" sz="2400" dirty="0"/>
              <a:t>Carbide fuels have higher swelling and lower fission gas release than oxide fuels</a:t>
            </a:r>
          </a:p>
          <a:p>
            <a:r>
              <a:rPr lang="en-US" sz="2400" dirty="0"/>
              <a:t>This is due to the lower fuel temperatures (higher thermal conductivity), and the microstructural evolution of fission gases</a:t>
            </a:r>
          </a:p>
          <a:p>
            <a:endParaRPr lang="en-US" sz="2400" dirty="0"/>
          </a:p>
        </p:txBody>
      </p:sp>
      <p:sp>
        <p:nvSpPr>
          <p:cNvPr id="4" name="Content Placeholder 3">
            <a:extLst>
              <a:ext uri="{FF2B5EF4-FFF2-40B4-BE49-F238E27FC236}">
                <a16:creationId xmlns:a16="http://schemas.microsoft.com/office/drawing/2014/main" id="{A394C6AC-9A8B-9F28-67D4-2EC5E7CA6CE8}"/>
              </a:ext>
            </a:extLst>
          </p:cNvPr>
          <p:cNvSpPr>
            <a:spLocks noGrp="1"/>
          </p:cNvSpPr>
          <p:nvPr>
            <p:ph sz="half" idx="2"/>
          </p:nvPr>
        </p:nvSpPr>
        <p:spPr/>
        <p:txBody>
          <a:bodyPr/>
          <a:lstStyle/>
          <a:p>
            <a:r>
              <a:rPr lang="en-US" sz="2400" dirty="0"/>
              <a:t>However, carbide fuels go to significantly higher burnups, leading to larger fission product inventories</a:t>
            </a:r>
          </a:p>
          <a:p>
            <a:r>
              <a:rPr lang="en-US" sz="2400" dirty="0"/>
              <a:t>Burnup limits are imposed by cladding stresses/damage due to fission gas pressure and FCMI</a:t>
            </a:r>
          </a:p>
        </p:txBody>
      </p:sp>
      <p:sp>
        <p:nvSpPr>
          <p:cNvPr id="5" name="Slide Number Placeholder 4">
            <a:extLst>
              <a:ext uri="{FF2B5EF4-FFF2-40B4-BE49-F238E27FC236}">
                <a16:creationId xmlns:a16="http://schemas.microsoft.com/office/drawing/2014/main" id="{49DA1353-6BB8-89B5-1DA7-D0D2D47321D1}"/>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660271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0AB6-2DF3-5268-6963-D38D0648BFD4}"/>
              </a:ext>
            </a:extLst>
          </p:cNvPr>
          <p:cNvSpPr>
            <a:spLocks noGrp="1"/>
          </p:cNvSpPr>
          <p:nvPr>
            <p:ph type="title"/>
          </p:nvPr>
        </p:nvSpPr>
        <p:spPr/>
        <p:txBody>
          <a:bodyPr/>
          <a:lstStyle/>
          <a:p>
            <a:r>
              <a:rPr lang="en-US" dirty="0"/>
              <a:t>Questions on carbide fuel overview?</a:t>
            </a:r>
          </a:p>
        </p:txBody>
      </p:sp>
      <p:sp>
        <p:nvSpPr>
          <p:cNvPr id="3" name="Content Placeholder 2">
            <a:extLst>
              <a:ext uri="{FF2B5EF4-FFF2-40B4-BE49-F238E27FC236}">
                <a16:creationId xmlns:a16="http://schemas.microsoft.com/office/drawing/2014/main" id="{E96A43B3-7358-1C5D-E197-7623CBB27CF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3D3C1A34-CBEE-0353-9FAB-49DF46FD46E9}"/>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386D0107-E049-9522-75B9-ECDE1F20A21F}"/>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3422165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2A0-F305-5736-FE6A-329FC9215562}"/>
              </a:ext>
            </a:extLst>
          </p:cNvPr>
          <p:cNvSpPr>
            <a:spLocks noGrp="1"/>
          </p:cNvSpPr>
          <p:nvPr>
            <p:ph type="title"/>
          </p:nvPr>
        </p:nvSpPr>
        <p:spPr/>
        <p:txBody>
          <a:bodyPr/>
          <a:lstStyle/>
          <a:p>
            <a:r>
              <a:rPr lang="en-US" dirty="0"/>
              <a:t>U(Pu)-C Phases</a:t>
            </a:r>
          </a:p>
        </p:txBody>
      </p:sp>
      <p:sp>
        <p:nvSpPr>
          <p:cNvPr id="3" name="Content Placeholder 2">
            <a:extLst>
              <a:ext uri="{FF2B5EF4-FFF2-40B4-BE49-F238E27FC236}">
                <a16:creationId xmlns:a16="http://schemas.microsoft.com/office/drawing/2014/main" id="{B7B55A35-429C-84EF-0E5E-DFCA47999421}"/>
              </a:ext>
            </a:extLst>
          </p:cNvPr>
          <p:cNvSpPr>
            <a:spLocks noGrp="1"/>
          </p:cNvSpPr>
          <p:nvPr>
            <p:ph sz="half" idx="1"/>
          </p:nvPr>
        </p:nvSpPr>
        <p:spPr/>
        <p:txBody>
          <a:bodyPr/>
          <a:lstStyle/>
          <a:p>
            <a:r>
              <a:rPr lang="en-US" sz="2000" dirty="0"/>
              <a:t>Uranium forms three compounds with carbon: UC, U2C3, and UC2, with only U2C3 being stoichiometric</a:t>
            </a:r>
          </a:p>
          <a:p>
            <a:r>
              <a:rPr lang="en-US" sz="2000" dirty="0"/>
              <a:t>UC is stable over a wide temperature and composition range</a:t>
            </a:r>
          </a:p>
          <a:p>
            <a:r>
              <a:rPr lang="en-US" sz="2000" dirty="0"/>
              <a:t>UC2 is stable in two high temperature phases</a:t>
            </a:r>
          </a:p>
          <a:p>
            <a:r>
              <a:rPr lang="en-US" sz="2000" dirty="0"/>
              <a:t>The Pu–C system has four compounds: Pu3C2, PuC1–x, Pu2C3, and PuC2</a:t>
            </a:r>
          </a:p>
          <a:p>
            <a:r>
              <a:rPr lang="en-US" sz="2000" dirty="0"/>
              <a:t>UC and </a:t>
            </a:r>
            <a:r>
              <a:rPr lang="en-US" sz="2000" dirty="0" err="1"/>
              <a:t>PuC</a:t>
            </a:r>
            <a:r>
              <a:rPr lang="en-US" sz="2000" dirty="0"/>
              <a:t> are face-centered cubic structures (NaCl-type)</a:t>
            </a:r>
          </a:p>
        </p:txBody>
      </p:sp>
      <p:sp>
        <p:nvSpPr>
          <p:cNvPr id="5" name="Slide Number Placeholder 4">
            <a:extLst>
              <a:ext uri="{FF2B5EF4-FFF2-40B4-BE49-F238E27FC236}">
                <a16:creationId xmlns:a16="http://schemas.microsoft.com/office/drawing/2014/main" id="{190EEB34-26B2-8EB2-1D1B-40AF71482A0C}"/>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6" name="Content Placeholder 4">
            <a:extLst>
              <a:ext uri="{FF2B5EF4-FFF2-40B4-BE49-F238E27FC236}">
                <a16:creationId xmlns:a16="http://schemas.microsoft.com/office/drawing/2014/main" id="{AD9AFA01-D07D-4E58-FF82-16667B39EA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auto">
          <a:xfrm>
            <a:off x="6501950" y="2038423"/>
            <a:ext cx="5168153" cy="40178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299104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1C8F-E88B-7742-AEB2-46AFA5B6409A}"/>
              </a:ext>
            </a:extLst>
          </p:cNvPr>
          <p:cNvSpPr>
            <a:spLocks noGrp="1"/>
          </p:cNvSpPr>
          <p:nvPr>
            <p:ph type="title"/>
          </p:nvPr>
        </p:nvSpPr>
        <p:spPr/>
        <p:txBody>
          <a:bodyPr/>
          <a:lstStyle/>
          <a:p>
            <a:r>
              <a:rPr lang="en-US" dirty="0"/>
              <a:t>U/Pu-C Phase</a:t>
            </a:r>
          </a:p>
        </p:txBody>
      </p:sp>
      <p:pic>
        <p:nvPicPr>
          <p:cNvPr id="6" name="Content Placeholder 5">
            <a:extLst>
              <a:ext uri="{FF2B5EF4-FFF2-40B4-BE49-F238E27FC236}">
                <a16:creationId xmlns:a16="http://schemas.microsoft.com/office/drawing/2014/main" id="{B3D5C563-6A58-B040-B702-2BAB72907BE3}"/>
              </a:ext>
            </a:extLst>
          </p:cNvPr>
          <p:cNvPicPr>
            <a:picLocks noGrp="1" noChangeAspect="1"/>
          </p:cNvPicPr>
          <p:nvPr>
            <p:ph sz="half" idx="1"/>
          </p:nvPr>
        </p:nvPicPr>
        <p:blipFill>
          <a:blip r:embed="rId2"/>
          <a:stretch>
            <a:fillRect/>
          </a:stretch>
        </p:blipFill>
        <p:spPr>
          <a:xfrm>
            <a:off x="1863850" y="1975151"/>
            <a:ext cx="8464299" cy="3863889"/>
          </a:xfrm>
          <a:prstGeom prst="rect">
            <a:avLst/>
          </a:prstGeom>
        </p:spPr>
      </p:pic>
      <p:sp>
        <p:nvSpPr>
          <p:cNvPr id="5" name="Slide Number Placeholder 4">
            <a:extLst>
              <a:ext uri="{FF2B5EF4-FFF2-40B4-BE49-F238E27FC236}">
                <a16:creationId xmlns:a16="http://schemas.microsoft.com/office/drawing/2014/main" id="{7403A8A2-EBA6-8949-81B8-AC8A99940712}"/>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175989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2E71-2EFC-3144-A39F-0D931DCCD7F4}"/>
              </a:ext>
            </a:extLst>
          </p:cNvPr>
          <p:cNvSpPr>
            <a:spLocks noGrp="1"/>
          </p:cNvSpPr>
          <p:nvPr>
            <p:ph type="title"/>
          </p:nvPr>
        </p:nvSpPr>
        <p:spPr/>
        <p:txBody>
          <a:bodyPr/>
          <a:lstStyle/>
          <a:p>
            <a:r>
              <a:rPr lang="en-US" dirty="0"/>
              <a:t>U/Pu2-C3</a:t>
            </a:r>
          </a:p>
        </p:txBody>
      </p:sp>
      <p:sp>
        <p:nvSpPr>
          <p:cNvPr id="3" name="Content Placeholder 2">
            <a:extLst>
              <a:ext uri="{FF2B5EF4-FFF2-40B4-BE49-F238E27FC236}">
                <a16:creationId xmlns:a16="http://schemas.microsoft.com/office/drawing/2014/main" id="{4CA2C577-5DF8-8042-AB8A-ADF405838207}"/>
              </a:ext>
            </a:extLst>
          </p:cNvPr>
          <p:cNvSpPr>
            <a:spLocks noGrp="1"/>
          </p:cNvSpPr>
          <p:nvPr>
            <p:ph sz="half" idx="1"/>
          </p:nvPr>
        </p:nvSpPr>
        <p:spPr>
          <a:xfrm>
            <a:off x="609600" y="1968503"/>
            <a:ext cx="10972800" cy="1170113"/>
          </a:xfrm>
        </p:spPr>
        <p:txBody>
          <a:bodyPr/>
          <a:lstStyle/>
          <a:p>
            <a:r>
              <a:rPr lang="en-US" sz="2200" dirty="0"/>
              <a:t>This structure is more complex than that of the mono- and dicarbides, and is often difficult to form</a:t>
            </a:r>
          </a:p>
          <a:p>
            <a:r>
              <a:rPr lang="en-US" sz="2200" dirty="0"/>
              <a:t>U2C3 is produced by a complex preparation procedure and decomposes into a mixture of mono- and dicarbides at high temperatures</a:t>
            </a:r>
          </a:p>
          <a:p>
            <a:endParaRPr lang="en-US" sz="2200" dirty="0"/>
          </a:p>
          <a:p>
            <a:endParaRPr lang="en-US" sz="2200" dirty="0"/>
          </a:p>
        </p:txBody>
      </p:sp>
      <p:pic>
        <p:nvPicPr>
          <p:cNvPr id="6" name="Content Placeholder 5">
            <a:extLst>
              <a:ext uri="{FF2B5EF4-FFF2-40B4-BE49-F238E27FC236}">
                <a16:creationId xmlns:a16="http://schemas.microsoft.com/office/drawing/2014/main" id="{2DD6098A-3E88-3940-ACE8-13DAAEE0E111}"/>
              </a:ext>
            </a:extLst>
          </p:cNvPr>
          <p:cNvPicPr>
            <a:picLocks noGrp="1" noChangeAspect="1"/>
          </p:cNvPicPr>
          <p:nvPr>
            <p:ph sz="half" idx="2"/>
          </p:nvPr>
        </p:nvPicPr>
        <p:blipFill>
          <a:blip r:embed="rId2"/>
          <a:stretch>
            <a:fillRect/>
          </a:stretch>
        </p:blipFill>
        <p:spPr>
          <a:xfrm>
            <a:off x="2190680" y="3694008"/>
            <a:ext cx="8221947" cy="2662344"/>
          </a:xfrm>
          <a:prstGeom prst="rect">
            <a:avLst/>
          </a:prstGeom>
        </p:spPr>
      </p:pic>
      <p:sp>
        <p:nvSpPr>
          <p:cNvPr id="5" name="Slide Number Placeholder 4">
            <a:extLst>
              <a:ext uri="{FF2B5EF4-FFF2-40B4-BE49-F238E27FC236}">
                <a16:creationId xmlns:a16="http://schemas.microsoft.com/office/drawing/2014/main" id="{060802DF-F464-C147-89B9-3A4CF96508F2}"/>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852010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0BB2-F999-A149-87DE-31AF525C3360}"/>
              </a:ext>
            </a:extLst>
          </p:cNvPr>
          <p:cNvSpPr>
            <a:spLocks noGrp="1"/>
          </p:cNvSpPr>
          <p:nvPr>
            <p:ph type="title"/>
          </p:nvPr>
        </p:nvSpPr>
        <p:spPr/>
        <p:txBody>
          <a:bodyPr/>
          <a:lstStyle/>
          <a:p>
            <a:r>
              <a:rPr lang="en-US" dirty="0"/>
              <a:t>Phase Diagrams of Carbides</a:t>
            </a:r>
          </a:p>
        </p:txBody>
      </p:sp>
      <p:pic>
        <p:nvPicPr>
          <p:cNvPr id="6" name="Content Placeholder 5">
            <a:extLst>
              <a:ext uri="{FF2B5EF4-FFF2-40B4-BE49-F238E27FC236}">
                <a16:creationId xmlns:a16="http://schemas.microsoft.com/office/drawing/2014/main" id="{165A8731-948F-0340-96A1-1D477E926424}"/>
              </a:ext>
            </a:extLst>
          </p:cNvPr>
          <p:cNvPicPr>
            <a:picLocks noGrp="1" noChangeAspect="1"/>
          </p:cNvPicPr>
          <p:nvPr>
            <p:ph sz="half" idx="1"/>
          </p:nvPr>
        </p:nvPicPr>
        <p:blipFill>
          <a:blip r:embed="rId2"/>
          <a:stretch>
            <a:fillRect/>
          </a:stretch>
        </p:blipFill>
        <p:spPr>
          <a:xfrm>
            <a:off x="711200" y="2318160"/>
            <a:ext cx="5384800" cy="4146720"/>
          </a:xfrm>
          <a:prstGeom prst="rect">
            <a:avLst/>
          </a:prstGeom>
        </p:spPr>
      </p:pic>
      <p:pic>
        <p:nvPicPr>
          <p:cNvPr id="7" name="Content Placeholder 6">
            <a:extLst>
              <a:ext uri="{FF2B5EF4-FFF2-40B4-BE49-F238E27FC236}">
                <a16:creationId xmlns:a16="http://schemas.microsoft.com/office/drawing/2014/main" id="{2F07296D-3AF3-0741-B841-0AA9B7F84D5F}"/>
              </a:ext>
            </a:extLst>
          </p:cNvPr>
          <p:cNvPicPr>
            <a:picLocks noGrp="1" noChangeAspect="1"/>
          </p:cNvPicPr>
          <p:nvPr>
            <p:ph sz="half" idx="2"/>
          </p:nvPr>
        </p:nvPicPr>
        <p:blipFill>
          <a:blip r:embed="rId3"/>
          <a:stretch>
            <a:fillRect/>
          </a:stretch>
        </p:blipFill>
        <p:spPr>
          <a:xfrm>
            <a:off x="6334212" y="2318160"/>
            <a:ext cx="5131453" cy="4157663"/>
          </a:xfrm>
          <a:prstGeom prst="rect">
            <a:avLst/>
          </a:prstGeom>
        </p:spPr>
      </p:pic>
      <p:sp>
        <p:nvSpPr>
          <p:cNvPr id="5" name="Slide Number Placeholder 4">
            <a:extLst>
              <a:ext uri="{FF2B5EF4-FFF2-40B4-BE49-F238E27FC236}">
                <a16:creationId xmlns:a16="http://schemas.microsoft.com/office/drawing/2014/main" id="{4EE83E78-012B-1E47-B16F-E9D3BA390399}"/>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
        <p:nvSpPr>
          <p:cNvPr id="4" name="TextBox 3">
            <a:extLst>
              <a:ext uri="{FF2B5EF4-FFF2-40B4-BE49-F238E27FC236}">
                <a16:creationId xmlns:a16="http://schemas.microsoft.com/office/drawing/2014/main" id="{5127E9E9-CFC5-751F-89C5-D6278ACC6B3B}"/>
              </a:ext>
            </a:extLst>
          </p:cNvPr>
          <p:cNvSpPr txBox="1"/>
          <p:nvPr/>
        </p:nvSpPr>
        <p:spPr>
          <a:xfrm>
            <a:off x="609600" y="1792029"/>
            <a:ext cx="10972800" cy="646331"/>
          </a:xfrm>
          <a:prstGeom prst="rect">
            <a:avLst/>
          </a:prstGeom>
          <a:noFill/>
        </p:spPr>
        <p:txBody>
          <a:bodyPr wrap="square">
            <a:spAutoFit/>
          </a:bodyPr>
          <a:lstStyle/>
          <a:p>
            <a:pPr marL="285750" indent="-285750">
              <a:buFont typeface="Arial" panose="020B0604020202020204" pitchFamily="34" charset="0"/>
              <a:buChar char="•"/>
            </a:pPr>
            <a:r>
              <a:rPr lang="en-US" sz="1800" dirty="0"/>
              <a:t>The differences in the UC/</a:t>
            </a:r>
            <a:r>
              <a:rPr lang="en-US" sz="1800" dirty="0" err="1"/>
              <a:t>PuC</a:t>
            </a:r>
            <a:r>
              <a:rPr lang="en-US" sz="1800" dirty="0"/>
              <a:t> diagrams are mainly due to (i) the presence of Pu3C2 compound, (ii) the low thermal stability of </a:t>
            </a:r>
            <a:r>
              <a:rPr lang="en-US" sz="1800" dirty="0" err="1"/>
              <a:t>PuC</a:t>
            </a:r>
            <a:r>
              <a:rPr lang="en-US" sz="1800" dirty="0"/>
              <a:t> compared to UC, and (iii) the high stability of Pu2C3 compared to U2C3</a:t>
            </a:r>
          </a:p>
        </p:txBody>
      </p:sp>
    </p:spTree>
    <p:extLst>
      <p:ext uri="{BB962C8B-B14F-4D97-AF65-F5344CB8AC3E}">
        <p14:creationId xmlns:p14="http://schemas.microsoft.com/office/powerpoint/2010/main" val="3561921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E25F-60CE-CE4A-B120-09555536AC60}"/>
              </a:ext>
            </a:extLst>
          </p:cNvPr>
          <p:cNvSpPr>
            <a:spLocks noGrp="1"/>
          </p:cNvSpPr>
          <p:nvPr>
            <p:ph type="title"/>
          </p:nvPr>
        </p:nvSpPr>
        <p:spPr/>
        <p:txBody>
          <a:bodyPr/>
          <a:lstStyle/>
          <a:p>
            <a:r>
              <a:rPr lang="en-US" dirty="0"/>
              <a:t>Phase Properties</a:t>
            </a:r>
          </a:p>
        </p:txBody>
      </p:sp>
      <p:sp>
        <p:nvSpPr>
          <p:cNvPr id="3" name="Content Placeholder 2">
            <a:extLst>
              <a:ext uri="{FF2B5EF4-FFF2-40B4-BE49-F238E27FC236}">
                <a16:creationId xmlns:a16="http://schemas.microsoft.com/office/drawing/2014/main" id="{2A379551-B673-8D42-AB4A-B1CDA688DC56}"/>
              </a:ext>
            </a:extLst>
          </p:cNvPr>
          <p:cNvSpPr>
            <a:spLocks noGrp="1"/>
          </p:cNvSpPr>
          <p:nvPr>
            <p:ph sz="half" idx="1"/>
          </p:nvPr>
        </p:nvSpPr>
        <p:spPr/>
        <p:txBody>
          <a:bodyPr/>
          <a:lstStyle/>
          <a:p>
            <a:r>
              <a:rPr lang="en-US" sz="2200" dirty="0"/>
              <a:t>The brittleness of the monocarbides is due to alternate close-packed planes of metal and nonmetal atoms, restricting the slip and thereby hardening the crystal</a:t>
            </a:r>
          </a:p>
          <a:p>
            <a:r>
              <a:rPr lang="en-US" sz="2200" dirty="0"/>
              <a:t>Many fission products are not soluble in the monocarbide lattice due to the nature of the carbon bonding</a:t>
            </a:r>
          </a:p>
          <a:p>
            <a:r>
              <a:rPr lang="en-US" sz="2200" dirty="0"/>
              <a:t>The high density and low FP solubility of UC leads to higher swelling than UO2</a:t>
            </a:r>
          </a:p>
          <a:p>
            <a:endParaRPr lang="en-US" sz="2200" dirty="0"/>
          </a:p>
          <a:p>
            <a:endParaRPr lang="en-US" sz="2200" dirty="0"/>
          </a:p>
        </p:txBody>
      </p:sp>
      <p:sp>
        <p:nvSpPr>
          <p:cNvPr id="4" name="Content Placeholder 3">
            <a:extLst>
              <a:ext uri="{FF2B5EF4-FFF2-40B4-BE49-F238E27FC236}">
                <a16:creationId xmlns:a16="http://schemas.microsoft.com/office/drawing/2014/main" id="{7FE29DDC-36AD-F648-93C2-A2D2456A4805}"/>
              </a:ext>
            </a:extLst>
          </p:cNvPr>
          <p:cNvSpPr>
            <a:spLocks noGrp="1"/>
          </p:cNvSpPr>
          <p:nvPr>
            <p:ph sz="half" idx="2"/>
          </p:nvPr>
        </p:nvSpPr>
        <p:spPr/>
        <p:txBody>
          <a:bodyPr/>
          <a:lstStyle/>
          <a:p>
            <a:r>
              <a:rPr lang="en-US" sz="2200" dirty="0"/>
              <a:t>The U2C3 phase has more open space in the structure, and generally has less swelling than UC</a:t>
            </a:r>
          </a:p>
          <a:p>
            <a:r>
              <a:rPr lang="en-US" sz="2200" dirty="0"/>
              <a:t>An increase in O and N impurities results in an increase of carbon activity and CO pressure of the fuel</a:t>
            </a:r>
          </a:p>
          <a:p>
            <a:r>
              <a:rPr lang="en-US" sz="2200" dirty="0"/>
              <a:t>O impurities are also known to contribute to the actinide redistribution in carbide fuels and fuel restructuring during burnup</a:t>
            </a:r>
          </a:p>
          <a:p>
            <a:endParaRPr lang="en-US" sz="2200" dirty="0"/>
          </a:p>
        </p:txBody>
      </p:sp>
      <p:sp>
        <p:nvSpPr>
          <p:cNvPr id="5" name="Slide Number Placeholder 4">
            <a:extLst>
              <a:ext uri="{FF2B5EF4-FFF2-40B4-BE49-F238E27FC236}">
                <a16:creationId xmlns:a16="http://schemas.microsoft.com/office/drawing/2014/main" id="{642009A3-D16C-3D4E-81D1-A135A90A048A}"/>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382548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The thermophysical properties that are of importance and affect the fuel performance are solidus/liquidus temperature, thermal conductivity, coefficient of thermal expansion, elastic/fracture properties, creep, and hardness at ambient and at high temperatures</a:t>
            </a:r>
          </a:p>
          <a:p>
            <a:r>
              <a:rPr lang="en-US" sz="2200" dirty="0"/>
              <a:t>The solidus/liquidus temperatures along with thermal conductivity limit the fuel operating temperature in terms of linear heating rate</a:t>
            </a:r>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Thermal conductivity varies as a function of density, porosity (shape, size, and distribution), composition, presence of a second phase, grain size, etc.</a:t>
            </a:r>
          </a:p>
          <a:p>
            <a:r>
              <a:rPr lang="en-US" sz="2200" dirty="0"/>
              <a:t>Coefficient of thermal expansion is an important design parameter, the stresses generated in the fuel and by the fuel in the cladding are partly due to the difference in the CTE between the fuel and the cladding</a:t>
            </a:r>
          </a:p>
          <a:p>
            <a:endParaRPr lang="en-US" sz="2200" dirty="0"/>
          </a:p>
          <a:p>
            <a:endParaRPr lang="en-US" sz="2200" dirty="0"/>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965333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7BD0-C1CB-C349-A457-2C88A6EF970E}"/>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E9F86B96-B1AD-624F-8D43-C46F28840DB8}"/>
              </a:ext>
            </a:extLst>
          </p:cNvPr>
          <p:cNvSpPr>
            <a:spLocks noGrp="1"/>
          </p:cNvSpPr>
          <p:nvPr>
            <p:ph sz="half" idx="1"/>
          </p:nvPr>
        </p:nvSpPr>
        <p:spPr/>
        <p:txBody>
          <a:bodyPr/>
          <a:lstStyle/>
          <a:p>
            <a:r>
              <a:rPr lang="en-US" sz="2200" dirty="0"/>
              <a:t>The elastic and fracture properties of the fuel are primarily responsible for the extent and severity of FCMI</a:t>
            </a:r>
          </a:p>
          <a:p>
            <a:r>
              <a:rPr lang="en-US" sz="2200" dirty="0"/>
              <a:t>Both thermal-induced and irradiation- induced creep of the fuel also determine the extent of FCMI</a:t>
            </a:r>
          </a:p>
          <a:p>
            <a:r>
              <a:rPr lang="en-US" sz="2200" dirty="0"/>
              <a:t>Mechanical and creep properties depend on composition, second phases, grain size, etc.</a:t>
            </a:r>
          </a:p>
          <a:p>
            <a:r>
              <a:rPr lang="en-US" sz="2200" dirty="0"/>
              <a:t>Pu lowers melting point, decreases thermal conductivity, increases expansion, and softens the fuel</a:t>
            </a:r>
          </a:p>
          <a:p>
            <a:endParaRPr lang="en-US" sz="2200" dirty="0"/>
          </a:p>
          <a:p>
            <a:endParaRPr lang="en-US" sz="2200" dirty="0"/>
          </a:p>
        </p:txBody>
      </p:sp>
      <p:pic>
        <p:nvPicPr>
          <p:cNvPr id="6" name="Content Placeholder 5">
            <a:extLst>
              <a:ext uri="{FF2B5EF4-FFF2-40B4-BE49-F238E27FC236}">
                <a16:creationId xmlns:a16="http://schemas.microsoft.com/office/drawing/2014/main" id="{31A647DE-3829-494D-9F53-7F4BB235E734}"/>
              </a:ext>
            </a:extLst>
          </p:cNvPr>
          <p:cNvPicPr>
            <a:picLocks noGrp="1" noChangeAspect="1"/>
          </p:cNvPicPr>
          <p:nvPr>
            <p:ph sz="half" idx="2"/>
          </p:nvPr>
        </p:nvPicPr>
        <p:blipFill>
          <a:blip r:embed="rId2"/>
          <a:stretch>
            <a:fillRect/>
          </a:stretch>
        </p:blipFill>
        <p:spPr>
          <a:xfrm>
            <a:off x="6197600" y="2895151"/>
            <a:ext cx="5384800" cy="2304360"/>
          </a:xfrm>
          <a:prstGeom prst="rect">
            <a:avLst/>
          </a:prstGeom>
        </p:spPr>
      </p:pic>
      <p:sp>
        <p:nvSpPr>
          <p:cNvPr id="5" name="Slide Number Placeholder 4">
            <a:extLst>
              <a:ext uri="{FF2B5EF4-FFF2-40B4-BE49-F238E27FC236}">
                <a16:creationId xmlns:a16="http://schemas.microsoft.com/office/drawing/2014/main" id="{B4C3B9DF-A6BF-AF4B-9DEE-02BA4A2DDB5C}"/>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4175726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2D744-E000-D044-9BFC-6EE1C9CED3EF}"/>
              </a:ext>
            </a:extLst>
          </p:cNvPr>
          <p:cNvSpPr>
            <a:spLocks noGrp="1"/>
          </p:cNvSpPr>
          <p:nvPr>
            <p:ph type="title"/>
          </p:nvPr>
        </p:nvSpPr>
        <p:spPr/>
        <p:txBody>
          <a:bodyPr/>
          <a:lstStyle/>
          <a:p>
            <a:r>
              <a:rPr lang="en-US" dirty="0"/>
              <a:t>In-pile behavior</a:t>
            </a:r>
          </a:p>
        </p:txBody>
      </p:sp>
      <p:sp>
        <p:nvSpPr>
          <p:cNvPr id="3" name="Content Placeholder 2">
            <a:extLst>
              <a:ext uri="{FF2B5EF4-FFF2-40B4-BE49-F238E27FC236}">
                <a16:creationId xmlns:a16="http://schemas.microsoft.com/office/drawing/2014/main" id="{1DCFBD09-66E9-F641-BD46-4D986467D8B8}"/>
              </a:ext>
            </a:extLst>
          </p:cNvPr>
          <p:cNvSpPr>
            <a:spLocks noGrp="1"/>
          </p:cNvSpPr>
          <p:nvPr>
            <p:ph sz="half" idx="1"/>
          </p:nvPr>
        </p:nvSpPr>
        <p:spPr>
          <a:xfrm>
            <a:off x="609599" y="1968503"/>
            <a:ext cx="10972799" cy="4157663"/>
          </a:xfrm>
        </p:spPr>
        <p:txBody>
          <a:bodyPr/>
          <a:lstStyle/>
          <a:p>
            <a:r>
              <a:rPr lang="en-US" sz="2100" dirty="0"/>
              <a:t>The in-pile fuel behavior depends to a large extent on the fuel operating temperature, which in turn depends on the type of pin or bond concept, namely, He-bonded fuel or Na-bonded fuel</a:t>
            </a:r>
          </a:p>
          <a:p>
            <a:r>
              <a:rPr lang="en-US" sz="2100" dirty="0"/>
              <a:t>A large number of mixed carbide fuels have been irradiated in the US, Europe, Russia, India, and Japan</a:t>
            </a:r>
          </a:p>
          <a:p>
            <a:r>
              <a:rPr lang="en-US" sz="2100" dirty="0"/>
              <a:t>The performance analysis of the mixed carbide fuel can be best understood based on their burnup period, the structural changes occurring during the burnup, and subsequently the swelling of the pin</a:t>
            </a:r>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331414E0-D9C5-CD48-876D-85B98E715584}"/>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1754100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141D-3C90-5041-9E09-F750A9C6B96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5D452DFC-4943-064B-902E-2AF9A1B3FDF7}"/>
              </a:ext>
            </a:extLst>
          </p:cNvPr>
          <p:cNvSpPr>
            <a:spLocks noGrp="1"/>
          </p:cNvSpPr>
          <p:nvPr>
            <p:ph sz="half" idx="1"/>
          </p:nvPr>
        </p:nvSpPr>
        <p:spPr/>
        <p:txBody>
          <a:bodyPr/>
          <a:lstStyle/>
          <a:p>
            <a:r>
              <a:rPr lang="en-US" sz="2200" dirty="0"/>
              <a:t>This is for He-bonded fuels</a:t>
            </a:r>
          </a:p>
          <a:p>
            <a:r>
              <a:rPr lang="en-US" sz="2200" dirty="0"/>
              <a:t>Stage A: At the BOL, the fuel undergoes cracking, which results in the movement of the fragmented fuel toward the cladding surface</a:t>
            </a:r>
          </a:p>
          <a:p>
            <a:r>
              <a:rPr lang="en-US" sz="2200" dirty="0"/>
              <a:t>The fuel–clad gap partly reduces but does not close</a:t>
            </a:r>
          </a:p>
          <a:p>
            <a:r>
              <a:rPr lang="en-US" sz="2200" dirty="0"/>
              <a:t>Fuel sees a dramatic increase in temperature due to cracking</a:t>
            </a:r>
          </a:p>
          <a:p>
            <a:r>
              <a:rPr lang="en-US" sz="2200" dirty="0"/>
              <a:t>Stage A lasts for a few days</a:t>
            </a:r>
          </a:p>
          <a:p>
            <a:endParaRPr lang="en-US" sz="2200" dirty="0"/>
          </a:p>
          <a:p>
            <a:endParaRPr lang="en-US" sz="2200" dirty="0"/>
          </a:p>
        </p:txBody>
      </p:sp>
      <p:sp>
        <p:nvSpPr>
          <p:cNvPr id="5" name="Slide Number Placeholder 4">
            <a:extLst>
              <a:ext uri="{FF2B5EF4-FFF2-40B4-BE49-F238E27FC236}">
                <a16:creationId xmlns:a16="http://schemas.microsoft.com/office/drawing/2014/main" id="{811183AE-E984-6142-A43B-2C01C9421B30}"/>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pic>
        <p:nvPicPr>
          <p:cNvPr id="6" name="Content Placeholder 5">
            <a:extLst>
              <a:ext uri="{FF2B5EF4-FFF2-40B4-BE49-F238E27FC236}">
                <a16:creationId xmlns:a16="http://schemas.microsoft.com/office/drawing/2014/main" id="{FD8D3293-6A26-6DA2-2193-C80B0A1FC7FF}"/>
              </a:ext>
            </a:extLst>
          </p:cNvPr>
          <p:cNvPicPr>
            <a:picLocks noChangeAspect="1"/>
          </p:cNvPicPr>
          <p:nvPr/>
        </p:nvPicPr>
        <p:blipFill>
          <a:blip r:embed="rId2"/>
          <a:stretch>
            <a:fillRect/>
          </a:stretch>
        </p:blipFill>
        <p:spPr bwMode="auto">
          <a:xfrm>
            <a:off x="6375779" y="1968500"/>
            <a:ext cx="5028441"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217928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pPr algn="l"/>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a:xfrm>
            <a:off x="609600" y="1968503"/>
            <a:ext cx="5593492" cy="4157663"/>
          </a:xfrm>
        </p:spPr>
        <p:txBody>
          <a:bodyPr/>
          <a:lstStyle/>
          <a:p>
            <a:r>
              <a:rPr lang="en-US" sz="2000" dirty="0"/>
              <a:t>Stage B: Fuel undergoes unrestrained free swelling, crack healing, or </a:t>
            </a:r>
            <a:r>
              <a:rPr lang="en-US" sz="2000" dirty="0" err="1"/>
              <a:t>resintering</a:t>
            </a:r>
            <a:endParaRPr lang="en-US" sz="2000" dirty="0"/>
          </a:p>
          <a:p>
            <a:r>
              <a:rPr lang="en-US" sz="2000" dirty="0" err="1"/>
              <a:t>Resintering</a:t>
            </a:r>
            <a:r>
              <a:rPr lang="en-US" sz="2000" dirty="0"/>
              <a:t>/densification occurs for thermally unstable (high Pu high O) or low-density fuels, which causes an initial increase in gap size resulting in the rise in the fuel surface temperature</a:t>
            </a:r>
          </a:p>
          <a:p>
            <a:r>
              <a:rPr lang="en-US" sz="2000" dirty="0"/>
              <a:t>In stage B, free swelling occurs and crack healing starts, which results in the relocation of fuel fragments further from the center of the fuel to the periphery</a:t>
            </a:r>
          </a:p>
          <a:p>
            <a:r>
              <a:rPr lang="en-US" sz="2000" dirty="0">
                <a:latin typeface="Arial" panose="020B0604020202020204" pitchFamily="34" charset="0"/>
                <a:cs typeface="Arial" panose="020B0604020202020204" pitchFamily="34" charset="0"/>
              </a:rPr>
              <a:t>Swelling causes fuel–clad gap closure, increase in heat transfer coefficient, and decrease in fuel surface temperature</a:t>
            </a:r>
            <a:endParaRPr lang="en-US" sz="2000" dirty="0"/>
          </a:p>
          <a:p>
            <a:endParaRPr lang="en-US" sz="20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816537" y="724144"/>
            <a:ext cx="4292187" cy="3548907"/>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
        <p:nvSpPr>
          <p:cNvPr id="7" name="TextBox 6">
            <a:extLst>
              <a:ext uri="{FF2B5EF4-FFF2-40B4-BE49-F238E27FC236}">
                <a16:creationId xmlns:a16="http://schemas.microsoft.com/office/drawing/2014/main" id="{97E2CC9F-1EC5-FF6B-3BD7-545B8186DD70}"/>
              </a:ext>
            </a:extLst>
          </p:cNvPr>
          <p:cNvSpPr txBox="1"/>
          <p:nvPr/>
        </p:nvSpPr>
        <p:spPr>
          <a:xfrm>
            <a:off x="6300575" y="4427830"/>
            <a:ext cx="5281825"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Surface roughness of fuel and cladding limits complete gap closure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FCMI begins due to the swelling of the fuel</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Stage B ends after a burnup of approximately 3 at.%</a:t>
            </a:r>
          </a:p>
        </p:txBody>
      </p:sp>
    </p:spTree>
    <p:extLst>
      <p:ext uri="{BB962C8B-B14F-4D97-AF65-F5344CB8AC3E}">
        <p14:creationId xmlns:p14="http://schemas.microsoft.com/office/powerpoint/2010/main" val="2840788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p:txBody>
          <a:bodyPr/>
          <a:lstStyle/>
          <a:p>
            <a:r>
              <a:rPr lang="en-US" sz="2200" dirty="0"/>
              <a:t>Stage C</a:t>
            </a:r>
          </a:p>
          <a:p>
            <a:r>
              <a:rPr lang="en-US" sz="2200" dirty="0"/>
              <a:t>This stage starts after fuel–clad gap closure when a steady minimum surface temperature is reached, and it continues until the end of fuel life</a:t>
            </a:r>
          </a:p>
          <a:p>
            <a:r>
              <a:rPr lang="en-US" sz="2200" dirty="0"/>
              <a:t>For carbide fuel, this could be up to 15 at.%</a:t>
            </a:r>
          </a:p>
          <a:p>
            <a:r>
              <a:rPr lang="en-US" sz="2200" dirty="0"/>
              <a:t>At this stage, more homogeneous fuel–cladding interaction starts</a:t>
            </a:r>
          </a:p>
          <a:p>
            <a:endParaRPr lang="en-US" sz="22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375779" y="1968500"/>
            <a:ext cx="5028441" cy="4157663"/>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1977332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4640-DF1D-FB49-94B5-5506D71652F4}"/>
              </a:ext>
            </a:extLst>
          </p:cNvPr>
          <p:cNvSpPr>
            <a:spLocks noGrp="1"/>
          </p:cNvSpPr>
          <p:nvPr>
            <p:ph type="title"/>
          </p:nvPr>
        </p:nvSpPr>
        <p:spPr/>
        <p:txBody>
          <a:bodyPr/>
          <a:lstStyle/>
          <a:p>
            <a:r>
              <a:rPr lang="en-US" dirty="0"/>
              <a:t>Evolution with Burnup</a:t>
            </a:r>
          </a:p>
        </p:txBody>
      </p:sp>
      <p:sp>
        <p:nvSpPr>
          <p:cNvPr id="3" name="Content Placeholder 2">
            <a:extLst>
              <a:ext uri="{FF2B5EF4-FFF2-40B4-BE49-F238E27FC236}">
                <a16:creationId xmlns:a16="http://schemas.microsoft.com/office/drawing/2014/main" id="{B3A7F127-3731-D349-B319-1C8E850C9FAC}"/>
              </a:ext>
            </a:extLst>
          </p:cNvPr>
          <p:cNvSpPr>
            <a:spLocks noGrp="1"/>
          </p:cNvSpPr>
          <p:nvPr>
            <p:ph sz="half" idx="1"/>
          </p:nvPr>
        </p:nvSpPr>
        <p:spPr/>
        <p:txBody>
          <a:bodyPr/>
          <a:lstStyle/>
          <a:p>
            <a:r>
              <a:rPr lang="en-US" sz="2200" dirty="0"/>
              <a:t>Carbide fuel containing 70% and 55% </a:t>
            </a:r>
            <a:r>
              <a:rPr lang="en-US" sz="2200" dirty="0" err="1"/>
              <a:t>PuC</a:t>
            </a:r>
            <a:r>
              <a:rPr lang="en-US" sz="2200" dirty="0"/>
              <a:t> was used as the driver fuel for FBTR</a:t>
            </a:r>
          </a:p>
          <a:p>
            <a:r>
              <a:rPr lang="en-US" sz="2200" dirty="0"/>
              <a:t>PIE at burnups of 2.5, 5, 10, and 15.5 at.% shows the evolution of the pin</a:t>
            </a:r>
          </a:p>
          <a:p>
            <a:r>
              <a:rPr lang="en-US" sz="2200" dirty="0"/>
              <a:t>After 10 at.% burnup, the gaps had closed at the center of the fuel column</a:t>
            </a:r>
          </a:p>
          <a:p>
            <a:r>
              <a:rPr lang="en-US" sz="2200" dirty="0"/>
              <a:t>Circumferential cracks due to thermal stresses formed, and a discrete zone free from any porosity is observed near the outer region at high BU</a:t>
            </a:r>
          </a:p>
          <a:p>
            <a:endParaRPr lang="en-US" sz="2200" dirty="0"/>
          </a:p>
        </p:txBody>
      </p:sp>
      <p:pic>
        <p:nvPicPr>
          <p:cNvPr id="6" name="Content Placeholder 5">
            <a:extLst>
              <a:ext uri="{FF2B5EF4-FFF2-40B4-BE49-F238E27FC236}">
                <a16:creationId xmlns:a16="http://schemas.microsoft.com/office/drawing/2014/main" id="{E83B4E8B-2878-B645-8E1F-D820120AB115}"/>
              </a:ext>
            </a:extLst>
          </p:cNvPr>
          <p:cNvPicPr>
            <a:picLocks noGrp="1" noChangeAspect="1"/>
          </p:cNvPicPr>
          <p:nvPr>
            <p:ph sz="half" idx="2"/>
          </p:nvPr>
        </p:nvPicPr>
        <p:blipFill>
          <a:blip r:embed="rId2"/>
          <a:stretch>
            <a:fillRect/>
          </a:stretch>
        </p:blipFill>
        <p:spPr>
          <a:xfrm>
            <a:off x="6786361" y="1968500"/>
            <a:ext cx="4207277" cy="4157663"/>
          </a:xfrm>
          <a:prstGeom prst="rect">
            <a:avLst/>
          </a:prstGeom>
        </p:spPr>
      </p:pic>
      <p:sp>
        <p:nvSpPr>
          <p:cNvPr id="5" name="Slide Number Placeholder 4">
            <a:extLst>
              <a:ext uri="{FF2B5EF4-FFF2-40B4-BE49-F238E27FC236}">
                <a16:creationId xmlns:a16="http://schemas.microsoft.com/office/drawing/2014/main" id="{9AFA862D-D2D6-A443-8EDC-0AE07D98744F}"/>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spTree>
    <p:extLst>
      <p:ext uri="{BB962C8B-B14F-4D97-AF65-F5344CB8AC3E}">
        <p14:creationId xmlns:p14="http://schemas.microsoft.com/office/powerpoint/2010/main" val="2568546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D49A-EA4A-B8B4-960A-D400C39F2137}"/>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A999E45D-1DE4-B3B8-5C02-014A87490EAD}"/>
              </a:ext>
            </a:extLst>
          </p:cNvPr>
          <p:cNvSpPr>
            <a:spLocks noGrp="1"/>
          </p:cNvSpPr>
          <p:nvPr>
            <p:ph sz="half" idx="1"/>
          </p:nvPr>
        </p:nvSpPr>
        <p:spPr/>
        <p:txBody>
          <a:bodyPr/>
          <a:lstStyle/>
          <a:p>
            <a:r>
              <a:rPr lang="en-US" sz="2100" dirty="0"/>
              <a:t>FGR in carbide fuel pins is lower than oxide fuel pins, mainly due to lower temperatures</a:t>
            </a:r>
          </a:p>
          <a:p>
            <a:r>
              <a:rPr lang="en-US" sz="2100" dirty="0"/>
              <a:t>Release rates from carbide are &lt;1% at temperatures below 900 C but rise to about 5%–10% with temperature rising to 1200 C</a:t>
            </a:r>
          </a:p>
          <a:p>
            <a:r>
              <a:rPr lang="en-US" sz="2100" dirty="0"/>
              <a:t>Above 1200 C, gas release is associated with bubble growth and interlinkage at grain boundaries, as in oxide fuels</a:t>
            </a:r>
          </a:p>
          <a:p>
            <a:r>
              <a:rPr lang="en-US" sz="2100" dirty="0"/>
              <a:t>Low density fuel releases more FG than high density, due to additional porosity</a:t>
            </a:r>
          </a:p>
        </p:txBody>
      </p:sp>
      <p:sp>
        <p:nvSpPr>
          <p:cNvPr id="5" name="Slide Number Placeholder 4">
            <a:extLst>
              <a:ext uri="{FF2B5EF4-FFF2-40B4-BE49-F238E27FC236}">
                <a16:creationId xmlns:a16="http://schemas.microsoft.com/office/drawing/2014/main" id="{31DC8237-7948-7FD4-ACB4-C545CA30FD6C}"/>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6" name="Picture 5">
            <a:extLst>
              <a:ext uri="{FF2B5EF4-FFF2-40B4-BE49-F238E27FC236}">
                <a16:creationId xmlns:a16="http://schemas.microsoft.com/office/drawing/2014/main" id="{32A9F9DB-F796-E962-8F37-A80971375A73}"/>
              </a:ext>
            </a:extLst>
          </p:cNvPr>
          <p:cNvPicPr>
            <a:picLocks noChangeAspect="1"/>
          </p:cNvPicPr>
          <p:nvPr/>
        </p:nvPicPr>
        <p:blipFill>
          <a:blip r:embed="rId2"/>
          <a:stretch>
            <a:fillRect/>
          </a:stretch>
        </p:blipFill>
        <p:spPr>
          <a:xfrm>
            <a:off x="6616361" y="3036890"/>
            <a:ext cx="4641839" cy="3442262"/>
          </a:xfrm>
          <a:prstGeom prst="rect">
            <a:avLst/>
          </a:prstGeom>
        </p:spPr>
      </p:pic>
      <p:sp>
        <p:nvSpPr>
          <p:cNvPr id="7" name="Content Placeholder 2">
            <a:extLst>
              <a:ext uri="{FF2B5EF4-FFF2-40B4-BE49-F238E27FC236}">
                <a16:creationId xmlns:a16="http://schemas.microsoft.com/office/drawing/2014/main" id="{448F6FB8-4D17-8EFF-3914-094323A3E41A}"/>
              </a:ext>
            </a:extLst>
          </p:cNvPr>
          <p:cNvSpPr txBox="1">
            <a:spLocks/>
          </p:cNvSpPr>
          <p:nvPr/>
        </p:nvSpPr>
        <p:spPr bwMode="auto">
          <a:xfrm>
            <a:off x="6244881" y="1968503"/>
            <a:ext cx="5384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100" dirty="0"/>
              <a:t>Off-stoichiometry also promotes porosity, and thus increases FGR</a:t>
            </a:r>
          </a:p>
        </p:txBody>
      </p:sp>
    </p:spTree>
    <p:extLst>
      <p:ext uri="{BB962C8B-B14F-4D97-AF65-F5344CB8AC3E}">
        <p14:creationId xmlns:p14="http://schemas.microsoft.com/office/powerpoint/2010/main" val="1614688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B3D9-356C-5149-B5F4-11759BA64F33}"/>
              </a:ext>
            </a:extLst>
          </p:cNvPr>
          <p:cNvSpPr>
            <a:spLocks noGrp="1"/>
          </p:cNvSpPr>
          <p:nvPr>
            <p:ph type="title"/>
          </p:nvPr>
        </p:nvSpPr>
        <p:spPr/>
        <p:txBody>
          <a:bodyPr/>
          <a:lstStyle/>
          <a:p>
            <a:pPr algn="l"/>
            <a:r>
              <a:rPr lang="en-US" dirty="0"/>
              <a:t>Fuel Restructuring</a:t>
            </a:r>
          </a:p>
        </p:txBody>
      </p:sp>
      <p:sp>
        <p:nvSpPr>
          <p:cNvPr id="3" name="Content Placeholder 2">
            <a:extLst>
              <a:ext uri="{FF2B5EF4-FFF2-40B4-BE49-F238E27FC236}">
                <a16:creationId xmlns:a16="http://schemas.microsoft.com/office/drawing/2014/main" id="{80CBEEA6-7587-E34D-8183-6BA915E867B7}"/>
              </a:ext>
            </a:extLst>
          </p:cNvPr>
          <p:cNvSpPr>
            <a:spLocks noGrp="1"/>
          </p:cNvSpPr>
          <p:nvPr>
            <p:ph sz="half" idx="1"/>
          </p:nvPr>
        </p:nvSpPr>
        <p:spPr>
          <a:xfrm>
            <a:off x="609599" y="1968503"/>
            <a:ext cx="6258339" cy="4157663"/>
          </a:xfrm>
        </p:spPr>
        <p:txBody>
          <a:bodyPr/>
          <a:lstStyle/>
          <a:p>
            <a:r>
              <a:rPr lang="en-US" sz="2200" dirty="0"/>
              <a:t>The cross section can be divided into four structural zones, becomes well defined when the fuel sees a burnup of 1.3 at.%.</a:t>
            </a:r>
          </a:p>
          <a:p>
            <a:r>
              <a:rPr lang="en-US" sz="2200" dirty="0"/>
              <a:t>Zone 1 is the porous fuel at the center having high temperature and helps in the release of fission gases</a:t>
            </a:r>
          </a:p>
          <a:p>
            <a:r>
              <a:rPr lang="en-US" sz="2200" dirty="0"/>
              <a:t>Zone 3 contributes to high microscopic swelling</a:t>
            </a:r>
          </a:p>
          <a:p>
            <a:r>
              <a:rPr lang="en-US" sz="2200" dirty="0"/>
              <a:t>Zone-IV is the coolest zone of the fuel cross section, which is next to the fuel cladding</a:t>
            </a:r>
          </a:p>
          <a:p>
            <a:r>
              <a:rPr lang="en-US" sz="2200" dirty="0"/>
              <a:t>Zone 2 is an intermediate zone that only exists at very high heating rate (&gt;100 kW/m)</a:t>
            </a:r>
          </a:p>
        </p:txBody>
      </p:sp>
      <p:pic>
        <p:nvPicPr>
          <p:cNvPr id="6" name="Content Placeholder 5">
            <a:extLst>
              <a:ext uri="{FF2B5EF4-FFF2-40B4-BE49-F238E27FC236}">
                <a16:creationId xmlns:a16="http://schemas.microsoft.com/office/drawing/2014/main" id="{E36BB84A-6C41-114A-9933-13CF96713ACF}"/>
              </a:ext>
            </a:extLst>
          </p:cNvPr>
          <p:cNvPicPr>
            <a:picLocks noGrp="1" noChangeAspect="1"/>
          </p:cNvPicPr>
          <p:nvPr>
            <p:ph sz="half" idx="2"/>
          </p:nvPr>
        </p:nvPicPr>
        <p:blipFill>
          <a:blip r:embed="rId2"/>
          <a:stretch>
            <a:fillRect/>
          </a:stretch>
        </p:blipFill>
        <p:spPr>
          <a:xfrm>
            <a:off x="6867938" y="731834"/>
            <a:ext cx="5121966" cy="2926837"/>
          </a:xfrm>
          <a:prstGeom prst="rect">
            <a:avLst/>
          </a:prstGeom>
        </p:spPr>
      </p:pic>
      <p:sp>
        <p:nvSpPr>
          <p:cNvPr id="5" name="Slide Number Placeholder 4">
            <a:extLst>
              <a:ext uri="{FF2B5EF4-FFF2-40B4-BE49-F238E27FC236}">
                <a16:creationId xmlns:a16="http://schemas.microsoft.com/office/drawing/2014/main" id="{A879EFB7-CD5F-294E-A5DE-953354EE3431}"/>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pic>
        <p:nvPicPr>
          <p:cNvPr id="4" name="Picture 3">
            <a:extLst>
              <a:ext uri="{FF2B5EF4-FFF2-40B4-BE49-F238E27FC236}">
                <a16:creationId xmlns:a16="http://schemas.microsoft.com/office/drawing/2014/main" id="{9B93A01D-5932-86E7-3240-10017BA7E182}"/>
              </a:ext>
            </a:extLst>
          </p:cNvPr>
          <p:cNvPicPr>
            <a:picLocks noChangeAspect="1"/>
          </p:cNvPicPr>
          <p:nvPr/>
        </p:nvPicPr>
        <p:blipFill>
          <a:blip r:embed="rId3"/>
          <a:stretch>
            <a:fillRect/>
          </a:stretch>
        </p:blipFill>
        <p:spPr>
          <a:xfrm>
            <a:off x="7822895" y="3811083"/>
            <a:ext cx="3038694" cy="2910394"/>
          </a:xfrm>
          <a:prstGeom prst="rect">
            <a:avLst/>
          </a:prstGeom>
        </p:spPr>
      </p:pic>
    </p:spTree>
    <p:extLst>
      <p:ext uri="{BB962C8B-B14F-4D97-AF65-F5344CB8AC3E}">
        <p14:creationId xmlns:p14="http://schemas.microsoft.com/office/powerpoint/2010/main" val="2007270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65C3-02BB-261D-68B7-EB6517FA6561}"/>
              </a:ext>
            </a:extLst>
          </p:cNvPr>
          <p:cNvSpPr>
            <a:spLocks noGrp="1"/>
          </p:cNvSpPr>
          <p:nvPr>
            <p:ph type="title"/>
          </p:nvPr>
        </p:nvSpPr>
        <p:spPr/>
        <p:txBody>
          <a:bodyPr/>
          <a:lstStyle/>
          <a:p>
            <a:r>
              <a:rPr lang="en-US" dirty="0"/>
              <a:t>Fuel Restructuring</a:t>
            </a:r>
          </a:p>
        </p:txBody>
      </p:sp>
      <p:sp>
        <p:nvSpPr>
          <p:cNvPr id="3" name="Content Placeholder 2">
            <a:extLst>
              <a:ext uri="{FF2B5EF4-FFF2-40B4-BE49-F238E27FC236}">
                <a16:creationId xmlns:a16="http://schemas.microsoft.com/office/drawing/2014/main" id="{7215AA0E-4A26-B8EE-F45D-139F0CFD054F}"/>
              </a:ext>
            </a:extLst>
          </p:cNvPr>
          <p:cNvSpPr>
            <a:spLocks noGrp="1"/>
          </p:cNvSpPr>
          <p:nvPr>
            <p:ph sz="half" idx="1"/>
          </p:nvPr>
        </p:nvSpPr>
        <p:spPr/>
        <p:txBody>
          <a:bodyPr/>
          <a:lstStyle/>
          <a:p>
            <a:r>
              <a:rPr lang="en-US" sz="2000" dirty="0"/>
              <a:t>Zone 1 has large bubbles, interconnected porosity</a:t>
            </a:r>
          </a:p>
          <a:p>
            <a:r>
              <a:rPr lang="en-US" sz="2000" dirty="0"/>
              <a:t>Zone 2 exhibits grain growth parallel to the temperature gradient, similar to columnar grains in MOX fuel</a:t>
            </a:r>
          </a:p>
          <a:p>
            <a:r>
              <a:rPr lang="en-US" sz="2000" dirty="0"/>
              <a:t>Zone 3 has coaxial grain growth and developed porosity</a:t>
            </a:r>
          </a:p>
          <a:p>
            <a:r>
              <a:rPr lang="en-US" sz="2000" dirty="0"/>
              <a:t>Zone 4 typically has a stable grain size and near as-fabricated porosity</a:t>
            </a:r>
          </a:p>
          <a:p>
            <a:r>
              <a:rPr lang="en-US" sz="2000" dirty="0"/>
              <a:t>Zone 2 does not always form, expected to form at higher temperatures</a:t>
            </a:r>
          </a:p>
          <a:p>
            <a:r>
              <a:rPr lang="en-US" sz="2000" dirty="0"/>
              <a:t>At low LHR (&lt;50 kW/m) no restructuring is observed</a:t>
            </a:r>
          </a:p>
        </p:txBody>
      </p:sp>
      <p:sp>
        <p:nvSpPr>
          <p:cNvPr id="5" name="Slide Number Placeholder 4">
            <a:extLst>
              <a:ext uri="{FF2B5EF4-FFF2-40B4-BE49-F238E27FC236}">
                <a16:creationId xmlns:a16="http://schemas.microsoft.com/office/drawing/2014/main" id="{5C8D2553-0A69-41AB-1062-90339E436772}"/>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pic>
        <p:nvPicPr>
          <p:cNvPr id="6" name="Picture 5">
            <a:extLst>
              <a:ext uri="{FF2B5EF4-FFF2-40B4-BE49-F238E27FC236}">
                <a16:creationId xmlns:a16="http://schemas.microsoft.com/office/drawing/2014/main" id="{91716736-2983-3F3D-8D05-5F3E7147EF82}"/>
              </a:ext>
            </a:extLst>
          </p:cNvPr>
          <p:cNvPicPr>
            <a:picLocks noChangeAspect="1"/>
          </p:cNvPicPr>
          <p:nvPr/>
        </p:nvPicPr>
        <p:blipFill>
          <a:blip r:embed="rId2"/>
          <a:stretch>
            <a:fillRect/>
          </a:stretch>
        </p:blipFill>
        <p:spPr>
          <a:xfrm>
            <a:off x="6379535" y="2198686"/>
            <a:ext cx="5525386" cy="3840143"/>
          </a:xfrm>
          <a:prstGeom prst="rect">
            <a:avLst/>
          </a:prstGeom>
        </p:spPr>
      </p:pic>
    </p:spTree>
    <p:extLst>
      <p:ext uri="{BB962C8B-B14F-4D97-AF65-F5344CB8AC3E}">
        <p14:creationId xmlns:p14="http://schemas.microsoft.com/office/powerpoint/2010/main" val="3715104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20B4-04F5-5946-919D-43D3DA89DCF8}"/>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2663EC6E-FA02-8448-9425-E7410F109E11}"/>
              </a:ext>
            </a:extLst>
          </p:cNvPr>
          <p:cNvSpPr>
            <a:spLocks noGrp="1"/>
          </p:cNvSpPr>
          <p:nvPr>
            <p:ph sz="half" idx="1"/>
          </p:nvPr>
        </p:nvSpPr>
        <p:spPr/>
        <p:txBody>
          <a:bodyPr/>
          <a:lstStyle/>
          <a:p>
            <a:r>
              <a:rPr lang="en-US" sz="2100" dirty="0"/>
              <a:t>The source of stresses in the fuel under irradiation is the pressure generated by fission gases produced within the fuel</a:t>
            </a:r>
          </a:p>
          <a:p>
            <a:r>
              <a:rPr lang="en-US" sz="2100" dirty="0"/>
              <a:t>After the fuel–clad gap closure, free swelling is restrained, and a back stress is generated by the cladding on the fuel</a:t>
            </a:r>
          </a:p>
          <a:p>
            <a:r>
              <a:rPr lang="en-US" sz="2100" dirty="0"/>
              <a:t>Unlike close-packed metals, deformation of carbide requires much higher stresses because of the strong covalent bonding existing between the metal atom and the carbon atom</a:t>
            </a:r>
          </a:p>
          <a:p>
            <a:endParaRPr lang="en-US" sz="2100" dirty="0"/>
          </a:p>
          <a:p>
            <a:endParaRPr lang="en-US" sz="2100" dirty="0"/>
          </a:p>
        </p:txBody>
      </p:sp>
      <p:sp>
        <p:nvSpPr>
          <p:cNvPr id="4" name="Content Placeholder 3">
            <a:extLst>
              <a:ext uri="{FF2B5EF4-FFF2-40B4-BE49-F238E27FC236}">
                <a16:creationId xmlns:a16="http://schemas.microsoft.com/office/drawing/2014/main" id="{58F2877A-5245-1F41-80D8-E54BB2F0D1A1}"/>
              </a:ext>
            </a:extLst>
          </p:cNvPr>
          <p:cNvSpPr>
            <a:spLocks noGrp="1"/>
          </p:cNvSpPr>
          <p:nvPr>
            <p:ph sz="half" idx="2"/>
          </p:nvPr>
        </p:nvSpPr>
        <p:spPr/>
        <p:txBody>
          <a:bodyPr/>
          <a:lstStyle/>
          <a:p>
            <a:r>
              <a:rPr lang="en-US" sz="2100" dirty="0"/>
              <a:t>Two types of creep deformation are operative in the fuel: temperature-dependent thermal creep and irradiation creep</a:t>
            </a:r>
          </a:p>
          <a:p>
            <a:r>
              <a:rPr lang="en-US" sz="2100" dirty="0"/>
              <a:t>Thermal creep has been shown to start at 1000C and dominate over radiation-induced creep</a:t>
            </a:r>
          </a:p>
          <a:p>
            <a:r>
              <a:rPr lang="en-US" sz="2100" dirty="0"/>
              <a:t>The steady-state creep curve has been determined and is a function of stress, temperature, composition, grain size, and impurity content in the fuel</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93308527-A6B9-8C4F-A7D4-40338BD8240E}"/>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pic>
        <p:nvPicPr>
          <p:cNvPr id="6" name="Picture 5">
            <a:extLst>
              <a:ext uri="{FF2B5EF4-FFF2-40B4-BE49-F238E27FC236}">
                <a16:creationId xmlns:a16="http://schemas.microsoft.com/office/drawing/2014/main" id="{2C6EFCC3-E64C-0143-B508-7037282D792F}"/>
              </a:ext>
            </a:extLst>
          </p:cNvPr>
          <p:cNvPicPr>
            <a:picLocks noChangeAspect="1"/>
          </p:cNvPicPr>
          <p:nvPr/>
        </p:nvPicPr>
        <p:blipFill>
          <a:blip r:embed="rId2"/>
          <a:stretch>
            <a:fillRect/>
          </a:stretch>
        </p:blipFill>
        <p:spPr>
          <a:xfrm>
            <a:off x="7470771" y="5745959"/>
            <a:ext cx="3073400" cy="495300"/>
          </a:xfrm>
          <a:prstGeom prst="rect">
            <a:avLst/>
          </a:prstGeom>
        </p:spPr>
      </p:pic>
    </p:spTree>
    <p:extLst>
      <p:ext uri="{BB962C8B-B14F-4D97-AF65-F5344CB8AC3E}">
        <p14:creationId xmlns:p14="http://schemas.microsoft.com/office/powerpoint/2010/main" val="2224256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D379-85E2-8C48-B463-C6C9DEF2CC0E}"/>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7E738109-D3A1-5947-8F14-59A941A4A071}"/>
              </a:ext>
            </a:extLst>
          </p:cNvPr>
          <p:cNvSpPr>
            <a:spLocks noGrp="1"/>
          </p:cNvSpPr>
          <p:nvPr>
            <p:ph sz="half" idx="1"/>
          </p:nvPr>
        </p:nvSpPr>
        <p:spPr/>
        <p:txBody>
          <a:bodyPr/>
          <a:lstStyle/>
          <a:p>
            <a:r>
              <a:rPr lang="en-US" sz="2200" dirty="0"/>
              <a:t>Steady-state creep data of UC</a:t>
            </a:r>
            <a:r>
              <a:rPr lang="en-US" sz="2200" baseline="-25000" dirty="0"/>
              <a:t>1-x</a:t>
            </a:r>
            <a:r>
              <a:rPr lang="en-US" sz="2200" dirty="0"/>
              <a:t> and MC</a:t>
            </a:r>
            <a:r>
              <a:rPr lang="en-US" sz="2200" baseline="-25000" dirty="0"/>
              <a:t>1+x </a:t>
            </a:r>
            <a:r>
              <a:rPr lang="en-US" sz="2200" dirty="0"/>
              <a:t>at a stress of 20 MPa</a:t>
            </a:r>
          </a:p>
          <a:p>
            <a:r>
              <a:rPr lang="en-US" sz="2200" dirty="0"/>
              <a:t>Substantial creep only exists for a limited part of the fuel, and thus most of the fuel acts as a brittle material</a:t>
            </a:r>
          </a:p>
          <a:p>
            <a:r>
              <a:rPr lang="en-US" sz="2200" dirty="0"/>
              <a:t>Irradiation-induced creep is independent of temperature, but increases with fluence</a:t>
            </a:r>
          </a:p>
          <a:p>
            <a:r>
              <a:rPr lang="en-US" sz="2200" dirty="0"/>
              <a:t>Additional porosity or second phases will change this data</a:t>
            </a:r>
          </a:p>
          <a:p>
            <a:r>
              <a:rPr lang="en-US" sz="2200" dirty="0"/>
              <a:t>No data on creep of high-Pu mixed carbide or Pu-C fuel</a:t>
            </a:r>
          </a:p>
          <a:p>
            <a:endParaRPr lang="en-US" sz="2200" dirty="0"/>
          </a:p>
        </p:txBody>
      </p:sp>
      <p:pic>
        <p:nvPicPr>
          <p:cNvPr id="6" name="Content Placeholder 5">
            <a:extLst>
              <a:ext uri="{FF2B5EF4-FFF2-40B4-BE49-F238E27FC236}">
                <a16:creationId xmlns:a16="http://schemas.microsoft.com/office/drawing/2014/main" id="{CCBA3258-14E2-F747-8881-F9AB93BBF392}"/>
              </a:ext>
            </a:extLst>
          </p:cNvPr>
          <p:cNvPicPr>
            <a:picLocks noGrp="1" noChangeAspect="1"/>
          </p:cNvPicPr>
          <p:nvPr>
            <p:ph sz="half" idx="2"/>
          </p:nvPr>
        </p:nvPicPr>
        <p:blipFill>
          <a:blip r:embed="rId2"/>
          <a:stretch>
            <a:fillRect/>
          </a:stretch>
        </p:blipFill>
        <p:spPr>
          <a:xfrm>
            <a:off x="6515674" y="1968500"/>
            <a:ext cx="4748652" cy="4157663"/>
          </a:xfrm>
          <a:prstGeom prst="rect">
            <a:avLst/>
          </a:prstGeom>
        </p:spPr>
      </p:pic>
      <p:sp>
        <p:nvSpPr>
          <p:cNvPr id="5" name="Slide Number Placeholder 4">
            <a:extLst>
              <a:ext uri="{FF2B5EF4-FFF2-40B4-BE49-F238E27FC236}">
                <a16:creationId xmlns:a16="http://schemas.microsoft.com/office/drawing/2014/main" id="{0547AD18-E84D-744F-BC73-937207A9DA5E}"/>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3363150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C897-965B-FBFB-76CF-216C30E92EC6}"/>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24470E15-C187-7F16-4A87-E0C4DBD1E2A6}"/>
              </a:ext>
            </a:extLst>
          </p:cNvPr>
          <p:cNvSpPr>
            <a:spLocks noGrp="1"/>
          </p:cNvSpPr>
          <p:nvPr>
            <p:ph idx="1"/>
          </p:nvPr>
        </p:nvSpPr>
        <p:spPr>
          <a:xfrm>
            <a:off x="609600" y="2280746"/>
            <a:ext cx="11049000" cy="3845418"/>
          </a:xfrm>
        </p:spPr>
        <p:txBody>
          <a:bodyPr/>
          <a:lstStyle/>
          <a:p>
            <a:r>
              <a:rPr lang="en-US" sz="2200" dirty="0"/>
              <a:t>FCCI in fuel pins containing carbide fuel consists of clad carburization, slight reaction with FPs, and formation of intermetallic compounds</a:t>
            </a:r>
          </a:p>
          <a:p>
            <a:r>
              <a:rPr lang="en-US" sz="2200" dirty="0"/>
              <a:t>Carbides generally present fewer compatibility problems than MOX fuels</a:t>
            </a:r>
          </a:p>
          <a:p>
            <a:endParaRPr lang="en-US" sz="2200" dirty="0"/>
          </a:p>
          <a:p>
            <a:r>
              <a:rPr lang="en-US" sz="2200" dirty="0"/>
              <a:t>Chemical Reactions with FPs</a:t>
            </a:r>
          </a:p>
          <a:p>
            <a:r>
              <a:rPr lang="en-US" sz="2200" dirty="0"/>
              <a:t>Very little available oxygen leads to FP-C interactions, and we have an expected decrease in C/M ratio with burnup</a:t>
            </a:r>
          </a:p>
          <a:p>
            <a:r>
              <a:rPr lang="en-US" sz="2200" dirty="0"/>
              <a:t>Significant FP-cladding interactions are generally not seen</a:t>
            </a:r>
          </a:p>
          <a:p>
            <a:r>
              <a:rPr lang="en-US" sz="2200" dirty="0"/>
              <a:t>Some </a:t>
            </a:r>
            <a:r>
              <a:rPr lang="en-US" sz="2200" dirty="0" err="1"/>
              <a:t>Te</a:t>
            </a:r>
            <a:r>
              <a:rPr lang="en-US" sz="2200" dirty="0"/>
              <a:t> intergranular attack, some reaction with iodine</a:t>
            </a:r>
          </a:p>
          <a:p>
            <a:r>
              <a:rPr lang="en-US" sz="2200" dirty="0"/>
              <a:t>Generally not a concern</a:t>
            </a:r>
          </a:p>
        </p:txBody>
      </p:sp>
      <p:sp>
        <p:nvSpPr>
          <p:cNvPr id="4" name="Slide Number Placeholder 3">
            <a:extLst>
              <a:ext uri="{FF2B5EF4-FFF2-40B4-BE49-F238E27FC236}">
                <a16:creationId xmlns:a16="http://schemas.microsoft.com/office/drawing/2014/main" id="{FCFA43EA-FB96-454B-E4E8-C684D8816D28}"/>
              </a:ext>
            </a:extLst>
          </p:cNvPr>
          <p:cNvSpPr>
            <a:spLocks noGrp="1"/>
          </p:cNvSpPr>
          <p:nvPr>
            <p:ph type="sldNum" sz="quarter" idx="12"/>
          </p:nvPr>
        </p:nvSpPr>
        <p:spPr/>
        <p:txBody>
          <a:bodyPr/>
          <a:lstStyle/>
          <a:p>
            <a:pPr>
              <a:defRPr/>
            </a:pPr>
            <a:fld id="{3FF2C605-4958-CF43-AA48-80339EFDB0AF}" type="slidenum">
              <a:rPr lang="en-US" smtClean="0"/>
              <a:pPr>
                <a:defRPr/>
              </a:pPr>
              <a:t>34</a:t>
            </a:fld>
            <a:endParaRPr lang="en-US"/>
          </a:p>
        </p:txBody>
      </p:sp>
    </p:spTree>
    <p:extLst>
      <p:ext uri="{BB962C8B-B14F-4D97-AF65-F5344CB8AC3E}">
        <p14:creationId xmlns:p14="http://schemas.microsoft.com/office/powerpoint/2010/main" val="3168539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2375-AC17-3744-E7C8-C8D8D4E92E84}"/>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CB297D54-CB37-BDFA-462A-3020B03DF626}"/>
              </a:ext>
            </a:extLst>
          </p:cNvPr>
          <p:cNvSpPr>
            <a:spLocks noGrp="1"/>
          </p:cNvSpPr>
          <p:nvPr>
            <p:ph idx="1"/>
          </p:nvPr>
        </p:nvSpPr>
        <p:spPr>
          <a:xfrm>
            <a:off x="609600" y="1979771"/>
            <a:ext cx="6063752" cy="3845418"/>
          </a:xfrm>
        </p:spPr>
        <p:txBody>
          <a:bodyPr/>
          <a:lstStyle/>
          <a:p>
            <a:r>
              <a:rPr lang="en-US" sz="2000" dirty="0"/>
              <a:t>Low melting phases</a:t>
            </a:r>
          </a:p>
          <a:p>
            <a:r>
              <a:rPr lang="en-US" sz="2000" dirty="0" err="1"/>
              <a:t>Hypostoichiometric</a:t>
            </a:r>
            <a:r>
              <a:rPr lang="en-US" sz="2000" dirty="0"/>
              <a:t> carbide fuels can contain U/Pu metal as a second phase which can form intermetallic compounds with the cladding </a:t>
            </a:r>
          </a:p>
          <a:p>
            <a:r>
              <a:rPr lang="en-US" sz="2000" dirty="0"/>
              <a:t>Experimental compatibility tests of (</a:t>
            </a:r>
            <a:r>
              <a:rPr lang="en-US" sz="2000" dirty="0" err="1"/>
              <a:t>U,Pu</a:t>
            </a:r>
            <a:r>
              <a:rPr lang="en-US" sz="2000" dirty="0"/>
              <a:t>)C with cladding have shown intermetallic compounds such as (</a:t>
            </a:r>
            <a:r>
              <a:rPr lang="en-US" sz="2000" dirty="0" err="1"/>
              <a:t>U,Pu</a:t>
            </a:r>
            <a:r>
              <a:rPr lang="en-US" sz="2000" dirty="0"/>
              <a:t>)Fe2 or (</a:t>
            </a:r>
            <a:r>
              <a:rPr lang="en-US" sz="2000" dirty="0" err="1"/>
              <a:t>U,Pu</a:t>
            </a:r>
            <a:r>
              <a:rPr lang="en-US" sz="2000" dirty="0"/>
              <a:t>)Ni5 in the fuel and cladding interface</a:t>
            </a:r>
          </a:p>
          <a:p>
            <a:r>
              <a:rPr lang="en-US" sz="2000" dirty="0"/>
              <a:t>At typical fuel surface temperatures (~1000K), reaction rates should be slow to create </a:t>
            </a:r>
            <a:r>
              <a:rPr lang="en-US" sz="2000" dirty="0" err="1"/>
              <a:t>intermetallics</a:t>
            </a:r>
            <a:endParaRPr lang="en-US" sz="2000" dirty="0"/>
          </a:p>
          <a:p>
            <a:r>
              <a:rPr lang="en-US" sz="2000" dirty="0"/>
              <a:t>However, if sufficient </a:t>
            </a:r>
            <a:r>
              <a:rPr lang="en-US" sz="2000" dirty="0" err="1"/>
              <a:t>hypostoichiometry</a:t>
            </a:r>
            <a:r>
              <a:rPr lang="en-US" sz="2000" dirty="0"/>
              <a:t> is present, can react to form </a:t>
            </a:r>
            <a:r>
              <a:rPr lang="en-US" sz="2000" dirty="0" err="1"/>
              <a:t>intermetallics</a:t>
            </a:r>
            <a:endParaRPr lang="en-US" sz="2000" dirty="0"/>
          </a:p>
        </p:txBody>
      </p:sp>
      <p:sp>
        <p:nvSpPr>
          <p:cNvPr id="4" name="Slide Number Placeholder 3">
            <a:extLst>
              <a:ext uri="{FF2B5EF4-FFF2-40B4-BE49-F238E27FC236}">
                <a16:creationId xmlns:a16="http://schemas.microsoft.com/office/drawing/2014/main" id="{6A942C26-3FA4-9E24-15B8-3F9260109E80}"/>
              </a:ext>
            </a:extLst>
          </p:cNvPr>
          <p:cNvSpPr>
            <a:spLocks noGrp="1"/>
          </p:cNvSpPr>
          <p:nvPr>
            <p:ph type="sldNum" sz="quarter" idx="12"/>
          </p:nvPr>
        </p:nvSpPr>
        <p:spPr/>
        <p:txBody>
          <a:bodyPr/>
          <a:lstStyle/>
          <a:p>
            <a:pPr>
              <a:defRPr/>
            </a:pPr>
            <a:fld id="{3FF2C605-4958-CF43-AA48-80339EFDB0AF}" type="slidenum">
              <a:rPr lang="en-US" smtClean="0"/>
              <a:pPr>
                <a:defRPr/>
              </a:pPr>
              <a:t>35</a:t>
            </a:fld>
            <a:endParaRPr lang="en-US"/>
          </a:p>
        </p:txBody>
      </p:sp>
      <p:pic>
        <p:nvPicPr>
          <p:cNvPr id="5" name="Picture 4">
            <a:extLst>
              <a:ext uri="{FF2B5EF4-FFF2-40B4-BE49-F238E27FC236}">
                <a16:creationId xmlns:a16="http://schemas.microsoft.com/office/drawing/2014/main" id="{08886E78-5489-AA64-26D5-5A7E04720613}"/>
              </a:ext>
            </a:extLst>
          </p:cNvPr>
          <p:cNvPicPr>
            <a:picLocks noChangeAspect="1"/>
          </p:cNvPicPr>
          <p:nvPr/>
        </p:nvPicPr>
        <p:blipFill>
          <a:blip r:embed="rId2"/>
          <a:stretch>
            <a:fillRect/>
          </a:stretch>
        </p:blipFill>
        <p:spPr>
          <a:xfrm>
            <a:off x="6673352" y="2280746"/>
            <a:ext cx="5391036" cy="3435856"/>
          </a:xfrm>
          <a:prstGeom prst="rect">
            <a:avLst/>
          </a:prstGeom>
        </p:spPr>
      </p:pic>
    </p:spTree>
    <p:extLst>
      <p:ext uri="{BB962C8B-B14F-4D97-AF65-F5344CB8AC3E}">
        <p14:creationId xmlns:p14="http://schemas.microsoft.com/office/powerpoint/2010/main" val="482171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Carbide fuels are designed to be </a:t>
            </a:r>
            <a:r>
              <a:rPr lang="en-US" sz="2100" dirty="0" err="1"/>
              <a:t>hyperstoichiometric</a:t>
            </a:r>
            <a:r>
              <a:rPr lang="en-US" sz="2100" dirty="0"/>
              <a:t>, which results in a two-phase UC/U2C3 microstructure</a:t>
            </a:r>
          </a:p>
          <a:p>
            <a:r>
              <a:rPr lang="en-US" sz="2100" dirty="0"/>
              <a:t>The presence of excess carbon prevents the formation of intermetallic phases, but carburizes the cladding</a:t>
            </a:r>
          </a:p>
          <a:p>
            <a:r>
              <a:rPr lang="en-US" sz="2100" dirty="0"/>
              <a:t>The decarburization of fuel and the carburization of cladding are governed by the dissolution of carbon atoms from the fuel and then diffusion into cladding</a:t>
            </a:r>
          </a:p>
          <a:p>
            <a:r>
              <a:rPr lang="en-US" sz="2100" dirty="0"/>
              <a:t>Cr forms very stable carbides, and carburization often takes the form of Cr23C6 precipitation</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36</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709222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Cr23C6 precipitation starts at the grain boundaries, and then can proceed along preferred crystallographic planes</a:t>
            </a:r>
          </a:p>
          <a:p>
            <a:r>
              <a:rPr lang="en-US" sz="2100" dirty="0"/>
              <a:t>The carburization proceeds deeper into the material </a:t>
            </a:r>
          </a:p>
          <a:p>
            <a:r>
              <a:rPr lang="en-US" sz="2100" dirty="0"/>
              <a:t>The grain boundary carbides can lead to intragranular failure of the steel after only a moderate burnup</a:t>
            </a:r>
          </a:p>
          <a:p>
            <a:r>
              <a:rPr lang="en-US" sz="2100" dirty="0"/>
              <a:t>Austenitic stainless steels are very susceptible to carburization and are deemed too brittle if carbon content reaches 0.6 wt.%</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37</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2249529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231E-8AAC-964E-A06F-EF9D74A99DD0}"/>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91B37BB5-6F3C-F242-B4BD-2D5F8C74EDEC}"/>
              </a:ext>
            </a:extLst>
          </p:cNvPr>
          <p:cNvSpPr>
            <a:spLocks noGrp="1"/>
          </p:cNvSpPr>
          <p:nvPr>
            <p:ph sz="half" idx="1"/>
          </p:nvPr>
        </p:nvSpPr>
        <p:spPr/>
        <p:txBody>
          <a:bodyPr/>
          <a:lstStyle/>
          <a:p>
            <a:r>
              <a:rPr lang="en-US" sz="2100" dirty="0"/>
              <a:t>Carbon activity and partial pressure of CO are important parameters responsible for clad carburization</a:t>
            </a:r>
          </a:p>
          <a:p>
            <a:r>
              <a:rPr lang="en-US" sz="2100" dirty="0"/>
              <a:t>In sodium-bonded fuel, carbon transfer from the fuel to the clad takes place by dissolution of carbon in sodium liquid</a:t>
            </a:r>
          </a:p>
          <a:p>
            <a:r>
              <a:rPr lang="en-US" sz="2100" dirty="0"/>
              <a:t>In He-bonded fuel pins, carbon transfer takes place through CO</a:t>
            </a:r>
          </a:p>
          <a:p>
            <a:r>
              <a:rPr lang="en-US" sz="2100" dirty="0"/>
              <a:t>Out-of-pile testing with Na-bonded fuel showed carburization above 1000 K, with hardening of the SS316 cladding up to 100 </a:t>
            </a:r>
            <a:r>
              <a:rPr lang="en-US" sz="2100" dirty="0">
                <a:latin typeface="Symbol" pitchFamily="2" charset="2"/>
              </a:rPr>
              <a:t>m</a:t>
            </a:r>
            <a:r>
              <a:rPr lang="en-US" sz="2100" dirty="0"/>
              <a:t>m</a:t>
            </a:r>
          </a:p>
          <a:p>
            <a:endParaRPr lang="en-US" sz="2100" dirty="0"/>
          </a:p>
          <a:p>
            <a:endParaRPr lang="en-US" sz="2100" dirty="0"/>
          </a:p>
          <a:p>
            <a:endParaRPr lang="en-US" sz="2100" dirty="0"/>
          </a:p>
        </p:txBody>
      </p:sp>
      <p:sp>
        <p:nvSpPr>
          <p:cNvPr id="4" name="Content Placeholder 3">
            <a:extLst>
              <a:ext uri="{FF2B5EF4-FFF2-40B4-BE49-F238E27FC236}">
                <a16:creationId xmlns:a16="http://schemas.microsoft.com/office/drawing/2014/main" id="{E1338D9A-AFBA-7646-ABFF-BEAB0AF8912C}"/>
              </a:ext>
            </a:extLst>
          </p:cNvPr>
          <p:cNvSpPr>
            <a:spLocks noGrp="1"/>
          </p:cNvSpPr>
          <p:nvPr>
            <p:ph sz="half" idx="2"/>
          </p:nvPr>
        </p:nvSpPr>
        <p:spPr/>
        <p:txBody>
          <a:bodyPr/>
          <a:lstStyle/>
          <a:p>
            <a:r>
              <a:rPr lang="en-US" sz="2100" dirty="0"/>
              <a:t>The depth of carburization in Na-bonded fuel was greater than in the He-bonded pins</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453BBA4C-DA88-8E43-B437-B017FE4E3130}"/>
              </a:ext>
            </a:extLst>
          </p:cNvPr>
          <p:cNvSpPr>
            <a:spLocks noGrp="1"/>
          </p:cNvSpPr>
          <p:nvPr>
            <p:ph type="sldNum" sz="quarter" idx="12"/>
          </p:nvPr>
        </p:nvSpPr>
        <p:spPr/>
        <p:txBody>
          <a:bodyPr/>
          <a:lstStyle/>
          <a:p>
            <a:pPr>
              <a:defRPr/>
            </a:pPr>
            <a:fld id="{EC35E9FC-F6D5-0349-BBED-EA7D7A9BC49B}" type="slidenum">
              <a:rPr lang="en-US" smtClean="0"/>
              <a:pPr>
                <a:defRPr/>
              </a:pPr>
              <a:t>38</a:t>
            </a:fld>
            <a:endParaRPr lang="en-US"/>
          </a:p>
        </p:txBody>
      </p:sp>
      <p:pic>
        <p:nvPicPr>
          <p:cNvPr id="6" name="Picture 5">
            <a:extLst>
              <a:ext uri="{FF2B5EF4-FFF2-40B4-BE49-F238E27FC236}">
                <a16:creationId xmlns:a16="http://schemas.microsoft.com/office/drawing/2014/main" id="{BE9AADD8-7DBE-4B49-92DB-6B3121016BE4}"/>
              </a:ext>
            </a:extLst>
          </p:cNvPr>
          <p:cNvPicPr>
            <a:picLocks noChangeAspect="1"/>
          </p:cNvPicPr>
          <p:nvPr/>
        </p:nvPicPr>
        <p:blipFill>
          <a:blip r:embed="rId2"/>
          <a:stretch>
            <a:fillRect/>
          </a:stretch>
        </p:blipFill>
        <p:spPr>
          <a:xfrm>
            <a:off x="7036802" y="3090028"/>
            <a:ext cx="4033954" cy="3151231"/>
          </a:xfrm>
          <a:prstGeom prst="rect">
            <a:avLst/>
          </a:prstGeom>
        </p:spPr>
      </p:pic>
    </p:spTree>
    <p:extLst>
      <p:ext uri="{BB962C8B-B14F-4D97-AF65-F5344CB8AC3E}">
        <p14:creationId xmlns:p14="http://schemas.microsoft.com/office/powerpoint/2010/main" val="8846370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3D24-FC54-9AF6-EF4F-A5F620DC5488}"/>
              </a:ext>
            </a:extLst>
          </p:cNvPr>
          <p:cNvSpPr>
            <a:spLocks noGrp="1"/>
          </p:cNvSpPr>
          <p:nvPr>
            <p:ph type="title"/>
          </p:nvPr>
        </p:nvSpPr>
        <p:spPr/>
        <p:txBody>
          <a:bodyPr/>
          <a:lstStyle/>
          <a:p>
            <a:pPr algn="l"/>
            <a:r>
              <a:rPr lang="en-US" dirty="0"/>
              <a:t>Cladding Carburization</a:t>
            </a:r>
          </a:p>
        </p:txBody>
      </p:sp>
      <p:sp>
        <p:nvSpPr>
          <p:cNvPr id="3" name="Content Placeholder 2">
            <a:extLst>
              <a:ext uri="{FF2B5EF4-FFF2-40B4-BE49-F238E27FC236}">
                <a16:creationId xmlns:a16="http://schemas.microsoft.com/office/drawing/2014/main" id="{C772BD14-0D73-D3EC-67E3-AEEEA6E67621}"/>
              </a:ext>
            </a:extLst>
          </p:cNvPr>
          <p:cNvSpPr>
            <a:spLocks noGrp="1"/>
          </p:cNvSpPr>
          <p:nvPr>
            <p:ph sz="half" idx="1"/>
          </p:nvPr>
        </p:nvSpPr>
        <p:spPr>
          <a:xfrm>
            <a:off x="609600" y="1968503"/>
            <a:ext cx="6165774" cy="4157663"/>
          </a:xfrm>
        </p:spPr>
        <p:txBody>
          <a:bodyPr/>
          <a:lstStyle/>
          <a:p>
            <a:r>
              <a:rPr lang="en-US" sz="2200" dirty="0"/>
              <a:t>Cladding temperature plays a critical role in carburization</a:t>
            </a:r>
          </a:p>
          <a:p>
            <a:r>
              <a:rPr lang="en-US" sz="2200" dirty="0"/>
              <a:t>The temperature gradient in the fuel causes carbon to migrate to colder zones in the fuel, increasing the C/M ratio at the pellet surface</a:t>
            </a:r>
          </a:p>
          <a:p>
            <a:r>
              <a:rPr lang="en-US" sz="2200" dirty="0"/>
              <a:t>Carburization depth shows a strong dependence on cladding temperature</a:t>
            </a:r>
          </a:p>
          <a:p>
            <a:r>
              <a:rPr lang="en-US" sz="2200" dirty="0"/>
              <a:t>Carbon penetration seems to follow a diffusion process with a constant surface concentration</a:t>
            </a:r>
          </a:p>
        </p:txBody>
      </p:sp>
      <p:sp>
        <p:nvSpPr>
          <p:cNvPr id="5" name="Slide Number Placeholder 4">
            <a:extLst>
              <a:ext uri="{FF2B5EF4-FFF2-40B4-BE49-F238E27FC236}">
                <a16:creationId xmlns:a16="http://schemas.microsoft.com/office/drawing/2014/main" id="{0E40CBC2-6FB4-E7B8-7426-3CFF511F03DD}"/>
              </a:ext>
            </a:extLst>
          </p:cNvPr>
          <p:cNvSpPr>
            <a:spLocks noGrp="1"/>
          </p:cNvSpPr>
          <p:nvPr>
            <p:ph type="sldNum" sz="quarter" idx="12"/>
          </p:nvPr>
        </p:nvSpPr>
        <p:spPr/>
        <p:txBody>
          <a:bodyPr/>
          <a:lstStyle/>
          <a:p>
            <a:pPr>
              <a:defRPr/>
            </a:pPr>
            <a:fld id="{EC35E9FC-F6D5-0349-BBED-EA7D7A9BC49B}" type="slidenum">
              <a:rPr lang="en-US" smtClean="0"/>
              <a:pPr>
                <a:defRPr/>
              </a:pPr>
              <a:t>39</a:t>
            </a:fld>
            <a:endParaRPr lang="en-US" dirty="0"/>
          </a:p>
        </p:txBody>
      </p:sp>
      <p:pic>
        <p:nvPicPr>
          <p:cNvPr id="6" name="Picture 5">
            <a:extLst>
              <a:ext uri="{FF2B5EF4-FFF2-40B4-BE49-F238E27FC236}">
                <a16:creationId xmlns:a16="http://schemas.microsoft.com/office/drawing/2014/main" id="{2F4EF5C3-866B-CF04-D534-C03159D25FA3}"/>
              </a:ext>
            </a:extLst>
          </p:cNvPr>
          <p:cNvPicPr>
            <a:picLocks noChangeAspect="1"/>
          </p:cNvPicPr>
          <p:nvPr/>
        </p:nvPicPr>
        <p:blipFill>
          <a:blip r:embed="rId2"/>
          <a:stretch>
            <a:fillRect/>
          </a:stretch>
        </p:blipFill>
        <p:spPr>
          <a:xfrm>
            <a:off x="7866121" y="646744"/>
            <a:ext cx="2930409" cy="3520425"/>
          </a:xfrm>
          <a:prstGeom prst="rect">
            <a:avLst/>
          </a:prstGeom>
        </p:spPr>
      </p:pic>
      <p:pic>
        <p:nvPicPr>
          <p:cNvPr id="7" name="Picture 6">
            <a:extLst>
              <a:ext uri="{FF2B5EF4-FFF2-40B4-BE49-F238E27FC236}">
                <a16:creationId xmlns:a16="http://schemas.microsoft.com/office/drawing/2014/main" id="{B6FF89CA-2B05-C910-76CD-4807407E3BCF}"/>
              </a:ext>
            </a:extLst>
          </p:cNvPr>
          <p:cNvPicPr>
            <a:picLocks noChangeAspect="1"/>
          </p:cNvPicPr>
          <p:nvPr/>
        </p:nvPicPr>
        <p:blipFill>
          <a:blip r:embed="rId3"/>
          <a:stretch>
            <a:fillRect/>
          </a:stretch>
        </p:blipFill>
        <p:spPr>
          <a:xfrm>
            <a:off x="7041652" y="4088673"/>
            <a:ext cx="4579345" cy="2554308"/>
          </a:xfrm>
          <a:prstGeom prst="rect">
            <a:avLst/>
          </a:prstGeom>
        </p:spPr>
      </p:pic>
    </p:spTree>
    <p:extLst>
      <p:ext uri="{BB962C8B-B14F-4D97-AF65-F5344CB8AC3E}">
        <p14:creationId xmlns:p14="http://schemas.microsoft.com/office/powerpoint/2010/main" val="1431375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F3873-5386-F247-8DA2-47E1C623ADC5}"/>
              </a:ext>
            </a:extLst>
          </p:cNvPr>
          <p:cNvSpPr>
            <a:spLocks noGrp="1"/>
          </p:cNvSpPr>
          <p:nvPr>
            <p:ph type="title"/>
          </p:nvPr>
        </p:nvSpPr>
        <p:spPr/>
        <p:txBody>
          <a:bodyPr/>
          <a:lstStyle/>
          <a:p>
            <a:r>
              <a:rPr lang="en-US" dirty="0"/>
              <a:t>Na Bonded Pin Performance</a:t>
            </a:r>
          </a:p>
        </p:txBody>
      </p:sp>
      <p:sp>
        <p:nvSpPr>
          <p:cNvPr id="3" name="Content Placeholder 2">
            <a:extLst>
              <a:ext uri="{FF2B5EF4-FFF2-40B4-BE49-F238E27FC236}">
                <a16:creationId xmlns:a16="http://schemas.microsoft.com/office/drawing/2014/main" id="{56B6F63D-A771-DE45-8101-D4A9AEF2411B}"/>
              </a:ext>
            </a:extLst>
          </p:cNvPr>
          <p:cNvSpPr>
            <a:spLocks noGrp="1"/>
          </p:cNvSpPr>
          <p:nvPr>
            <p:ph sz="half" idx="1"/>
          </p:nvPr>
        </p:nvSpPr>
        <p:spPr/>
        <p:txBody>
          <a:bodyPr/>
          <a:lstStyle/>
          <a:p>
            <a:r>
              <a:rPr lang="en-US" sz="2200" dirty="0"/>
              <a:t>For the sodium-bonded fuel pin, the smear density is lower than that of He-bonded fuel</a:t>
            </a:r>
          </a:p>
          <a:p>
            <a:r>
              <a:rPr lang="en-US" sz="2200" dirty="0"/>
              <a:t>This allows for the manufacture of a denser fuel with less initial porosity</a:t>
            </a:r>
          </a:p>
          <a:p>
            <a:r>
              <a:rPr lang="en-US" sz="2200" dirty="0"/>
              <a:t>In the beginning (stage A), the fresh fuel fractures, reducing thermoelastic stresses and drastically changing temperature gradient of the fuel</a:t>
            </a:r>
          </a:p>
          <a:p>
            <a:r>
              <a:rPr lang="en-US" sz="2200" dirty="0"/>
              <a:t>There is no abrupt change in fuel temperature in this concept</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910DA670-32E7-B64C-A6D8-A3D19EE03385}"/>
              </a:ext>
            </a:extLst>
          </p:cNvPr>
          <p:cNvSpPr>
            <a:spLocks noGrp="1"/>
          </p:cNvSpPr>
          <p:nvPr>
            <p:ph sz="half" idx="2"/>
          </p:nvPr>
        </p:nvSpPr>
        <p:spPr/>
        <p:txBody>
          <a:bodyPr/>
          <a:lstStyle/>
          <a:p>
            <a:r>
              <a:rPr lang="en-US" sz="2200" dirty="0"/>
              <a:t>The lower temperature of the sodium-bonded pin keeps the swelling rate of the fuel low</a:t>
            </a:r>
          </a:p>
          <a:p>
            <a:r>
              <a:rPr lang="en-US" sz="2200" dirty="0"/>
              <a:t>The decrease in thermal conductivity with burnup is compensated by a slow decrease in linear heating</a:t>
            </a:r>
          </a:p>
          <a:p>
            <a:r>
              <a:rPr lang="en-US" sz="2200" dirty="0"/>
              <a:t>FCMI can be avoided till end of life by proper selection of initial fuel–clad gap</a:t>
            </a:r>
          </a:p>
          <a:p>
            <a:r>
              <a:rPr lang="en-US" sz="2200" dirty="0"/>
              <a:t>Na bond acts like a medium for transfer of carbon from the fuel to clad, causing clad carburization</a:t>
            </a:r>
          </a:p>
          <a:p>
            <a:endParaRPr lang="en-US" sz="2200" dirty="0"/>
          </a:p>
        </p:txBody>
      </p:sp>
      <p:sp>
        <p:nvSpPr>
          <p:cNvPr id="5" name="Slide Number Placeholder 4">
            <a:extLst>
              <a:ext uri="{FF2B5EF4-FFF2-40B4-BE49-F238E27FC236}">
                <a16:creationId xmlns:a16="http://schemas.microsoft.com/office/drawing/2014/main" id="{E42F4415-1340-0E47-A56A-EE02F71051DD}"/>
              </a:ext>
            </a:extLst>
          </p:cNvPr>
          <p:cNvSpPr>
            <a:spLocks noGrp="1"/>
          </p:cNvSpPr>
          <p:nvPr>
            <p:ph type="sldNum" sz="quarter" idx="12"/>
          </p:nvPr>
        </p:nvSpPr>
        <p:spPr/>
        <p:txBody>
          <a:bodyPr/>
          <a:lstStyle/>
          <a:p>
            <a:pPr>
              <a:defRPr/>
            </a:pPr>
            <a:fld id="{EC35E9FC-F6D5-0349-BBED-EA7D7A9BC49B}" type="slidenum">
              <a:rPr lang="en-US" smtClean="0"/>
              <a:pPr>
                <a:defRPr/>
              </a:pPr>
              <a:t>40</a:t>
            </a:fld>
            <a:endParaRPr lang="en-US"/>
          </a:p>
        </p:txBody>
      </p:sp>
    </p:spTree>
    <p:extLst>
      <p:ext uri="{BB962C8B-B14F-4D97-AF65-F5344CB8AC3E}">
        <p14:creationId xmlns:p14="http://schemas.microsoft.com/office/powerpoint/2010/main" val="954672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C0A8-3A99-6C4A-8CE8-4C9370AB708F}"/>
              </a:ext>
            </a:extLst>
          </p:cNvPr>
          <p:cNvSpPr>
            <a:spLocks noGrp="1"/>
          </p:cNvSpPr>
          <p:nvPr>
            <p:ph type="title"/>
          </p:nvPr>
        </p:nvSpPr>
        <p:spPr/>
        <p:txBody>
          <a:bodyPr/>
          <a:lstStyle/>
          <a:p>
            <a:r>
              <a:rPr lang="en-US" dirty="0"/>
              <a:t>He Bonded Pin Performance</a:t>
            </a:r>
          </a:p>
        </p:txBody>
      </p:sp>
      <p:sp>
        <p:nvSpPr>
          <p:cNvPr id="3" name="Content Placeholder 2">
            <a:extLst>
              <a:ext uri="{FF2B5EF4-FFF2-40B4-BE49-F238E27FC236}">
                <a16:creationId xmlns:a16="http://schemas.microsoft.com/office/drawing/2014/main" id="{091D704D-D0CF-2F4A-90CB-4A3A624A8E37}"/>
              </a:ext>
            </a:extLst>
          </p:cNvPr>
          <p:cNvSpPr>
            <a:spLocks noGrp="1"/>
          </p:cNvSpPr>
          <p:nvPr>
            <p:ph sz="half" idx="1"/>
          </p:nvPr>
        </p:nvSpPr>
        <p:spPr/>
        <p:txBody>
          <a:bodyPr/>
          <a:lstStyle/>
          <a:p>
            <a:r>
              <a:rPr lang="en-US" sz="2200" dirty="0"/>
              <a:t>He bonding is the most preferred bonding concept of carbide fuel, due to cost and the potential for Na bond deterioration at high burnup</a:t>
            </a:r>
          </a:p>
          <a:p>
            <a:r>
              <a:rPr lang="en-US" sz="2200" dirty="0"/>
              <a:t>The in-pile performance of the He-bonded pin depends to a large extent on the porosity of the as-fabricated fuel</a:t>
            </a:r>
          </a:p>
          <a:p>
            <a:r>
              <a:rPr lang="en-US" sz="2200" dirty="0"/>
              <a:t>The initial temperature rise is much higher at the beginning of life because of the lower thermal conductivity of the He bond compared to Na bond</a:t>
            </a:r>
          </a:p>
          <a:p>
            <a:endParaRPr lang="en-US" sz="2200" dirty="0"/>
          </a:p>
          <a:p>
            <a:endParaRPr lang="en-US" sz="2200" dirty="0"/>
          </a:p>
        </p:txBody>
      </p:sp>
      <p:sp>
        <p:nvSpPr>
          <p:cNvPr id="4" name="Content Placeholder 3">
            <a:extLst>
              <a:ext uri="{FF2B5EF4-FFF2-40B4-BE49-F238E27FC236}">
                <a16:creationId xmlns:a16="http://schemas.microsoft.com/office/drawing/2014/main" id="{C5DAA208-1F4E-5A4F-92D6-F8657A037D6C}"/>
              </a:ext>
            </a:extLst>
          </p:cNvPr>
          <p:cNvSpPr>
            <a:spLocks noGrp="1"/>
          </p:cNvSpPr>
          <p:nvPr>
            <p:ph sz="half" idx="2"/>
          </p:nvPr>
        </p:nvSpPr>
        <p:spPr/>
        <p:txBody>
          <a:bodyPr/>
          <a:lstStyle/>
          <a:p>
            <a:r>
              <a:rPr lang="en-US" sz="2200" dirty="0"/>
              <a:t>The lower thermal conductivity of the He bond requires the reduction of the fuel–clad gap compared to the Na-bonded fuel</a:t>
            </a:r>
          </a:p>
          <a:p>
            <a:r>
              <a:rPr lang="en-US" sz="2200" dirty="0"/>
              <a:t>The fuel density for He bonded fuel is lower and has a fabrication porosity of about 15%</a:t>
            </a:r>
          </a:p>
          <a:p>
            <a:r>
              <a:rPr lang="en-US" sz="2200" dirty="0"/>
              <a:t>The gap closure in the early burnup period results in lowering of the fuel temperature, and free swelling changes into restrained swelling under the contact pressure developed at the clad–fuel interface</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2ACF5CC6-B869-C148-A2AA-543036CC9E9A}"/>
              </a:ext>
            </a:extLst>
          </p:cNvPr>
          <p:cNvSpPr>
            <a:spLocks noGrp="1"/>
          </p:cNvSpPr>
          <p:nvPr>
            <p:ph type="sldNum" sz="quarter" idx="12"/>
          </p:nvPr>
        </p:nvSpPr>
        <p:spPr/>
        <p:txBody>
          <a:bodyPr/>
          <a:lstStyle/>
          <a:p>
            <a:pPr>
              <a:defRPr/>
            </a:pPr>
            <a:fld id="{EC35E9FC-F6D5-0349-BBED-EA7D7A9BC49B}" type="slidenum">
              <a:rPr lang="en-US" smtClean="0"/>
              <a:pPr>
                <a:defRPr/>
              </a:pPr>
              <a:t>41</a:t>
            </a:fld>
            <a:endParaRPr lang="en-US"/>
          </a:p>
        </p:txBody>
      </p:sp>
    </p:spTree>
    <p:extLst>
      <p:ext uri="{BB962C8B-B14F-4D97-AF65-F5344CB8AC3E}">
        <p14:creationId xmlns:p14="http://schemas.microsoft.com/office/powerpoint/2010/main" val="3783063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30AE-423C-B045-8EFC-E024BFF6F1A5}"/>
              </a:ext>
            </a:extLst>
          </p:cNvPr>
          <p:cNvSpPr>
            <a:spLocks noGrp="1"/>
          </p:cNvSpPr>
          <p:nvPr>
            <p:ph type="title"/>
          </p:nvPr>
        </p:nvSpPr>
        <p:spPr/>
        <p:txBody>
          <a:bodyPr/>
          <a:lstStyle/>
          <a:p>
            <a:r>
              <a:rPr lang="en-US" dirty="0"/>
              <a:t>Pin Failure</a:t>
            </a:r>
          </a:p>
        </p:txBody>
      </p:sp>
      <p:sp>
        <p:nvSpPr>
          <p:cNvPr id="3" name="Content Placeholder 2">
            <a:extLst>
              <a:ext uri="{FF2B5EF4-FFF2-40B4-BE49-F238E27FC236}">
                <a16:creationId xmlns:a16="http://schemas.microsoft.com/office/drawing/2014/main" id="{5F9A25C5-080B-EE4D-95F9-3816449E4CBF}"/>
              </a:ext>
            </a:extLst>
          </p:cNvPr>
          <p:cNvSpPr>
            <a:spLocks noGrp="1"/>
          </p:cNvSpPr>
          <p:nvPr>
            <p:ph sz="half" idx="1"/>
          </p:nvPr>
        </p:nvSpPr>
        <p:spPr/>
        <p:txBody>
          <a:bodyPr/>
          <a:lstStyle/>
          <a:p>
            <a:r>
              <a:rPr lang="en-US" sz="2200" dirty="0"/>
              <a:t>The mechanical properties of the fuel and clad (creep, fracture toughness) largely predict the fuel behavior after gap closure</a:t>
            </a:r>
          </a:p>
          <a:p>
            <a:r>
              <a:rPr lang="en-US" sz="2200" dirty="0"/>
              <a:t>Cladding breaches due to FCMI or FCCI can be due to loss of ductility of the clad, carburization of the clad, or fuel swelling</a:t>
            </a:r>
          </a:p>
          <a:p>
            <a:r>
              <a:rPr lang="en-US" sz="2200" dirty="0"/>
              <a:t>Clad carburization makes the clad surface hard and brittle and cracks form and propagate easily</a:t>
            </a:r>
          </a:p>
          <a:p>
            <a:endParaRPr lang="en-US" sz="2200" dirty="0"/>
          </a:p>
          <a:p>
            <a:endParaRPr lang="en-US" sz="2200" dirty="0"/>
          </a:p>
        </p:txBody>
      </p:sp>
      <p:sp>
        <p:nvSpPr>
          <p:cNvPr id="4" name="Content Placeholder 3">
            <a:extLst>
              <a:ext uri="{FF2B5EF4-FFF2-40B4-BE49-F238E27FC236}">
                <a16:creationId xmlns:a16="http://schemas.microsoft.com/office/drawing/2014/main" id="{E5999640-EF72-094D-9A03-3EE5F89FEF4A}"/>
              </a:ext>
            </a:extLst>
          </p:cNvPr>
          <p:cNvSpPr>
            <a:spLocks noGrp="1"/>
          </p:cNvSpPr>
          <p:nvPr>
            <p:ph sz="half" idx="2"/>
          </p:nvPr>
        </p:nvSpPr>
        <p:spPr/>
        <p:txBody>
          <a:bodyPr/>
          <a:lstStyle/>
          <a:p>
            <a:r>
              <a:rPr lang="en-US" sz="2200" dirty="0"/>
              <a:t>It has been observed that the He-bonded pin can be operated safely up to 15 at.% burnup (peak burnup 20 at.%).</a:t>
            </a:r>
          </a:p>
          <a:p>
            <a:endParaRPr lang="en-US" sz="2200" dirty="0"/>
          </a:p>
        </p:txBody>
      </p:sp>
      <p:sp>
        <p:nvSpPr>
          <p:cNvPr id="5" name="Slide Number Placeholder 4">
            <a:extLst>
              <a:ext uri="{FF2B5EF4-FFF2-40B4-BE49-F238E27FC236}">
                <a16:creationId xmlns:a16="http://schemas.microsoft.com/office/drawing/2014/main" id="{A1733892-1E84-DE4E-A87C-5BF980BF3EFD}"/>
              </a:ext>
            </a:extLst>
          </p:cNvPr>
          <p:cNvSpPr>
            <a:spLocks noGrp="1"/>
          </p:cNvSpPr>
          <p:nvPr>
            <p:ph type="sldNum" sz="quarter" idx="12"/>
          </p:nvPr>
        </p:nvSpPr>
        <p:spPr/>
        <p:txBody>
          <a:bodyPr/>
          <a:lstStyle/>
          <a:p>
            <a:pPr>
              <a:defRPr/>
            </a:pPr>
            <a:fld id="{EC35E9FC-F6D5-0349-BBED-EA7D7A9BC49B}" type="slidenum">
              <a:rPr lang="en-US" smtClean="0"/>
              <a:pPr>
                <a:defRPr/>
              </a:pPr>
              <a:t>42</a:t>
            </a:fld>
            <a:endParaRPr lang="en-US"/>
          </a:p>
        </p:txBody>
      </p:sp>
    </p:spTree>
    <p:extLst>
      <p:ext uri="{BB962C8B-B14F-4D97-AF65-F5344CB8AC3E}">
        <p14:creationId xmlns:p14="http://schemas.microsoft.com/office/powerpoint/2010/main" val="729813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745F-EF43-0E44-A4D2-3CF8E1ABF2C3}"/>
              </a:ext>
            </a:extLst>
          </p:cNvPr>
          <p:cNvSpPr>
            <a:spLocks noGrp="1"/>
          </p:cNvSpPr>
          <p:nvPr>
            <p:ph type="title"/>
          </p:nvPr>
        </p:nvSpPr>
        <p:spPr/>
        <p:txBody>
          <a:bodyPr/>
          <a:lstStyle/>
          <a:p>
            <a:r>
              <a:rPr lang="en-US" dirty="0"/>
              <a:t>Carbide Fabrication</a:t>
            </a:r>
          </a:p>
        </p:txBody>
      </p:sp>
      <p:sp>
        <p:nvSpPr>
          <p:cNvPr id="3" name="Content Placeholder 2">
            <a:extLst>
              <a:ext uri="{FF2B5EF4-FFF2-40B4-BE49-F238E27FC236}">
                <a16:creationId xmlns:a16="http://schemas.microsoft.com/office/drawing/2014/main" id="{C5C7135E-14E0-BD40-A919-F45B00529D12}"/>
              </a:ext>
            </a:extLst>
          </p:cNvPr>
          <p:cNvSpPr>
            <a:spLocks noGrp="1"/>
          </p:cNvSpPr>
          <p:nvPr>
            <p:ph sz="half" idx="1"/>
          </p:nvPr>
        </p:nvSpPr>
        <p:spPr/>
        <p:txBody>
          <a:bodyPr/>
          <a:lstStyle/>
          <a:p>
            <a:r>
              <a:rPr lang="en-US" sz="2200" dirty="0"/>
              <a:t>Fabrication of carbide fuel on commercial scale is a difficult task and needs additional care because of its pyrophoricity, high radio toxicity, and the concern for criticality restricts the batch size</a:t>
            </a:r>
          </a:p>
          <a:p>
            <a:r>
              <a:rPr lang="en-US" sz="2200" dirty="0"/>
              <a:t>Carbide powders formed during carbothermic reduction of oxides are prone to oxidation and hydrolysis</a:t>
            </a:r>
          </a:p>
          <a:p>
            <a:r>
              <a:rPr lang="en-US" sz="2200" dirty="0"/>
              <a:t>This requires high-purity inert-gas cover in the fabrication line consisting of glove boxes</a:t>
            </a:r>
          </a:p>
          <a:p>
            <a:endParaRPr lang="en-US" sz="2200" dirty="0"/>
          </a:p>
        </p:txBody>
      </p:sp>
      <p:pic>
        <p:nvPicPr>
          <p:cNvPr id="6" name="Content Placeholder 5">
            <a:extLst>
              <a:ext uri="{FF2B5EF4-FFF2-40B4-BE49-F238E27FC236}">
                <a16:creationId xmlns:a16="http://schemas.microsoft.com/office/drawing/2014/main" id="{33E47E58-C22B-7942-A9CE-33F4CDB53572}"/>
              </a:ext>
            </a:extLst>
          </p:cNvPr>
          <p:cNvPicPr>
            <a:picLocks noGrp="1" noChangeAspect="1"/>
          </p:cNvPicPr>
          <p:nvPr>
            <p:ph sz="half" idx="2"/>
          </p:nvPr>
        </p:nvPicPr>
        <p:blipFill>
          <a:blip r:embed="rId2"/>
          <a:stretch>
            <a:fillRect/>
          </a:stretch>
        </p:blipFill>
        <p:spPr>
          <a:xfrm>
            <a:off x="6838950" y="2255988"/>
            <a:ext cx="4743450" cy="3292704"/>
          </a:xfrm>
          <a:prstGeom prst="rect">
            <a:avLst/>
          </a:prstGeom>
        </p:spPr>
      </p:pic>
      <p:sp>
        <p:nvSpPr>
          <p:cNvPr id="5" name="Slide Number Placeholder 4">
            <a:extLst>
              <a:ext uri="{FF2B5EF4-FFF2-40B4-BE49-F238E27FC236}">
                <a16:creationId xmlns:a16="http://schemas.microsoft.com/office/drawing/2014/main" id="{8ECA8B4C-CA57-F944-9CDA-DE95B01EC3EB}"/>
              </a:ext>
            </a:extLst>
          </p:cNvPr>
          <p:cNvSpPr>
            <a:spLocks noGrp="1"/>
          </p:cNvSpPr>
          <p:nvPr>
            <p:ph type="sldNum" sz="quarter" idx="12"/>
          </p:nvPr>
        </p:nvSpPr>
        <p:spPr/>
        <p:txBody>
          <a:bodyPr/>
          <a:lstStyle/>
          <a:p>
            <a:pPr>
              <a:defRPr/>
            </a:pPr>
            <a:fld id="{EC35E9FC-F6D5-0349-BBED-EA7D7A9BC49B}" type="slidenum">
              <a:rPr lang="en-US" smtClean="0"/>
              <a:pPr>
                <a:defRPr/>
              </a:pPr>
              <a:t>43</a:t>
            </a:fld>
            <a:endParaRPr lang="en-US"/>
          </a:p>
        </p:txBody>
      </p:sp>
    </p:spTree>
    <p:extLst>
      <p:ext uri="{BB962C8B-B14F-4D97-AF65-F5344CB8AC3E}">
        <p14:creationId xmlns:p14="http://schemas.microsoft.com/office/powerpoint/2010/main" val="2187566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0611-F030-3244-B5DE-C797FA1F5021}"/>
              </a:ext>
            </a:extLst>
          </p:cNvPr>
          <p:cNvSpPr>
            <a:spLocks noGrp="1"/>
          </p:cNvSpPr>
          <p:nvPr>
            <p:ph type="title"/>
          </p:nvPr>
        </p:nvSpPr>
        <p:spPr/>
        <p:txBody>
          <a:bodyPr/>
          <a:lstStyle/>
          <a:p>
            <a:r>
              <a:rPr lang="en-US" dirty="0"/>
              <a:t>Fabrication Techniques</a:t>
            </a:r>
          </a:p>
        </p:txBody>
      </p:sp>
      <p:sp>
        <p:nvSpPr>
          <p:cNvPr id="3" name="Content Placeholder 2">
            <a:extLst>
              <a:ext uri="{FF2B5EF4-FFF2-40B4-BE49-F238E27FC236}">
                <a16:creationId xmlns:a16="http://schemas.microsoft.com/office/drawing/2014/main" id="{466AF48F-3A21-7548-BC82-22B2A5322438}"/>
              </a:ext>
            </a:extLst>
          </p:cNvPr>
          <p:cNvSpPr>
            <a:spLocks noGrp="1"/>
          </p:cNvSpPr>
          <p:nvPr>
            <p:ph sz="half" idx="1"/>
          </p:nvPr>
        </p:nvSpPr>
        <p:spPr/>
        <p:txBody>
          <a:bodyPr/>
          <a:lstStyle/>
          <a:p>
            <a:r>
              <a:rPr lang="en-US" sz="2200" dirty="0"/>
              <a:t>Melting casting</a:t>
            </a:r>
          </a:p>
          <a:p>
            <a:r>
              <a:rPr lang="en-US" sz="2200" dirty="0"/>
              <a:t>In this method, UO2 or U metal chips with graphite are arc-melted and made into the form of a button</a:t>
            </a:r>
          </a:p>
          <a:p>
            <a:r>
              <a:rPr lang="en-US" sz="2200" dirty="0"/>
              <a:t>Melting casting route results in large-grained materials compared to that obtained by powder metallurgical methods</a:t>
            </a:r>
          </a:p>
          <a:p>
            <a:r>
              <a:rPr lang="en-US" sz="2200" dirty="0"/>
              <a:t>The melting casting method is, however, uneconomical due to the high cost of metal fabrication</a:t>
            </a:r>
          </a:p>
          <a:p>
            <a:endParaRPr lang="en-US" sz="2200" dirty="0"/>
          </a:p>
          <a:p>
            <a:endParaRPr lang="en-US" sz="2200" dirty="0"/>
          </a:p>
        </p:txBody>
      </p:sp>
      <p:sp>
        <p:nvSpPr>
          <p:cNvPr id="4" name="Content Placeholder 3">
            <a:extLst>
              <a:ext uri="{FF2B5EF4-FFF2-40B4-BE49-F238E27FC236}">
                <a16:creationId xmlns:a16="http://schemas.microsoft.com/office/drawing/2014/main" id="{48C2FBA0-3351-AA4C-AAF6-B2C9A8763663}"/>
              </a:ext>
            </a:extLst>
          </p:cNvPr>
          <p:cNvSpPr>
            <a:spLocks noGrp="1"/>
          </p:cNvSpPr>
          <p:nvPr>
            <p:ph sz="half" idx="2"/>
          </p:nvPr>
        </p:nvSpPr>
        <p:spPr/>
        <p:txBody>
          <a:bodyPr/>
          <a:lstStyle/>
          <a:p>
            <a:r>
              <a:rPr lang="en-US" sz="2200" dirty="0"/>
              <a:t>Metal </a:t>
            </a:r>
            <a:r>
              <a:rPr lang="en-US" sz="2200" dirty="0" err="1"/>
              <a:t>hydriding</a:t>
            </a:r>
            <a:r>
              <a:rPr lang="en-US" sz="2200" dirty="0"/>
              <a:t>– dehydriding</a:t>
            </a:r>
          </a:p>
          <a:p>
            <a:r>
              <a:rPr lang="en-US" sz="2200" dirty="0"/>
              <a:t>This method is followed for small-scale production of high-purity carbides, where the metal hydride reacts with graphite</a:t>
            </a:r>
          </a:p>
          <a:p>
            <a:r>
              <a:rPr lang="en-US" sz="2200" dirty="0"/>
              <a:t>Actinide carbides MC and M2C3 can be prepared from a mixture of hydride and graphite</a:t>
            </a:r>
          </a:p>
          <a:p>
            <a:r>
              <a:rPr lang="en-US" sz="2200" dirty="0"/>
              <a:t>For UC, the reaction between uranium metal and a hydrocarbon gas (methane) is carried out with careful control of the hydrocarbon flow</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B636703A-0EB2-7641-8625-077374D195F8}"/>
              </a:ext>
            </a:extLst>
          </p:cNvPr>
          <p:cNvSpPr>
            <a:spLocks noGrp="1"/>
          </p:cNvSpPr>
          <p:nvPr>
            <p:ph type="sldNum" sz="quarter" idx="12"/>
          </p:nvPr>
        </p:nvSpPr>
        <p:spPr/>
        <p:txBody>
          <a:bodyPr/>
          <a:lstStyle/>
          <a:p>
            <a:pPr>
              <a:defRPr/>
            </a:pPr>
            <a:fld id="{EC35E9FC-F6D5-0349-BBED-EA7D7A9BC49B}" type="slidenum">
              <a:rPr lang="en-US" smtClean="0"/>
              <a:pPr>
                <a:defRPr/>
              </a:pPr>
              <a:t>44</a:t>
            </a:fld>
            <a:endParaRPr lang="en-US"/>
          </a:p>
        </p:txBody>
      </p:sp>
      <p:pic>
        <p:nvPicPr>
          <p:cNvPr id="6" name="Picture 5">
            <a:extLst>
              <a:ext uri="{FF2B5EF4-FFF2-40B4-BE49-F238E27FC236}">
                <a16:creationId xmlns:a16="http://schemas.microsoft.com/office/drawing/2014/main" id="{C33CCAC8-AFE8-624F-8B57-968F68496B77}"/>
              </a:ext>
            </a:extLst>
          </p:cNvPr>
          <p:cNvPicPr>
            <a:picLocks noChangeAspect="1"/>
          </p:cNvPicPr>
          <p:nvPr/>
        </p:nvPicPr>
        <p:blipFill>
          <a:blip r:embed="rId2"/>
          <a:stretch>
            <a:fillRect/>
          </a:stretch>
        </p:blipFill>
        <p:spPr>
          <a:xfrm>
            <a:off x="8533296" y="4500493"/>
            <a:ext cx="2844800" cy="386215"/>
          </a:xfrm>
          <a:prstGeom prst="rect">
            <a:avLst/>
          </a:prstGeom>
        </p:spPr>
      </p:pic>
    </p:spTree>
    <p:extLst>
      <p:ext uri="{BB962C8B-B14F-4D97-AF65-F5344CB8AC3E}">
        <p14:creationId xmlns:p14="http://schemas.microsoft.com/office/powerpoint/2010/main" val="41537348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0AE2-A80B-0349-AD18-CDCFE3967D0E}"/>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0251F8D5-006E-EC46-A1A1-F5805B3DFB90}"/>
              </a:ext>
            </a:extLst>
          </p:cNvPr>
          <p:cNvSpPr>
            <a:spLocks noGrp="1"/>
          </p:cNvSpPr>
          <p:nvPr>
            <p:ph sz="half" idx="1"/>
          </p:nvPr>
        </p:nvSpPr>
        <p:spPr/>
        <p:txBody>
          <a:bodyPr/>
          <a:lstStyle/>
          <a:p>
            <a:r>
              <a:rPr lang="en-US" sz="2200" dirty="0"/>
              <a:t>Uranium monocarbide is mainly produced by carbothermic reduction of UO2 and carbon following the reaction</a:t>
            </a:r>
          </a:p>
          <a:p>
            <a:r>
              <a:rPr lang="en-US" sz="2200" dirty="0"/>
              <a:t>A mixture of UO2 and carbon is blended together and the mixture is compacted at 300–600 MPa along with an organic binder</a:t>
            </a:r>
          </a:p>
          <a:p>
            <a:r>
              <a:rPr lang="en-US" sz="2200" dirty="0"/>
              <a:t>The pellets are heated in a vacuum induction furnace and ground to a powder for compaction</a:t>
            </a:r>
          </a:p>
          <a:p>
            <a:endParaRPr lang="en-US" sz="2200" dirty="0"/>
          </a:p>
        </p:txBody>
      </p:sp>
      <p:pic>
        <p:nvPicPr>
          <p:cNvPr id="7" name="Content Placeholder 6">
            <a:extLst>
              <a:ext uri="{FF2B5EF4-FFF2-40B4-BE49-F238E27FC236}">
                <a16:creationId xmlns:a16="http://schemas.microsoft.com/office/drawing/2014/main" id="{7CF2B306-2CE8-F540-AAC1-901F768711B9}"/>
              </a:ext>
            </a:extLst>
          </p:cNvPr>
          <p:cNvPicPr>
            <a:picLocks noGrp="1" noChangeAspect="1"/>
          </p:cNvPicPr>
          <p:nvPr>
            <p:ph sz="half" idx="2"/>
          </p:nvPr>
        </p:nvPicPr>
        <p:blipFill>
          <a:blip r:embed="rId2"/>
          <a:stretch>
            <a:fillRect/>
          </a:stretch>
        </p:blipFill>
        <p:spPr>
          <a:xfrm>
            <a:off x="6197600" y="2124610"/>
            <a:ext cx="5384800" cy="3845443"/>
          </a:xfrm>
          <a:prstGeom prst="rect">
            <a:avLst/>
          </a:prstGeom>
        </p:spPr>
      </p:pic>
      <p:sp>
        <p:nvSpPr>
          <p:cNvPr id="5" name="Slide Number Placeholder 4">
            <a:extLst>
              <a:ext uri="{FF2B5EF4-FFF2-40B4-BE49-F238E27FC236}">
                <a16:creationId xmlns:a16="http://schemas.microsoft.com/office/drawing/2014/main" id="{BA7898A3-2857-634D-9C5F-471952DC8133}"/>
              </a:ext>
            </a:extLst>
          </p:cNvPr>
          <p:cNvSpPr>
            <a:spLocks noGrp="1"/>
          </p:cNvSpPr>
          <p:nvPr>
            <p:ph type="sldNum" sz="quarter" idx="12"/>
          </p:nvPr>
        </p:nvSpPr>
        <p:spPr/>
        <p:txBody>
          <a:bodyPr/>
          <a:lstStyle/>
          <a:p>
            <a:pPr>
              <a:defRPr/>
            </a:pPr>
            <a:fld id="{EC35E9FC-F6D5-0349-BBED-EA7D7A9BC49B}" type="slidenum">
              <a:rPr lang="en-US" smtClean="0"/>
              <a:pPr>
                <a:defRPr/>
              </a:pPr>
              <a:t>45</a:t>
            </a:fld>
            <a:endParaRPr lang="en-US"/>
          </a:p>
        </p:txBody>
      </p:sp>
      <p:pic>
        <p:nvPicPr>
          <p:cNvPr id="6" name="Picture 5">
            <a:extLst>
              <a:ext uri="{FF2B5EF4-FFF2-40B4-BE49-F238E27FC236}">
                <a16:creationId xmlns:a16="http://schemas.microsoft.com/office/drawing/2014/main" id="{206B273A-E3AE-0F4B-8D59-2C5EDB0B7FB1}"/>
              </a:ext>
            </a:extLst>
          </p:cNvPr>
          <p:cNvPicPr>
            <a:picLocks noChangeAspect="1"/>
          </p:cNvPicPr>
          <p:nvPr/>
        </p:nvPicPr>
        <p:blipFill>
          <a:blip r:embed="rId3"/>
          <a:stretch>
            <a:fillRect/>
          </a:stretch>
        </p:blipFill>
        <p:spPr>
          <a:xfrm>
            <a:off x="7752384" y="1787877"/>
            <a:ext cx="2072032" cy="813713"/>
          </a:xfrm>
          <a:prstGeom prst="rect">
            <a:avLst/>
          </a:prstGeom>
        </p:spPr>
      </p:pic>
    </p:spTree>
    <p:extLst>
      <p:ext uri="{BB962C8B-B14F-4D97-AF65-F5344CB8AC3E}">
        <p14:creationId xmlns:p14="http://schemas.microsoft.com/office/powerpoint/2010/main" val="1504358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70E6-2708-194C-9E4E-3F01E7C69784}"/>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14DF57BD-925A-6C4B-8585-63F017258AB6}"/>
              </a:ext>
            </a:extLst>
          </p:cNvPr>
          <p:cNvSpPr>
            <a:spLocks noGrp="1"/>
          </p:cNvSpPr>
          <p:nvPr>
            <p:ph sz="half" idx="1"/>
          </p:nvPr>
        </p:nvSpPr>
        <p:spPr>
          <a:xfrm>
            <a:off x="609600" y="1968503"/>
            <a:ext cx="10972800" cy="4157663"/>
          </a:xfrm>
        </p:spPr>
        <p:txBody>
          <a:bodyPr/>
          <a:lstStyle/>
          <a:p>
            <a:r>
              <a:rPr lang="en-US" sz="2200" dirty="0"/>
              <a:t>Uranium–plutonium-mixed carbide is also prepared by carbothermic reduction of UO2–PuO2</a:t>
            </a:r>
          </a:p>
          <a:p>
            <a:r>
              <a:rPr lang="en-US" sz="2200" dirty="0"/>
              <a:t>The physical state and homogeneity of the mixture influences the reaction rate and the quality of the final product</a:t>
            </a:r>
          </a:p>
          <a:p>
            <a:r>
              <a:rPr lang="en-US" sz="2200" dirty="0"/>
              <a:t>The reaction is complicated by the uneven distribution of plutonium in the two carbide phases and the formation of CO2 and CO, especially in </a:t>
            </a:r>
            <a:r>
              <a:rPr lang="en-US" sz="2200" dirty="0" err="1"/>
              <a:t>hyperstoichiometric</a:t>
            </a:r>
            <a:r>
              <a:rPr lang="en-US" sz="2200" dirty="0"/>
              <a:t> feedstock</a:t>
            </a:r>
          </a:p>
          <a:p>
            <a:r>
              <a:rPr lang="en-US" sz="2200" dirty="0"/>
              <a:t>Pu can volatilize and evaporate, which needs to be controlled via increased CO partial pressure</a:t>
            </a:r>
          </a:p>
          <a:p>
            <a:r>
              <a:rPr lang="en-US" sz="2200" dirty="0"/>
              <a:t>Carbothermic reduction temperature also depends on the Pu content of the material</a:t>
            </a:r>
          </a:p>
          <a:p>
            <a:endParaRPr lang="en-US" sz="2200" dirty="0"/>
          </a:p>
          <a:p>
            <a:endParaRPr lang="en-US" sz="2200" dirty="0"/>
          </a:p>
        </p:txBody>
      </p:sp>
      <p:sp>
        <p:nvSpPr>
          <p:cNvPr id="5" name="Slide Number Placeholder 4">
            <a:extLst>
              <a:ext uri="{FF2B5EF4-FFF2-40B4-BE49-F238E27FC236}">
                <a16:creationId xmlns:a16="http://schemas.microsoft.com/office/drawing/2014/main" id="{CCF10AB4-19C4-1242-8ADE-2A30AF4A07F8}"/>
              </a:ext>
            </a:extLst>
          </p:cNvPr>
          <p:cNvSpPr>
            <a:spLocks noGrp="1"/>
          </p:cNvSpPr>
          <p:nvPr>
            <p:ph type="sldNum" sz="quarter" idx="12"/>
          </p:nvPr>
        </p:nvSpPr>
        <p:spPr/>
        <p:txBody>
          <a:bodyPr/>
          <a:lstStyle/>
          <a:p>
            <a:pPr>
              <a:defRPr/>
            </a:pPr>
            <a:fld id="{EC35E9FC-F6D5-0349-BBED-EA7D7A9BC49B}" type="slidenum">
              <a:rPr lang="en-US" smtClean="0"/>
              <a:pPr>
                <a:defRPr/>
              </a:pPr>
              <a:t>46</a:t>
            </a:fld>
            <a:endParaRPr lang="en-US"/>
          </a:p>
        </p:txBody>
      </p:sp>
      <p:pic>
        <p:nvPicPr>
          <p:cNvPr id="8" name="Picture 7">
            <a:extLst>
              <a:ext uri="{FF2B5EF4-FFF2-40B4-BE49-F238E27FC236}">
                <a16:creationId xmlns:a16="http://schemas.microsoft.com/office/drawing/2014/main" id="{A62DFFA5-3A38-7F70-E1AA-A63ACF1FD3FB}"/>
              </a:ext>
            </a:extLst>
          </p:cNvPr>
          <p:cNvPicPr>
            <a:picLocks noChangeAspect="1"/>
          </p:cNvPicPr>
          <p:nvPr/>
        </p:nvPicPr>
        <p:blipFill>
          <a:blip r:embed="rId2"/>
          <a:stretch>
            <a:fillRect/>
          </a:stretch>
        </p:blipFill>
        <p:spPr>
          <a:xfrm>
            <a:off x="2572951" y="5841209"/>
            <a:ext cx="7772400" cy="400050"/>
          </a:xfrm>
          <a:prstGeom prst="rect">
            <a:avLst/>
          </a:prstGeom>
        </p:spPr>
      </p:pic>
    </p:spTree>
    <p:extLst>
      <p:ext uri="{BB962C8B-B14F-4D97-AF65-F5344CB8AC3E}">
        <p14:creationId xmlns:p14="http://schemas.microsoft.com/office/powerpoint/2010/main" val="3012302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612-EB41-5A4F-A5C3-9550A1D6F735}"/>
              </a:ext>
            </a:extLst>
          </p:cNvPr>
          <p:cNvSpPr>
            <a:spLocks noGrp="1"/>
          </p:cNvSpPr>
          <p:nvPr>
            <p:ph type="title"/>
          </p:nvPr>
        </p:nvSpPr>
        <p:spPr/>
        <p:txBody>
          <a:bodyPr/>
          <a:lstStyle/>
          <a:p>
            <a:r>
              <a:rPr lang="en-US" dirty="0"/>
              <a:t>Pressing</a:t>
            </a:r>
          </a:p>
        </p:txBody>
      </p:sp>
      <p:sp>
        <p:nvSpPr>
          <p:cNvPr id="3" name="Content Placeholder 2">
            <a:extLst>
              <a:ext uri="{FF2B5EF4-FFF2-40B4-BE49-F238E27FC236}">
                <a16:creationId xmlns:a16="http://schemas.microsoft.com/office/drawing/2014/main" id="{0F3441E6-9549-5E4F-B6BE-FEF6242619D6}"/>
              </a:ext>
            </a:extLst>
          </p:cNvPr>
          <p:cNvSpPr>
            <a:spLocks noGrp="1"/>
          </p:cNvSpPr>
          <p:nvPr>
            <p:ph sz="half" idx="1"/>
          </p:nvPr>
        </p:nvSpPr>
        <p:spPr>
          <a:xfrm>
            <a:off x="609600" y="1968503"/>
            <a:ext cx="6841524" cy="4157663"/>
          </a:xfrm>
        </p:spPr>
        <p:txBody>
          <a:bodyPr/>
          <a:lstStyle/>
          <a:p>
            <a:r>
              <a:rPr lang="en-US" sz="2200" dirty="0"/>
              <a:t>The conventional powder metallurgy route of carbide fuel fabrication has certain disadvantages, including pick up of O/N impurities from the cover gas and risks of pyrophoricity</a:t>
            </a:r>
          </a:p>
          <a:p>
            <a:r>
              <a:rPr lang="en-US" sz="2200" dirty="0"/>
              <a:t>Direct pressing takes the product of carbothermic reduction and presses them into a low density pellet, which can be sintered into the final product</a:t>
            </a:r>
          </a:p>
          <a:p>
            <a:r>
              <a:rPr lang="en-US" sz="2200" dirty="0"/>
              <a:t>This reduces O pickup, reduces dust and impurities, and reduces time/cost</a:t>
            </a:r>
          </a:p>
          <a:p>
            <a:r>
              <a:rPr lang="en-US" sz="2200" dirty="0"/>
              <a:t>There is an additional route that involves wet processing of nitrate-based fuels in a sol-gel technique</a:t>
            </a:r>
          </a:p>
          <a:p>
            <a:endParaRPr lang="en-US" sz="2200" dirty="0"/>
          </a:p>
        </p:txBody>
      </p:sp>
      <p:pic>
        <p:nvPicPr>
          <p:cNvPr id="6" name="Content Placeholder 5">
            <a:extLst>
              <a:ext uri="{FF2B5EF4-FFF2-40B4-BE49-F238E27FC236}">
                <a16:creationId xmlns:a16="http://schemas.microsoft.com/office/drawing/2014/main" id="{8ABAF443-2999-1D48-8831-39C3DEA96C4E}"/>
              </a:ext>
            </a:extLst>
          </p:cNvPr>
          <p:cNvPicPr>
            <a:picLocks noGrp="1" noChangeAspect="1"/>
          </p:cNvPicPr>
          <p:nvPr>
            <p:ph sz="half" idx="2"/>
          </p:nvPr>
        </p:nvPicPr>
        <p:blipFill rotWithShape="1">
          <a:blip r:embed="rId2"/>
          <a:srcRect r="32903"/>
          <a:stretch/>
        </p:blipFill>
        <p:spPr>
          <a:xfrm>
            <a:off x="7828638" y="1095244"/>
            <a:ext cx="3879658" cy="5556659"/>
          </a:xfrm>
          <a:prstGeom prst="rect">
            <a:avLst/>
          </a:prstGeom>
        </p:spPr>
      </p:pic>
      <p:sp>
        <p:nvSpPr>
          <p:cNvPr id="5" name="Slide Number Placeholder 4">
            <a:extLst>
              <a:ext uri="{FF2B5EF4-FFF2-40B4-BE49-F238E27FC236}">
                <a16:creationId xmlns:a16="http://schemas.microsoft.com/office/drawing/2014/main" id="{84001A78-D554-6A4C-8175-B5E84988625B}"/>
              </a:ext>
            </a:extLst>
          </p:cNvPr>
          <p:cNvSpPr>
            <a:spLocks noGrp="1"/>
          </p:cNvSpPr>
          <p:nvPr>
            <p:ph type="sldNum" sz="quarter" idx="12"/>
          </p:nvPr>
        </p:nvSpPr>
        <p:spPr/>
        <p:txBody>
          <a:bodyPr/>
          <a:lstStyle/>
          <a:p>
            <a:pPr>
              <a:defRPr/>
            </a:pPr>
            <a:fld id="{EC35E9FC-F6D5-0349-BBED-EA7D7A9BC49B}" type="slidenum">
              <a:rPr lang="en-US" smtClean="0"/>
              <a:pPr>
                <a:defRPr/>
              </a:pPr>
              <a:t>47</a:t>
            </a:fld>
            <a:endParaRPr lang="en-US"/>
          </a:p>
        </p:txBody>
      </p:sp>
    </p:spTree>
    <p:extLst>
      <p:ext uri="{BB962C8B-B14F-4D97-AF65-F5344CB8AC3E}">
        <p14:creationId xmlns:p14="http://schemas.microsoft.com/office/powerpoint/2010/main" val="14275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FB5F-05B4-0CD1-39C5-E95C54559AC9}"/>
              </a:ext>
            </a:extLst>
          </p:cNvPr>
          <p:cNvSpPr>
            <a:spLocks noGrp="1"/>
          </p:cNvSpPr>
          <p:nvPr>
            <p:ph type="title"/>
          </p:nvPr>
        </p:nvSpPr>
        <p:spPr/>
        <p:txBody>
          <a:bodyPr/>
          <a:lstStyle/>
          <a:p>
            <a:r>
              <a:rPr lang="en-US" dirty="0"/>
              <a:t>As-fabricated microstructures</a:t>
            </a:r>
          </a:p>
        </p:txBody>
      </p:sp>
      <p:sp>
        <p:nvSpPr>
          <p:cNvPr id="3" name="Content Placeholder 2">
            <a:extLst>
              <a:ext uri="{FF2B5EF4-FFF2-40B4-BE49-F238E27FC236}">
                <a16:creationId xmlns:a16="http://schemas.microsoft.com/office/drawing/2014/main" id="{10F516B2-E1B0-70E8-B61B-90709D99E95D}"/>
              </a:ext>
            </a:extLst>
          </p:cNvPr>
          <p:cNvSpPr>
            <a:spLocks noGrp="1"/>
          </p:cNvSpPr>
          <p:nvPr>
            <p:ph sz="half" idx="1"/>
          </p:nvPr>
        </p:nvSpPr>
        <p:spPr>
          <a:xfrm>
            <a:off x="609600" y="1968503"/>
            <a:ext cx="4666735" cy="4157663"/>
          </a:xfrm>
        </p:spPr>
        <p:txBody>
          <a:bodyPr/>
          <a:lstStyle/>
          <a:p>
            <a:r>
              <a:rPr lang="en-US" sz="2200" dirty="0"/>
              <a:t>Carbide pellets are susceptible to surface defects, such as chips and cracks</a:t>
            </a:r>
          </a:p>
          <a:p>
            <a:r>
              <a:rPr lang="en-US" sz="2200" dirty="0"/>
              <a:t>As in all sintered materials, residual porosity will be present</a:t>
            </a:r>
          </a:p>
          <a:p>
            <a:r>
              <a:rPr lang="en-US" sz="2200" dirty="0"/>
              <a:t>Varying degrees of the M2C3 phase will be present and are observable via characterization</a:t>
            </a:r>
          </a:p>
          <a:p>
            <a:endParaRPr lang="en-US" sz="2200" dirty="0"/>
          </a:p>
        </p:txBody>
      </p:sp>
      <p:sp>
        <p:nvSpPr>
          <p:cNvPr id="5" name="Slide Number Placeholder 4">
            <a:extLst>
              <a:ext uri="{FF2B5EF4-FFF2-40B4-BE49-F238E27FC236}">
                <a16:creationId xmlns:a16="http://schemas.microsoft.com/office/drawing/2014/main" id="{2FCE7052-3419-D966-C398-26B39433E9D1}"/>
              </a:ext>
            </a:extLst>
          </p:cNvPr>
          <p:cNvSpPr>
            <a:spLocks noGrp="1"/>
          </p:cNvSpPr>
          <p:nvPr>
            <p:ph type="sldNum" sz="quarter" idx="12"/>
          </p:nvPr>
        </p:nvSpPr>
        <p:spPr/>
        <p:txBody>
          <a:bodyPr/>
          <a:lstStyle/>
          <a:p>
            <a:pPr>
              <a:defRPr/>
            </a:pPr>
            <a:fld id="{EC35E9FC-F6D5-0349-BBED-EA7D7A9BC49B}" type="slidenum">
              <a:rPr lang="en-US" smtClean="0"/>
              <a:pPr>
                <a:defRPr/>
              </a:pPr>
              <a:t>48</a:t>
            </a:fld>
            <a:endParaRPr lang="en-US"/>
          </a:p>
        </p:txBody>
      </p:sp>
      <p:pic>
        <p:nvPicPr>
          <p:cNvPr id="7" name="Picture 6">
            <a:extLst>
              <a:ext uri="{FF2B5EF4-FFF2-40B4-BE49-F238E27FC236}">
                <a16:creationId xmlns:a16="http://schemas.microsoft.com/office/drawing/2014/main" id="{C82B90B2-0703-9B75-1F9B-5BE9FE20C8EC}"/>
              </a:ext>
            </a:extLst>
          </p:cNvPr>
          <p:cNvPicPr>
            <a:picLocks noChangeAspect="1"/>
          </p:cNvPicPr>
          <p:nvPr/>
        </p:nvPicPr>
        <p:blipFill>
          <a:blip r:embed="rId2"/>
          <a:stretch>
            <a:fillRect/>
          </a:stretch>
        </p:blipFill>
        <p:spPr>
          <a:xfrm>
            <a:off x="5616489" y="2488136"/>
            <a:ext cx="6547022" cy="2574359"/>
          </a:xfrm>
          <a:prstGeom prst="rect">
            <a:avLst/>
          </a:prstGeom>
        </p:spPr>
      </p:pic>
      <p:sp>
        <p:nvSpPr>
          <p:cNvPr id="9" name="TextBox 8">
            <a:extLst>
              <a:ext uri="{FF2B5EF4-FFF2-40B4-BE49-F238E27FC236}">
                <a16:creationId xmlns:a16="http://schemas.microsoft.com/office/drawing/2014/main" id="{6A722AC7-D5B9-ECF3-122B-5CEEF49B167C}"/>
              </a:ext>
            </a:extLst>
          </p:cNvPr>
          <p:cNvSpPr txBox="1"/>
          <p:nvPr/>
        </p:nvSpPr>
        <p:spPr>
          <a:xfrm>
            <a:off x="5837881" y="5062495"/>
            <a:ext cx="6104238" cy="646331"/>
          </a:xfrm>
          <a:prstGeom prst="rect">
            <a:avLst/>
          </a:prstGeom>
          <a:noFill/>
        </p:spPr>
        <p:txBody>
          <a:bodyPr wrap="square">
            <a:spAutoFit/>
          </a:bodyPr>
          <a:lstStyle/>
          <a:p>
            <a:pPr algn="ctr"/>
            <a:r>
              <a:rPr lang="en-US" dirty="0">
                <a:latin typeface="Helvetica" pitchFamily="2" charset="0"/>
              </a:rPr>
              <a:t>M</a:t>
            </a:r>
            <a:r>
              <a:rPr lang="en-US" dirty="0">
                <a:effectLst/>
                <a:latin typeface="Helvetica" pitchFamily="2" charset="0"/>
              </a:rPr>
              <a:t>ixed carbide fuel with (a) 70%PuC and (b) 20%PuC showing bright/white areas of </a:t>
            </a:r>
            <a:r>
              <a:rPr lang="en-US" dirty="0" err="1">
                <a:effectLst/>
                <a:latin typeface="Helvetica" pitchFamily="2" charset="0"/>
              </a:rPr>
              <a:t>sesquicarbide</a:t>
            </a:r>
            <a:r>
              <a:rPr lang="en-US" dirty="0">
                <a:effectLst/>
                <a:latin typeface="Helvetica" pitchFamily="2" charset="0"/>
              </a:rPr>
              <a:t> phase </a:t>
            </a:r>
          </a:p>
        </p:txBody>
      </p:sp>
    </p:spTree>
    <p:extLst>
      <p:ext uri="{BB962C8B-B14F-4D97-AF65-F5344CB8AC3E}">
        <p14:creationId xmlns:p14="http://schemas.microsoft.com/office/powerpoint/2010/main" val="2217412078"/>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4096</TotalTime>
  <Words>4003</Words>
  <Application>Microsoft Macintosh PowerPoint</Application>
  <PresentationFormat>Widescreen</PresentationFormat>
  <Paragraphs>318</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Helvetica</vt:lpstr>
      <vt:lpstr>Symbol</vt:lpstr>
      <vt:lpstr>Times</vt:lpstr>
      <vt:lpstr>2_NCStateU-horizontal-left-logo</vt:lpstr>
      <vt:lpstr>NE 763: Advanced Reactor Materials</vt:lpstr>
      <vt:lpstr>Last Time</vt:lpstr>
      <vt:lpstr>Need for molten salt data</vt:lpstr>
      <vt:lpstr>Molten Salt Thermal Properties Database</vt:lpstr>
      <vt:lpstr>Redlich-Kister expansion</vt:lpstr>
      <vt:lpstr>Redlich-Kister expansion</vt:lpstr>
      <vt:lpstr>End of Molten Salts</vt:lpstr>
      <vt:lpstr>Non-oxide ceramic fuels: Carbides and nitrides</vt:lpstr>
      <vt:lpstr>Why Carbides?</vt:lpstr>
      <vt:lpstr>Why Carbides?</vt:lpstr>
      <vt:lpstr>Carbide Reactor</vt:lpstr>
      <vt:lpstr>US Interest in Carbide Fuels</vt:lpstr>
      <vt:lpstr>Carbide Pin Designs</vt:lpstr>
      <vt:lpstr>Carbide Fuel Details</vt:lpstr>
      <vt:lpstr>Carbide Fuel Details</vt:lpstr>
      <vt:lpstr>Questions on carbide fuel overview?</vt:lpstr>
      <vt:lpstr>U(Pu)-C Phases</vt:lpstr>
      <vt:lpstr>U/Pu-C Phase</vt:lpstr>
      <vt:lpstr>U/Pu2-C3</vt:lpstr>
      <vt:lpstr>Phase Diagrams of Carbides</vt:lpstr>
      <vt:lpstr>Phase Properties</vt:lpstr>
      <vt:lpstr>Key Properties</vt:lpstr>
      <vt:lpstr>Key Properties</vt:lpstr>
      <vt:lpstr>In-pile behavior</vt:lpstr>
      <vt:lpstr>Burnup Stages</vt:lpstr>
      <vt:lpstr>Burnup Stages</vt:lpstr>
      <vt:lpstr>Burnup Stages</vt:lpstr>
      <vt:lpstr>Evolution with Burnup</vt:lpstr>
      <vt:lpstr>Fission Gas Release</vt:lpstr>
      <vt:lpstr>Fuel Restructuring</vt:lpstr>
      <vt:lpstr>Fuel Restructuring</vt:lpstr>
      <vt:lpstr>Fuel Creep</vt:lpstr>
      <vt:lpstr>Fuel Creep</vt:lpstr>
      <vt:lpstr>Carbide FCCI</vt:lpstr>
      <vt:lpstr>Carbide FCCI</vt:lpstr>
      <vt:lpstr>Cladding Carburization</vt:lpstr>
      <vt:lpstr>Cladding Carburization</vt:lpstr>
      <vt:lpstr>Cladding Carburization</vt:lpstr>
      <vt:lpstr>Cladding Carburization</vt:lpstr>
      <vt:lpstr>Na Bonded Pin Performance</vt:lpstr>
      <vt:lpstr>He Bonded Pin Performance</vt:lpstr>
      <vt:lpstr>Pin Failure</vt:lpstr>
      <vt:lpstr>Carbide Fabrication</vt:lpstr>
      <vt:lpstr>Fabrication Techniques</vt:lpstr>
      <vt:lpstr>Carbothermic Reduction</vt:lpstr>
      <vt:lpstr>Carbothermic Reduction</vt:lpstr>
      <vt:lpstr>Pressing</vt:lpstr>
      <vt:lpstr>As-fabricated microstructures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39</cp:revision>
  <dcterms:created xsi:type="dcterms:W3CDTF">2021-06-30T18:29:00Z</dcterms:created>
  <dcterms:modified xsi:type="dcterms:W3CDTF">2025-10-23T17:21:37Z</dcterms:modified>
</cp:coreProperties>
</file>
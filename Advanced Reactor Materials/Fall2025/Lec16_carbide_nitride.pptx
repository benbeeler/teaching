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20"/>
  </p:notesMasterIdLst>
  <p:sldIdLst>
    <p:sldId id="257" r:id="rId2"/>
    <p:sldId id="431" r:id="rId3"/>
    <p:sldId id="480" r:id="rId4"/>
    <p:sldId id="432" r:id="rId5"/>
    <p:sldId id="414" r:id="rId6"/>
    <p:sldId id="434" r:id="rId7"/>
    <p:sldId id="433" r:id="rId8"/>
    <p:sldId id="487" r:id="rId9"/>
    <p:sldId id="437" r:id="rId10"/>
    <p:sldId id="438" r:id="rId11"/>
    <p:sldId id="439" r:id="rId12"/>
    <p:sldId id="435" r:id="rId13"/>
    <p:sldId id="440" r:id="rId14"/>
    <p:sldId id="441" r:id="rId15"/>
    <p:sldId id="446" r:id="rId16"/>
    <p:sldId id="445" r:id="rId17"/>
    <p:sldId id="448" r:id="rId18"/>
    <p:sldId id="449"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66"/>
    <p:restoredTop sz="96654"/>
  </p:normalViewPr>
  <p:slideViewPr>
    <p:cSldViewPr snapToGrid="0" snapToObjects="1">
      <p:cViewPr varScale="1">
        <p:scale>
          <a:sx n="128" d="100"/>
          <a:sy n="128" d="100"/>
        </p:scale>
        <p:origin x="26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8CAEED-5450-EE4D-B412-7C72FD553928}" type="datetimeFigureOut">
              <a:rPr lang="en-US" smtClean="0"/>
              <a:t>10/23/25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5D4152-B4F7-6E48-87AE-D080B5F5F819}" type="slidenum">
              <a:rPr lang="en-US" smtClean="0"/>
              <a:t>‹#›</a:t>
            </a:fld>
            <a:endParaRPr lang="en-US"/>
          </a:p>
        </p:txBody>
      </p:sp>
    </p:spTree>
    <p:extLst>
      <p:ext uri="{BB962C8B-B14F-4D97-AF65-F5344CB8AC3E}">
        <p14:creationId xmlns:p14="http://schemas.microsoft.com/office/powerpoint/2010/main" val="7357210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B94AA4F1-E60E-ED49-8C20-82C5C22F290D}" type="datetime1">
              <a:rPr lang="en-US" smtClean="0"/>
              <a:t>10/23/25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41695089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609600" y="1968500"/>
            <a:ext cx="10972800" cy="4157664"/>
          </a:xfrm>
        </p:spPr>
        <p:txBody>
          <a:bodyPr/>
          <a:lstStyle>
            <a:lvl1pPr>
              <a:defRPr sz="2000"/>
            </a:lvl1pPr>
            <a:lvl2pPr>
              <a:defRPr sz="2000"/>
            </a:lvl2pPr>
            <a:lvl3pPr>
              <a:defRPr sz="2000"/>
            </a:lvl3pPr>
            <a:lvl4pPr>
              <a:defRPr sz="2000"/>
            </a:lvl4pPr>
            <a:lvl5pPr>
              <a:defRPr sz="20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1BD2A092-D95B-2F45-9AE1-6EFCF7AE7B47}" type="datetime1">
              <a:rPr lang="en-US" smtClean="0"/>
              <a:t>10/23/25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701218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3B8BFC1-C5A3-FC42-B47E-2330D93F4E7B}" type="datetime1">
              <a:rPr lang="en-US" smtClean="0"/>
              <a:t>10/23/25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37970140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2582718-A77B-9048-9272-D0B6D7D4EB49}" type="datetime1">
              <a:rPr lang="en-US" smtClean="0"/>
              <a:t>10/23/25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641221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3200"/>
            </a:lvl1pPr>
          </a:lstStyle>
          <a:p>
            <a:r>
              <a:rPr lang="en-US"/>
              <a:t>Click to edit Master title style</a:t>
            </a:r>
            <a:endParaRPr lang="en-US" dirty="0"/>
          </a:p>
        </p:txBody>
      </p:sp>
      <p:sp>
        <p:nvSpPr>
          <p:cNvPr id="4" name="Content Placeholder 3"/>
          <p:cNvSpPr>
            <a:spLocks noGrp="1"/>
          </p:cNvSpPr>
          <p:nvPr>
            <p:ph sz="half" idx="2"/>
          </p:nvPr>
        </p:nvSpPr>
        <p:spPr>
          <a:xfrm>
            <a:off x="609600" y="1935726"/>
            <a:ext cx="5386917"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1935726"/>
            <a:ext cx="5389033"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4EF29A29-DE41-AE44-84CD-E2DC9D0A4AEF}" type="datetime1">
              <a:rPr lang="en-US" smtClean="0"/>
              <a:t>10/23/25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2163056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2D88F258-9F55-9A4A-8F7B-E6D573AE7D17}" type="datetime1">
              <a:rPr lang="en-US" smtClean="0"/>
              <a:t>10/23/25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6739772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E90C9A10-6892-2C47-9186-E7C225E7EF67}" type="datetime1">
              <a:rPr lang="en-US" smtClean="0"/>
              <a:t>10/23/25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27760417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2B0F250-9D6A-4F4C-B5DC-E5BB3C55173B}" type="datetime1">
              <a:rPr lang="en-US" smtClean="0"/>
              <a:t>10/23/25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9020713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6AFAADB8-F38D-2C42-A4A0-2C734CD2343F}" type="datetime1">
              <a:rPr lang="en-US" smtClean="0"/>
              <a:t>10/23/25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23501476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76008-4EAC-D34C-B1EB-04DA1310F40F}" type="datetime1">
              <a:rPr lang="en-US" smtClean="0"/>
              <a:t>10/23/25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2104265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929ADC1-8B12-034F-A960-24F99F4EC07D}" type="datetime1">
              <a:rPr lang="en-US" smtClean="0"/>
              <a:t>10/23/25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22792492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2C8D95E-0433-3E41-A2B7-DA6DB5BC1DF2}" type="datetime1">
              <a:rPr lang="en-US" smtClean="0"/>
              <a:t>10/23/25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33884864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2C8D95E-0433-3E41-A2B7-DA6DB5BC1DF2}" type="datetime1">
              <a:rPr lang="en-US" smtClean="0"/>
              <a:t>10/23/25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8872395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29A14411-20DE-BF4C-B2EF-F03C6EB9FD11}" type="datetime1">
              <a:rPr lang="en-US" smtClean="0"/>
              <a:t>10/23/25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157402821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65" r:id="rId13"/>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D3A59C09-7130-3E40-BE71-8FD8881EF0C1}"/>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340782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498CF-D290-5B48-A527-C9D88D378394}"/>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B59AFB9E-7F06-1E43-AD25-87B4B04B8914}"/>
              </a:ext>
            </a:extLst>
          </p:cNvPr>
          <p:cNvSpPr>
            <a:spLocks noGrp="1"/>
          </p:cNvSpPr>
          <p:nvPr>
            <p:ph idx="1"/>
          </p:nvPr>
        </p:nvSpPr>
        <p:spPr/>
        <p:txBody>
          <a:bodyPr/>
          <a:lstStyle/>
          <a:p>
            <a:r>
              <a:rPr lang="en-US" sz="2200" dirty="0"/>
              <a:t>Carbides have high fissile density and high thermal conductivity</a:t>
            </a:r>
          </a:p>
          <a:p>
            <a:r>
              <a:rPr lang="en-US" sz="2200" dirty="0"/>
              <a:t>He-bonded and Na-bonded designs for liquid metal or gas cooled reactors</a:t>
            </a:r>
          </a:p>
          <a:p>
            <a:r>
              <a:rPr lang="en-US" sz="2200" dirty="0"/>
              <a:t>Higher swelling and lower FGR than oxide fuels</a:t>
            </a:r>
          </a:p>
          <a:p>
            <a:r>
              <a:rPr lang="en-US" sz="2200" dirty="0"/>
              <a:t>Two primary phases: UC and U2C3</a:t>
            </a:r>
          </a:p>
          <a:p>
            <a:r>
              <a:rPr lang="en-US" sz="2200" dirty="0"/>
              <a:t>Three stages in burnup that affect fuel temperature</a:t>
            </a:r>
          </a:p>
          <a:p>
            <a:r>
              <a:rPr lang="en-US" sz="2200" dirty="0"/>
              <a:t>FGR dependent upon temperature, occurs &lt;3 at% burnup</a:t>
            </a:r>
          </a:p>
          <a:p>
            <a:r>
              <a:rPr lang="en-US" sz="2200" dirty="0"/>
              <a:t>Fuel restructures into typically three zones with variable porosity</a:t>
            </a:r>
          </a:p>
          <a:p>
            <a:r>
              <a:rPr lang="en-US" sz="2200" dirty="0"/>
              <a:t>Properties dependent upon impurities and composition</a:t>
            </a:r>
          </a:p>
          <a:p>
            <a:pPr marL="0" indent="0">
              <a:buNone/>
            </a:pPr>
            <a:endParaRPr lang="en-US" sz="2200" dirty="0"/>
          </a:p>
        </p:txBody>
      </p:sp>
      <p:sp>
        <p:nvSpPr>
          <p:cNvPr id="4" name="Slide Number Placeholder 3">
            <a:extLst>
              <a:ext uri="{FF2B5EF4-FFF2-40B4-BE49-F238E27FC236}">
                <a16:creationId xmlns:a16="http://schemas.microsoft.com/office/drawing/2014/main" id="{4A8E7BC0-4DA6-2E40-A3B2-211A244F7957}"/>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1818881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B81A5-6C8B-F9B5-C821-E10EBC9FB047}"/>
              </a:ext>
            </a:extLst>
          </p:cNvPr>
          <p:cNvSpPr>
            <a:spLocks noGrp="1"/>
          </p:cNvSpPr>
          <p:nvPr>
            <p:ph type="title"/>
          </p:nvPr>
        </p:nvSpPr>
        <p:spPr/>
        <p:txBody>
          <a:bodyPr/>
          <a:lstStyle/>
          <a:p>
            <a:r>
              <a:rPr lang="en-US" dirty="0"/>
              <a:t>nitride fuels</a:t>
            </a:r>
          </a:p>
        </p:txBody>
      </p:sp>
      <p:sp>
        <p:nvSpPr>
          <p:cNvPr id="4" name="Slide Number Placeholder 3">
            <a:extLst>
              <a:ext uri="{FF2B5EF4-FFF2-40B4-BE49-F238E27FC236}">
                <a16:creationId xmlns:a16="http://schemas.microsoft.com/office/drawing/2014/main" id="{0235A0A4-E6E2-FAF5-DB0B-94CD19049310}"/>
              </a:ext>
            </a:extLst>
          </p:cNvPr>
          <p:cNvSpPr>
            <a:spLocks noGrp="1"/>
          </p:cNvSpPr>
          <p:nvPr>
            <p:ph type="sldNum" sz="quarter" idx="12"/>
          </p:nvPr>
        </p:nvSpPr>
        <p:spPr/>
        <p:txBody>
          <a:bodyPr/>
          <a:lstStyle/>
          <a:p>
            <a:pPr>
              <a:defRPr/>
            </a:pPr>
            <a:fld id="{0DA6BD0F-ABBC-C14D-BC96-77BE126A748B}" type="slidenum">
              <a:rPr lang="en-US" smtClean="0"/>
              <a:pPr>
                <a:defRPr/>
              </a:pPr>
              <a:t>3</a:t>
            </a:fld>
            <a:endParaRPr lang="en-US"/>
          </a:p>
        </p:txBody>
      </p:sp>
    </p:spTree>
    <p:extLst>
      <p:ext uri="{BB962C8B-B14F-4D97-AF65-F5344CB8AC3E}">
        <p14:creationId xmlns:p14="http://schemas.microsoft.com/office/powerpoint/2010/main" val="27731771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ED69B-E417-7F42-B658-1EC1C69651A0}"/>
              </a:ext>
            </a:extLst>
          </p:cNvPr>
          <p:cNvSpPr>
            <a:spLocks noGrp="1"/>
          </p:cNvSpPr>
          <p:nvPr>
            <p:ph type="title"/>
          </p:nvPr>
        </p:nvSpPr>
        <p:spPr/>
        <p:txBody>
          <a:bodyPr/>
          <a:lstStyle/>
          <a:p>
            <a:r>
              <a:rPr lang="en-US" dirty="0"/>
              <a:t>Nitride Fuels</a:t>
            </a:r>
          </a:p>
        </p:txBody>
      </p:sp>
      <p:sp>
        <p:nvSpPr>
          <p:cNvPr id="3" name="Content Placeholder 2">
            <a:extLst>
              <a:ext uri="{FF2B5EF4-FFF2-40B4-BE49-F238E27FC236}">
                <a16:creationId xmlns:a16="http://schemas.microsoft.com/office/drawing/2014/main" id="{8C6170CC-74F9-354F-B38C-514F4ADC1BA2}"/>
              </a:ext>
            </a:extLst>
          </p:cNvPr>
          <p:cNvSpPr>
            <a:spLocks noGrp="1"/>
          </p:cNvSpPr>
          <p:nvPr>
            <p:ph sz="half" idx="1"/>
          </p:nvPr>
        </p:nvSpPr>
        <p:spPr/>
        <p:txBody>
          <a:bodyPr/>
          <a:lstStyle/>
          <a:p>
            <a:r>
              <a:rPr lang="en-US" sz="2200" dirty="0"/>
              <a:t>Nitride fuel has been proposed as an advanced fuel for fast reactors and developed since the 1960s and tested in the BR-10, MTR, and EBR-II reactors</a:t>
            </a:r>
          </a:p>
          <a:p>
            <a:r>
              <a:rPr lang="en-US" sz="2200" dirty="0"/>
              <a:t>Nitride fuel is often a solid solution of uranium mononitride (UN) and plutonium mononitride (</a:t>
            </a:r>
            <a:r>
              <a:rPr lang="en-US" sz="2200" dirty="0" err="1"/>
              <a:t>PuN</a:t>
            </a:r>
            <a:r>
              <a:rPr lang="en-US" sz="2200" dirty="0"/>
              <a:t>), in which the Pu/(</a:t>
            </a:r>
            <a:r>
              <a:rPr lang="en-US" sz="2200" dirty="0" err="1"/>
              <a:t>U+Pu</a:t>
            </a:r>
            <a:r>
              <a:rPr lang="en-US" sz="2200" dirty="0"/>
              <a:t>) molar ratio ranges from 0.15 to 0.25</a:t>
            </a:r>
          </a:p>
          <a:p>
            <a:endParaRPr lang="en-US" sz="2200" dirty="0"/>
          </a:p>
        </p:txBody>
      </p:sp>
      <p:sp>
        <p:nvSpPr>
          <p:cNvPr id="4" name="Content Placeholder 3">
            <a:extLst>
              <a:ext uri="{FF2B5EF4-FFF2-40B4-BE49-F238E27FC236}">
                <a16:creationId xmlns:a16="http://schemas.microsoft.com/office/drawing/2014/main" id="{F3F03880-A363-EA4D-AEDC-55314C8A3C4A}"/>
              </a:ext>
            </a:extLst>
          </p:cNvPr>
          <p:cNvSpPr>
            <a:spLocks noGrp="1"/>
          </p:cNvSpPr>
          <p:nvPr>
            <p:ph sz="half" idx="2"/>
          </p:nvPr>
        </p:nvSpPr>
        <p:spPr/>
        <p:txBody>
          <a:bodyPr/>
          <a:lstStyle/>
          <a:p>
            <a:r>
              <a:rPr lang="en-US" sz="2200" dirty="0"/>
              <a:t>Nitride has potential applications as a fuel for space reactors, large breeder reactors, different Gen IV fast reactors, accelerator-driven systems, and small modular reactors</a:t>
            </a:r>
          </a:p>
          <a:p>
            <a:r>
              <a:rPr lang="en-US" sz="2200" dirty="0"/>
              <a:t>UN is now also being considered as an accident tolerant fuel for LWRs</a:t>
            </a:r>
          </a:p>
          <a:p>
            <a:endParaRPr lang="en-US" sz="2200" dirty="0"/>
          </a:p>
          <a:p>
            <a:endParaRPr lang="en-US" sz="2200" dirty="0"/>
          </a:p>
        </p:txBody>
      </p:sp>
      <p:sp>
        <p:nvSpPr>
          <p:cNvPr id="5" name="Slide Number Placeholder 4">
            <a:extLst>
              <a:ext uri="{FF2B5EF4-FFF2-40B4-BE49-F238E27FC236}">
                <a16:creationId xmlns:a16="http://schemas.microsoft.com/office/drawing/2014/main" id="{09F4615F-2688-5743-9E6C-F7BCB206CC37}"/>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22216631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988CC-1BB6-514C-AC44-52BB40C50D42}"/>
              </a:ext>
            </a:extLst>
          </p:cNvPr>
          <p:cNvSpPr>
            <a:spLocks noGrp="1"/>
          </p:cNvSpPr>
          <p:nvPr>
            <p:ph type="title"/>
          </p:nvPr>
        </p:nvSpPr>
        <p:spPr/>
        <p:txBody>
          <a:bodyPr/>
          <a:lstStyle/>
          <a:p>
            <a:r>
              <a:rPr lang="en-US" dirty="0"/>
              <a:t>Nitride Fuel Benefits</a:t>
            </a:r>
          </a:p>
        </p:txBody>
      </p:sp>
      <p:sp>
        <p:nvSpPr>
          <p:cNvPr id="3" name="Content Placeholder 2">
            <a:extLst>
              <a:ext uri="{FF2B5EF4-FFF2-40B4-BE49-F238E27FC236}">
                <a16:creationId xmlns:a16="http://schemas.microsoft.com/office/drawing/2014/main" id="{9B16093F-79D4-BF49-AF82-65E548519481}"/>
              </a:ext>
            </a:extLst>
          </p:cNvPr>
          <p:cNvSpPr>
            <a:spLocks noGrp="1"/>
          </p:cNvSpPr>
          <p:nvPr>
            <p:ph sz="half" idx="1"/>
          </p:nvPr>
        </p:nvSpPr>
        <p:spPr/>
        <p:txBody>
          <a:bodyPr/>
          <a:lstStyle/>
          <a:p>
            <a:r>
              <a:rPr lang="en-US" sz="2200" dirty="0"/>
              <a:t>Higher fissile density: 40% more uranium in UN than in UO2, leading to higher conversion ratios, and potentially higher burn-ups</a:t>
            </a:r>
          </a:p>
          <a:p>
            <a:r>
              <a:rPr lang="en-US" sz="2200" dirty="0"/>
              <a:t>Higher thermal conductivity: reduction of the fuel centerline temperature, increase in the margin for fuel melting, delay the migration of fission products and actinides</a:t>
            </a:r>
          </a:p>
          <a:p>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5D1C976F-524A-4B44-90F3-0C48AEE31CA5}"/>
              </a:ext>
            </a:extLst>
          </p:cNvPr>
          <p:cNvSpPr>
            <a:spLocks noGrp="1"/>
          </p:cNvSpPr>
          <p:nvPr>
            <p:ph sz="half" idx="2"/>
          </p:nvPr>
        </p:nvSpPr>
        <p:spPr>
          <a:xfrm>
            <a:off x="6197600" y="1968503"/>
            <a:ext cx="5700110" cy="4157663"/>
          </a:xfrm>
        </p:spPr>
        <p:txBody>
          <a:bodyPr/>
          <a:lstStyle/>
          <a:p>
            <a:r>
              <a:rPr lang="en-US" sz="2200" dirty="0"/>
              <a:t>Reprocessing: readily dissolve in nitric acid (HNO3), making this fuel compatible with the PUREX process</a:t>
            </a:r>
          </a:p>
          <a:p>
            <a:r>
              <a:rPr lang="en-US" sz="2200" dirty="0"/>
              <a:t>Stability: chemically compatible with most potential cladding materials, good irradiation stability</a:t>
            </a:r>
          </a:p>
          <a:p>
            <a:r>
              <a:rPr lang="en-US" sz="2200" dirty="0"/>
              <a:t>Potential for longer fuel cycle: neutronic behavior of UN can extend cycles from 18 to 25 months, reducing costs and down time</a:t>
            </a:r>
          </a:p>
        </p:txBody>
      </p:sp>
      <p:sp>
        <p:nvSpPr>
          <p:cNvPr id="5" name="Slide Number Placeholder 4">
            <a:extLst>
              <a:ext uri="{FF2B5EF4-FFF2-40B4-BE49-F238E27FC236}">
                <a16:creationId xmlns:a16="http://schemas.microsoft.com/office/drawing/2014/main" id="{C2264A02-2A42-0C4B-8A4E-291E1FA62EB8}"/>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Tree>
    <p:extLst>
      <p:ext uri="{BB962C8B-B14F-4D97-AF65-F5344CB8AC3E}">
        <p14:creationId xmlns:p14="http://schemas.microsoft.com/office/powerpoint/2010/main" val="9653338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7CF76-05EF-1B45-B521-1A0F3E9396E1}"/>
              </a:ext>
            </a:extLst>
          </p:cNvPr>
          <p:cNvSpPr>
            <a:spLocks noGrp="1"/>
          </p:cNvSpPr>
          <p:nvPr>
            <p:ph type="title"/>
          </p:nvPr>
        </p:nvSpPr>
        <p:spPr/>
        <p:txBody>
          <a:bodyPr/>
          <a:lstStyle/>
          <a:p>
            <a:r>
              <a:rPr lang="en-US" dirty="0"/>
              <a:t>Nitride Properties</a:t>
            </a:r>
          </a:p>
        </p:txBody>
      </p:sp>
      <p:sp>
        <p:nvSpPr>
          <p:cNvPr id="3" name="Content Placeholder 2">
            <a:extLst>
              <a:ext uri="{FF2B5EF4-FFF2-40B4-BE49-F238E27FC236}">
                <a16:creationId xmlns:a16="http://schemas.microsoft.com/office/drawing/2014/main" id="{FC76982B-6851-DE2A-F63A-850057AA965F}"/>
              </a:ext>
            </a:extLst>
          </p:cNvPr>
          <p:cNvSpPr>
            <a:spLocks noGrp="1"/>
          </p:cNvSpPr>
          <p:nvPr>
            <p:ph sz="half" idx="1"/>
          </p:nvPr>
        </p:nvSpPr>
        <p:spPr>
          <a:xfrm>
            <a:off x="609600" y="1968504"/>
            <a:ext cx="10972800" cy="1274700"/>
          </a:xfrm>
        </p:spPr>
        <p:txBody>
          <a:bodyPr/>
          <a:lstStyle/>
          <a:p>
            <a:r>
              <a:rPr lang="en-US" sz="2200" dirty="0"/>
              <a:t>Best of both worlds fuel; with high melting point, high fissile density, and high thermal conductivity</a:t>
            </a:r>
          </a:p>
        </p:txBody>
      </p:sp>
      <p:sp>
        <p:nvSpPr>
          <p:cNvPr id="5" name="Slide Number Placeholder 4">
            <a:extLst>
              <a:ext uri="{FF2B5EF4-FFF2-40B4-BE49-F238E27FC236}">
                <a16:creationId xmlns:a16="http://schemas.microsoft.com/office/drawing/2014/main" id="{C2F4E3B3-5496-7547-AB61-1634666ACC88}"/>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pic>
        <p:nvPicPr>
          <p:cNvPr id="6" name="Picture 5">
            <a:extLst>
              <a:ext uri="{FF2B5EF4-FFF2-40B4-BE49-F238E27FC236}">
                <a16:creationId xmlns:a16="http://schemas.microsoft.com/office/drawing/2014/main" id="{BEA77A56-4DCE-F644-A078-42759310F732}"/>
              </a:ext>
            </a:extLst>
          </p:cNvPr>
          <p:cNvPicPr>
            <a:picLocks noChangeAspect="1"/>
          </p:cNvPicPr>
          <p:nvPr/>
        </p:nvPicPr>
        <p:blipFill>
          <a:blip r:embed="rId2"/>
          <a:stretch>
            <a:fillRect/>
          </a:stretch>
        </p:blipFill>
        <p:spPr>
          <a:xfrm>
            <a:off x="1661053" y="3163106"/>
            <a:ext cx="8869894" cy="2009361"/>
          </a:xfrm>
          <a:prstGeom prst="rect">
            <a:avLst/>
          </a:prstGeom>
        </p:spPr>
      </p:pic>
    </p:spTree>
    <p:extLst>
      <p:ext uri="{BB962C8B-B14F-4D97-AF65-F5344CB8AC3E}">
        <p14:creationId xmlns:p14="http://schemas.microsoft.com/office/powerpoint/2010/main" val="1755734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89AD80-DD68-F241-88E0-4331D99CB93C}"/>
              </a:ext>
            </a:extLst>
          </p:cNvPr>
          <p:cNvSpPr>
            <a:spLocks noGrp="1"/>
          </p:cNvSpPr>
          <p:nvPr>
            <p:ph type="title"/>
          </p:nvPr>
        </p:nvSpPr>
        <p:spPr/>
        <p:txBody>
          <a:bodyPr/>
          <a:lstStyle/>
          <a:p>
            <a:r>
              <a:rPr lang="en-US" dirty="0"/>
              <a:t>Drawbacks of Nitrides</a:t>
            </a:r>
          </a:p>
        </p:txBody>
      </p:sp>
      <p:sp>
        <p:nvSpPr>
          <p:cNvPr id="3" name="Content Placeholder 2">
            <a:extLst>
              <a:ext uri="{FF2B5EF4-FFF2-40B4-BE49-F238E27FC236}">
                <a16:creationId xmlns:a16="http://schemas.microsoft.com/office/drawing/2014/main" id="{C5D59B8F-2E0F-4E4F-B234-091DAF2DCC59}"/>
              </a:ext>
            </a:extLst>
          </p:cNvPr>
          <p:cNvSpPr>
            <a:spLocks noGrp="1"/>
          </p:cNvSpPr>
          <p:nvPr>
            <p:ph sz="half" idx="1"/>
          </p:nvPr>
        </p:nvSpPr>
        <p:spPr/>
        <p:txBody>
          <a:bodyPr/>
          <a:lstStyle/>
          <a:p>
            <a:r>
              <a:rPr lang="en-US" sz="2200" dirty="0"/>
              <a:t>Fabrication: the production of MA or Pu-containing nitride fuel is not straight forward and requires some difficult production steps</a:t>
            </a:r>
          </a:p>
          <a:p>
            <a:r>
              <a:rPr lang="en-US" sz="2200" dirty="0"/>
              <a:t>Oxidation resistance: the nitride pellets readily oxidize in superheated steam</a:t>
            </a:r>
          </a:p>
          <a:p>
            <a:r>
              <a:rPr lang="en-US" sz="2200" dirty="0"/>
              <a:t>Nitride powder is pyrophoric, requiring strict atmospheric controls during fabrication and handling</a:t>
            </a:r>
          </a:p>
          <a:p>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897A0368-9235-054B-BE1D-03E2EE46B44A}"/>
              </a:ext>
            </a:extLst>
          </p:cNvPr>
          <p:cNvSpPr>
            <a:spLocks noGrp="1"/>
          </p:cNvSpPr>
          <p:nvPr>
            <p:ph sz="half" idx="2"/>
          </p:nvPr>
        </p:nvSpPr>
        <p:spPr/>
        <p:txBody>
          <a:bodyPr/>
          <a:lstStyle/>
          <a:p>
            <a:r>
              <a:rPr lang="en-US" sz="2200" dirty="0"/>
              <a:t>Fuel enrichment: the nitrogen component has to be highly enriched in </a:t>
            </a:r>
            <a:r>
              <a:rPr lang="en-US" sz="2200" baseline="30000" dirty="0"/>
              <a:t>15</a:t>
            </a:r>
            <a:r>
              <a:rPr lang="en-US" sz="2200" dirty="0"/>
              <a:t>N to increase the neutron economy and avoid the (n, p) formation of </a:t>
            </a:r>
            <a:r>
              <a:rPr lang="en-US" sz="2200" baseline="30000" dirty="0"/>
              <a:t>14</a:t>
            </a:r>
            <a:r>
              <a:rPr lang="en-US" sz="2200" dirty="0"/>
              <a:t>C from </a:t>
            </a:r>
            <a:r>
              <a:rPr lang="en-US" sz="2200" baseline="30000" dirty="0"/>
              <a:t>14</a:t>
            </a:r>
            <a:r>
              <a:rPr lang="en-US" sz="2200" dirty="0"/>
              <a:t>N, which significantly increases costs</a:t>
            </a:r>
          </a:p>
          <a:p>
            <a:r>
              <a:rPr lang="en-US" sz="2200" dirty="0"/>
              <a:t>Fuel fabrication and N enrichment have led to slower development of MN fuels than MC fuels</a:t>
            </a:r>
          </a:p>
          <a:p>
            <a:endParaRPr lang="en-US" sz="2200" dirty="0"/>
          </a:p>
        </p:txBody>
      </p:sp>
      <p:sp>
        <p:nvSpPr>
          <p:cNvPr id="5" name="Slide Number Placeholder 4">
            <a:extLst>
              <a:ext uri="{FF2B5EF4-FFF2-40B4-BE49-F238E27FC236}">
                <a16:creationId xmlns:a16="http://schemas.microsoft.com/office/drawing/2014/main" id="{A4926ED1-0017-C345-B167-07ED063506A7}"/>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spTree>
    <p:extLst>
      <p:ext uri="{BB962C8B-B14F-4D97-AF65-F5344CB8AC3E}">
        <p14:creationId xmlns:p14="http://schemas.microsoft.com/office/powerpoint/2010/main" val="29902062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76D94-E413-7B13-5833-801DB58392A9}"/>
              </a:ext>
            </a:extLst>
          </p:cNvPr>
          <p:cNvSpPr>
            <a:spLocks noGrp="1"/>
          </p:cNvSpPr>
          <p:nvPr>
            <p:ph type="title"/>
          </p:nvPr>
        </p:nvSpPr>
        <p:spPr/>
        <p:txBody>
          <a:bodyPr/>
          <a:lstStyle/>
          <a:p>
            <a:r>
              <a:rPr lang="en-US" dirty="0"/>
              <a:t>Irradiation History of Nitrides</a:t>
            </a:r>
          </a:p>
        </p:txBody>
      </p:sp>
      <p:sp>
        <p:nvSpPr>
          <p:cNvPr id="3" name="Content Placeholder 2">
            <a:extLst>
              <a:ext uri="{FF2B5EF4-FFF2-40B4-BE49-F238E27FC236}">
                <a16:creationId xmlns:a16="http://schemas.microsoft.com/office/drawing/2014/main" id="{AF9ADB1F-46D0-02D2-5253-80EF59C3686B}"/>
              </a:ext>
            </a:extLst>
          </p:cNvPr>
          <p:cNvSpPr>
            <a:spLocks noGrp="1"/>
          </p:cNvSpPr>
          <p:nvPr>
            <p:ph sz="half" idx="1"/>
          </p:nvPr>
        </p:nvSpPr>
        <p:spPr/>
        <p:txBody>
          <a:bodyPr/>
          <a:lstStyle/>
          <a:p>
            <a:r>
              <a:rPr lang="en-US" sz="2200" dirty="0"/>
              <a:t>The experience from irradiation of nitride fuels consists of about 1400 UN rods, 300 (</a:t>
            </a:r>
            <a:r>
              <a:rPr lang="en-US" sz="2200" dirty="0" err="1"/>
              <a:t>U,Pu</a:t>
            </a:r>
            <a:r>
              <a:rPr lang="en-US" sz="2200" dirty="0"/>
              <a:t>)N rods, and a few inert matrix and MA-bearing rodlets</a:t>
            </a:r>
          </a:p>
          <a:p>
            <a:r>
              <a:rPr lang="en-US" sz="2200" dirty="0"/>
              <a:t>UN was used as a driver fuel for BR-10 for 18 years, and this is where the majority of the irradiation data comes from</a:t>
            </a:r>
          </a:p>
          <a:p>
            <a:r>
              <a:rPr lang="en-US" sz="2200" dirty="0"/>
              <a:t>Similar to carbides, both Na-bonded and He-bonded pins have been studied, the majority being He</a:t>
            </a:r>
          </a:p>
        </p:txBody>
      </p:sp>
      <p:sp>
        <p:nvSpPr>
          <p:cNvPr id="5" name="Slide Number Placeholder 4">
            <a:extLst>
              <a:ext uri="{FF2B5EF4-FFF2-40B4-BE49-F238E27FC236}">
                <a16:creationId xmlns:a16="http://schemas.microsoft.com/office/drawing/2014/main" id="{FF3082AE-BFB6-EFC6-5C2A-ECE594A74FB6}"/>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pic>
        <p:nvPicPr>
          <p:cNvPr id="6" name="Picture 5">
            <a:extLst>
              <a:ext uri="{FF2B5EF4-FFF2-40B4-BE49-F238E27FC236}">
                <a16:creationId xmlns:a16="http://schemas.microsoft.com/office/drawing/2014/main" id="{1555F248-2A52-EAC4-1100-32AF1EB3D3EA}"/>
              </a:ext>
            </a:extLst>
          </p:cNvPr>
          <p:cNvPicPr>
            <a:picLocks noChangeAspect="1"/>
          </p:cNvPicPr>
          <p:nvPr/>
        </p:nvPicPr>
        <p:blipFill>
          <a:blip r:embed="rId2"/>
          <a:stretch>
            <a:fillRect/>
          </a:stretch>
        </p:blipFill>
        <p:spPr>
          <a:xfrm>
            <a:off x="6394071" y="2198686"/>
            <a:ext cx="5188329" cy="3873881"/>
          </a:xfrm>
          <a:prstGeom prst="rect">
            <a:avLst/>
          </a:prstGeom>
        </p:spPr>
      </p:pic>
    </p:spTree>
    <p:extLst>
      <p:ext uri="{BB962C8B-B14F-4D97-AF65-F5344CB8AC3E}">
        <p14:creationId xmlns:p14="http://schemas.microsoft.com/office/powerpoint/2010/main" val="23011735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CFE8C-DA88-4C4B-80A6-3A9587747A7C}"/>
              </a:ext>
            </a:extLst>
          </p:cNvPr>
          <p:cNvSpPr>
            <a:spLocks noGrp="1"/>
          </p:cNvSpPr>
          <p:nvPr>
            <p:ph type="title"/>
          </p:nvPr>
        </p:nvSpPr>
        <p:spPr/>
        <p:txBody>
          <a:bodyPr/>
          <a:lstStyle/>
          <a:p>
            <a:pPr algn="l"/>
            <a:r>
              <a:rPr lang="en-US" dirty="0"/>
              <a:t>UN Phase Diagram</a:t>
            </a:r>
          </a:p>
        </p:txBody>
      </p:sp>
      <p:pic>
        <p:nvPicPr>
          <p:cNvPr id="6" name="Content Placeholder 5">
            <a:extLst>
              <a:ext uri="{FF2B5EF4-FFF2-40B4-BE49-F238E27FC236}">
                <a16:creationId xmlns:a16="http://schemas.microsoft.com/office/drawing/2014/main" id="{E419FDC8-41B5-4A4F-9C59-D14BA45453C5}"/>
              </a:ext>
            </a:extLst>
          </p:cNvPr>
          <p:cNvPicPr>
            <a:picLocks noGrp="1" noChangeAspect="1"/>
          </p:cNvPicPr>
          <p:nvPr>
            <p:ph sz="half" idx="1"/>
          </p:nvPr>
        </p:nvPicPr>
        <p:blipFill>
          <a:blip r:embed="rId2"/>
          <a:stretch>
            <a:fillRect/>
          </a:stretch>
        </p:blipFill>
        <p:spPr>
          <a:xfrm>
            <a:off x="8728988" y="1653937"/>
            <a:ext cx="3463012" cy="3678228"/>
          </a:xfrm>
          <a:prstGeom prst="rect">
            <a:avLst/>
          </a:prstGeom>
        </p:spPr>
      </p:pic>
      <p:sp>
        <p:nvSpPr>
          <p:cNvPr id="5" name="Slide Number Placeholder 4">
            <a:extLst>
              <a:ext uri="{FF2B5EF4-FFF2-40B4-BE49-F238E27FC236}">
                <a16:creationId xmlns:a16="http://schemas.microsoft.com/office/drawing/2014/main" id="{35E80D04-08CF-5040-AE4E-3CC18E2E7130}"/>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dirty="0"/>
          </a:p>
        </p:txBody>
      </p:sp>
      <p:pic>
        <p:nvPicPr>
          <p:cNvPr id="13" name="Picture 12">
            <a:extLst>
              <a:ext uri="{FF2B5EF4-FFF2-40B4-BE49-F238E27FC236}">
                <a16:creationId xmlns:a16="http://schemas.microsoft.com/office/drawing/2014/main" id="{619CB1EA-F836-FDA0-E08D-7DFA1BEDDB8E}"/>
              </a:ext>
            </a:extLst>
          </p:cNvPr>
          <p:cNvPicPr>
            <a:picLocks noChangeAspect="1"/>
          </p:cNvPicPr>
          <p:nvPr/>
        </p:nvPicPr>
        <p:blipFill>
          <a:blip r:embed="rId3"/>
          <a:stretch>
            <a:fillRect/>
          </a:stretch>
        </p:blipFill>
        <p:spPr>
          <a:xfrm>
            <a:off x="6096000" y="2067872"/>
            <a:ext cx="2777271" cy="2850357"/>
          </a:xfrm>
          <a:prstGeom prst="rect">
            <a:avLst/>
          </a:prstGeom>
        </p:spPr>
      </p:pic>
      <p:sp>
        <p:nvSpPr>
          <p:cNvPr id="16" name="Content Placeholder 2">
            <a:extLst>
              <a:ext uri="{FF2B5EF4-FFF2-40B4-BE49-F238E27FC236}">
                <a16:creationId xmlns:a16="http://schemas.microsoft.com/office/drawing/2014/main" id="{4CB8693C-CD0C-86A9-DD4F-AE6CDA47021D}"/>
              </a:ext>
            </a:extLst>
          </p:cNvPr>
          <p:cNvSpPr txBox="1">
            <a:spLocks/>
          </p:cNvSpPr>
          <p:nvPr/>
        </p:nvSpPr>
        <p:spPr bwMode="auto">
          <a:xfrm>
            <a:off x="609600" y="1968503"/>
            <a:ext cx="5384800" cy="41576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733"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sz="2667"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400"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400"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400"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400" kern="1200">
                <a:solidFill>
                  <a:schemeClr val="tx1"/>
                </a:solidFill>
                <a:latin typeface="+mn-lt"/>
                <a:ea typeface="+mn-ea"/>
                <a:cs typeface="+mn-cs"/>
              </a:defRPr>
            </a:lvl9pPr>
          </a:lstStyle>
          <a:p>
            <a:r>
              <a:rPr lang="en-US" sz="2200" dirty="0"/>
              <a:t>There are two main uranium nitrides, UN and U2N3; the former has an NaCl-type cubic structure, and the latter has an M2O3-type cubic structure at low temperature (alpha-U2N3) and a hexagonal structure at higher temperature (beta-U2N3)</a:t>
            </a:r>
          </a:p>
          <a:p>
            <a:r>
              <a:rPr lang="en-US" sz="2200" dirty="0"/>
              <a:t>The phase diagram of U–N is complicated since the diagram depends on nitrogen pressure</a:t>
            </a:r>
          </a:p>
          <a:p>
            <a:r>
              <a:rPr lang="en-US" sz="2200" dirty="0"/>
              <a:t>There is still uncertainty regarding the phase diagram</a:t>
            </a:r>
          </a:p>
        </p:txBody>
      </p:sp>
    </p:spTree>
    <p:extLst>
      <p:ext uri="{BB962C8B-B14F-4D97-AF65-F5344CB8AC3E}">
        <p14:creationId xmlns:p14="http://schemas.microsoft.com/office/powerpoint/2010/main" val="1396020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1D75A-C44C-CC42-9285-01035376125D}"/>
              </a:ext>
            </a:extLst>
          </p:cNvPr>
          <p:cNvSpPr>
            <a:spLocks noGrp="1"/>
          </p:cNvSpPr>
          <p:nvPr>
            <p:ph type="title"/>
          </p:nvPr>
        </p:nvSpPr>
        <p:spPr/>
        <p:txBody>
          <a:bodyPr/>
          <a:lstStyle/>
          <a:p>
            <a:r>
              <a:rPr lang="en-US" dirty="0"/>
              <a:t>UN Phase Diagram</a:t>
            </a:r>
          </a:p>
        </p:txBody>
      </p:sp>
      <p:sp>
        <p:nvSpPr>
          <p:cNvPr id="3" name="Content Placeholder 2">
            <a:extLst>
              <a:ext uri="{FF2B5EF4-FFF2-40B4-BE49-F238E27FC236}">
                <a16:creationId xmlns:a16="http://schemas.microsoft.com/office/drawing/2014/main" id="{F060E2C6-A2AB-574E-B60E-F922CA4EFD5F}"/>
              </a:ext>
            </a:extLst>
          </p:cNvPr>
          <p:cNvSpPr>
            <a:spLocks noGrp="1"/>
          </p:cNvSpPr>
          <p:nvPr>
            <p:ph sz="half" idx="1"/>
          </p:nvPr>
        </p:nvSpPr>
        <p:spPr>
          <a:xfrm>
            <a:off x="609599" y="1968503"/>
            <a:ext cx="5960165" cy="4157663"/>
          </a:xfrm>
        </p:spPr>
        <p:txBody>
          <a:bodyPr/>
          <a:lstStyle/>
          <a:p>
            <a:r>
              <a:rPr lang="en-US" sz="2200" dirty="0"/>
              <a:t>Where nitrogen pressure is greater than 10</a:t>
            </a:r>
            <a:r>
              <a:rPr lang="en-US" sz="2200" baseline="30000" dirty="0"/>
              <a:t>5</a:t>
            </a:r>
            <a:r>
              <a:rPr lang="en-US" sz="2200" dirty="0"/>
              <a:t> Pa, UN melts at 3123K and that UN and U2N3 have a wide range of </a:t>
            </a:r>
            <a:r>
              <a:rPr lang="en-US" sz="2200" dirty="0" err="1"/>
              <a:t>nonstoichiometry</a:t>
            </a:r>
            <a:endParaRPr lang="en-US" sz="2200" dirty="0"/>
          </a:p>
          <a:p>
            <a:r>
              <a:rPr lang="en-US" sz="2200" dirty="0"/>
              <a:t>At lower nitrogen pressure (&lt;2E5 Pa) UN decomposes such that UN and U2N3 have little </a:t>
            </a:r>
            <a:r>
              <a:rPr lang="en-US" sz="2200" dirty="0" err="1"/>
              <a:t>nonstoichiometry</a:t>
            </a:r>
            <a:endParaRPr lang="en-US" sz="2200" dirty="0"/>
          </a:p>
          <a:p>
            <a:r>
              <a:rPr lang="en-US" sz="2200" dirty="0"/>
              <a:t>At low P</a:t>
            </a:r>
            <a:r>
              <a:rPr lang="en-US" sz="2200" baseline="-25000" dirty="0"/>
              <a:t>N</a:t>
            </a:r>
            <a:r>
              <a:rPr lang="en-US" sz="2200" dirty="0"/>
              <a:t>, the beta-U2N3 phase changes to UN2</a:t>
            </a:r>
          </a:p>
          <a:p>
            <a:r>
              <a:rPr lang="en-US" sz="2200" dirty="0"/>
              <a:t>U2N3 decomposes to UN, and UN decomposes to U and nitrogen at nitrogen pressure below 2.5 atm</a:t>
            </a:r>
          </a:p>
        </p:txBody>
      </p:sp>
      <p:pic>
        <p:nvPicPr>
          <p:cNvPr id="6" name="Content Placeholder 5">
            <a:extLst>
              <a:ext uri="{FF2B5EF4-FFF2-40B4-BE49-F238E27FC236}">
                <a16:creationId xmlns:a16="http://schemas.microsoft.com/office/drawing/2014/main" id="{33E65C2A-2A43-9345-9C77-616480CFF69A}"/>
              </a:ext>
            </a:extLst>
          </p:cNvPr>
          <p:cNvPicPr>
            <a:picLocks noGrp="1" noChangeAspect="1"/>
          </p:cNvPicPr>
          <p:nvPr>
            <p:ph sz="half" idx="2"/>
          </p:nvPr>
        </p:nvPicPr>
        <p:blipFill>
          <a:blip r:embed="rId2"/>
          <a:stretch>
            <a:fillRect/>
          </a:stretch>
        </p:blipFill>
        <p:spPr>
          <a:xfrm>
            <a:off x="6903748" y="1968500"/>
            <a:ext cx="3972503" cy="4157663"/>
          </a:xfrm>
          <a:prstGeom prst="rect">
            <a:avLst/>
          </a:prstGeom>
        </p:spPr>
      </p:pic>
      <p:sp>
        <p:nvSpPr>
          <p:cNvPr id="5" name="Slide Number Placeholder 4">
            <a:extLst>
              <a:ext uri="{FF2B5EF4-FFF2-40B4-BE49-F238E27FC236}">
                <a16:creationId xmlns:a16="http://schemas.microsoft.com/office/drawing/2014/main" id="{D6C915EF-4277-D04E-BB80-CB382462FE8E}"/>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spTree>
    <p:extLst>
      <p:ext uri="{BB962C8B-B14F-4D97-AF65-F5344CB8AC3E}">
        <p14:creationId xmlns:p14="http://schemas.microsoft.com/office/powerpoint/2010/main" val="19732912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626685-13ED-444E-87A4-49AB167CFC56}"/>
              </a:ext>
            </a:extLst>
          </p:cNvPr>
          <p:cNvSpPr>
            <a:spLocks noGrp="1"/>
          </p:cNvSpPr>
          <p:nvPr>
            <p:ph type="title"/>
          </p:nvPr>
        </p:nvSpPr>
        <p:spPr/>
        <p:txBody>
          <a:bodyPr/>
          <a:lstStyle/>
          <a:p>
            <a:r>
              <a:rPr lang="en-US" dirty="0"/>
              <a:t>UN Decomposition</a:t>
            </a:r>
          </a:p>
        </p:txBody>
      </p:sp>
      <p:sp>
        <p:nvSpPr>
          <p:cNvPr id="3" name="Content Placeholder 2">
            <a:extLst>
              <a:ext uri="{FF2B5EF4-FFF2-40B4-BE49-F238E27FC236}">
                <a16:creationId xmlns:a16="http://schemas.microsoft.com/office/drawing/2014/main" id="{354DF1C9-0C8A-3643-9CE5-81DC14A3225E}"/>
              </a:ext>
            </a:extLst>
          </p:cNvPr>
          <p:cNvSpPr>
            <a:spLocks noGrp="1"/>
          </p:cNvSpPr>
          <p:nvPr>
            <p:ph sz="half" idx="1"/>
          </p:nvPr>
        </p:nvSpPr>
        <p:spPr>
          <a:xfrm>
            <a:off x="609600" y="1968500"/>
            <a:ext cx="4876800" cy="4157663"/>
          </a:xfrm>
        </p:spPr>
        <p:txBody>
          <a:bodyPr/>
          <a:lstStyle/>
          <a:p>
            <a:r>
              <a:rPr lang="en-US" sz="2200" dirty="0"/>
              <a:t>The decomposition of U2N3 is the last stage in the formation of UN through carbothermic reduction, thus the equilibrium nitrogen pressure of UN and U2N3 is very important from the viewpoint of their use as nuclear fuels</a:t>
            </a:r>
          </a:p>
          <a:p>
            <a:r>
              <a:rPr lang="en-US" sz="2200" dirty="0"/>
              <a:t>UN decomposes at 3073K and U2N3 decomposes 1620K at nitrogen pressure of 1 atm</a:t>
            </a:r>
          </a:p>
          <a:p>
            <a:endParaRPr lang="en-US" sz="2200" dirty="0"/>
          </a:p>
          <a:p>
            <a:endParaRPr lang="en-US" sz="2200" dirty="0"/>
          </a:p>
        </p:txBody>
      </p:sp>
      <p:pic>
        <p:nvPicPr>
          <p:cNvPr id="6" name="Content Placeholder 5">
            <a:extLst>
              <a:ext uri="{FF2B5EF4-FFF2-40B4-BE49-F238E27FC236}">
                <a16:creationId xmlns:a16="http://schemas.microsoft.com/office/drawing/2014/main" id="{A1E2469C-144E-CC43-B818-EA10CAD3F7AC}"/>
              </a:ext>
            </a:extLst>
          </p:cNvPr>
          <p:cNvPicPr>
            <a:picLocks noGrp="1" noChangeAspect="1"/>
          </p:cNvPicPr>
          <p:nvPr>
            <p:ph sz="half" idx="2"/>
          </p:nvPr>
        </p:nvPicPr>
        <p:blipFill>
          <a:blip r:embed="rId2"/>
          <a:stretch>
            <a:fillRect/>
          </a:stretch>
        </p:blipFill>
        <p:spPr>
          <a:xfrm>
            <a:off x="5780595" y="2230644"/>
            <a:ext cx="3164915" cy="3393455"/>
          </a:xfrm>
          <a:prstGeom prst="rect">
            <a:avLst/>
          </a:prstGeom>
        </p:spPr>
      </p:pic>
      <p:sp>
        <p:nvSpPr>
          <p:cNvPr id="5" name="Slide Number Placeholder 4">
            <a:extLst>
              <a:ext uri="{FF2B5EF4-FFF2-40B4-BE49-F238E27FC236}">
                <a16:creationId xmlns:a16="http://schemas.microsoft.com/office/drawing/2014/main" id="{5691C838-D6AE-EB4E-84B6-D8842425A6B3}"/>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pic>
        <p:nvPicPr>
          <p:cNvPr id="7" name="Picture 6">
            <a:extLst>
              <a:ext uri="{FF2B5EF4-FFF2-40B4-BE49-F238E27FC236}">
                <a16:creationId xmlns:a16="http://schemas.microsoft.com/office/drawing/2014/main" id="{252EA2E1-748C-764A-AA20-2104F33CE300}"/>
              </a:ext>
            </a:extLst>
          </p:cNvPr>
          <p:cNvPicPr>
            <a:picLocks noChangeAspect="1"/>
          </p:cNvPicPr>
          <p:nvPr/>
        </p:nvPicPr>
        <p:blipFill>
          <a:blip r:embed="rId3"/>
          <a:stretch>
            <a:fillRect/>
          </a:stretch>
        </p:blipFill>
        <p:spPr>
          <a:xfrm>
            <a:off x="8945510" y="2222601"/>
            <a:ext cx="3135097" cy="3480373"/>
          </a:xfrm>
          <a:prstGeom prst="rect">
            <a:avLst/>
          </a:prstGeom>
        </p:spPr>
      </p:pic>
    </p:spTree>
    <p:extLst>
      <p:ext uri="{BB962C8B-B14F-4D97-AF65-F5344CB8AC3E}">
        <p14:creationId xmlns:p14="http://schemas.microsoft.com/office/powerpoint/2010/main" val="3378986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83658-E0BE-2948-AC93-3B382352071A}"/>
              </a:ext>
            </a:extLst>
          </p:cNvPr>
          <p:cNvSpPr>
            <a:spLocks noGrp="1"/>
          </p:cNvSpPr>
          <p:nvPr>
            <p:ph type="title"/>
          </p:nvPr>
        </p:nvSpPr>
        <p:spPr/>
        <p:txBody>
          <a:bodyPr/>
          <a:lstStyle/>
          <a:p>
            <a:pPr algn="l"/>
            <a:r>
              <a:rPr lang="en-US" dirty="0"/>
              <a:t>MN Crystal Structure</a:t>
            </a:r>
          </a:p>
        </p:txBody>
      </p:sp>
      <p:pic>
        <p:nvPicPr>
          <p:cNvPr id="6" name="Content Placeholder 5">
            <a:extLst>
              <a:ext uri="{FF2B5EF4-FFF2-40B4-BE49-F238E27FC236}">
                <a16:creationId xmlns:a16="http://schemas.microsoft.com/office/drawing/2014/main" id="{D4AB77CD-DF9F-B749-88BF-61C4792A6F76}"/>
              </a:ext>
            </a:extLst>
          </p:cNvPr>
          <p:cNvPicPr>
            <a:picLocks noGrp="1" noChangeAspect="1"/>
          </p:cNvPicPr>
          <p:nvPr>
            <p:ph sz="half" idx="1"/>
          </p:nvPr>
        </p:nvPicPr>
        <p:blipFill>
          <a:blip r:embed="rId2"/>
          <a:stretch>
            <a:fillRect/>
          </a:stretch>
        </p:blipFill>
        <p:spPr>
          <a:xfrm>
            <a:off x="860948" y="1968500"/>
            <a:ext cx="4882104" cy="4157663"/>
          </a:xfrm>
          <a:prstGeom prst="rect">
            <a:avLst/>
          </a:prstGeom>
        </p:spPr>
      </p:pic>
      <p:pic>
        <p:nvPicPr>
          <p:cNvPr id="7" name="Content Placeholder 6">
            <a:extLst>
              <a:ext uri="{FF2B5EF4-FFF2-40B4-BE49-F238E27FC236}">
                <a16:creationId xmlns:a16="http://schemas.microsoft.com/office/drawing/2014/main" id="{F7BBACBA-F349-E646-8B0E-E0EA2CCDCFC2}"/>
              </a:ext>
            </a:extLst>
          </p:cNvPr>
          <p:cNvPicPr>
            <a:picLocks noGrp="1" noChangeAspect="1"/>
          </p:cNvPicPr>
          <p:nvPr>
            <p:ph sz="half" idx="2"/>
          </p:nvPr>
        </p:nvPicPr>
        <p:blipFill>
          <a:blip r:embed="rId3"/>
          <a:stretch>
            <a:fillRect/>
          </a:stretch>
        </p:blipFill>
        <p:spPr>
          <a:xfrm>
            <a:off x="7847609" y="947183"/>
            <a:ext cx="4097186" cy="3360411"/>
          </a:xfrm>
          <a:prstGeom prst="rect">
            <a:avLst/>
          </a:prstGeom>
        </p:spPr>
      </p:pic>
      <p:sp>
        <p:nvSpPr>
          <p:cNvPr id="5" name="Slide Number Placeholder 4">
            <a:extLst>
              <a:ext uri="{FF2B5EF4-FFF2-40B4-BE49-F238E27FC236}">
                <a16:creationId xmlns:a16="http://schemas.microsoft.com/office/drawing/2014/main" id="{83F84630-7890-6B48-AAEC-F02D377DB60E}"/>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sp>
        <p:nvSpPr>
          <p:cNvPr id="3" name="Content Placeholder 2">
            <a:extLst>
              <a:ext uri="{FF2B5EF4-FFF2-40B4-BE49-F238E27FC236}">
                <a16:creationId xmlns:a16="http://schemas.microsoft.com/office/drawing/2014/main" id="{0865A1F8-65F7-33F5-B618-27887D280DF9}"/>
              </a:ext>
            </a:extLst>
          </p:cNvPr>
          <p:cNvSpPr txBox="1">
            <a:spLocks/>
          </p:cNvSpPr>
          <p:nvPr/>
        </p:nvSpPr>
        <p:spPr bwMode="auto">
          <a:xfrm>
            <a:off x="609600" y="1968500"/>
            <a:ext cx="4612396" cy="41576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733"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sz="2667"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400"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400"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400"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400" kern="1200">
                <a:solidFill>
                  <a:schemeClr val="tx1"/>
                </a:solidFill>
                <a:latin typeface="+mn-lt"/>
                <a:ea typeface="+mn-ea"/>
                <a:cs typeface="+mn-cs"/>
              </a:defRPr>
            </a:lvl9pPr>
          </a:lstStyle>
          <a:p>
            <a:r>
              <a:rPr lang="en-US" sz="2200" dirty="0"/>
              <a:t>UN has same NaCl-type close-packed structure as UC</a:t>
            </a:r>
          </a:p>
          <a:p>
            <a:r>
              <a:rPr lang="en-US" sz="2200" dirty="0"/>
              <a:t>Several actinides also share this NaCl-type structure, and thus can exist as substitutional species in UN/</a:t>
            </a:r>
            <a:r>
              <a:rPr lang="en-US" sz="2200" dirty="0" err="1"/>
              <a:t>PuN</a:t>
            </a:r>
            <a:endParaRPr lang="en-US" sz="2200" dirty="0"/>
          </a:p>
          <a:p>
            <a:r>
              <a:rPr lang="en-US" sz="2200" dirty="0"/>
              <a:t>Allows for fabrication of homogeneous mixed nitride fuels, including MA-bearing fuels </a:t>
            </a:r>
          </a:p>
          <a:p>
            <a:endParaRPr lang="en-US" sz="2200" dirty="0"/>
          </a:p>
          <a:p>
            <a:endParaRPr lang="en-US" sz="2200" dirty="0"/>
          </a:p>
        </p:txBody>
      </p:sp>
    </p:spTree>
    <p:extLst>
      <p:ext uri="{BB962C8B-B14F-4D97-AF65-F5344CB8AC3E}">
        <p14:creationId xmlns:p14="http://schemas.microsoft.com/office/powerpoint/2010/main" val="36030781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C1B2D8-0A89-6E41-8D76-2EB715645836}"/>
              </a:ext>
            </a:extLst>
          </p:cNvPr>
          <p:cNvSpPr>
            <a:spLocks noGrp="1"/>
          </p:cNvSpPr>
          <p:nvPr>
            <p:ph type="title"/>
          </p:nvPr>
        </p:nvSpPr>
        <p:spPr/>
        <p:txBody>
          <a:bodyPr/>
          <a:lstStyle/>
          <a:p>
            <a:r>
              <a:rPr lang="en-US" dirty="0"/>
              <a:t>Ternary U/Pu-N</a:t>
            </a:r>
          </a:p>
        </p:txBody>
      </p:sp>
      <p:sp>
        <p:nvSpPr>
          <p:cNvPr id="3" name="Content Placeholder 2">
            <a:extLst>
              <a:ext uri="{FF2B5EF4-FFF2-40B4-BE49-F238E27FC236}">
                <a16:creationId xmlns:a16="http://schemas.microsoft.com/office/drawing/2014/main" id="{B283B449-B0E5-7649-BDB0-4DFADBEBB2EA}"/>
              </a:ext>
            </a:extLst>
          </p:cNvPr>
          <p:cNvSpPr>
            <a:spLocks noGrp="1"/>
          </p:cNvSpPr>
          <p:nvPr>
            <p:ph sz="half" idx="1"/>
          </p:nvPr>
        </p:nvSpPr>
        <p:spPr/>
        <p:txBody>
          <a:bodyPr/>
          <a:lstStyle/>
          <a:p>
            <a:r>
              <a:rPr lang="en-US" sz="2200" dirty="0"/>
              <a:t>The ternary system is characterized by a complete solubility of UN and </a:t>
            </a:r>
            <a:r>
              <a:rPr lang="en-US" sz="2200" dirty="0" err="1"/>
              <a:t>PuN</a:t>
            </a:r>
            <a:endParaRPr lang="en-US" sz="2200" dirty="0"/>
          </a:p>
          <a:p>
            <a:r>
              <a:rPr lang="en-US" sz="2200" dirty="0"/>
              <a:t>The (</a:t>
            </a:r>
            <a:r>
              <a:rPr lang="en-US" sz="2200" dirty="0" err="1"/>
              <a:t>U,Pu</a:t>
            </a:r>
            <a:r>
              <a:rPr lang="en-US" sz="2200" dirty="0"/>
              <a:t>)N phase has a narrow composition range of the N/(</a:t>
            </a:r>
            <a:r>
              <a:rPr lang="en-US" sz="2200" dirty="0" err="1"/>
              <a:t>U+Pu</a:t>
            </a:r>
            <a:r>
              <a:rPr lang="en-US" sz="2200" dirty="0"/>
              <a:t>) molar ratio</a:t>
            </a:r>
          </a:p>
          <a:p>
            <a:r>
              <a:rPr lang="en-US" sz="2200" dirty="0"/>
              <a:t>Although Pu2N3 does not exist in the Pu–N system, a </a:t>
            </a:r>
            <a:r>
              <a:rPr lang="en-US" sz="2200" dirty="0" err="1"/>
              <a:t>sesquinitride</a:t>
            </a:r>
            <a:r>
              <a:rPr lang="en-US" sz="2200" dirty="0"/>
              <a:t> phase was identified in the U–Pu–N system at a Pu/(</a:t>
            </a:r>
            <a:r>
              <a:rPr lang="en-US" sz="2200" dirty="0" err="1"/>
              <a:t>U+Pu</a:t>
            </a:r>
            <a:r>
              <a:rPr lang="en-US" sz="2200" dirty="0"/>
              <a:t>) molar ratio of 0.15</a:t>
            </a:r>
          </a:p>
          <a:p>
            <a:endParaRPr lang="en-US" sz="2200" dirty="0"/>
          </a:p>
        </p:txBody>
      </p:sp>
      <p:sp>
        <p:nvSpPr>
          <p:cNvPr id="4" name="Content Placeholder 3">
            <a:extLst>
              <a:ext uri="{FF2B5EF4-FFF2-40B4-BE49-F238E27FC236}">
                <a16:creationId xmlns:a16="http://schemas.microsoft.com/office/drawing/2014/main" id="{9F01189D-7A4E-DF47-93AD-6BF2AA1DFE0B}"/>
              </a:ext>
            </a:extLst>
          </p:cNvPr>
          <p:cNvSpPr>
            <a:spLocks noGrp="1"/>
          </p:cNvSpPr>
          <p:nvPr>
            <p:ph sz="half" idx="2"/>
          </p:nvPr>
        </p:nvSpPr>
        <p:spPr/>
        <p:txBody>
          <a:bodyPr/>
          <a:lstStyle/>
          <a:p>
            <a:r>
              <a:rPr lang="en-US" sz="2200" dirty="0"/>
              <a:t>In a mononitride lattice with NaCl-type structure, small nitrogen atoms are incorporated into a dense face-centered cubic packing of metal atoms</a:t>
            </a:r>
          </a:p>
          <a:p>
            <a:endParaRPr lang="en-US" sz="2200" dirty="0"/>
          </a:p>
        </p:txBody>
      </p:sp>
      <p:sp>
        <p:nvSpPr>
          <p:cNvPr id="5" name="Slide Number Placeholder 4">
            <a:extLst>
              <a:ext uri="{FF2B5EF4-FFF2-40B4-BE49-F238E27FC236}">
                <a16:creationId xmlns:a16="http://schemas.microsoft.com/office/drawing/2014/main" id="{AC0980D8-C0F8-D54F-8AA3-6D305D4EE32F}"/>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pic>
        <p:nvPicPr>
          <p:cNvPr id="7" name="Content Placeholder 6">
            <a:extLst>
              <a:ext uri="{FF2B5EF4-FFF2-40B4-BE49-F238E27FC236}">
                <a16:creationId xmlns:a16="http://schemas.microsoft.com/office/drawing/2014/main" id="{47F34E8C-7265-364E-9819-4A5C6B25A1CB}"/>
              </a:ext>
            </a:extLst>
          </p:cNvPr>
          <p:cNvPicPr>
            <a:picLocks noChangeAspect="1"/>
          </p:cNvPicPr>
          <p:nvPr/>
        </p:nvPicPr>
        <p:blipFill rotWithShape="1">
          <a:blip r:embed="rId2"/>
          <a:srcRect r="51246" b="47584"/>
          <a:stretch/>
        </p:blipFill>
        <p:spPr bwMode="auto">
          <a:xfrm>
            <a:off x="7533033" y="3684277"/>
            <a:ext cx="2844800" cy="28349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6087708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3E5D1F7C-4A5C-0440-9AE9-6F62181F0D57}"/>
              </a:ext>
            </a:extLst>
          </p:cNvPr>
          <p:cNvPicPr>
            <a:picLocks noChangeAspect="1"/>
          </p:cNvPicPr>
          <p:nvPr/>
        </p:nvPicPr>
        <p:blipFill>
          <a:blip r:embed="rId2"/>
          <a:stretch>
            <a:fillRect/>
          </a:stretch>
        </p:blipFill>
        <p:spPr>
          <a:xfrm>
            <a:off x="8007626" y="4001097"/>
            <a:ext cx="3574774" cy="2706282"/>
          </a:xfrm>
          <a:prstGeom prst="rect">
            <a:avLst/>
          </a:prstGeom>
        </p:spPr>
      </p:pic>
      <p:sp>
        <p:nvSpPr>
          <p:cNvPr id="2" name="Title 1">
            <a:extLst>
              <a:ext uri="{FF2B5EF4-FFF2-40B4-BE49-F238E27FC236}">
                <a16:creationId xmlns:a16="http://schemas.microsoft.com/office/drawing/2014/main" id="{1DB45949-24EC-7D4D-90DC-323367E6A753}"/>
              </a:ext>
            </a:extLst>
          </p:cNvPr>
          <p:cNvSpPr>
            <a:spLocks noGrp="1"/>
          </p:cNvSpPr>
          <p:nvPr>
            <p:ph type="title"/>
          </p:nvPr>
        </p:nvSpPr>
        <p:spPr/>
        <p:txBody>
          <a:bodyPr/>
          <a:lstStyle/>
          <a:p>
            <a:r>
              <a:rPr lang="en-US" dirty="0"/>
              <a:t>Effect of Pu on U/Pu N Properties</a:t>
            </a:r>
          </a:p>
        </p:txBody>
      </p:sp>
      <p:sp>
        <p:nvSpPr>
          <p:cNvPr id="3" name="Content Placeholder 2">
            <a:extLst>
              <a:ext uri="{FF2B5EF4-FFF2-40B4-BE49-F238E27FC236}">
                <a16:creationId xmlns:a16="http://schemas.microsoft.com/office/drawing/2014/main" id="{4993ED67-FAC7-4740-8173-9AC6766AC290}"/>
              </a:ext>
            </a:extLst>
          </p:cNvPr>
          <p:cNvSpPr>
            <a:spLocks noGrp="1"/>
          </p:cNvSpPr>
          <p:nvPr>
            <p:ph sz="half" idx="1"/>
          </p:nvPr>
        </p:nvSpPr>
        <p:spPr>
          <a:xfrm>
            <a:off x="609600" y="1968503"/>
            <a:ext cx="10972800" cy="1987271"/>
          </a:xfrm>
        </p:spPr>
        <p:txBody>
          <a:bodyPr/>
          <a:lstStyle/>
          <a:p>
            <a:r>
              <a:rPr lang="en-US" sz="2200" dirty="0"/>
              <a:t>The addition of Pu can dramatically affect thermophysical properties</a:t>
            </a:r>
          </a:p>
          <a:p>
            <a:r>
              <a:rPr lang="en-US" sz="2200" dirty="0"/>
              <a:t>Pu is more volatile than U, and has a higher vapor pressure</a:t>
            </a:r>
          </a:p>
          <a:p>
            <a:r>
              <a:rPr lang="en-US" sz="2200" dirty="0"/>
              <a:t>Pu degrades the thermal conductivity by as much as 2X</a:t>
            </a:r>
          </a:p>
          <a:p>
            <a:r>
              <a:rPr lang="en-US" sz="2200" dirty="0" err="1"/>
              <a:t>PuN</a:t>
            </a:r>
            <a:r>
              <a:rPr lang="en-US" sz="2200" dirty="0"/>
              <a:t> is less stable than UN, and could be susceptible to radiolysis</a:t>
            </a:r>
          </a:p>
        </p:txBody>
      </p:sp>
      <p:pic>
        <p:nvPicPr>
          <p:cNvPr id="6" name="Content Placeholder 5">
            <a:extLst>
              <a:ext uri="{FF2B5EF4-FFF2-40B4-BE49-F238E27FC236}">
                <a16:creationId xmlns:a16="http://schemas.microsoft.com/office/drawing/2014/main" id="{9E6DB7B1-0C9F-5646-BC6F-150828BA484B}"/>
              </a:ext>
            </a:extLst>
          </p:cNvPr>
          <p:cNvPicPr>
            <a:picLocks noGrp="1" noChangeAspect="1"/>
          </p:cNvPicPr>
          <p:nvPr>
            <p:ph sz="half" idx="2"/>
          </p:nvPr>
        </p:nvPicPr>
        <p:blipFill>
          <a:blip r:embed="rId3"/>
          <a:stretch>
            <a:fillRect/>
          </a:stretch>
        </p:blipFill>
        <p:spPr>
          <a:xfrm>
            <a:off x="4296327" y="4001097"/>
            <a:ext cx="3708136" cy="2720379"/>
          </a:xfrm>
          <a:prstGeom prst="rect">
            <a:avLst/>
          </a:prstGeom>
        </p:spPr>
      </p:pic>
      <p:sp>
        <p:nvSpPr>
          <p:cNvPr id="5" name="Slide Number Placeholder 4">
            <a:extLst>
              <a:ext uri="{FF2B5EF4-FFF2-40B4-BE49-F238E27FC236}">
                <a16:creationId xmlns:a16="http://schemas.microsoft.com/office/drawing/2014/main" id="{C9BB71B1-8395-9746-80A3-F456182A5726}"/>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pic>
        <p:nvPicPr>
          <p:cNvPr id="8" name="Picture 7">
            <a:extLst>
              <a:ext uri="{FF2B5EF4-FFF2-40B4-BE49-F238E27FC236}">
                <a16:creationId xmlns:a16="http://schemas.microsoft.com/office/drawing/2014/main" id="{4C697AB1-67DC-0D49-B671-34F1C6D984B8}"/>
              </a:ext>
            </a:extLst>
          </p:cNvPr>
          <p:cNvPicPr>
            <a:picLocks noChangeAspect="1"/>
          </p:cNvPicPr>
          <p:nvPr/>
        </p:nvPicPr>
        <p:blipFill>
          <a:blip r:embed="rId4"/>
          <a:stretch>
            <a:fillRect/>
          </a:stretch>
        </p:blipFill>
        <p:spPr>
          <a:xfrm>
            <a:off x="439254" y="4086154"/>
            <a:ext cx="3861076" cy="2771846"/>
          </a:xfrm>
          <a:prstGeom prst="rect">
            <a:avLst/>
          </a:prstGeom>
        </p:spPr>
      </p:pic>
    </p:spTree>
    <p:extLst>
      <p:ext uri="{BB962C8B-B14F-4D97-AF65-F5344CB8AC3E}">
        <p14:creationId xmlns:p14="http://schemas.microsoft.com/office/powerpoint/2010/main" val="1561381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6BE2D-0FEC-AF46-A862-DE697C0BB9EA}"/>
              </a:ext>
            </a:extLst>
          </p:cNvPr>
          <p:cNvSpPr>
            <a:spLocks noGrp="1"/>
          </p:cNvSpPr>
          <p:nvPr>
            <p:ph type="title"/>
          </p:nvPr>
        </p:nvSpPr>
        <p:spPr/>
        <p:txBody>
          <a:bodyPr/>
          <a:lstStyle/>
          <a:p>
            <a:r>
              <a:rPr lang="en-US" dirty="0"/>
              <a:t>UN Irradiation Performance</a:t>
            </a:r>
          </a:p>
        </p:txBody>
      </p:sp>
      <p:sp>
        <p:nvSpPr>
          <p:cNvPr id="3" name="Content Placeholder 2">
            <a:extLst>
              <a:ext uri="{FF2B5EF4-FFF2-40B4-BE49-F238E27FC236}">
                <a16:creationId xmlns:a16="http://schemas.microsoft.com/office/drawing/2014/main" id="{B693C1B5-D736-0640-87AB-2E82C1C143BA}"/>
              </a:ext>
            </a:extLst>
          </p:cNvPr>
          <p:cNvSpPr>
            <a:spLocks noGrp="1"/>
          </p:cNvSpPr>
          <p:nvPr>
            <p:ph sz="half" idx="1"/>
          </p:nvPr>
        </p:nvSpPr>
        <p:spPr>
          <a:xfrm>
            <a:off x="609599" y="1968504"/>
            <a:ext cx="10972799" cy="1930400"/>
          </a:xfrm>
        </p:spPr>
        <p:txBody>
          <a:bodyPr/>
          <a:lstStyle/>
          <a:p>
            <a:r>
              <a:rPr lang="en-US" sz="2200" dirty="0"/>
              <a:t>The irradiation experience of nitride fuel is rather limited in comparison with the other fuels for fast reactors, such as oxide, metallic, and carbide fuels</a:t>
            </a:r>
          </a:p>
          <a:p>
            <a:r>
              <a:rPr lang="en-US" sz="2200" dirty="0"/>
              <a:t>The number of (</a:t>
            </a:r>
            <a:r>
              <a:rPr lang="en-US" sz="2200" dirty="0" err="1"/>
              <a:t>U,Pu</a:t>
            </a:r>
            <a:r>
              <a:rPr lang="en-US" sz="2200" dirty="0"/>
              <a:t>)N fuel pins irradiated in fast reactors so far is smaller than 200</a:t>
            </a:r>
          </a:p>
          <a:p>
            <a:r>
              <a:rPr lang="en-US" sz="2200" dirty="0"/>
              <a:t>UN pins have reached 10% FIMA in fast reactors, and greater than 15% FIMA in thermal reactors</a:t>
            </a:r>
          </a:p>
          <a:p>
            <a:endParaRPr lang="en-US" sz="2200" dirty="0"/>
          </a:p>
          <a:p>
            <a:endParaRPr lang="en-US" sz="2200" dirty="0"/>
          </a:p>
          <a:p>
            <a:endParaRPr lang="en-US" sz="2200" dirty="0"/>
          </a:p>
        </p:txBody>
      </p:sp>
      <p:sp>
        <p:nvSpPr>
          <p:cNvPr id="5" name="Slide Number Placeholder 4">
            <a:extLst>
              <a:ext uri="{FF2B5EF4-FFF2-40B4-BE49-F238E27FC236}">
                <a16:creationId xmlns:a16="http://schemas.microsoft.com/office/drawing/2014/main" id="{342547D4-5220-0E45-8495-514E9C2201A3}"/>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pic>
        <p:nvPicPr>
          <p:cNvPr id="6" name="Picture 5">
            <a:extLst>
              <a:ext uri="{FF2B5EF4-FFF2-40B4-BE49-F238E27FC236}">
                <a16:creationId xmlns:a16="http://schemas.microsoft.com/office/drawing/2014/main" id="{192BE554-2153-6347-A4C1-82686B70DD91}"/>
              </a:ext>
            </a:extLst>
          </p:cNvPr>
          <p:cNvPicPr>
            <a:picLocks noChangeAspect="1"/>
          </p:cNvPicPr>
          <p:nvPr/>
        </p:nvPicPr>
        <p:blipFill>
          <a:blip r:embed="rId2"/>
          <a:stretch>
            <a:fillRect/>
          </a:stretch>
        </p:blipFill>
        <p:spPr>
          <a:xfrm>
            <a:off x="1130298" y="4246148"/>
            <a:ext cx="9931400" cy="1930400"/>
          </a:xfrm>
          <a:prstGeom prst="rect">
            <a:avLst/>
          </a:prstGeom>
        </p:spPr>
      </p:pic>
    </p:spTree>
    <p:extLst>
      <p:ext uri="{BB962C8B-B14F-4D97-AF65-F5344CB8AC3E}">
        <p14:creationId xmlns:p14="http://schemas.microsoft.com/office/powerpoint/2010/main" val="12064353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590E5-3B64-7F4C-9556-D50396C0EC1F}"/>
              </a:ext>
            </a:extLst>
          </p:cNvPr>
          <p:cNvSpPr>
            <a:spLocks noGrp="1"/>
          </p:cNvSpPr>
          <p:nvPr>
            <p:ph type="title"/>
          </p:nvPr>
        </p:nvSpPr>
        <p:spPr/>
        <p:txBody>
          <a:bodyPr/>
          <a:lstStyle/>
          <a:p>
            <a:r>
              <a:rPr lang="en-US" dirty="0"/>
              <a:t>UN Pins</a:t>
            </a:r>
          </a:p>
        </p:txBody>
      </p:sp>
      <p:sp>
        <p:nvSpPr>
          <p:cNvPr id="3" name="Content Placeholder 2">
            <a:extLst>
              <a:ext uri="{FF2B5EF4-FFF2-40B4-BE49-F238E27FC236}">
                <a16:creationId xmlns:a16="http://schemas.microsoft.com/office/drawing/2014/main" id="{CFC202C0-3DA6-F546-975D-0AF26B787E64}"/>
              </a:ext>
            </a:extLst>
          </p:cNvPr>
          <p:cNvSpPr>
            <a:spLocks noGrp="1"/>
          </p:cNvSpPr>
          <p:nvPr>
            <p:ph sz="half" idx="1"/>
          </p:nvPr>
        </p:nvSpPr>
        <p:spPr/>
        <p:txBody>
          <a:bodyPr/>
          <a:lstStyle/>
          <a:p>
            <a:r>
              <a:rPr lang="en-US" sz="2200" dirty="0"/>
              <a:t>Similar to carbides, pin designs are either He-bonded or Na-bonded</a:t>
            </a:r>
          </a:p>
          <a:p>
            <a:r>
              <a:rPr lang="en-US" sz="2200" dirty="0"/>
              <a:t>He-bonded fuel pin is characterized by low-density pellets (80–85% of theoretical density (TD)) and a small gap </a:t>
            </a:r>
          </a:p>
          <a:p>
            <a:r>
              <a:rPr lang="en-US" sz="2200" dirty="0"/>
              <a:t>Na-bonded fuel pin is characterized by high-density pellets (&gt;90% TD) and a large gap</a:t>
            </a:r>
          </a:p>
          <a:p>
            <a:endParaRPr lang="en-US" sz="2200" dirty="0"/>
          </a:p>
        </p:txBody>
      </p:sp>
      <p:sp>
        <p:nvSpPr>
          <p:cNvPr id="4" name="Content Placeholder 3">
            <a:extLst>
              <a:ext uri="{FF2B5EF4-FFF2-40B4-BE49-F238E27FC236}">
                <a16:creationId xmlns:a16="http://schemas.microsoft.com/office/drawing/2014/main" id="{BF408CDA-E6C4-8D4B-9659-301CF6DD6B1D}"/>
              </a:ext>
            </a:extLst>
          </p:cNvPr>
          <p:cNvSpPr>
            <a:spLocks noGrp="1"/>
          </p:cNvSpPr>
          <p:nvPr>
            <p:ph sz="half" idx="2"/>
          </p:nvPr>
        </p:nvSpPr>
        <p:spPr/>
        <p:txBody>
          <a:bodyPr/>
          <a:lstStyle/>
          <a:p>
            <a:r>
              <a:rPr lang="en-US" sz="2200" dirty="0"/>
              <a:t>Na-bonded concept has the advantage of keeping the fuel temperature relatively low due to good thermal conductivity of liquid Na</a:t>
            </a:r>
          </a:p>
          <a:p>
            <a:r>
              <a:rPr lang="en-US" sz="2200" dirty="0"/>
              <a:t>Difficulties with Na are the reactivity in air, and additional hurdles in fabrication and reprocessing</a:t>
            </a:r>
          </a:p>
          <a:p>
            <a:endParaRPr lang="en-US" sz="2200" dirty="0"/>
          </a:p>
        </p:txBody>
      </p:sp>
      <p:sp>
        <p:nvSpPr>
          <p:cNvPr id="5" name="Slide Number Placeholder 4">
            <a:extLst>
              <a:ext uri="{FF2B5EF4-FFF2-40B4-BE49-F238E27FC236}">
                <a16:creationId xmlns:a16="http://schemas.microsoft.com/office/drawing/2014/main" id="{C8C022D4-2FFB-F34E-884C-ADAE783ECD35}"/>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spTree>
    <p:extLst>
      <p:ext uri="{BB962C8B-B14F-4D97-AF65-F5344CB8AC3E}">
        <p14:creationId xmlns:p14="http://schemas.microsoft.com/office/powerpoint/2010/main" val="42146895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106AD-4071-E144-BFEA-DE21A18868C0}"/>
              </a:ext>
            </a:extLst>
          </p:cNvPr>
          <p:cNvSpPr>
            <a:spLocks noGrp="1"/>
          </p:cNvSpPr>
          <p:nvPr>
            <p:ph type="title"/>
          </p:nvPr>
        </p:nvSpPr>
        <p:spPr/>
        <p:txBody>
          <a:bodyPr/>
          <a:lstStyle/>
          <a:p>
            <a:r>
              <a:rPr lang="en-US" dirty="0"/>
              <a:t>UN Pins</a:t>
            </a:r>
          </a:p>
        </p:txBody>
      </p:sp>
      <p:sp>
        <p:nvSpPr>
          <p:cNvPr id="3" name="Content Placeholder 2">
            <a:extLst>
              <a:ext uri="{FF2B5EF4-FFF2-40B4-BE49-F238E27FC236}">
                <a16:creationId xmlns:a16="http://schemas.microsoft.com/office/drawing/2014/main" id="{9367DB9B-7D3E-8440-8B4D-45B193FE2A95}"/>
              </a:ext>
            </a:extLst>
          </p:cNvPr>
          <p:cNvSpPr>
            <a:spLocks noGrp="1"/>
          </p:cNvSpPr>
          <p:nvPr>
            <p:ph sz="half" idx="1"/>
          </p:nvPr>
        </p:nvSpPr>
        <p:spPr/>
        <p:txBody>
          <a:bodyPr/>
          <a:lstStyle/>
          <a:p>
            <a:r>
              <a:rPr lang="en-US" sz="2200" dirty="0"/>
              <a:t>The He-bonding concept is considered as the reference for (</a:t>
            </a:r>
            <a:r>
              <a:rPr lang="en-US" sz="2200" dirty="0" err="1"/>
              <a:t>U,Pu</a:t>
            </a:r>
            <a:r>
              <a:rPr lang="en-US" sz="2200" dirty="0"/>
              <a:t>)N fuel</a:t>
            </a:r>
          </a:p>
          <a:p>
            <a:r>
              <a:rPr lang="en-US" sz="2200" dirty="0"/>
              <a:t>The temperature of fuel pellets becomes high in comparison with the fuel with Na bonding, especially at an early stage of irradiation</a:t>
            </a:r>
          </a:p>
          <a:p>
            <a:r>
              <a:rPr lang="en-US" sz="2200" dirty="0"/>
              <a:t>The small gap is closed by free swelling of fuel pellets at a burnup of 2–3% FIMA</a:t>
            </a:r>
          </a:p>
          <a:p>
            <a:endParaRPr lang="en-US" sz="2200" dirty="0"/>
          </a:p>
          <a:p>
            <a:endParaRPr lang="en-US" sz="2200" dirty="0"/>
          </a:p>
        </p:txBody>
      </p:sp>
      <p:pic>
        <p:nvPicPr>
          <p:cNvPr id="6" name="Content Placeholder 5">
            <a:extLst>
              <a:ext uri="{FF2B5EF4-FFF2-40B4-BE49-F238E27FC236}">
                <a16:creationId xmlns:a16="http://schemas.microsoft.com/office/drawing/2014/main" id="{FC3272A5-4408-1143-9B48-6C218B3D0781}"/>
              </a:ext>
            </a:extLst>
          </p:cNvPr>
          <p:cNvPicPr>
            <a:picLocks noGrp="1" noChangeAspect="1"/>
          </p:cNvPicPr>
          <p:nvPr>
            <p:ph sz="half" idx="2"/>
          </p:nvPr>
        </p:nvPicPr>
        <p:blipFill>
          <a:blip r:embed="rId2"/>
          <a:stretch>
            <a:fillRect/>
          </a:stretch>
        </p:blipFill>
        <p:spPr>
          <a:xfrm>
            <a:off x="6571753" y="1968500"/>
            <a:ext cx="4636494" cy="4157663"/>
          </a:xfrm>
          <a:prstGeom prst="rect">
            <a:avLst/>
          </a:prstGeom>
        </p:spPr>
      </p:pic>
      <p:sp>
        <p:nvSpPr>
          <p:cNvPr id="5" name="Slide Number Placeholder 4">
            <a:extLst>
              <a:ext uri="{FF2B5EF4-FFF2-40B4-BE49-F238E27FC236}">
                <a16:creationId xmlns:a16="http://schemas.microsoft.com/office/drawing/2014/main" id="{6C015CED-94EA-284E-BF63-B8181C13C277}"/>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spTree>
    <p:extLst>
      <p:ext uri="{BB962C8B-B14F-4D97-AF65-F5344CB8AC3E}">
        <p14:creationId xmlns:p14="http://schemas.microsoft.com/office/powerpoint/2010/main" val="31042144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106AD-4071-E144-BFEA-DE21A18868C0}"/>
              </a:ext>
            </a:extLst>
          </p:cNvPr>
          <p:cNvSpPr>
            <a:spLocks noGrp="1"/>
          </p:cNvSpPr>
          <p:nvPr>
            <p:ph type="title"/>
          </p:nvPr>
        </p:nvSpPr>
        <p:spPr/>
        <p:txBody>
          <a:bodyPr/>
          <a:lstStyle/>
          <a:p>
            <a:r>
              <a:rPr lang="en-US" dirty="0"/>
              <a:t>Temperature with Burnup</a:t>
            </a:r>
          </a:p>
        </p:txBody>
      </p:sp>
      <p:sp>
        <p:nvSpPr>
          <p:cNvPr id="3" name="Content Placeholder 2">
            <a:extLst>
              <a:ext uri="{FF2B5EF4-FFF2-40B4-BE49-F238E27FC236}">
                <a16:creationId xmlns:a16="http://schemas.microsoft.com/office/drawing/2014/main" id="{9367DB9B-7D3E-8440-8B4D-45B193FE2A95}"/>
              </a:ext>
            </a:extLst>
          </p:cNvPr>
          <p:cNvSpPr>
            <a:spLocks noGrp="1"/>
          </p:cNvSpPr>
          <p:nvPr>
            <p:ph sz="half" idx="1"/>
          </p:nvPr>
        </p:nvSpPr>
        <p:spPr/>
        <p:txBody>
          <a:bodyPr/>
          <a:lstStyle/>
          <a:p>
            <a:r>
              <a:rPr lang="en-US" sz="2200" dirty="0"/>
              <a:t>Similar to carbides, have three stages in temperature</a:t>
            </a:r>
          </a:p>
          <a:p>
            <a:r>
              <a:rPr lang="en-US" sz="2200" dirty="0"/>
              <a:t>Stage A is the first rise of power and lasts for one to several days</a:t>
            </a:r>
          </a:p>
          <a:p>
            <a:r>
              <a:rPr lang="en-US" sz="2200" dirty="0"/>
              <a:t>Stage B has the </a:t>
            </a:r>
            <a:r>
              <a:rPr lang="en-US" sz="2200" dirty="0" err="1"/>
              <a:t>resintering</a:t>
            </a:r>
            <a:r>
              <a:rPr lang="en-US" sz="2200" dirty="0"/>
              <a:t> of pellets center and closure of He gap</a:t>
            </a:r>
          </a:p>
          <a:p>
            <a:r>
              <a:rPr lang="en-US" sz="2200" dirty="0"/>
              <a:t>Stage C is the quasi steady state irradiation period in which FCMI begins</a:t>
            </a:r>
          </a:p>
          <a:p>
            <a:r>
              <a:rPr lang="en-US" sz="2200" dirty="0"/>
              <a:t>The TD of the fuel is reduced to ~80% to avoid excessive strain on the cladding</a:t>
            </a:r>
          </a:p>
          <a:p>
            <a:endParaRPr lang="en-US" sz="2200" dirty="0"/>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FC3272A5-4408-1143-9B48-6C218B3D0781}"/>
              </a:ext>
            </a:extLst>
          </p:cNvPr>
          <p:cNvPicPr>
            <a:picLocks noGrp="1" noChangeAspect="1"/>
          </p:cNvPicPr>
          <p:nvPr>
            <p:ph sz="half" idx="2"/>
          </p:nvPr>
        </p:nvPicPr>
        <p:blipFill>
          <a:blip r:embed="rId2"/>
          <a:stretch>
            <a:fillRect/>
          </a:stretch>
        </p:blipFill>
        <p:spPr>
          <a:xfrm>
            <a:off x="6571753" y="1968500"/>
            <a:ext cx="4636494" cy="4157663"/>
          </a:xfrm>
          <a:prstGeom prst="rect">
            <a:avLst/>
          </a:prstGeom>
        </p:spPr>
      </p:pic>
      <p:sp>
        <p:nvSpPr>
          <p:cNvPr id="5" name="Slide Number Placeholder 4">
            <a:extLst>
              <a:ext uri="{FF2B5EF4-FFF2-40B4-BE49-F238E27FC236}">
                <a16:creationId xmlns:a16="http://schemas.microsoft.com/office/drawing/2014/main" id="{6C015CED-94EA-284E-BF63-B8181C13C277}"/>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981800058"/>
      </p:ext>
    </p:extLst>
  </p:cSld>
  <p:clrMapOvr>
    <a:masterClrMapping/>
  </p:clrMapOvr>
</p:sld>
</file>

<file path=ppt/theme/theme1.xml><?xml version="1.0" encoding="utf-8"?>
<a:theme xmlns:a="http://schemas.openxmlformats.org/drawingml/2006/main" name="2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6569</TotalTime>
  <Words>1196</Words>
  <Application>Microsoft Macintosh PowerPoint</Application>
  <PresentationFormat>Widescreen</PresentationFormat>
  <Paragraphs>105</Paragraphs>
  <Slides>18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2_NCStateU-horizontal-left-logo</vt:lpstr>
      <vt:lpstr>NE 763: Advanced Reactor Materials</vt:lpstr>
      <vt:lpstr>Last Time</vt:lpstr>
      <vt:lpstr>nitride fuels</vt:lpstr>
      <vt:lpstr>Nitride Fuels</vt:lpstr>
      <vt:lpstr>Nitride Fuel Benefits</vt:lpstr>
      <vt:lpstr>Nitride Properties</vt:lpstr>
      <vt:lpstr>Drawbacks of Nitrides</vt:lpstr>
      <vt:lpstr>Irradiation History of Nitrides</vt:lpstr>
      <vt:lpstr>UN Phase Diagram</vt:lpstr>
      <vt:lpstr>UN Phase Diagram</vt:lpstr>
      <vt:lpstr>UN Decomposition</vt:lpstr>
      <vt:lpstr>MN Crystal Structure</vt:lpstr>
      <vt:lpstr>Ternary U/Pu-N</vt:lpstr>
      <vt:lpstr>Effect of Pu on U/Pu N Properties</vt:lpstr>
      <vt:lpstr>UN Irradiation Performance</vt:lpstr>
      <vt:lpstr>UN Pins</vt:lpstr>
      <vt:lpstr>UN Pins</vt:lpstr>
      <vt:lpstr>Temperature with Burnup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 591: Advanced Reactor Materials</dc:title>
  <dc:creator>Benjamin W. Beeler</dc:creator>
  <cp:lastModifiedBy>Benjamin Beeler</cp:lastModifiedBy>
  <cp:revision>38</cp:revision>
  <dcterms:created xsi:type="dcterms:W3CDTF">2021-06-30T18:29:00Z</dcterms:created>
  <dcterms:modified xsi:type="dcterms:W3CDTF">2025-10-23T13:51:16Z</dcterms:modified>
</cp:coreProperties>
</file>
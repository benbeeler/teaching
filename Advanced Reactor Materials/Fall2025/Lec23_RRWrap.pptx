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462" r:id="rId3"/>
    <p:sldId id="489" r:id="rId4"/>
    <p:sldId id="493" r:id="rId5"/>
    <p:sldId id="492" r:id="rId6"/>
    <p:sldId id="484" r:id="rId7"/>
    <p:sldId id="485" r:id="rId8"/>
    <p:sldId id="491" r:id="rId9"/>
    <p:sldId id="481" r:id="rId10"/>
    <p:sldId id="486" r:id="rId11"/>
    <p:sldId id="487" r:id="rId12"/>
    <p:sldId id="488" r:id="rId13"/>
    <p:sldId id="490" r:id="rId14"/>
    <p:sldId id="4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CE9A0-D1F1-E246-BC08-62CC6A3FB13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A2DB5-52B6-7D41-A97A-F8684CCB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9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2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6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0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9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4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8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8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1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3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11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22EC4-74A3-3A40-B4D1-8F81E951ED2E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7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D7704-9435-A448-9ECB-3E40F7100BA8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6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689" r:id="rId15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oer0qfBOMV9fEePcbahfS8ex0Q1FoUVE7UV6zgdVtg3XEBw/viewform?usp=publish-editor" TargetMode="External"/><Relationship Id="rId2" Type="http://schemas.openxmlformats.org/officeDocument/2006/relationships/hyperlink" Target="http://go.ncsu.edu/cesurve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DCA5-D869-A64E-9890-DE497E84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E4B8-875F-283E-2B9E-EB0DC9AC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509C-2220-8A97-E14A-7C4C23AED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Reminder:</a:t>
            </a:r>
          </a:p>
          <a:p>
            <a:pPr lvl="1"/>
            <a:r>
              <a:rPr lang="en-US" sz="2200" dirty="0"/>
              <a:t>Class eval is up, please fill this out: </a:t>
            </a:r>
            <a:r>
              <a:rPr lang="en-US" sz="2200" dirty="0">
                <a:solidFill>
                  <a:srgbClr val="1155CC"/>
                </a:solidFill>
                <a:latin typeface="arial" panose="020B0604020202020204" pitchFamily="34" charset="0"/>
                <a:hlinkClick r:id="rId2"/>
              </a:rPr>
              <a:t>http://go.ncsu.edu/cesurvey</a:t>
            </a:r>
            <a:endParaRPr lang="en-US" sz="2200" dirty="0">
              <a:solidFill>
                <a:srgbClr val="1155CC"/>
              </a:solidFill>
              <a:latin typeface="arial" panose="020B0604020202020204" pitchFamily="34" charset="0"/>
            </a:endParaRPr>
          </a:p>
          <a:p>
            <a:pPr lvl="2"/>
            <a:r>
              <a:rPr lang="en-US" sz="2200" dirty="0">
                <a:latin typeface="arial" panose="020B0604020202020204" pitchFamily="34" charset="0"/>
              </a:rPr>
              <a:t>currently four of you have done it, please all complete this</a:t>
            </a:r>
          </a:p>
          <a:p>
            <a:pPr lvl="1"/>
            <a:r>
              <a:rPr lang="en-US" sz="2200" dirty="0"/>
              <a:t>My survey for +5 on last exam (anonymous, but send me confirmation): </a:t>
            </a:r>
            <a:r>
              <a:rPr lang="en-US" sz="2200" dirty="0">
                <a:hlinkClick r:id="rId3"/>
              </a:rPr>
              <a:t>LINK</a:t>
            </a:r>
            <a:endParaRPr lang="en-US" sz="2200" dirty="0"/>
          </a:p>
          <a:p>
            <a:pPr lvl="2"/>
            <a:r>
              <a:rPr lang="en-US" sz="2200" dirty="0"/>
              <a:t>only one confirmation thus far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F3C50-3111-4702-E323-05EF5D60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002F6-025B-A029-77DA-E121DA6E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F05A-5BD4-9911-76B8-2421B834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7779"/>
            <a:ext cx="10972800" cy="4318385"/>
          </a:xfrm>
        </p:spPr>
        <p:txBody>
          <a:bodyPr/>
          <a:lstStyle/>
          <a:p>
            <a:r>
              <a:rPr lang="en-US" sz="1800" dirty="0"/>
              <a:t>U-Mo interaction layer</a:t>
            </a:r>
          </a:p>
          <a:p>
            <a:pPr lvl="1"/>
            <a:r>
              <a:rPr lang="en-US" sz="1800" dirty="0"/>
              <a:t>U-Mo-Al phases, rich in Al, goes amorphous and can cause excessive swelling</a:t>
            </a:r>
          </a:p>
          <a:p>
            <a:pPr lvl="1"/>
            <a:r>
              <a:rPr lang="en-US" sz="1800" dirty="0"/>
              <a:t>Addition of Si suppresses Al-rich phases, limits IL growth up to moderate burnups</a:t>
            </a:r>
          </a:p>
          <a:p>
            <a:r>
              <a:rPr lang="en-US" sz="1800" dirty="0"/>
              <a:t>Why monolithic fuel?</a:t>
            </a:r>
          </a:p>
          <a:p>
            <a:pPr lvl="1"/>
            <a:r>
              <a:rPr lang="en-US" sz="1800" dirty="0"/>
              <a:t>removes the matrix and prevents amorphous IL formation (but requires Zr layer)</a:t>
            </a:r>
          </a:p>
          <a:p>
            <a:pPr lvl="1"/>
            <a:r>
              <a:rPr lang="en-US" sz="1800" dirty="0"/>
              <a:t>increases U density, allows for additional Mo to better stabilize gamma U-Mo</a:t>
            </a:r>
          </a:p>
          <a:p>
            <a:r>
              <a:rPr lang="en-US" sz="1800" dirty="0"/>
              <a:t>Monolithic fabrication</a:t>
            </a:r>
          </a:p>
          <a:p>
            <a:pPr lvl="1"/>
            <a:r>
              <a:rPr lang="en-US" sz="1800" dirty="0"/>
              <a:t>rolling, HIP, annealing: all stages impact microstructure</a:t>
            </a:r>
          </a:p>
          <a:p>
            <a:r>
              <a:rPr lang="en-US" sz="1800" dirty="0"/>
              <a:t>Zr interdiffusion barrier leads to complex phase environment; failure via bubble interconnection and delamination often occurs at very high burnups near Zr layer</a:t>
            </a:r>
          </a:p>
          <a:p>
            <a:r>
              <a:rPr lang="en-US" sz="1800" dirty="0"/>
              <a:t>Phase decomposition</a:t>
            </a:r>
          </a:p>
          <a:p>
            <a:pPr lvl="1"/>
            <a:r>
              <a:rPr lang="en-US" sz="1800" dirty="0"/>
              <a:t>should be limited as excess as-fab decomposition leads to earlier grain refinement</a:t>
            </a:r>
          </a:p>
          <a:p>
            <a:r>
              <a:rPr lang="en-US" sz="1800" dirty="0"/>
              <a:t>Started on Al in RTRs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D753C-D3C4-8617-4A99-29E3F0FB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4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AE26-E9BB-452C-A507-99812FAA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Damage in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35EF2-F673-4446-4CFD-962BFAB13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Radiation damage effect are generally lessened in Al alloys because of the high homologous temperature/low melting point (operating around 0.3 Tm)</a:t>
            </a:r>
          </a:p>
          <a:p>
            <a:r>
              <a:rPr lang="en-US" dirty="0"/>
              <a:t>Thus, vacancies are more mobile, which can increase the amount of recombination that can occur</a:t>
            </a:r>
          </a:p>
          <a:p>
            <a:r>
              <a:rPr lang="en-US" dirty="0"/>
              <a:t>At high fluences, this can lead to the relatively large loops and voids shown last time</a:t>
            </a:r>
          </a:p>
          <a:p>
            <a:r>
              <a:rPr lang="en-US" dirty="0"/>
              <a:t>Defect clusters and voids do not form at grain boundaries, which are very strong sinks for interstitials</a:t>
            </a:r>
          </a:p>
          <a:p>
            <a:r>
              <a:rPr lang="en-US" dirty="0"/>
              <a:t>Impurities and transmutation products are also drawn into the grain boundary, which can lead to bubbles or precipitates</a:t>
            </a:r>
          </a:p>
          <a:p>
            <a:r>
              <a:rPr lang="en-US" dirty="0"/>
              <a:t>Numerous solutes can reduce radiation damage accumulation via lattice misfit strains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F052-9850-849B-198E-DCE6599F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3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F3F9-1D07-9BA6-D6FB-F29EB743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Aluminum GBs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13200-3E12-66B2-E4D4-69D919D2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6636052" cy="4157664"/>
          </a:xfrm>
        </p:spPr>
        <p:txBody>
          <a:bodyPr/>
          <a:lstStyle/>
          <a:p>
            <a:r>
              <a:rPr lang="en-US" dirty="0"/>
              <a:t>Al develops wide denuded zones around the grain boundaries</a:t>
            </a:r>
          </a:p>
          <a:p>
            <a:r>
              <a:rPr lang="en-US" dirty="0"/>
              <a:t>Due to the greater mobility of the interstitials and the bias of GBs for absorption of interstitials, the zone deprived of interstitials is wider than that for the vacancies</a:t>
            </a:r>
          </a:p>
          <a:p>
            <a:r>
              <a:rPr lang="en-US" dirty="0"/>
              <a:t>This creates an unbalanced concentration of vacancies at the rim of the denuded zone, leading vacancy clusters at the rim</a:t>
            </a:r>
          </a:p>
          <a:p>
            <a:r>
              <a:rPr lang="en-US" dirty="0"/>
              <a:t>At sufficiently high fluences, can have sheets of voids which potentially provide fracture pathways</a:t>
            </a:r>
          </a:p>
          <a:p>
            <a:r>
              <a:rPr lang="en-US" dirty="0"/>
              <a:t>Also visible in image are Si precipitates (Si present as alloying addition and generated via transmutation)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C4E2-B6C8-1D20-6B34-B38C05AB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A028D7-2EE6-E181-F54D-535CF4E5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52" y="1968500"/>
            <a:ext cx="4799558" cy="3533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1895F5-0DDC-9748-E1C4-940C8BA098AD}"/>
              </a:ext>
            </a:extLst>
          </p:cNvPr>
          <p:cNvSpPr txBox="1"/>
          <p:nvPr/>
        </p:nvSpPr>
        <p:spPr>
          <a:xfrm>
            <a:off x="7708462" y="5501843"/>
            <a:ext cx="3873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Helvetica" pitchFamily="2" charset="0"/>
              </a:rPr>
              <a:t>F</a:t>
            </a:r>
            <a:r>
              <a:rPr lang="en-US" dirty="0">
                <a:effectLst/>
                <a:latin typeface="Helvetica" pitchFamily="2" charset="0"/>
              </a:rPr>
              <a:t>luence of 3.4E26 n/m2</a:t>
            </a:r>
          </a:p>
        </p:txBody>
      </p:sp>
    </p:spTree>
    <p:extLst>
      <p:ext uri="{BB962C8B-B14F-4D97-AF65-F5344CB8AC3E}">
        <p14:creationId xmlns:p14="http://schemas.microsoft.com/office/powerpoint/2010/main" val="395880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2454-2ECA-BD4B-9C50-DB6EA81E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C96A-AF2C-8342-91B1-8B7AAC0A4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843753" cy="4157663"/>
          </a:xfrm>
        </p:spPr>
        <p:txBody>
          <a:bodyPr/>
          <a:lstStyle/>
          <a:p>
            <a:r>
              <a:rPr lang="en-US" sz="2200" dirty="0"/>
              <a:t>Swelling is due to the accumulation of voids from excess vacancies</a:t>
            </a:r>
          </a:p>
          <a:p>
            <a:r>
              <a:rPr lang="en-US" sz="2200" dirty="0"/>
              <a:t>Gas bubble swelling is generally not an issue for Al in RTRs because the temperature is too low</a:t>
            </a:r>
          </a:p>
          <a:p>
            <a:r>
              <a:rPr lang="en-US" sz="2200" dirty="0"/>
              <a:t>The 6061 alloy, with its inherent Mg2Si phase, starts swelling appreciatively later in dose than the 1100-O or pure Al</a:t>
            </a:r>
          </a:p>
          <a:p>
            <a:r>
              <a:rPr lang="en-US" sz="2200" dirty="0"/>
              <a:t>Swelling is limited to less than 1% for the higher levels of fluence expected in RRs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A22E5D-7581-4F4C-9CDE-08AD92376C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7846" y="1800224"/>
            <a:ext cx="4367369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41AD9-E7C6-D04A-B4D0-D6C7C742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2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E425-C1EF-0947-BBF9-CB464003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FDAD-E756-594A-A657-1D3B4EA79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64332" cy="4157663"/>
          </a:xfrm>
        </p:spPr>
        <p:txBody>
          <a:bodyPr/>
          <a:lstStyle/>
          <a:p>
            <a:r>
              <a:rPr lang="en-US" sz="2200" dirty="0"/>
              <a:t>The major consequences of radiation damage accumulation on the mechanical properties of Al alloys are radiation hardening and associated loss in ductility</a:t>
            </a:r>
          </a:p>
          <a:p>
            <a:r>
              <a:rPr lang="en-US" sz="2200" dirty="0"/>
              <a:t>Al6061 is generally a stronger alloy than comparable Al alloys</a:t>
            </a:r>
          </a:p>
          <a:p>
            <a:r>
              <a:rPr lang="en-US" sz="2200" dirty="0"/>
              <a:t>Hardening and reduction in elongation occur at approximately 1E25 n/m2, with as much as a 2X (1/2X) effect on the associated property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A25A81-FF04-5041-A7CA-672BE19FCF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70050" y="1464887"/>
            <a:ext cx="3585491" cy="48914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E92C2-630F-0341-9896-AD74C52A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8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3396-3DC0-7FA2-11DF-80AA27D4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7C03-931C-65FF-710D-B5F26CEA53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water, Al it combines with oxygen to form an adhesive, self-healing Al2O3 film that retards further oxidation at the metal surface</a:t>
            </a:r>
          </a:p>
          <a:p>
            <a:r>
              <a:rPr lang="en-US" dirty="0"/>
              <a:t>HPRRs, the films grown on the fuel cladding may be 20–50 microns thick</a:t>
            </a:r>
          </a:p>
          <a:p>
            <a:r>
              <a:rPr lang="en-US" dirty="0"/>
              <a:t>The most common corrosion product reported on aluminum cladding is boehmite, a crystalline monohydrated aluminum oxide, Al2O3-H2O</a:t>
            </a:r>
          </a:p>
          <a:p>
            <a:r>
              <a:rPr lang="en-US" dirty="0"/>
              <a:t>Corrosion is diffusion limited, and thus slows with a growing oxide layer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642E6-9865-30F0-7B35-9E1DCD5BFC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Oxide layer degrades thermal conductivity of the fuel plate, and thus higher heat fluxes can cause higher rates of corrosion</a:t>
            </a:r>
          </a:p>
          <a:p>
            <a:r>
              <a:rPr lang="en-US" dirty="0"/>
              <a:t>Spallation can potentially occur in overly thick oxide layers (&gt; than 50 microns)</a:t>
            </a:r>
          </a:p>
          <a:p>
            <a:r>
              <a:rPr lang="en-US" dirty="0"/>
              <a:t>Plates are often pre-filmed with a boehmite layer to improve corrosion resistance by ensuring you start with a stable, thin oxide layer</a:t>
            </a:r>
          </a:p>
          <a:p>
            <a:r>
              <a:rPr lang="en-US" dirty="0"/>
              <a:t>Generally, oxidation is relatively slow and predictable, and presents few problems, but must be accounted for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60791-09CA-10BE-5851-2F82A86B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4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8BFE-3064-BA46-98C9-EFDFFB7E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8782-8837-754A-8CE8-6A1B7028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dirty="0"/>
              <a:t>L</a:t>
            </a:r>
            <a:r>
              <a:rPr lang="en-US" sz="2000" dirty="0"/>
              <a:t>ow melting point, relatively low strength, high thermal conductivity</a:t>
            </a:r>
          </a:p>
          <a:p>
            <a:r>
              <a:rPr lang="en-US" dirty="0"/>
              <a:t>Easy to fabricate, cheap, well known, very ductile</a:t>
            </a:r>
          </a:p>
          <a:p>
            <a:r>
              <a:rPr lang="en-US" dirty="0"/>
              <a:t>Al is quite radiation resistant, largely because we are operating at relatively high homologous temperatures (high recombination)</a:t>
            </a:r>
          </a:p>
          <a:p>
            <a:r>
              <a:rPr lang="en-US" dirty="0"/>
              <a:t>Dislocation loops and voids can form inside grains</a:t>
            </a:r>
          </a:p>
          <a:p>
            <a:r>
              <a:rPr lang="en-US" dirty="0"/>
              <a:t>Denuded zone appears as interstitials preferentially sink to grains, can lead to void accumulation on rim of denuded one</a:t>
            </a:r>
          </a:p>
          <a:p>
            <a:r>
              <a:rPr lang="en-US" dirty="0"/>
              <a:t>Al doesn’t show hardening or ductility loss until fluences of ~1E25 n/m2 (much higher than Fe or Zr)</a:t>
            </a:r>
          </a:p>
          <a:p>
            <a:r>
              <a:rPr lang="en-US" dirty="0"/>
              <a:t>Al exhibits very good corrosion resistance, with the formation of thin, stable Al2O3 layers</a:t>
            </a:r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BC85B-32F7-6A4B-989D-5563E72F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2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45B4-4C90-4F87-6340-E16C4753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Reactor Operating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0255-23FB-B841-6D84-B2A0608C16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US-based Reactors to be converted:</a:t>
            </a:r>
          </a:p>
          <a:p>
            <a:pPr lvl="1"/>
            <a:r>
              <a:rPr lang="en-US" dirty="0"/>
              <a:t>ATR and ATR-C</a:t>
            </a:r>
          </a:p>
          <a:p>
            <a:pPr lvl="1"/>
            <a:r>
              <a:rPr lang="en-US" dirty="0"/>
              <a:t>MURR</a:t>
            </a:r>
          </a:p>
          <a:p>
            <a:pPr lvl="1"/>
            <a:r>
              <a:rPr lang="en-US" dirty="0"/>
              <a:t>MITR</a:t>
            </a:r>
          </a:p>
          <a:p>
            <a:pPr lvl="1"/>
            <a:r>
              <a:rPr lang="en-US" dirty="0"/>
              <a:t>NBSR</a:t>
            </a:r>
          </a:p>
          <a:p>
            <a:pPr lvl="1"/>
            <a:r>
              <a:rPr lang="en-US" dirty="0"/>
              <a:t>HFIR?</a:t>
            </a:r>
          </a:p>
          <a:p>
            <a:r>
              <a:rPr lang="en-US" dirty="0"/>
              <a:t>EU-based reactors to be converted:</a:t>
            </a:r>
          </a:p>
          <a:p>
            <a:pPr lvl="1"/>
            <a:r>
              <a:rPr lang="en-US" dirty="0"/>
              <a:t>BR2 (Belgium)</a:t>
            </a:r>
          </a:p>
          <a:p>
            <a:pPr lvl="1"/>
            <a:r>
              <a:rPr lang="en-US" dirty="0"/>
              <a:t>JHR (France)</a:t>
            </a:r>
          </a:p>
          <a:p>
            <a:pPr lvl="1"/>
            <a:r>
              <a:rPr lang="en-US" dirty="0"/>
              <a:t>RHF (France)</a:t>
            </a:r>
          </a:p>
          <a:p>
            <a:pPr lvl="1"/>
            <a:r>
              <a:rPr lang="en-US" dirty="0"/>
              <a:t>ORPHEE (France, but has shut down)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2F1FC-5646-518E-541E-F352F868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AF1C777A-A5BF-4549-BF56-0969A0E10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9682" y="771600"/>
            <a:ext cx="4565994" cy="297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g">
            <a:extLst>
              <a:ext uri="{FF2B5EF4-FFF2-40B4-BE49-F238E27FC236}">
                <a16:creationId xmlns:a16="http://schemas.microsoft.com/office/drawing/2014/main" id="{5920F8EE-25B4-9AE2-2F54-58C5BB23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9682" y="3749422"/>
            <a:ext cx="4669002" cy="297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98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BF4A-3186-167D-D781-BBFBC9D7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A0C5-CE9D-9AA0-2F56-F51750A2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Assemblies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F0E28-8085-0940-6553-30030559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2050" name="Picture 2" descr="Cross-sectional View of the ATR Fuel Element [2] | Download Scientific  Diagram">
            <a:extLst>
              <a:ext uri="{FF2B5EF4-FFF2-40B4-BE49-F238E27FC236}">
                <a16:creationId xmlns:a16="http://schemas.microsoft.com/office/drawing/2014/main" id="{BE4C233F-D349-75E5-5FDE-ECB8FC305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6141" y="1968500"/>
            <a:ext cx="3616642" cy="205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g. 1.  (a) Isometric view and (b) cross-sectional view of the MITR LEU fuel element.">
            <a:extLst>
              <a:ext uri="{FF2B5EF4-FFF2-40B4-BE49-F238E27FC236}">
                <a16:creationId xmlns:a16="http://schemas.microsoft.com/office/drawing/2014/main" id="{A833E5DB-4F6E-880E-6B2A-615DF7C3BC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147"/>
          <a:stretch>
            <a:fillRect/>
          </a:stretch>
        </p:blipFill>
        <p:spPr bwMode="auto">
          <a:xfrm>
            <a:off x="7738318" y="1892978"/>
            <a:ext cx="3362500" cy="202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80EEE5-5B9F-EFF6-22A9-89CC003E3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2493" y="4395499"/>
            <a:ext cx="2801969" cy="2360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291B8-95EF-7243-109E-551F4FAE7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462" y="4304510"/>
            <a:ext cx="3196047" cy="2234404"/>
          </a:xfrm>
          <a:prstGeom prst="rect">
            <a:avLst/>
          </a:prstGeom>
        </p:spPr>
      </p:pic>
      <p:pic>
        <p:nvPicPr>
          <p:cNvPr id="8" name="Picture 2" descr="Modeling and simulation of a High Flux Isotope Reactor representative core  model for updated performance and safety basis assessments - ScienceDirect">
            <a:extLst>
              <a:ext uri="{FF2B5EF4-FFF2-40B4-BE49-F238E27FC236}">
                <a16:creationId xmlns:a16="http://schemas.microsoft.com/office/drawing/2014/main" id="{EDD0F8CD-93DA-8403-E5F8-DCD993927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509" y="4271004"/>
            <a:ext cx="2287289" cy="223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D73D12-BDA6-D84F-593B-32CD0B0C5BD7}"/>
              </a:ext>
            </a:extLst>
          </p:cNvPr>
          <p:cNvSpPr txBox="1"/>
          <p:nvPr/>
        </p:nvSpPr>
        <p:spPr>
          <a:xfrm>
            <a:off x="3851533" y="2774116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BB9A9-FC9E-9AC4-6E19-0D896B9137E2}"/>
              </a:ext>
            </a:extLst>
          </p:cNvPr>
          <p:cNvSpPr txBox="1"/>
          <p:nvPr/>
        </p:nvSpPr>
        <p:spPr>
          <a:xfrm>
            <a:off x="8039905" y="2538113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4DE1F-E427-D4AA-E375-B8C9CBB785A9}"/>
              </a:ext>
            </a:extLst>
          </p:cNvPr>
          <p:cNvSpPr txBox="1"/>
          <p:nvPr/>
        </p:nvSpPr>
        <p:spPr>
          <a:xfrm>
            <a:off x="2676521" y="4817375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E8634D-239B-5D11-C65B-D93644628D10}"/>
              </a:ext>
            </a:extLst>
          </p:cNvPr>
          <p:cNvSpPr txBox="1"/>
          <p:nvPr/>
        </p:nvSpPr>
        <p:spPr>
          <a:xfrm>
            <a:off x="5644056" y="4466436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10754-DAAD-7E72-D493-FB3D0205D112}"/>
              </a:ext>
            </a:extLst>
          </p:cNvPr>
          <p:cNvSpPr txBox="1"/>
          <p:nvPr/>
        </p:nvSpPr>
        <p:spPr>
          <a:xfrm>
            <a:off x="11187798" y="4651102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4EE8DF-DB18-34D1-B8C0-0D1113D53E86}"/>
              </a:ext>
            </a:extLst>
          </p:cNvPr>
          <p:cNvSpPr txBox="1"/>
          <p:nvPr/>
        </p:nvSpPr>
        <p:spPr>
          <a:xfrm>
            <a:off x="777766" y="2123090"/>
            <a:ext cx="2963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 ATR</a:t>
            </a:r>
          </a:p>
          <a:p>
            <a:r>
              <a:rPr lang="en-US" dirty="0"/>
              <a:t>b) MITR</a:t>
            </a:r>
          </a:p>
          <a:p>
            <a:r>
              <a:rPr lang="en-US" dirty="0"/>
              <a:t>c) MURR</a:t>
            </a:r>
          </a:p>
          <a:p>
            <a:r>
              <a:rPr lang="en-US" dirty="0"/>
              <a:t>d) BR2</a:t>
            </a:r>
          </a:p>
          <a:p>
            <a:r>
              <a:rPr lang="en-US" dirty="0"/>
              <a:t>e) HFIR</a:t>
            </a:r>
          </a:p>
        </p:txBody>
      </p:sp>
    </p:spTree>
    <p:extLst>
      <p:ext uri="{BB962C8B-B14F-4D97-AF65-F5344CB8AC3E}">
        <p14:creationId xmlns:p14="http://schemas.microsoft.com/office/powerpoint/2010/main" val="3873780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3F4E-2FDE-C9E4-736C-08A1E1E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BC81-9CE9-D4C5-0FCB-2A17822F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RTR Cores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44CD-C1C6-B23A-F145-5A03621D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3B3DE-F9B5-4E0B-8F82-BBD582DF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885" y="1669434"/>
            <a:ext cx="2517784" cy="2617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63F02-A2CA-B9C3-AEE1-6E211964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69" y="1805974"/>
            <a:ext cx="2690377" cy="2481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366BED-F123-7411-3580-F8A4C97B2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6046" y="1761305"/>
            <a:ext cx="3052652" cy="255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A90DE3-E380-1870-CD61-5FE8A688B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277" y="4445987"/>
            <a:ext cx="2279688" cy="2275490"/>
          </a:xfrm>
          <a:prstGeom prst="rect">
            <a:avLst/>
          </a:prstGeom>
        </p:spPr>
      </p:pic>
      <p:pic>
        <p:nvPicPr>
          <p:cNvPr id="3074" name="Picture 2" descr="Modeling and simulation of a High Flux Isotope Reactor representative core  model for updated performance and safety basis assessments - ScienceDirect">
            <a:extLst>
              <a:ext uri="{FF2B5EF4-FFF2-40B4-BE49-F238E27FC236}">
                <a16:creationId xmlns:a16="http://schemas.microsoft.com/office/drawing/2014/main" id="{E544276A-EC29-9C33-704A-8C034CA0D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68" y="4318603"/>
            <a:ext cx="2501900" cy="244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6A70B9-400A-5741-94EB-C3D0FAB86E41}"/>
              </a:ext>
            </a:extLst>
          </p:cNvPr>
          <p:cNvSpPr txBox="1"/>
          <p:nvPr/>
        </p:nvSpPr>
        <p:spPr>
          <a:xfrm>
            <a:off x="777766" y="2123090"/>
            <a:ext cx="2963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 ATR</a:t>
            </a:r>
          </a:p>
          <a:p>
            <a:r>
              <a:rPr lang="en-US" dirty="0"/>
              <a:t>b) MITR</a:t>
            </a:r>
          </a:p>
          <a:p>
            <a:r>
              <a:rPr lang="en-US" dirty="0"/>
              <a:t>c) MURR</a:t>
            </a:r>
          </a:p>
          <a:p>
            <a:r>
              <a:rPr lang="en-US" dirty="0"/>
              <a:t>d) BR2</a:t>
            </a:r>
          </a:p>
          <a:p>
            <a:r>
              <a:rPr lang="en-US" dirty="0"/>
              <a:t>e) HFIR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31B05-73C5-A961-498D-1C64FC499CF0}"/>
              </a:ext>
            </a:extLst>
          </p:cNvPr>
          <p:cNvSpPr txBox="1"/>
          <p:nvPr/>
        </p:nvSpPr>
        <p:spPr>
          <a:xfrm>
            <a:off x="3764855" y="1968500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B901-9A8D-E50F-6285-FF6565B95090}"/>
              </a:ext>
            </a:extLst>
          </p:cNvPr>
          <p:cNvSpPr txBox="1"/>
          <p:nvPr/>
        </p:nvSpPr>
        <p:spPr>
          <a:xfrm>
            <a:off x="7515084" y="1598974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06715-2CB2-9216-F11B-4F5E11F65119}"/>
              </a:ext>
            </a:extLst>
          </p:cNvPr>
          <p:cNvSpPr txBox="1"/>
          <p:nvPr/>
        </p:nvSpPr>
        <p:spPr>
          <a:xfrm>
            <a:off x="10416400" y="1547054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F9844-0402-6BD5-553A-CE35E73AC2E6}"/>
              </a:ext>
            </a:extLst>
          </p:cNvPr>
          <p:cNvSpPr txBox="1"/>
          <p:nvPr/>
        </p:nvSpPr>
        <p:spPr>
          <a:xfrm>
            <a:off x="3854077" y="4481397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93B01-8E76-A89C-B607-7A9DC385D08D}"/>
              </a:ext>
            </a:extLst>
          </p:cNvPr>
          <p:cNvSpPr txBox="1"/>
          <p:nvPr/>
        </p:nvSpPr>
        <p:spPr>
          <a:xfrm>
            <a:off x="7140534" y="4481397"/>
            <a:ext cx="45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e)</a:t>
            </a:r>
          </a:p>
        </p:txBody>
      </p:sp>
    </p:spTree>
    <p:extLst>
      <p:ext uri="{BB962C8B-B14F-4D97-AF65-F5344CB8AC3E}">
        <p14:creationId xmlns:p14="http://schemas.microsoft.com/office/powerpoint/2010/main" val="98186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AE67-63BE-84E6-E2E1-00108FCA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RTR Design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DAF1-149E-4E38-6AA4-C00F050762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Mostly curved plates, with different curvatures and different thicknesses, different coolant channel widths</a:t>
            </a:r>
          </a:p>
          <a:p>
            <a:r>
              <a:rPr lang="en-US" dirty="0"/>
              <a:t>Flat plates for MITR</a:t>
            </a:r>
          </a:p>
          <a:p>
            <a:r>
              <a:rPr lang="en-US" dirty="0"/>
              <a:t>Designed with irradiation positions (flux traps) for:</a:t>
            </a:r>
          </a:p>
          <a:p>
            <a:pPr lvl="1"/>
            <a:r>
              <a:rPr lang="en-US" dirty="0"/>
              <a:t>materials testing</a:t>
            </a:r>
          </a:p>
          <a:p>
            <a:pPr lvl="1"/>
            <a:r>
              <a:rPr lang="en-US" dirty="0"/>
              <a:t>isotope production</a:t>
            </a:r>
          </a:p>
          <a:p>
            <a:r>
              <a:rPr lang="en-US" dirty="0"/>
              <a:t>Designs are all unique, trying to generate either single or multiple areas with concentrations of flux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8FB9E-A381-DD52-3EE0-D61737BA3F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Different reactors target different power densities and different levels of burnup</a:t>
            </a:r>
          </a:p>
          <a:p>
            <a:r>
              <a:rPr lang="en-US" dirty="0"/>
              <a:t>HFIR and ATR are very high power</a:t>
            </a:r>
          </a:p>
          <a:p>
            <a:r>
              <a:rPr lang="en-US" dirty="0"/>
              <a:t>NBSR is lower power but goes to very high fission density</a:t>
            </a:r>
          </a:p>
          <a:p>
            <a:r>
              <a:rPr lang="en-US" dirty="0"/>
              <a:t>JHR and BR2 in Europe are at moderate power, but very high fission density</a:t>
            </a:r>
          </a:p>
          <a:p>
            <a:endParaRPr lang="en-US" dirty="0"/>
          </a:p>
          <a:p>
            <a:r>
              <a:rPr lang="en-US" dirty="0"/>
              <a:t>Wide variety of conditions for both manufacturing and performance of fuels, all of which need to be covered for qualification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E7811-6506-F18A-49EC-3070BBE8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7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F604-A056-9F6B-872D-FFD3E1AA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603EB-8FB5-6014-DA1A-D0B951A4C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4157663"/>
          </a:xfrm>
        </p:spPr>
        <p:txBody>
          <a:bodyPr/>
          <a:lstStyle/>
          <a:p>
            <a:r>
              <a:rPr lang="en-US" dirty="0"/>
              <a:t>Some time for other stuff not on the exam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EDC1B-C09F-1463-BA30-2FAAE67B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16563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44972</TotalTime>
  <Words>1029</Words>
  <Application>Microsoft Macintosh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</vt:lpstr>
      <vt:lpstr>Calibri</vt:lpstr>
      <vt:lpstr>Helvetica</vt:lpstr>
      <vt:lpstr>2_NCStateU-horizontal-left-logo</vt:lpstr>
      <vt:lpstr>NE 763: Advanced Reactor Materials</vt:lpstr>
      <vt:lpstr>Housekeeping</vt:lpstr>
      <vt:lpstr>Last Time</vt:lpstr>
      <vt:lpstr>Radiation Damage in Al</vt:lpstr>
      <vt:lpstr>Aluminum GBs</vt:lpstr>
      <vt:lpstr>Swelling</vt:lpstr>
      <vt:lpstr>Hardening</vt:lpstr>
      <vt:lpstr>Corrosion</vt:lpstr>
      <vt:lpstr>Al Summary</vt:lpstr>
      <vt:lpstr>Reactor Operating Range</vt:lpstr>
      <vt:lpstr>Fuel Assemblies</vt:lpstr>
      <vt:lpstr>RTR Cores</vt:lpstr>
      <vt:lpstr>RTR Design Overview</vt:lpstr>
      <vt:lpstr>That’s 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99</cp:revision>
  <dcterms:created xsi:type="dcterms:W3CDTF">2019-12-09T16:44:02Z</dcterms:created>
  <dcterms:modified xsi:type="dcterms:W3CDTF">2025-11-25T19:53:05Z</dcterms:modified>
</cp:coreProperties>
</file>